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ink/ink1.xml" ContentType="application/inkml+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ink/ink2.xml" ContentType="application/inkml+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ink/ink3.xml" ContentType="application/inkml+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ink/ink4.xml" ContentType="application/inkml+xml"/>
  <Override PartName="/ppt/ink/ink5.xml" ContentType="application/inkml+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37" r:id="rId1"/>
  </p:sldMasterIdLst>
  <p:notesMasterIdLst>
    <p:notesMasterId r:id="rId154"/>
  </p:notesMasterIdLst>
  <p:sldIdLst>
    <p:sldId id="1902" r:id="rId2"/>
    <p:sldId id="1904" r:id="rId3"/>
    <p:sldId id="1903" r:id="rId4"/>
    <p:sldId id="1885" r:id="rId5"/>
    <p:sldId id="1360" r:id="rId6"/>
    <p:sldId id="1725" r:id="rId7"/>
    <p:sldId id="1798" r:id="rId8"/>
    <p:sldId id="1874" r:id="rId9"/>
    <p:sldId id="1622" r:id="rId10"/>
    <p:sldId id="1817" r:id="rId11"/>
    <p:sldId id="1735" r:id="rId12"/>
    <p:sldId id="1901" r:id="rId13"/>
    <p:sldId id="1847" r:id="rId14"/>
    <p:sldId id="1748" r:id="rId15"/>
    <p:sldId id="1750" r:id="rId16"/>
    <p:sldId id="1749" r:id="rId17"/>
    <p:sldId id="1751" r:id="rId18"/>
    <p:sldId id="1753" r:id="rId19"/>
    <p:sldId id="1754" r:id="rId20"/>
    <p:sldId id="1758" r:id="rId21"/>
    <p:sldId id="1799" r:id="rId22"/>
    <p:sldId id="1801" r:id="rId23"/>
    <p:sldId id="1759" r:id="rId24"/>
    <p:sldId id="1760" r:id="rId25"/>
    <p:sldId id="1757" r:id="rId26"/>
    <p:sldId id="1761" r:id="rId27"/>
    <p:sldId id="1882" r:id="rId28"/>
    <p:sldId id="1805" r:id="rId29"/>
    <p:sldId id="1764" r:id="rId30"/>
    <p:sldId id="1806" r:id="rId31"/>
    <p:sldId id="1773" r:id="rId32"/>
    <p:sldId id="1848" r:id="rId33"/>
    <p:sldId id="1470" r:id="rId34"/>
    <p:sldId id="1468" r:id="rId35"/>
    <p:sldId id="1774" r:id="rId36"/>
    <p:sldId id="1477" r:id="rId37"/>
    <p:sldId id="1905" r:id="rId38"/>
    <p:sldId id="1808" r:id="rId39"/>
    <p:sldId id="1482" r:id="rId40"/>
    <p:sldId id="1484" r:id="rId41"/>
    <p:sldId id="1485" r:id="rId42"/>
    <p:sldId id="1809" r:id="rId43"/>
    <p:sldId id="1850" r:id="rId44"/>
    <p:sldId id="1810" r:id="rId45"/>
    <p:sldId id="1483" r:id="rId46"/>
    <p:sldId id="1811" r:id="rId47"/>
    <p:sldId id="1488" r:id="rId48"/>
    <p:sldId id="1489" r:id="rId49"/>
    <p:sldId id="1883" r:id="rId50"/>
    <p:sldId id="1492" r:id="rId51"/>
    <p:sldId id="1775" r:id="rId52"/>
    <p:sldId id="1494" r:id="rId53"/>
    <p:sldId id="1496" r:id="rId54"/>
    <p:sldId id="1495" r:id="rId55"/>
    <p:sldId id="1497" r:id="rId56"/>
    <p:sldId id="1498" r:id="rId57"/>
    <p:sldId id="1499" r:id="rId58"/>
    <p:sldId id="1500" r:id="rId59"/>
    <p:sldId id="1502" r:id="rId60"/>
    <p:sldId id="1503" r:id="rId61"/>
    <p:sldId id="1505" r:id="rId62"/>
    <p:sldId id="1776" r:id="rId63"/>
    <p:sldId id="1513" r:id="rId64"/>
    <p:sldId id="1514" r:id="rId65"/>
    <p:sldId id="417" r:id="rId66"/>
    <p:sldId id="418" r:id="rId67"/>
    <p:sldId id="419" r:id="rId68"/>
    <p:sldId id="420" r:id="rId69"/>
    <p:sldId id="421" r:id="rId70"/>
    <p:sldId id="1549" r:id="rId71"/>
    <p:sldId id="423" r:id="rId72"/>
    <p:sldId id="429" r:id="rId73"/>
    <p:sldId id="430" r:id="rId74"/>
    <p:sldId id="1777" r:id="rId75"/>
    <p:sldId id="1778" r:id="rId76"/>
    <p:sldId id="1779" r:id="rId77"/>
    <p:sldId id="1780" r:id="rId78"/>
    <p:sldId id="1782" r:id="rId79"/>
    <p:sldId id="1781" r:id="rId80"/>
    <p:sldId id="1851" r:id="rId81"/>
    <p:sldId id="1853" r:id="rId82"/>
    <p:sldId id="1854" r:id="rId83"/>
    <p:sldId id="1855" r:id="rId84"/>
    <p:sldId id="425" r:id="rId85"/>
    <p:sldId id="1906" r:id="rId86"/>
    <p:sldId id="1886" r:id="rId87"/>
    <p:sldId id="1887" r:id="rId88"/>
    <p:sldId id="1769" r:id="rId89"/>
    <p:sldId id="1888" r:id="rId90"/>
    <p:sldId id="1889" r:id="rId91"/>
    <p:sldId id="1890" r:id="rId92"/>
    <p:sldId id="1785" r:id="rId93"/>
    <p:sldId id="1856" r:id="rId94"/>
    <p:sldId id="1787" r:id="rId95"/>
    <p:sldId id="1788" r:id="rId96"/>
    <p:sldId id="1790" r:id="rId97"/>
    <p:sldId id="1813" r:id="rId98"/>
    <p:sldId id="1685" r:id="rId99"/>
    <p:sldId id="1873" r:id="rId100"/>
    <p:sldId id="1857" r:id="rId101"/>
    <p:sldId id="503" r:id="rId102"/>
    <p:sldId id="505" r:id="rId103"/>
    <p:sldId id="504" r:id="rId104"/>
    <p:sldId id="256" r:id="rId105"/>
    <p:sldId id="257" r:id="rId106"/>
    <p:sldId id="258" r:id="rId107"/>
    <p:sldId id="260" r:id="rId108"/>
    <p:sldId id="376" r:id="rId109"/>
    <p:sldId id="263" r:id="rId110"/>
    <p:sldId id="373" r:id="rId111"/>
    <p:sldId id="374" r:id="rId112"/>
    <p:sldId id="265" r:id="rId113"/>
    <p:sldId id="266" r:id="rId114"/>
    <p:sldId id="377" r:id="rId115"/>
    <p:sldId id="1445" r:id="rId116"/>
    <p:sldId id="350" r:id="rId117"/>
    <p:sldId id="574" r:id="rId118"/>
    <p:sldId id="295" r:id="rId119"/>
    <p:sldId id="389" r:id="rId120"/>
    <p:sldId id="296" r:id="rId121"/>
    <p:sldId id="297" r:id="rId122"/>
    <p:sldId id="299" r:id="rId123"/>
    <p:sldId id="1443" r:id="rId124"/>
    <p:sldId id="301" r:id="rId125"/>
    <p:sldId id="302" r:id="rId126"/>
    <p:sldId id="304" r:id="rId127"/>
    <p:sldId id="305" r:id="rId128"/>
    <p:sldId id="306" r:id="rId129"/>
    <p:sldId id="307" r:id="rId130"/>
    <p:sldId id="308" r:id="rId131"/>
    <p:sldId id="310" r:id="rId132"/>
    <p:sldId id="391" r:id="rId133"/>
    <p:sldId id="413" r:id="rId134"/>
    <p:sldId id="1862" r:id="rId135"/>
    <p:sldId id="1863" r:id="rId136"/>
    <p:sldId id="1864" r:id="rId137"/>
    <p:sldId id="312" r:id="rId138"/>
    <p:sldId id="1895" r:id="rId139"/>
    <p:sldId id="1896" r:id="rId140"/>
    <p:sldId id="1897" r:id="rId141"/>
    <p:sldId id="1898" r:id="rId142"/>
    <p:sldId id="1899" r:id="rId143"/>
    <p:sldId id="1900" r:id="rId144"/>
    <p:sldId id="393" r:id="rId145"/>
    <p:sldId id="394" r:id="rId146"/>
    <p:sldId id="1891" r:id="rId147"/>
    <p:sldId id="1892" r:id="rId148"/>
    <p:sldId id="1893" r:id="rId149"/>
    <p:sldId id="1894" r:id="rId150"/>
    <p:sldId id="399" r:id="rId151"/>
    <p:sldId id="400" r:id="rId152"/>
    <p:sldId id="385" r:id="rId153"/>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1434" userDrawn="1">
          <p15:clr>
            <a:srgbClr val="A4A3A4"/>
          </p15:clr>
        </p15:guide>
        <p15:guide id="2" pos="268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enxi jia" initials="cj" lastIdx="1" clrIdx="0">
    <p:extLst>
      <p:ext uri="{19B8F6BF-5375-455C-9EA6-DF929625EA0E}">
        <p15:presenceInfo xmlns:p15="http://schemas.microsoft.com/office/powerpoint/2012/main" userId="13b6ffb24fd2fa2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32FF"/>
    <a:srgbClr val="D2EED0"/>
    <a:srgbClr val="EBF1DE"/>
    <a:srgbClr val="C0CBE3"/>
    <a:srgbClr val="F2DCDB"/>
    <a:srgbClr val="FDEADA"/>
    <a:srgbClr val="808080"/>
    <a:srgbClr val="FF40FF"/>
    <a:srgbClr val="000099"/>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581"/>
    <p:restoredTop sz="94694"/>
  </p:normalViewPr>
  <p:slideViewPr>
    <p:cSldViewPr snapToGrid="0">
      <p:cViewPr varScale="1">
        <p:scale>
          <a:sx n="104" d="100"/>
          <a:sy n="104" d="100"/>
        </p:scale>
        <p:origin x="504" y="48"/>
      </p:cViewPr>
      <p:guideLst>
        <p:guide orient="horz" pos="1434"/>
        <p:guide pos="2688"/>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tableStyles" Target="tableStyle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commentAuthors" Target="commentAuthor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notesMaster" Target="notesMasters/notesMaster1.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s>
</file>

<file path=ppt/ink/ink1.xml><?xml version="1.0" encoding="utf-8"?>
<inkml:ink xmlns:inkml="http://www.w3.org/2003/InkML">
  <inkml:definitions>
    <inkml:context xml:id="ctx0">
      <inkml:inkSource xml:id="inkSrc0">
        <inkml:traceFormat>
          <inkml:channel name="X" type="integer" max="4920" units="cm"/>
          <inkml:channel name="Y" type="integer" max="2000" units="cm"/>
          <inkml:channel name="T" type="integer" max="2.14748E9" units="dev"/>
        </inkml:traceFormat>
        <inkml:channelProperties>
          <inkml:channelProperty channel="X" name="resolution" value="172.63158" units="1/cm"/>
          <inkml:channelProperty channel="Y" name="resolution" value="105.26316" units="1/cm"/>
          <inkml:channelProperty channel="T" name="resolution" value="1" units="1/dev"/>
        </inkml:channelProperties>
      </inkml:inkSource>
      <inkml:timestamp xml:id="ts0" timeString="2024-04-08T12:04:26.241"/>
    </inkml:context>
    <inkml:brush xml:id="br0">
      <inkml:brushProperty name="width" value="0.05292" units="cm"/>
      <inkml:brushProperty name="height" value="0.05292" units="cm"/>
      <inkml:brushProperty name="color" value="#FF0000"/>
    </inkml:brush>
  </inkml:definitions>
  <inkml:trace contextRef="#ctx0" brushRef="#br0">21165 7788 0</inkml:trace>
  <inkml:trace contextRef="#ctx0" brushRef="#br0" timeOffset="-95440.33">14578 6666 0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4-12T12:31:27.944"/>
    </inkml:context>
    <inkml:brush xml:id="br0">
      <inkml:brushProperty name="width" value="0.05292" units="cm"/>
      <inkml:brushProperty name="height" value="0.05292" units="cm"/>
      <inkml:brushProperty name="color" value="#FF0000"/>
    </inkml:brush>
  </inkml:definitions>
  <inkml:trace contextRef="#ctx0" brushRef="#br0">21336 4318 24575,'0'0'0</inkml:trace>
</inkml:ink>
</file>

<file path=ppt/ink/ink3.xml><?xml version="1.0" encoding="utf-8"?>
<inkml:ink xmlns:inkml="http://www.w3.org/2003/InkML">
  <inkml:definitions>
    <inkml:context xml:id="ctx0">
      <inkml:inkSource xml:id="inkSrc0">
        <inkml:traceFormat>
          <inkml:channel name="X" type="integer" max="18176" units="cm"/>
          <inkml:channel name="Y" type="integer" max="12032" units="cm"/>
          <inkml:channel name="F" type="integer" max="4096" units="dev"/>
          <inkml:channel name="T" type="integer" max="2.14748E9" units="dev"/>
        </inkml:traceFormat>
        <inkml:channelProperties>
          <inkml:channelProperty channel="X" name="resolution" value="637.75439" units="1/cm"/>
          <inkml:channelProperty channel="Y" name="resolution" value="633.26318" units="1/cm"/>
          <inkml:channelProperty channel="F" name="resolution" value="0" units="1/dev"/>
          <inkml:channelProperty channel="T" name="resolution" value="1" units="1/dev"/>
        </inkml:channelProperties>
      </inkml:inkSource>
      <inkml:timestamp xml:id="ts0" timeString="2024-04-08T12:40:28.230"/>
    </inkml:context>
    <inkml:brush xml:id="br0">
      <inkml:brushProperty name="width" value="0.05292" units="cm"/>
      <inkml:brushProperty name="height" value="0.05292" units="cm"/>
      <inkml:brushProperty name="color" value="#FF0000"/>
    </inkml:brush>
  </inkml:definitions>
  <inkml:trace contextRef="#ctx0" brushRef="#br0">9632 5580 138 0,'-20'-4'0'0,"-6"-3"0"0,6 5 0 15,6 2 23-15,8 0 1 0,-10-7-1 0,-8 1 2 16,-2-8-8-16,-10-1 0 0,-1 2-1 0,-3-1 2 0,-2-1 56 16,7 1 0-16,-9-1 1 0,2-1 0 0,-4 1-1 15,-5-7 1-15,5 6 0 0,2 1 0 0,2 3-44 16,4-1 0-16,-8 6 1 0,-3-4-1 0,-1 7 7 16,-1-1 0-16,2 5 0 0,3 5 2 0,0-1 2 15,2-1 1-15,2 5 0 0,0 1 0 0,7 5-4 16,-5 1-1-16,0 5 0 0,3 2 0 0,1 3-3 0,-3 1 1 15,1 1-2-15,3 4 2 0,4 7-2 0,0 4 0 16,2 7-1-16,3 2 1 0,6 2-3 0,0 5 2 16,5 2 0-16,4 7-1 0,4 1-14 0,3 8 1 15,4 2 0-15,0-1 0 0,4 8-4 0,3 1-1 16,8-1 1-16,1-7 1 0,8 1-4 0,7-5 0 16,4-5 1-16,3-9 0 0,6-9 1 0,4-5-1 0,7-8 1 15,1-5-1-15,1-4-2 0,-2-2 2 0,11-12-1 16,0 1 0-16,7-5 2 0,4 0-1 0,-2-6 1 15,2 1 0-15,-6-6 0 0,-3 5 0 0,3-5 0 16,2-5 0-16,-3-4-1 0,1 3-1 0,-3-1 1 16,-2-9-1-16,-6 1-2 0,2-1 0 0,-5-6 0 15,3 2 0-15,-3-6-2 0,-2-6 1 0,0-1 0 16,3-2 0-16,-8-8-2 0,-3-3 1 0,-6-1-2 0,4 3 2 16,-10-3-3-16,0-2 0 0,-6 3 1 15,-1-1 0-15,-8 5 0 0,-6-3 1 0,-3 1 0 16,-5 0-1-16,-6-8 2 0,-9 4 1 0,-2-6-1 0,0 3 1 15,-9 5 2-15,1-3 1 0,-8 0-1 0,-2 2 0 16,-1-2 1-16,-6 5 1 0,-1 0-1 0,-3 1 0 16,3 1 6-16,-7 2 1 0,2 3 1 0,0-1-1 15,2 2 1-15,-8 5 1 0,6 2 0 0,4-2 1 0,-2 7-4 16,3 2 1-16,2-1-1 0,4 8 1 0,-11-1-6 16,7 10 2-16,-1 1-2 0,-10 5 2 0,0 7-6 15,-7 4 1-15</inkml:trace>
</inkml:ink>
</file>

<file path=ppt/ink/ink4.xml><?xml version="1.0" encoding="utf-8"?>
<inkml:ink xmlns:inkml="http://www.w3.org/2003/InkML">
  <inkml:definitions>
    <inkml:context xml:id="ctx0">
      <inkml:inkSource xml:id="inkSrc0">
        <inkml:traceFormat>
          <inkml:channel name="X" type="integer" max="4920" units="cm"/>
          <inkml:channel name="Y" type="integer" max="2000" units="cm"/>
          <inkml:channel name="T" type="integer" max="2.14748E9" units="dev"/>
        </inkml:traceFormat>
        <inkml:channelProperties>
          <inkml:channelProperty channel="X" name="resolution" value="172.63158" units="1/cm"/>
          <inkml:channelProperty channel="Y" name="resolution" value="105.26316" units="1/cm"/>
          <inkml:channelProperty channel="T" name="resolution" value="1" units="1/dev"/>
        </inkml:channelProperties>
      </inkml:inkSource>
      <inkml:timestamp xml:id="ts0" timeString="2024-04-08T12:59:06.564"/>
    </inkml:context>
    <inkml:brush xml:id="br0">
      <inkml:brushProperty name="width" value="0.05292" units="cm"/>
      <inkml:brushProperty name="height" value="0.05292" units="cm"/>
      <inkml:brushProperty name="color" value="#FF0000"/>
    </inkml:brush>
  </inkml:definitions>
  <inkml:trace contextRef="#ctx0" brushRef="#br0">19428 6239 0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4-12T13:18:59.475"/>
    </inkml:context>
    <inkml:brush xml:id="br0">
      <inkml:brushProperty name="width" value="0.05292" units="cm"/>
      <inkml:brushProperty name="height" value="0.05292" units="cm"/>
      <inkml:brushProperty name="color" value="#FF0000"/>
    </inkml:brush>
  </inkml:definitions>
  <inkml:trace contextRef="#ctx0" brushRef="#br0">23318 11289 24575,'0'0'0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b="0">
                <a:solidFill>
                  <a:schemeClr val="tx1"/>
                </a:solidFill>
                <a:latin typeface="Arial" charset="0"/>
                <a:ea typeface="宋体" pitchFamily="2" charset="-122"/>
              </a:defRPr>
            </a:lvl1pPr>
          </a:lstStyle>
          <a:p>
            <a:pPr>
              <a:defRPr/>
            </a:pPr>
            <a:endParaRPr lang="en-US" altLang="zh-CN"/>
          </a:p>
        </p:txBody>
      </p:sp>
      <p:sp>
        <p:nvSpPr>
          <p:cNvPr id="512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solidFill>
                  <a:schemeClr val="tx1"/>
                </a:solidFill>
                <a:latin typeface="Arial" charset="0"/>
                <a:ea typeface="宋体" pitchFamily="2" charset="-122"/>
              </a:defRPr>
            </a:lvl1pPr>
          </a:lstStyle>
          <a:p>
            <a:pPr>
              <a:defRPr/>
            </a:pPr>
            <a:endParaRPr lang="en-US" altLang="zh-CN"/>
          </a:p>
        </p:txBody>
      </p:sp>
      <p:sp>
        <p:nvSpPr>
          <p:cNvPr id="131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512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512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b="0">
                <a:solidFill>
                  <a:schemeClr val="tx1"/>
                </a:solidFill>
                <a:latin typeface="Arial" charset="0"/>
                <a:ea typeface="宋体" pitchFamily="2" charset="-122"/>
              </a:defRPr>
            </a:lvl1pPr>
          </a:lstStyle>
          <a:p>
            <a:pPr>
              <a:defRPr/>
            </a:pPr>
            <a:endParaRPr lang="en-US" altLang="zh-CN"/>
          </a:p>
        </p:txBody>
      </p:sp>
      <p:sp>
        <p:nvSpPr>
          <p:cNvPr id="512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solidFill>
                  <a:schemeClr val="tx1"/>
                </a:solidFill>
                <a:latin typeface="Arial" charset="0"/>
                <a:ea typeface="宋体" pitchFamily="2" charset="-122"/>
              </a:defRPr>
            </a:lvl1pPr>
          </a:lstStyle>
          <a:p>
            <a:pPr>
              <a:defRPr/>
            </a:pPr>
            <a:fld id="{0AA2CDFD-9B59-41E7-8533-07012B16544E}" type="slidenum">
              <a:rPr lang="en-US" altLang="zh-CN"/>
              <a:pPr>
                <a:defRPr/>
              </a:pPr>
              <a:t>‹#›</a:t>
            </a:fld>
            <a:endParaRPr lang="en-US" altLang="zh-CN"/>
          </a:p>
        </p:txBody>
      </p:sp>
    </p:spTree>
    <p:extLst>
      <p:ext uri="{BB962C8B-B14F-4D97-AF65-F5344CB8AC3E}">
        <p14:creationId xmlns:p14="http://schemas.microsoft.com/office/powerpoint/2010/main" val="54762811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1</a:t>
            </a:fld>
            <a:endParaRPr lang="en-US" altLang="zh-CN"/>
          </a:p>
        </p:txBody>
      </p:sp>
    </p:spTree>
    <p:extLst>
      <p:ext uri="{BB962C8B-B14F-4D97-AF65-F5344CB8AC3E}">
        <p14:creationId xmlns:p14="http://schemas.microsoft.com/office/powerpoint/2010/main" val="14706693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2188" y="768350"/>
            <a:ext cx="5114925" cy="3836988"/>
          </a:xfrm>
        </p:spPr>
      </p:sp>
      <p:sp>
        <p:nvSpPr>
          <p:cNvPr id="3" name="Notes Placeholder 2"/>
          <p:cNvSpPr>
            <a:spLocks noGrp="1"/>
          </p:cNvSpPr>
          <p:nvPr>
            <p:ph type="body" idx="1"/>
          </p:nvPr>
        </p:nvSpPr>
        <p:spPr/>
        <p:txBody>
          <a:bodyPr/>
          <a:lstStyle/>
          <a:p>
            <a:endParaRPr lang="en-CN" sz="1200"/>
          </a:p>
        </p:txBody>
      </p:sp>
      <p:sp>
        <p:nvSpPr>
          <p:cNvPr id="4" name="Slide Number Placeholder 3"/>
          <p:cNvSpPr>
            <a:spLocks noGrp="1"/>
          </p:cNvSpPr>
          <p:nvPr>
            <p:ph type="sldNum" sz="quarter" idx="5"/>
          </p:nvPr>
        </p:nvSpPr>
        <p:spPr/>
        <p:txBody>
          <a:bodyPr/>
          <a:lstStyle/>
          <a:p>
            <a:pPr>
              <a:defRPr/>
            </a:pPr>
            <a:fld id="{6143918E-A2CB-491E-8B36-A1C0952C99F6}" type="slidenum">
              <a:rPr lang="zh-CN" altLang="en-US" smtClean="0"/>
              <a:pPr>
                <a:defRPr/>
              </a:pPr>
              <a:t>5</a:t>
            </a:fld>
            <a:endParaRPr lang="en-US" altLang="zh-CN"/>
          </a:p>
        </p:txBody>
      </p:sp>
    </p:spTree>
    <p:extLst>
      <p:ext uri="{BB962C8B-B14F-4D97-AF65-F5344CB8AC3E}">
        <p14:creationId xmlns:p14="http://schemas.microsoft.com/office/powerpoint/2010/main" val="10285013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2188" y="768350"/>
            <a:ext cx="5114925" cy="3836988"/>
          </a:xfrm>
        </p:spPr>
      </p:sp>
      <p:sp>
        <p:nvSpPr>
          <p:cNvPr id="3" name="Notes Placeholder 2"/>
          <p:cNvSpPr>
            <a:spLocks noGrp="1"/>
          </p:cNvSpPr>
          <p:nvPr>
            <p:ph type="body" idx="1"/>
          </p:nvPr>
        </p:nvSpPr>
        <p:spPr/>
        <p:txBody>
          <a:bodyPr/>
          <a:lstStyle/>
          <a:p>
            <a:endParaRPr lang="en-CN" sz="1200"/>
          </a:p>
        </p:txBody>
      </p:sp>
      <p:sp>
        <p:nvSpPr>
          <p:cNvPr id="4" name="Slide Number Placeholder 3"/>
          <p:cNvSpPr>
            <a:spLocks noGrp="1"/>
          </p:cNvSpPr>
          <p:nvPr>
            <p:ph type="sldNum" sz="quarter" idx="5"/>
          </p:nvPr>
        </p:nvSpPr>
        <p:spPr/>
        <p:txBody>
          <a:bodyPr/>
          <a:lstStyle/>
          <a:p>
            <a:pPr>
              <a:defRPr/>
            </a:pPr>
            <a:fld id="{6143918E-A2CB-491E-8B36-A1C0952C99F6}" type="slidenum">
              <a:rPr lang="zh-CN" altLang="en-US" smtClean="0"/>
              <a:pPr>
                <a:defRPr/>
              </a:pPr>
              <a:t>6</a:t>
            </a:fld>
            <a:endParaRPr lang="en-US" altLang="zh-CN"/>
          </a:p>
        </p:txBody>
      </p:sp>
    </p:spTree>
    <p:extLst>
      <p:ext uri="{BB962C8B-B14F-4D97-AF65-F5344CB8AC3E}">
        <p14:creationId xmlns:p14="http://schemas.microsoft.com/office/powerpoint/2010/main" val="40723483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t>加入页码标识</a:t>
            </a:r>
          </a:p>
        </p:txBody>
      </p:sp>
      <p:sp>
        <p:nvSpPr>
          <p:cNvPr id="4" name="Slide Number Placeholder 3"/>
          <p:cNvSpPr>
            <a:spLocks noGrp="1"/>
          </p:cNvSpPr>
          <p:nvPr>
            <p:ph type="sldNum" sz="quarter" idx="5"/>
          </p:nvPr>
        </p:nvSpPr>
        <p:spPr/>
        <p:txBody>
          <a:bodyPr/>
          <a:lstStyle/>
          <a:p>
            <a:pPr>
              <a:defRPr/>
            </a:pPr>
            <a:fld id="{0AA2CDFD-9B59-41E7-8533-07012B16544E}" type="slidenum">
              <a:rPr lang="en-US" altLang="zh-CN" smtClean="0"/>
              <a:pPr>
                <a:defRPr/>
              </a:pPr>
              <a:t>7</a:t>
            </a:fld>
            <a:endParaRPr lang="en-US" altLang="zh-CN"/>
          </a:p>
        </p:txBody>
      </p:sp>
    </p:spTree>
    <p:extLst>
      <p:ext uri="{BB962C8B-B14F-4D97-AF65-F5344CB8AC3E}">
        <p14:creationId xmlns:p14="http://schemas.microsoft.com/office/powerpoint/2010/main" val="21698022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FADF04F-F2F9-486C-A752-12D4B1C511A4}" type="slidenum">
              <a:rPr lang="en-US" altLang="zh-CN" smtClean="0"/>
              <a:pPr/>
              <a:t>8</a:t>
            </a:fld>
            <a:endParaRPr lang="en-US" altLang="zh-CN"/>
          </a:p>
        </p:txBody>
      </p:sp>
    </p:spTree>
    <p:extLst>
      <p:ext uri="{BB962C8B-B14F-4D97-AF65-F5344CB8AC3E}">
        <p14:creationId xmlns:p14="http://schemas.microsoft.com/office/powerpoint/2010/main" val="1883099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9</a:t>
            </a:fld>
            <a:endParaRPr lang="en-US" altLang="zh-CN"/>
          </a:p>
        </p:txBody>
      </p:sp>
    </p:spTree>
    <p:extLst>
      <p:ext uri="{BB962C8B-B14F-4D97-AF65-F5344CB8AC3E}">
        <p14:creationId xmlns:p14="http://schemas.microsoft.com/office/powerpoint/2010/main" val="34893673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0AA2CDFD-9B59-41E7-8533-07012B16544E}" type="slidenum">
              <a:rPr lang="en-US" altLang="zh-CN" smtClean="0"/>
              <a:pPr>
                <a:defRPr/>
              </a:pPr>
              <a:t>10</a:t>
            </a:fld>
            <a:endParaRPr lang="en-US" altLang="zh-CN"/>
          </a:p>
        </p:txBody>
      </p:sp>
    </p:spTree>
    <p:extLst>
      <p:ext uri="{BB962C8B-B14F-4D97-AF65-F5344CB8AC3E}">
        <p14:creationId xmlns:p14="http://schemas.microsoft.com/office/powerpoint/2010/main" val="33969078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FADF04F-F2F9-486C-A752-12D4B1C511A4}" type="slidenum">
              <a:rPr lang="en-US" altLang="zh-CN" smtClean="0"/>
              <a:pPr/>
              <a:t>11</a:t>
            </a:fld>
            <a:endParaRPr lang="en-US" altLang="zh-CN"/>
          </a:p>
        </p:txBody>
      </p:sp>
    </p:spTree>
    <p:extLst>
      <p:ext uri="{BB962C8B-B14F-4D97-AF65-F5344CB8AC3E}">
        <p14:creationId xmlns:p14="http://schemas.microsoft.com/office/powerpoint/2010/main" val="2059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490AA-0B31-FAF2-2363-F5895C1E170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4CE1FAD-C014-105A-7836-CAB7F018CF1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772779F-F51B-9400-8349-836F9CE2DED6}"/>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236B6D86-4F1A-273F-4CDA-58CF901ED80F}"/>
              </a:ext>
            </a:extLst>
          </p:cNvPr>
          <p:cNvSpPr>
            <a:spLocks noGrp="1"/>
          </p:cNvSpPr>
          <p:nvPr>
            <p:ph type="sldNum" sz="quarter" idx="5"/>
          </p:nvPr>
        </p:nvSpPr>
        <p:spPr/>
        <p:txBody>
          <a:bodyPr/>
          <a:lstStyle/>
          <a:p>
            <a:fld id="{AFADF04F-F2F9-486C-A752-12D4B1C511A4}" type="slidenum">
              <a:rPr lang="en-US" altLang="zh-CN" smtClean="0"/>
              <a:pPr/>
              <a:t>12</a:t>
            </a:fld>
            <a:endParaRPr lang="en-US" altLang="zh-CN"/>
          </a:p>
        </p:txBody>
      </p:sp>
    </p:spTree>
    <p:extLst>
      <p:ext uri="{BB962C8B-B14F-4D97-AF65-F5344CB8AC3E}">
        <p14:creationId xmlns:p14="http://schemas.microsoft.com/office/powerpoint/2010/main" val="16737147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FADF04F-F2F9-486C-A752-12D4B1C511A4}" type="slidenum">
              <a:rPr lang="en-US" altLang="zh-CN" smtClean="0"/>
              <a:pPr/>
              <a:t>13</a:t>
            </a:fld>
            <a:endParaRPr lang="en-US" altLang="zh-CN"/>
          </a:p>
        </p:txBody>
      </p:sp>
    </p:spTree>
    <p:extLst>
      <p:ext uri="{BB962C8B-B14F-4D97-AF65-F5344CB8AC3E}">
        <p14:creationId xmlns:p14="http://schemas.microsoft.com/office/powerpoint/2010/main" val="32599791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14</a:t>
            </a:fld>
            <a:endParaRPr lang="en-US" altLang="zh-CN"/>
          </a:p>
        </p:txBody>
      </p:sp>
    </p:spTree>
    <p:extLst>
      <p:ext uri="{BB962C8B-B14F-4D97-AF65-F5344CB8AC3E}">
        <p14:creationId xmlns:p14="http://schemas.microsoft.com/office/powerpoint/2010/main" val="12072704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访存最小单位受现代</a:t>
            </a:r>
            <a:r>
              <a:rPr lang="en-US" altLang="zh-CN" dirty="0"/>
              <a:t>DRAM</a:t>
            </a:r>
            <a:r>
              <a:rPr lang="zh-CN" altLang="en-US" dirty="0"/>
              <a:t>结构的限制</a:t>
            </a:r>
            <a:endParaRPr lang="en-US" altLang="zh-CN" dirty="0"/>
          </a:p>
          <a:p>
            <a:r>
              <a:rPr lang="zh-CN" altLang="en-US" dirty="0"/>
              <a:t>后面分析为什么是</a:t>
            </a:r>
            <a:r>
              <a:rPr lang="en-US" altLang="zh-CN" dirty="0"/>
              <a:t>32</a:t>
            </a:r>
            <a:r>
              <a:rPr lang="zh-CN" altLang="en-US" dirty="0"/>
              <a:t>个</a:t>
            </a:r>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15</a:t>
            </a:fld>
            <a:endParaRPr lang="en-US" altLang="zh-CN"/>
          </a:p>
        </p:txBody>
      </p:sp>
    </p:spTree>
    <p:extLst>
      <p:ext uri="{BB962C8B-B14F-4D97-AF65-F5344CB8AC3E}">
        <p14:creationId xmlns:p14="http://schemas.microsoft.com/office/powerpoint/2010/main" val="33423350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16</a:t>
            </a:fld>
            <a:endParaRPr lang="en-US" altLang="zh-CN"/>
          </a:p>
        </p:txBody>
      </p:sp>
    </p:spTree>
    <p:extLst>
      <p:ext uri="{BB962C8B-B14F-4D97-AF65-F5344CB8AC3E}">
        <p14:creationId xmlns:p14="http://schemas.microsoft.com/office/powerpoint/2010/main" val="14108774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算术编码很直观很简单</a:t>
            </a:r>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17</a:t>
            </a:fld>
            <a:endParaRPr lang="en-US" altLang="zh-CN"/>
          </a:p>
        </p:txBody>
      </p:sp>
    </p:spTree>
    <p:extLst>
      <p:ext uri="{BB962C8B-B14F-4D97-AF65-F5344CB8AC3E}">
        <p14:creationId xmlns:p14="http://schemas.microsoft.com/office/powerpoint/2010/main" val="21122077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18</a:t>
            </a:fld>
            <a:endParaRPr lang="en-US" altLang="zh-CN"/>
          </a:p>
        </p:txBody>
      </p:sp>
    </p:spTree>
    <p:extLst>
      <p:ext uri="{BB962C8B-B14F-4D97-AF65-F5344CB8AC3E}">
        <p14:creationId xmlns:p14="http://schemas.microsoft.com/office/powerpoint/2010/main" val="24874472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19</a:t>
            </a:fld>
            <a:endParaRPr lang="en-US" altLang="zh-CN"/>
          </a:p>
        </p:txBody>
      </p:sp>
    </p:spTree>
    <p:extLst>
      <p:ext uri="{BB962C8B-B14F-4D97-AF65-F5344CB8AC3E}">
        <p14:creationId xmlns:p14="http://schemas.microsoft.com/office/powerpoint/2010/main" val="5985839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20</a:t>
            </a:fld>
            <a:endParaRPr lang="en-US" altLang="zh-CN"/>
          </a:p>
        </p:txBody>
      </p:sp>
    </p:spTree>
    <p:extLst>
      <p:ext uri="{BB962C8B-B14F-4D97-AF65-F5344CB8AC3E}">
        <p14:creationId xmlns:p14="http://schemas.microsoft.com/office/powerpoint/2010/main" val="40934649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21</a:t>
            </a:fld>
            <a:endParaRPr lang="en-US" altLang="zh-CN"/>
          </a:p>
        </p:txBody>
      </p:sp>
    </p:spTree>
    <p:extLst>
      <p:ext uri="{BB962C8B-B14F-4D97-AF65-F5344CB8AC3E}">
        <p14:creationId xmlns:p14="http://schemas.microsoft.com/office/powerpoint/2010/main" val="8825750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22</a:t>
            </a:fld>
            <a:endParaRPr lang="en-US" altLang="zh-CN"/>
          </a:p>
        </p:txBody>
      </p:sp>
    </p:spTree>
    <p:extLst>
      <p:ext uri="{BB962C8B-B14F-4D97-AF65-F5344CB8AC3E}">
        <p14:creationId xmlns:p14="http://schemas.microsoft.com/office/powerpoint/2010/main" val="56984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采用两种方案的</a:t>
            </a:r>
            <a:r>
              <a:rPr lang="en-US" altLang="zh-CN" dirty="0"/>
              <a:t>Trade-off</a:t>
            </a:r>
            <a:r>
              <a:rPr lang="zh-CN" altLang="en-US" dirty="0"/>
              <a:t>需要根据实际情况确定</a:t>
            </a:r>
            <a:endParaRPr lang="en-US" altLang="zh-CN"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23</a:t>
            </a:fld>
            <a:endParaRPr lang="en-US" altLang="zh-CN"/>
          </a:p>
        </p:txBody>
      </p:sp>
    </p:spTree>
    <p:extLst>
      <p:ext uri="{BB962C8B-B14F-4D97-AF65-F5344CB8AC3E}">
        <p14:creationId xmlns:p14="http://schemas.microsoft.com/office/powerpoint/2010/main" val="19872663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跳转指令可以以</a:t>
            </a:r>
            <a:r>
              <a:rPr lang="en-US" altLang="zh-CN"/>
              <a:t>PC</a:t>
            </a:r>
            <a:r>
              <a:rPr lang="zh-CN" altLang="en-US"/>
              <a:t>为基址，访存指令没有特定的基址，只能以通用寄存器的值为基址</a:t>
            </a:r>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24</a:t>
            </a:fld>
            <a:endParaRPr lang="en-US" altLang="zh-CN"/>
          </a:p>
        </p:txBody>
      </p:sp>
    </p:spTree>
    <p:extLst>
      <p:ext uri="{BB962C8B-B14F-4D97-AF65-F5344CB8AC3E}">
        <p14:creationId xmlns:p14="http://schemas.microsoft.com/office/powerpoint/2010/main" val="34478736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25</a:t>
            </a:fld>
            <a:endParaRPr lang="en-US" altLang="zh-CN"/>
          </a:p>
        </p:txBody>
      </p:sp>
    </p:spTree>
    <p:extLst>
      <p:ext uri="{BB962C8B-B14F-4D97-AF65-F5344CB8AC3E}">
        <p14:creationId xmlns:p14="http://schemas.microsoft.com/office/powerpoint/2010/main" val="18843574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26</a:t>
            </a:fld>
            <a:endParaRPr lang="en-US" altLang="zh-CN"/>
          </a:p>
        </p:txBody>
      </p:sp>
    </p:spTree>
    <p:extLst>
      <p:ext uri="{BB962C8B-B14F-4D97-AF65-F5344CB8AC3E}">
        <p14:creationId xmlns:p14="http://schemas.microsoft.com/office/powerpoint/2010/main" val="74604964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27</a:t>
            </a:fld>
            <a:endParaRPr lang="en-US" altLang="zh-CN"/>
          </a:p>
        </p:txBody>
      </p:sp>
    </p:spTree>
    <p:extLst>
      <p:ext uri="{BB962C8B-B14F-4D97-AF65-F5344CB8AC3E}">
        <p14:creationId xmlns:p14="http://schemas.microsoft.com/office/powerpoint/2010/main" val="17015273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  </a:t>
            </a:r>
            <a:endParaRPr lang="zh-CN" altLang="en-US"/>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28</a:t>
            </a:fld>
            <a:endParaRPr lang="en-US" altLang="zh-CN"/>
          </a:p>
        </p:txBody>
      </p:sp>
    </p:spTree>
    <p:extLst>
      <p:ext uri="{BB962C8B-B14F-4D97-AF65-F5344CB8AC3E}">
        <p14:creationId xmlns:p14="http://schemas.microsoft.com/office/powerpoint/2010/main" val="161367208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29</a:t>
            </a:fld>
            <a:endParaRPr lang="en-US" altLang="zh-CN"/>
          </a:p>
        </p:txBody>
      </p:sp>
    </p:spTree>
    <p:extLst>
      <p:ext uri="{BB962C8B-B14F-4D97-AF65-F5344CB8AC3E}">
        <p14:creationId xmlns:p14="http://schemas.microsoft.com/office/powerpoint/2010/main" val="129662602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30</a:t>
            </a:fld>
            <a:endParaRPr lang="en-US" altLang="zh-CN"/>
          </a:p>
        </p:txBody>
      </p:sp>
    </p:spTree>
    <p:extLst>
      <p:ext uri="{BB962C8B-B14F-4D97-AF65-F5344CB8AC3E}">
        <p14:creationId xmlns:p14="http://schemas.microsoft.com/office/powerpoint/2010/main" val="10750647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t>加入一页为什么讲</a:t>
            </a:r>
            <a:r>
              <a:rPr lang="en-US" altLang="zh-CN"/>
              <a:t>MIPS</a:t>
            </a:r>
            <a:r>
              <a:rPr lang="zh-CN" altLang="en-US"/>
              <a:t>的意义</a:t>
            </a:r>
          </a:p>
        </p:txBody>
      </p:sp>
      <p:sp>
        <p:nvSpPr>
          <p:cNvPr id="4" name="Slide Number Placeholder 3"/>
          <p:cNvSpPr>
            <a:spLocks noGrp="1"/>
          </p:cNvSpPr>
          <p:nvPr>
            <p:ph type="sldNum" sz="quarter" idx="5"/>
          </p:nvPr>
        </p:nvSpPr>
        <p:spPr/>
        <p:txBody>
          <a:bodyPr/>
          <a:lstStyle/>
          <a:p>
            <a:pPr>
              <a:defRPr/>
            </a:pPr>
            <a:fld id="{0AA2CDFD-9B59-41E7-8533-07012B16544E}" type="slidenum">
              <a:rPr lang="en-US" altLang="zh-CN" smtClean="0"/>
              <a:pPr>
                <a:defRPr/>
              </a:pPr>
              <a:t>31</a:t>
            </a:fld>
            <a:endParaRPr lang="en-US" altLang="zh-CN"/>
          </a:p>
        </p:txBody>
      </p:sp>
    </p:spTree>
    <p:extLst>
      <p:ext uri="{BB962C8B-B14F-4D97-AF65-F5344CB8AC3E}">
        <p14:creationId xmlns:p14="http://schemas.microsoft.com/office/powerpoint/2010/main" val="304393940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kumimoji="1" lang="en-US" altLang="zh-CN"/>
              <a:t>MIPS</a:t>
            </a:r>
            <a:r>
              <a:rPr kumimoji="1" lang="zh-CN" altLang="en-US"/>
              <a:t>当中一共有</a:t>
            </a:r>
            <a:r>
              <a:rPr kumimoji="1" lang="en-US" altLang="zh-CN"/>
              <a:t>32</a:t>
            </a:r>
            <a:r>
              <a:rPr kumimoji="1" lang="zh-CN" altLang="en-US"/>
              <a:t>个通用寄存器，编号</a:t>
            </a:r>
            <a:r>
              <a:rPr kumimoji="1" lang="en-US" altLang="zh-CN"/>
              <a:t>0</a:t>
            </a:r>
            <a:r>
              <a:rPr kumimoji="1" lang="zh-CN" altLang="en-US"/>
              <a:t>～</a:t>
            </a:r>
            <a:r>
              <a:rPr kumimoji="1" lang="en-US" altLang="zh-CN"/>
              <a:t>31</a:t>
            </a:r>
          </a:p>
          <a:p>
            <a:pPr marL="0" marR="0" indent="0" algn="l" defTabSz="914400" rtl="0" eaLnBrk="1" fontAlgn="base" latinLnBrk="0" hangingPunct="1">
              <a:lnSpc>
                <a:spcPct val="100000"/>
              </a:lnSpc>
              <a:spcBef>
                <a:spcPct val="30000"/>
              </a:spcBef>
              <a:spcAft>
                <a:spcPct val="0"/>
              </a:spcAft>
              <a:buClrTx/>
              <a:buSzTx/>
              <a:buFontTx/>
              <a:buNone/>
              <a:tabLst/>
              <a:defRPr/>
            </a:pPr>
            <a:r>
              <a:rPr kumimoji="1" lang="zh-CN" altLang="en-US"/>
              <a:t>为了方便大家记忆，</a:t>
            </a:r>
            <a:r>
              <a:rPr kumimoji="1" lang="en-US" altLang="zh-CN"/>
              <a:t>MIPS</a:t>
            </a:r>
            <a:r>
              <a:rPr kumimoji="1" lang="zh-CN" altLang="en-US"/>
              <a:t>中不同寄存器被用于特定任务，比如</a:t>
            </a:r>
            <a:r>
              <a:rPr kumimoji="1" lang="en-US" altLang="zh-CN"/>
              <a:t>0</a:t>
            </a:r>
            <a:r>
              <a:rPr kumimoji="1" lang="zh-CN" altLang="en-US"/>
              <a:t>寄存器始终为</a:t>
            </a:r>
            <a:r>
              <a:rPr kumimoji="1" lang="en-US" altLang="zh-CN"/>
              <a:t>0</a:t>
            </a:r>
            <a:r>
              <a:rPr kumimoji="1" lang="zh-CN" altLang="en-US"/>
              <a:t>，因此可以用一些助记符，如表格所示</a:t>
            </a:r>
          </a:p>
          <a:p>
            <a:endParaRPr kumimoji="1" lang="zh-CN" altLang="en-US"/>
          </a:p>
        </p:txBody>
      </p:sp>
      <p:sp>
        <p:nvSpPr>
          <p:cNvPr id="4" name="灯片编号占位符 3"/>
          <p:cNvSpPr>
            <a:spLocks noGrp="1"/>
          </p:cNvSpPr>
          <p:nvPr>
            <p:ph type="sldNum" sz="quarter" idx="5"/>
          </p:nvPr>
        </p:nvSpPr>
        <p:spPr/>
        <p:txBody>
          <a:bodyPr/>
          <a:lstStyle/>
          <a:p>
            <a:fld id="{AFADF04F-F2F9-486C-A752-12D4B1C511A4}" type="slidenum">
              <a:rPr lang="en-US" altLang="zh-CN" smtClean="0"/>
              <a:pPr/>
              <a:t>33</a:t>
            </a:fld>
            <a:endParaRPr lang="en-US" altLang="zh-CN"/>
          </a:p>
        </p:txBody>
      </p:sp>
    </p:spTree>
    <p:extLst>
      <p:ext uri="{BB962C8B-B14F-4D97-AF65-F5344CB8AC3E}">
        <p14:creationId xmlns:p14="http://schemas.microsoft.com/office/powerpoint/2010/main" val="78499289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在</a:t>
            </a:r>
            <a:r>
              <a:rPr kumimoji="1" lang="en-US" altLang="zh-CN" dirty="0"/>
              <a:t>MIPS</a:t>
            </a:r>
            <a:r>
              <a:rPr kumimoji="1" lang="zh-CN" altLang="en-US" dirty="0"/>
              <a:t>中，寄存器只有</a:t>
            </a:r>
            <a:r>
              <a:rPr kumimoji="1" lang="en-US" altLang="zh-CN" dirty="0"/>
              <a:t>32</a:t>
            </a:r>
            <a:r>
              <a:rPr kumimoji="1" lang="zh-CN" altLang="en-US" dirty="0"/>
              <a:t>个，请大家思考这是为什么？</a:t>
            </a:r>
            <a:endParaRPr kumimoji="1" lang="en-US" altLang="zh-CN" dirty="0"/>
          </a:p>
          <a:p>
            <a:r>
              <a:rPr kumimoji="1" lang="en-US" altLang="zh-CN" dirty="0"/>
              <a:t>32</a:t>
            </a:r>
            <a:r>
              <a:rPr kumimoji="1" lang="zh-CN" altLang="en-US" dirty="0"/>
              <a:t>个选</a:t>
            </a:r>
            <a:r>
              <a:rPr kumimoji="1" lang="en-US" altLang="zh-CN" dirty="0"/>
              <a:t>1</a:t>
            </a:r>
            <a:r>
              <a:rPr kumimoji="1" lang="zh-CN" altLang="en-US" dirty="0"/>
              <a:t>个，的做法？时钟周期</a:t>
            </a:r>
            <a:endParaRPr kumimoji="1" lang="en-US" altLang="zh-CN" dirty="0"/>
          </a:p>
          <a:p>
            <a:r>
              <a:rPr kumimoji="1" lang="zh-CN" altLang="en-US" dirty="0"/>
              <a:t>扇出</a:t>
            </a:r>
            <a:endParaRPr kumimoji="1" lang="en-US" altLang="zh-CN" dirty="0"/>
          </a:p>
          <a:p>
            <a:r>
              <a:rPr kumimoji="1" lang="zh-CN" altLang="zh-CN" dirty="0"/>
              <a:t>3</a:t>
            </a:r>
            <a:r>
              <a:rPr kumimoji="1" lang="en-US" altLang="zh-CN" dirty="0"/>
              <a:t>2</a:t>
            </a:r>
            <a:r>
              <a:rPr kumimoji="1" lang="zh-CN" altLang="en-US" dirty="0"/>
              <a:t>个是否够用？</a:t>
            </a:r>
            <a:endParaRPr kumimoji="1" lang="en-US" altLang="zh-CN" dirty="0"/>
          </a:p>
        </p:txBody>
      </p:sp>
      <p:sp>
        <p:nvSpPr>
          <p:cNvPr id="4" name="幻灯片编号占位符 3"/>
          <p:cNvSpPr>
            <a:spLocks noGrp="1"/>
          </p:cNvSpPr>
          <p:nvPr>
            <p:ph type="sldNum" sz="quarter" idx="10"/>
          </p:nvPr>
        </p:nvSpPr>
        <p:spPr/>
        <p:txBody>
          <a:bodyPr/>
          <a:lstStyle/>
          <a:p>
            <a:fld id="{AFADF04F-F2F9-486C-A752-12D4B1C511A4}" type="slidenum">
              <a:rPr lang="en-US" altLang="zh-CN" smtClean="0"/>
              <a:pPr/>
              <a:t>34</a:t>
            </a:fld>
            <a:endParaRPr lang="en-US" altLang="zh-CN"/>
          </a:p>
        </p:txBody>
      </p:sp>
    </p:spTree>
    <p:extLst>
      <p:ext uri="{BB962C8B-B14F-4D97-AF65-F5344CB8AC3E}">
        <p14:creationId xmlns:p14="http://schemas.microsoft.com/office/powerpoint/2010/main" val="27176574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t>加入页码标识</a:t>
            </a:r>
          </a:p>
        </p:txBody>
      </p:sp>
      <p:sp>
        <p:nvSpPr>
          <p:cNvPr id="4" name="Slide Number Placeholder 3"/>
          <p:cNvSpPr>
            <a:spLocks noGrp="1"/>
          </p:cNvSpPr>
          <p:nvPr>
            <p:ph type="sldNum" sz="quarter" idx="5"/>
          </p:nvPr>
        </p:nvSpPr>
        <p:spPr/>
        <p:txBody>
          <a:bodyPr/>
          <a:lstStyle/>
          <a:p>
            <a:pPr>
              <a:defRPr/>
            </a:pPr>
            <a:fld id="{0AA2CDFD-9B59-41E7-8533-07012B16544E}" type="slidenum">
              <a:rPr lang="en-US" altLang="zh-CN" smtClean="0"/>
              <a:pPr>
                <a:defRPr/>
              </a:pPr>
              <a:t>35</a:t>
            </a:fld>
            <a:endParaRPr lang="en-US" altLang="zh-CN"/>
          </a:p>
        </p:txBody>
      </p:sp>
    </p:spTree>
    <p:extLst>
      <p:ext uri="{BB962C8B-B14F-4D97-AF65-F5344CB8AC3E}">
        <p14:creationId xmlns:p14="http://schemas.microsoft.com/office/powerpoint/2010/main" val="23628211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FADF04F-F2F9-486C-A752-12D4B1C511A4}" type="slidenum">
              <a:rPr lang="en-US" altLang="zh-CN" smtClean="0"/>
              <a:pPr/>
              <a:t>36</a:t>
            </a:fld>
            <a:endParaRPr lang="en-US" altLang="zh-CN"/>
          </a:p>
        </p:txBody>
      </p:sp>
    </p:spTree>
    <p:extLst>
      <p:ext uri="{BB962C8B-B14F-4D97-AF65-F5344CB8AC3E}">
        <p14:creationId xmlns:p14="http://schemas.microsoft.com/office/powerpoint/2010/main" val="264407053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FADF04F-F2F9-486C-A752-12D4B1C511A4}" type="slidenum">
              <a:rPr lang="en-US" altLang="zh-CN" smtClean="0"/>
              <a:pPr/>
              <a:t>37</a:t>
            </a:fld>
            <a:endParaRPr lang="en-US" altLang="zh-CN"/>
          </a:p>
        </p:txBody>
      </p:sp>
    </p:spTree>
    <p:extLst>
      <p:ext uri="{BB962C8B-B14F-4D97-AF65-F5344CB8AC3E}">
        <p14:creationId xmlns:p14="http://schemas.microsoft.com/office/powerpoint/2010/main" val="391189274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38</a:t>
            </a:fld>
            <a:endParaRPr lang="en-US" altLang="zh-CN"/>
          </a:p>
        </p:txBody>
      </p:sp>
    </p:spTree>
    <p:extLst>
      <p:ext uri="{BB962C8B-B14F-4D97-AF65-F5344CB8AC3E}">
        <p14:creationId xmlns:p14="http://schemas.microsoft.com/office/powerpoint/2010/main" val="76745657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FADF04F-F2F9-486C-A752-12D4B1C511A4}" type="slidenum">
              <a:rPr lang="en-US" altLang="zh-CN" smtClean="0"/>
              <a:pPr/>
              <a:t>39</a:t>
            </a:fld>
            <a:endParaRPr lang="en-US" altLang="zh-CN"/>
          </a:p>
        </p:txBody>
      </p:sp>
    </p:spTree>
    <p:extLst>
      <p:ext uri="{BB962C8B-B14F-4D97-AF65-F5344CB8AC3E}">
        <p14:creationId xmlns:p14="http://schemas.microsoft.com/office/powerpoint/2010/main" val="299768434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rtl="0" fontAlgn="t"/>
            <a:endParaRPr lang="zh-CN" altLang="en-US"/>
          </a:p>
        </p:txBody>
      </p:sp>
      <p:sp>
        <p:nvSpPr>
          <p:cNvPr id="4" name="灯片编号占位符 3"/>
          <p:cNvSpPr>
            <a:spLocks noGrp="1"/>
          </p:cNvSpPr>
          <p:nvPr>
            <p:ph type="sldNum" sz="quarter" idx="5"/>
          </p:nvPr>
        </p:nvSpPr>
        <p:spPr/>
        <p:txBody>
          <a:bodyPr/>
          <a:lstStyle/>
          <a:p>
            <a:fld id="{AFADF04F-F2F9-486C-A752-12D4B1C511A4}" type="slidenum">
              <a:rPr lang="en-US" altLang="zh-CN" smtClean="0"/>
              <a:pPr/>
              <a:t>40</a:t>
            </a:fld>
            <a:endParaRPr lang="en-US" altLang="zh-CN"/>
          </a:p>
        </p:txBody>
      </p:sp>
    </p:spTree>
    <p:extLst>
      <p:ext uri="{BB962C8B-B14F-4D97-AF65-F5344CB8AC3E}">
        <p14:creationId xmlns:p14="http://schemas.microsoft.com/office/powerpoint/2010/main" val="215920085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rtl="0" fontAlgn="t"/>
            <a:endParaRPr lang="zh-CN" altLang="zh-CN" sz="1200" kern="1200">
              <a:solidFill>
                <a:schemeClr val="tx1"/>
              </a:solidFill>
              <a:effectLst/>
              <a:latin typeface="Arial" charset="0"/>
              <a:ea typeface="宋体" charset="-122"/>
              <a:cs typeface="+mn-cs"/>
            </a:endParaRPr>
          </a:p>
        </p:txBody>
      </p:sp>
      <p:sp>
        <p:nvSpPr>
          <p:cNvPr id="4" name="灯片编号占位符 3"/>
          <p:cNvSpPr>
            <a:spLocks noGrp="1"/>
          </p:cNvSpPr>
          <p:nvPr>
            <p:ph type="sldNum" sz="quarter" idx="5"/>
          </p:nvPr>
        </p:nvSpPr>
        <p:spPr/>
        <p:txBody>
          <a:bodyPr/>
          <a:lstStyle/>
          <a:p>
            <a:fld id="{AFADF04F-F2F9-486C-A752-12D4B1C511A4}" type="slidenum">
              <a:rPr lang="en-US" altLang="zh-CN" smtClean="0"/>
              <a:pPr/>
              <a:t>41</a:t>
            </a:fld>
            <a:endParaRPr lang="en-US" altLang="zh-CN"/>
          </a:p>
        </p:txBody>
      </p:sp>
    </p:spTree>
    <p:extLst>
      <p:ext uri="{BB962C8B-B14F-4D97-AF65-F5344CB8AC3E}">
        <p14:creationId xmlns:p14="http://schemas.microsoft.com/office/powerpoint/2010/main" val="152200383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42</a:t>
            </a:fld>
            <a:endParaRPr lang="en-US" altLang="zh-CN"/>
          </a:p>
        </p:txBody>
      </p:sp>
    </p:spTree>
    <p:extLst>
      <p:ext uri="{BB962C8B-B14F-4D97-AF65-F5344CB8AC3E}">
        <p14:creationId xmlns:p14="http://schemas.microsoft.com/office/powerpoint/2010/main" val="345723803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44</a:t>
            </a:fld>
            <a:endParaRPr lang="en-US" altLang="zh-CN"/>
          </a:p>
        </p:txBody>
      </p:sp>
    </p:spTree>
    <p:extLst>
      <p:ext uri="{BB962C8B-B14F-4D97-AF65-F5344CB8AC3E}">
        <p14:creationId xmlns:p14="http://schemas.microsoft.com/office/powerpoint/2010/main" val="239365555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搬运之前的问题</a:t>
            </a:r>
          </a:p>
        </p:txBody>
      </p:sp>
      <p:sp>
        <p:nvSpPr>
          <p:cNvPr id="4" name="灯片编号占位符 3"/>
          <p:cNvSpPr>
            <a:spLocks noGrp="1"/>
          </p:cNvSpPr>
          <p:nvPr>
            <p:ph type="sldNum" sz="quarter" idx="5"/>
          </p:nvPr>
        </p:nvSpPr>
        <p:spPr/>
        <p:txBody>
          <a:bodyPr/>
          <a:lstStyle/>
          <a:p>
            <a:fld id="{AFADF04F-F2F9-486C-A752-12D4B1C511A4}" type="slidenum">
              <a:rPr lang="en-US" altLang="zh-CN" smtClean="0"/>
              <a:pPr/>
              <a:t>45</a:t>
            </a:fld>
            <a:endParaRPr lang="en-US" altLang="zh-CN"/>
          </a:p>
        </p:txBody>
      </p:sp>
    </p:spTree>
    <p:extLst>
      <p:ext uri="{BB962C8B-B14F-4D97-AF65-F5344CB8AC3E}">
        <p14:creationId xmlns:p14="http://schemas.microsoft.com/office/powerpoint/2010/main" val="56208722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46</a:t>
            </a:fld>
            <a:endParaRPr lang="en-US" altLang="zh-CN"/>
          </a:p>
        </p:txBody>
      </p:sp>
    </p:spTree>
    <p:extLst>
      <p:ext uri="{BB962C8B-B14F-4D97-AF65-F5344CB8AC3E}">
        <p14:creationId xmlns:p14="http://schemas.microsoft.com/office/powerpoint/2010/main" val="9059134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FADF04F-F2F9-486C-A752-12D4B1C511A4}" type="slidenum">
              <a:rPr lang="en-US" altLang="zh-CN" smtClean="0"/>
              <a:pPr/>
              <a:t>47</a:t>
            </a:fld>
            <a:endParaRPr lang="en-US" altLang="zh-CN"/>
          </a:p>
        </p:txBody>
      </p:sp>
    </p:spTree>
    <p:extLst>
      <p:ext uri="{BB962C8B-B14F-4D97-AF65-F5344CB8AC3E}">
        <p14:creationId xmlns:p14="http://schemas.microsoft.com/office/powerpoint/2010/main" val="125781736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FADF04F-F2F9-486C-A752-12D4B1C511A4}" type="slidenum">
              <a:rPr lang="en-US" altLang="zh-CN" smtClean="0"/>
              <a:pPr/>
              <a:t>48</a:t>
            </a:fld>
            <a:endParaRPr lang="en-US" altLang="zh-CN"/>
          </a:p>
        </p:txBody>
      </p:sp>
    </p:spTree>
    <p:extLst>
      <p:ext uri="{BB962C8B-B14F-4D97-AF65-F5344CB8AC3E}">
        <p14:creationId xmlns:p14="http://schemas.microsoft.com/office/powerpoint/2010/main" val="324629283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49</a:t>
            </a:fld>
            <a:endParaRPr lang="en-US" altLang="zh-CN"/>
          </a:p>
        </p:txBody>
      </p:sp>
    </p:spTree>
    <p:extLst>
      <p:ext uri="{BB962C8B-B14F-4D97-AF65-F5344CB8AC3E}">
        <p14:creationId xmlns:p14="http://schemas.microsoft.com/office/powerpoint/2010/main" val="422777798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t>加入页码标识</a:t>
            </a:r>
          </a:p>
        </p:txBody>
      </p:sp>
      <p:sp>
        <p:nvSpPr>
          <p:cNvPr id="4" name="Slide Number Placeholder 3"/>
          <p:cNvSpPr>
            <a:spLocks noGrp="1"/>
          </p:cNvSpPr>
          <p:nvPr>
            <p:ph type="sldNum" sz="quarter" idx="5"/>
          </p:nvPr>
        </p:nvSpPr>
        <p:spPr/>
        <p:txBody>
          <a:bodyPr/>
          <a:lstStyle/>
          <a:p>
            <a:pPr>
              <a:defRPr/>
            </a:pPr>
            <a:fld id="{0AA2CDFD-9B59-41E7-8533-07012B16544E}" type="slidenum">
              <a:rPr lang="en-US" altLang="zh-CN" smtClean="0"/>
              <a:pPr>
                <a:defRPr/>
              </a:pPr>
              <a:t>51</a:t>
            </a:fld>
            <a:endParaRPr lang="en-US" altLang="zh-CN"/>
          </a:p>
        </p:txBody>
      </p:sp>
    </p:spTree>
    <p:extLst>
      <p:ext uri="{BB962C8B-B14F-4D97-AF65-F5344CB8AC3E}">
        <p14:creationId xmlns:p14="http://schemas.microsoft.com/office/powerpoint/2010/main" val="428120135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FADF04F-F2F9-486C-A752-12D4B1C511A4}" type="slidenum">
              <a:rPr lang="en-US" altLang="zh-CN" smtClean="0"/>
              <a:pPr/>
              <a:t>53</a:t>
            </a:fld>
            <a:endParaRPr lang="en-US" altLang="zh-CN"/>
          </a:p>
        </p:txBody>
      </p:sp>
    </p:spTree>
    <p:extLst>
      <p:ext uri="{BB962C8B-B14F-4D97-AF65-F5344CB8AC3E}">
        <p14:creationId xmlns:p14="http://schemas.microsoft.com/office/powerpoint/2010/main" val="188636869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FADF04F-F2F9-486C-A752-12D4B1C511A4}" type="slidenum">
              <a:rPr lang="en-US" altLang="zh-CN" smtClean="0"/>
              <a:pPr/>
              <a:t>54</a:t>
            </a:fld>
            <a:endParaRPr lang="en-US" altLang="zh-CN"/>
          </a:p>
        </p:txBody>
      </p:sp>
    </p:spTree>
    <p:extLst>
      <p:ext uri="{BB962C8B-B14F-4D97-AF65-F5344CB8AC3E}">
        <p14:creationId xmlns:p14="http://schemas.microsoft.com/office/powerpoint/2010/main" val="282555122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FADF04F-F2F9-486C-A752-12D4B1C511A4}" type="slidenum">
              <a:rPr lang="en-US" altLang="zh-CN" smtClean="0"/>
              <a:pPr/>
              <a:t>55</a:t>
            </a:fld>
            <a:endParaRPr lang="en-US" altLang="zh-CN"/>
          </a:p>
        </p:txBody>
      </p:sp>
    </p:spTree>
    <p:extLst>
      <p:ext uri="{BB962C8B-B14F-4D97-AF65-F5344CB8AC3E}">
        <p14:creationId xmlns:p14="http://schemas.microsoft.com/office/powerpoint/2010/main" val="200524491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FADF04F-F2F9-486C-A752-12D4B1C511A4}" type="slidenum">
              <a:rPr lang="en-US" altLang="zh-CN" smtClean="0"/>
              <a:pPr/>
              <a:t>56</a:t>
            </a:fld>
            <a:endParaRPr lang="en-US" altLang="zh-CN"/>
          </a:p>
        </p:txBody>
      </p:sp>
    </p:spTree>
    <p:extLst>
      <p:ext uri="{BB962C8B-B14F-4D97-AF65-F5344CB8AC3E}">
        <p14:creationId xmlns:p14="http://schemas.microsoft.com/office/powerpoint/2010/main" val="309336765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a:t>基址或偏移寻址：</a:t>
            </a:r>
            <a:r>
              <a:rPr lang="en-US" altLang="zh-CN" sz="1200"/>
              <a:t>I</a:t>
            </a:r>
            <a:r>
              <a:rPr lang="zh-CN" altLang="en-US" sz="1200"/>
              <a:t>型</a:t>
            </a:r>
            <a:endParaRPr lang="en-US" altLang="zh-CN" sz="1200"/>
          </a:p>
          <a:p>
            <a:endParaRPr kumimoji="1" lang="en-US" altLang="zh-CN" sz="1200"/>
          </a:p>
          <a:p>
            <a:r>
              <a:rPr kumimoji="1" lang="zh-CN" altLang="en-US" sz="1200"/>
              <a:t>最常见的就是之前提到过的</a:t>
            </a:r>
            <a:r>
              <a:rPr kumimoji="1" lang="en-US" altLang="zh-CN" sz="1200" err="1"/>
              <a:t>sw</a:t>
            </a:r>
            <a:r>
              <a:rPr kumimoji="1" lang="zh-CN" altLang="en-US" sz="1200"/>
              <a:t>和</a:t>
            </a:r>
            <a:r>
              <a:rPr kumimoji="1" lang="en-US" altLang="zh-CN" sz="1200"/>
              <a:t>lw</a:t>
            </a:r>
            <a:r>
              <a:rPr kumimoji="1" lang="zh-CN" altLang="en-US" sz="1200"/>
              <a:t>指令，根据寄存器存储数字作为基地址，在存储器中进行偏移量寻址</a:t>
            </a:r>
            <a:endParaRPr kumimoji="1" lang="en-US" altLang="zh-CN" sz="1200"/>
          </a:p>
          <a:p>
            <a:r>
              <a:rPr kumimoji="1" lang="zh-CN" altLang="en-US" sz="1200"/>
              <a:t>偏移量就是立即数</a:t>
            </a:r>
            <a:endParaRPr kumimoji="1" lang="zh-CN" altLang="en-US"/>
          </a:p>
        </p:txBody>
      </p:sp>
      <p:sp>
        <p:nvSpPr>
          <p:cNvPr id="4" name="灯片编号占位符 3"/>
          <p:cNvSpPr>
            <a:spLocks noGrp="1"/>
          </p:cNvSpPr>
          <p:nvPr>
            <p:ph type="sldNum" sz="quarter" idx="5"/>
          </p:nvPr>
        </p:nvSpPr>
        <p:spPr/>
        <p:txBody>
          <a:bodyPr/>
          <a:lstStyle/>
          <a:p>
            <a:fld id="{AFADF04F-F2F9-486C-A752-12D4B1C511A4}" type="slidenum">
              <a:rPr lang="en-US" altLang="zh-CN" smtClean="0"/>
              <a:pPr/>
              <a:t>57</a:t>
            </a:fld>
            <a:endParaRPr lang="en-US" altLang="zh-CN"/>
          </a:p>
        </p:txBody>
      </p:sp>
    </p:spTree>
    <p:extLst>
      <p:ext uri="{BB962C8B-B14F-4D97-AF65-F5344CB8AC3E}">
        <p14:creationId xmlns:p14="http://schemas.microsoft.com/office/powerpoint/2010/main" val="200219276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FADF04F-F2F9-486C-A752-12D4B1C511A4}" type="slidenum">
              <a:rPr lang="en-US" altLang="zh-CN" smtClean="0"/>
              <a:pPr/>
              <a:t>58</a:t>
            </a:fld>
            <a:endParaRPr lang="en-US" altLang="zh-CN"/>
          </a:p>
        </p:txBody>
      </p:sp>
    </p:spTree>
    <p:extLst>
      <p:ext uri="{BB962C8B-B14F-4D97-AF65-F5344CB8AC3E}">
        <p14:creationId xmlns:p14="http://schemas.microsoft.com/office/powerpoint/2010/main" val="199089329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FADF04F-F2F9-486C-A752-12D4B1C511A4}" type="slidenum">
              <a:rPr lang="en-US" altLang="zh-CN" smtClean="0"/>
              <a:pPr/>
              <a:t>59</a:t>
            </a:fld>
            <a:endParaRPr lang="en-US" altLang="zh-CN"/>
          </a:p>
        </p:txBody>
      </p:sp>
    </p:spTree>
    <p:extLst>
      <p:ext uri="{BB962C8B-B14F-4D97-AF65-F5344CB8AC3E}">
        <p14:creationId xmlns:p14="http://schemas.microsoft.com/office/powerpoint/2010/main" val="319316325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伪直接寻址</a:t>
            </a:r>
            <a:endParaRPr lang="en-US" altLang="zh-CN"/>
          </a:p>
          <a:p>
            <a:pPr marL="0" marR="0" indent="0" algn="l" defTabSz="914400" rtl="0" eaLnBrk="1" fontAlgn="base" latinLnBrk="0" hangingPunct="1">
              <a:lnSpc>
                <a:spcPct val="100000"/>
              </a:lnSpc>
              <a:spcBef>
                <a:spcPct val="30000"/>
              </a:spcBef>
              <a:spcAft>
                <a:spcPct val="0"/>
              </a:spcAft>
              <a:buClrTx/>
              <a:buSzTx/>
              <a:buFontTx/>
              <a:buNone/>
              <a:tabLst/>
              <a:defRPr/>
            </a:pPr>
            <a:r>
              <a:rPr kumimoji="1" lang="zh-CN" altLang="en-US"/>
              <a:t>然而</a:t>
            </a:r>
            <a:r>
              <a:rPr kumimoji="1" lang="en-US" altLang="zh-CN"/>
              <a:t>MIPS</a:t>
            </a:r>
            <a:r>
              <a:rPr kumimoji="1" lang="zh-CN" altLang="en-US"/>
              <a:t>中指令的地址由</a:t>
            </a:r>
            <a:r>
              <a:rPr kumimoji="1" lang="en-US" altLang="zh-CN"/>
              <a:t>32bit</a:t>
            </a:r>
            <a:r>
              <a:rPr kumimoji="1" lang="zh-CN" altLang="en-US"/>
              <a:t>，所以这里采用了伪直接寻址，也就是</a:t>
            </a:r>
            <a:r>
              <a:rPr kumimoji="1" lang="en-US" altLang="zh-CN"/>
              <a:t>32bit</a:t>
            </a:r>
            <a:r>
              <a:rPr kumimoji="1" lang="zh-CN" altLang="en-US"/>
              <a:t>的地址有</a:t>
            </a:r>
            <a:r>
              <a:rPr kumimoji="1" lang="en-US" altLang="zh-CN"/>
              <a:t>26bit</a:t>
            </a:r>
            <a:r>
              <a:rPr kumimoji="1" lang="zh-CN" altLang="en-US"/>
              <a:t>和其他数据拼接而成</a:t>
            </a:r>
            <a:endParaRPr kumimoji="1" lang="en-US" altLang="zh-CN"/>
          </a:p>
          <a:p>
            <a:pPr marL="0" marR="0" indent="0" algn="l" defTabSz="914400" rtl="0" eaLnBrk="1" fontAlgn="base" latinLnBrk="0" hangingPunct="1">
              <a:lnSpc>
                <a:spcPct val="100000"/>
              </a:lnSpc>
              <a:spcBef>
                <a:spcPct val="30000"/>
              </a:spcBef>
              <a:spcAft>
                <a:spcPct val="0"/>
              </a:spcAft>
              <a:buClrTx/>
              <a:buSzTx/>
              <a:buFontTx/>
              <a:buNone/>
              <a:tabLst/>
              <a:defRPr/>
            </a:pPr>
            <a:endParaRPr kumimoji="1" lang="en-US" altLang="zh-CN"/>
          </a:p>
          <a:p>
            <a:pPr marL="0" marR="0" indent="0" algn="l" defTabSz="914400" rtl="0" eaLnBrk="1" fontAlgn="base" latinLnBrk="0" hangingPunct="1">
              <a:lnSpc>
                <a:spcPct val="100000"/>
              </a:lnSpc>
              <a:spcBef>
                <a:spcPct val="30000"/>
              </a:spcBef>
              <a:spcAft>
                <a:spcPct val="0"/>
              </a:spcAft>
              <a:buClrTx/>
              <a:buSzTx/>
              <a:buFontTx/>
              <a:buNone/>
              <a:tabLst/>
              <a:defRPr/>
            </a:pPr>
            <a:r>
              <a:rPr kumimoji="1" lang="zh-CN" altLang="en-US"/>
              <a:t>拼接方式为</a:t>
            </a:r>
            <a:endParaRPr kumimoji="1" lang="en-US" altLang="zh-CN"/>
          </a:p>
          <a:p>
            <a:pPr marL="0" marR="0" indent="0" algn="l" defTabSz="914400" rtl="0" eaLnBrk="1" fontAlgn="base" latinLnBrk="0" hangingPunct="1">
              <a:lnSpc>
                <a:spcPct val="100000"/>
              </a:lnSpc>
              <a:spcBef>
                <a:spcPct val="30000"/>
              </a:spcBef>
              <a:spcAft>
                <a:spcPct val="0"/>
              </a:spcAft>
              <a:buClrTx/>
              <a:buSzTx/>
              <a:buFontTx/>
              <a:buNone/>
              <a:tabLst/>
              <a:defRPr/>
            </a:pPr>
            <a:r>
              <a:rPr lang="zh-CN" altLang="en-US" sz="1200">
                <a:solidFill>
                  <a:srgbClr val="0000FF"/>
                </a:solidFill>
              </a:rPr>
              <a:t>跳转地址</a:t>
            </a:r>
            <a:r>
              <a:rPr lang="en-US" altLang="zh-CN" sz="1200" b="0"/>
              <a:t>= PC</a:t>
            </a:r>
            <a:r>
              <a:rPr lang="zh-CN" altLang="en-US" sz="1200" b="0"/>
              <a:t>中原高</a:t>
            </a:r>
            <a:r>
              <a:rPr lang="en-US" altLang="zh-CN" sz="1200" b="0"/>
              <a:t>4</a:t>
            </a:r>
            <a:r>
              <a:rPr lang="zh-CN" altLang="en-US" sz="1200" b="0"/>
              <a:t>位</a:t>
            </a:r>
            <a:r>
              <a:rPr lang="zh-CN" altLang="en-US" sz="1200" b="0">
                <a:solidFill>
                  <a:srgbClr val="FF0000"/>
                </a:solidFill>
              </a:rPr>
              <a:t> </a:t>
            </a:r>
            <a:r>
              <a:rPr lang="zh-CN" altLang="zh-CN" sz="1200" b="0">
                <a:solidFill>
                  <a:srgbClr val="FF0000"/>
                </a:solidFill>
              </a:rPr>
              <a:t>｜</a:t>
            </a:r>
            <a:r>
              <a:rPr lang="en-US" altLang="zh-CN" sz="1200" b="0">
                <a:solidFill>
                  <a:srgbClr val="FF0000"/>
                </a:solidFill>
              </a:rPr>
              <a:t> </a:t>
            </a:r>
            <a:r>
              <a:rPr lang="zh-CN" altLang="en-US" sz="1200" b="0"/>
              <a:t>指令中的</a:t>
            </a:r>
            <a:r>
              <a:rPr lang="en-US" altLang="zh-CN" sz="1200" b="0"/>
              <a:t>26</a:t>
            </a:r>
            <a:r>
              <a:rPr lang="zh-CN" altLang="en-US" sz="1200" b="0"/>
              <a:t>位 </a:t>
            </a:r>
            <a:r>
              <a:rPr lang="zh-CN" altLang="zh-CN" sz="1200" b="0">
                <a:solidFill>
                  <a:srgbClr val="FF0000"/>
                </a:solidFill>
              </a:rPr>
              <a:t>｜</a:t>
            </a:r>
            <a:r>
              <a:rPr lang="en-US" altLang="zh-CN" sz="1200" b="0">
                <a:solidFill>
                  <a:srgbClr val="FF0000"/>
                </a:solidFill>
              </a:rPr>
              <a:t> </a:t>
            </a:r>
            <a:r>
              <a:rPr lang="en-US" altLang="zh-CN" sz="1200" b="0"/>
              <a:t>00</a:t>
            </a:r>
          </a:p>
          <a:p>
            <a:pPr marL="0" marR="0" indent="0" algn="l" defTabSz="914400" rtl="0" eaLnBrk="1" fontAlgn="base" latinLnBrk="0" hangingPunct="1">
              <a:lnSpc>
                <a:spcPct val="100000"/>
              </a:lnSpc>
              <a:spcBef>
                <a:spcPct val="30000"/>
              </a:spcBef>
              <a:spcAft>
                <a:spcPct val="0"/>
              </a:spcAft>
              <a:buClrTx/>
              <a:buSzTx/>
              <a:buFontTx/>
              <a:buNone/>
              <a:tabLst/>
              <a:defRPr/>
            </a:pPr>
            <a:endParaRPr lang="en-US" altLang="zh-CN" sz="1200" b="0"/>
          </a:p>
          <a:p>
            <a:pPr marL="0" marR="0" indent="0" algn="l" defTabSz="914400" rtl="0" eaLnBrk="1" fontAlgn="base" latinLnBrk="0" hangingPunct="1">
              <a:lnSpc>
                <a:spcPct val="100000"/>
              </a:lnSpc>
              <a:spcBef>
                <a:spcPct val="30000"/>
              </a:spcBef>
              <a:spcAft>
                <a:spcPct val="0"/>
              </a:spcAft>
              <a:buClrTx/>
              <a:buSzTx/>
              <a:buFontTx/>
              <a:buNone/>
              <a:tabLst/>
              <a:defRPr/>
            </a:pPr>
            <a:r>
              <a:rPr lang="zh-CN" altLang="en-US" sz="1200" b="0"/>
              <a:t>问题</a:t>
            </a:r>
            <a:r>
              <a:rPr lang="en-US" altLang="zh-CN" sz="1200" b="0"/>
              <a:t>:</a:t>
            </a:r>
            <a:r>
              <a:rPr lang="en-US" altLang="zh-CN" sz="1200" b="0" err="1"/>
              <a:t>jr</a:t>
            </a:r>
            <a:r>
              <a:rPr lang="zh-CN" altLang="en-US" sz="1200" b="0"/>
              <a:t>（这是一个</a:t>
            </a:r>
            <a:r>
              <a:rPr lang="en-US" altLang="zh-CN" sz="1200" b="0"/>
              <a:t>R</a:t>
            </a:r>
            <a:r>
              <a:rPr lang="zh-CN" altLang="en-US" sz="1200" b="0"/>
              <a:t>型指令，请大家自学）</a:t>
            </a:r>
            <a:endParaRPr kumimoji="1" lang="zh-CN" altLang="en-US"/>
          </a:p>
          <a:p>
            <a:endParaRPr lang="zh-CN" altLang="en-US"/>
          </a:p>
        </p:txBody>
      </p:sp>
      <p:sp>
        <p:nvSpPr>
          <p:cNvPr id="4" name="灯片编号占位符 3"/>
          <p:cNvSpPr>
            <a:spLocks noGrp="1"/>
          </p:cNvSpPr>
          <p:nvPr>
            <p:ph type="sldNum" sz="quarter" idx="5"/>
          </p:nvPr>
        </p:nvSpPr>
        <p:spPr/>
        <p:txBody>
          <a:bodyPr/>
          <a:lstStyle/>
          <a:p>
            <a:fld id="{AFADF04F-F2F9-486C-A752-12D4B1C511A4}" type="slidenum">
              <a:rPr lang="en-US" altLang="zh-CN" smtClean="0"/>
              <a:pPr/>
              <a:t>60</a:t>
            </a:fld>
            <a:endParaRPr lang="en-US" altLang="zh-CN"/>
          </a:p>
        </p:txBody>
      </p:sp>
    </p:spTree>
    <p:extLst>
      <p:ext uri="{BB962C8B-B14F-4D97-AF65-F5344CB8AC3E}">
        <p14:creationId xmlns:p14="http://schemas.microsoft.com/office/powerpoint/2010/main" val="114562941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t>加入页码标识</a:t>
            </a:r>
          </a:p>
        </p:txBody>
      </p:sp>
      <p:sp>
        <p:nvSpPr>
          <p:cNvPr id="4" name="Slide Number Placeholder 3"/>
          <p:cNvSpPr>
            <a:spLocks noGrp="1"/>
          </p:cNvSpPr>
          <p:nvPr>
            <p:ph type="sldNum" sz="quarter" idx="5"/>
          </p:nvPr>
        </p:nvSpPr>
        <p:spPr/>
        <p:txBody>
          <a:bodyPr/>
          <a:lstStyle/>
          <a:p>
            <a:pPr>
              <a:defRPr/>
            </a:pPr>
            <a:fld id="{0AA2CDFD-9B59-41E7-8533-07012B16544E}" type="slidenum">
              <a:rPr lang="en-US" altLang="zh-CN" smtClean="0"/>
              <a:pPr>
                <a:defRPr/>
              </a:pPr>
              <a:t>62</a:t>
            </a:fld>
            <a:endParaRPr lang="en-US" altLang="zh-CN"/>
          </a:p>
        </p:txBody>
      </p:sp>
    </p:spTree>
    <p:extLst>
      <p:ext uri="{BB962C8B-B14F-4D97-AF65-F5344CB8AC3E}">
        <p14:creationId xmlns:p14="http://schemas.microsoft.com/office/powerpoint/2010/main" val="269558112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幻灯片编号占位符 3"/>
          <p:cNvSpPr>
            <a:spLocks noGrp="1"/>
          </p:cNvSpPr>
          <p:nvPr>
            <p:ph type="sldNum" sz="quarter" idx="10"/>
          </p:nvPr>
        </p:nvSpPr>
        <p:spPr/>
        <p:txBody>
          <a:bodyPr/>
          <a:lstStyle/>
          <a:p>
            <a:fld id="{AFADF04F-F2F9-486C-A752-12D4B1C511A4}" type="slidenum">
              <a:rPr lang="en-US" altLang="zh-CN" smtClean="0"/>
              <a:pPr/>
              <a:t>63</a:t>
            </a:fld>
            <a:endParaRPr lang="en-US" altLang="zh-CN"/>
          </a:p>
        </p:txBody>
      </p:sp>
    </p:spTree>
    <p:extLst>
      <p:ext uri="{BB962C8B-B14F-4D97-AF65-F5344CB8AC3E}">
        <p14:creationId xmlns:p14="http://schemas.microsoft.com/office/powerpoint/2010/main" val="318448939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幻灯片编号占位符 3"/>
          <p:cNvSpPr>
            <a:spLocks noGrp="1"/>
          </p:cNvSpPr>
          <p:nvPr>
            <p:ph type="sldNum" sz="quarter" idx="10"/>
          </p:nvPr>
        </p:nvSpPr>
        <p:spPr/>
        <p:txBody>
          <a:bodyPr/>
          <a:lstStyle/>
          <a:p>
            <a:fld id="{AFADF04F-F2F9-486C-A752-12D4B1C511A4}" type="slidenum">
              <a:rPr lang="en-US" altLang="zh-CN" smtClean="0"/>
              <a:pPr/>
              <a:t>64</a:t>
            </a:fld>
            <a:endParaRPr lang="en-US" altLang="zh-CN"/>
          </a:p>
        </p:txBody>
      </p:sp>
    </p:spTree>
    <p:extLst>
      <p:ext uri="{BB962C8B-B14F-4D97-AF65-F5344CB8AC3E}">
        <p14:creationId xmlns:p14="http://schemas.microsoft.com/office/powerpoint/2010/main" val="15311525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幻灯片编号占位符 3"/>
          <p:cNvSpPr>
            <a:spLocks noGrp="1"/>
          </p:cNvSpPr>
          <p:nvPr>
            <p:ph type="sldNum" sz="quarter" idx="10"/>
          </p:nvPr>
        </p:nvSpPr>
        <p:spPr/>
        <p:txBody>
          <a:bodyPr/>
          <a:lstStyle/>
          <a:p>
            <a:fld id="{AFADF04F-F2F9-486C-A752-12D4B1C511A4}" type="slidenum">
              <a:rPr lang="en-US" altLang="zh-CN" smtClean="0"/>
              <a:pPr/>
              <a:t>65</a:t>
            </a:fld>
            <a:endParaRPr lang="en-US" altLang="zh-CN"/>
          </a:p>
        </p:txBody>
      </p:sp>
    </p:spTree>
    <p:extLst>
      <p:ext uri="{BB962C8B-B14F-4D97-AF65-F5344CB8AC3E}">
        <p14:creationId xmlns:p14="http://schemas.microsoft.com/office/powerpoint/2010/main" val="40594589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幻灯片编号占位符 3"/>
          <p:cNvSpPr>
            <a:spLocks noGrp="1"/>
          </p:cNvSpPr>
          <p:nvPr>
            <p:ph type="sldNum" sz="quarter" idx="10"/>
          </p:nvPr>
        </p:nvSpPr>
        <p:spPr/>
        <p:txBody>
          <a:bodyPr/>
          <a:lstStyle/>
          <a:p>
            <a:fld id="{AFADF04F-F2F9-486C-A752-12D4B1C511A4}" type="slidenum">
              <a:rPr lang="en-US" altLang="zh-CN" smtClean="0"/>
              <a:pPr/>
              <a:t>66</a:t>
            </a:fld>
            <a:endParaRPr lang="en-US" altLang="zh-CN"/>
          </a:p>
        </p:txBody>
      </p:sp>
    </p:spTree>
    <p:extLst>
      <p:ext uri="{BB962C8B-B14F-4D97-AF65-F5344CB8AC3E}">
        <p14:creationId xmlns:p14="http://schemas.microsoft.com/office/powerpoint/2010/main" val="44613005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幻灯片编号占位符 3"/>
          <p:cNvSpPr>
            <a:spLocks noGrp="1"/>
          </p:cNvSpPr>
          <p:nvPr>
            <p:ph type="sldNum" sz="quarter" idx="10"/>
          </p:nvPr>
        </p:nvSpPr>
        <p:spPr/>
        <p:txBody>
          <a:bodyPr/>
          <a:lstStyle/>
          <a:p>
            <a:fld id="{AFADF04F-F2F9-486C-A752-12D4B1C511A4}" type="slidenum">
              <a:rPr lang="en-US" altLang="zh-CN" smtClean="0"/>
              <a:pPr/>
              <a:t>67</a:t>
            </a:fld>
            <a:endParaRPr lang="en-US" altLang="zh-CN"/>
          </a:p>
        </p:txBody>
      </p:sp>
    </p:spTree>
    <p:extLst>
      <p:ext uri="{BB962C8B-B14F-4D97-AF65-F5344CB8AC3E}">
        <p14:creationId xmlns:p14="http://schemas.microsoft.com/office/powerpoint/2010/main" val="123425924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68</a:t>
            </a:fld>
            <a:endParaRPr lang="en-US" altLang="zh-CN"/>
          </a:p>
        </p:txBody>
      </p:sp>
    </p:spTree>
    <p:extLst>
      <p:ext uri="{BB962C8B-B14F-4D97-AF65-F5344CB8AC3E}">
        <p14:creationId xmlns:p14="http://schemas.microsoft.com/office/powerpoint/2010/main" val="250515453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a:solidFill>
                  <a:schemeClr val="tx1"/>
                </a:solidFill>
                <a:effectLst/>
                <a:latin typeface="Arial" charset="0"/>
                <a:ea typeface="宋体" charset="-122"/>
                <a:cs typeface="+mn-cs"/>
              </a:rPr>
              <a:t>Slti:</a:t>
            </a:r>
            <a:r>
              <a:rPr lang="zh-CN" altLang="en-US" sz="1200" kern="1200">
                <a:solidFill>
                  <a:schemeClr val="tx1"/>
                </a:solidFill>
                <a:effectLst/>
                <a:latin typeface="Arial" charset="0"/>
                <a:ea typeface="宋体" charset="-122"/>
                <a:cs typeface="+mn-cs"/>
              </a:rPr>
              <a:t>　</a:t>
            </a:r>
            <a:r>
              <a:rPr lang="zh-CN" altLang="zh-CN" sz="1200" kern="1200">
                <a:solidFill>
                  <a:schemeClr val="tx1"/>
                </a:solidFill>
                <a:effectLst/>
                <a:latin typeface="Arial" charset="0"/>
                <a:ea typeface="宋体" charset="-122"/>
                <a:cs typeface="+mn-cs"/>
              </a:rPr>
              <a:t>Set on less than immediate</a:t>
            </a:r>
            <a:endParaRPr lang="zh-CN" altLang="en-US"/>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69</a:t>
            </a:fld>
            <a:endParaRPr lang="en-US" altLang="zh-CN"/>
          </a:p>
        </p:txBody>
      </p:sp>
    </p:spTree>
    <p:extLst>
      <p:ext uri="{BB962C8B-B14F-4D97-AF65-F5344CB8AC3E}">
        <p14:creationId xmlns:p14="http://schemas.microsoft.com/office/powerpoint/2010/main" val="4497953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kern="1200">
              <a:solidFill>
                <a:schemeClr val="tx1"/>
              </a:solidFill>
              <a:effectLst/>
              <a:latin typeface="Arial" charset="0"/>
              <a:ea typeface="宋体" charset="-122"/>
              <a:cs typeface="+mn-cs"/>
            </a:endParaRPr>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70</a:t>
            </a:fld>
            <a:endParaRPr lang="en-US" altLang="zh-CN"/>
          </a:p>
        </p:txBody>
      </p:sp>
    </p:spTree>
    <p:extLst>
      <p:ext uri="{BB962C8B-B14F-4D97-AF65-F5344CB8AC3E}">
        <p14:creationId xmlns:p14="http://schemas.microsoft.com/office/powerpoint/2010/main" val="275729039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幻灯片编号占位符 3"/>
          <p:cNvSpPr>
            <a:spLocks noGrp="1"/>
          </p:cNvSpPr>
          <p:nvPr>
            <p:ph type="sldNum" sz="quarter" idx="10"/>
          </p:nvPr>
        </p:nvSpPr>
        <p:spPr/>
        <p:txBody>
          <a:bodyPr/>
          <a:lstStyle/>
          <a:p>
            <a:fld id="{AFADF04F-F2F9-486C-A752-12D4B1C511A4}" type="slidenum">
              <a:rPr lang="en-US" altLang="zh-CN" smtClean="0"/>
              <a:pPr/>
              <a:t>71</a:t>
            </a:fld>
            <a:endParaRPr lang="en-US" altLang="zh-CN"/>
          </a:p>
        </p:txBody>
      </p:sp>
    </p:spTree>
    <p:extLst>
      <p:ext uri="{BB962C8B-B14F-4D97-AF65-F5344CB8AC3E}">
        <p14:creationId xmlns:p14="http://schemas.microsoft.com/office/powerpoint/2010/main" val="361013937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a:t>第一类</a:t>
            </a:r>
            <a:endParaRPr kumimoji="1" lang="en-US" altLang="zh-CN"/>
          </a:p>
          <a:p>
            <a:r>
              <a:rPr kumimoji="1" lang="en-US" altLang="zh-CN"/>
              <a:t>I</a:t>
            </a:r>
            <a:r>
              <a:rPr kumimoji="1" lang="zh-CN" altLang="en-US"/>
              <a:t>型指令，根据两个源寄存器操作结果（逻辑判断）进行跳转</a:t>
            </a:r>
          </a:p>
        </p:txBody>
      </p:sp>
      <p:sp>
        <p:nvSpPr>
          <p:cNvPr id="4" name="幻灯片编号占位符 3"/>
          <p:cNvSpPr>
            <a:spLocks noGrp="1"/>
          </p:cNvSpPr>
          <p:nvPr>
            <p:ph type="sldNum" sz="quarter" idx="10"/>
          </p:nvPr>
        </p:nvSpPr>
        <p:spPr/>
        <p:txBody>
          <a:bodyPr/>
          <a:lstStyle/>
          <a:p>
            <a:fld id="{AFADF04F-F2F9-486C-A752-12D4B1C511A4}" type="slidenum">
              <a:rPr lang="en-US" altLang="zh-CN" smtClean="0"/>
              <a:pPr/>
              <a:t>72</a:t>
            </a:fld>
            <a:endParaRPr lang="en-US" altLang="zh-CN"/>
          </a:p>
        </p:txBody>
      </p:sp>
    </p:spTree>
    <p:extLst>
      <p:ext uri="{BB962C8B-B14F-4D97-AF65-F5344CB8AC3E}">
        <p14:creationId xmlns:p14="http://schemas.microsoft.com/office/powerpoint/2010/main" val="131171396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a:t>第二类</a:t>
            </a:r>
            <a:endParaRPr kumimoji="1" lang="en-US" altLang="zh-CN"/>
          </a:p>
          <a:p>
            <a:r>
              <a:rPr kumimoji="1" lang="zh-CN" altLang="en-US"/>
              <a:t>直接跳转，</a:t>
            </a:r>
            <a:r>
              <a:rPr kumimoji="1" lang="en-US" altLang="zh-CN"/>
              <a:t>j</a:t>
            </a:r>
            <a:r>
              <a:rPr kumimoji="1" lang="zh-CN" altLang="en-US"/>
              <a:t>型</a:t>
            </a:r>
          </a:p>
        </p:txBody>
      </p:sp>
      <p:sp>
        <p:nvSpPr>
          <p:cNvPr id="4" name="幻灯片编号占位符 3"/>
          <p:cNvSpPr>
            <a:spLocks noGrp="1"/>
          </p:cNvSpPr>
          <p:nvPr>
            <p:ph type="sldNum" sz="quarter" idx="10"/>
          </p:nvPr>
        </p:nvSpPr>
        <p:spPr/>
        <p:txBody>
          <a:bodyPr/>
          <a:lstStyle/>
          <a:p>
            <a:fld id="{AFADF04F-F2F9-486C-A752-12D4B1C511A4}" type="slidenum">
              <a:rPr lang="en-US" altLang="zh-CN" smtClean="0"/>
              <a:pPr/>
              <a:t>73</a:t>
            </a:fld>
            <a:endParaRPr lang="en-US" altLang="zh-CN"/>
          </a:p>
        </p:txBody>
      </p:sp>
    </p:spTree>
    <p:extLst>
      <p:ext uri="{BB962C8B-B14F-4D97-AF65-F5344CB8AC3E}">
        <p14:creationId xmlns:p14="http://schemas.microsoft.com/office/powerpoint/2010/main" val="358853552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t>加入页码标识</a:t>
            </a:r>
          </a:p>
        </p:txBody>
      </p:sp>
      <p:sp>
        <p:nvSpPr>
          <p:cNvPr id="4" name="Slide Number Placeholder 3"/>
          <p:cNvSpPr>
            <a:spLocks noGrp="1"/>
          </p:cNvSpPr>
          <p:nvPr>
            <p:ph type="sldNum" sz="quarter" idx="5"/>
          </p:nvPr>
        </p:nvSpPr>
        <p:spPr/>
        <p:txBody>
          <a:bodyPr/>
          <a:lstStyle/>
          <a:p>
            <a:pPr>
              <a:defRPr/>
            </a:pPr>
            <a:fld id="{0AA2CDFD-9B59-41E7-8533-07012B16544E}" type="slidenum">
              <a:rPr lang="en-US" altLang="zh-CN" smtClean="0"/>
              <a:pPr>
                <a:defRPr/>
              </a:pPr>
              <a:t>74</a:t>
            </a:fld>
            <a:endParaRPr lang="en-US" altLang="zh-CN"/>
          </a:p>
        </p:txBody>
      </p:sp>
    </p:spTree>
    <p:extLst>
      <p:ext uri="{BB962C8B-B14F-4D97-AF65-F5344CB8AC3E}">
        <p14:creationId xmlns:p14="http://schemas.microsoft.com/office/powerpoint/2010/main" val="8290049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a:p>
        </p:txBody>
      </p:sp>
      <p:sp>
        <p:nvSpPr>
          <p:cNvPr id="4" name="幻灯片编号占位符 3"/>
          <p:cNvSpPr>
            <a:spLocks noGrp="1"/>
          </p:cNvSpPr>
          <p:nvPr>
            <p:ph type="sldNum" sz="quarter" idx="10"/>
          </p:nvPr>
        </p:nvSpPr>
        <p:spPr/>
        <p:txBody>
          <a:bodyPr/>
          <a:lstStyle/>
          <a:p>
            <a:fld id="{AFADF04F-F2F9-486C-A752-12D4B1C511A4}" type="slidenum">
              <a:rPr lang="en-US" altLang="zh-CN" smtClean="0"/>
              <a:pPr/>
              <a:t>84</a:t>
            </a:fld>
            <a:endParaRPr lang="en-US" altLang="zh-CN"/>
          </a:p>
        </p:txBody>
      </p:sp>
    </p:spTree>
    <p:extLst>
      <p:ext uri="{BB962C8B-B14F-4D97-AF65-F5344CB8AC3E}">
        <p14:creationId xmlns:p14="http://schemas.microsoft.com/office/powerpoint/2010/main" val="170652409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a:p>
        </p:txBody>
      </p:sp>
      <p:sp>
        <p:nvSpPr>
          <p:cNvPr id="4" name="幻灯片编号占位符 3"/>
          <p:cNvSpPr>
            <a:spLocks noGrp="1"/>
          </p:cNvSpPr>
          <p:nvPr>
            <p:ph type="sldNum" sz="quarter" idx="10"/>
          </p:nvPr>
        </p:nvSpPr>
        <p:spPr/>
        <p:txBody>
          <a:bodyPr/>
          <a:lstStyle/>
          <a:p>
            <a:fld id="{AFADF04F-F2F9-486C-A752-12D4B1C511A4}" type="slidenum">
              <a:rPr lang="en-US" altLang="zh-CN" smtClean="0"/>
              <a:pPr/>
              <a:t>85</a:t>
            </a:fld>
            <a:endParaRPr lang="en-US" altLang="zh-CN"/>
          </a:p>
        </p:txBody>
      </p:sp>
    </p:spTree>
    <p:extLst>
      <p:ext uri="{BB962C8B-B14F-4D97-AF65-F5344CB8AC3E}">
        <p14:creationId xmlns:p14="http://schemas.microsoft.com/office/powerpoint/2010/main" val="401414800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a:p>
        </p:txBody>
      </p:sp>
      <p:sp>
        <p:nvSpPr>
          <p:cNvPr id="4" name="幻灯片编号占位符 3"/>
          <p:cNvSpPr>
            <a:spLocks noGrp="1"/>
          </p:cNvSpPr>
          <p:nvPr>
            <p:ph type="sldNum" sz="quarter" idx="10"/>
          </p:nvPr>
        </p:nvSpPr>
        <p:spPr/>
        <p:txBody>
          <a:bodyPr/>
          <a:lstStyle/>
          <a:p>
            <a:fld id="{AFADF04F-F2F9-486C-A752-12D4B1C511A4}" type="slidenum">
              <a:rPr lang="en-US" altLang="zh-CN" smtClean="0"/>
              <a:pPr/>
              <a:t>86</a:t>
            </a:fld>
            <a:endParaRPr lang="en-US" altLang="zh-CN"/>
          </a:p>
        </p:txBody>
      </p:sp>
    </p:spTree>
    <p:extLst>
      <p:ext uri="{BB962C8B-B14F-4D97-AF65-F5344CB8AC3E}">
        <p14:creationId xmlns:p14="http://schemas.microsoft.com/office/powerpoint/2010/main" val="364433443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a:p>
        </p:txBody>
      </p:sp>
      <p:sp>
        <p:nvSpPr>
          <p:cNvPr id="4" name="幻灯片编号占位符 3"/>
          <p:cNvSpPr>
            <a:spLocks noGrp="1"/>
          </p:cNvSpPr>
          <p:nvPr>
            <p:ph type="sldNum" sz="quarter" idx="10"/>
          </p:nvPr>
        </p:nvSpPr>
        <p:spPr/>
        <p:txBody>
          <a:bodyPr/>
          <a:lstStyle/>
          <a:p>
            <a:fld id="{AFADF04F-F2F9-486C-A752-12D4B1C511A4}" type="slidenum">
              <a:rPr lang="en-US" altLang="zh-CN" smtClean="0"/>
              <a:pPr/>
              <a:t>87</a:t>
            </a:fld>
            <a:endParaRPr lang="en-US" altLang="zh-CN"/>
          </a:p>
        </p:txBody>
      </p:sp>
    </p:spTree>
    <p:extLst>
      <p:ext uri="{BB962C8B-B14F-4D97-AF65-F5344CB8AC3E}">
        <p14:creationId xmlns:p14="http://schemas.microsoft.com/office/powerpoint/2010/main" val="29376107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a:p>
        </p:txBody>
      </p:sp>
      <p:sp>
        <p:nvSpPr>
          <p:cNvPr id="4" name="幻灯片编号占位符 3"/>
          <p:cNvSpPr>
            <a:spLocks noGrp="1"/>
          </p:cNvSpPr>
          <p:nvPr>
            <p:ph type="sldNum" sz="quarter" idx="10"/>
          </p:nvPr>
        </p:nvSpPr>
        <p:spPr/>
        <p:txBody>
          <a:bodyPr/>
          <a:lstStyle/>
          <a:p>
            <a:fld id="{AFADF04F-F2F9-486C-A752-12D4B1C511A4}" type="slidenum">
              <a:rPr lang="en-US" altLang="zh-CN" smtClean="0"/>
              <a:pPr/>
              <a:t>88</a:t>
            </a:fld>
            <a:endParaRPr lang="en-US" altLang="zh-CN"/>
          </a:p>
        </p:txBody>
      </p:sp>
    </p:spTree>
    <p:extLst>
      <p:ext uri="{BB962C8B-B14F-4D97-AF65-F5344CB8AC3E}">
        <p14:creationId xmlns:p14="http://schemas.microsoft.com/office/powerpoint/2010/main" val="136780624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a:p>
        </p:txBody>
      </p:sp>
      <p:sp>
        <p:nvSpPr>
          <p:cNvPr id="4" name="幻灯片编号占位符 3"/>
          <p:cNvSpPr>
            <a:spLocks noGrp="1"/>
          </p:cNvSpPr>
          <p:nvPr>
            <p:ph type="sldNum" sz="quarter" idx="10"/>
          </p:nvPr>
        </p:nvSpPr>
        <p:spPr/>
        <p:txBody>
          <a:bodyPr/>
          <a:lstStyle/>
          <a:p>
            <a:fld id="{AFADF04F-F2F9-486C-A752-12D4B1C511A4}" type="slidenum">
              <a:rPr lang="en-US" altLang="zh-CN" smtClean="0"/>
              <a:pPr/>
              <a:t>89</a:t>
            </a:fld>
            <a:endParaRPr lang="en-US" altLang="zh-CN"/>
          </a:p>
        </p:txBody>
      </p:sp>
    </p:spTree>
    <p:extLst>
      <p:ext uri="{BB962C8B-B14F-4D97-AF65-F5344CB8AC3E}">
        <p14:creationId xmlns:p14="http://schemas.microsoft.com/office/powerpoint/2010/main" val="205249804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a:p>
        </p:txBody>
      </p:sp>
      <p:sp>
        <p:nvSpPr>
          <p:cNvPr id="4" name="幻灯片编号占位符 3"/>
          <p:cNvSpPr>
            <a:spLocks noGrp="1"/>
          </p:cNvSpPr>
          <p:nvPr>
            <p:ph type="sldNum" sz="quarter" idx="10"/>
          </p:nvPr>
        </p:nvSpPr>
        <p:spPr/>
        <p:txBody>
          <a:bodyPr/>
          <a:lstStyle/>
          <a:p>
            <a:fld id="{AFADF04F-F2F9-486C-A752-12D4B1C511A4}" type="slidenum">
              <a:rPr lang="en-US" altLang="zh-CN" smtClean="0"/>
              <a:pPr/>
              <a:t>90</a:t>
            </a:fld>
            <a:endParaRPr lang="en-US" altLang="zh-CN"/>
          </a:p>
        </p:txBody>
      </p:sp>
    </p:spTree>
    <p:extLst>
      <p:ext uri="{BB962C8B-B14F-4D97-AF65-F5344CB8AC3E}">
        <p14:creationId xmlns:p14="http://schemas.microsoft.com/office/powerpoint/2010/main" val="185326068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a:p>
        </p:txBody>
      </p:sp>
      <p:sp>
        <p:nvSpPr>
          <p:cNvPr id="4" name="幻灯片编号占位符 3"/>
          <p:cNvSpPr>
            <a:spLocks noGrp="1"/>
          </p:cNvSpPr>
          <p:nvPr>
            <p:ph type="sldNum" sz="quarter" idx="10"/>
          </p:nvPr>
        </p:nvSpPr>
        <p:spPr/>
        <p:txBody>
          <a:bodyPr/>
          <a:lstStyle/>
          <a:p>
            <a:fld id="{AFADF04F-F2F9-486C-A752-12D4B1C511A4}" type="slidenum">
              <a:rPr lang="en-US" altLang="zh-CN" smtClean="0"/>
              <a:pPr/>
              <a:t>91</a:t>
            </a:fld>
            <a:endParaRPr lang="en-US" altLang="zh-CN"/>
          </a:p>
        </p:txBody>
      </p:sp>
    </p:spTree>
    <p:extLst>
      <p:ext uri="{BB962C8B-B14F-4D97-AF65-F5344CB8AC3E}">
        <p14:creationId xmlns:p14="http://schemas.microsoft.com/office/powerpoint/2010/main" val="213388316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p:txBody>
      </p:sp>
      <p:sp>
        <p:nvSpPr>
          <p:cNvPr id="4" name="灯片编号占位符 3"/>
          <p:cNvSpPr>
            <a:spLocks noGrp="1"/>
          </p:cNvSpPr>
          <p:nvPr>
            <p:ph type="sldNum" sz="quarter" idx="5"/>
          </p:nvPr>
        </p:nvSpPr>
        <p:spPr/>
        <p:txBody>
          <a:bodyPr/>
          <a:lstStyle/>
          <a:p>
            <a:fld id="{AFADF04F-F2F9-486C-A752-12D4B1C511A4}" type="slidenum">
              <a:rPr lang="en-US" altLang="zh-CN" smtClean="0"/>
              <a:pPr/>
              <a:t>97</a:t>
            </a:fld>
            <a:endParaRPr lang="en-US" altLang="zh-CN"/>
          </a:p>
        </p:txBody>
      </p:sp>
    </p:spTree>
    <p:extLst>
      <p:ext uri="{BB962C8B-B14F-4D97-AF65-F5344CB8AC3E}">
        <p14:creationId xmlns:p14="http://schemas.microsoft.com/office/powerpoint/2010/main" val="2038087374"/>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98</a:t>
            </a:fld>
            <a:endParaRPr lang="en-US" altLang="zh-CN"/>
          </a:p>
        </p:txBody>
      </p:sp>
    </p:spTree>
    <p:extLst>
      <p:ext uri="{BB962C8B-B14F-4D97-AF65-F5344CB8AC3E}">
        <p14:creationId xmlns:p14="http://schemas.microsoft.com/office/powerpoint/2010/main" val="264372007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99</a:t>
            </a:fld>
            <a:endParaRPr lang="en-US" altLang="zh-CN"/>
          </a:p>
        </p:txBody>
      </p:sp>
    </p:spTree>
    <p:extLst>
      <p:ext uri="{BB962C8B-B14F-4D97-AF65-F5344CB8AC3E}">
        <p14:creationId xmlns:p14="http://schemas.microsoft.com/office/powerpoint/2010/main" val="73464396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t>加入页码标识</a:t>
            </a:r>
          </a:p>
        </p:txBody>
      </p:sp>
      <p:sp>
        <p:nvSpPr>
          <p:cNvPr id="4" name="Slide Number Placeholder 3"/>
          <p:cNvSpPr>
            <a:spLocks noGrp="1"/>
          </p:cNvSpPr>
          <p:nvPr>
            <p:ph type="sldNum" sz="quarter" idx="5"/>
          </p:nvPr>
        </p:nvSpPr>
        <p:spPr/>
        <p:txBody>
          <a:bodyPr/>
          <a:lstStyle/>
          <a:p>
            <a:pPr>
              <a:defRPr/>
            </a:pPr>
            <a:fld id="{0AA2CDFD-9B59-41E7-8533-07012B16544E}" type="slidenum">
              <a:rPr lang="en-US" altLang="zh-CN" smtClean="0"/>
              <a:pPr>
                <a:defRPr/>
              </a:pPr>
              <a:t>100</a:t>
            </a:fld>
            <a:endParaRPr lang="en-US" altLang="zh-CN"/>
          </a:p>
        </p:txBody>
      </p:sp>
    </p:spTree>
    <p:extLst>
      <p:ext uri="{BB962C8B-B14F-4D97-AF65-F5344CB8AC3E}">
        <p14:creationId xmlns:p14="http://schemas.microsoft.com/office/powerpoint/2010/main" val="372620693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标题位置</a:t>
            </a:r>
          </a:p>
        </p:txBody>
      </p:sp>
      <p:sp>
        <p:nvSpPr>
          <p:cNvPr id="4" name="灯片编号占位符 3"/>
          <p:cNvSpPr>
            <a:spLocks noGrp="1"/>
          </p:cNvSpPr>
          <p:nvPr>
            <p:ph type="sldNum" sz="quarter" idx="5"/>
          </p:nvPr>
        </p:nvSpPr>
        <p:spPr/>
        <p:txBody>
          <a:bodyPr/>
          <a:lstStyle/>
          <a:p>
            <a:fld id="{AFADF04F-F2F9-486C-A752-12D4B1C511A4}" type="slidenum">
              <a:rPr lang="en-US" altLang="zh-CN" smtClean="0"/>
              <a:pPr/>
              <a:t>104</a:t>
            </a:fld>
            <a:endParaRPr lang="en-US" altLang="zh-CN"/>
          </a:p>
        </p:txBody>
      </p:sp>
    </p:spTree>
    <p:extLst>
      <p:ext uri="{BB962C8B-B14F-4D97-AF65-F5344CB8AC3E}">
        <p14:creationId xmlns:p14="http://schemas.microsoft.com/office/powerpoint/2010/main" val="742839912"/>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介绍两种主流的</a:t>
            </a:r>
            <a:r>
              <a:rPr lang="en-US" altLang="zh-CN" dirty="0"/>
              <a:t>MIPS</a:t>
            </a:r>
            <a:r>
              <a:rPr lang="zh-CN" altLang="en-US" dirty="0"/>
              <a:t>模拟器</a:t>
            </a:r>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108</a:t>
            </a:fld>
            <a:endParaRPr lang="en-US" altLang="zh-CN"/>
          </a:p>
        </p:txBody>
      </p:sp>
    </p:spTree>
    <p:extLst>
      <p:ext uri="{BB962C8B-B14F-4D97-AF65-F5344CB8AC3E}">
        <p14:creationId xmlns:p14="http://schemas.microsoft.com/office/powerpoint/2010/main" val="66667025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Memory—cache—instruction</a:t>
            </a:r>
            <a:r>
              <a:rPr lang="zh-CN" altLang="en-US" dirty="0"/>
              <a:t> </a:t>
            </a:r>
            <a:r>
              <a:rPr lang="en-US" altLang="zh-CN" dirty="0"/>
              <a:t>memory</a:t>
            </a:r>
          </a:p>
          <a:p>
            <a:endParaRPr lang="en-US" altLang="zh-CN" dirty="0"/>
          </a:p>
          <a:p>
            <a:r>
              <a:rPr lang="en-US" altLang="zh-CN" dirty="0"/>
              <a:t>32</a:t>
            </a:r>
            <a:r>
              <a:rPr lang="zh-CN" altLang="en-US" dirty="0"/>
              <a:t>位</a:t>
            </a:r>
            <a:r>
              <a:rPr lang="en-US" altLang="zh-CN" dirty="0" err="1"/>
              <a:t>mips</a:t>
            </a:r>
            <a:r>
              <a:rPr lang="zh-CN" altLang="en-US" dirty="0"/>
              <a:t>系统的内存空间最大为</a:t>
            </a:r>
            <a:r>
              <a:rPr lang="en-US" altLang="zh-CN" dirty="0"/>
              <a:t>4GB</a:t>
            </a:r>
            <a:r>
              <a:rPr lang="zh-CN" altLang="en-US" dirty="0"/>
              <a:t>。</a:t>
            </a:r>
            <a:endParaRPr lang="en-US" altLang="zh-CN" dirty="0"/>
          </a:p>
          <a:p>
            <a:r>
              <a:rPr lang="zh-CN" altLang="en-US" dirty="0"/>
              <a:t>其中高</a:t>
            </a:r>
            <a:r>
              <a:rPr lang="en-US" altLang="zh-CN" dirty="0"/>
              <a:t>2GB</a:t>
            </a:r>
            <a:r>
              <a:rPr lang="zh-CN" altLang="en-US" dirty="0"/>
              <a:t>属于内核态空间，只有操作系统的内核态程序可以控制。</a:t>
            </a:r>
            <a:endParaRPr lang="en-US" altLang="zh-CN" dirty="0"/>
          </a:p>
          <a:p>
            <a:r>
              <a:rPr lang="zh-CN" altLang="en-US" dirty="0"/>
              <a:t>低</a:t>
            </a:r>
            <a:r>
              <a:rPr lang="en-US" altLang="zh-CN" dirty="0"/>
              <a:t>2BG</a:t>
            </a:r>
            <a:r>
              <a:rPr lang="zh-CN" altLang="en-US" dirty="0"/>
              <a:t>属于用户态空间，由一般的应用程序控制。</a:t>
            </a:r>
            <a:endParaRPr lang="en-US" altLang="zh-CN" dirty="0"/>
          </a:p>
          <a:p>
            <a:r>
              <a:rPr lang="zh-CN" altLang="en-US" dirty="0"/>
              <a:t>我们接下来主要以用户态空间为研究对象。</a:t>
            </a:r>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109</a:t>
            </a:fld>
            <a:endParaRPr lang="en-US" altLang="zh-CN"/>
          </a:p>
        </p:txBody>
      </p:sp>
    </p:spTree>
    <p:extLst>
      <p:ext uri="{BB962C8B-B14F-4D97-AF65-F5344CB8AC3E}">
        <p14:creationId xmlns:p14="http://schemas.microsoft.com/office/powerpoint/2010/main" val="2381186463"/>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我们通常编写的程序中有很多种数据，像全局变量，局部变量，动态数组，静态数组等等。</a:t>
            </a:r>
            <a:endParaRPr lang="en-US" altLang="zh-CN" dirty="0"/>
          </a:p>
          <a:p>
            <a:r>
              <a:rPr lang="zh-CN" altLang="en-US" dirty="0"/>
              <a:t>在程序运行时，这些数据被存储在内存的哪里呢？</a:t>
            </a:r>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110</a:t>
            </a:fld>
            <a:endParaRPr lang="en-US" altLang="zh-CN"/>
          </a:p>
        </p:txBody>
      </p:sp>
    </p:spTree>
    <p:extLst>
      <p:ext uri="{BB962C8B-B14F-4D97-AF65-F5344CB8AC3E}">
        <p14:creationId xmlns:p14="http://schemas.microsoft.com/office/powerpoint/2010/main" val="2448849963"/>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latin typeface="Monaco" panose="020B0509030404040204" pitchFamily="49" charset="0"/>
              </a:rPr>
              <a:t>把图画在黑板左边</a:t>
            </a:r>
            <a:endParaRPr lang="en-US" altLang="zh-CN" dirty="0">
              <a:latin typeface="Monaco" panose="020B0509030404040204" pitchFamily="49" charset="0"/>
            </a:endParaRPr>
          </a:p>
          <a:p>
            <a:endParaRPr lang="en-US" altLang="zh-CN" dirty="0">
              <a:latin typeface="Monaco" panose="020B0509030404040204" pitchFamily="49" charset="0"/>
            </a:endParaRPr>
          </a:p>
          <a:p>
            <a:r>
              <a:rPr lang="zh-CN" altLang="en-US" dirty="0">
                <a:latin typeface="Monaco" panose="020B0509030404040204" pitchFamily="49" charset="0"/>
              </a:rPr>
              <a:t>从</a:t>
            </a:r>
            <a:r>
              <a:rPr lang="en-US" altLang="zh-CN" dirty="0">
                <a:latin typeface="Monaco" panose="020B0509030404040204" pitchFamily="49" charset="0"/>
              </a:rPr>
              <a:t>0x0000_0000</a:t>
            </a:r>
            <a:r>
              <a:rPr lang="zh-CN" altLang="en-US" dirty="0">
                <a:latin typeface="Monaco" panose="020B0509030404040204" pitchFamily="49" charset="0"/>
              </a:rPr>
              <a:t>到</a:t>
            </a:r>
            <a:r>
              <a:rPr lang="en-US" altLang="zh-CN" dirty="0">
                <a:latin typeface="Monaco" panose="020B0509030404040204" pitchFamily="49" charset="0"/>
              </a:rPr>
              <a:t>0x003f_ffff</a:t>
            </a:r>
            <a:r>
              <a:rPr lang="zh-CN" altLang="en-US" dirty="0">
                <a:latin typeface="Monaco" panose="020B0509030404040204" pitchFamily="49" charset="0"/>
              </a:rPr>
              <a:t>属于保留段，一般不使用这段空间。</a:t>
            </a:r>
            <a:endParaRPr lang="en-US" altLang="zh-CN" dirty="0">
              <a:latin typeface="Monaco" panose="020B0509030404040204" pitchFamily="49" charset="0"/>
            </a:endParaRPr>
          </a:p>
          <a:p>
            <a:r>
              <a:rPr lang="zh-CN" altLang="en-US" dirty="0">
                <a:latin typeface="Monaco" panose="020B0509030404040204" pitchFamily="49" charset="0"/>
              </a:rPr>
              <a:t>剩下的空间被分为正文段与数据段两部分，分别在物理上对应指令存储器和数据存储器。</a:t>
            </a:r>
            <a:endParaRPr lang="en-US" altLang="zh-CN" dirty="0">
              <a:latin typeface="Monaco" panose="020B0509030404040204" pitchFamily="49" charset="0"/>
            </a:endParaRPr>
          </a:p>
          <a:p>
            <a:r>
              <a:rPr lang="zh-CN" altLang="en-US" dirty="0">
                <a:latin typeface="Monaco" panose="020B0509030404040204" pitchFamily="49" charset="0"/>
              </a:rPr>
              <a:t>从</a:t>
            </a:r>
            <a:r>
              <a:rPr lang="en-US" altLang="zh-CN" dirty="0">
                <a:latin typeface="Monaco" panose="020B0509030404040204" pitchFamily="49" charset="0"/>
              </a:rPr>
              <a:t>0x0040_0000</a:t>
            </a:r>
            <a:r>
              <a:rPr lang="zh-CN" altLang="en-US" dirty="0">
                <a:latin typeface="Monaco" panose="020B0509030404040204" pitchFamily="49" charset="0"/>
              </a:rPr>
              <a:t>到</a:t>
            </a:r>
            <a:r>
              <a:rPr lang="en-US" altLang="zh-CN" dirty="0">
                <a:latin typeface="Monaco" panose="020B0509030404040204" pitchFamily="49" charset="0"/>
              </a:rPr>
              <a:t>0x0fff_ffff</a:t>
            </a:r>
            <a:r>
              <a:rPr lang="zh-CN" altLang="en-US" dirty="0">
                <a:latin typeface="Monaco" panose="020B0509030404040204" pitchFamily="49" charset="0"/>
              </a:rPr>
              <a:t>属于正文段，用于存储程序的代码。</a:t>
            </a:r>
            <a:endParaRPr lang="en-US" altLang="zh-CN" dirty="0">
              <a:latin typeface="Monaco" panose="020B0509030404040204" pitchFamily="49" charset="0"/>
            </a:endParaRPr>
          </a:p>
          <a:p>
            <a:r>
              <a:rPr lang="zh-CN" altLang="en-US" dirty="0">
                <a:latin typeface="Monaco" panose="020B0509030404040204" pitchFamily="49" charset="0"/>
              </a:rPr>
              <a:t>从</a:t>
            </a:r>
            <a:r>
              <a:rPr lang="en-US" altLang="zh-CN" dirty="0">
                <a:latin typeface="Monaco" panose="020B0509030404040204" pitchFamily="49" charset="0"/>
              </a:rPr>
              <a:t>0x1000_0000</a:t>
            </a:r>
            <a:r>
              <a:rPr lang="zh-CN" altLang="en-US" dirty="0">
                <a:latin typeface="Monaco" panose="020B0509030404040204" pitchFamily="49" charset="0"/>
              </a:rPr>
              <a:t>往上都属于数据段，最底端用于存储静态数据，一般程序的静态变量，全局变量都存在这一部分。静态数据在程序开始时分配好空间，运行过程中不再更改。</a:t>
            </a:r>
            <a:endParaRPr lang="en-US" altLang="zh-CN" dirty="0">
              <a:latin typeface="Monaco" panose="020B0509030404040204" pitchFamily="49" charset="0"/>
            </a:endParaRPr>
          </a:p>
          <a:p>
            <a:r>
              <a:rPr lang="en-US" altLang="zh-CN" dirty="0">
                <a:latin typeface="Monaco" panose="020B0509030404040204" pitchFamily="49" charset="0"/>
              </a:rPr>
              <a:t>$</a:t>
            </a:r>
            <a:r>
              <a:rPr lang="en-US" altLang="zh-CN" dirty="0" err="1">
                <a:latin typeface="Monaco" panose="020B0509030404040204" pitchFamily="49" charset="0"/>
              </a:rPr>
              <a:t>gp</a:t>
            </a:r>
            <a:r>
              <a:rPr lang="zh-CN" altLang="en-US" dirty="0">
                <a:latin typeface="Monaco" panose="020B0509030404040204" pitchFamily="49" charset="0"/>
              </a:rPr>
              <a:t>是全局变量指针，其存储的值默认为</a:t>
            </a:r>
            <a:r>
              <a:rPr lang="en-US" altLang="zh-CN" dirty="0">
                <a:latin typeface="Monaco" panose="020B0509030404040204" pitchFamily="49" charset="0"/>
              </a:rPr>
              <a:t>0x1000_8000,</a:t>
            </a:r>
            <a:r>
              <a:rPr lang="zh-CN" altLang="en-US" dirty="0">
                <a:latin typeface="Monaco" panose="020B0509030404040204" pitchFamily="49" charset="0"/>
              </a:rPr>
              <a:t>这样方便直接用</a:t>
            </a:r>
            <a:r>
              <a:rPr lang="en-US" altLang="zh-CN" dirty="0" err="1">
                <a:latin typeface="Monaco" panose="020B0509030404040204" pitchFamily="49" charset="0"/>
              </a:rPr>
              <a:t>lw</a:t>
            </a:r>
            <a:r>
              <a:rPr lang="zh-CN" altLang="en-US" dirty="0">
                <a:latin typeface="Monaco" panose="020B0509030404040204" pitchFamily="49" charset="0"/>
              </a:rPr>
              <a:t>和</a:t>
            </a:r>
            <a:r>
              <a:rPr lang="en-US" altLang="zh-CN" dirty="0" err="1">
                <a:latin typeface="Monaco" panose="020B0509030404040204" pitchFamily="49" charset="0"/>
              </a:rPr>
              <a:t>sw</a:t>
            </a:r>
            <a:r>
              <a:rPr lang="zh-CN" altLang="en-US" dirty="0">
                <a:latin typeface="Monaco" panose="020B0509030404040204" pitchFamily="49" charset="0"/>
              </a:rPr>
              <a:t>访问其</a:t>
            </a:r>
            <a:r>
              <a:rPr lang="en-US" altLang="zh-CN" dirty="0">
                <a:latin typeface="Monaco" panose="020B0509030404040204" pitchFamily="49" charset="0"/>
              </a:rPr>
              <a:t>±2^16byte</a:t>
            </a:r>
            <a:r>
              <a:rPr lang="zh-CN" altLang="en-US" dirty="0">
                <a:latin typeface="Monaco" panose="020B0509030404040204" pitchFamily="49" charset="0"/>
              </a:rPr>
              <a:t>空间内数据。</a:t>
            </a:r>
            <a:endParaRPr lang="en-US" altLang="zh-CN" dirty="0">
              <a:latin typeface="Monaco" panose="020B0509030404040204" pitchFamily="49" charset="0"/>
            </a:endParaRPr>
          </a:p>
          <a:p>
            <a:endParaRPr lang="en-US" altLang="zh-CN" dirty="0">
              <a:latin typeface="Monaco" panose="020B0509030404040204" pitchFamily="49" charset="0"/>
            </a:endParaRPr>
          </a:p>
          <a:p>
            <a:r>
              <a:rPr lang="zh-CN" altLang="en-US" dirty="0">
                <a:latin typeface="Monaco" panose="020B0509030404040204" pitchFamily="49" charset="0"/>
              </a:rPr>
              <a:t>静态数据往上的空间同时被用于动态空间的分配与程序调用的堆栈空间，。</a:t>
            </a:r>
            <a:endParaRPr lang="en-US" altLang="zh-CN" dirty="0">
              <a:latin typeface="Monaco" panose="020B0509030404040204" pitchFamily="49" charset="0"/>
            </a:endParaRPr>
          </a:p>
          <a:p>
            <a:r>
              <a:rPr lang="zh-CN" altLang="en-US" dirty="0">
                <a:latin typeface="Monaco" panose="020B0509030404040204" pitchFamily="49" charset="0"/>
              </a:rPr>
              <a:t>由</a:t>
            </a:r>
            <a:r>
              <a:rPr lang="en-US" altLang="zh-CN" dirty="0" err="1">
                <a:latin typeface="Monaco" panose="020B0509030404040204" pitchFamily="49" charset="0"/>
              </a:rPr>
              <a:t>malloc</a:t>
            </a:r>
            <a:r>
              <a:rPr lang="zh-CN" altLang="en-US" dirty="0">
                <a:latin typeface="Monaco" panose="020B0509030404040204" pitchFamily="49" charset="0"/>
              </a:rPr>
              <a:t>在程序运行时分配的空间属于动态空间，这部分空间从低向高扩展。</a:t>
            </a:r>
            <a:endParaRPr lang="en-US" altLang="zh-CN" dirty="0">
              <a:latin typeface="Monaco" panose="020B0509030404040204" pitchFamily="49" charset="0"/>
            </a:endParaRPr>
          </a:p>
          <a:p>
            <a:r>
              <a:rPr lang="zh-CN" altLang="en-US" dirty="0">
                <a:latin typeface="Monaco" panose="020B0509030404040204" pitchFamily="49" charset="0"/>
              </a:rPr>
              <a:t>由过程调用引起的堆栈所占用的空间是从用户态空间最高的地址开始向下分配的。</a:t>
            </a:r>
            <a:endParaRPr lang="en-US" altLang="zh-CN" dirty="0">
              <a:latin typeface="Monaco" panose="020B0509030404040204" pitchFamily="49" charset="0"/>
            </a:endParaRPr>
          </a:p>
          <a:p>
            <a:r>
              <a:rPr lang="zh-CN" altLang="en-US" dirty="0">
                <a:latin typeface="Monaco" panose="020B0509030404040204" pitchFamily="49" charset="0"/>
              </a:rPr>
              <a:t>注意在</a:t>
            </a:r>
            <a:r>
              <a:rPr lang="en-US" altLang="zh-CN" dirty="0">
                <a:latin typeface="Monaco" panose="020B0509030404040204" pitchFamily="49" charset="0"/>
              </a:rPr>
              <a:t>SPIM</a:t>
            </a:r>
            <a:r>
              <a:rPr lang="zh-CN" altLang="en-US" dirty="0">
                <a:latin typeface="Monaco" panose="020B0509030404040204" pitchFamily="49" charset="0"/>
              </a:rPr>
              <a:t>和</a:t>
            </a:r>
            <a:r>
              <a:rPr lang="en-US" altLang="zh-CN" dirty="0">
                <a:latin typeface="Monaco" panose="020B0509030404040204" pitchFamily="49" charset="0"/>
              </a:rPr>
              <a:t>MARS</a:t>
            </a:r>
            <a:r>
              <a:rPr lang="zh-CN" altLang="en-US" dirty="0">
                <a:latin typeface="Monaco" panose="020B0509030404040204" pitchFamily="49" charset="0"/>
              </a:rPr>
              <a:t>中堆栈使用</a:t>
            </a:r>
            <a:r>
              <a:rPr lang="en-US" altLang="zh-CN" dirty="0">
                <a:latin typeface="Monaco" panose="020B0509030404040204" pitchFamily="49" charset="0"/>
              </a:rPr>
              <a:t>0x7fff_effc</a:t>
            </a:r>
            <a:r>
              <a:rPr lang="zh-CN" altLang="en-US" dirty="0">
                <a:latin typeface="Monaco" panose="020B0509030404040204" pitchFamily="49" charset="0"/>
              </a:rPr>
              <a:t>开始的，而不是从</a:t>
            </a:r>
            <a:r>
              <a:rPr lang="en-US" altLang="zh-CN" dirty="0">
                <a:latin typeface="Monaco" panose="020B0509030404040204" pitchFamily="49" charset="0"/>
              </a:rPr>
              <a:t>0x7fff_ffff</a:t>
            </a:r>
            <a:r>
              <a:rPr lang="zh-CN" altLang="en-US" dirty="0">
                <a:latin typeface="Monaco" panose="020B0509030404040204" pitchFamily="49" charset="0"/>
              </a:rPr>
              <a:t>开始的。</a:t>
            </a:r>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111</a:t>
            </a:fld>
            <a:endParaRPr lang="en-US" altLang="zh-CN"/>
          </a:p>
        </p:txBody>
      </p:sp>
    </p:spTree>
    <p:extLst>
      <p:ext uri="{BB962C8B-B14F-4D97-AF65-F5344CB8AC3E}">
        <p14:creationId xmlns:p14="http://schemas.microsoft.com/office/powerpoint/2010/main" val="2759743315"/>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MARS</a:t>
            </a:r>
            <a:r>
              <a:rPr lang="zh-CN" altLang="en-US" dirty="0"/>
              <a:t>也是一种主流的</a:t>
            </a:r>
            <a:r>
              <a:rPr lang="en-US" altLang="zh-CN" dirty="0"/>
              <a:t>MIPS</a:t>
            </a:r>
            <a:r>
              <a:rPr lang="zh-CN" altLang="en-US" dirty="0"/>
              <a:t>模拟器。</a:t>
            </a:r>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112</a:t>
            </a:fld>
            <a:endParaRPr lang="en-US" altLang="zh-CN"/>
          </a:p>
        </p:txBody>
      </p:sp>
    </p:spTree>
    <p:extLst>
      <p:ext uri="{BB962C8B-B14F-4D97-AF65-F5344CB8AC3E}">
        <p14:creationId xmlns:p14="http://schemas.microsoft.com/office/powerpoint/2010/main" val="1794846689"/>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MARS</a:t>
            </a:r>
            <a:r>
              <a:rPr lang="zh-CN" altLang="en-US" dirty="0"/>
              <a:t>模拟器的界面。同样也包含编辑代码的部分和观察数据的窗口。</a:t>
            </a:r>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113</a:t>
            </a:fld>
            <a:endParaRPr lang="en-US" altLang="zh-CN"/>
          </a:p>
        </p:txBody>
      </p:sp>
    </p:spTree>
    <p:extLst>
      <p:ext uri="{BB962C8B-B14F-4D97-AF65-F5344CB8AC3E}">
        <p14:creationId xmlns:p14="http://schemas.microsoft.com/office/powerpoint/2010/main" val="372491295"/>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接下来开始介绍</a:t>
            </a:r>
            <a:r>
              <a:rPr lang="en-US" altLang="zh-CN" dirty="0"/>
              <a:t>MIPS</a:t>
            </a:r>
            <a:r>
              <a:rPr lang="zh-CN" altLang="en-US" dirty="0"/>
              <a:t>汇编编程的方法。</a:t>
            </a:r>
            <a:endParaRPr lang="en-US" altLang="zh-CN" dirty="0"/>
          </a:p>
          <a:p>
            <a:r>
              <a:rPr lang="zh-CN" altLang="en-US" dirty="0"/>
              <a:t>了解一种语言最基本的是从其语法开始。</a:t>
            </a:r>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114</a:t>
            </a:fld>
            <a:endParaRPr lang="en-US" altLang="zh-CN"/>
          </a:p>
        </p:txBody>
      </p:sp>
    </p:spTree>
    <p:extLst>
      <p:ext uri="{BB962C8B-B14F-4D97-AF65-F5344CB8AC3E}">
        <p14:creationId xmlns:p14="http://schemas.microsoft.com/office/powerpoint/2010/main" val="1727410912"/>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MIPS</a:t>
            </a:r>
            <a:r>
              <a:rPr lang="zh-CN" altLang="en-US" dirty="0"/>
              <a:t>汇编语言的注释使用 </a:t>
            </a:r>
            <a:r>
              <a:rPr lang="en-US" altLang="zh-CN" dirty="0"/>
              <a:t>”#” </a:t>
            </a:r>
            <a:r>
              <a:rPr lang="zh-CN" altLang="en-US" dirty="0"/>
              <a:t>作为标记</a:t>
            </a:r>
            <a:endParaRPr lang="en-US" altLang="zh-CN" dirty="0"/>
          </a:p>
          <a:p>
            <a:r>
              <a:rPr lang="zh-CN" altLang="en-US" dirty="0"/>
              <a:t>标识符由字母，下划线“</a:t>
            </a:r>
            <a:r>
              <a:rPr lang="en-US" altLang="zh-CN" dirty="0"/>
              <a:t>_</a:t>
            </a:r>
            <a:r>
              <a:rPr lang="zh-CN" altLang="en-US" dirty="0"/>
              <a:t>”，点</a:t>
            </a:r>
            <a:r>
              <a:rPr lang="en-US" altLang="zh-CN" dirty="0"/>
              <a:t>”.”</a:t>
            </a:r>
            <a:r>
              <a:rPr lang="zh-CN" altLang="en-US" dirty="0"/>
              <a:t>构成，但不能由数字开头。</a:t>
            </a:r>
            <a:endParaRPr lang="en-US" altLang="zh-CN" dirty="0"/>
          </a:p>
          <a:p>
            <a:r>
              <a:rPr lang="zh-CN" altLang="en-US" dirty="0"/>
              <a:t>指令操作码是一些保留字不能用作标识符。</a:t>
            </a:r>
            <a:endParaRPr lang="en-US" altLang="zh-CN" dirty="0"/>
          </a:p>
          <a:p>
            <a:r>
              <a:rPr lang="zh-CN" altLang="en-US" dirty="0"/>
              <a:t>标号需要放在行首，后面跟着冒号</a:t>
            </a:r>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115</a:t>
            </a:fld>
            <a:endParaRPr lang="en-US" altLang="zh-CN"/>
          </a:p>
        </p:txBody>
      </p:sp>
    </p:spTree>
    <p:extLst>
      <p:ext uri="{BB962C8B-B14F-4D97-AF65-F5344CB8AC3E}">
        <p14:creationId xmlns:p14="http://schemas.microsoft.com/office/powerpoint/2010/main" val="1943276697"/>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op</a:t>
            </a:r>
            <a:r>
              <a:rPr lang="zh-CN" altLang="en-US" dirty="0"/>
              <a:t>是会翻译成最终的机器码</a:t>
            </a:r>
            <a:endParaRPr lang="en-US" altLang="zh-CN" dirty="0"/>
          </a:p>
          <a:p>
            <a:endParaRPr lang="en-US" altLang="zh-CN" dirty="0"/>
          </a:p>
          <a:p>
            <a:r>
              <a:rPr lang="en-US" altLang="zh-CN" dirty="0"/>
              <a:t>Directive</a:t>
            </a:r>
            <a:r>
              <a:rPr lang="zh-CN" altLang="en-US" dirty="0"/>
              <a:t> 更多的是标识性质的命令行，最终不落实到机器码？</a:t>
            </a:r>
            <a:endParaRPr lang="en-US" altLang="zh-CN" dirty="0"/>
          </a:p>
          <a:p>
            <a:endParaRPr lang="en-US" altLang="zh-CN" dirty="0"/>
          </a:p>
          <a:p>
            <a:r>
              <a:rPr lang="zh-CN" altLang="en-US" dirty="0"/>
              <a:t>汇编指令的格式</a:t>
            </a:r>
            <a:endParaRPr lang="en-US" altLang="zh-CN" dirty="0"/>
          </a:p>
          <a:p>
            <a:r>
              <a:rPr lang="zh-CN" altLang="en-US" dirty="0"/>
              <a:t>例如 </a:t>
            </a:r>
            <a:r>
              <a:rPr lang="en-US" altLang="zh-CN" dirty="0"/>
              <a:t>add $a1 $a2 $3</a:t>
            </a:r>
          </a:p>
          <a:p>
            <a:r>
              <a:rPr lang="zh-CN" altLang="en-US" dirty="0"/>
              <a:t>汇编命令的格式</a:t>
            </a:r>
            <a:endParaRPr lang="en-US" altLang="zh-CN" dirty="0"/>
          </a:p>
          <a:p>
            <a:r>
              <a:rPr lang="zh-CN" altLang="en-US" dirty="0"/>
              <a:t>例如 </a:t>
            </a:r>
            <a:r>
              <a:rPr lang="en-US" altLang="zh-CN" dirty="0"/>
              <a:t>.word 0xa3</a:t>
            </a:r>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116</a:t>
            </a:fld>
            <a:endParaRPr lang="en-US" altLang="zh-CN"/>
          </a:p>
        </p:txBody>
      </p:sp>
    </p:spTree>
    <p:extLst>
      <p:ext uri="{BB962C8B-B14F-4D97-AF65-F5344CB8AC3E}">
        <p14:creationId xmlns:p14="http://schemas.microsoft.com/office/powerpoint/2010/main" val="862581658"/>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.data</a:t>
            </a:r>
            <a:r>
              <a:rPr lang="zh-CN" altLang="en-US" dirty="0"/>
              <a:t>标记数据段，在数据段中可以为数据在存储器中分配存储空间。</a:t>
            </a:r>
            <a:endParaRPr lang="en-US" altLang="zh-CN" dirty="0"/>
          </a:p>
          <a:p>
            <a:r>
              <a:rPr lang="en-US" altLang="zh-CN" dirty="0"/>
              <a:t>P470 《</a:t>
            </a:r>
            <a:r>
              <a:rPr lang="zh-CN" altLang="en-US" dirty="0"/>
              <a:t>硬件软件接口 第三版</a:t>
            </a:r>
            <a:r>
              <a:rPr lang="en-US" altLang="zh-CN" dirty="0"/>
              <a:t>》 .align n </a:t>
            </a:r>
            <a:r>
              <a:rPr lang="zh-CN" altLang="en-US" dirty="0"/>
              <a:t>将数据以</a:t>
            </a:r>
            <a:r>
              <a:rPr lang="zh-CN" altLang="en-US" sz="1200" dirty="0"/>
              <a:t> </a:t>
            </a:r>
            <a:r>
              <a:rPr lang="en-US" altLang="zh-CN" sz="1200" dirty="0"/>
              <a:t>2</a:t>
            </a:r>
            <a:r>
              <a:rPr lang="en-US" altLang="zh-CN" sz="1200" baseline="30000" dirty="0"/>
              <a:t>n</a:t>
            </a:r>
            <a:r>
              <a:rPr lang="zh-CN" altLang="en-US" sz="1200" dirty="0"/>
              <a:t>字节边界对齐数据。</a:t>
            </a:r>
            <a:endParaRPr lang="en-US" altLang="zh-CN" dirty="0"/>
          </a:p>
          <a:p>
            <a:r>
              <a:rPr lang="en-US" altLang="zh-CN" dirty="0"/>
              <a:t>.text</a:t>
            </a:r>
            <a:r>
              <a:rPr lang="zh-CN" altLang="en-US" dirty="0"/>
              <a:t>标记正文段，在正文段中可以写汇编程序的代码。</a:t>
            </a:r>
            <a:endParaRPr lang="en-US" altLang="zh-CN" dirty="0"/>
          </a:p>
          <a:p>
            <a:endParaRPr lang="en-US" altLang="zh-CN" dirty="0"/>
          </a:p>
          <a:p>
            <a:r>
              <a:rPr lang="zh-CN" altLang="en-US" dirty="0"/>
              <a:t>后面的</a:t>
            </a:r>
            <a:r>
              <a:rPr lang="en-US" altLang="zh-CN" dirty="0"/>
              <a:t>address</a:t>
            </a:r>
            <a:r>
              <a:rPr lang="zh-CN" altLang="en-US" dirty="0"/>
              <a:t>是起始地址</a:t>
            </a:r>
          </a:p>
          <a:p>
            <a:endParaRPr lang="zh-CN" altLang="en-US" dirty="0"/>
          </a:p>
          <a:p>
            <a:r>
              <a:rPr lang="en-US" altLang="zh-CN" dirty="0"/>
              <a:t>.data</a:t>
            </a:r>
            <a:r>
              <a:rPr lang="en-US" altLang="zh-CN" baseline="0" dirty="0"/>
              <a:t> </a:t>
            </a:r>
            <a:r>
              <a:rPr lang="zh-CN" altLang="en-US" baseline="0" dirty="0"/>
              <a:t>段中，使用一些汇编命令表示接下来要存储的数据的数据格式，并存储接下来的数据。</a:t>
            </a:r>
            <a:endParaRPr lang="en-US" altLang="zh-CN" baseline="0" dirty="0"/>
          </a:p>
          <a:p>
            <a:r>
              <a:rPr lang="en-US" altLang="zh-CN" baseline="0" dirty="0"/>
              <a:t>.</a:t>
            </a:r>
            <a:r>
              <a:rPr lang="en-US" altLang="zh-CN" baseline="0" dirty="0" err="1"/>
              <a:t>ascii</a:t>
            </a:r>
            <a:r>
              <a:rPr lang="en-US" altLang="zh-CN" baseline="0" dirty="0"/>
              <a:t>  </a:t>
            </a:r>
            <a:r>
              <a:rPr lang="zh-CN" altLang="en-US" baseline="0" dirty="0"/>
              <a:t>用于存储字符串</a:t>
            </a:r>
            <a:endParaRPr lang="en-US" altLang="zh-CN" baseline="0" dirty="0"/>
          </a:p>
          <a:p>
            <a:pPr marL="0" marR="0" indent="0" algn="l" defTabSz="914400" rtl="0" eaLnBrk="1" fontAlgn="base" latinLnBrk="0" hangingPunct="1">
              <a:lnSpc>
                <a:spcPct val="100000"/>
              </a:lnSpc>
              <a:spcBef>
                <a:spcPct val="30000"/>
              </a:spcBef>
              <a:spcAft>
                <a:spcPct val="0"/>
              </a:spcAft>
              <a:buClrTx/>
              <a:buSzTx/>
              <a:buFontTx/>
              <a:buNone/>
              <a:tabLst/>
              <a:defRPr/>
            </a:pPr>
            <a:r>
              <a:rPr lang="en-US" altLang="zh-CN" baseline="0" dirty="0"/>
              <a:t>.</a:t>
            </a:r>
            <a:r>
              <a:rPr lang="en-US" altLang="zh-CN" baseline="0" dirty="0" err="1"/>
              <a:t>asciiz</a:t>
            </a:r>
            <a:r>
              <a:rPr lang="en-US" altLang="zh-CN" baseline="0" dirty="0"/>
              <a:t>  </a:t>
            </a:r>
            <a:r>
              <a:rPr lang="zh-CN" altLang="en-US" baseline="0" dirty="0"/>
              <a:t>用于存储以</a:t>
            </a:r>
            <a:r>
              <a:rPr lang="en-US" altLang="zh-CN" baseline="0" dirty="0"/>
              <a:t>NULL</a:t>
            </a:r>
            <a:r>
              <a:rPr lang="zh-CN" altLang="en-US" baseline="0" dirty="0"/>
              <a:t>结尾的字符串</a:t>
            </a:r>
            <a:endParaRPr lang="zh-CN" altLang="en-US" dirty="0"/>
          </a:p>
          <a:p>
            <a:endParaRPr lang="en-US" altLang="zh-CN" dirty="0"/>
          </a:p>
          <a:p>
            <a:r>
              <a:rPr lang="en-US" altLang="zh-CN" dirty="0"/>
              <a:t>.word</a:t>
            </a:r>
            <a:r>
              <a:rPr lang="en-US" altLang="zh-CN" baseline="0" dirty="0"/>
              <a:t> </a:t>
            </a:r>
            <a:r>
              <a:rPr lang="zh-CN" altLang="en-US" baseline="0" dirty="0"/>
              <a:t>用于存放字</a:t>
            </a:r>
            <a:endParaRPr lang="en-US" altLang="zh-CN" baseline="0" dirty="0"/>
          </a:p>
          <a:p>
            <a:r>
              <a:rPr lang="en-US" altLang="zh-CN" dirty="0"/>
              <a:t>.half </a:t>
            </a:r>
            <a:r>
              <a:rPr lang="zh-CN" altLang="en-US" dirty="0"/>
              <a:t>用于存放半字</a:t>
            </a:r>
            <a:endParaRPr lang="en-US" altLang="zh-CN" dirty="0"/>
          </a:p>
          <a:p>
            <a:r>
              <a:rPr lang="en-US" altLang="zh-CN" dirty="0"/>
              <a:t>.byte </a:t>
            </a:r>
            <a:r>
              <a:rPr lang="zh-CN" altLang="en-US" dirty="0"/>
              <a:t>用于存放字节</a:t>
            </a:r>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117</a:t>
            </a:fld>
            <a:endParaRPr lang="en-US" altLang="zh-CN"/>
          </a:p>
        </p:txBody>
      </p:sp>
    </p:spTree>
    <p:extLst>
      <p:ext uri="{BB962C8B-B14F-4D97-AF65-F5344CB8AC3E}">
        <p14:creationId xmlns:p14="http://schemas.microsoft.com/office/powerpoint/2010/main" val="797688837"/>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首先讲一下</a:t>
            </a:r>
            <a:r>
              <a:rPr lang="en-US" altLang="zh-CN" dirty="0"/>
              <a:t>”.”,</a:t>
            </a:r>
            <a:r>
              <a:rPr lang="zh-CN" altLang="en-US" dirty="0"/>
              <a:t>然后讲一下</a:t>
            </a:r>
            <a:r>
              <a:rPr lang="en-US" altLang="zh-CN" dirty="0"/>
              <a:t>label</a:t>
            </a:r>
            <a:r>
              <a:rPr lang="zh-CN" altLang="en-US" dirty="0"/>
              <a:t>，然后讲一下各个地址</a:t>
            </a:r>
            <a:endParaRPr lang="en-US" altLang="zh-CN" dirty="0"/>
          </a:p>
          <a:p>
            <a:endParaRPr lang="en-US" altLang="zh-CN" dirty="0"/>
          </a:p>
          <a:p>
            <a:r>
              <a:rPr lang="zh-CN" altLang="en-US" dirty="0"/>
              <a:t>这是一个求阶乘的程序，结果是</a:t>
            </a:r>
            <a:r>
              <a:rPr lang="en-US" altLang="zh-CN" dirty="0"/>
              <a:t>f=n</a:t>
            </a:r>
            <a:r>
              <a:rPr lang="zh-CN" altLang="en-US" dirty="0"/>
              <a:t>！，通过跳转到</a:t>
            </a:r>
            <a:r>
              <a:rPr lang="en-US" altLang="zh-CN" dirty="0"/>
              <a:t>fact</a:t>
            </a:r>
            <a:r>
              <a:rPr lang="zh-CN" altLang="en-US" dirty="0"/>
              <a:t>子程序，通过一个循环将</a:t>
            </a:r>
            <a:r>
              <a:rPr lang="en-US" altLang="zh-CN" dirty="0"/>
              <a:t>n</a:t>
            </a:r>
            <a:r>
              <a:rPr lang="zh-CN" altLang="en-US" dirty="0"/>
              <a:t>到</a:t>
            </a:r>
            <a:r>
              <a:rPr lang="en-US" altLang="zh-CN" dirty="0"/>
              <a:t>1</a:t>
            </a:r>
            <a:r>
              <a:rPr lang="zh-CN" altLang="en-US" dirty="0"/>
              <a:t>都乘在</a:t>
            </a:r>
            <a:r>
              <a:rPr lang="zh-CN" altLang="en-US" baseline="0" dirty="0"/>
              <a:t> </a:t>
            </a:r>
            <a:r>
              <a:rPr lang="en-US" altLang="zh-CN" baseline="0" dirty="0"/>
              <a:t>$s0</a:t>
            </a:r>
            <a:r>
              <a:rPr lang="zh-CN" altLang="en-US" baseline="0" dirty="0"/>
              <a:t>上来求</a:t>
            </a:r>
            <a:r>
              <a:rPr lang="en-US" altLang="zh-CN" baseline="0" dirty="0"/>
              <a:t>n!</a:t>
            </a:r>
            <a:r>
              <a:rPr lang="zh-CN" altLang="en-US" baseline="0" dirty="0"/>
              <a:t>。</a:t>
            </a:r>
            <a:endParaRPr lang="en-US" altLang="zh-CN" dirty="0"/>
          </a:p>
          <a:p>
            <a:r>
              <a:rPr lang="en-US" altLang="zh-CN" dirty="0" err="1"/>
              <a:t>n,f</a:t>
            </a:r>
            <a:r>
              <a:rPr lang="zh-CN" altLang="en-US" dirty="0"/>
              <a:t>超出了</a:t>
            </a:r>
            <a:r>
              <a:rPr lang="en-US" altLang="zh-CN" dirty="0"/>
              <a:t>16</a:t>
            </a:r>
            <a:r>
              <a:rPr lang="zh-CN" altLang="en-US" dirty="0"/>
              <a:t>位的偏移，而</a:t>
            </a:r>
            <a:r>
              <a:rPr lang="en-US" altLang="zh-CN" dirty="0" err="1"/>
              <a:t>sw</a:t>
            </a:r>
            <a:r>
              <a:rPr lang="zh-CN" altLang="en-US" dirty="0"/>
              <a:t>和</a:t>
            </a:r>
            <a:r>
              <a:rPr lang="en-US" altLang="zh-CN" dirty="0" err="1"/>
              <a:t>lw</a:t>
            </a:r>
            <a:r>
              <a:rPr lang="zh-CN" altLang="en-US" dirty="0"/>
              <a:t>是</a:t>
            </a:r>
            <a:r>
              <a:rPr lang="en-US" altLang="zh-CN" dirty="0"/>
              <a:t>I</a:t>
            </a:r>
            <a:r>
              <a:rPr lang="zh-CN" altLang="en-US" dirty="0"/>
              <a:t>型指令，所以这样的指令是写不出来的，该程序实际无法运行。</a:t>
            </a:r>
            <a:endParaRPr lang="en-US" altLang="zh-CN" dirty="0"/>
          </a:p>
          <a:p>
            <a:r>
              <a:rPr lang="zh-CN" altLang="en-US" dirty="0"/>
              <a:t>汇编程序的起始地址从</a:t>
            </a:r>
            <a:r>
              <a:rPr lang="en-US" altLang="zh-CN" dirty="0"/>
              <a:t>0x00400000</a:t>
            </a:r>
            <a:r>
              <a:rPr lang="zh-CN" altLang="en-US" dirty="0"/>
              <a:t>开始，</a:t>
            </a:r>
            <a:r>
              <a:rPr lang="en-US" altLang="zh-CN" sz="1200" b="1" dirty="0" err="1"/>
              <a:t>mips</a:t>
            </a:r>
            <a:r>
              <a:rPr lang="zh-CN" altLang="en-US" sz="1200" b="1" dirty="0"/>
              <a:t>程序的内存布局</a:t>
            </a:r>
            <a:r>
              <a:rPr lang="zh-CN" altLang="x-none" sz="1200" b="1" dirty="0"/>
              <a:t>中讲了</a:t>
            </a:r>
            <a:r>
              <a:rPr lang="zh-CN" altLang="en-US" sz="1200" b="1" dirty="0"/>
              <a:t>。</a:t>
            </a:r>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118</a:t>
            </a:fld>
            <a:endParaRPr lang="en-US" altLang="zh-CN"/>
          </a:p>
        </p:txBody>
      </p:sp>
    </p:spTree>
    <p:extLst>
      <p:ext uri="{BB962C8B-B14F-4D97-AF65-F5344CB8AC3E}">
        <p14:creationId xmlns:p14="http://schemas.microsoft.com/office/powerpoint/2010/main" val="1352479637"/>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指令与伪指令，区别在于一个可以直接翻译，后者需要先转化为真指令再翻译。</a:t>
            </a:r>
            <a:endParaRPr lang="en-US" altLang="zh-CN" dirty="0"/>
          </a:p>
          <a:p>
            <a:r>
              <a:rPr lang="zh-CN" altLang="en-US" dirty="0"/>
              <a:t>联系在于，编写汇编的时候两者都可以使用，通常使用伪指令会使得程序更加简洁易懂。</a:t>
            </a:r>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119</a:t>
            </a:fld>
            <a:endParaRPr lang="en-US" altLang="zh-CN"/>
          </a:p>
        </p:txBody>
      </p:sp>
    </p:spTree>
    <p:extLst>
      <p:ext uri="{BB962C8B-B14F-4D97-AF65-F5344CB8AC3E}">
        <p14:creationId xmlns:p14="http://schemas.microsoft.com/office/powerpoint/2010/main" val="1352479637"/>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为了让程序可以运行，我们把</a:t>
            </a:r>
            <a:r>
              <a:rPr lang="en-US" altLang="zh-CN" dirty="0"/>
              <a:t>n</a:t>
            </a:r>
            <a:r>
              <a:rPr lang="zh-CN" altLang="en-US" dirty="0"/>
              <a:t>和</a:t>
            </a:r>
            <a:r>
              <a:rPr lang="en-US" altLang="zh-CN" dirty="0"/>
              <a:t>f</a:t>
            </a:r>
            <a:r>
              <a:rPr lang="zh-CN" altLang="en-US" dirty="0"/>
              <a:t>拆成高低</a:t>
            </a:r>
            <a:r>
              <a:rPr lang="en-US" altLang="zh-CN" dirty="0"/>
              <a:t>16</a:t>
            </a:r>
            <a:r>
              <a:rPr lang="zh-CN" altLang="en-US" dirty="0"/>
              <a:t>位，分别装入，再寻址。</a:t>
            </a:r>
            <a:endParaRPr lang="en-US" altLang="zh-CN" dirty="0"/>
          </a:p>
          <a:p>
            <a:r>
              <a:rPr lang="en-US" altLang="zh-CN" dirty="0"/>
              <a:t>Main</a:t>
            </a:r>
            <a:r>
              <a:rPr lang="zh-CN" altLang="en-US" dirty="0"/>
              <a:t>程序使用了</a:t>
            </a:r>
            <a:r>
              <a:rPr lang="en-US" altLang="zh-CN" dirty="0" err="1"/>
              <a:t>beq</a:t>
            </a:r>
            <a:r>
              <a:rPr lang="en-US" altLang="zh-CN" dirty="0"/>
              <a:t> $0,$0,fact</a:t>
            </a:r>
            <a:r>
              <a:rPr lang="zh-CN" altLang="en-US" dirty="0"/>
              <a:t>进行了跳转</a:t>
            </a:r>
            <a:endParaRPr lang="en-US" altLang="zh-CN" dirty="0"/>
          </a:p>
          <a:p>
            <a:r>
              <a:rPr lang="zh-CN" altLang="en-US" dirty="0"/>
              <a:t>这是一个可运行的版本，该程序用了全局变量（</a:t>
            </a:r>
            <a:r>
              <a:rPr lang="en-US" altLang="zh-CN" dirty="0"/>
              <a:t>n</a:t>
            </a:r>
            <a:r>
              <a:rPr lang="zh-CN" altLang="en-US" dirty="0"/>
              <a:t>，</a:t>
            </a:r>
            <a:r>
              <a:rPr lang="en-US" altLang="zh-CN" dirty="0"/>
              <a:t>f</a:t>
            </a:r>
            <a:r>
              <a:rPr lang="zh-CN" altLang="en-US" dirty="0"/>
              <a:t>）进行计算的。</a:t>
            </a:r>
            <a:endParaRPr lang="en-US" altLang="zh-CN" dirty="0"/>
          </a:p>
          <a:p>
            <a:endParaRPr lang="en-US" altLang="zh-CN" dirty="0"/>
          </a:p>
          <a:p>
            <a:r>
              <a:rPr lang="zh-CN" altLang="en-US" dirty="0"/>
              <a:t>传递参数寄存器的用法，保存寄存器的用法</a:t>
            </a:r>
            <a:endParaRPr lang="en-US" altLang="zh-CN"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120</a:t>
            </a:fld>
            <a:endParaRPr lang="en-US" altLang="zh-CN"/>
          </a:p>
        </p:txBody>
      </p:sp>
    </p:spTree>
    <p:extLst>
      <p:ext uri="{BB962C8B-B14F-4D97-AF65-F5344CB8AC3E}">
        <p14:creationId xmlns:p14="http://schemas.microsoft.com/office/powerpoint/2010/main" val="299021589"/>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这是另一个可执行的版本，这里</a:t>
            </a:r>
            <a:r>
              <a:rPr lang="en-US" altLang="zh-CN" dirty="0"/>
              <a:t>fact</a:t>
            </a:r>
            <a:r>
              <a:rPr lang="zh-CN" altLang="en-US" dirty="0"/>
              <a:t>是接在</a:t>
            </a:r>
            <a:r>
              <a:rPr lang="en-US" altLang="zh-CN" dirty="0"/>
              <a:t>main</a:t>
            </a:r>
            <a:r>
              <a:rPr lang="zh-CN" altLang="en-US" dirty="0"/>
              <a:t>后面的，没有用跳转指令直接运行。</a:t>
            </a:r>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121</a:t>
            </a:fld>
            <a:endParaRPr lang="en-US" altLang="zh-CN"/>
          </a:p>
        </p:txBody>
      </p:sp>
    </p:spTree>
    <p:extLst>
      <p:ext uri="{BB962C8B-B14F-4D97-AF65-F5344CB8AC3E}">
        <p14:creationId xmlns:p14="http://schemas.microsoft.com/office/powerpoint/2010/main" val="4210227179"/>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通常，我们计算需要的变量都需要存储在主存储器中。因为我们的程序需要的变量的数量很可能超过</a:t>
            </a:r>
            <a:r>
              <a:rPr lang="en-US" altLang="zh-CN" dirty="0"/>
              <a:t>32</a:t>
            </a:r>
            <a:r>
              <a:rPr lang="zh-CN" altLang="en-US" dirty="0"/>
              <a:t>个。</a:t>
            </a:r>
            <a:endParaRPr lang="en-US" altLang="zh-CN" dirty="0"/>
          </a:p>
          <a:p>
            <a:r>
              <a:rPr lang="zh-CN" altLang="en-US" dirty="0"/>
              <a:t>为了将变量从主存储器中读入和写回，需要使用</a:t>
            </a:r>
            <a:r>
              <a:rPr lang="en-US" altLang="zh-CN" dirty="0" err="1"/>
              <a:t>Sw</a:t>
            </a:r>
            <a:r>
              <a:rPr lang="zh-CN" altLang="en-US" dirty="0"/>
              <a:t>和</a:t>
            </a:r>
            <a:r>
              <a:rPr lang="en-US" altLang="zh-CN" dirty="0" err="1"/>
              <a:t>Lw</a:t>
            </a:r>
            <a:r>
              <a:rPr lang="zh-CN" altLang="en-US" dirty="0"/>
              <a:t>等指令。</a:t>
            </a:r>
            <a:endParaRPr lang="en-US" altLang="zh-CN" dirty="0"/>
          </a:p>
          <a:p>
            <a:r>
              <a:rPr lang="zh-CN" altLang="en-US" dirty="0"/>
              <a:t>但是操作主存储器的时间比读写寄存器要慢得多，我们最好能够减少对主寄存器的操作。比如让变量在寄存器中保留的时间越长越好，只在一开始读入数据，直到最后算完了再写回。</a:t>
            </a:r>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122</a:t>
            </a:fld>
            <a:endParaRPr lang="en-US" altLang="zh-CN"/>
          </a:p>
        </p:txBody>
      </p:sp>
    </p:spTree>
    <p:extLst>
      <p:ext uri="{BB962C8B-B14F-4D97-AF65-F5344CB8AC3E}">
        <p14:creationId xmlns:p14="http://schemas.microsoft.com/office/powerpoint/2010/main" val="2201101420"/>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通常，我们计算需要的变量都需要存储在主存储器中。因为我们的程序需要的变量的数量很可能超过</a:t>
            </a:r>
            <a:r>
              <a:rPr lang="en-US" altLang="zh-CN" dirty="0"/>
              <a:t>32</a:t>
            </a:r>
            <a:r>
              <a:rPr lang="zh-CN" altLang="en-US" dirty="0"/>
              <a:t>个。</a:t>
            </a:r>
            <a:endParaRPr lang="en-US" altLang="zh-CN" dirty="0"/>
          </a:p>
          <a:p>
            <a:r>
              <a:rPr lang="zh-CN" altLang="en-US" dirty="0"/>
              <a:t>为了将变量从主存储器中读入和写回，需要使用</a:t>
            </a:r>
            <a:r>
              <a:rPr lang="en-US" altLang="zh-CN" dirty="0" err="1"/>
              <a:t>Sw</a:t>
            </a:r>
            <a:r>
              <a:rPr lang="zh-CN" altLang="en-US" dirty="0"/>
              <a:t>和</a:t>
            </a:r>
            <a:r>
              <a:rPr lang="en-US" altLang="zh-CN" dirty="0" err="1"/>
              <a:t>Lw</a:t>
            </a:r>
            <a:r>
              <a:rPr lang="zh-CN" altLang="en-US" dirty="0"/>
              <a:t>等指令。</a:t>
            </a:r>
            <a:endParaRPr lang="en-US" altLang="zh-CN" dirty="0"/>
          </a:p>
          <a:p>
            <a:r>
              <a:rPr lang="zh-CN" altLang="en-US" dirty="0"/>
              <a:t>但是操作主存储器的时间比读写寄存器要慢得多，我们最好能够减少对主寄存器的操作。比如让变量在寄存器中保留的时间越长越好，只在一开始读入数据，直到最后算完了再写回。</a:t>
            </a:r>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123</a:t>
            </a:fld>
            <a:endParaRPr lang="en-US" altLang="zh-CN"/>
          </a:p>
        </p:txBody>
      </p:sp>
    </p:spTree>
    <p:extLst>
      <p:ext uri="{BB962C8B-B14F-4D97-AF65-F5344CB8AC3E}">
        <p14:creationId xmlns:p14="http://schemas.microsoft.com/office/powerpoint/2010/main" val="2529875717"/>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地址的跳转最关键</a:t>
            </a:r>
            <a:endParaRPr lang="en-US" altLang="zh-CN" dirty="0"/>
          </a:p>
          <a:p>
            <a:r>
              <a:rPr lang="en-US" altLang="zh-CN" dirty="0"/>
              <a:t>PC+4+</a:t>
            </a:r>
            <a:r>
              <a:rPr lang="zh-CN" altLang="en-US" dirty="0"/>
              <a:t>偏移量</a:t>
            </a:r>
            <a:endParaRPr lang="en-US" altLang="zh-CN" dirty="0"/>
          </a:p>
          <a:p>
            <a:endParaRPr lang="en-US" altLang="zh-CN" dirty="0"/>
          </a:p>
          <a:p>
            <a:r>
              <a:rPr lang="zh-CN" altLang="en-US" dirty="0"/>
              <a:t>在汇编的时候写</a:t>
            </a:r>
            <a:r>
              <a:rPr lang="en-US" altLang="zh-CN" dirty="0"/>
              <a:t>fact</a:t>
            </a:r>
            <a:r>
              <a:rPr lang="zh-CN" altLang="en-US" dirty="0"/>
              <a:t>可以，但是做大作业的汇编的翻译器和汇编语言的对应就有可能出问题</a:t>
            </a:r>
            <a:endParaRPr lang="en-US" altLang="zh-CN" dirty="0"/>
          </a:p>
          <a:p>
            <a:endParaRPr lang="en-US" altLang="zh-CN" dirty="0"/>
          </a:p>
          <a:p>
            <a:r>
              <a:rPr lang="zh-CN" altLang="en-US" dirty="0"/>
              <a:t>在写汇编的时候，我们会用 </a:t>
            </a:r>
            <a:r>
              <a:rPr lang="en-US" altLang="zh-CN" dirty="0"/>
              <a:t>fact</a:t>
            </a:r>
            <a:r>
              <a:rPr lang="zh-CN" altLang="en-US" dirty="0"/>
              <a:t>这样的行号标记表示跳转到对应的代码，但是实际上</a:t>
            </a:r>
            <a:r>
              <a:rPr lang="en-US" altLang="zh-CN" dirty="0" err="1"/>
              <a:t>beq</a:t>
            </a:r>
            <a:r>
              <a:rPr lang="zh-CN" altLang="en-US" dirty="0"/>
              <a:t>是一个</a:t>
            </a:r>
            <a:r>
              <a:rPr lang="en-US" altLang="zh-CN" dirty="0"/>
              <a:t>I</a:t>
            </a:r>
            <a:r>
              <a:rPr lang="zh-CN" altLang="en-US" dirty="0"/>
              <a:t>型指令，实际的汇编中应该为地址的偏移量。</a:t>
            </a:r>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124</a:t>
            </a:fld>
            <a:endParaRPr lang="en-US" altLang="zh-CN"/>
          </a:p>
        </p:txBody>
      </p:sp>
    </p:spTree>
    <p:extLst>
      <p:ext uri="{BB962C8B-B14F-4D97-AF65-F5344CB8AC3E}">
        <p14:creationId xmlns:p14="http://schemas.microsoft.com/office/powerpoint/2010/main" val="808609986"/>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beq</a:t>
            </a:r>
            <a:r>
              <a:rPr lang="zh-CN" altLang="en-US" dirty="0"/>
              <a:t>需要使用相对偏移量，这里是具体的计算方法，（目标地址</a:t>
            </a:r>
            <a:r>
              <a:rPr lang="en-US" altLang="zh-CN" dirty="0"/>
              <a:t>-</a:t>
            </a:r>
            <a:r>
              <a:rPr lang="zh-CN" altLang="en-US" dirty="0"/>
              <a:t>（</a:t>
            </a:r>
            <a:r>
              <a:rPr lang="en-US" altLang="zh-CN" dirty="0"/>
              <a:t>PC+4</a:t>
            </a:r>
            <a:r>
              <a:rPr lang="zh-CN" altLang="en-US" dirty="0"/>
              <a:t>））</a:t>
            </a:r>
            <a:r>
              <a:rPr lang="en-US" altLang="zh-CN" dirty="0"/>
              <a:t>/4</a:t>
            </a:r>
            <a:r>
              <a:rPr lang="zh-CN" altLang="en-US" dirty="0"/>
              <a:t>。</a:t>
            </a:r>
            <a:endParaRPr lang="en-US" altLang="zh-CN" dirty="0"/>
          </a:p>
          <a:p>
            <a:r>
              <a:rPr lang="zh-CN" altLang="en-US" dirty="0"/>
              <a:t>使用相对偏移量可以在代码每次被加载到不同的内存位置时正常工作。</a:t>
            </a:r>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125</a:t>
            </a:fld>
            <a:endParaRPr lang="en-US" altLang="zh-CN"/>
          </a:p>
        </p:txBody>
      </p:sp>
    </p:spTree>
    <p:extLst>
      <p:ext uri="{BB962C8B-B14F-4D97-AF65-F5344CB8AC3E}">
        <p14:creationId xmlns:p14="http://schemas.microsoft.com/office/powerpoint/2010/main" val="348282802"/>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dirty="0" err="1"/>
              <a:t>Blez</a:t>
            </a:r>
            <a:r>
              <a:rPr lang="zh-CN" altLang="en-US" sz="1200" dirty="0"/>
              <a:t>等是真指令，如果需要进行更加复杂的条件跳转，可以先算出跳转条件的真假，再与零比较。</a:t>
            </a:r>
            <a:endParaRPr lang="en-US" altLang="zh-CN" sz="1200"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126</a:t>
            </a:fld>
            <a:endParaRPr lang="en-US" altLang="zh-CN"/>
          </a:p>
        </p:txBody>
      </p:sp>
    </p:spTree>
    <p:extLst>
      <p:ext uri="{BB962C8B-B14F-4D97-AF65-F5344CB8AC3E}">
        <p14:creationId xmlns:p14="http://schemas.microsoft.com/office/powerpoint/2010/main" val="2949695640"/>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这是一个求</a:t>
            </a:r>
            <a:r>
              <a:rPr lang="en-US" altLang="zh-CN" dirty="0"/>
              <a:t>x</a:t>
            </a:r>
            <a:r>
              <a:rPr lang="zh-CN" altLang="en-US" dirty="0"/>
              <a:t>的绝对值并存储在</a:t>
            </a:r>
            <a:r>
              <a:rPr lang="en-US" altLang="zh-CN" dirty="0"/>
              <a:t>y</a:t>
            </a:r>
            <a:r>
              <a:rPr lang="zh-CN" altLang="en-US" dirty="0"/>
              <a:t>里的程序。</a:t>
            </a:r>
            <a:endParaRPr lang="en-US" altLang="zh-CN" dirty="0"/>
          </a:p>
          <a:p>
            <a:r>
              <a:rPr lang="zh-CN" altLang="en-US" dirty="0"/>
              <a:t>可以看到，这个程序利用</a:t>
            </a:r>
            <a:r>
              <a:rPr lang="en-US" altLang="zh-CN" dirty="0" err="1"/>
              <a:t>slt</a:t>
            </a:r>
            <a:r>
              <a:rPr lang="zh-CN" altLang="en-US" dirty="0"/>
              <a:t>判断了</a:t>
            </a:r>
            <a:r>
              <a:rPr lang="en-US" altLang="zh-CN" dirty="0"/>
              <a:t>x</a:t>
            </a:r>
            <a:r>
              <a:rPr lang="zh-CN" altLang="en-US" dirty="0"/>
              <a:t>和</a:t>
            </a:r>
            <a:r>
              <a:rPr lang="en-US" altLang="zh-CN" dirty="0"/>
              <a:t>0</a:t>
            </a:r>
            <a:r>
              <a:rPr lang="zh-CN" altLang="en-US" dirty="0"/>
              <a:t>的大小关系，在</a:t>
            </a:r>
            <a:r>
              <a:rPr lang="en-US" altLang="zh-CN" dirty="0"/>
              <a:t>x</a:t>
            </a:r>
            <a:r>
              <a:rPr lang="zh-CN" altLang="en-US" dirty="0"/>
              <a:t>大于</a:t>
            </a:r>
            <a:r>
              <a:rPr lang="en-US" altLang="zh-CN" dirty="0"/>
              <a:t>0</a:t>
            </a:r>
            <a:r>
              <a:rPr lang="zh-CN" altLang="en-US" dirty="0"/>
              <a:t>时，设置</a:t>
            </a:r>
            <a:r>
              <a:rPr lang="en-US" altLang="zh-CN" dirty="0"/>
              <a:t>$s2</a:t>
            </a:r>
            <a:r>
              <a:rPr lang="zh-CN" altLang="en-US" dirty="0"/>
              <a:t>为</a:t>
            </a:r>
            <a:r>
              <a:rPr lang="en-US" altLang="zh-CN" dirty="0"/>
              <a:t>1</a:t>
            </a:r>
            <a:r>
              <a:rPr lang="zh-CN" altLang="en-US" dirty="0"/>
              <a:t>，然后就不会执行</a:t>
            </a:r>
            <a:r>
              <a:rPr lang="en-US" altLang="zh-CN" dirty="0" err="1"/>
              <a:t>beqz</a:t>
            </a:r>
            <a:r>
              <a:rPr lang="zh-CN" altLang="en-US" dirty="0"/>
              <a:t>指令。否则执行</a:t>
            </a:r>
            <a:r>
              <a:rPr lang="en-US" altLang="zh-CN" dirty="0" err="1"/>
              <a:t>beqz</a:t>
            </a:r>
            <a:r>
              <a:rPr lang="zh-CN" altLang="en-US" dirty="0"/>
              <a:t>，进入</a:t>
            </a:r>
            <a:r>
              <a:rPr lang="en-US" altLang="zh-CN" dirty="0"/>
              <a:t>else</a:t>
            </a:r>
            <a:r>
              <a:rPr lang="zh-CN" altLang="en-US" dirty="0"/>
              <a:t>分支。</a:t>
            </a:r>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127</a:t>
            </a:fld>
            <a:endParaRPr lang="en-US" altLang="zh-CN"/>
          </a:p>
        </p:txBody>
      </p:sp>
    </p:spTree>
    <p:extLst>
      <p:ext uri="{BB962C8B-B14F-4D97-AF65-F5344CB8AC3E}">
        <p14:creationId xmlns:p14="http://schemas.microsoft.com/office/powerpoint/2010/main" val="2306234083"/>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接下讲怎么使用数组，数组是存储在主存储器中的，使用基地址加偏移量的方式进行访问。</a:t>
            </a:r>
            <a:endParaRPr lang="en-US" altLang="zh-CN" dirty="0"/>
          </a:p>
          <a:p>
            <a:r>
              <a:rPr lang="zh-CN" altLang="en-US" dirty="0"/>
              <a:t>使用</a:t>
            </a:r>
            <a:r>
              <a:rPr lang="en-US" altLang="zh-CN" dirty="0"/>
              <a:t>.word</a:t>
            </a:r>
            <a:r>
              <a:rPr lang="zh-CN" altLang="en-US" dirty="0"/>
              <a:t>可以开辟以字为单位的数组，类似的有</a:t>
            </a:r>
            <a:r>
              <a:rPr lang="en-US" altLang="zh-CN" dirty="0"/>
              <a:t>.half</a:t>
            </a:r>
            <a:r>
              <a:rPr lang="en-US" altLang="zh-CN" baseline="0" dirty="0"/>
              <a:t> </a:t>
            </a:r>
            <a:r>
              <a:rPr lang="zh-CN" altLang="en-US" baseline="0" dirty="0"/>
              <a:t>和 </a:t>
            </a:r>
            <a:r>
              <a:rPr lang="en-US" altLang="zh-CN" baseline="0" dirty="0"/>
              <a:t>.byte </a:t>
            </a:r>
            <a:r>
              <a:rPr lang="zh-CN" altLang="en-US" baseline="0" dirty="0"/>
              <a:t>分别为半字和字节。</a:t>
            </a:r>
            <a:endParaRPr lang="en-US" altLang="zh-CN" dirty="0"/>
          </a:p>
          <a:p>
            <a:r>
              <a:rPr lang="zh-CN" altLang="en-US" dirty="0"/>
              <a:t>例如</a:t>
            </a:r>
            <a:r>
              <a:rPr lang="en-US" altLang="zh-CN" sz="1200" b="0" dirty="0">
                <a:solidFill>
                  <a:srgbClr val="0000CC"/>
                </a:solidFill>
              </a:rPr>
              <a:t>LW $temp, 0($A)</a:t>
            </a:r>
            <a:r>
              <a:rPr lang="zh-CN" altLang="en-US" dirty="0"/>
              <a:t>就是</a:t>
            </a:r>
            <a:r>
              <a:rPr lang="en-US" altLang="zh-CN" dirty="0"/>
              <a:t>temp=A [0]</a:t>
            </a:r>
            <a:r>
              <a:rPr lang="zh-CN" altLang="en-US" dirty="0"/>
              <a:t>。 注意这里</a:t>
            </a:r>
            <a:r>
              <a:rPr lang="en-US" altLang="zh-CN" dirty="0"/>
              <a:t>$A</a:t>
            </a:r>
            <a:r>
              <a:rPr lang="zh-CN" altLang="en-US" dirty="0"/>
              <a:t>存的是地址，</a:t>
            </a:r>
            <a:r>
              <a:rPr lang="en-US" altLang="zh-CN" dirty="0"/>
              <a:t>$temp</a:t>
            </a:r>
            <a:r>
              <a:rPr lang="zh-CN" altLang="en-US" dirty="0"/>
              <a:t>存的是值。</a:t>
            </a:r>
            <a:endParaRPr lang="en-US" altLang="zh-CN" dirty="0"/>
          </a:p>
          <a:p>
            <a:endParaRPr lang="en-US" altLang="zh-CN"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128</a:t>
            </a:fld>
            <a:endParaRPr lang="en-US" altLang="zh-CN"/>
          </a:p>
        </p:txBody>
      </p:sp>
    </p:spTree>
    <p:extLst>
      <p:ext uri="{BB962C8B-B14F-4D97-AF65-F5344CB8AC3E}">
        <p14:creationId xmlns:p14="http://schemas.microsoft.com/office/powerpoint/2010/main" val="1424241058"/>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这里是一个使</a:t>
            </a:r>
            <a:r>
              <a:rPr lang="zh-CN" altLang="en-US" b="0" dirty="0"/>
              <a:t>用数组的例子。将数组</a:t>
            </a:r>
            <a:r>
              <a:rPr lang="en-US" altLang="zh-CN" b="0" dirty="0"/>
              <a:t>A</a:t>
            </a:r>
            <a:r>
              <a:rPr lang="zh-CN" altLang="en-US" b="0" dirty="0"/>
              <a:t>的值依次拷贝到数组</a:t>
            </a:r>
            <a:r>
              <a:rPr lang="en-US" altLang="zh-CN" b="0" dirty="0"/>
              <a:t>B</a:t>
            </a:r>
            <a:r>
              <a:rPr lang="zh-CN" altLang="en-US" b="0" dirty="0"/>
              <a:t>中。</a:t>
            </a:r>
            <a:endParaRPr lang="en-US" altLang="zh-CN" b="0" dirty="0"/>
          </a:p>
          <a:p>
            <a:pPr marL="0" marR="0" indent="0" algn="l" defTabSz="914400" rtl="0" eaLnBrk="1" fontAlgn="base" latinLnBrk="0" hangingPunct="1">
              <a:lnSpc>
                <a:spcPct val="100000"/>
              </a:lnSpc>
              <a:spcBef>
                <a:spcPct val="30000"/>
              </a:spcBef>
              <a:spcAft>
                <a:spcPct val="0"/>
              </a:spcAft>
              <a:buClrTx/>
              <a:buSzTx/>
              <a:buFontTx/>
              <a:buNone/>
              <a:tabLst/>
              <a:defRPr/>
            </a:pPr>
            <a:r>
              <a:rPr lang="zh-CN" altLang="en-US" b="0" dirty="0"/>
              <a:t>数组</a:t>
            </a:r>
            <a:r>
              <a:rPr lang="en-US" altLang="zh-CN" b="0" dirty="0"/>
              <a:t>A</a:t>
            </a:r>
            <a:r>
              <a:rPr lang="zh-CN" altLang="en-US" b="0" dirty="0"/>
              <a:t>的基地址为</a:t>
            </a:r>
            <a:r>
              <a:rPr lang="en-US" altLang="zh-CN" sz="1200" b="0" dirty="0">
                <a:solidFill>
                  <a:srgbClr val="FF0000"/>
                </a:solidFill>
              </a:rPr>
              <a:t>0x10000000</a:t>
            </a:r>
            <a:r>
              <a:rPr lang="zh-CN" altLang="en-US" sz="1200" b="0" dirty="0">
                <a:solidFill>
                  <a:srgbClr val="FF0000"/>
                </a:solidFill>
              </a:rPr>
              <a:t>，数组</a:t>
            </a:r>
            <a:r>
              <a:rPr lang="en-US" altLang="zh-CN" sz="1200" b="0" dirty="0">
                <a:solidFill>
                  <a:srgbClr val="FF0000"/>
                </a:solidFill>
              </a:rPr>
              <a:t>B</a:t>
            </a:r>
            <a:r>
              <a:rPr lang="zh-CN" altLang="en-US" sz="1200" b="0" dirty="0">
                <a:solidFill>
                  <a:srgbClr val="FF0000"/>
                </a:solidFill>
              </a:rPr>
              <a:t>的基地址为</a:t>
            </a:r>
            <a:r>
              <a:rPr lang="en-US" altLang="zh-CN" sz="1200" b="0" dirty="0">
                <a:solidFill>
                  <a:srgbClr val="FF0000"/>
                </a:solidFill>
              </a:rPr>
              <a:t>0x10000400</a:t>
            </a:r>
            <a:r>
              <a:rPr lang="zh-CN" altLang="en-US" sz="1200" b="0" dirty="0">
                <a:solidFill>
                  <a:srgbClr val="FF0000"/>
                </a:solidFill>
              </a:rPr>
              <a:t>。</a:t>
            </a:r>
            <a:endParaRPr lang="en-US" altLang="zh-CN" sz="1200" b="0" dirty="0">
              <a:solidFill>
                <a:srgbClr val="FF0000"/>
              </a:solidFill>
            </a:endParaRPr>
          </a:p>
          <a:p>
            <a:pPr marL="0" marR="0" indent="0" algn="l" defTabSz="914400" rtl="0" eaLnBrk="1" fontAlgn="base" latinLnBrk="0" hangingPunct="1">
              <a:lnSpc>
                <a:spcPct val="100000"/>
              </a:lnSpc>
              <a:spcBef>
                <a:spcPct val="30000"/>
              </a:spcBef>
              <a:spcAft>
                <a:spcPct val="0"/>
              </a:spcAft>
              <a:buClrTx/>
              <a:buSzTx/>
              <a:buFontTx/>
              <a:buNone/>
              <a:tabLst/>
              <a:defRPr/>
            </a:pPr>
            <a:r>
              <a:rPr lang="zh-CN" altLang="en-US" sz="1200" b="0" dirty="0"/>
              <a:t>通过在一个循环中，不断的计算两个地址的偏移量，将</a:t>
            </a:r>
            <a:r>
              <a:rPr lang="en-US" altLang="zh-CN" sz="1200" b="0" dirty="0"/>
              <a:t>A</a:t>
            </a:r>
            <a:r>
              <a:rPr lang="zh-CN" altLang="en-US" sz="1200" b="0" dirty="0"/>
              <a:t>中的数用</a:t>
            </a:r>
            <a:r>
              <a:rPr lang="en-US" altLang="zh-CN" sz="1200" b="0" dirty="0" err="1"/>
              <a:t>lw</a:t>
            </a:r>
            <a:r>
              <a:rPr lang="zh-CN" altLang="en-US" sz="1200" b="0" dirty="0"/>
              <a:t>读出来，再用</a:t>
            </a:r>
            <a:r>
              <a:rPr lang="en-US" altLang="zh-CN" sz="1200" b="0" dirty="0" err="1"/>
              <a:t>sw</a:t>
            </a:r>
            <a:r>
              <a:rPr lang="zh-CN" altLang="en-US" sz="1200" b="0" dirty="0"/>
              <a:t>写进</a:t>
            </a:r>
            <a:r>
              <a:rPr lang="en-US" altLang="zh-CN" sz="1200" b="0" dirty="0"/>
              <a:t>B</a:t>
            </a:r>
            <a:r>
              <a:rPr lang="zh-CN" altLang="en-US" sz="1200" b="0" dirty="0"/>
              <a:t>去。</a:t>
            </a:r>
            <a:endParaRPr lang="en-US" altLang="zh-CN" sz="1200" b="0"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129</a:t>
            </a:fld>
            <a:endParaRPr lang="en-US" altLang="zh-CN"/>
          </a:p>
        </p:txBody>
      </p:sp>
    </p:spTree>
    <p:extLst>
      <p:ext uri="{BB962C8B-B14F-4D97-AF65-F5344CB8AC3E}">
        <p14:creationId xmlns:p14="http://schemas.microsoft.com/office/powerpoint/2010/main" val="3259137723"/>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SLL</a:t>
            </a:r>
            <a:r>
              <a:rPr lang="zh-CN" altLang="en-US" dirty="0"/>
              <a:t>和</a:t>
            </a:r>
            <a:r>
              <a:rPr lang="en-US" altLang="zh-CN" dirty="0"/>
              <a:t>SRL</a:t>
            </a:r>
            <a:r>
              <a:rPr lang="zh-CN" altLang="en-US" dirty="0"/>
              <a:t>分别为逻辑左移和逻辑右移，将一个无符号数左移或者右移</a:t>
            </a:r>
            <a:r>
              <a:rPr lang="en-US" altLang="zh-CN" dirty="0"/>
              <a:t>k</a:t>
            </a:r>
            <a:r>
              <a:rPr lang="zh-CN" altLang="en-US" dirty="0"/>
              <a:t>位，相当于乘以或除上</a:t>
            </a:r>
            <a:r>
              <a:rPr lang="en-US" altLang="zh-CN" dirty="0"/>
              <a:t>2^k</a:t>
            </a:r>
            <a:r>
              <a:rPr lang="zh-CN" altLang="en-US" dirty="0"/>
              <a:t>。通常比</a:t>
            </a:r>
            <a:r>
              <a:rPr lang="en-US" altLang="zh-CN" dirty="0"/>
              <a:t>MUL</a:t>
            </a:r>
            <a:r>
              <a:rPr lang="zh-CN" altLang="en-US" dirty="0"/>
              <a:t>和</a:t>
            </a:r>
            <a:r>
              <a:rPr lang="en-US" altLang="zh-CN" dirty="0"/>
              <a:t>DIV</a:t>
            </a:r>
            <a:r>
              <a:rPr lang="zh-CN" altLang="en-US" dirty="0"/>
              <a:t>快。</a:t>
            </a:r>
            <a:endParaRPr lang="en-US" altLang="zh-CN" dirty="0"/>
          </a:p>
          <a:p>
            <a:r>
              <a:rPr lang="zh-CN" altLang="en-US" dirty="0"/>
              <a:t>在对有符号数的时候，左移是一样的，但是右移要用</a:t>
            </a:r>
            <a:r>
              <a:rPr lang="en-US" altLang="zh-CN" dirty="0"/>
              <a:t>SRA</a:t>
            </a:r>
            <a:r>
              <a:rPr lang="zh-CN" altLang="en-US" dirty="0"/>
              <a:t>，算数右移。</a:t>
            </a:r>
            <a:endParaRPr lang="en-US" altLang="zh-CN" dirty="0"/>
          </a:p>
          <a:p>
            <a:endParaRPr lang="en-US" altLang="zh-CN" dirty="0"/>
          </a:p>
          <a:p>
            <a:endParaRPr lang="en-US" altLang="zh-CN" dirty="0"/>
          </a:p>
          <a:p>
            <a:r>
              <a:rPr lang="zh-CN" altLang="en-US" dirty="0"/>
              <a:t>没有超出数据表示的范围</a:t>
            </a:r>
            <a:endParaRPr lang="en-US" altLang="zh-CN"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130</a:t>
            </a:fld>
            <a:endParaRPr lang="en-US" altLang="zh-CN"/>
          </a:p>
        </p:txBody>
      </p:sp>
    </p:spTree>
    <p:extLst>
      <p:ext uri="{BB962C8B-B14F-4D97-AF65-F5344CB8AC3E}">
        <p14:creationId xmlns:p14="http://schemas.microsoft.com/office/powerpoint/2010/main" val="1286733115"/>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而在这个程序中，使用</a:t>
            </a:r>
            <a:r>
              <a:rPr lang="en-US" altLang="zh-CN" dirty="0" err="1"/>
              <a:t>sra</a:t>
            </a:r>
            <a:r>
              <a:rPr lang="zh-CN" altLang="en-US" dirty="0"/>
              <a:t>指令代替</a:t>
            </a:r>
            <a:r>
              <a:rPr lang="en-US" altLang="zh-CN" dirty="0"/>
              <a:t>div</a:t>
            </a:r>
            <a:r>
              <a:rPr lang="zh-CN" altLang="en-US" dirty="0"/>
              <a:t>，用</a:t>
            </a:r>
            <a:r>
              <a:rPr lang="en-US" altLang="zh-CN" dirty="0" err="1"/>
              <a:t>sll</a:t>
            </a:r>
            <a:r>
              <a:rPr lang="zh-CN" altLang="en-US" dirty="0"/>
              <a:t>代替</a:t>
            </a:r>
            <a:r>
              <a:rPr lang="en-US" altLang="zh-CN" dirty="0" err="1"/>
              <a:t>mul</a:t>
            </a:r>
            <a:r>
              <a:rPr lang="zh-CN" altLang="en-US" dirty="0"/>
              <a:t>，实现对</a:t>
            </a:r>
            <a:r>
              <a:rPr lang="en-US" altLang="zh-CN" dirty="0"/>
              <a:t>2</a:t>
            </a:r>
            <a:r>
              <a:rPr lang="zh-CN" altLang="en-US" dirty="0"/>
              <a:t>的整次幂的乘除，计算效率会提高。</a:t>
            </a:r>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131</a:t>
            </a:fld>
            <a:endParaRPr lang="en-US" altLang="zh-CN"/>
          </a:p>
        </p:txBody>
      </p:sp>
    </p:spTree>
    <p:extLst>
      <p:ext uri="{BB962C8B-B14F-4D97-AF65-F5344CB8AC3E}">
        <p14:creationId xmlns:p14="http://schemas.microsoft.com/office/powerpoint/2010/main" val="3304242859"/>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拆分开</a:t>
            </a:r>
            <a:endParaRPr kumimoji="1" lang="en-US" altLang="zh-CN" dirty="0"/>
          </a:p>
          <a:p>
            <a:r>
              <a:rPr kumimoji="1" lang="zh-CN" altLang="en-US" dirty="0"/>
              <a:t>叶过程和嵌套分开说</a:t>
            </a:r>
          </a:p>
        </p:txBody>
      </p:sp>
      <p:sp>
        <p:nvSpPr>
          <p:cNvPr id="4" name="灯片编号占位符 3"/>
          <p:cNvSpPr>
            <a:spLocks noGrp="1"/>
          </p:cNvSpPr>
          <p:nvPr>
            <p:ph type="sldNum" sz="quarter" idx="5"/>
          </p:nvPr>
        </p:nvSpPr>
        <p:spPr/>
        <p:txBody>
          <a:bodyPr/>
          <a:lstStyle/>
          <a:p>
            <a:fld id="{AFADF04F-F2F9-486C-A752-12D4B1C511A4}" type="slidenum">
              <a:rPr lang="en-US" altLang="zh-CN" smtClean="0"/>
              <a:pPr/>
              <a:t>133</a:t>
            </a:fld>
            <a:endParaRPr lang="en-US" altLang="zh-CN"/>
          </a:p>
        </p:txBody>
      </p:sp>
    </p:spTree>
    <p:extLst>
      <p:ext uri="{BB962C8B-B14F-4D97-AF65-F5344CB8AC3E}">
        <p14:creationId xmlns:p14="http://schemas.microsoft.com/office/powerpoint/2010/main" val="1534134100"/>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拆分开</a:t>
            </a:r>
            <a:endParaRPr kumimoji="1" lang="en-US" altLang="zh-CN" dirty="0"/>
          </a:p>
          <a:p>
            <a:r>
              <a:rPr kumimoji="1" lang="zh-CN" altLang="en-US" dirty="0"/>
              <a:t>叶过程和嵌套分开说</a:t>
            </a:r>
          </a:p>
        </p:txBody>
      </p:sp>
      <p:sp>
        <p:nvSpPr>
          <p:cNvPr id="4" name="灯片编号占位符 3"/>
          <p:cNvSpPr>
            <a:spLocks noGrp="1"/>
          </p:cNvSpPr>
          <p:nvPr>
            <p:ph type="sldNum" sz="quarter" idx="5"/>
          </p:nvPr>
        </p:nvSpPr>
        <p:spPr/>
        <p:txBody>
          <a:bodyPr/>
          <a:lstStyle/>
          <a:p>
            <a:fld id="{AFADF04F-F2F9-486C-A752-12D4B1C511A4}" type="slidenum">
              <a:rPr lang="en-US" altLang="zh-CN" smtClean="0"/>
              <a:pPr/>
              <a:t>134</a:t>
            </a:fld>
            <a:endParaRPr lang="en-US" altLang="zh-CN"/>
          </a:p>
        </p:txBody>
      </p:sp>
    </p:spTree>
    <p:extLst>
      <p:ext uri="{BB962C8B-B14F-4D97-AF65-F5344CB8AC3E}">
        <p14:creationId xmlns:p14="http://schemas.microsoft.com/office/powerpoint/2010/main" val="1569054515"/>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拆分开</a:t>
            </a:r>
            <a:endParaRPr kumimoji="1" lang="en-US" altLang="zh-CN" dirty="0"/>
          </a:p>
          <a:p>
            <a:r>
              <a:rPr kumimoji="1" lang="zh-CN" altLang="en-US" dirty="0"/>
              <a:t>叶过程和嵌套分开说</a:t>
            </a:r>
          </a:p>
        </p:txBody>
      </p:sp>
      <p:sp>
        <p:nvSpPr>
          <p:cNvPr id="4" name="灯片编号占位符 3"/>
          <p:cNvSpPr>
            <a:spLocks noGrp="1"/>
          </p:cNvSpPr>
          <p:nvPr>
            <p:ph type="sldNum" sz="quarter" idx="5"/>
          </p:nvPr>
        </p:nvSpPr>
        <p:spPr/>
        <p:txBody>
          <a:bodyPr/>
          <a:lstStyle/>
          <a:p>
            <a:fld id="{AFADF04F-F2F9-486C-A752-12D4B1C511A4}" type="slidenum">
              <a:rPr lang="en-US" altLang="zh-CN" smtClean="0"/>
              <a:pPr/>
              <a:t>135</a:t>
            </a:fld>
            <a:endParaRPr lang="en-US" altLang="zh-CN"/>
          </a:p>
        </p:txBody>
      </p:sp>
    </p:spTree>
    <p:extLst>
      <p:ext uri="{BB962C8B-B14F-4D97-AF65-F5344CB8AC3E}">
        <p14:creationId xmlns:p14="http://schemas.microsoft.com/office/powerpoint/2010/main" val="1948884234"/>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拆分开</a:t>
            </a:r>
            <a:endParaRPr kumimoji="1" lang="en-US" altLang="zh-CN" dirty="0"/>
          </a:p>
          <a:p>
            <a:r>
              <a:rPr kumimoji="1" lang="zh-CN" altLang="en-US" dirty="0"/>
              <a:t>叶过程和嵌套分开说</a:t>
            </a:r>
          </a:p>
        </p:txBody>
      </p:sp>
      <p:sp>
        <p:nvSpPr>
          <p:cNvPr id="4" name="灯片编号占位符 3"/>
          <p:cNvSpPr>
            <a:spLocks noGrp="1"/>
          </p:cNvSpPr>
          <p:nvPr>
            <p:ph type="sldNum" sz="quarter" idx="5"/>
          </p:nvPr>
        </p:nvSpPr>
        <p:spPr/>
        <p:txBody>
          <a:bodyPr/>
          <a:lstStyle/>
          <a:p>
            <a:fld id="{AFADF04F-F2F9-486C-A752-12D4B1C511A4}" type="slidenum">
              <a:rPr lang="en-US" altLang="zh-CN" smtClean="0"/>
              <a:pPr/>
              <a:t>136</a:t>
            </a:fld>
            <a:endParaRPr lang="en-US" altLang="zh-CN"/>
          </a:p>
        </p:txBody>
      </p:sp>
    </p:spTree>
    <p:extLst>
      <p:ext uri="{BB962C8B-B14F-4D97-AF65-F5344CB8AC3E}">
        <p14:creationId xmlns:p14="http://schemas.microsoft.com/office/powerpoint/2010/main" val="4132258244"/>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在进行过程调用的时候我们需要保存一些信息，例如程序的返回地址，当前程序的参数，一些局部变量等</a:t>
            </a:r>
            <a:endParaRPr lang="en-US" altLang="zh-CN" dirty="0"/>
          </a:p>
          <a:p>
            <a:r>
              <a:rPr lang="zh-CN" altLang="en-US" dirty="0"/>
              <a:t>我们的将这些信息通过压栈的形式进行存储，当调用新的过程时，将旧的程序的信息压入栈中，当新程序返回时，再将信息出栈，用于恢复现场。</a:t>
            </a:r>
            <a:endParaRPr lang="en-US" altLang="zh-CN" dirty="0"/>
          </a:p>
          <a:p>
            <a:r>
              <a:rPr lang="zh-CN" altLang="en-US" dirty="0"/>
              <a:t>这里是一个求阶乘的例子，我们可以看到这个模拟的堆栈的变化情况。</a:t>
            </a:r>
            <a:endParaRPr lang="en-US" altLang="zh-CN" dirty="0"/>
          </a:p>
          <a:p>
            <a:r>
              <a:rPr lang="zh-CN" altLang="en-US" dirty="0"/>
              <a:t>随着程序的调用，</a:t>
            </a:r>
            <a:r>
              <a:rPr lang="en-US" altLang="zh-CN" dirty="0"/>
              <a:t>fact(2) fact(1) fact(0)</a:t>
            </a:r>
            <a:r>
              <a:rPr lang="zh-CN" altLang="en-US" dirty="0"/>
              <a:t>的信息按照后进先出的规则进行入栈与出栈。</a:t>
            </a:r>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137</a:t>
            </a:fld>
            <a:endParaRPr lang="en-US" altLang="zh-CN"/>
          </a:p>
        </p:txBody>
      </p:sp>
    </p:spTree>
    <p:extLst>
      <p:ext uri="{BB962C8B-B14F-4D97-AF65-F5344CB8AC3E}">
        <p14:creationId xmlns:p14="http://schemas.microsoft.com/office/powerpoint/2010/main" val="771816798"/>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在进行过程调用的时候我们需要保存一些信息，例如程序的返回地址，当前程序的参数，一些局部变量等</a:t>
            </a:r>
            <a:endParaRPr lang="en-US" altLang="zh-CN" dirty="0"/>
          </a:p>
          <a:p>
            <a:r>
              <a:rPr lang="zh-CN" altLang="en-US" dirty="0"/>
              <a:t>我们的将这些信息通过压栈的形式进行存储，当调用新的过程时，将旧的程序的信息压入栈中，当新程序返回时，再将信息出栈，用于恢复现场。</a:t>
            </a:r>
            <a:endParaRPr lang="en-US" altLang="zh-CN" dirty="0"/>
          </a:p>
          <a:p>
            <a:r>
              <a:rPr lang="zh-CN" altLang="en-US" dirty="0"/>
              <a:t>这里是一个求阶乘的例子，我们可以看到这个模拟的堆栈的变化情况。</a:t>
            </a:r>
            <a:endParaRPr lang="en-US" altLang="zh-CN" dirty="0"/>
          </a:p>
          <a:p>
            <a:r>
              <a:rPr lang="zh-CN" altLang="en-US" dirty="0"/>
              <a:t>随着程序的调用，</a:t>
            </a:r>
            <a:r>
              <a:rPr lang="en-US" altLang="zh-CN" dirty="0"/>
              <a:t>fact(2) fact(1) fact(0)</a:t>
            </a:r>
            <a:r>
              <a:rPr lang="zh-CN" altLang="en-US" dirty="0"/>
              <a:t>的信息按照后进先出的规则进行入栈与出栈。</a:t>
            </a:r>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138</a:t>
            </a:fld>
            <a:endParaRPr lang="en-US" altLang="zh-CN"/>
          </a:p>
        </p:txBody>
      </p:sp>
    </p:spTree>
    <p:extLst>
      <p:ext uri="{BB962C8B-B14F-4D97-AF65-F5344CB8AC3E}">
        <p14:creationId xmlns:p14="http://schemas.microsoft.com/office/powerpoint/2010/main" val="4233627886"/>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在进行过程调用的时候我们需要保存一些信息，例如程序的返回地址，当前程序的参数，一些局部变量等</a:t>
            </a:r>
            <a:endParaRPr lang="en-US" altLang="zh-CN" dirty="0"/>
          </a:p>
          <a:p>
            <a:r>
              <a:rPr lang="zh-CN" altLang="en-US" dirty="0"/>
              <a:t>我们的将这些信息通过压栈的形式进行存储，当调用新的过程时，将旧的程序的信息压入栈中，当新程序返回时，再将信息出栈，用于恢复现场。</a:t>
            </a:r>
            <a:endParaRPr lang="en-US" altLang="zh-CN" dirty="0"/>
          </a:p>
          <a:p>
            <a:r>
              <a:rPr lang="zh-CN" altLang="en-US" dirty="0"/>
              <a:t>这里是一个求阶乘的例子，我们可以看到这个模拟的堆栈的变化情况。</a:t>
            </a:r>
            <a:endParaRPr lang="en-US" altLang="zh-CN" dirty="0"/>
          </a:p>
          <a:p>
            <a:r>
              <a:rPr lang="zh-CN" altLang="en-US" dirty="0"/>
              <a:t>随着程序的调用，</a:t>
            </a:r>
            <a:r>
              <a:rPr lang="en-US" altLang="zh-CN" dirty="0"/>
              <a:t>fact(2) fact(1) fact(0)</a:t>
            </a:r>
            <a:r>
              <a:rPr lang="zh-CN" altLang="en-US" dirty="0"/>
              <a:t>的信息按照后进先出的规则进行入栈与出栈。</a:t>
            </a:r>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139</a:t>
            </a:fld>
            <a:endParaRPr lang="en-US" altLang="zh-CN"/>
          </a:p>
        </p:txBody>
      </p:sp>
    </p:spTree>
    <p:extLst>
      <p:ext uri="{BB962C8B-B14F-4D97-AF65-F5344CB8AC3E}">
        <p14:creationId xmlns:p14="http://schemas.microsoft.com/office/powerpoint/2010/main" val="1050446053"/>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在进行过程调用的时候我们需要保存一些信息，例如程序的返回地址，当前程序的参数，一些局部变量等</a:t>
            </a:r>
            <a:endParaRPr lang="en-US" altLang="zh-CN" dirty="0"/>
          </a:p>
          <a:p>
            <a:r>
              <a:rPr lang="zh-CN" altLang="en-US" dirty="0"/>
              <a:t>我们的将这些信息通过压栈的形式进行存储，当调用新的过程时，将旧的程序的信息压入栈中，当新程序返回时，再将信息出栈，用于恢复现场。</a:t>
            </a:r>
            <a:endParaRPr lang="en-US" altLang="zh-CN" dirty="0"/>
          </a:p>
          <a:p>
            <a:r>
              <a:rPr lang="zh-CN" altLang="en-US" dirty="0"/>
              <a:t>这里是一个求阶乘的例子，我们可以看到这个模拟的堆栈的变化情况。</a:t>
            </a:r>
            <a:endParaRPr lang="en-US" altLang="zh-CN" dirty="0"/>
          </a:p>
          <a:p>
            <a:r>
              <a:rPr lang="zh-CN" altLang="en-US" dirty="0"/>
              <a:t>随着程序的调用，</a:t>
            </a:r>
            <a:r>
              <a:rPr lang="en-US" altLang="zh-CN" dirty="0"/>
              <a:t>fact(2) fact(1) fact(0)</a:t>
            </a:r>
            <a:r>
              <a:rPr lang="zh-CN" altLang="en-US" dirty="0"/>
              <a:t>的信息按照后进先出的规则进行入栈与出栈。</a:t>
            </a:r>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140</a:t>
            </a:fld>
            <a:endParaRPr lang="en-US" altLang="zh-CN"/>
          </a:p>
        </p:txBody>
      </p:sp>
    </p:spTree>
    <p:extLst>
      <p:ext uri="{BB962C8B-B14F-4D97-AF65-F5344CB8AC3E}">
        <p14:creationId xmlns:p14="http://schemas.microsoft.com/office/powerpoint/2010/main" val="326928850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在进行过程调用的时候我们需要保存一些信息，例如程序的返回地址，当前程序的参数，一些局部变量等</a:t>
            </a:r>
            <a:endParaRPr lang="en-US" altLang="zh-CN" dirty="0"/>
          </a:p>
          <a:p>
            <a:r>
              <a:rPr lang="zh-CN" altLang="en-US" dirty="0"/>
              <a:t>我们的将这些信息通过压栈的形式进行存储，当调用新的过程时，将旧的程序的信息压入栈中，当新程序返回时，再将信息出栈，用于恢复现场。</a:t>
            </a:r>
            <a:endParaRPr lang="en-US" altLang="zh-CN" dirty="0"/>
          </a:p>
          <a:p>
            <a:r>
              <a:rPr lang="zh-CN" altLang="en-US" dirty="0"/>
              <a:t>这里是一个求阶乘的例子，我们可以看到这个模拟的堆栈的变化情况。</a:t>
            </a:r>
            <a:endParaRPr lang="en-US" altLang="zh-CN" dirty="0"/>
          </a:p>
          <a:p>
            <a:r>
              <a:rPr lang="zh-CN" altLang="en-US" dirty="0"/>
              <a:t>随着程序的调用，</a:t>
            </a:r>
            <a:r>
              <a:rPr lang="en-US" altLang="zh-CN" dirty="0"/>
              <a:t>fact(2) fact(1) fact(0)</a:t>
            </a:r>
            <a:r>
              <a:rPr lang="zh-CN" altLang="en-US" dirty="0"/>
              <a:t>的信息按照后进先出的规则进行入栈与出栈。</a:t>
            </a:r>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141</a:t>
            </a:fld>
            <a:endParaRPr lang="en-US" altLang="zh-CN"/>
          </a:p>
        </p:txBody>
      </p:sp>
    </p:spTree>
    <p:extLst>
      <p:ext uri="{BB962C8B-B14F-4D97-AF65-F5344CB8AC3E}">
        <p14:creationId xmlns:p14="http://schemas.microsoft.com/office/powerpoint/2010/main" val="1860208716"/>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在进行过程调用的时候我们需要保存一些信息，例如程序的返回地址，当前程序的参数，一些局部变量等</a:t>
            </a:r>
            <a:endParaRPr lang="en-US" altLang="zh-CN" dirty="0"/>
          </a:p>
          <a:p>
            <a:r>
              <a:rPr lang="zh-CN" altLang="en-US" dirty="0"/>
              <a:t>我们的将这些信息通过压栈的形式进行存储，当调用新的过程时，将旧的程序的信息压入栈中，当新程序返回时，再将信息出栈，用于恢复现场。</a:t>
            </a:r>
            <a:endParaRPr lang="en-US" altLang="zh-CN" dirty="0"/>
          </a:p>
          <a:p>
            <a:r>
              <a:rPr lang="zh-CN" altLang="en-US" dirty="0"/>
              <a:t>这里是一个求阶乘的例子，我们可以看到这个模拟的堆栈的变化情况。</a:t>
            </a:r>
            <a:endParaRPr lang="en-US" altLang="zh-CN" dirty="0"/>
          </a:p>
          <a:p>
            <a:r>
              <a:rPr lang="zh-CN" altLang="en-US" dirty="0"/>
              <a:t>随着程序的调用，</a:t>
            </a:r>
            <a:r>
              <a:rPr lang="en-US" altLang="zh-CN" dirty="0"/>
              <a:t>fact(2) fact(1) fact(0)</a:t>
            </a:r>
            <a:r>
              <a:rPr lang="zh-CN" altLang="en-US" dirty="0"/>
              <a:t>的信息按照后进先出的规则进行入栈与出栈。</a:t>
            </a:r>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142</a:t>
            </a:fld>
            <a:endParaRPr lang="en-US" altLang="zh-CN"/>
          </a:p>
        </p:txBody>
      </p:sp>
    </p:spTree>
    <p:extLst>
      <p:ext uri="{BB962C8B-B14F-4D97-AF65-F5344CB8AC3E}">
        <p14:creationId xmlns:p14="http://schemas.microsoft.com/office/powerpoint/2010/main" val="2011344503"/>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在进行过程调用的时候我们需要保存一些信息，例如程序的返回地址，当前程序的参数，一些局部变量等</a:t>
            </a:r>
            <a:endParaRPr lang="en-US" altLang="zh-CN" dirty="0"/>
          </a:p>
          <a:p>
            <a:r>
              <a:rPr lang="zh-CN" altLang="en-US" dirty="0"/>
              <a:t>我们的将这些信息通过压栈的形式进行存储，当调用新的过程时，将旧的程序的信息压入栈中，当新程序返回时，再将信息出栈，用于恢复现场。</a:t>
            </a:r>
            <a:endParaRPr lang="en-US" altLang="zh-CN" dirty="0"/>
          </a:p>
          <a:p>
            <a:r>
              <a:rPr lang="zh-CN" altLang="en-US" dirty="0"/>
              <a:t>这里是一个求阶乘的例子，我们可以看到这个模拟的堆栈的变化情况。</a:t>
            </a:r>
            <a:endParaRPr lang="en-US" altLang="zh-CN" dirty="0"/>
          </a:p>
          <a:p>
            <a:r>
              <a:rPr lang="zh-CN" altLang="en-US" dirty="0"/>
              <a:t>随着程序的调用，</a:t>
            </a:r>
            <a:r>
              <a:rPr lang="en-US" altLang="zh-CN" dirty="0"/>
              <a:t>fact(2) fact(1) fact(0)</a:t>
            </a:r>
            <a:r>
              <a:rPr lang="zh-CN" altLang="en-US" dirty="0"/>
              <a:t>的信息按照后进先出的规则进行入栈与出栈。</a:t>
            </a:r>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143</a:t>
            </a:fld>
            <a:endParaRPr lang="en-US" altLang="zh-CN"/>
          </a:p>
        </p:txBody>
      </p:sp>
    </p:spTree>
    <p:extLst>
      <p:ext uri="{BB962C8B-B14F-4D97-AF65-F5344CB8AC3E}">
        <p14:creationId xmlns:p14="http://schemas.microsoft.com/office/powerpoint/2010/main" val="1006349468"/>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sz="1200" dirty="0"/>
              <a:t>栈框架组织方式：原则上没有统一规定，只需要保护好寄存器的值。过程调用帧中的信息就是需要保护的寄存器的信息</a:t>
            </a:r>
            <a:endParaRPr kumimoji="1" lang="en-US" altLang="zh-CN" sz="1200" dirty="0"/>
          </a:p>
          <a:p>
            <a:r>
              <a:rPr kumimoji="1" lang="zh-CN" altLang="en-US" dirty="0"/>
              <a:t>此处只给出最常用的后两种情况，更多的需要入栈的信息见附录</a:t>
            </a:r>
            <a:endParaRPr kumimoji="1" lang="en-US" altLang="zh-CN" dirty="0"/>
          </a:p>
          <a:p>
            <a:endParaRPr kumimoji="1" lang="en-US" altLang="zh-CN" dirty="0"/>
          </a:p>
          <a:p>
            <a:r>
              <a:rPr kumimoji="1" lang="zh-CN" altLang="en-US" dirty="0"/>
              <a:t>统一过程调用帧</a:t>
            </a:r>
          </a:p>
        </p:txBody>
      </p:sp>
      <p:sp>
        <p:nvSpPr>
          <p:cNvPr id="4" name="灯片编号占位符 3"/>
          <p:cNvSpPr>
            <a:spLocks noGrp="1"/>
          </p:cNvSpPr>
          <p:nvPr>
            <p:ph type="sldNum" sz="quarter" idx="5"/>
          </p:nvPr>
        </p:nvSpPr>
        <p:spPr/>
        <p:txBody>
          <a:bodyPr/>
          <a:lstStyle/>
          <a:p>
            <a:fld id="{AFADF04F-F2F9-486C-A752-12D4B1C511A4}" type="slidenum">
              <a:rPr lang="en-US" altLang="zh-CN" smtClean="0"/>
              <a:pPr/>
              <a:t>144</a:t>
            </a:fld>
            <a:endParaRPr lang="en-US" altLang="zh-CN"/>
          </a:p>
        </p:txBody>
      </p:sp>
    </p:spTree>
    <p:extLst>
      <p:ext uri="{BB962C8B-B14F-4D97-AF65-F5344CB8AC3E}">
        <p14:creationId xmlns:p14="http://schemas.microsoft.com/office/powerpoint/2010/main" val="387181671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图中的栈是朝下增加的，最下方是栈顶，出栈从下方开始。</a:t>
            </a:r>
            <a:endParaRPr kumimoji="1" lang="en-US" altLang="zh-CN" dirty="0"/>
          </a:p>
          <a:p>
            <a:r>
              <a:rPr kumimoji="1" lang="zh-CN" altLang="en-US" dirty="0"/>
              <a:t>前四个字节总是空的，因为这四个总是通过参数寄存器传递</a:t>
            </a:r>
          </a:p>
        </p:txBody>
      </p:sp>
      <p:sp>
        <p:nvSpPr>
          <p:cNvPr id="4" name="灯片编号占位符 3"/>
          <p:cNvSpPr>
            <a:spLocks noGrp="1"/>
          </p:cNvSpPr>
          <p:nvPr>
            <p:ph type="sldNum" sz="quarter" idx="5"/>
          </p:nvPr>
        </p:nvSpPr>
        <p:spPr/>
        <p:txBody>
          <a:bodyPr/>
          <a:lstStyle/>
          <a:p>
            <a:fld id="{AFADF04F-F2F9-486C-A752-12D4B1C511A4}" type="slidenum">
              <a:rPr lang="en-US" altLang="zh-CN" smtClean="0"/>
              <a:pPr/>
              <a:t>145</a:t>
            </a:fld>
            <a:endParaRPr lang="en-US" altLang="zh-CN"/>
          </a:p>
        </p:txBody>
      </p:sp>
    </p:spTree>
    <p:extLst>
      <p:ext uri="{BB962C8B-B14F-4D97-AF65-F5344CB8AC3E}">
        <p14:creationId xmlns:p14="http://schemas.microsoft.com/office/powerpoint/2010/main" val="3607456582"/>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图中的栈是朝下增加的，最下方是栈顶，出栈从下方开始。</a:t>
            </a:r>
            <a:endParaRPr kumimoji="1" lang="en-US" altLang="zh-CN" dirty="0"/>
          </a:p>
          <a:p>
            <a:r>
              <a:rPr kumimoji="1" lang="zh-CN" altLang="en-US" dirty="0"/>
              <a:t>前四个字节总是空的，因为这四个总是通过参数寄存器传递</a:t>
            </a:r>
          </a:p>
        </p:txBody>
      </p:sp>
      <p:sp>
        <p:nvSpPr>
          <p:cNvPr id="4" name="灯片编号占位符 3"/>
          <p:cNvSpPr>
            <a:spLocks noGrp="1"/>
          </p:cNvSpPr>
          <p:nvPr>
            <p:ph type="sldNum" sz="quarter" idx="5"/>
          </p:nvPr>
        </p:nvSpPr>
        <p:spPr/>
        <p:txBody>
          <a:bodyPr/>
          <a:lstStyle/>
          <a:p>
            <a:fld id="{AFADF04F-F2F9-486C-A752-12D4B1C511A4}" type="slidenum">
              <a:rPr lang="en-US" altLang="zh-CN" smtClean="0"/>
              <a:pPr/>
              <a:t>146</a:t>
            </a:fld>
            <a:endParaRPr lang="en-US" altLang="zh-CN"/>
          </a:p>
        </p:txBody>
      </p:sp>
    </p:spTree>
    <p:extLst>
      <p:ext uri="{BB962C8B-B14F-4D97-AF65-F5344CB8AC3E}">
        <p14:creationId xmlns:p14="http://schemas.microsoft.com/office/powerpoint/2010/main" val="2246968245"/>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图中的栈是朝下增加的，最下方是栈顶，出栈从下方开始。</a:t>
            </a:r>
            <a:endParaRPr kumimoji="1" lang="en-US" altLang="zh-CN" dirty="0"/>
          </a:p>
          <a:p>
            <a:r>
              <a:rPr kumimoji="1" lang="zh-CN" altLang="en-US" dirty="0"/>
              <a:t>前四个字节总是空的，因为这四个总是通过参数寄存器传递</a:t>
            </a:r>
          </a:p>
        </p:txBody>
      </p:sp>
      <p:sp>
        <p:nvSpPr>
          <p:cNvPr id="4" name="灯片编号占位符 3"/>
          <p:cNvSpPr>
            <a:spLocks noGrp="1"/>
          </p:cNvSpPr>
          <p:nvPr>
            <p:ph type="sldNum" sz="quarter" idx="5"/>
          </p:nvPr>
        </p:nvSpPr>
        <p:spPr/>
        <p:txBody>
          <a:bodyPr/>
          <a:lstStyle/>
          <a:p>
            <a:fld id="{AFADF04F-F2F9-486C-A752-12D4B1C511A4}" type="slidenum">
              <a:rPr lang="en-US" altLang="zh-CN" smtClean="0"/>
              <a:pPr/>
              <a:t>147</a:t>
            </a:fld>
            <a:endParaRPr lang="en-US" altLang="zh-CN"/>
          </a:p>
        </p:txBody>
      </p:sp>
    </p:spTree>
    <p:extLst>
      <p:ext uri="{BB962C8B-B14F-4D97-AF65-F5344CB8AC3E}">
        <p14:creationId xmlns:p14="http://schemas.microsoft.com/office/powerpoint/2010/main" val="2473791000"/>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图中的栈是朝下增加的，最下方是栈顶，出栈从下方开始。</a:t>
            </a:r>
            <a:endParaRPr kumimoji="1" lang="en-US" altLang="zh-CN" dirty="0"/>
          </a:p>
          <a:p>
            <a:r>
              <a:rPr kumimoji="1" lang="zh-CN" altLang="en-US" dirty="0"/>
              <a:t>前四个字节总是空的，因为这四个总是通过参数寄存器传递</a:t>
            </a:r>
          </a:p>
        </p:txBody>
      </p:sp>
      <p:sp>
        <p:nvSpPr>
          <p:cNvPr id="4" name="灯片编号占位符 3"/>
          <p:cNvSpPr>
            <a:spLocks noGrp="1"/>
          </p:cNvSpPr>
          <p:nvPr>
            <p:ph type="sldNum" sz="quarter" idx="5"/>
          </p:nvPr>
        </p:nvSpPr>
        <p:spPr/>
        <p:txBody>
          <a:bodyPr/>
          <a:lstStyle/>
          <a:p>
            <a:fld id="{AFADF04F-F2F9-486C-A752-12D4B1C511A4}" type="slidenum">
              <a:rPr lang="en-US" altLang="zh-CN" smtClean="0"/>
              <a:pPr/>
              <a:t>148</a:t>
            </a:fld>
            <a:endParaRPr lang="en-US" altLang="zh-CN"/>
          </a:p>
        </p:txBody>
      </p:sp>
    </p:spTree>
    <p:extLst>
      <p:ext uri="{BB962C8B-B14F-4D97-AF65-F5344CB8AC3E}">
        <p14:creationId xmlns:p14="http://schemas.microsoft.com/office/powerpoint/2010/main" val="2995814439"/>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图中的栈是朝下增加的，最下方是栈顶，出栈从下方开始。</a:t>
            </a:r>
            <a:endParaRPr kumimoji="1" lang="en-US" altLang="zh-CN" dirty="0"/>
          </a:p>
          <a:p>
            <a:r>
              <a:rPr kumimoji="1" lang="zh-CN" altLang="en-US" dirty="0"/>
              <a:t>前四个字节总是空的，因为这四个总是通过参数寄存器传递</a:t>
            </a:r>
          </a:p>
        </p:txBody>
      </p:sp>
      <p:sp>
        <p:nvSpPr>
          <p:cNvPr id="4" name="灯片编号占位符 3"/>
          <p:cNvSpPr>
            <a:spLocks noGrp="1"/>
          </p:cNvSpPr>
          <p:nvPr>
            <p:ph type="sldNum" sz="quarter" idx="5"/>
          </p:nvPr>
        </p:nvSpPr>
        <p:spPr/>
        <p:txBody>
          <a:bodyPr/>
          <a:lstStyle/>
          <a:p>
            <a:fld id="{AFADF04F-F2F9-486C-A752-12D4B1C511A4}" type="slidenum">
              <a:rPr lang="en-US" altLang="zh-CN" smtClean="0"/>
              <a:pPr/>
              <a:t>149</a:t>
            </a:fld>
            <a:endParaRPr lang="en-US" altLang="zh-CN"/>
          </a:p>
        </p:txBody>
      </p:sp>
    </p:spTree>
    <p:extLst>
      <p:ext uri="{BB962C8B-B14F-4D97-AF65-F5344CB8AC3E}">
        <p14:creationId xmlns:p14="http://schemas.microsoft.com/office/powerpoint/2010/main" val="3580570063"/>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系统也提供了一些过程供程序调用。</a:t>
            </a:r>
            <a:endParaRPr lang="en-US" altLang="zh-CN" dirty="0"/>
          </a:p>
          <a:p>
            <a:r>
              <a:rPr lang="en-US" altLang="zh-CN" dirty="0"/>
              <a:t>MIPS</a:t>
            </a:r>
            <a:r>
              <a:rPr lang="zh-CN" altLang="en-US" dirty="0"/>
              <a:t>模拟器提供了系统调用</a:t>
            </a:r>
            <a:r>
              <a:rPr lang="en-US" altLang="zh-CN" dirty="0"/>
              <a:t>(</a:t>
            </a:r>
            <a:r>
              <a:rPr lang="en-US" altLang="zh-CN" dirty="0" err="1"/>
              <a:t>syscall</a:t>
            </a:r>
            <a:r>
              <a:rPr lang="en-US" altLang="zh-CN" dirty="0"/>
              <a:t>)</a:t>
            </a:r>
            <a:r>
              <a:rPr lang="zh-CN" altLang="en-US" dirty="0"/>
              <a:t>去代替一组类似操作系统的服务。</a:t>
            </a:r>
            <a:endParaRPr lang="en-US" altLang="zh-CN" dirty="0"/>
          </a:p>
          <a:p>
            <a:pPr marL="0" marR="0" lvl="1" indent="0" algn="l" defTabSz="914400" rtl="0" eaLnBrk="1" fontAlgn="base" latinLnBrk="0" hangingPunct="1">
              <a:lnSpc>
                <a:spcPct val="100000"/>
              </a:lnSpc>
              <a:spcBef>
                <a:spcPct val="30000"/>
              </a:spcBef>
              <a:spcAft>
                <a:spcPct val="0"/>
              </a:spcAft>
              <a:buClrTx/>
              <a:buSzTx/>
              <a:buFontTx/>
              <a:buNone/>
              <a:tabLst/>
              <a:defRPr/>
            </a:pPr>
            <a:r>
              <a:rPr lang="zh-CN" altLang="en-US" dirty="0"/>
              <a:t>调用的方法为，在</a:t>
            </a:r>
            <a:r>
              <a:rPr lang="en-US" altLang="zh-CN" dirty="0"/>
              <a:t>$v0</a:t>
            </a:r>
            <a:r>
              <a:rPr lang="zh-CN" altLang="en-US" dirty="0"/>
              <a:t>中存入需要调用的</a:t>
            </a:r>
            <a:r>
              <a:rPr lang="en-US" altLang="zh-CN" dirty="0" err="1"/>
              <a:t>syscall</a:t>
            </a:r>
            <a:r>
              <a:rPr lang="zh-CN" altLang="en-US" dirty="0"/>
              <a:t>的代码，然后将可能有的参数存入</a:t>
            </a:r>
            <a:r>
              <a:rPr lang="en-US" altLang="zh-CN" dirty="0"/>
              <a:t>$a0($4)</a:t>
            </a:r>
            <a:r>
              <a:rPr lang="zh-CN" altLang="en-US" dirty="0"/>
              <a:t>～</a:t>
            </a:r>
            <a:r>
              <a:rPr lang="en-US" altLang="zh-CN" dirty="0"/>
              <a:t>$a3($7)</a:t>
            </a:r>
            <a:r>
              <a:rPr lang="zh-CN" altLang="en-US" dirty="0"/>
              <a:t>或</a:t>
            </a:r>
            <a:r>
              <a:rPr lang="en-US" altLang="zh-CN" dirty="0"/>
              <a:t>$f12</a:t>
            </a:r>
            <a:r>
              <a:rPr lang="zh-CN" altLang="en-US" dirty="0"/>
              <a:t>寄存器中。调用</a:t>
            </a:r>
            <a:r>
              <a:rPr lang="en-US" altLang="zh-CN" dirty="0" err="1"/>
              <a:t>syscall</a:t>
            </a:r>
            <a:r>
              <a:rPr lang="zh-CN" altLang="en-US" dirty="0"/>
              <a:t>，返回值会存在</a:t>
            </a:r>
            <a:r>
              <a:rPr lang="en-US" altLang="zh-CN" dirty="0"/>
              <a:t>$v0($2)</a:t>
            </a:r>
            <a:r>
              <a:rPr lang="zh-CN" altLang="en-US" dirty="0"/>
              <a:t>或</a:t>
            </a:r>
            <a:r>
              <a:rPr lang="en-US" altLang="zh-CN" dirty="0"/>
              <a:t>$f0</a:t>
            </a:r>
            <a:r>
              <a:rPr lang="zh-CN" altLang="en-US" dirty="0"/>
              <a:t>寄存器中。</a:t>
            </a:r>
            <a:endParaRPr lang="en-US" altLang="zh-CN"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152</a:t>
            </a:fld>
            <a:endParaRPr lang="en-US" altLang="zh-CN"/>
          </a:p>
        </p:txBody>
      </p:sp>
    </p:spTree>
    <p:extLst>
      <p:ext uri="{BB962C8B-B14F-4D97-AF65-F5344CB8AC3E}">
        <p14:creationId xmlns:p14="http://schemas.microsoft.com/office/powerpoint/2010/main" val="357276871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fld id="{301A54F4-70B2-404D-BB48-9D70BC3E840C}" type="datetime1">
              <a:rPr lang="en-US" smtClean="0">
                <a:solidFill>
                  <a:prstClr val="black"/>
                </a:solidFill>
              </a:rPr>
              <a:t>6/6/2024</a:t>
            </a:fld>
            <a:endParaRPr lang="en-US">
              <a:solidFill>
                <a:prstClr val="black"/>
              </a:solidFill>
            </a:endParaRPr>
          </a:p>
        </p:txBody>
      </p:sp>
      <p:sp>
        <p:nvSpPr>
          <p:cNvPr id="5" name="页脚占位符 4"/>
          <p:cNvSpPr>
            <a:spLocks noGrp="1"/>
          </p:cNvSpPr>
          <p:nvPr>
            <p:ph type="ftr" sz="quarter" idx="11"/>
          </p:nvPr>
        </p:nvSpPr>
        <p:spPr/>
        <p:txBody>
          <a:bodyPr/>
          <a:lstStyle>
            <a:lvl1pPr>
              <a:defRPr/>
            </a:lvl1pPr>
          </a:lstStyle>
          <a:p>
            <a:r>
              <a:rPr lang="en-US">
                <a:solidFill>
                  <a:prstClr val="black"/>
                </a:solidFill>
              </a:rPr>
              <a:t>XueqingLi@tsinghua.edu.cn</a:t>
            </a:r>
          </a:p>
        </p:txBody>
      </p:sp>
      <p:sp>
        <p:nvSpPr>
          <p:cNvPr id="6" name="灯片编号占位符 5"/>
          <p:cNvSpPr>
            <a:spLocks noGrp="1"/>
          </p:cNvSpPr>
          <p:nvPr>
            <p:ph type="sldNum" sz="quarter" idx="12"/>
          </p:nvPr>
        </p:nvSpPr>
        <p:spPr/>
        <p:txBody>
          <a:bodyPr/>
          <a:lstStyle>
            <a:lvl1pPr>
              <a:defRPr/>
            </a:lvl1pPr>
          </a:lstStyle>
          <a:p>
            <a:fld id="{176ACFD1-D213-4B9C-817B-45486DBF105A}" type="slidenum">
              <a:rPr lang="en-US" smtClean="0">
                <a:solidFill>
                  <a:prstClr val="black"/>
                </a:solidFill>
              </a:rPr>
              <a:pPr/>
              <a:t>‹#›</a:t>
            </a:fld>
            <a:endParaRPr lang="en-US" dirty="0">
              <a:solidFill>
                <a:prstClr val="black"/>
              </a:solidFill>
            </a:endParaRPr>
          </a:p>
        </p:txBody>
      </p:sp>
      <p:pic>
        <p:nvPicPr>
          <p:cNvPr id="11" name="Picture 6">
            <a:extLst>
              <a:ext uri="{FF2B5EF4-FFF2-40B4-BE49-F238E27FC236}">
                <a16:creationId xmlns:a16="http://schemas.microsoft.com/office/drawing/2014/main" id="{37208F54-42C8-22EF-69A4-AE45819566B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830429" y="10392"/>
            <a:ext cx="1313572" cy="1313572"/>
          </a:xfrm>
          <a:prstGeom prst="rect">
            <a:avLst/>
          </a:prstGeom>
        </p:spPr>
      </p:pic>
      <p:pic>
        <p:nvPicPr>
          <p:cNvPr id="12" name="Picture 7">
            <a:extLst>
              <a:ext uri="{FF2B5EF4-FFF2-40B4-BE49-F238E27FC236}">
                <a16:creationId xmlns:a16="http://schemas.microsoft.com/office/drawing/2014/main" id="{5E99BBB1-8EEB-46FB-201E-508C9D0759BB}"/>
              </a:ext>
            </a:extLst>
          </p:cNvPr>
          <p:cNvPicPr>
            <a:picLocks noChangeAspect="1"/>
          </p:cNvPicPr>
          <p:nvPr/>
        </p:nvPicPr>
        <p:blipFill rotWithShape="1">
          <a:blip r:embed="rId3"/>
          <a:srcRect l="7528" t="909" r="12068" b="1273"/>
          <a:stretch/>
        </p:blipFill>
        <p:spPr>
          <a:xfrm>
            <a:off x="31172" y="10392"/>
            <a:ext cx="1340427" cy="1313572"/>
          </a:xfrm>
          <a:prstGeom prst="rect">
            <a:avLst/>
          </a:prstGeom>
        </p:spPr>
      </p:pic>
    </p:spTree>
    <p:extLst>
      <p:ext uri="{BB962C8B-B14F-4D97-AF65-F5344CB8AC3E}">
        <p14:creationId xmlns:p14="http://schemas.microsoft.com/office/powerpoint/2010/main" val="27724826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4000"/>
            </a:lvl1pPr>
          </a:lstStyle>
          <a:p>
            <a:r>
              <a:rPr lang="zh-CN" altLang="en-US"/>
              <a:t>单击此处编辑母版标题样式</a:t>
            </a:r>
          </a:p>
        </p:txBody>
      </p:sp>
      <p:sp>
        <p:nvSpPr>
          <p:cNvPr id="3" name="内容占位符 2"/>
          <p:cNvSpPr>
            <a:spLocks noGrp="1"/>
          </p:cNvSpPr>
          <p:nvPr>
            <p:ph idx="1"/>
          </p:nvPr>
        </p:nvSpPr>
        <p:spPr>
          <a:xfrm>
            <a:off x="457200" y="1551432"/>
            <a:ext cx="8229600" cy="452596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CCF3A8A5-1607-3C4C-A76C-781F9FF724DC}" type="datetime1">
              <a:rPr lang="en-US" smtClean="0">
                <a:solidFill>
                  <a:prstClr val="black"/>
                </a:solidFill>
              </a:rPr>
              <a:t>6/6/2024</a:t>
            </a:fld>
            <a:endParaRPr lang="en-US">
              <a:solidFill>
                <a:prstClr val="black"/>
              </a:solidFill>
            </a:endParaRPr>
          </a:p>
        </p:txBody>
      </p:sp>
      <p:sp>
        <p:nvSpPr>
          <p:cNvPr id="5" name="页脚占位符 4"/>
          <p:cNvSpPr>
            <a:spLocks noGrp="1"/>
          </p:cNvSpPr>
          <p:nvPr>
            <p:ph type="ftr" sz="quarter" idx="11"/>
          </p:nvPr>
        </p:nvSpPr>
        <p:spPr/>
        <p:txBody>
          <a:bodyPr/>
          <a:lstStyle>
            <a:lvl1pPr>
              <a:defRPr/>
            </a:lvl1pPr>
          </a:lstStyle>
          <a:p>
            <a:r>
              <a:rPr lang="en-US">
                <a:solidFill>
                  <a:prstClr val="black"/>
                </a:solidFill>
              </a:rPr>
              <a:t>XueqingLi@tsinghua.edu.cn</a:t>
            </a:r>
          </a:p>
        </p:txBody>
      </p:sp>
      <p:sp>
        <p:nvSpPr>
          <p:cNvPr id="6" name="灯片编号占位符 5"/>
          <p:cNvSpPr>
            <a:spLocks noGrp="1"/>
          </p:cNvSpPr>
          <p:nvPr>
            <p:ph type="sldNum" sz="quarter" idx="12"/>
          </p:nvPr>
        </p:nvSpPr>
        <p:spPr/>
        <p:txBody>
          <a:bodyPr/>
          <a:lstStyle>
            <a:lvl1pPr>
              <a:defRPr/>
            </a:lvl1pPr>
          </a:lstStyle>
          <a:p>
            <a:fld id="{176ACFD1-D213-4B9C-817B-45486DBF105A}" type="slidenum">
              <a:rPr lang="en-US" smtClean="0">
                <a:solidFill>
                  <a:prstClr val="black"/>
                </a:solidFill>
              </a:rPr>
              <a:pPr/>
              <a:t>‹#›</a:t>
            </a:fld>
            <a:endParaRPr lang="en-US" dirty="0">
              <a:solidFill>
                <a:prstClr val="black"/>
              </a:solidFill>
            </a:endParaRPr>
          </a:p>
        </p:txBody>
      </p:sp>
      <p:cxnSp>
        <p:nvCxnSpPr>
          <p:cNvPr id="7" name="直接连接符 6">
            <a:extLst>
              <a:ext uri="{FF2B5EF4-FFF2-40B4-BE49-F238E27FC236}">
                <a16:creationId xmlns:a16="http://schemas.microsoft.com/office/drawing/2014/main" id="{686180A4-3663-4351-4C5B-0D3CBE4C9135}"/>
              </a:ext>
            </a:extLst>
          </p:cNvPr>
          <p:cNvCxnSpPr/>
          <p:nvPr userDrawn="1"/>
        </p:nvCxnSpPr>
        <p:spPr>
          <a:xfrm>
            <a:off x="146854" y="836712"/>
            <a:ext cx="8856984" cy="0"/>
          </a:xfrm>
          <a:prstGeom prst="line">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61509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fld id="{B27AE1DB-F4EE-A442-9A93-46BFA9F0C692}" type="datetime1">
              <a:rPr lang="en-US" smtClean="0">
                <a:solidFill>
                  <a:prstClr val="black"/>
                </a:solidFill>
              </a:rPr>
              <a:t>6/6/2024</a:t>
            </a:fld>
            <a:endParaRPr lang="en-US">
              <a:solidFill>
                <a:prstClr val="black"/>
              </a:solidFill>
            </a:endParaRPr>
          </a:p>
        </p:txBody>
      </p:sp>
      <p:sp>
        <p:nvSpPr>
          <p:cNvPr id="5" name="页脚占位符 4"/>
          <p:cNvSpPr>
            <a:spLocks noGrp="1"/>
          </p:cNvSpPr>
          <p:nvPr>
            <p:ph type="ftr" sz="quarter" idx="11"/>
          </p:nvPr>
        </p:nvSpPr>
        <p:spPr/>
        <p:txBody>
          <a:bodyPr/>
          <a:lstStyle>
            <a:lvl1pPr>
              <a:defRPr/>
            </a:lvl1pPr>
          </a:lstStyle>
          <a:p>
            <a:r>
              <a:rPr lang="en-US">
                <a:solidFill>
                  <a:prstClr val="black"/>
                </a:solidFill>
              </a:rPr>
              <a:t>XueqingLi@tsinghua.edu.cn</a:t>
            </a:r>
          </a:p>
        </p:txBody>
      </p:sp>
      <p:sp>
        <p:nvSpPr>
          <p:cNvPr id="6" name="灯片编号占位符 5"/>
          <p:cNvSpPr>
            <a:spLocks noGrp="1"/>
          </p:cNvSpPr>
          <p:nvPr>
            <p:ph type="sldNum" sz="quarter" idx="12"/>
          </p:nvPr>
        </p:nvSpPr>
        <p:spPr/>
        <p:txBody>
          <a:bodyPr/>
          <a:lstStyle>
            <a:lvl1pPr>
              <a:defRPr/>
            </a:lvl1pPr>
          </a:lstStyle>
          <a:p>
            <a:fld id="{176ACFD1-D213-4B9C-817B-45486DBF105A}"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41718882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lvl1pPr>
              <a:defRPr/>
            </a:lvl1pPr>
          </a:lstStyle>
          <a:p>
            <a:fld id="{8395DDAD-0EBC-418B-87E9-00E8050E5999}" type="datetimeFigureOut">
              <a:rPr lang="zh-CN" altLang="en-US" smtClean="0"/>
              <a:t>2024/6/6</a:t>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176ACFD1-D213-4B9C-817B-45486DBF105A}" type="slidenum">
              <a:rPr lang="en-US" smtClean="0"/>
              <a:pPr/>
              <a:t>‹#›</a:t>
            </a:fld>
            <a:endParaRPr lang="en-US" dirty="0"/>
          </a:p>
        </p:txBody>
      </p:sp>
    </p:spTree>
    <p:extLst>
      <p:ext uri="{BB962C8B-B14F-4D97-AF65-F5344CB8AC3E}">
        <p14:creationId xmlns:p14="http://schemas.microsoft.com/office/powerpoint/2010/main" val="1944885913"/>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lvl1pPr>
              <a:defRPr/>
            </a:lvl1pPr>
          </a:lstStyle>
          <a:p>
            <a:fld id="{8395DDAD-0EBC-418B-87E9-00E8050E5999}" type="datetimeFigureOut">
              <a:rPr lang="zh-CN" altLang="en-US" smtClean="0"/>
              <a:t>2024/6/6</a:t>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176ACFD1-D213-4B9C-817B-45486DBF105A}" type="slidenum">
              <a:rPr lang="en-US" smtClean="0"/>
              <a:pPr/>
              <a:t>‹#›</a:t>
            </a:fld>
            <a:endParaRPr lang="en-US" dirty="0"/>
          </a:p>
        </p:txBody>
      </p:sp>
    </p:spTree>
    <p:extLst>
      <p:ext uri="{BB962C8B-B14F-4D97-AF65-F5344CB8AC3E}">
        <p14:creationId xmlns:p14="http://schemas.microsoft.com/office/powerpoint/2010/main" val="3208291980"/>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fld id="{426BFA2B-AF22-B84B-B4FD-9178850CA7C4}" type="datetime1">
              <a:rPr lang="en-US" smtClean="0">
                <a:solidFill>
                  <a:prstClr val="black"/>
                </a:solidFill>
              </a:rPr>
              <a:t>6/6/2024</a:t>
            </a:fld>
            <a:endParaRPr lang="en-US">
              <a:solidFill>
                <a:prstClr val="black"/>
              </a:solidFill>
            </a:endParaRPr>
          </a:p>
        </p:txBody>
      </p:sp>
      <p:sp>
        <p:nvSpPr>
          <p:cNvPr id="4" name="页脚占位符 3"/>
          <p:cNvSpPr>
            <a:spLocks noGrp="1"/>
          </p:cNvSpPr>
          <p:nvPr>
            <p:ph type="ftr" sz="quarter" idx="11"/>
          </p:nvPr>
        </p:nvSpPr>
        <p:spPr/>
        <p:txBody>
          <a:bodyPr/>
          <a:lstStyle>
            <a:lvl1pPr>
              <a:defRPr/>
            </a:lvl1pPr>
          </a:lstStyle>
          <a:p>
            <a:r>
              <a:rPr lang="en-US">
                <a:solidFill>
                  <a:prstClr val="black"/>
                </a:solidFill>
              </a:rPr>
              <a:t>XueqingLi@tsinghua.edu.cn</a:t>
            </a:r>
          </a:p>
        </p:txBody>
      </p:sp>
      <p:sp>
        <p:nvSpPr>
          <p:cNvPr id="5" name="灯片编号占位符 4"/>
          <p:cNvSpPr>
            <a:spLocks noGrp="1"/>
          </p:cNvSpPr>
          <p:nvPr>
            <p:ph type="sldNum" sz="quarter" idx="12"/>
          </p:nvPr>
        </p:nvSpPr>
        <p:spPr/>
        <p:txBody>
          <a:bodyPr/>
          <a:lstStyle>
            <a:lvl1pPr>
              <a:defRPr/>
            </a:lvl1pPr>
          </a:lstStyle>
          <a:p>
            <a:fld id="{176ACFD1-D213-4B9C-817B-45486DBF105A}" type="slidenum">
              <a:rPr lang="en-US" smtClean="0">
                <a:solidFill>
                  <a:prstClr val="black"/>
                </a:solidFill>
              </a:rPr>
              <a:pPr/>
              <a:t>‹#›</a:t>
            </a:fld>
            <a:endParaRPr lang="en-US" dirty="0">
              <a:solidFill>
                <a:prstClr val="black"/>
              </a:solidFill>
            </a:endParaRPr>
          </a:p>
        </p:txBody>
      </p:sp>
      <p:cxnSp>
        <p:nvCxnSpPr>
          <p:cNvPr id="6" name="直接连接符 5">
            <a:extLst>
              <a:ext uri="{FF2B5EF4-FFF2-40B4-BE49-F238E27FC236}">
                <a16:creationId xmlns:a16="http://schemas.microsoft.com/office/drawing/2014/main" id="{93E194AF-BACF-686B-BDE1-E05A5CA11CC9}"/>
              </a:ext>
            </a:extLst>
          </p:cNvPr>
          <p:cNvCxnSpPr/>
          <p:nvPr userDrawn="1"/>
        </p:nvCxnSpPr>
        <p:spPr>
          <a:xfrm>
            <a:off x="146854" y="836712"/>
            <a:ext cx="8856984" cy="0"/>
          </a:xfrm>
          <a:prstGeom prst="line">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36103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8395DDAD-0EBC-418B-87E9-00E8050E5999}" type="datetimeFigureOut">
              <a:rPr lang="zh-CN" altLang="en-US" smtClean="0"/>
              <a:t>2024/6/6</a:t>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176ACFD1-D213-4B9C-817B-45486DBF105A}"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8508673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fld id="{8395DDAD-0EBC-418B-87E9-00E8050E5999}" type="datetimeFigureOut">
              <a:rPr lang="zh-CN" altLang="en-US" smtClean="0"/>
              <a:t>2024/6/6</a:t>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176ACFD1-D213-4B9C-817B-45486DBF105A}" type="slidenum">
              <a:rPr lang="en-US" smtClean="0"/>
              <a:pPr/>
              <a:t>‹#›</a:t>
            </a:fld>
            <a:endParaRPr lang="en-US" dirty="0"/>
          </a:p>
        </p:txBody>
      </p:sp>
    </p:spTree>
    <p:extLst>
      <p:ext uri="{BB962C8B-B14F-4D97-AF65-F5344CB8AC3E}">
        <p14:creationId xmlns:p14="http://schemas.microsoft.com/office/powerpoint/2010/main" val="3917385513"/>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fld id="{8395DDAD-0EBC-418B-87E9-00E8050E5999}" type="datetimeFigureOut">
              <a:rPr lang="zh-CN" altLang="en-US" smtClean="0"/>
              <a:t>2024/6/6</a:t>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176ACFD1-D213-4B9C-817B-45486DBF105A}" type="slidenum">
              <a:rPr lang="en-US" smtClean="0"/>
              <a:pPr/>
              <a:t>‹#›</a:t>
            </a:fld>
            <a:endParaRPr lang="en-US" dirty="0"/>
          </a:p>
        </p:txBody>
      </p:sp>
    </p:spTree>
    <p:extLst>
      <p:ext uri="{BB962C8B-B14F-4D97-AF65-F5344CB8AC3E}">
        <p14:creationId xmlns:p14="http://schemas.microsoft.com/office/powerpoint/2010/main" val="1501877377"/>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lvl1pPr>
              <a:defRPr/>
            </a:lvl1pPr>
          </a:lstStyle>
          <a:p>
            <a:fld id="{8395DDAD-0EBC-418B-87E9-00E8050E5999}" type="datetimeFigureOut">
              <a:rPr lang="zh-CN" altLang="en-US" smtClean="0"/>
              <a:t>2024/6/6</a:t>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176ACFD1-D213-4B9C-817B-45486DBF105A}" type="slidenum">
              <a:rPr lang="en-US" smtClean="0"/>
              <a:pPr/>
              <a:t>‹#›</a:t>
            </a:fld>
            <a:endParaRPr lang="en-US" dirty="0"/>
          </a:p>
        </p:txBody>
      </p:sp>
    </p:spTree>
    <p:extLst>
      <p:ext uri="{BB962C8B-B14F-4D97-AF65-F5344CB8AC3E}">
        <p14:creationId xmlns:p14="http://schemas.microsoft.com/office/powerpoint/2010/main" val="3071170204"/>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lvl1pPr>
              <a:defRPr/>
            </a:lvl1pPr>
          </a:lstStyle>
          <a:p>
            <a:fld id="{8395DDAD-0EBC-418B-87E9-00E8050E5999}" type="datetimeFigureOut">
              <a:rPr lang="zh-CN" altLang="en-US" smtClean="0"/>
              <a:t>2024/6/6</a:t>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176ACFD1-D213-4B9C-817B-45486DBF105A}" type="slidenum">
              <a:rPr lang="en-US" smtClean="0"/>
              <a:pPr/>
              <a:t>‹#›</a:t>
            </a:fld>
            <a:endParaRPr lang="en-US" dirty="0"/>
          </a:p>
        </p:txBody>
      </p:sp>
    </p:spTree>
    <p:extLst>
      <p:ext uri="{BB962C8B-B14F-4D97-AF65-F5344CB8AC3E}">
        <p14:creationId xmlns:p14="http://schemas.microsoft.com/office/powerpoint/2010/main" val="1683061973"/>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85800" y="115888"/>
            <a:ext cx="5470525" cy="936625"/>
          </a:xfrm>
        </p:spPr>
        <p:txBody>
          <a:bodyPr/>
          <a:lstStyle/>
          <a:p>
            <a:r>
              <a:rPr lang="zh-CN" altLang="en-US"/>
              <a:t>单击此处编辑母版标题样式</a:t>
            </a:r>
          </a:p>
        </p:txBody>
      </p:sp>
      <p:sp>
        <p:nvSpPr>
          <p:cNvPr id="3" name="表格占位符 2"/>
          <p:cNvSpPr>
            <a:spLocks noGrp="1"/>
          </p:cNvSpPr>
          <p:nvPr>
            <p:ph type="tbl" idx="1"/>
          </p:nvPr>
        </p:nvSpPr>
        <p:spPr>
          <a:xfrm>
            <a:off x="457200" y="1447800"/>
            <a:ext cx="8229600" cy="4716463"/>
          </a:xfrm>
        </p:spPr>
        <p:txBody>
          <a:bodyPr/>
          <a:lstStyle/>
          <a:p>
            <a:pPr lvl="0"/>
            <a:r>
              <a:rPr lang="zh-CN" altLang="en-US" noProof="0"/>
              <a:t>单击图标添加表格</a:t>
            </a:r>
          </a:p>
        </p:txBody>
      </p:sp>
      <p:sp>
        <p:nvSpPr>
          <p:cNvPr id="4" name="Rectangle 4"/>
          <p:cNvSpPr>
            <a:spLocks noGrp="1" noChangeArrowheads="1"/>
          </p:cNvSpPr>
          <p:nvPr>
            <p:ph type="dt" sz="half" idx="10"/>
          </p:nvPr>
        </p:nvSpPr>
        <p:spPr>
          <a:ln/>
        </p:spPr>
        <p:txBody>
          <a:bodyPr/>
          <a:lstStyle>
            <a:lvl1pPr>
              <a:defRPr/>
            </a:lvl1pPr>
          </a:lstStyle>
          <a:p>
            <a:fld id="{8395DDAD-0EBC-418B-87E9-00E8050E5999}" type="datetimeFigureOut">
              <a:rPr lang="zh-CN" altLang="en-US" smtClean="0"/>
              <a:t>2024/6/6</a:t>
            </a:fld>
            <a:endParaRPr lang="zh-CN" altLang="en-US"/>
          </a:p>
        </p:txBody>
      </p:sp>
      <p:sp>
        <p:nvSpPr>
          <p:cNvPr id="5" name="Rectangle 6"/>
          <p:cNvSpPr>
            <a:spLocks noGrp="1" noChangeArrowheads="1"/>
          </p:cNvSpPr>
          <p:nvPr>
            <p:ph type="sldNum" sz="quarter" idx="11"/>
          </p:nvPr>
        </p:nvSpPr>
        <p:spPr>
          <a:ln/>
        </p:spPr>
        <p:txBody>
          <a:bodyPr/>
          <a:lstStyle>
            <a:lvl1pPr>
              <a:defRPr/>
            </a:lvl1pPr>
          </a:lstStyle>
          <a:p>
            <a:fld id="{176ACFD1-D213-4B9C-817B-45486DBF105A}" type="slidenum">
              <a:rPr lang="en-US" smtClean="0"/>
              <a:pPr/>
              <a:t>‹#›</a:t>
            </a:fld>
            <a:endParaRPr lang="en-US" dirty="0"/>
          </a:p>
        </p:txBody>
      </p:sp>
    </p:spTree>
    <p:extLst>
      <p:ext uri="{BB962C8B-B14F-4D97-AF65-F5344CB8AC3E}">
        <p14:creationId xmlns:p14="http://schemas.microsoft.com/office/powerpoint/2010/main" val="2089817396"/>
      </p:ext>
    </p:extLst>
  </p:cSld>
  <p:clrMapOvr>
    <a:masterClrMapping/>
  </p:clrMapOvr>
  <p:transition>
    <p:wipe dir="r"/>
  </p:transition>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195263" y="228600"/>
            <a:ext cx="8015287" cy="914400"/>
          </a:xfrm>
        </p:spPr>
        <p:txBody>
          <a:bodyPr/>
          <a:lstStyle/>
          <a:p>
            <a:r>
              <a:rPr lang="zh-CN" altLang="en-US"/>
              <a:t>单击此处编辑母版标题样式</a:t>
            </a:r>
          </a:p>
        </p:txBody>
      </p:sp>
      <p:sp>
        <p:nvSpPr>
          <p:cNvPr id="3" name="内容占位符 2"/>
          <p:cNvSpPr>
            <a:spLocks noGrp="1"/>
          </p:cNvSpPr>
          <p:nvPr>
            <p:ph sz="half" idx="1"/>
          </p:nvPr>
        </p:nvSpPr>
        <p:spPr>
          <a:xfrm>
            <a:off x="457200" y="1447800"/>
            <a:ext cx="3962400" cy="50292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quarter" idx="2"/>
          </p:nvPr>
        </p:nvSpPr>
        <p:spPr>
          <a:xfrm>
            <a:off x="4572000" y="1447800"/>
            <a:ext cx="3962400" cy="24384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内容占位符 4"/>
          <p:cNvSpPr>
            <a:spLocks noGrp="1"/>
          </p:cNvSpPr>
          <p:nvPr>
            <p:ph sz="quarter" idx="3"/>
          </p:nvPr>
        </p:nvSpPr>
        <p:spPr>
          <a:xfrm>
            <a:off x="4572000" y="4038600"/>
            <a:ext cx="3962400" cy="24384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Rectangle 8"/>
          <p:cNvSpPr>
            <a:spLocks noGrp="1" noChangeArrowheads="1"/>
          </p:cNvSpPr>
          <p:nvPr>
            <p:ph type="dt" sz="half" idx="10"/>
          </p:nvPr>
        </p:nvSpPr>
        <p:spPr>
          <a:ln/>
        </p:spPr>
        <p:txBody>
          <a:bodyPr/>
          <a:lstStyle>
            <a:lvl1pPr>
              <a:defRPr/>
            </a:lvl1pPr>
          </a:lstStyle>
          <a:p>
            <a:fld id="{8395DDAD-0EBC-418B-87E9-00E8050E5999}" type="datetimeFigureOut">
              <a:rPr lang="zh-CN" altLang="en-US" smtClean="0"/>
              <a:t>2024/6/6</a:t>
            </a:fld>
            <a:endParaRPr lang="zh-CN" altLang="en-US"/>
          </a:p>
        </p:txBody>
      </p:sp>
      <p:sp>
        <p:nvSpPr>
          <p:cNvPr id="7" name="Rectangle 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endParaRPr lang="zh-CN" altLang="en-US"/>
          </a:p>
        </p:txBody>
      </p:sp>
      <p:sp>
        <p:nvSpPr>
          <p:cNvPr id="8" name="Rectangle 10"/>
          <p:cNvSpPr>
            <a:spLocks noGrp="1" noChangeArrowheads="1"/>
          </p:cNvSpPr>
          <p:nvPr>
            <p:ph type="sldNum" sz="quarter" idx="12"/>
          </p:nvPr>
        </p:nvSpPr>
        <p:spPr>
          <a:ln/>
        </p:spPr>
        <p:txBody>
          <a:bodyPr/>
          <a:lstStyle>
            <a:lvl1pPr>
              <a:defRPr/>
            </a:lvl1pPr>
          </a:lstStyle>
          <a:p>
            <a:fld id="{176ACFD1-D213-4B9C-817B-45486DBF105A}" type="slidenum">
              <a:rPr lang="en-US" smtClean="0"/>
              <a:pPr/>
              <a:t>‹#›</a:t>
            </a:fld>
            <a:endParaRPr lang="en-US" dirty="0"/>
          </a:p>
        </p:txBody>
      </p:sp>
    </p:spTree>
    <p:extLst>
      <p:ext uri="{BB962C8B-B14F-4D97-AF65-F5344CB8AC3E}">
        <p14:creationId xmlns:p14="http://schemas.microsoft.com/office/powerpoint/2010/main" val="2620435413"/>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115888"/>
            <a:ext cx="5470525" cy="936625"/>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447800"/>
            <a:ext cx="4038600" cy="471646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4648200" y="1447800"/>
            <a:ext cx="4038600" cy="471646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Rectangle 4"/>
          <p:cNvSpPr>
            <a:spLocks noGrp="1" noChangeArrowheads="1"/>
          </p:cNvSpPr>
          <p:nvPr>
            <p:ph type="dt" sz="half" idx="10"/>
          </p:nvPr>
        </p:nvSpPr>
        <p:spPr>
          <a:ln/>
        </p:spPr>
        <p:txBody>
          <a:bodyPr/>
          <a:lstStyle>
            <a:lvl1pPr>
              <a:defRPr/>
            </a:lvl1pPr>
          </a:lstStyle>
          <a:p>
            <a:fld id="{8395DDAD-0EBC-418B-87E9-00E8050E5999}" type="datetimeFigureOut">
              <a:rPr lang="zh-CN" altLang="en-US" smtClean="0"/>
              <a:t>2024/6/6</a:t>
            </a:fld>
            <a:endParaRPr lang="zh-CN" altLang="en-US"/>
          </a:p>
        </p:txBody>
      </p:sp>
      <p:sp>
        <p:nvSpPr>
          <p:cNvPr id="6" name="Rectangle 6"/>
          <p:cNvSpPr>
            <a:spLocks noGrp="1" noChangeArrowheads="1"/>
          </p:cNvSpPr>
          <p:nvPr>
            <p:ph type="sldNum" sz="quarter" idx="11"/>
          </p:nvPr>
        </p:nvSpPr>
        <p:spPr>
          <a:ln/>
        </p:spPr>
        <p:txBody>
          <a:bodyPr/>
          <a:lstStyle>
            <a:lvl1pPr>
              <a:defRPr/>
            </a:lvl1pPr>
          </a:lstStyle>
          <a:p>
            <a:fld id="{176ACFD1-D213-4B9C-817B-45486DBF105A}" type="slidenum">
              <a:rPr lang="en-US" smtClean="0"/>
              <a:pPr/>
              <a:t>‹#›</a:t>
            </a:fld>
            <a:endParaRPr lang="en-US" dirty="0"/>
          </a:p>
        </p:txBody>
      </p:sp>
    </p:spTree>
    <p:extLst>
      <p:ext uri="{BB962C8B-B14F-4D97-AF65-F5344CB8AC3E}">
        <p14:creationId xmlns:p14="http://schemas.microsoft.com/office/powerpoint/2010/main" val="3188868787"/>
      </p:ext>
    </p:extLst>
  </p:cSld>
  <p:clrMapOvr>
    <a:masterClrMapping/>
  </p:clrMapOvr>
  <p:transition>
    <p:wipe dir="r"/>
  </p:transition>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136525"/>
            <a:ext cx="8229600" cy="1143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sp>
        <p:nvSpPr>
          <p:cNvPr id="1027" name="Rectangle 3"/>
          <p:cNvSpPr>
            <a:spLocks noGrp="1" noChangeArrowheads="1"/>
          </p:cNvSpPr>
          <p:nvPr>
            <p:ph type="body" idx="1"/>
          </p:nvPr>
        </p:nvSpPr>
        <p:spPr bwMode="auto">
          <a:xfrm>
            <a:off x="457200" y="1368552"/>
            <a:ext cx="8229600"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b="1">
                <a:ea typeface="黑体" panose="02010609060101010101" pitchFamily="49" charset="-122"/>
              </a:defRPr>
            </a:lvl1pPr>
          </a:lstStyle>
          <a:p>
            <a:fld id="{8395DDAD-0EBC-418B-87E9-00E8050E5999}" type="datetimeFigureOut">
              <a:rPr lang="zh-CN" altLang="en-US" smtClean="0"/>
              <a:t>2024/6/6</a:t>
            </a:fld>
            <a:endParaRPr lang="zh-CN" alt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b="1">
                <a:ea typeface="黑体" panose="02010609060101010101" pitchFamily="49" charset="-122"/>
              </a:defRPr>
            </a:lvl1pPr>
          </a:lstStyle>
          <a:p>
            <a:endParaRPr lang="zh-CN" alt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b="1">
                <a:ea typeface="黑体" panose="02010609060101010101" pitchFamily="49" charset="-122"/>
              </a:defRPr>
            </a:lvl1pPr>
          </a:lstStyle>
          <a:p>
            <a:fld id="{176ACFD1-D213-4B9C-817B-45486DBF105A}" type="slidenum">
              <a:rPr lang="en-US" smtClean="0"/>
              <a:pPr/>
              <a:t>‹#›</a:t>
            </a:fld>
            <a:endParaRPr lang="en-US" dirty="0"/>
          </a:p>
        </p:txBody>
      </p:sp>
      <p:grpSp>
        <p:nvGrpSpPr>
          <p:cNvPr id="1031" name="Group 7"/>
          <p:cNvGrpSpPr>
            <a:grpSpLocks/>
          </p:cNvGrpSpPr>
          <p:nvPr/>
        </p:nvGrpSpPr>
        <p:grpSpPr bwMode="auto">
          <a:xfrm>
            <a:off x="684213" y="1110456"/>
            <a:ext cx="8459787" cy="152400"/>
            <a:chOff x="431" y="799"/>
            <a:chExt cx="5329" cy="96"/>
          </a:xfrm>
        </p:grpSpPr>
        <p:sp>
          <p:nvSpPr>
            <p:cNvPr id="1032" name="Rectangle 8"/>
            <p:cNvSpPr>
              <a:spLocks noChangeArrowheads="1"/>
            </p:cNvSpPr>
            <p:nvPr/>
          </p:nvSpPr>
          <p:spPr bwMode="auto">
            <a:xfrm>
              <a:off x="431" y="799"/>
              <a:ext cx="1488" cy="96"/>
            </a:xfrm>
            <a:prstGeom prst="rect">
              <a:avLst/>
            </a:prstGeom>
            <a:solidFill>
              <a:srgbClr val="FF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dirty="0">
                <a:ea typeface="黑体" panose="02010609060101010101" pitchFamily="49" charset="-122"/>
              </a:endParaRPr>
            </a:p>
          </p:txBody>
        </p:sp>
        <p:sp>
          <p:nvSpPr>
            <p:cNvPr id="1033" name="Rectangle 9"/>
            <p:cNvSpPr>
              <a:spLocks noChangeArrowheads="1"/>
            </p:cNvSpPr>
            <p:nvPr/>
          </p:nvSpPr>
          <p:spPr bwMode="auto">
            <a:xfrm>
              <a:off x="1920" y="799"/>
              <a:ext cx="3840" cy="96"/>
            </a:xfrm>
            <a:prstGeom prst="rect">
              <a:avLst/>
            </a:prstGeom>
            <a:solidFill>
              <a:schemeClr val="accent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endParaRPr kumimoji="1" lang="zh-CN" altLang="zh-CN" sz="2400" b="1" dirty="0">
                <a:solidFill>
                  <a:schemeClr val="accent2"/>
                </a:solidFill>
                <a:latin typeface="Times New Roman" pitchFamily="18" charset="0"/>
                <a:ea typeface="黑体" panose="02010609060101010101" pitchFamily="49" charset="-122"/>
              </a:endParaRPr>
            </a:p>
          </p:txBody>
        </p:sp>
      </p:grpSp>
    </p:spTree>
    <p:extLst>
      <p:ext uri="{BB962C8B-B14F-4D97-AF65-F5344CB8AC3E}">
        <p14:creationId xmlns:p14="http://schemas.microsoft.com/office/powerpoint/2010/main" val="82760904"/>
      </p:ext>
    </p:extLst>
  </p:cSld>
  <p:clrMap bg1="lt1" tx1="dk1" bg2="lt2" tx2="dk2" accent1="accent1" accent2="accent2" accent3="accent3" accent4="accent4" accent5="accent5" accent6="accent6" hlink="hlink" folHlink="folHlink"/>
  <p:sldLayoutIdLst>
    <p:sldLayoutId id="2147484138" r:id="rId1"/>
    <p:sldLayoutId id="2147484139" r:id="rId2"/>
    <p:sldLayoutId id="2147484140" r:id="rId3"/>
    <p:sldLayoutId id="2147484141" r:id="rId4"/>
    <p:sldLayoutId id="2147484142" r:id="rId5"/>
    <p:sldLayoutId id="2147484143" r:id="rId6"/>
    <p:sldLayoutId id="2147484144" r:id="rId7"/>
    <p:sldLayoutId id="2147484145" r:id="rId8"/>
    <p:sldLayoutId id="2147484146" r:id="rId9"/>
    <p:sldLayoutId id="2147484147" r:id="rId10"/>
    <p:sldLayoutId id="2147484148" r:id="rId11"/>
    <p:sldLayoutId id="2147484150" r:id="rId12"/>
    <p:sldLayoutId id="2147484151" r:id="rId13"/>
    <p:sldLayoutId id="2147484152" r:id="rId14"/>
  </p:sldLayoutIdLst>
  <p:hf hdr="0" ftr="0" dt="0"/>
  <p:txStyles>
    <p:title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p:titleStyle>
    <p:bodyStyle>
      <a:lvl1pPr marL="342900" indent="-342900" algn="l" rtl="0" eaLnBrk="1" fontAlgn="base" hangingPunct="1">
        <a:spcBef>
          <a:spcPct val="20000"/>
        </a:spcBef>
        <a:spcAft>
          <a:spcPct val="0"/>
        </a:spcAft>
        <a:buChar char="•"/>
        <a:defRPr sz="3200" b="1">
          <a:solidFill>
            <a:schemeClr val="tx1"/>
          </a:solidFill>
          <a:latin typeface="+mn-lt"/>
          <a:ea typeface="黑体" panose="02010609060101010101" pitchFamily="49" charset="-122"/>
          <a:cs typeface="+mn-cs"/>
        </a:defRPr>
      </a:lvl1pPr>
      <a:lvl2pPr marL="742950" indent="-285750" algn="l" rtl="0" eaLnBrk="1" fontAlgn="base" hangingPunct="1">
        <a:spcBef>
          <a:spcPct val="20000"/>
        </a:spcBef>
        <a:spcAft>
          <a:spcPct val="0"/>
        </a:spcAft>
        <a:buChar char="–"/>
        <a:defRPr sz="2800" b="1">
          <a:solidFill>
            <a:schemeClr val="tx1"/>
          </a:solidFill>
          <a:latin typeface="+mn-lt"/>
          <a:ea typeface="黑体" panose="02010609060101010101" pitchFamily="49" charset="-122"/>
        </a:defRPr>
      </a:lvl2pPr>
      <a:lvl3pPr marL="1143000" indent="-228600" algn="l" rtl="0" eaLnBrk="1" fontAlgn="base" hangingPunct="1">
        <a:spcBef>
          <a:spcPct val="20000"/>
        </a:spcBef>
        <a:spcAft>
          <a:spcPct val="0"/>
        </a:spcAft>
        <a:buChar char="•"/>
        <a:defRPr sz="2400" b="1">
          <a:solidFill>
            <a:schemeClr val="tx1"/>
          </a:solidFill>
          <a:latin typeface="+mn-lt"/>
          <a:ea typeface="黑体" panose="02010609060101010101" pitchFamily="49" charset="-122"/>
        </a:defRPr>
      </a:lvl3pPr>
      <a:lvl4pPr marL="1600200" indent="-228600" algn="l" rtl="0" eaLnBrk="1" fontAlgn="base" hangingPunct="1">
        <a:spcBef>
          <a:spcPct val="20000"/>
        </a:spcBef>
        <a:spcAft>
          <a:spcPct val="0"/>
        </a:spcAft>
        <a:buChar char="–"/>
        <a:defRPr sz="2000" b="1">
          <a:solidFill>
            <a:schemeClr val="tx1"/>
          </a:solidFill>
          <a:latin typeface="+mn-lt"/>
          <a:ea typeface="黑体" panose="02010609060101010101" pitchFamily="49" charset="-122"/>
        </a:defRPr>
      </a:lvl4pPr>
      <a:lvl5pPr marL="2057400" indent="-228600" algn="l" rtl="0" eaLnBrk="1" fontAlgn="base" hangingPunct="1">
        <a:spcBef>
          <a:spcPct val="20000"/>
        </a:spcBef>
        <a:spcAft>
          <a:spcPct val="0"/>
        </a:spcAft>
        <a:buChar char="»"/>
        <a:defRPr sz="2000" b="1">
          <a:solidFill>
            <a:schemeClr val="tx1"/>
          </a:solidFill>
          <a:latin typeface="+mn-lt"/>
          <a:ea typeface="黑体" panose="02010609060101010101" pitchFamily="49" charset="-122"/>
        </a:defRPr>
      </a:lvl5pPr>
      <a:lvl6pPr marL="2514600" indent="-228600" algn="l" rtl="0" eaLnBrk="1" fontAlgn="base" hangingPunct="1">
        <a:spcBef>
          <a:spcPct val="20000"/>
        </a:spcBef>
        <a:spcAft>
          <a:spcPct val="0"/>
        </a:spcAft>
        <a:buChar char="»"/>
        <a:defRPr sz="2000" b="1">
          <a:solidFill>
            <a:schemeClr val="tx1"/>
          </a:solidFill>
          <a:latin typeface="+mn-lt"/>
          <a:ea typeface="+mn-ea"/>
        </a:defRPr>
      </a:lvl6pPr>
      <a:lvl7pPr marL="2971800" indent="-228600" algn="l" rtl="0" eaLnBrk="1" fontAlgn="base" hangingPunct="1">
        <a:spcBef>
          <a:spcPct val="20000"/>
        </a:spcBef>
        <a:spcAft>
          <a:spcPct val="0"/>
        </a:spcAft>
        <a:buChar char="»"/>
        <a:defRPr sz="2000" b="1">
          <a:solidFill>
            <a:schemeClr val="tx1"/>
          </a:solidFill>
          <a:latin typeface="+mn-lt"/>
          <a:ea typeface="+mn-ea"/>
        </a:defRPr>
      </a:lvl7pPr>
      <a:lvl8pPr marL="3429000" indent="-228600" algn="l" rtl="0" eaLnBrk="1" fontAlgn="base" hangingPunct="1">
        <a:spcBef>
          <a:spcPct val="20000"/>
        </a:spcBef>
        <a:spcAft>
          <a:spcPct val="0"/>
        </a:spcAft>
        <a:buChar char="»"/>
        <a:defRPr sz="2000" b="1">
          <a:solidFill>
            <a:schemeClr val="tx1"/>
          </a:solidFill>
          <a:latin typeface="+mn-lt"/>
          <a:ea typeface="+mn-ea"/>
        </a:defRPr>
      </a:lvl8pPr>
      <a:lvl9pPr marL="3886200" indent="-228600" algn="l" rtl="0" eaLnBrk="1" fontAlgn="base" hangingPunct="1">
        <a:spcBef>
          <a:spcPct val="20000"/>
        </a:spcBef>
        <a:spcAft>
          <a:spcPct val="0"/>
        </a:spcAft>
        <a:buChar char="»"/>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xueqingli@tsinghua.edu.c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4.xml"/><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39.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6.xml"/><Relationship Id="rId1" Type="http://schemas.openxmlformats.org/officeDocument/2006/relationships/slideLayout" Target="../slideLayouts/slideLayout7.xml"/><Relationship Id="rId4" Type="http://schemas.openxmlformats.org/officeDocument/2006/relationships/image" Target="../media/image9.svg"/></Relationships>
</file>

<file path=ppt/slides/_rels/slide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7.xml"/><Relationship Id="rId1" Type="http://schemas.openxmlformats.org/officeDocument/2006/relationships/slideLayout" Target="../slideLayouts/slideLayout7.xml"/><Relationship Id="rId4" Type="http://schemas.openxmlformats.org/officeDocument/2006/relationships/image" Target="../media/image9.svg"/></Relationships>
</file>

<file path=ppt/slides/_rels/slide4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8.xml"/><Relationship Id="rId1" Type="http://schemas.openxmlformats.org/officeDocument/2006/relationships/slideLayout" Target="../slideLayouts/slideLayout7.xml"/><Relationship Id="rId4" Type="http://schemas.openxmlformats.org/officeDocument/2006/relationships/image" Target="../media/image9.sv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0.xml"/><Relationship Id="rId1" Type="http://schemas.openxmlformats.org/officeDocument/2006/relationships/slideLayout" Target="../slideLayouts/slideLayout7.xml"/><Relationship Id="rId4" Type="http://schemas.openxmlformats.org/officeDocument/2006/relationships/image" Target="../media/image9.svg"/></Relationships>
</file>

<file path=ppt/slides/_rels/slide4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1.xml"/><Relationship Id="rId1" Type="http://schemas.openxmlformats.org/officeDocument/2006/relationships/slideLayout" Target="../slideLayouts/slideLayout7.xml"/><Relationship Id="rId4" Type="http://schemas.openxmlformats.org/officeDocument/2006/relationships/image" Target="../media/image9.sv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3.xml"/><Relationship Id="rId1" Type="http://schemas.openxmlformats.org/officeDocument/2006/relationships/slideLayout" Target="../slideLayouts/slideLayout7.xml"/><Relationship Id="rId4" Type="http://schemas.openxmlformats.org/officeDocument/2006/relationships/image" Target="../media/image11.svg"/></Relationships>
</file>

<file path=ppt/slides/_rels/slide4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4.xml"/><Relationship Id="rId1" Type="http://schemas.openxmlformats.org/officeDocument/2006/relationships/slideLayout" Target="../slideLayouts/slideLayout7.xml"/><Relationship Id="rId4" Type="http://schemas.openxmlformats.org/officeDocument/2006/relationships/image" Target="../media/image11.sv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customXml" Target="../ink/ink3.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46.xml"/><Relationship Id="rId1" Type="http://schemas.openxmlformats.org/officeDocument/2006/relationships/slideLayout" Target="../slideLayouts/slideLayout7.xml"/><Relationship Id="rId4" Type="http://schemas.openxmlformats.org/officeDocument/2006/relationships/image" Target="../media/image12.wmf"/></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customXml" Target="../ink/ink4.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customXml" Target="../ink/ink5.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9.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0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image" Target="../media/image24.png"/></Relationships>
</file>

<file path=ppt/slides/_rels/slide107.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27.png"/><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16.xml"/><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14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17.xml"/><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18.xml"/><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19.xml"/><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20.xml"/><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9"/>
          <p:cNvSpPr>
            <a:spLocks noChangeArrowheads="1"/>
          </p:cNvSpPr>
          <p:nvPr/>
        </p:nvSpPr>
        <p:spPr bwMode="gray">
          <a:xfrm>
            <a:off x="0" y="3296363"/>
            <a:ext cx="9143999" cy="2799637"/>
          </a:xfrm>
          <a:prstGeom prst="rect">
            <a:avLst/>
          </a:prstGeom>
          <a:noFill/>
          <a:ln w="9525">
            <a:noFill/>
            <a:miter lim="800000"/>
            <a:headEnd/>
            <a:tailEnd/>
          </a:ln>
        </p:spPr>
        <p:txBody>
          <a:bodyPr/>
          <a:lstStyle/>
          <a:p>
            <a:pPr algn="ctr">
              <a:spcBef>
                <a:spcPct val="20000"/>
              </a:spcBef>
              <a:buClr>
                <a:schemeClr val="hlink"/>
              </a:buClr>
              <a:buFont typeface="Wingdings" pitchFamily="2" charset="2"/>
              <a:buNone/>
            </a:pPr>
            <a:r>
              <a:rPr lang="zh-CN" altLang="en-US" sz="3600" b="0" dirty="0">
                <a:solidFill>
                  <a:schemeClr val="tx1"/>
                </a:solidFill>
                <a:latin typeface="+mn-lt"/>
                <a:ea typeface="黑体" pitchFamily="2" charset="-122"/>
              </a:rPr>
              <a:t>李学清</a:t>
            </a:r>
            <a:endParaRPr lang="en-US" altLang="zh-CN" sz="3600" b="0" dirty="0">
              <a:solidFill>
                <a:schemeClr val="tx1"/>
              </a:solidFill>
              <a:latin typeface="+mn-lt"/>
              <a:ea typeface="黑体" pitchFamily="2" charset="-122"/>
            </a:endParaRPr>
          </a:p>
          <a:p>
            <a:pPr algn="ctr">
              <a:spcBef>
                <a:spcPct val="20000"/>
              </a:spcBef>
              <a:buClr>
                <a:schemeClr val="hlink"/>
              </a:buClr>
            </a:pPr>
            <a:r>
              <a:rPr lang="en-US" altLang="zh-CN" sz="2400" b="0" dirty="0">
                <a:solidFill>
                  <a:schemeClr val="tx1"/>
                </a:solidFill>
                <a:latin typeface="+mn-lt"/>
                <a:ea typeface="黑体" panose="02010609060101010101" pitchFamily="49" charset="-122"/>
                <a:hlinkClick r:id="rId3">
                  <a:extLst>
                    <a:ext uri="{A12FA001-AC4F-418D-AE19-62706E023703}">
                      <ahyp:hlinkClr xmlns:ahyp="http://schemas.microsoft.com/office/drawing/2018/hyperlinkcolor" val="tx"/>
                    </a:ext>
                  </a:extLst>
                </a:hlinkClick>
              </a:rPr>
              <a:t>xueqingli@tsinghua.edu.cn</a:t>
            </a:r>
            <a:endParaRPr lang="en-US" altLang="zh-CN" sz="2400" b="0" dirty="0">
              <a:solidFill>
                <a:schemeClr val="tx1"/>
              </a:solidFill>
              <a:latin typeface="+mn-lt"/>
              <a:ea typeface="黑体" panose="02010609060101010101" pitchFamily="49" charset="-122"/>
            </a:endParaRPr>
          </a:p>
          <a:p>
            <a:pPr algn="ctr">
              <a:spcBef>
                <a:spcPct val="20000"/>
              </a:spcBef>
              <a:buClr>
                <a:schemeClr val="hlink"/>
              </a:buClr>
            </a:pPr>
            <a:endParaRPr lang="en-US" altLang="zh-CN" sz="2000" b="0" dirty="0">
              <a:solidFill>
                <a:schemeClr val="tx1"/>
              </a:solidFill>
              <a:latin typeface="+mn-lt"/>
              <a:ea typeface="黑体" pitchFamily="2" charset="-122"/>
            </a:endParaRPr>
          </a:p>
          <a:p>
            <a:pPr algn="ctr">
              <a:spcBef>
                <a:spcPct val="20000"/>
              </a:spcBef>
              <a:buClr>
                <a:schemeClr val="hlink"/>
              </a:buClr>
              <a:buFont typeface="Wingdings" pitchFamily="2" charset="2"/>
              <a:buNone/>
            </a:pPr>
            <a:r>
              <a:rPr lang="en-US" altLang="zh-CN" sz="2800" b="0" dirty="0">
                <a:solidFill>
                  <a:schemeClr val="tx1"/>
                </a:solidFill>
                <a:latin typeface="+mn-lt"/>
                <a:ea typeface="黑体" pitchFamily="2" charset="-122"/>
              </a:rPr>
              <a:t>#</a:t>
            </a:r>
            <a:r>
              <a:rPr lang="zh-CN" altLang="en-US" sz="2800" b="0" dirty="0">
                <a:solidFill>
                  <a:schemeClr val="tx1"/>
                </a:solidFill>
                <a:latin typeface="+mn-lt"/>
                <a:ea typeface="黑体" pitchFamily="2" charset="-122"/>
              </a:rPr>
              <a:t>腾讯会议：</a:t>
            </a:r>
            <a:r>
              <a:rPr lang="en-US" altLang="zh-CN" sz="2800" b="0" dirty="0">
                <a:solidFill>
                  <a:schemeClr val="tx1"/>
                </a:solidFill>
                <a:latin typeface="+mn-lt"/>
                <a:ea typeface="黑体" pitchFamily="2" charset="-122"/>
              </a:rPr>
              <a:t>858-8541-2550</a:t>
            </a:r>
            <a:endParaRPr lang="zh-CN" altLang="en-US" sz="2800" b="0" dirty="0">
              <a:solidFill>
                <a:schemeClr val="tx1"/>
              </a:solidFill>
              <a:latin typeface="+mn-lt"/>
              <a:ea typeface="黑体" pitchFamily="2" charset="-122"/>
            </a:endParaRPr>
          </a:p>
          <a:p>
            <a:pPr algn="ctr">
              <a:spcBef>
                <a:spcPct val="20000"/>
              </a:spcBef>
              <a:buClr>
                <a:schemeClr val="hlink"/>
              </a:buClr>
            </a:pPr>
            <a:r>
              <a:rPr lang="en-US" altLang="zh-CN" sz="2800" b="0" dirty="0">
                <a:solidFill>
                  <a:schemeClr val="tx1"/>
                </a:solidFill>
                <a:latin typeface="+mn-lt"/>
                <a:ea typeface="黑体" pitchFamily="2" charset="-122"/>
              </a:rPr>
              <a:t>2024</a:t>
            </a:r>
            <a:r>
              <a:rPr lang="zh-CN" altLang="en-US" sz="2800" b="0" dirty="0">
                <a:solidFill>
                  <a:schemeClr val="tx1"/>
                </a:solidFill>
                <a:latin typeface="+mn-lt"/>
                <a:ea typeface="黑体" pitchFamily="2" charset="-122"/>
              </a:rPr>
              <a:t>年</a:t>
            </a:r>
            <a:r>
              <a:rPr lang="en-US" altLang="zh-CN" sz="2800" b="0" dirty="0">
                <a:solidFill>
                  <a:schemeClr val="tx1"/>
                </a:solidFill>
                <a:latin typeface="+mn-lt"/>
                <a:ea typeface="黑体" pitchFamily="2" charset="-122"/>
              </a:rPr>
              <a:t>4</a:t>
            </a:r>
            <a:r>
              <a:rPr lang="zh-CN" altLang="en-US" sz="2800" b="0" dirty="0">
                <a:solidFill>
                  <a:schemeClr val="tx1"/>
                </a:solidFill>
                <a:latin typeface="+mn-lt"/>
                <a:ea typeface="黑体" pitchFamily="2" charset="-122"/>
              </a:rPr>
              <a:t>月</a:t>
            </a:r>
            <a:r>
              <a:rPr lang="en-US" altLang="zh-CN" sz="2800" b="0" dirty="0">
                <a:solidFill>
                  <a:schemeClr val="tx1"/>
                </a:solidFill>
                <a:latin typeface="+mn-lt"/>
                <a:ea typeface="黑体" pitchFamily="2" charset="-122"/>
              </a:rPr>
              <a:t>2</a:t>
            </a:r>
            <a:r>
              <a:rPr lang="zh-CN" altLang="en-US" sz="2800" b="0" dirty="0">
                <a:solidFill>
                  <a:schemeClr val="tx1"/>
                </a:solidFill>
                <a:latin typeface="+mn-lt"/>
                <a:ea typeface="黑体" pitchFamily="2" charset="-122"/>
              </a:rPr>
              <a:t>日</a:t>
            </a:r>
            <a:endParaRPr lang="en-US" sz="2000" b="0" dirty="0">
              <a:solidFill>
                <a:schemeClr val="tx1"/>
              </a:solidFill>
              <a:latin typeface="+mn-lt"/>
              <a:ea typeface="黑体" pitchFamily="2" charset="-122"/>
            </a:endParaRPr>
          </a:p>
        </p:txBody>
      </p:sp>
      <p:sp>
        <p:nvSpPr>
          <p:cNvPr id="6" name="Rectangle 16">
            <a:extLst>
              <a:ext uri="{FF2B5EF4-FFF2-40B4-BE49-F238E27FC236}">
                <a16:creationId xmlns:a16="http://schemas.microsoft.com/office/drawing/2014/main" id="{6F8B39B3-1E39-0D5B-29D3-FDD831CD57A8}"/>
              </a:ext>
            </a:extLst>
          </p:cNvPr>
          <p:cNvSpPr>
            <a:spLocks noChangeArrowheads="1"/>
          </p:cNvSpPr>
          <p:nvPr/>
        </p:nvSpPr>
        <p:spPr bwMode="auto">
          <a:xfrm>
            <a:off x="0" y="12357"/>
            <a:ext cx="9144000" cy="13420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lstStyle/>
          <a:p>
            <a:pPr algn="ctr"/>
            <a:r>
              <a:rPr lang="zh-CN" altLang="en-US" sz="3600" b="0" dirty="0">
                <a:solidFill>
                  <a:schemeClr val="tx2"/>
                </a:solidFill>
                <a:latin typeface="SimHei" panose="02010609060101010101" pitchFamily="49" charset="-122"/>
                <a:ea typeface="SimHei" panose="02010609060101010101" pitchFamily="49" charset="-122"/>
              </a:rPr>
              <a:t>数字逻辑与处理器基础</a:t>
            </a:r>
            <a:endParaRPr lang="en-US" altLang="zh-CN" sz="3600" b="0" dirty="0">
              <a:solidFill>
                <a:schemeClr val="tx2"/>
              </a:solidFill>
              <a:latin typeface="SimHei" panose="02010609060101010101" pitchFamily="49" charset="-122"/>
              <a:ea typeface="SimHei" panose="02010609060101010101" pitchFamily="49" charset="-122"/>
            </a:endParaRPr>
          </a:p>
          <a:p>
            <a:pPr algn="ctr"/>
            <a:r>
              <a:rPr lang="en-US" altLang="zh-CN" sz="2000" b="0" dirty="0">
                <a:solidFill>
                  <a:schemeClr val="tx2"/>
                </a:solidFill>
                <a:latin typeface="Arial" panose="020B0604020202020204" pitchFamily="34" charset="0"/>
                <a:ea typeface="SimHei" panose="02010609060101010101" pitchFamily="49" charset="-122"/>
                <a:cs typeface="Arial" panose="020B0604020202020204" pitchFamily="34" charset="0"/>
              </a:rPr>
              <a:t>Fundamentals of Digital Logic and Processor</a:t>
            </a:r>
            <a:endParaRPr lang="zh-CN" altLang="en-US" sz="2000" b="0" dirty="0">
              <a:solidFill>
                <a:schemeClr val="tx2"/>
              </a:solidFill>
              <a:latin typeface="Arial" panose="020B0604020202020204" pitchFamily="34" charset="0"/>
              <a:ea typeface="SimHei" panose="02010609060101010101" pitchFamily="49" charset="-122"/>
              <a:cs typeface="Arial" panose="020B0604020202020204" pitchFamily="34" charset="0"/>
            </a:endParaRPr>
          </a:p>
        </p:txBody>
      </p:sp>
      <p:sp>
        <p:nvSpPr>
          <p:cNvPr id="7" name="Rectangle 16">
            <a:extLst>
              <a:ext uri="{FF2B5EF4-FFF2-40B4-BE49-F238E27FC236}">
                <a16:creationId xmlns:a16="http://schemas.microsoft.com/office/drawing/2014/main" id="{2ACB6101-4051-0C2F-3839-B0275EB3515C}"/>
              </a:ext>
            </a:extLst>
          </p:cNvPr>
          <p:cNvSpPr>
            <a:spLocks noChangeArrowheads="1"/>
          </p:cNvSpPr>
          <p:nvPr/>
        </p:nvSpPr>
        <p:spPr bwMode="auto">
          <a:xfrm>
            <a:off x="0" y="1484784"/>
            <a:ext cx="9144000" cy="211740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lstStyle/>
          <a:p>
            <a:pPr algn="ctr"/>
            <a:r>
              <a:rPr lang="zh-CN" altLang="en-US" sz="4800" dirty="0">
                <a:solidFill>
                  <a:schemeClr val="tx2"/>
                </a:solidFill>
                <a:latin typeface="+mn-lt"/>
                <a:ea typeface="SimHei" panose="02010609060101010101" pitchFamily="49" charset="-122"/>
              </a:rPr>
              <a:t>第五讲</a:t>
            </a:r>
            <a:r>
              <a:rPr lang="zh-CN" altLang="en-US" sz="4800" dirty="0">
                <a:solidFill>
                  <a:schemeClr val="tx2"/>
                </a:solidFill>
                <a:latin typeface="+mj-ea"/>
                <a:ea typeface="+mj-ea"/>
              </a:rPr>
              <a:t> </a:t>
            </a:r>
            <a:r>
              <a:rPr lang="zh-CN" altLang="en-US" sz="4800" dirty="0">
                <a:solidFill>
                  <a:schemeClr val="tx2"/>
                </a:solidFill>
                <a:latin typeface="+mn-lt"/>
                <a:ea typeface="SimHei" panose="02010609060101010101" pitchFamily="49" charset="-122"/>
              </a:rPr>
              <a:t>计算机指令集系统 </a:t>
            </a:r>
            <a:r>
              <a:rPr lang="en-US" altLang="zh-CN" sz="4800" dirty="0">
                <a:solidFill>
                  <a:schemeClr val="tx2"/>
                </a:solidFill>
                <a:latin typeface="+mn-lt"/>
                <a:ea typeface="SimHei" panose="02010609060101010101" pitchFamily="49" charset="-122"/>
              </a:rPr>
              <a:t>(2/2)</a:t>
            </a:r>
          </a:p>
        </p:txBody>
      </p:sp>
    </p:spTree>
    <p:extLst>
      <p:ext uri="{BB962C8B-B14F-4D97-AF65-F5344CB8AC3E}">
        <p14:creationId xmlns:p14="http://schemas.microsoft.com/office/powerpoint/2010/main" val="26822483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7">
            <a:extLst>
              <a:ext uri="{FF2B5EF4-FFF2-40B4-BE49-F238E27FC236}">
                <a16:creationId xmlns:a16="http://schemas.microsoft.com/office/drawing/2014/main" id="{138525E9-0DA6-45A1-9B12-31B6C3EB11CB}"/>
              </a:ext>
            </a:extLst>
          </p:cNvPr>
          <p:cNvSpPr>
            <a:spLocks noGrp="1"/>
          </p:cNvSpPr>
          <p:nvPr>
            <p:ph type="sldNum" sz="quarter" idx="12"/>
          </p:nvPr>
        </p:nvSpPr>
        <p:spPr/>
        <p:txBody>
          <a:bodyPr/>
          <a:lstStyle/>
          <a:p>
            <a:fld id="{176ACFD1-D213-4B9C-817B-45486DBF105A}" type="slidenum">
              <a:rPr lang="en-US" smtClean="0">
                <a:solidFill>
                  <a:prstClr val="black"/>
                </a:solidFill>
              </a:rPr>
              <a:pPr/>
              <a:t>2</a:t>
            </a:fld>
            <a:endParaRPr lang="en-US">
              <a:solidFill>
                <a:prstClr val="black"/>
              </a:solidFill>
            </a:endParaRPr>
          </a:p>
        </p:txBody>
      </p:sp>
      <p:sp>
        <p:nvSpPr>
          <p:cNvPr id="6" name="Content Placeholder 5">
            <a:extLst>
              <a:ext uri="{FF2B5EF4-FFF2-40B4-BE49-F238E27FC236}">
                <a16:creationId xmlns:a16="http://schemas.microsoft.com/office/drawing/2014/main" id="{1558EEBF-DB67-F748-BA5F-FBF1266F2751}"/>
              </a:ext>
            </a:extLst>
          </p:cNvPr>
          <p:cNvSpPr>
            <a:spLocks noGrp="1"/>
          </p:cNvSpPr>
          <p:nvPr>
            <p:ph idx="4294967295"/>
          </p:nvPr>
        </p:nvSpPr>
        <p:spPr>
          <a:xfrm>
            <a:off x="457200" y="1281600"/>
            <a:ext cx="8229600" cy="5245324"/>
          </a:xfrm>
        </p:spPr>
        <p:txBody>
          <a:bodyPr>
            <a:normAutofit fontScale="92500" lnSpcReduction="20000"/>
          </a:bodyPr>
          <a:lstStyle/>
          <a:p>
            <a:pPr>
              <a:lnSpc>
                <a:spcPct val="150000"/>
              </a:lnSpc>
            </a:pPr>
            <a:r>
              <a:rPr lang="zh-CN" altLang="en-US" sz="2800" dirty="0"/>
              <a:t>汇编大作业（</a:t>
            </a:r>
            <a:r>
              <a:rPr lang="en-US" altLang="zh-CN" sz="2800" dirty="0"/>
              <a:t>4</a:t>
            </a:r>
            <a:r>
              <a:rPr lang="zh-CN" altLang="en-US" sz="2800" dirty="0"/>
              <a:t>月</a:t>
            </a:r>
            <a:r>
              <a:rPr lang="en-US" altLang="zh-CN" sz="2800" dirty="0"/>
              <a:t>10</a:t>
            </a:r>
            <a:r>
              <a:rPr lang="zh-CN" altLang="en-US" sz="2800" dirty="0"/>
              <a:t>日发布，见网络学堂）</a:t>
            </a:r>
            <a:endParaRPr lang="en-US" altLang="zh-CN" sz="2800" dirty="0"/>
          </a:p>
          <a:p>
            <a:pPr lvl="1">
              <a:lnSpc>
                <a:spcPct val="150000"/>
              </a:lnSpc>
            </a:pPr>
            <a:r>
              <a:rPr lang="en-US" altLang="zh-CN" sz="2400" b="1" dirty="0">
                <a:solidFill>
                  <a:srgbClr val="0432FF"/>
                </a:solidFill>
                <a:latin typeface="Arial" panose="020B0604020202020204" pitchFamily="34" charset="0"/>
                <a:cs typeface="Arial" panose="020B0604020202020204" pitchFamily="34" charset="0"/>
              </a:rPr>
              <a:t>DDL: 23:59, 5</a:t>
            </a:r>
            <a:r>
              <a:rPr lang="zh-CN" altLang="en-US" sz="2400" b="1" dirty="0">
                <a:solidFill>
                  <a:srgbClr val="0432FF"/>
                </a:solidFill>
                <a:latin typeface="Arial" panose="020B0604020202020204" pitchFamily="34" charset="0"/>
                <a:cs typeface="Arial" panose="020B0604020202020204" pitchFamily="34" charset="0"/>
              </a:rPr>
              <a:t>月</a:t>
            </a:r>
            <a:r>
              <a:rPr lang="en-US" altLang="zh-CN" sz="2400" b="1" dirty="0">
                <a:solidFill>
                  <a:srgbClr val="0432FF"/>
                </a:solidFill>
                <a:latin typeface="Arial" panose="020B0604020202020204" pitchFamily="34" charset="0"/>
                <a:cs typeface="Arial" panose="020B0604020202020204" pitchFamily="34" charset="0"/>
              </a:rPr>
              <a:t>8</a:t>
            </a:r>
            <a:r>
              <a:rPr lang="zh-CN" altLang="en-US" sz="2400" b="1" dirty="0">
                <a:solidFill>
                  <a:srgbClr val="0432FF"/>
                </a:solidFill>
                <a:latin typeface="Arial" panose="020B0604020202020204" pitchFamily="34" charset="0"/>
                <a:cs typeface="Arial" panose="020B0604020202020204" pitchFamily="34" charset="0"/>
              </a:rPr>
              <a:t>日</a:t>
            </a:r>
            <a:endParaRPr lang="en-US" altLang="zh-CN" sz="2400" b="1" dirty="0">
              <a:solidFill>
                <a:srgbClr val="0432FF"/>
              </a:solidFill>
              <a:latin typeface="Arial" panose="020B0604020202020204" pitchFamily="34" charset="0"/>
              <a:cs typeface="Arial" panose="020B0604020202020204" pitchFamily="34" charset="0"/>
            </a:endParaRPr>
          </a:p>
          <a:p>
            <a:pPr lvl="1">
              <a:lnSpc>
                <a:spcPct val="150000"/>
              </a:lnSpc>
            </a:pPr>
            <a:r>
              <a:rPr lang="zh-CN" altLang="en-US" sz="2400" dirty="0"/>
              <a:t>不要抄袭或迟交</a:t>
            </a:r>
            <a:endParaRPr lang="en-US" altLang="zh-CN" sz="2400" dirty="0"/>
          </a:p>
          <a:p>
            <a:pPr lvl="1">
              <a:lnSpc>
                <a:spcPct val="150000"/>
              </a:lnSpc>
            </a:pPr>
            <a:r>
              <a:rPr lang="zh-CN" altLang="en-US" sz="2400" dirty="0"/>
              <a:t>按照说明文档要求，电子版提交网络学堂</a:t>
            </a:r>
            <a:endParaRPr lang="en-US" altLang="zh-CN" sz="2400" dirty="0"/>
          </a:p>
          <a:p>
            <a:pPr>
              <a:lnSpc>
                <a:spcPct val="150000"/>
              </a:lnSpc>
            </a:pPr>
            <a:r>
              <a:rPr lang="zh-CN" altLang="en-US" sz="2800" dirty="0"/>
              <a:t>第二次习题课</a:t>
            </a:r>
            <a:endParaRPr lang="en-US" altLang="zh-CN" sz="2800" dirty="0"/>
          </a:p>
          <a:p>
            <a:pPr lvl="1">
              <a:lnSpc>
                <a:spcPct val="150000"/>
              </a:lnSpc>
            </a:pPr>
            <a:r>
              <a:rPr lang="zh-CN" altLang="en-US" sz="2400" dirty="0"/>
              <a:t>时间：</a:t>
            </a:r>
            <a:r>
              <a:rPr lang="en-US" altLang="zh-CN" sz="2400" dirty="0"/>
              <a:t>4</a:t>
            </a:r>
            <a:r>
              <a:rPr lang="zh-CN" altLang="en-US" sz="2400" dirty="0"/>
              <a:t>月</a:t>
            </a:r>
            <a:r>
              <a:rPr lang="en-US" altLang="zh-CN" sz="2400" dirty="0"/>
              <a:t>13</a:t>
            </a:r>
            <a:r>
              <a:rPr lang="zh-CN" altLang="en-US" sz="2400" dirty="0"/>
              <a:t>日（周六）</a:t>
            </a:r>
            <a:r>
              <a:rPr lang="en-US" altLang="zh-CN" sz="2400" dirty="0"/>
              <a:t>19:00 – 21:00</a:t>
            </a:r>
          </a:p>
          <a:p>
            <a:pPr lvl="1">
              <a:lnSpc>
                <a:spcPct val="150000"/>
              </a:lnSpc>
            </a:pPr>
            <a:r>
              <a:rPr lang="zh-CN" altLang="en-US" sz="2400" dirty="0"/>
              <a:t>地点：系馆</a:t>
            </a:r>
            <a:r>
              <a:rPr lang="en-US" altLang="zh-CN" sz="2400" dirty="0"/>
              <a:t>3</a:t>
            </a:r>
            <a:r>
              <a:rPr lang="zh-CN" altLang="en-US" sz="2400" dirty="0"/>
              <a:t>层报告厅</a:t>
            </a:r>
            <a:endParaRPr lang="en-US" altLang="zh-CN" sz="2400" dirty="0"/>
          </a:p>
          <a:p>
            <a:pPr lvl="1">
              <a:lnSpc>
                <a:spcPct val="150000"/>
              </a:lnSpc>
            </a:pPr>
            <a:r>
              <a:rPr lang="zh-CN" altLang="en-US" sz="2400" dirty="0"/>
              <a:t>内容：时序逻辑回顾与部分习题讲解，汇编编程基础、</a:t>
            </a:r>
            <a:r>
              <a:rPr lang="en-US" altLang="zh-CN" sz="2400" dirty="0"/>
              <a:t>MARS</a:t>
            </a:r>
            <a:r>
              <a:rPr lang="zh-CN" altLang="en-US" sz="2400" dirty="0"/>
              <a:t>使用与大作业要求</a:t>
            </a:r>
            <a:endParaRPr lang="en-US" altLang="zh-CN" sz="2400" dirty="0"/>
          </a:p>
          <a:p>
            <a:pPr lvl="1">
              <a:lnSpc>
                <a:spcPct val="150000"/>
              </a:lnSpc>
            </a:pPr>
            <a:r>
              <a:rPr kumimoji="1" lang="zh-CN" altLang="en-US" sz="2400" dirty="0"/>
              <a:t>课后进行答疑，录屏将上传至网络学堂</a:t>
            </a:r>
            <a:endParaRPr kumimoji="1" lang="en-US" altLang="zh-CN" sz="2400" dirty="0"/>
          </a:p>
          <a:p>
            <a:pPr lvl="1">
              <a:lnSpc>
                <a:spcPct val="150000"/>
              </a:lnSpc>
            </a:pPr>
            <a:endParaRPr lang="en-US" altLang="zh-CN" sz="2400" dirty="0"/>
          </a:p>
          <a:p>
            <a:pPr lvl="1">
              <a:lnSpc>
                <a:spcPct val="150000"/>
              </a:lnSpc>
            </a:pPr>
            <a:endParaRPr lang="en-US" altLang="zh-CN" sz="2400" dirty="0"/>
          </a:p>
        </p:txBody>
      </p:sp>
      <p:sp>
        <p:nvSpPr>
          <p:cNvPr id="3" name="Title 4">
            <a:extLst>
              <a:ext uri="{FF2B5EF4-FFF2-40B4-BE49-F238E27FC236}">
                <a16:creationId xmlns:a16="http://schemas.microsoft.com/office/drawing/2014/main" id="{784E148B-E34F-8994-B439-621D2902D526}"/>
              </a:ext>
            </a:extLst>
          </p:cNvPr>
          <p:cNvSpPr txBox="1">
            <a:spLocks/>
          </p:cNvSpPr>
          <p:nvPr/>
        </p:nvSpPr>
        <p:spPr bwMode="auto">
          <a:xfrm>
            <a:off x="457200" y="136800"/>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sz="4000" dirty="0">
                <a:latin typeface="+mj-ea"/>
                <a:ea typeface="+mj-ea"/>
              </a:rPr>
              <a:t>汇编大作业</a:t>
            </a:r>
            <a:r>
              <a:rPr lang="zh-CN" altLang="en-US" dirty="0">
                <a:latin typeface="+mj-ea"/>
                <a:ea typeface="+mj-ea"/>
              </a:rPr>
              <a:t>与第二次习题课</a:t>
            </a:r>
            <a:endParaRPr lang="en-CN" kern="0" dirty="0"/>
          </a:p>
        </p:txBody>
      </p:sp>
    </p:spTree>
    <p:extLst>
      <p:ext uri="{BB962C8B-B14F-4D97-AF65-F5344CB8AC3E}">
        <p14:creationId xmlns:p14="http://schemas.microsoft.com/office/powerpoint/2010/main" val="30087407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7">
            <a:extLst>
              <a:ext uri="{FF2B5EF4-FFF2-40B4-BE49-F238E27FC236}">
                <a16:creationId xmlns:a16="http://schemas.microsoft.com/office/drawing/2014/main" id="{138525E9-0DA6-45A1-9B12-31B6C3EB11CB}"/>
              </a:ext>
            </a:extLst>
          </p:cNvPr>
          <p:cNvSpPr>
            <a:spLocks noGrp="1"/>
          </p:cNvSpPr>
          <p:nvPr>
            <p:ph type="sldNum" sz="quarter" idx="12"/>
          </p:nvPr>
        </p:nvSpPr>
        <p:spPr/>
        <p:txBody>
          <a:bodyPr/>
          <a:lstStyle/>
          <a:p>
            <a:fld id="{176ACFD1-D213-4B9C-817B-45486DBF105A}" type="slidenum">
              <a:rPr lang="en-US" smtClean="0">
                <a:solidFill>
                  <a:prstClr val="black"/>
                </a:solidFill>
              </a:rPr>
              <a:pPr/>
              <a:t>3</a:t>
            </a:fld>
            <a:endParaRPr lang="en-US">
              <a:solidFill>
                <a:prstClr val="black"/>
              </a:solidFill>
            </a:endParaRPr>
          </a:p>
        </p:txBody>
      </p:sp>
      <p:sp>
        <p:nvSpPr>
          <p:cNvPr id="6" name="Content Placeholder 5">
            <a:extLst>
              <a:ext uri="{FF2B5EF4-FFF2-40B4-BE49-F238E27FC236}">
                <a16:creationId xmlns:a16="http://schemas.microsoft.com/office/drawing/2014/main" id="{1558EEBF-DB67-F748-BA5F-FBF1266F2751}"/>
              </a:ext>
            </a:extLst>
          </p:cNvPr>
          <p:cNvSpPr>
            <a:spLocks noGrp="1"/>
          </p:cNvSpPr>
          <p:nvPr>
            <p:ph idx="4294967295"/>
          </p:nvPr>
        </p:nvSpPr>
        <p:spPr>
          <a:xfrm>
            <a:off x="457199" y="1222999"/>
            <a:ext cx="8476593" cy="5303925"/>
          </a:xfrm>
        </p:spPr>
        <p:txBody>
          <a:bodyPr>
            <a:normAutofit fontScale="85000" lnSpcReduction="10000"/>
          </a:bodyPr>
          <a:lstStyle/>
          <a:p>
            <a:pPr>
              <a:lnSpc>
                <a:spcPct val="150000"/>
              </a:lnSpc>
            </a:pPr>
            <a:r>
              <a:rPr lang="zh-CN" altLang="en-US" sz="2700" b="1" dirty="0">
                <a:solidFill>
                  <a:srgbClr val="0432FF"/>
                </a:solidFill>
              </a:rPr>
              <a:t>时间：</a:t>
            </a:r>
            <a:r>
              <a:rPr lang="en-US" altLang="zh-CN" sz="2700" b="1" dirty="0">
                <a:solidFill>
                  <a:srgbClr val="0432FF"/>
                </a:solidFill>
              </a:rPr>
              <a:t>4</a:t>
            </a:r>
            <a:r>
              <a:rPr lang="zh-CN" altLang="en-US" sz="2700" b="1" dirty="0">
                <a:solidFill>
                  <a:srgbClr val="0432FF"/>
                </a:solidFill>
              </a:rPr>
              <a:t>月</a:t>
            </a:r>
            <a:r>
              <a:rPr lang="en-US" altLang="zh-CN" sz="2700" b="1" dirty="0">
                <a:solidFill>
                  <a:srgbClr val="0432FF"/>
                </a:solidFill>
              </a:rPr>
              <a:t>21</a:t>
            </a:r>
            <a:r>
              <a:rPr lang="zh-CN" altLang="en-US" sz="2700" b="1" dirty="0">
                <a:solidFill>
                  <a:srgbClr val="0432FF"/>
                </a:solidFill>
              </a:rPr>
              <a:t>日（周日）上午</a:t>
            </a:r>
            <a:r>
              <a:rPr lang="en-US" altLang="zh-CN" sz="2700" b="1" dirty="0">
                <a:solidFill>
                  <a:srgbClr val="0432FF"/>
                </a:solidFill>
              </a:rPr>
              <a:t>9:00 – 11:00</a:t>
            </a:r>
          </a:p>
          <a:p>
            <a:pPr>
              <a:lnSpc>
                <a:spcPct val="150000"/>
              </a:lnSpc>
            </a:pPr>
            <a:r>
              <a:rPr lang="zh-CN" altLang="en-US" sz="2700" dirty="0"/>
              <a:t>地点：</a:t>
            </a:r>
            <a:r>
              <a:rPr lang="en-US" altLang="zh-CN" sz="2700" dirty="0"/>
              <a:t>TBD</a:t>
            </a:r>
          </a:p>
          <a:p>
            <a:pPr>
              <a:lnSpc>
                <a:spcPct val="150000"/>
              </a:lnSpc>
            </a:pPr>
            <a:r>
              <a:rPr lang="zh-CN" altLang="en-US" sz="2700" dirty="0"/>
              <a:t>范围：数字逻辑部分</a:t>
            </a:r>
            <a:endParaRPr lang="en-US" altLang="zh-CN" sz="2700" dirty="0"/>
          </a:p>
          <a:p>
            <a:pPr lvl="1">
              <a:lnSpc>
                <a:spcPct val="150000"/>
              </a:lnSpc>
            </a:pPr>
            <a:r>
              <a:rPr lang="zh-CN" altLang="en-US" sz="2300" dirty="0"/>
              <a:t>数的表示与布尔函数，组合逻辑，时序逻辑</a:t>
            </a:r>
            <a:endParaRPr lang="en-US" altLang="zh-CN" sz="2300" dirty="0"/>
          </a:p>
          <a:p>
            <a:pPr lvl="1">
              <a:lnSpc>
                <a:spcPct val="150000"/>
              </a:lnSpc>
            </a:pPr>
            <a:r>
              <a:rPr lang="zh-CN" altLang="en-US" sz="2400" b="1" dirty="0">
                <a:solidFill>
                  <a:srgbClr val="0432FF"/>
                </a:solidFill>
              </a:rPr>
              <a:t>不包括</a:t>
            </a:r>
            <a:r>
              <a:rPr lang="zh-CN" altLang="en-US" sz="2400" dirty="0"/>
              <a:t>指令系统和微处理器</a:t>
            </a:r>
            <a:endParaRPr lang="en-US" altLang="zh-CN" sz="2400" dirty="0"/>
          </a:p>
          <a:p>
            <a:pPr>
              <a:lnSpc>
                <a:spcPct val="150000"/>
              </a:lnSpc>
            </a:pPr>
            <a:r>
              <a:rPr lang="zh-CN" altLang="en-US" sz="2700" dirty="0"/>
              <a:t>如有时间冲突，请课下</a:t>
            </a:r>
            <a:r>
              <a:rPr lang="zh-CN" altLang="en-US" sz="2700" b="1" dirty="0">
                <a:solidFill>
                  <a:srgbClr val="0432FF"/>
                </a:solidFill>
              </a:rPr>
              <a:t>立即</a:t>
            </a:r>
            <a:r>
              <a:rPr lang="zh-CN" altLang="en-US" sz="2700" dirty="0"/>
              <a:t>联系助教，并</a:t>
            </a:r>
            <a:r>
              <a:rPr lang="en-US" altLang="zh-CN" sz="2700" dirty="0"/>
              <a:t>email</a:t>
            </a:r>
            <a:r>
              <a:rPr lang="zh-CN" altLang="en-US" sz="2700" dirty="0"/>
              <a:t>抄送任课老师</a:t>
            </a:r>
            <a:endParaRPr lang="en-US" altLang="zh-CN" sz="2700" dirty="0"/>
          </a:p>
          <a:p>
            <a:pPr lvl="1">
              <a:lnSpc>
                <a:spcPct val="150000"/>
              </a:lnSpc>
            </a:pPr>
            <a:r>
              <a:rPr lang="en-US" altLang="zh-CN" sz="2400" dirty="0"/>
              <a:t>xueqingli@tsinghua.edu.cn</a:t>
            </a:r>
          </a:p>
          <a:p>
            <a:pPr>
              <a:lnSpc>
                <a:spcPct val="150000"/>
              </a:lnSpc>
            </a:pPr>
            <a:r>
              <a:rPr lang="zh-CN" altLang="en-US" sz="2700" dirty="0"/>
              <a:t>期中考试考前答疑安排</a:t>
            </a:r>
            <a:endParaRPr lang="en-US" altLang="zh-CN" sz="2700" dirty="0"/>
          </a:p>
          <a:p>
            <a:pPr lvl="1">
              <a:lnSpc>
                <a:spcPct val="150000"/>
              </a:lnSpc>
            </a:pPr>
            <a:r>
              <a:rPr lang="en-US" altLang="zh-CN" sz="2400" dirty="0"/>
              <a:t>4</a:t>
            </a:r>
            <a:r>
              <a:rPr lang="zh-CN" altLang="en-US" sz="2400" dirty="0"/>
              <a:t>月</a:t>
            </a:r>
            <a:r>
              <a:rPr lang="en-US" altLang="zh-CN" sz="2400" dirty="0"/>
              <a:t>13</a:t>
            </a:r>
            <a:r>
              <a:rPr lang="zh-CN" altLang="en-US" sz="2400" dirty="0"/>
              <a:t>日（周六）</a:t>
            </a:r>
            <a:r>
              <a:rPr lang="en-US" altLang="zh-CN" sz="2400" dirty="0"/>
              <a:t>19:00 – 21:00</a:t>
            </a:r>
            <a:r>
              <a:rPr lang="zh-CN" altLang="en-US" sz="2400" dirty="0"/>
              <a:t>，习题课后，系馆</a:t>
            </a:r>
            <a:r>
              <a:rPr lang="en-US" altLang="zh-CN" sz="2400" dirty="0"/>
              <a:t>3</a:t>
            </a:r>
            <a:r>
              <a:rPr lang="zh-CN" altLang="en-US" sz="2400" dirty="0"/>
              <a:t>层报告厅</a:t>
            </a:r>
            <a:endParaRPr lang="en-US" altLang="zh-CN" sz="2400" dirty="0"/>
          </a:p>
          <a:p>
            <a:pPr lvl="1">
              <a:lnSpc>
                <a:spcPct val="150000"/>
              </a:lnSpc>
            </a:pPr>
            <a:r>
              <a:rPr lang="en-US" altLang="zh-CN" sz="2400" dirty="0"/>
              <a:t>4</a:t>
            </a:r>
            <a:r>
              <a:rPr lang="zh-CN" altLang="en-US" sz="2400" dirty="0"/>
              <a:t>月</a:t>
            </a:r>
            <a:r>
              <a:rPr lang="en-US" altLang="zh-CN" sz="2400" dirty="0"/>
              <a:t>20</a:t>
            </a:r>
            <a:r>
              <a:rPr lang="zh-CN" altLang="en-US" sz="2400" dirty="0"/>
              <a:t>日（周六）</a:t>
            </a:r>
            <a:r>
              <a:rPr lang="en-US" altLang="zh-CN" sz="2400" dirty="0"/>
              <a:t>19:00 – 21:00</a:t>
            </a:r>
            <a:r>
              <a:rPr lang="zh-CN" altLang="en-US" sz="2400" dirty="0"/>
              <a:t>，系馆</a:t>
            </a:r>
            <a:r>
              <a:rPr lang="en-US" altLang="zh-CN" sz="2400" dirty="0"/>
              <a:t>8-208</a:t>
            </a:r>
          </a:p>
        </p:txBody>
      </p:sp>
      <p:sp>
        <p:nvSpPr>
          <p:cNvPr id="2" name="Title 4">
            <a:extLst>
              <a:ext uri="{FF2B5EF4-FFF2-40B4-BE49-F238E27FC236}">
                <a16:creationId xmlns:a16="http://schemas.microsoft.com/office/drawing/2014/main" id="{5CD07AE4-58F6-ACA8-B3FB-E477A268DE99}"/>
              </a:ext>
            </a:extLst>
          </p:cNvPr>
          <p:cNvSpPr txBox="1">
            <a:spLocks/>
          </p:cNvSpPr>
          <p:nvPr/>
        </p:nvSpPr>
        <p:spPr bwMode="auto">
          <a:xfrm>
            <a:off x="457200" y="136800"/>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sz="4000" dirty="0">
                <a:latin typeface="+mj-ea"/>
                <a:ea typeface="+mj-ea"/>
              </a:rPr>
              <a:t>期中考试</a:t>
            </a:r>
            <a:endParaRPr lang="en-CN" kern="0" dirty="0"/>
          </a:p>
        </p:txBody>
      </p:sp>
    </p:spTree>
    <p:extLst>
      <p:ext uri="{BB962C8B-B14F-4D97-AF65-F5344CB8AC3E}">
        <p14:creationId xmlns:p14="http://schemas.microsoft.com/office/powerpoint/2010/main" val="21587008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7">
            <a:extLst>
              <a:ext uri="{FF2B5EF4-FFF2-40B4-BE49-F238E27FC236}">
                <a16:creationId xmlns:a16="http://schemas.microsoft.com/office/drawing/2014/main" id="{138525E9-0DA6-45A1-9B12-31B6C3EB11CB}"/>
              </a:ext>
            </a:extLst>
          </p:cNvPr>
          <p:cNvSpPr>
            <a:spLocks noGrp="1"/>
          </p:cNvSpPr>
          <p:nvPr>
            <p:ph type="sldNum" sz="quarter" idx="12"/>
          </p:nvPr>
        </p:nvSpPr>
        <p:spPr/>
        <p:txBody>
          <a:bodyPr/>
          <a:lstStyle/>
          <a:p>
            <a:fld id="{176ACFD1-D213-4B9C-817B-45486DBF105A}" type="slidenum">
              <a:rPr lang="en-US" smtClean="0">
                <a:solidFill>
                  <a:prstClr val="black"/>
                </a:solidFill>
              </a:rPr>
              <a:pPr/>
              <a:t>4</a:t>
            </a:fld>
            <a:endParaRPr lang="en-US">
              <a:solidFill>
                <a:prstClr val="black"/>
              </a:solidFill>
            </a:endParaRPr>
          </a:p>
        </p:txBody>
      </p:sp>
      <p:sp>
        <p:nvSpPr>
          <p:cNvPr id="6" name="Content Placeholder 5">
            <a:extLst>
              <a:ext uri="{FF2B5EF4-FFF2-40B4-BE49-F238E27FC236}">
                <a16:creationId xmlns:a16="http://schemas.microsoft.com/office/drawing/2014/main" id="{1558EEBF-DB67-F748-BA5F-FBF1266F2751}"/>
              </a:ext>
            </a:extLst>
          </p:cNvPr>
          <p:cNvSpPr>
            <a:spLocks noGrp="1"/>
          </p:cNvSpPr>
          <p:nvPr>
            <p:ph idx="4294967295"/>
          </p:nvPr>
        </p:nvSpPr>
        <p:spPr>
          <a:xfrm>
            <a:off x="457200" y="1281600"/>
            <a:ext cx="8229600" cy="5765800"/>
          </a:xfrm>
        </p:spPr>
        <p:txBody>
          <a:bodyPr>
            <a:normAutofit/>
          </a:bodyPr>
          <a:lstStyle/>
          <a:p>
            <a:pPr>
              <a:lnSpc>
                <a:spcPct val="150000"/>
              </a:lnSpc>
            </a:pPr>
            <a:r>
              <a:rPr lang="zh-CN" altLang="en-US" sz="2800" dirty="0"/>
              <a:t>教材第</a:t>
            </a:r>
            <a:r>
              <a:rPr lang="en-US" altLang="zh-CN" sz="2800" dirty="0"/>
              <a:t>5</a:t>
            </a:r>
            <a:r>
              <a:rPr lang="zh-CN" altLang="en-US" sz="2800" dirty="0"/>
              <a:t>章习题</a:t>
            </a:r>
            <a:r>
              <a:rPr lang="en-US" altLang="zh-CN" sz="2800" dirty="0"/>
              <a:t>4</a:t>
            </a:r>
            <a:r>
              <a:rPr lang="zh-CN" altLang="en-US" sz="2800" dirty="0"/>
              <a:t>，</a:t>
            </a:r>
            <a:r>
              <a:rPr lang="en-US" altLang="zh-CN" sz="2800" dirty="0"/>
              <a:t>5</a:t>
            </a:r>
            <a:r>
              <a:rPr lang="zh-CN" altLang="en-US" sz="2800" dirty="0"/>
              <a:t>，</a:t>
            </a:r>
            <a:r>
              <a:rPr lang="en-US" altLang="zh-CN" sz="2800" dirty="0"/>
              <a:t>8</a:t>
            </a:r>
            <a:r>
              <a:rPr lang="zh-CN" altLang="en-US" sz="2800" dirty="0"/>
              <a:t>，</a:t>
            </a:r>
            <a:r>
              <a:rPr lang="en-US" altLang="zh-CN" sz="2800" dirty="0"/>
              <a:t>15</a:t>
            </a:r>
            <a:r>
              <a:rPr lang="zh-CN" altLang="en-US" sz="2800" dirty="0"/>
              <a:t>，</a:t>
            </a:r>
            <a:r>
              <a:rPr lang="en-US" altLang="zh-CN" sz="2800" dirty="0"/>
              <a:t>16</a:t>
            </a:r>
          </a:p>
          <a:p>
            <a:pPr lvl="1">
              <a:lnSpc>
                <a:spcPct val="150000"/>
              </a:lnSpc>
            </a:pPr>
            <a:r>
              <a:rPr lang="zh-CN" altLang="en-US" sz="2400" b="1" dirty="0">
                <a:solidFill>
                  <a:srgbClr val="0432FF"/>
                </a:solidFill>
              </a:rPr>
              <a:t>不要求提交</a:t>
            </a:r>
            <a:endParaRPr lang="en-US" altLang="zh-CN" sz="2400" b="1" dirty="0">
              <a:solidFill>
                <a:srgbClr val="0432FF"/>
              </a:solidFill>
            </a:endParaRPr>
          </a:p>
          <a:p>
            <a:pPr lvl="1">
              <a:lnSpc>
                <a:spcPct val="150000"/>
              </a:lnSpc>
            </a:pPr>
            <a:r>
              <a:rPr lang="zh-CN" altLang="en-US" sz="2400" dirty="0"/>
              <a:t>答案会一起上传到网络学堂</a:t>
            </a:r>
            <a:endParaRPr lang="en-US" altLang="zh-CN" sz="2400" dirty="0"/>
          </a:p>
        </p:txBody>
      </p:sp>
      <p:sp>
        <p:nvSpPr>
          <p:cNvPr id="3" name="Title 4">
            <a:extLst>
              <a:ext uri="{FF2B5EF4-FFF2-40B4-BE49-F238E27FC236}">
                <a16:creationId xmlns:a16="http://schemas.microsoft.com/office/drawing/2014/main" id="{782F492B-747B-B921-3ABC-D8A5737BB8BA}"/>
              </a:ext>
            </a:extLst>
          </p:cNvPr>
          <p:cNvSpPr txBox="1">
            <a:spLocks/>
          </p:cNvSpPr>
          <p:nvPr/>
        </p:nvSpPr>
        <p:spPr bwMode="auto">
          <a:xfrm>
            <a:off x="457200" y="136800"/>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sz="4000" dirty="0">
                <a:latin typeface="+mj-ea"/>
                <a:ea typeface="+mj-ea"/>
              </a:rPr>
              <a:t>小作业</a:t>
            </a:r>
            <a:endParaRPr lang="en-CN" kern="0" dirty="0"/>
          </a:p>
        </p:txBody>
      </p:sp>
    </p:spTree>
    <p:extLst>
      <p:ext uri="{BB962C8B-B14F-4D97-AF65-F5344CB8AC3E}">
        <p14:creationId xmlns:p14="http://schemas.microsoft.com/office/powerpoint/2010/main" val="8663545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1A3E4BD5-B927-CB43-8F65-DD2648EBCD40}"/>
              </a:ext>
            </a:extLst>
          </p:cNvPr>
          <p:cNvSpPr>
            <a:spLocks noGrp="1"/>
          </p:cNvSpPr>
          <p:nvPr>
            <p:ph type="sldNum" sz="quarter" idx="12"/>
          </p:nvPr>
        </p:nvSpPr>
        <p:spPr/>
        <p:txBody>
          <a:bodyPr/>
          <a:lstStyle/>
          <a:p>
            <a:fld id="{176ACFD1-D213-4B9C-817B-45486DBF105A}" type="slidenum">
              <a:rPr lang="en-US" smtClean="0">
                <a:solidFill>
                  <a:prstClr val="black"/>
                </a:solidFill>
              </a:rPr>
              <a:pPr/>
              <a:t>5</a:t>
            </a:fld>
            <a:endParaRPr lang="en-US">
              <a:solidFill>
                <a:prstClr val="black"/>
              </a:solidFill>
            </a:endParaRPr>
          </a:p>
        </p:txBody>
      </p:sp>
      <p:cxnSp>
        <p:nvCxnSpPr>
          <p:cNvPr id="16" name="Straight Connector 15">
            <a:extLst>
              <a:ext uri="{FF2B5EF4-FFF2-40B4-BE49-F238E27FC236}">
                <a16:creationId xmlns:a16="http://schemas.microsoft.com/office/drawing/2014/main" id="{0921A072-E7F7-460A-8CDA-1F33B6B9FE37}"/>
              </a:ext>
            </a:extLst>
          </p:cNvPr>
          <p:cNvCxnSpPr>
            <a:cxnSpLocks/>
          </p:cNvCxnSpPr>
          <p:nvPr/>
        </p:nvCxnSpPr>
        <p:spPr>
          <a:xfrm flipV="1">
            <a:off x="799408" y="3826306"/>
            <a:ext cx="0" cy="639149"/>
          </a:xfrm>
          <a:prstGeom prst="line">
            <a:avLst/>
          </a:prstGeom>
          <a:ln w="38100" cap="rnd">
            <a:solidFill>
              <a:schemeClr val="accent1">
                <a:lumMod val="75000"/>
              </a:schemeClr>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8CC1EAB-A398-495E-B820-5463D7961843}"/>
              </a:ext>
            </a:extLst>
          </p:cNvPr>
          <p:cNvCxnSpPr>
            <a:cxnSpLocks/>
          </p:cNvCxnSpPr>
          <p:nvPr/>
        </p:nvCxnSpPr>
        <p:spPr>
          <a:xfrm>
            <a:off x="806009" y="5033328"/>
            <a:ext cx="0" cy="981040"/>
          </a:xfrm>
          <a:prstGeom prst="line">
            <a:avLst/>
          </a:prstGeom>
          <a:ln w="38100" cap="rnd">
            <a:solidFill>
              <a:schemeClr val="accent1">
                <a:lumMod val="75000"/>
              </a:schemeClr>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201B781-19FA-4DB6-8601-5232956DD816}"/>
              </a:ext>
            </a:extLst>
          </p:cNvPr>
          <p:cNvCxnSpPr>
            <a:cxnSpLocks/>
          </p:cNvCxnSpPr>
          <p:nvPr/>
        </p:nvCxnSpPr>
        <p:spPr>
          <a:xfrm flipH="1" flipV="1">
            <a:off x="803741" y="1498239"/>
            <a:ext cx="6843" cy="971820"/>
          </a:xfrm>
          <a:prstGeom prst="line">
            <a:avLst/>
          </a:prstGeom>
          <a:ln w="38100" cap="rnd">
            <a:solidFill>
              <a:schemeClr val="accent1">
                <a:lumMod val="75000"/>
              </a:schemeClr>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9" name="Straight Connector 21">
            <a:extLst>
              <a:ext uri="{FF2B5EF4-FFF2-40B4-BE49-F238E27FC236}">
                <a16:creationId xmlns:a16="http://schemas.microsoft.com/office/drawing/2014/main" id="{EA88E30F-39ED-47A2-B237-ACC2C6B2048C}"/>
              </a:ext>
            </a:extLst>
          </p:cNvPr>
          <p:cNvCxnSpPr>
            <a:cxnSpLocks/>
          </p:cNvCxnSpPr>
          <p:nvPr/>
        </p:nvCxnSpPr>
        <p:spPr>
          <a:xfrm>
            <a:off x="356943" y="3826306"/>
            <a:ext cx="1227927" cy="0"/>
          </a:xfrm>
          <a:prstGeom prst="line">
            <a:avLst/>
          </a:prstGeom>
          <a:ln w="38100" cap="rnd">
            <a:solidFill>
              <a:srgbClr val="C00000"/>
            </a:solidFill>
          </a:ln>
        </p:spPr>
        <p:style>
          <a:lnRef idx="1">
            <a:schemeClr val="accent1"/>
          </a:lnRef>
          <a:fillRef idx="0">
            <a:schemeClr val="accent1"/>
          </a:fillRef>
          <a:effectRef idx="0">
            <a:schemeClr val="accent1"/>
          </a:effectRef>
          <a:fontRef idx="minor">
            <a:schemeClr val="tx1"/>
          </a:fontRef>
        </p:style>
      </p:cxnSp>
      <p:graphicFrame>
        <p:nvGraphicFramePr>
          <p:cNvPr id="20" name="Table 9">
            <a:extLst>
              <a:ext uri="{FF2B5EF4-FFF2-40B4-BE49-F238E27FC236}">
                <a16:creationId xmlns:a16="http://schemas.microsoft.com/office/drawing/2014/main" id="{52807708-A919-4E61-A0DD-DF1CB0390A36}"/>
              </a:ext>
            </a:extLst>
          </p:cNvPr>
          <p:cNvGraphicFramePr>
            <a:graphicFrameLocks/>
          </p:cNvGraphicFramePr>
          <p:nvPr>
            <p:extLst>
              <p:ext uri="{D42A27DB-BD31-4B8C-83A1-F6EECF244321}">
                <p14:modId xmlns:p14="http://schemas.microsoft.com/office/powerpoint/2010/main" val="4023378058"/>
              </p:ext>
            </p:extLst>
          </p:nvPr>
        </p:nvGraphicFramePr>
        <p:xfrm>
          <a:off x="1505722" y="1498237"/>
          <a:ext cx="2537550" cy="4660776"/>
        </p:xfrm>
        <a:graphic>
          <a:graphicData uri="http://schemas.openxmlformats.org/drawingml/2006/table">
            <a:tbl>
              <a:tblPr firstRow="1" bandRow="1">
                <a:tableStyleId>{073A0DAA-6AF3-43AB-8588-CEC1D06C72B9}</a:tableStyleId>
              </a:tblPr>
              <a:tblGrid>
                <a:gridCol w="2537550">
                  <a:extLst>
                    <a:ext uri="{9D8B030D-6E8A-4147-A177-3AD203B41FA5}">
                      <a16:colId xmlns:a16="http://schemas.microsoft.com/office/drawing/2014/main" val="1946283791"/>
                    </a:ext>
                  </a:extLst>
                </a:gridCol>
              </a:tblGrid>
              <a:tr h="517864">
                <a:tc>
                  <a:txBody>
                    <a:bodyPr/>
                    <a:lstStyle/>
                    <a:p>
                      <a:pPr algn="ctr"/>
                      <a:r>
                        <a:rPr lang="zh-CN" altLang="en-US" sz="2000" b="1" dirty="0">
                          <a:solidFill>
                            <a:schemeClr val="tx1"/>
                          </a:solidFill>
                          <a:latin typeface="+mj-ea"/>
                          <a:ea typeface="+mj-ea"/>
                        </a:rPr>
                        <a:t>应用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86554620"/>
                  </a:ext>
                </a:extLst>
              </a:tr>
              <a:tr h="517864">
                <a:tc>
                  <a:txBody>
                    <a:bodyPr/>
                    <a:lstStyle/>
                    <a:p>
                      <a:pPr algn="ctr"/>
                      <a:r>
                        <a:rPr lang="zh-CN" altLang="en-US" sz="2000" b="1" dirty="0">
                          <a:solidFill>
                            <a:schemeClr val="tx1"/>
                          </a:solidFill>
                          <a:latin typeface="+mj-ea"/>
                          <a:ea typeface="+mj-ea"/>
                        </a:rPr>
                        <a:t>算法</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23496159"/>
                  </a:ext>
                </a:extLst>
              </a:tr>
              <a:tr h="517864">
                <a:tc>
                  <a:txBody>
                    <a:bodyPr/>
                    <a:lstStyle/>
                    <a:p>
                      <a:pPr algn="ctr"/>
                      <a:r>
                        <a:rPr lang="zh-CN" altLang="en-US" sz="2000" b="1" dirty="0">
                          <a:solidFill>
                            <a:schemeClr val="tx1"/>
                          </a:solidFill>
                          <a:latin typeface="+mj-ea"/>
                          <a:ea typeface="+mj-ea"/>
                        </a:rPr>
                        <a:t>操作系统</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8177615"/>
                  </a:ext>
                </a:extLst>
              </a:tr>
              <a:tr h="517864">
                <a:tc>
                  <a:txBody>
                    <a:bodyPr/>
                    <a:lstStyle/>
                    <a:p>
                      <a:pPr algn="ctr"/>
                      <a:r>
                        <a:rPr lang="zh-CN" altLang="en-US" sz="2000" b="1" dirty="0">
                          <a:solidFill>
                            <a:schemeClr val="tx1"/>
                          </a:solidFill>
                          <a:latin typeface="+mj-ea"/>
                          <a:ea typeface="+mj-ea"/>
                        </a:rPr>
                        <a:t>编译器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32005890"/>
                  </a:ext>
                </a:extLst>
              </a:tr>
              <a:tr h="517864">
                <a:tc>
                  <a:txBody>
                    <a:bodyPr/>
                    <a:lstStyle/>
                    <a:p>
                      <a:pPr algn="ctr"/>
                      <a:r>
                        <a:rPr lang="zh-CN" altLang="en-US" sz="2000" b="1" dirty="0">
                          <a:solidFill>
                            <a:srgbClr val="0432FF"/>
                          </a:solidFill>
                          <a:latin typeface="+mj-ea"/>
                          <a:ea typeface="+mj-ea"/>
                        </a:rPr>
                        <a:t>计算机指令系统</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800806289"/>
                  </a:ext>
                </a:extLst>
              </a:tr>
              <a:tr h="517864">
                <a:tc>
                  <a:txBody>
                    <a:bodyPr/>
                    <a:lstStyle/>
                    <a:p>
                      <a:pPr algn="ctr"/>
                      <a:r>
                        <a:rPr lang="zh-CN" altLang="en-US" sz="2000" b="1" dirty="0">
                          <a:solidFill>
                            <a:schemeClr val="tx1"/>
                          </a:solidFill>
                          <a:latin typeface="+mj-ea"/>
                          <a:ea typeface="+mj-ea"/>
                        </a:rPr>
                        <a:t>微体系结构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26812972"/>
                  </a:ext>
                </a:extLst>
              </a:tr>
              <a:tr h="517864">
                <a:tc>
                  <a:txBody>
                    <a:bodyPr/>
                    <a:lstStyle/>
                    <a:p>
                      <a:pPr algn="ctr"/>
                      <a:r>
                        <a:rPr lang="en-US" altLang="zh-CN" sz="2000" b="1" dirty="0">
                          <a:solidFill>
                            <a:schemeClr val="tx1"/>
                          </a:solidFill>
                          <a:latin typeface="+mj-ea"/>
                          <a:ea typeface="+mj-ea"/>
                        </a:rPr>
                        <a:t>CPU/DSP/…</a:t>
                      </a:r>
                      <a:endParaRPr lang="zh-CN" altLang="en-US" sz="2000" b="1" dirty="0">
                        <a:solidFill>
                          <a:schemeClr val="tx1"/>
                        </a:solidFill>
                        <a:latin typeface="+mj-ea"/>
                        <a:ea typeface="+mj-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7467303"/>
                  </a:ext>
                </a:extLst>
              </a:tr>
              <a:tr h="517864">
                <a:tc>
                  <a:txBody>
                    <a:bodyPr/>
                    <a:lstStyle/>
                    <a:p>
                      <a:pPr algn="ctr"/>
                      <a:r>
                        <a:rPr lang="zh-CN" altLang="en-US" sz="2000" b="1" dirty="0">
                          <a:solidFill>
                            <a:schemeClr val="tx1"/>
                          </a:solidFill>
                          <a:latin typeface="+mj-ea"/>
                          <a:ea typeface="+mj-ea"/>
                        </a:rPr>
                        <a:t>电路</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19204186"/>
                  </a:ext>
                </a:extLst>
              </a:tr>
              <a:tr h="517864">
                <a:tc>
                  <a:txBody>
                    <a:bodyPr/>
                    <a:lstStyle/>
                    <a:p>
                      <a:pPr algn="ctr"/>
                      <a:r>
                        <a:rPr lang="zh-CN" altLang="en-US" sz="2000" b="1" dirty="0">
                          <a:solidFill>
                            <a:schemeClr val="tx1"/>
                          </a:solidFill>
                          <a:latin typeface="+mj-ea"/>
                          <a:ea typeface="+mj-ea"/>
                        </a:rPr>
                        <a:t>器件</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32963798"/>
                  </a:ext>
                </a:extLst>
              </a:tr>
            </a:tbl>
          </a:graphicData>
        </a:graphic>
      </p:graphicFrame>
      <p:sp>
        <p:nvSpPr>
          <p:cNvPr id="21" name="TextBox 25">
            <a:extLst>
              <a:ext uri="{FF2B5EF4-FFF2-40B4-BE49-F238E27FC236}">
                <a16:creationId xmlns:a16="http://schemas.microsoft.com/office/drawing/2014/main" id="{CE921038-380C-462D-8759-1D8F7FD316C6}"/>
              </a:ext>
            </a:extLst>
          </p:cNvPr>
          <p:cNvSpPr txBox="1"/>
          <p:nvPr/>
        </p:nvSpPr>
        <p:spPr>
          <a:xfrm>
            <a:off x="1912722" y="6147495"/>
            <a:ext cx="1723550" cy="461665"/>
          </a:xfrm>
          <a:prstGeom prst="rect">
            <a:avLst/>
          </a:prstGeom>
          <a:noFill/>
        </p:spPr>
        <p:txBody>
          <a:bodyPr wrap="none" rtlCol="0">
            <a:spAutoFit/>
          </a:bodyPr>
          <a:lstStyle/>
          <a:p>
            <a:r>
              <a:rPr lang="zh-CN" altLang="en-US" sz="2400" dirty="0">
                <a:solidFill>
                  <a:schemeClr val="tx1"/>
                </a:solidFill>
                <a:latin typeface="+mj-ea"/>
                <a:ea typeface="+mj-ea"/>
              </a:rPr>
              <a:t>计算机系统</a:t>
            </a:r>
          </a:p>
        </p:txBody>
      </p:sp>
      <p:cxnSp>
        <p:nvCxnSpPr>
          <p:cNvPr id="22" name="Straight Connector 26">
            <a:extLst>
              <a:ext uri="{FF2B5EF4-FFF2-40B4-BE49-F238E27FC236}">
                <a16:creationId xmlns:a16="http://schemas.microsoft.com/office/drawing/2014/main" id="{D9648051-9A30-43AB-B9F8-96D81F2207CB}"/>
              </a:ext>
            </a:extLst>
          </p:cNvPr>
          <p:cNvCxnSpPr>
            <a:cxnSpLocks/>
          </p:cNvCxnSpPr>
          <p:nvPr/>
        </p:nvCxnSpPr>
        <p:spPr>
          <a:xfrm>
            <a:off x="799408" y="3054374"/>
            <a:ext cx="0" cy="771932"/>
          </a:xfrm>
          <a:prstGeom prst="line">
            <a:avLst/>
          </a:prstGeom>
          <a:ln w="38100" cap="rnd">
            <a:solidFill>
              <a:schemeClr val="accent1">
                <a:lumMod val="75000"/>
              </a:schemeClr>
            </a:solidFill>
            <a:tailEnd type="triangle" w="med" len="lg"/>
          </a:ln>
        </p:spPr>
        <p:style>
          <a:lnRef idx="1">
            <a:schemeClr val="accent1"/>
          </a:lnRef>
          <a:fillRef idx="0">
            <a:schemeClr val="accent1"/>
          </a:fillRef>
          <a:effectRef idx="0">
            <a:schemeClr val="accent1"/>
          </a:effectRef>
          <a:fontRef idx="minor">
            <a:schemeClr val="tx1"/>
          </a:fontRef>
        </p:style>
      </p:cxnSp>
      <p:sp>
        <p:nvSpPr>
          <p:cNvPr id="23" name="TextBox 28">
            <a:extLst>
              <a:ext uri="{FF2B5EF4-FFF2-40B4-BE49-F238E27FC236}">
                <a16:creationId xmlns:a16="http://schemas.microsoft.com/office/drawing/2014/main" id="{BE731097-E7F9-4EBE-9269-4CD4F0A4BCD3}"/>
              </a:ext>
            </a:extLst>
          </p:cNvPr>
          <p:cNvSpPr txBox="1"/>
          <p:nvPr/>
        </p:nvSpPr>
        <p:spPr>
          <a:xfrm>
            <a:off x="461770" y="2584718"/>
            <a:ext cx="697627" cy="400110"/>
          </a:xfrm>
          <a:prstGeom prst="rect">
            <a:avLst/>
          </a:prstGeom>
          <a:noFill/>
        </p:spPr>
        <p:txBody>
          <a:bodyPr wrap="none" rtlCol="0">
            <a:spAutoFit/>
          </a:bodyPr>
          <a:lstStyle/>
          <a:p>
            <a:r>
              <a:rPr lang="zh-CN" altLang="en-US" sz="2000" dirty="0">
                <a:solidFill>
                  <a:schemeClr val="accent1">
                    <a:lumMod val="75000"/>
                  </a:schemeClr>
                </a:solidFill>
                <a:latin typeface="+mj-ea"/>
                <a:ea typeface="+mj-ea"/>
              </a:rPr>
              <a:t>软件</a:t>
            </a:r>
          </a:p>
        </p:txBody>
      </p:sp>
      <p:sp>
        <p:nvSpPr>
          <p:cNvPr id="24" name="TextBox 29">
            <a:extLst>
              <a:ext uri="{FF2B5EF4-FFF2-40B4-BE49-F238E27FC236}">
                <a16:creationId xmlns:a16="http://schemas.microsoft.com/office/drawing/2014/main" id="{4E8CDB25-D623-4634-8167-87F91560DAB2}"/>
              </a:ext>
            </a:extLst>
          </p:cNvPr>
          <p:cNvSpPr txBox="1"/>
          <p:nvPr/>
        </p:nvSpPr>
        <p:spPr>
          <a:xfrm>
            <a:off x="457200" y="4518559"/>
            <a:ext cx="697627" cy="400110"/>
          </a:xfrm>
          <a:prstGeom prst="rect">
            <a:avLst/>
          </a:prstGeom>
          <a:noFill/>
        </p:spPr>
        <p:txBody>
          <a:bodyPr wrap="none" rtlCol="0">
            <a:spAutoFit/>
          </a:bodyPr>
          <a:lstStyle/>
          <a:p>
            <a:r>
              <a:rPr lang="zh-CN" altLang="en-US" sz="2000" dirty="0">
                <a:solidFill>
                  <a:schemeClr val="accent1">
                    <a:lumMod val="75000"/>
                  </a:schemeClr>
                </a:solidFill>
                <a:latin typeface="+mj-ea"/>
                <a:ea typeface="+mj-ea"/>
              </a:rPr>
              <a:t>硬件</a:t>
            </a:r>
          </a:p>
        </p:txBody>
      </p:sp>
      <p:sp>
        <p:nvSpPr>
          <p:cNvPr id="4" name="Title 4">
            <a:extLst>
              <a:ext uri="{FF2B5EF4-FFF2-40B4-BE49-F238E27FC236}">
                <a16:creationId xmlns:a16="http://schemas.microsoft.com/office/drawing/2014/main" id="{1E592CD2-9C21-EBD8-1ACB-2E2D007498EA}"/>
              </a:ext>
            </a:extLst>
          </p:cNvPr>
          <p:cNvSpPr txBox="1">
            <a:spLocks/>
          </p:cNvSpPr>
          <p:nvPr/>
        </p:nvSpPr>
        <p:spPr bwMode="auto">
          <a:xfrm>
            <a:off x="457200" y="136800"/>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sz="4000" dirty="0">
                <a:latin typeface="+mj-ea"/>
                <a:ea typeface="+mj-ea"/>
              </a:rPr>
              <a:t>计算机指令系统</a:t>
            </a:r>
            <a:endParaRPr lang="en-CN" kern="0" dirty="0"/>
          </a:p>
        </p:txBody>
      </p:sp>
      <p:graphicFrame>
        <p:nvGraphicFramePr>
          <p:cNvPr id="2" name="Table 4">
            <a:extLst>
              <a:ext uri="{FF2B5EF4-FFF2-40B4-BE49-F238E27FC236}">
                <a16:creationId xmlns:a16="http://schemas.microsoft.com/office/drawing/2014/main" id="{70606AE1-2482-8B12-FCC3-4FA29BF22870}"/>
              </a:ext>
            </a:extLst>
          </p:cNvPr>
          <p:cNvGraphicFramePr>
            <a:graphicFrameLocks noGrp="1"/>
          </p:cNvGraphicFramePr>
          <p:nvPr>
            <p:extLst>
              <p:ext uri="{D42A27DB-BD31-4B8C-83A1-F6EECF244321}">
                <p14:modId xmlns:p14="http://schemas.microsoft.com/office/powerpoint/2010/main" val="3412322237"/>
              </p:ext>
            </p:extLst>
          </p:nvPr>
        </p:nvGraphicFramePr>
        <p:xfrm>
          <a:off x="4387518" y="1470055"/>
          <a:ext cx="4049389" cy="5158684"/>
        </p:xfrm>
        <a:graphic>
          <a:graphicData uri="http://schemas.openxmlformats.org/drawingml/2006/table">
            <a:tbl>
              <a:tblPr firstRow="1">
                <a:tableStyleId>{72833802-FEF1-4C79-8D5D-14CF1EAF98D9}</a:tableStyleId>
              </a:tblPr>
              <a:tblGrid>
                <a:gridCol w="772096">
                  <a:extLst>
                    <a:ext uri="{9D8B030D-6E8A-4147-A177-3AD203B41FA5}">
                      <a16:colId xmlns:a16="http://schemas.microsoft.com/office/drawing/2014/main" val="20000"/>
                    </a:ext>
                  </a:extLst>
                </a:gridCol>
                <a:gridCol w="723402">
                  <a:extLst>
                    <a:ext uri="{9D8B030D-6E8A-4147-A177-3AD203B41FA5}">
                      <a16:colId xmlns:a16="http://schemas.microsoft.com/office/drawing/2014/main" val="20001"/>
                    </a:ext>
                  </a:extLst>
                </a:gridCol>
                <a:gridCol w="2553891">
                  <a:extLst>
                    <a:ext uri="{9D8B030D-6E8A-4147-A177-3AD203B41FA5}">
                      <a16:colId xmlns:a16="http://schemas.microsoft.com/office/drawing/2014/main" val="20002"/>
                    </a:ext>
                  </a:extLst>
                </a:gridCol>
              </a:tblGrid>
              <a:tr h="303452">
                <a:tc>
                  <a:txBody>
                    <a:bodyPr/>
                    <a:lstStyle/>
                    <a:p>
                      <a:pPr algn="ctr" fontAlgn="ctr"/>
                      <a:r>
                        <a:rPr lang="zh-CN" altLang="en-US" sz="1800" u="none" strike="noStrike" dirty="0">
                          <a:solidFill>
                            <a:schemeClr val="tx1"/>
                          </a:solidFill>
                          <a:effectLst/>
                          <a:latin typeface="+mn-lt"/>
                          <a:ea typeface="+mn-ea"/>
                        </a:rPr>
                        <a:t>周</a:t>
                      </a:r>
                      <a:endParaRPr lang="zh-CN" altLang="en-US" sz="1800" b="0" i="0" u="none" strike="noStrike" dirty="0">
                        <a:solidFill>
                          <a:schemeClr val="tx1"/>
                        </a:solidFill>
                        <a:effectLst/>
                        <a:latin typeface="+mn-lt"/>
                        <a:ea typeface="+mn-ea"/>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ctr"/>
                      <a:r>
                        <a:rPr lang="zh-CN" altLang="en-US" sz="1800" u="none" strike="noStrike" dirty="0">
                          <a:solidFill>
                            <a:schemeClr val="tx1"/>
                          </a:solidFill>
                          <a:effectLst/>
                          <a:latin typeface="+mn-lt"/>
                          <a:ea typeface="+mn-ea"/>
                        </a:rPr>
                        <a:t>日期</a:t>
                      </a:r>
                      <a:endParaRPr lang="zh-CN" altLang="en-US" sz="1800" b="0" i="0" u="none" strike="noStrike" dirty="0">
                        <a:solidFill>
                          <a:schemeClr val="tx1"/>
                        </a:solidFill>
                        <a:effectLst/>
                        <a:latin typeface="+mn-lt"/>
                        <a:ea typeface="+mn-ea"/>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ctr"/>
                      <a:r>
                        <a:rPr lang="zh-CN" altLang="en-US" sz="1800" u="none" strike="noStrike" dirty="0">
                          <a:solidFill>
                            <a:schemeClr val="tx1"/>
                          </a:solidFill>
                          <a:effectLst/>
                          <a:latin typeface="+mn-lt"/>
                          <a:ea typeface="+mn-ea"/>
                        </a:rPr>
                        <a:t>暂定主要内容</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00"/>
                  </a:ext>
                </a:extLst>
              </a:tr>
              <a:tr h="303452">
                <a:tc>
                  <a:txBody>
                    <a:bodyPr/>
                    <a:lstStyle/>
                    <a:p>
                      <a:pPr algn="ctr">
                        <a:spcAft>
                          <a:spcPts val="0"/>
                        </a:spcAft>
                      </a:pPr>
                      <a:r>
                        <a:rPr lang="en-US" sz="1800" kern="100" dirty="0">
                          <a:effectLst/>
                          <a:latin typeface="+mn-lt"/>
                          <a:ea typeface="+mn-ea"/>
                        </a:rPr>
                        <a:t>1</a:t>
                      </a: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800" kern="100" dirty="0">
                          <a:effectLst/>
                          <a:latin typeface="+mn-lt"/>
                          <a:ea typeface="+mn-ea"/>
                        </a:rPr>
                        <a:t>2/2</a:t>
                      </a:r>
                      <a:r>
                        <a:rPr lang="en-US" altLang="zh-CN" sz="1800" kern="100" dirty="0">
                          <a:effectLst/>
                          <a:latin typeface="+mn-lt"/>
                          <a:ea typeface="+mn-ea"/>
                        </a:rPr>
                        <a:t>6</a:t>
                      </a:r>
                      <a:endParaRPr lang="en-US"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sz="1800" kern="100" dirty="0">
                          <a:effectLst/>
                          <a:latin typeface="+mn-lt"/>
                          <a:ea typeface="+mn-ea"/>
                        </a:rPr>
                        <a:t>概论</a:t>
                      </a: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03452">
                <a:tc>
                  <a:txBody>
                    <a:bodyPr/>
                    <a:lstStyle/>
                    <a:p>
                      <a:pPr algn="ctr">
                        <a:spcAft>
                          <a:spcPts val="0"/>
                        </a:spcAft>
                      </a:pPr>
                      <a:r>
                        <a:rPr lang="en-US" sz="1800" kern="100" dirty="0">
                          <a:solidFill>
                            <a:schemeClr val="tx1"/>
                          </a:solidFill>
                          <a:effectLst/>
                          <a:latin typeface="+mn-lt"/>
                          <a:ea typeface="+mn-ea"/>
                          <a:cs typeface="+mn-cs"/>
                        </a:rPr>
                        <a:t>2</a:t>
                      </a: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altLang="zh-CN" sz="1800" kern="100" dirty="0">
                          <a:solidFill>
                            <a:schemeClr val="tx1"/>
                          </a:solidFill>
                          <a:effectLst/>
                          <a:latin typeface="+mn-lt"/>
                          <a:ea typeface="+mn-ea"/>
                          <a:cs typeface="+mn-cs"/>
                        </a:rPr>
                        <a:t>3/4</a:t>
                      </a: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altLang="en-US" sz="1800" kern="100" dirty="0">
                          <a:solidFill>
                            <a:schemeClr val="tx1"/>
                          </a:solidFill>
                          <a:effectLst/>
                          <a:latin typeface="+mn-lt"/>
                          <a:ea typeface="+mn-ea"/>
                          <a:cs typeface="+mn-cs"/>
                        </a:rPr>
                        <a:t>布尔代数</a:t>
                      </a: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03452">
                <a:tc>
                  <a:txBody>
                    <a:bodyPr/>
                    <a:lstStyle/>
                    <a:p>
                      <a:pPr algn="ctr">
                        <a:spcAft>
                          <a:spcPts val="0"/>
                        </a:spcAft>
                      </a:pPr>
                      <a:r>
                        <a:rPr lang="en-US" sz="1800" kern="100" dirty="0">
                          <a:solidFill>
                            <a:schemeClr val="tx1"/>
                          </a:solidFill>
                          <a:effectLst/>
                          <a:latin typeface="+mn-lt"/>
                          <a:ea typeface="+mn-ea"/>
                          <a:cs typeface="+mn-cs"/>
                        </a:rPr>
                        <a:t>3</a:t>
                      </a: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800" kern="100" dirty="0">
                          <a:solidFill>
                            <a:schemeClr val="tx1"/>
                          </a:solidFill>
                          <a:effectLst/>
                          <a:latin typeface="+mn-lt"/>
                          <a:ea typeface="+mn-ea"/>
                          <a:cs typeface="+mn-cs"/>
                        </a:rPr>
                        <a:t>3/</a:t>
                      </a:r>
                      <a:r>
                        <a:rPr lang="en-US" altLang="zh-CN" sz="1800" kern="100" dirty="0">
                          <a:solidFill>
                            <a:schemeClr val="tx1"/>
                          </a:solidFill>
                          <a:effectLst/>
                          <a:latin typeface="+mn-lt"/>
                          <a:ea typeface="+mn-ea"/>
                          <a:cs typeface="+mn-cs"/>
                        </a:rPr>
                        <a:t>11</a:t>
                      </a:r>
                      <a:endParaRPr lang="en-US" sz="180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altLang="en-US" sz="1800" kern="100" dirty="0">
                          <a:solidFill>
                            <a:schemeClr val="tx1"/>
                          </a:solidFill>
                          <a:effectLst/>
                          <a:latin typeface="+mn-lt"/>
                          <a:ea typeface="+mn-ea"/>
                          <a:cs typeface="+mn-cs"/>
                        </a:rPr>
                        <a:t>组合逻辑</a:t>
                      </a: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03452">
                <a:tc>
                  <a:txBody>
                    <a:bodyPr/>
                    <a:lstStyle/>
                    <a:p>
                      <a:pPr algn="ctr">
                        <a:spcAft>
                          <a:spcPts val="0"/>
                        </a:spcAft>
                      </a:pPr>
                      <a:r>
                        <a:rPr lang="en-US" sz="1800" kern="100" dirty="0">
                          <a:solidFill>
                            <a:schemeClr val="tx1"/>
                          </a:solidFill>
                          <a:effectLst/>
                          <a:latin typeface="+mn-lt"/>
                          <a:ea typeface="+mn-ea"/>
                          <a:cs typeface="+mn-cs"/>
                        </a:rPr>
                        <a:t>4</a:t>
                      </a: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800" kern="100" dirty="0">
                          <a:solidFill>
                            <a:schemeClr val="tx1"/>
                          </a:solidFill>
                          <a:effectLst/>
                          <a:latin typeface="+mn-lt"/>
                          <a:ea typeface="+mn-ea"/>
                          <a:cs typeface="+mn-cs"/>
                        </a:rPr>
                        <a:t>3/1</a:t>
                      </a:r>
                      <a:r>
                        <a:rPr lang="en-US" altLang="zh-CN" sz="1800" kern="100" dirty="0">
                          <a:solidFill>
                            <a:schemeClr val="tx1"/>
                          </a:solidFill>
                          <a:effectLst/>
                          <a:latin typeface="+mn-lt"/>
                          <a:ea typeface="+mn-ea"/>
                          <a:cs typeface="+mn-cs"/>
                        </a:rPr>
                        <a:t>8</a:t>
                      </a:r>
                      <a:endParaRPr lang="en-US" sz="180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altLang="en-US" sz="1800" kern="100" dirty="0">
                          <a:solidFill>
                            <a:schemeClr val="tx1"/>
                          </a:solidFill>
                          <a:effectLst/>
                          <a:latin typeface="+mn-lt"/>
                          <a:ea typeface="+mn-ea"/>
                          <a:cs typeface="+mn-cs"/>
                        </a:rPr>
                        <a:t>时序逻辑</a:t>
                      </a: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03452">
                <a:tc>
                  <a:txBody>
                    <a:bodyPr/>
                    <a:lstStyle/>
                    <a:p>
                      <a:pPr algn="ctr">
                        <a:spcAft>
                          <a:spcPts val="0"/>
                        </a:spcAft>
                      </a:pPr>
                      <a:r>
                        <a:rPr lang="en-US" sz="1800" kern="100" dirty="0">
                          <a:effectLst/>
                          <a:latin typeface="+mn-lt"/>
                          <a:ea typeface="+mn-ea"/>
                        </a:rPr>
                        <a:t>5</a:t>
                      </a: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800" kern="100" dirty="0">
                          <a:effectLst/>
                          <a:latin typeface="+mn-lt"/>
                          <a:ea typeface="+mn-ea"/>
                        </a:rPr>
                        <a:t>3/2</a:t>
                      </a:r>
                      <a:r>
                        <a:rPr lang="en-US" altLang="zh-CN" sz="1800" kern="100" dirty="0">
                          <a:effectLst/>
                          <a:latin typeface="+mn-lt"/>
                          <a:ea typeface="+mn-ea"/>
                        </a:rPr>
                        <a:t>5</a:t>
                      </a:r>
                      <a:endParaRPr lang="en-US"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sz="1800" kern="100" dirty="0">
                          <a:effectLst/>
                          <a:latin typeface="+mn-lt"/>
                          <a:ea typeface="+mn-ea"/>
                        </a:rPr>
                        <a:t>时序逻辑</a:t>
                      </a: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03452">
                <a:tc>
                  <a:txBody>
                    <a:bodyPr/>
                    <a:lstStyle/>
                    <a:p>
                      <a:pPr algn="ctr">
                        <a:spcAft>
                          <a:spcPts val="0"/>
                        </a:spcAft>
                      </a:pPr>
                      <a:r>
                        <a:rPr lang="en-US" sz="1800" b="0" kern="100" dirty="0">
                          <a:solidFill>
                            <a:srgbClr val="3333FF"/>
                          </a:solidFill>
                          <a:effectLst/>
                          <a:latin typeface="+mn-lt"/>
                          <a:ea typeface="+mn-ea"/>
                          <a:cs typeface="+mn-cs"/>
                        </a:rPr>
                        <a:t>6</a:t>
                      </a: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altLang="zh-CN" sz="1800" b="0" kern="100" dirty="0">
                          <a:solidFill>
                            <a:srgbClr val="3333FF"/>
                          </a:solidFill>
                          <a:effectLst/>
                          <a:latin typeface="+mn-lt"/>
                          <a:ea typeface="+mn-ea"/>
                          <a:cs typeface="+mn-cs"/>
                        </a:rPr>
                        <a:t>4</a:t>
                      </a:r>
                      <a:r>
                        <a:rPr lang="en-US" sz="1800" b="0" kern="100" dirty="0">
                          <a:solidFill>
                            <a:srgbClr val="3333FF"/>
                          </a:solidFill>
                          <a:effectLst/>
                          <a:latin typeface="+mn-lt"/>
                          <a:ea typeface="+mn-ea"/>
                          <a:cs typeface="+mn-cs"/>
                        </a:rPr>
                        <a:t>/</a:t>
                      </a:r>
                      <a:r>
                        <a:rPr lang="en-US" altLang="zh-CN" sz="1800" b="0" kern="100" dirty="0">
                          <a:solidFill>
                            <a:srgbClr val="3333FF"/>
                          </a:solidFill>
                          <a:effectLst/>
                          <a:latin typeface="+mn-lt"/>
                          <a:ea typeface="+mn-ea"/>
                          <a:cs typeface="+mn-cs"/>
                        </a:rPr>
                        <a:t>1</a:t>
                      </a:r>
                      <a:endParaRPr lang="en-US" sz="1800" b="0" kern="100" dirty="0">
                        <a:solidFill>
                          <a:srgbClr val="3333FF"/>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altLang="en-US" sz="1800" b="0" kern="100" dirty="0">
                          <a:solidFill>
                            <a:srgbClr val="3333FF"/>
                          </a:solidFill>
                          <a:effectLst/>
                          <a:latin typeface="+mn-lt"/>
                          <a:ea typeface="+mn-ea"/>
                          <a:cs typeface="+mn-cs"/>
                        </a:rPr>
                        <a:t>计算机指令系统</a:t>
                      </a: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03452">
                <a:tc>
                  <a:txBody>
                    <a:bodyPr/>
                    <a:lstStyle/>
                    <a:p>
                      <a:pPr marL="0" algn="ctr" defTabSz="914400" rtl="0" eaLnBrk="1" latinLnBrk="0" hangingPunct="1">
                        <a:spcAft>
                          <a:spcPts val="0"/>
                        </a:spcAft>
                      </a:pPr>
                      <a:r>
                        <a:rPr lang="en-US" sz="1800" b="1" kern="100" dirty="0">
                          <a:solidFill>
                            <a:srgbClr val="3333FF"/>
                          </a:solidFill>
                          <a:effectLst/>
                          <a:latin typeface="+mn-lt"/>
                          <a:ea typeface="+mn-ea"/>
                          <a:cs typeface="+mn-cs"/>
                        </a:rPr>
                        <a:t>7</a:t>
                      </a: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spcAft>
                          <a:spcPts val="0"/>
                        </a:spcAft>
                      </a:pPr>
                      <a:r>
                        <a:rPr lang="en-US" sz="1800" b="1" kern="100" dirty="0">
                          <a:solidFill>
                            <a:srgbClr val="3333FF"/>
                          </a:solidFill>
                          <a:effectLst/>
                          <a:latin typeface="+mn-lt"/>
                          <a:ea typeface="+mn-ea"/>
                          <a:cs typeface="+mn-cs"/>
                        </a:rPr>
                        <a:t>4/</a:t>
                      </a:r>
                      <a:r>
                        <a:rPr lang="en-US" altLang="zh-CN" sz="1800" b="1" kern="100" dirty="0">
                          <a:solidFill>
                            <a:srgbClr val="3333FF"/>
                          </a:solidFill>
                          <a:effectLst/>
                          <a:latin typeface="+mn-lt"/>
                          <a:ea typeface="+mn-ea"/>
                          <a:cs typeface="+mn-cs"/>
                        </a:rPr>
                        <a:t>8</a:t>
                      </a:r>
                      <a:endParaRPr lang="en-US" sz="1800" b="1" kern="100" dirty="0">
                        <a:solidFill>
                          <a:srgbClr val="3333FF"/>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1800" b="1" kern="100" dirty="0">
                          <a:solidFill>
                            <a:srgbClr val="3333FF"/>
                          </a:solidFill>
                          <a:effectLst/>
                          <a:latin typeface="+mn-lt"/>
                          <a:ea typeface="+mn-ea"/>
                          <a:cs typeface="+mn-cs"/>
                        </a:rPr>
                        <a:t>计算机指令系统</a:t>
                      </a: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303452">
                <a:tc>
                  <a:txBody>
                    <a:bodyPr/>
                    <a:lstStyle/>
                    <a:p>
                      <a:pPr algn="ctr">
                        <a:spcAft>
                          <a:spcPts val="0"/>
                        </a:spcAft>
                      </a:pPr>
                      <a:r>
                        <a:rPr lang="en-US" sz="1800" kern="100" dirty="0">
                          <a:effectLst/>
                          <a:latin typeface="+mn-lt"/>
                          <a:ea typeface="+mn-ea"/>
                        </a:rPr>
                        <a:t>8</a:t>
                      </a: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800" kern="100" dirty="0">
                          <a:solidFill>
                            <a:schemeClr val="tx1"/>
                          </a:solidFill>
                          <a:effectLst/>
                          <a:latin typeface="+mn-lt"/>
                          <a:ea typeface="+mn-ea"/>
                        </a:rPr>
                        <a:t>4/1</a:t>
                      </a:r>
                      <a:r>
                        <a:rPr lang="en-US" altLang="zh-CN" sz="1800" kern="100" dirty="0">
                          <a:solidFill>
                            <a:schemeClr val="tx1"/>
                          </a:solidFill>
                          <a:effectLst/>
                          <a:latin typeface="+mn-lt"/>
                          <a:ea typeface="+mn-ea"/>
                        </a:rPr>
                        <a:t>5</a:t>
                      </a:r>
                      <a:endParaRPr lang="en-US" sz="1800" kern="100" dirty="0">
                        <a:solidFill>
                          <a:schemeClr val="tx1"/>
                        </a:solidFill>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kern="100" dirty="0">
                          <a:effectLst/>
                          <a:latin typeface="+mn-lt"/>
                          <a:ea typeface="+mn-ea"/>
                        </a:rPr>
                        <a:t>微处理器</a:t>
                      </a: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303452">
                <a:tc>
                  <a:txBody>
                    <a:bodyPr/>
                    <a:lstStyle/>
                    <a:p>
                      <a:pPr algn="ctr">
                        <a:spcAft>
                          <a:spcPts val="0"/>
                        </a:spcAft>
                      </a:pPr>
                      <a:r>
                        <a:rPr lang="en-US" altLang="zh-CN" sz="1800" b="0" kern="100" dirty="0">
                          <a:solidFill>
                            <a:schemeClr val="tx1"/>
                          </a:solidFill>
                          <a:effectLst/>
                          <a:latin typeface="+mn-lt"/>
                          <a:ea typeface="+mn-ea"/>
                          <a:cs typeface="+mn-cs"/>
                        </a:rPr>
                        <a:t>9</a:t>
                      </a: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algn="ctr">
                        <a:spcAft>
                          <a:spcPts val="0"/>
                        </a:spcAft>
                      </a:pPr>
                      <a:r>
                        <a:rPr lang="en-US" altLang="zh-CN" sz="1800" kern="100" dirty="0">
                          <a:effectLst/>
                          <a:latin typeface="+mn-lt"/>
                          <a:ea typeface="+mn-ea"/>
                        </a:rPr>
                        <a:t>4/21</a:t>
                      </a:r>
                      <a:endParaRPr lang="zh-CN" altLang="en-US" sz="180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algn="ctr">
                        <a:spcAft>
                          <a:spcPts val="0"/>
                        </a:spcAft>
                      </a:pPr>
                      <a:r>
                        <a:rPr lang="zh-CN" altLang="en-US" sz="1800" kern="100" dirty="0">
                          <a:effectLst/>
                          <a:latin typeface="+mn-lt"/>
                          <a:ea typeface="+mn-ea"/>
                        </a:rPr>
                        <a:t>期中考试</a:t>
                      </a:r>
                      <a:endParaRPr lang="zh-CN" altLang="en-US" sz="180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extLst>
                  <a:ext uri="{0D108BD9-81ED-4DB2-BD59-A6C34878D82A}">
                    <a16:rowId xmlns:a16="http://schemas.microsoft.com/office/drawing/2014/main" val="10009"/>
                  </a:ext>
                </a:extLst>
              </a:tr>
              <a:tr h="303452">
                <a:tc>
                  <a:txBody>
                    <a:bodyPr/>
                    <a:lstStyle/>
                    <a:p>
                      <a:pPr algn="ctr">
                        <a:spcAft>
                          <a:spcPts val="0"/>
                        </a:spcAft>
                      </a:pPr>
                      <a:r>
                        <a:rPr lang="en-US" sz="1800" b="0" kern="100" dirty="0">
                          <a:solidFill>
                            <a:schemeClr val="tx1"/>
                          </a:solidFill>
                          <a:effectLst/>
                          <a:latin typeface="+mn-lt"/>
                          <a:ea typeface="+mn-ea"/>
                          <a:cs typeface="+mn-cs"/>
                        </a:rPr>
                        <a:t>10</a:t>
                      </a: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c>
                  <a:txBody>
                    <a:bodyPr/>
                    <a:lstStyle/>
                    <a:p>
                      <a:pPr algn="ctr">
                        <a:spcAft>
                          <a:spcPts val="0"/>
                        </a:spcAft>
                      </a:pPr>
                      <a:r>
                        <a:rPr lang="en-US" sz="1800" b="0" i="0" kern="100" dirty="0">
                          <a:solidFill>
                            <a:schemeClr val="tx1"/>
                          </a:solidFill>
                          <a:effectLst/>
                          <a:latin typeface="+mn-lt"/>
                          <a:ea typeface="+mn-ea"/>
                          <a:cs typeface="+mn-cs"/>
                        </a:rPr>
                        <a:t>4/</a:t>
                      </a:r>
                      <a:r>
                        <a:rPr lang="en-US" altLang="zh-CN" sz="1800" b="0" i="0" kern="100" dirty="0">
                          <a:solidFill>
                            <a:schemeClr val="tx1"/>
                          </a:solidFill>
                          <a:effectLst/>
                          <a:latin typeface="+mn-lt"/>
                          <a:ea typeface="+mn-ea"/>
                          <a:cs typeface="+mn-cs"/>
                        </a:rPr>
                        <a:t>29</a:t>
                      </a:r>
                      <a:endParaRPr lang="en-US" sz="1800" b="0" i="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c>
                  <a:txBody>
                    <a:bodyPr/>
                    <a:lstStyle/>
                    <a:p>
                      <a:pPr algn="ctr">
                        <a:spcAft>
                          <a:spcPts val="0"/>
                        </a:spcAft>
                      </a:pPr>
                      <a:r>
                        <a:rPr lang="zh-CN" altLang="en-US" sz="1800" b="0" kern="100" dirty="0">
                          <a:solidFill>
                            <a:schemeClr val="tx1"/>
                          </a:solidFill>
                          <a:effectLst/>
                          <a:latin typeface="+mn-lt"/>
                          <a:ea typeface="+mn-ea"/>
                          <a:cs typeface="+mn-cs"/>
                        </a:rPr>
                        <a:t>劳动节放假</a:t>
                      </a: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extLst>
                  <a:ext uri="{0D108BD9-81ED-4DB2-BD59-A6C34878D82A}">
                    <a16:rowId xmlns:a16="http://schemas.microsoft.com/office/drawing/2014/main" val="10010"/>
                  </a:ext>
                </a:extLst>
              </a:tr>
              <a:tr h="303452">
                <a:tc>
                  <a:txBody>
                    <a:bodyPr/>
                    <a:lstStyle/>
                    <a:p>
                      <a:pPr algn="ctr">
                        <a:spcAft>
                          <a:spcPts val="0"/>
                        </a:spcAft>
                      </a:pPr>
                      <a:r>
                        <a:rPr lang="en-US" sz="1800" kern="100" dirty="0">
                          <a:solidFill>
                            <a:schemeClr val="tx1"/>
                          </a:solidFill>
                          <a:effectLst/>
                          <a:latin typeface="+mn-lt"/>
                          <a:ea typeface="+mn-ea"/>
                          <a:cs typeface="+mn-cs"/>
                        </a:rPr>
                        <a:t>11</a:t>
                      </a: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800" kern="100" dirty="0">
                          <a:solidFill>
                            <a:schemeClr val="tx1"/>
                          </a:solidFill>
                          <a:effectLst/>
                          <a:latin typeface="+mn-lt"/>
                          <a:ea typeface="+mn-ea"/>
                          <a:cs typeface="+mn-cs"/>
                        </a:rPr>
                        <a:t>5/</a:t>
                      </a:r>
                      <a:r>
                        <a:rPr lang="en-US" altLang="zh-CN" sz="1800" kern="100" dirty="0">
                          <a:solidFill>
                            <a:schemeClr val="tx1"/>
                          </a:solidFill>
                          <a:effectLst/>
                          <a:latin typeface="+mn-lt"/>
                          <a:ea typeface="+mn-ea"/>
                          <a:cs typeface="+mn-cs"/>
                        </a:rPr>
                        <a:t>6</a:t>
                      </a:r>
                      <a:endParaRPr lang="en-US" sz="180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kern="100" dirty="0">
                          <a:solidFill>
                            <a:schemeClr val="tx1"/>
                          </a:solidFill>
                          <a:effectLst/>
                          <a:latin typeface="+mn-lt"/>
                          <a:ea typeface="+mn-ea"/>
                          <a:cs typeface="+mn-cs"/>
                        </a:rPr>
                        <a:t>微处理器</a:t>
                      </a: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1"/>
                  </a:ext>
                </a:extLst>
              </a:tr>
              <a:tr h="303452">
                <a:tc>
                  <a:txBody>
                    <a:bodyPr/>
                    <a:lstStyle/>
                    <a:p>
                      <a:pPr algn="ctr">
                        <a:spcAft>
                          <a:spcPts val="0"/>
                        </a:spcAft>
                      </a:pPr>
                      <a:r>
                        <a:rPr lang="en-US" sz="1800" kern="100">
                          <a:effectLst/>
                          <a:latin typeface="+mn-lt"/>
                          <a:ea typeface="+mn-ea"/>
                        </a:rPr>
                        <a:t>12</a:t>
                      </a: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800" kern="100" dirty="0">
                          <a:solidFill>
                            <a:schemeClr val="tx1"/>
                          </a:solidFill>
                          <a:effectLst/>
                          <a:latin typeface="+mn-lt"/>
                          <a:ea typeface="+mn-ea"/>
                        </a:rPr>
                        <a:t>5/</a:t>
                      </a:r>
                      <a:r>
                        <a:rPr lang="en-US" altLang="zh-CN" sz="1800" kern="100" dirty="0">
                          <a:solidFill>
                            <a:schemeClr val="tx1"/>
                          </a:solidFill>
                          <a:effectLst/>
                          <a:latin typeface="+mn-lt"/>
                          <a:ea typeface="+mn-ea"/>
                        </a:rPr>
                        <a:t>13</a:t>
                      </a:r>
                      <a:endParaRPr lang="en-US" sz="1800" kern="100" dirty="0">
                        <a:solidFill>
                          <a:schemeClr val="tx1"/>
                        </a:solidFill>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altLang="en-US" sz="1800" kern="100" dirty="0">
                          <a:effectLst/>
                          <a:latin typeface="+mn-lt"/>
                          <a:ea typeface="+mn-ea"/>
                        </a:rPr>
                        <a:t>微处理器</a:t>
                      </a:r>
                      <a:r>
                        <a:rPr lang="en-US" altLang="zh-CN" sz="1800" kern="100" dirty="0">
                          <a:effectLst/>
                          <a:latin typeface="+mn-lt"/>
                          <a:ea typeface="+mn-ea"/>
                        </a:rPr>
                        <a:t>/</a:t>
                      </a:r>
                      <a:r>
                        <a:rPr lang="zh-CN" altLang="en-US" sz="1800" kern="100" dirty="0">
                          <a:effectLst/>
                          <a:latin typeface="+mn-lt"/>
                          <a:ea typeface="+mn-ea"/>
                        </a:rPr>
                        <a:t>流水线</a:t>
                      </a:r>
                      <a:endParaRPr lang="en-US"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2"/>
                  </a:ext>
                </a:extLst>
              </a:tr>
              <a:tr h="303452">
                <a:tc>
                  <a:txBody>
                    <a:bodyPr/>
                    <a:lstStyle/>
                    <a:p>
                      <a:pPr algn="ctr">
                        <a:spcAft>
                          <a:spcPts val="0"/>
                        </a:spcAft>
                      </a:pPr>
                      <a:r>
                        <a:rPr lang="en-US" sz="1800" kern="100" dirty="0">
                          <a:effectLst/>
                          <a:latin typeface="+mn-lt"/>
                          <a:ea typeface="+mn-ea"/>
                        </a:rPr>
                        <a:t>13</a:t>
                      </a: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800" kern="100" dirty="0">
                          <a:effectLst/>
                          <a:latin typeface="+mn-lt"/>
                          <a:ea typeface="+mn-ea"/>
                        </a:rPr>
                        <a:t>5/</a:t>
                      </a:r>
                      <a:r>
                        <a:rPr lang="en-US" altLang="zh-CN" sz="1800" kern="100" dirty="0">
                          <a:effectLst/>
                          <a:latin typeface="+mn-lt"/>
                          <a:ea typeface="+mn-ea"/>
                        </a:rPr>
                        <a:t>20</a:t>
                      </a:r>
                      <a:endParaRPr lang="en-US"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sz="1800" kern="100" dirty="0">
                          <a:effectLst/>
                          <a:latin typeface="+mn-lt"/>
                          <a:ea typeface="+mn-ea"/>
                        </a:rPr>
                        <a:t>流水线</a:t>
                      </a: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3"/>
                  </a:ext>
                </a:extLst>
              </a:tr>
              <a:tr h="303452">
                <a:tc>
                  <a:txBody>
                    <a:bodyPr/>
                    <a:lstStyle/>
                    <a:p>
                      <a:pPr algn="ctr">
                        <a:spcAft>
                          <a:spcPts val="0"/>
                        </a:spcAft>
                      </a:pPr>
                      <a:r>
                        <a:rPr lang="en-US" sz="1800" kern="100" dirty="0">
                          <a:effectLst/>
                          <a:latin typeface="+mn-lt"/>
                          <a:ea typeface="+mn-ea"/>
                        </a:rPr>
                        <a:t>14</a:t>
                      </a: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800" kern="100" dirty="0">
                          <a:effectLst/>
                          <a:latin typeface="+mn-lt"/>
                          <a:ea typeface="+mn-ea"/>
                        </a:rPr>
                        <a:t>5/</a:t>
                      </a:r>
                      <a:r>
                        <a:rPr lang="en-US" altLang="zh-CN" sz="1800" kern="100" dirty="0">
                          <a:effectLst/>
                          <a:latin typeface="+mn-lt"/>
                          <a:ea typeface="+mn-ea"/>
                        </a:rPr>
                        <a:t>27</a:t>
                      </a:r>
                      <a:endParaRPr lang="en-US"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sz="1800" kern="100" dirty="0">
                          <a:effectLst/>
                          <a:latin typeface="+mn-lt"/>
                          <a:ea typeface="+mn-ea"/>
                        </a:rPr>
                        <a:t>流水线</a:t>
                      </a: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4"/>
                  </a:ext>
                </a:extLst>
              </a:tr>
              <a:tr h="303452">
                <a:tc>
                  <a:txBody>
                    <a:bodyPr/>
                    <a:lstStyle/>
                    <a:p>
                      <a:pPr algn="ctr">
                        <a:spcAft>
                          <a:spcPts val="0"/>
                        </a:spcAft>
                      </a:pPr>
                      <a:r>
                        <a:rPr lang="en-US" sz="1800" kern="100" dirty="0">
                          <a:effectLst/>
                          <a:latin typeface="+mn-lt"/>
                          <a:ea typeface="+mn-ea"/>
                        </a:rPr>
                        <a:t>15</a:t>
                      </a: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altLang="zh-CN" sz="1800" kern="100" dirty="0">
                          <a:effectLst/>
                          <a:latin typeface="+mn-lt"/>
                          <a:ea typeface="+mn-ea"/>
                        </a:rPr>
                        <a:t>6</a:t>
                      </a:r>
                      <a:r>
                        <a:rPr lang="en-US" sz="1800" kern="100" dirty="0">
                          <a:effectLst/>
                          <a:latin typeface="+mn-lt"/>
                          <a:ea typeface="+mn-ea"/>
                        </a:rPr>
                        <a:t>/</a:t>
                      </a:r>
                      <a:r>
                        <a:rPr lang="en-US" altLang="zh-CN" sz="1800" kern="100" dirty="0">
                          <a:effectLst/>
                          <a:latin typeface="+mn-lt"/>
                          <a:ea typeface="+mn-ea"/>
                        </a:rPr>
                        <a:t>3</a:t>
                      </a:r>
                      <a:endParaRPr lang="en-US"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sz="1800" kern="100" dirty="0">
                          <a:effectLst/>
                          <a:latin typeface="+mn-lt"/>
                          <a:ea typeface="+mn-ea"/>
                        </a:rPr>
                        <a:t>存储器</a:t>
                      </a: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5"/>
                  </a:ext>
                </a:extLst>
              </a:tr>
              <a:tr h="303452">
                <a:tc>
                  <a:txBody>
                    <a:bodyPr/>
                    <a:lstStyle/>
                    <a:p>
                      <a:pPr algn="ctr">
                        <a:spcAft>
                          <a:spcPts val="0"/>
                        </a:spcAft>
                      </a:pPr>
                      <a:r>
                        <a:rPr lang="en-US" altLang="zh-CN" sz="1800" kern="100" dirty="0">
                          <a:effectLst/>
                          <a:latin typeface="+mn-lt"/>
                          <a:ea typeface="+mn-ea"/>
                        </a:rPr>
                        <a:t>16</a:t>
                      </a: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altLang="zh-CN" sz="1800" kern="100" dirty="0">
                          <a:effectLst/>
                          <a:latin typeface="+mn-lt"/>
                          <a:ea typeface="+mn-ea"/>
                        </a:rPr>
                        <a:t>6/10</a:t>
                      </a: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sz="1800" kern="100" dirty="0">
                          <a:effectLst/>
                          <a:latin typeface="+mn-lt"/>
                          <a:ea typeface="+mn-ea"/>
                        </a:rPr>
                        <a:t>存储器</a:t>
                      </a:r>
                      <a:r>
                        <a:rPr lang="en-US" altLang="zh-CN" sz="1800" kern="100" dirty="0">
                          <a:effectLst/>
                          <a:latin typeface="+mn-lt"/>
                          <a:ea typeface="+mn-ea"/>
                        </a:rPr>
                        <a:t>/IO</a:t>
                      </a:r>
                      <a:r>
                        <a:rPr lang="zh-CN" altLang="en-US" sz="1800" kern="100" dirty="0">
                          <a:effectLst/>
                          <a:latin typeface="+mn-lt"/>
                          <a:ea typeface="+mn-ea"/>
                        </a:rPr>
                        <a:t>与总线</a:t>
                      </a:r>
                      <a:r>
                        <a:rPr lang="en-US" altLang="zh-CN" sz="1800" kern="100" dirty="0">
                          <a:effectLst/>
                          <a:latin typeface="+mn-lt"/>
                          <a:ea typeface="+mn-ea"/>
                        </a:rPr>
                        <a:t>/</a:t>
                      </a:r>
                      <a:r>
                        <a:rPr lang="zh-CN" altLang="en-US" sz="1800" kern="100" dirty="0">
                          <a:effectLst/>
                          <a:latin typeface="+mn-lt"/>
                          <a:ea typeface="+mn-ea"/>
                        </a:rPr>
                        <a:t>总结</a:t>
                      </a:r>
                      <a:endParaRPr lang="en-US"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6"/>
                  </a:ext>
                </a:extLst>
              </a:tr>
            </a:tbl>
          </a:graphicData>
        </a:graphic>
      </p:graphicFrame>
    </p:spTree>
    <p:extLst>
      <p:ext uri="{BB962C8B-B14F-4D97-AF65-F5344CB8AC3E}">
        <p14:creationId xmlns:p14="http://schemas.microsoft.com/office/powerpoint/2010/main" val="18450529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7">
            <a:extLst>
              <a:ext uri="{FF2B5EF4-FFF2-40B4-BE49-F238E27FC236}">
                <a16:creationId xmlns:a16="http://schemas.microsoft.com/office/drawing/2014/main" id="{3796C13F-AE4A-472E-BEEF-E1C23C37196B}"/>
              </a:ext>
            </a:extLst>
          </p:cNvPr>
          <p:cNvSpPr>
            <a:spLocks noGrp="1"/>
          </p:cNvSpPr>
          <p:nvPr>
            <p:ph type="sldNum" sz="quarter" idx="12"/>
          </p:nvPr>
        </p:nvSpPr>
        <p:spPr/>
        <p:txBody>
          <a:bodyPr/>
          <a:lstStyle/>
          <a:p>
            <a:fld id="{176ACFD1-D213-4B9C-817B-45486DBF105A}" type="slidenum">
              <a:rPr lang="en-US" smtClean="0">
                <a:solidFill>
                  <a:prstClr val="black"/>
                </a:solidFill>
              </a:rPr>
              <a:pPr/>
              <a:t>6</a:t>
            </a:fld>
            <a:endParaRPr lang="en-US">
              <a:solidFill>
                <a:prstClr val="black"/>
              </a:solidFill>
            </a:endParaRPr>
          </a:p>
        </p:txBody>
      </p:sp>
      <p:sp>
        <p:nvSpPr>
          <p:cNvPr id="18" name="Content Placeholder 2">
            <a:extLst>
              <a:ext uri="{FF2B5EF4-FFF2-40B4-BE49-F238E27FC236}">
                <a16:creationId xmlns:a16="http://schemas.microsoft.com/office/drawing/2014/main" id="{4ACB8E1B-309C-49FA-BE30-A05BB9B97A86}"/>
              </a:ext>
            </a:extLst>
          </p:cNvPr>
          <p:cNvSpPr>
            <a:spLocks noGrp="1"/>
          </p:cNvSpPr>
          <p:nvPr>
            <p:ph idx="4294967295"/>
          </p:nvPr>
        </p:nvSpPr>
        <p:spPr>
          <a:xfrm>
            <a:off x="704850" y="1386217"/>
            <a:ext cx="7981950" cy="5235301"/>
          </a:xfrm>
        </p:spPr>
        <p:txBody>
          <a:bodyPr/>
          <a:lstStyle/>
          <a:p>
            <a:r>
              <a:rPr lang="zh-CN" altLang="en-US" sz="2800" b="1" dirty="0">
                <a:latin typeface="Arial" panose="020B0604020202020204" pitchFamily="34" charset="0"/>
                <a:cs typeface="Arial" panose="020B0604020202020204" pitchFamily="34" charset="0"/>
              </a:rPr>
              <a:t>知识点：指令集的概念、原理和评价指标</a:t>
            </a:r>
            <a:endParaRPr lang="en-US" altLang="zh-CN" sz="2800" b="1" dirty="0">
              <a:latin typeface="Arial" panose="020B0604020202020204" pitchFamily="34" charset="0"/>
              <a:cs typeface="Arial" panose="020B0604020202020204" pitchFamily="34" charset="0"/>
            </a:endParaRPr>
          </a:p>
          <a:p>
            <a:pPr lvl="1"/>
            <a:r>
              <a:rPr lang="en-CN" altLang="zh-CN" sz="2400" b="0" dirty="0">
                <a:latin typeface="Arial" panose="020B0604020202020204" pitchFamily="34" charset="0"/>
                <a:cs typeface="Arial" panose="020B0604020202020204" pitchFamily="34" charset="0"/>
              </a:rPr>
              <a:t>ISA</a:t>
            </a:r>
            <a:r>
              <a:rPr lang="zh-CN" altLang="en-US" sz="2400" b="0" dirty="0">
                <a:latin typeface="Arial" panose="020B0604020202020204" pitchFamily="34" charset="0"/>
                <a:cs typeface="Arial" panose="020B0604020202020204" pitchFamily="34" charset="0"/>
              </a:rPr>
              <a:t>、</a:t>
            </a:r>
            <a:r>
              <a:rPr lang="en-CN" altLang="zh-CN" sz="2400" b="0" dirty="0">
                <a:latin typeface="Arial" panose="020B0604020202020204" pitchFamily="34" charset="0"/>
                <a:cs typeface="Arial" panose="020B0604020202020204" pitchFamily="34" charset="0"/>
              </a:rPr>
              <a:t>CPI</a:t>
            </a:r>
            <a:r>
              <a:rPr lang="zh-CN" altLang="en-US" sz="2400" b="0" dirty="0">
                <a:latin typeface="Arial" panose="020B0604020202020204" pitchFamily="34" charset="0"/>
                <a:cs typeface="Arial" panose="020B0604020202020204" pitchFamily="34" charset="0"/>
              </a:rPr>
              <a:t>、执行时间、</a:t>
            </a:r>
            <a:r>
              <a:rPr lang="en-CN" altLang="zh-CN" sz="2400" b="0" dirty="0">
                <a:latin typeface="Arial" panose="020B0604020202020204" pitchFamily="34" charset="0"/>
                <a:cs typeface="Arial" panose="020B0604020202020204" pitchFamily="34" charset="0"/>
              </a:rPr>
              <a:t>RISC/CISC</a:t>
            </a:r>
            <a:r>
              <a:rPr lang="zh-CN" altLang="en-US" sz="2400" b="0" dirty="0">
                <a:latin typeface="Arial" panose="020B0604020202020204" pitchFamily="34" charset="0"/>
                <a:cs typeface="Arial" panose="020B0604020202020204" pitchFamily="34" charset="0"/>
              </a:rPr>
              <a:t>、图灵机、存储结构、</a:t>
            </a:r>
            <a:r>
              <a:rPr lang="en-CN" altLang="zh-CN" sz="2400" b="0" dirty="0">
                <a:latin typeface="Arial" panose="020B0604020202020204" pitchFamily="34" charset="0"/>
                <a:cs typeface="Arial" panose="020B0604020202020204" pitchFamily="34" charset="0"/>
              </a:rPr>
              <a:t> </a:t>
            </a:r>
            <a:r>
              <a:rPr lang="zh-CN" altLang="en-US" sz="2400" b="0" dirty="0">
                <a:latin typeface="Arial" panose="020B0604020202020204" pitchFamily="34" charset="0"/>
                <a:cs typeface="Arial" panose="020B0604020202020204" pitchFamily="34" charset="0"/>
              </a:rPr>
              <a:t>多层次计算机系统、基础指令、</a:t>
            </a:r>
            <a:r>
              <a:rPr lang="en-US" altLang="zh-CN" sz="2400" b="0" dirty="0">
                <a:latin typeface="Arial" panose="020B0604020202020204" pitchFamily="34" charset="0"/>
                <a:cs typeface="Arial" panose="020B0604020202020204" pitchFamily="34" charset="0"/>
              </a:rPr>
              <a:t>MIPS</a:t>
            </a:r>
            <a:r>
              <a:rPr lang="zh-CN" altLang="en-US" sz="2400" b="0" dirty="0">
                <a:latin typeface="Arial" panose="020B0604020202020204" pitchFamily="34" charset="0"/>
                <a:cs typeface="Arial" panose="020B0604020202020204" pitchFamily="34" charset="0"/>
              </a:rPr>
              <a:t> </a:t>
            </a:r>
            <a:r>
              <a:rPr lang="en-US" altLang="zh-CN" sz="2400" b="0" dirty="0">
                <a:latin typeface="Arial" panose="020B0604020202020204" pitchFamily="34" charset="0"/>
                <a:cs typeface="Arial" panose="020B0604020202020204" pitchFamily="34" charset="0"/>
              </a:rPr>
              <a:t>ISA</a:t>
            </a:r>
            <a:endParaRPr lang="en-CN" altLang="zh-CN" sz="2400" b="0" dirty="0">
              <a:latin typeface="Arial" panose="020B0604020202020204" pitchFamily="34" charset="0"/>
              <a:cs typeface="Arial" panose="020B0604020202020204" pitchFamily="34" charset="0"/>
            </a:endParaRPr>
          </a:p>
          <a:p>
            <a:r>
              <a:rPr lang="zh-CN" altLang="en-US" sz="2800" b="1" dirty="0">
                <a:latin typeface="Arial" panose="020B0604020202020204" pitchFamily="34" charset="0"/>
                <a:cs typeface="Arial" panose="020B0604020202020204" pitchFamily="34" charset="0"/>
              </a:rPr>
              <a:t>能力</a:t>
            </a:r>
            <a:endParaRPr lang="en-US" altLang="zh-CN" sz="2800" b="1" dirty="0">
              <a:latin typeface="Arial" panose="020B0604020202020204" pitchFamily="34" charset="0"/>
              <a:cs typeface="Arial" panose="020B0604020202020204" pitchFamily="34" charset="0"/>
            </a:endParaRPr>
          </a:p>
          <a:p>
            <a:pPr lvl="1"/>
            <a:r>
              <a:rPr lang="zh-CN" altLang="en-US" sz="2400" b="0" dirty="0">
                <a:latin typeface="Arial" panose="020B0604020202020204" pitchFamily="34" charset="0"/>
                <a:cs typeface="Arial" panose="020B0604020202020204" pitchFamily="34" charset="0"/>
              </a:rPr>
              <a:t>掌握分析和设计指令集的能力</a:t>
            </a:r>
            <a:endParaRPr lang="en-US" altLang="zh-CN" sz="2400" b="0" dirty="0">
              <a:latin typeface="Arial" panose="020B0604020202020204" pitchFamily="34" charset="0"/>
              <a:cs typeface="Arial" panose="020B0604020202020204" pitchFamily="34" charset="0"/>
            </a:endParaRPr>
          </a:p>
          <a:p>
            <a:pPr lvl="1"/>
            <a:r>
              <a:rPr lang="zh-CN" altLang="en-US" sz="2400" b="0" dirty="0">
                <a:latin typeface="Arial" panose="020B0604020202020204" pitchFamily="34" charset="0"/>
                <a:cs typeface="Arial" panose="020B0604020202020204" pitchFamily="34" charset="0"/>
              </a:rPr>
              <a:t>掌握评价计算机性能的方法</a:t>
            </a:r>
            <a:endParaRPr lang="en-CN" altLang="zh-CN" sz="1800" b="0" dirty="0">
              <a:latin typeface="Arial" panose="020B0604020202020204" pitchFamily="34" charset="0"/>
              <a:cs typeface="Arial" panose="020B0604020202020204" pitchFamily="34" charset="0"/>
            </a:endParaRPr>
          </a:p>
          <a:p>
            <a:r>
              <a:rPr lang="zh-CN" altLang="en-US" sz="2800" b="1" dirty="0">
                <a:latin typeface="Arial" panose="020B0604020202020204" pitchFamily="34" charset="0"/>
                <a:cs typeface="Arial" panose="020B0604020202020204" pitchFamily="34" charset="0"/>
              </a:rPr>
              <a:t>思想</a:t>
            </a:r>
            <a:endParaRPr lang="en-US" altLang="zh-CN" sz="2800" b="1" dirty="0">
              <a:latin typeface="Arial" panose="020B0604020202020204" pitchFamily="34" charset="0"/>
              <a:cs typeface="Arial" panose="020B0604020202020204" pitchFamily="34" charset="0"/>
            </a:endParaRPr>
          </a:p>
          <a:p>
            <a:pPr lvl="1"/>
            <a:r>
              <a:rPr lang="zh-CN" altLang="en-US" sz="2400" b="0" dirty="0">
                <a:latin typeface="Arial" panose="020B0604020202020204" pitchFamily="34" charset="0"/>
                <a:cs typeface="Arial" panose="020B0604020202020204" pitchFamily="34" charset="0"/>
              </a:rPr>
              <a:t>通用同步计算</a:t>
            </a:r>
            <a:endParaRPr lang="en-US" altLang="zh-CN" sz="2400" b="0" dirty="0">
              <a:latin typeface="Arial" panose="020B0604020202020204" pitchFamily="34" charset="0"/>
              <a:cs typeface="Arial" panose="020B0604020202020204" pitchFamily="34" charset="0"/>
            </a:endParaRPr>
          </a:p>
          <a:p>
            <a:pPr lvl="1"/>
            <a:r>
              <a:rPr lang="zh-CN" altLang="en-US" sz="2400" b="0" dirty="0">
                <a:latin typeface="Arial" panose="020B0604020202020204" pitchFamily="34" charset="0"/>
                <a:cs typeface="Arial" panose="020B0604020202020204" pitchFamily="34" charset="0"/>
              </a:rPr>
              <a:t>系统的跨层次协同设计与优化</a:t>
            </a:r>
            <a:endParaRPr lang="en-CN" altLang="zh-CN" sz="2400" b="0" dirty="0">
              <a:latin typeface="Arial" panose="020B0604020202020204" pitchFamily="34" charset="0"/>
              <a:cs typeface="Arial" panose="020B0604020202020204" pitchFamily="34" charset="0"/>
            </a:endParaRPr>
          </a:p>
        </p:txBody>
      </p:sp>
      <p:sp>
        <p:nvSpPr>
          <p:cNvPr id="3" name="Title 4">
            <a:extLst>
              <a:ext uri="{FF2B5EF4-FFF2-40B4-BE49-F238E27FC236}">
                <a16:creationId xmlns:a16="http://schemas.microsoft.com/office/drawing/2014/main" id="{BB3C720D-773D-0BF6-FC21-5B4E97A2B8C1}"/>
              </a:ext>
            </a:extLst>
          </p:cNvPr>
          <p:cNvSpPr txBox="1">
            <a:spLocks/>
          </p:cNvSpPr>
          <p:nvPr/>
        </p:nvSpPr>
        <p:spPr bwMode="auto">
          <a:xfrm>
            <a:off x="457200" y="136800"/>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sz="4000" dirty="0">
                <a:latin typeface="+mj-ea"/>
                <a:ea typeface="+mj-ea"/>
              </a:rPr>
              <a:t>本节课学习目标</a:t>
            </a:r>
            <a:endParaRPr lang="en-CN" kern="0" dirty="0"/>
          </a:p>
        </p:txBody>
      </p:sp>
    </p:spTree>
    <p:extLst>
      <p:ext uri="{BB962C8B-B14F-4D97-AF65-F5344CB8AC3E}">
        <p14:creationId xmlns:p14="http://schemas.microsoft.com/office/powerpoint/2010/main" val="22888850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58C6A64-4532-734D-A003-17AB02EDCF0D}"/>
              </a:ext>
            </a:extLst>
          </p:cNvPr>
          <p:cNvSpPr>
            <a:spLocks noGrp="1"/>
          </p:cNvSpPr>
          <p:nvPr>
            <p:ph type="sldNum" sz="quarter" idx="12"/>
          </p:nvPr>
        </p:nvSpPr>
        <p:spPr/>
        <p:txBody>
          <a:bodyPr/>
          <a:lstStyle/>
          <a:p>
            <a:fld id="{176ACFD1-D213-4B9C-817B-45486DBF105A}" type="slidenum">
              <a:rPr lang="en-US" smtClean="0">
                <a:solidFill>
                  <a:prstClr val="black"/>
                </a:solidFill>
              </a:rPr>
              <a:pPr/>
              <a:t>7</a:t>
            </a:fld>
            <a:endParaRPr lang="en-US">
              <a:solidFill>
                <a:prstClr val="black"/>
              </a:solidFill>
            </a:endParaRPr>
          </a:p>
        </p:txBody>
      </p:sp>
      <p:sp>
        <p:nvSpPr>
          <p:cNvPr id="3" name="Content Placeholder 2">
            <a:extLst>
              <a:ext uri="{FF2B5EF4-FFF2-40B4-BE49-F238E27FC236}">
                <a16:creationId xmlns:a16="http://schemas.microsoft.com/office/drawing/2014/main" id="{FBC54065-A8EB-A646-8897-9BA089C94A03}"/>
              </a:ext>
            </a:extLst>
          </p:cNvPr>
          <p:cNvSpPr>
            <a:spLocks noGrp="1"/>
          </p:cNvSpPr>
          <p:nvPr>
            <p:ph idx="4294967295"/>
          </p:nvPr>
        </p:nvSpPr>
        <p:spPr>
          <a:xfrm>
            <a:off x="457200" y="1392410"/>
            <a:ext cx="8229600" cy="4649162"/>
          </a:xfrm>
        </p:spPr>
        <p:txBody>
          <a:bodyPr>
            <a:normAutofit lnSpcReduction="10000"/>
          </a:bodyPr>
          <a:lstStyle/>
          <a:p>
            <a:pPr>
              <a:lnSpc>
                <a:spcPct val="120000"/>
              </a:lnSpc>
            </a:pPr>
            <a:r>
              <a:rPr lang="zh-CN" altLang="en-US" dirty="0">
                <a:solidFill>
                  <a:srgbClr val="0432FF"/>
                </a:solidFill>
                <a:latin typeface="Arial" panose="020B0604020202020204" pitchFamily="34" charset="0"/>
                <a:cs typeface="Arial" panose="020B0604020202020204" pitchFamily="34" charset="0"/>
              </a:rPr>
              <a:t>指令设计思想与考虑</a:t>
            </a:r>
            <a:endParaRPr lang="en-US" altLang="zh-CN" dirty="0">
              <a:solidFill>
                <a:srgbClr val="0432FF"/>
              </a:solidFill>
              <a:latin typeface="Arial" panose="020B0604020202020204" pitchFamily="34" charset="0"/>
              <a:cs typeface="Arial" panose="020B0604020202020204" pitchFamily="34" charset="0"/>
            </a:endParaRPr>
          </a:p>
          <a:p>
            <a:pPr>
              <a:lnSpc>
                <a:spcPct val="120000"/>
              </a:lnSpc>
            </a:pPr>
            <a:r>
              <a:rPr lang="en-US" dirty="0">
                <a:latin typeface="Arial" panose="020B0604020202020204" pitchFamily="34" charset="0"/>
                <a:cs typeface="Arial" panose="020B0604020202020204" pitchFamily="34" charset="0"/>
              </a:rPr>
              <a:t>MIPS</a:t>
            </a:r>
            <a:r>
              <a:rPr lang="zh-CN" altLang="en-US" dirty="0">
                <a:latin typeface="Arial" panose="020B0604020202020204" pitchFamily="34" charset="0"/>
                <a:cs typeface="Arial" panose="020B0604020202020204" pitchFamily="34" charset="0"/>
              </a:rPr>
              <a:t>指令集介绍</a:t>
            </a:r>
            <a:endParaRPr lang="en-US" altLang="zh-CN" dirty="0">
              <a:latin typeface="Arial" panose="020B0604020202020204" pitchFamily="34" charset="0"/>
              <a:cs typeface="Arial" panose="020B0604020202020204" pitchFamily="34" charset="0"/>
            </a:endParaRPr>
          </a:p>
          <a:p>
            <a:pPr lvl="1">
              <a:lnSpc>
                <a:spcPct val="120000"/>
              </a:lnSpc>
            </a:pPr>
            <a:r>
              <a:rPr lang="zh-CN" altLang="en-US" b="0" dirty="0">
                <a:latin typeface="Arial" panose="020B0604020202020204" pitchFamily="34" charset="0"/>
                <a:cs typeface="Arial" panose="020B0604020202020204" pitchFamily="34" charset="0"/>
              </a:rPr>
              <a:t>指令存储与数据存储</a:t>
            </a:r>
            <a:endParaRPr lang="en-US" altLang="zh-CN" b="0" dirty="0">
              <a:latin typeface="Arial" panose="020B0604020202020204" pitchFamily="34" charset="0"/>
              <a:cs typeface="Arial" panose="020B0604020202020204" pitchFamily="34" charset="0"/>
            </a:endParaRPr>
          </a:p>
          <a:p>
            <a:pPr lvl="1">
              <a:lnSpc>
                <a:spcPct val="120000"/>
              </a:lnSpc>
            </a:pPr>
            <a:r>
              <a:rPr lang="zh-CN" altLang="en-US" b="0" dirty="0">
                <a:latin typeface="Arial" panose="020B0604020202020204" pitchFamily="34" charset="0"/>
                <a:cs typeface="Arial" panose="020B0604020202020204" pitchFamily="34" charset="0"/>
              </a:rPr>
              <a:t>指令分类与格式</a:t>
            </a:r>
            <a:endParaRPr lang="en-US" altLang="zh-CN" b="0" dirty="0">
              <a:latin typeface="Arial" panose="020B0604020202020204" pitchFamily="34" charset="0"/>
              <a:cs typeface="Arial" panose="020B0604020202020204" pitchFamily="34" charset="0"/>
            </a:endParaRPr>
          </a:p>
          <a:p>
            <a:pPr lvl="1">
              <a:lnSpc>
                <a:spcPct val="120000"/>
              </a:lnSpc>
            </a:pPr>
            <a:r>
              <a:rPr lang="zh-CN" altLang="en-US" b="0" dirty="0">
                <a:latin typeface="Arial" panose="020B0604020202020204" pitchFamily="34" charset="0"/>
                <a:cs typeface="Arial" panose="020B0604020202020204" pitchFamily="34" charset="0"/>
              </a:rPr>
              <a:t>寻址方式</a:t>
            </a:r>
            <a:endParaRPr lang="en-US" altLang="zh-CN" b="0" dirty="0">
              <a:latin typeface="Arial" panose="020B0604020202020204" pitchFamily="34" charset="0"/>
              <a:cs typeface="Arial" panose="020B0604020202020204" pitchFamily="34" charset="0"/>
            </a:endParaRPr>
          </a:p>
          <a:p>
            <a:pPr lvl="1">
              <a:lnSpc>
                <a:spcPct val="120000"/>
              </a:lnSpc>
            </a:pPr>
            <a:r>
              <a:rPr lang="zh-CN" altLang="en-US" b="0" dirty="0">
                <a:latin typeface="Arial" panose="020B0604020202020204" pitchFamily="34" charset="0"/>
                <a:cs typeface="Arial" panose="020B0604020202020204" pitchFamily="34" charset="0"/>
              </a:rPr>
              <a:t>指令系统</a:t>
            </a:r>
            <a:endParaRPr lang="en-US" altLang="zh-CN" b="0" dirty="0">
              <a:latin typeface="Arial" panose="020B0604020202020204" pitchFamily="34" charset="0"/>
              <a:cs typeface="Arial" panose="020B0604020202020204" pitchFamily="34" charset="0"/>
            </a:endParaRPr>
          </a:p>
          <a:p>
            <a:pPr lvl="1">
              <a:lnSpc>
                <a:spcPct val="120000"/>
              </a:lnSpc>
            </a:pPr>
            <a:r>
              <a:rPr lang="zh-CN" altLang="en-US" b="0" dirty="0">
                <a:latin typeface="Arial" panose="020B0604020202020204" pitchFamily="34" charset="0"/>
                <a:cs typeface="Arial" panose="020B0604020202020204" pitchFamily="34" charset="0"/>
              </a:rPr>
              <a:t>过程调用</a:t>
            </a:r>
            <a:endParaRPr lang="en-US" altLang="zh-CN" b="0" dirty="0">
              <a:latin typeface="Arial" panose="020B0604020202020204" pitchFamily="34" charset="0"/>
              <a:cs typeface="Arial" panose="020B0604020202020204" pitchFamily="34" charset="0"/>
            </a:endParaRPr>
          </a:p>
          <a:p>
            <a:pPr>
              <a:lnSpc>
                <a:spcPct val="120000"/>
              </a:lnSpc>
            </a:pPr>
            <a:r>
              <a:rPr lang="en-US" altLang="zh-CN" dirty="0">
                <a:latin typeface="Arial" panose="020B0604020202020204" pitchFamily="34" charset="0"/>
                <a:cs typeface="Arial" panose="020B0604020202020204" pitchFamily="34" charset="0"/>
              </a:rPr>
              <a:t>MIPS</a:t>
            </a:r>
            <a:r>
              <a:rPr lang="zh-CN" altLang="en-US" dirty="0">
                <a:latin typeface="Arial" panose="020B0604020202020204" pitchFamily="34" charset="0"/>
                <a:cs typeface="Arial" panose="020B0604020202020204" pitchFamily="34" charset="0"/>
              </a:rPr>
              <a:t>指令集程序（课后阅读学习）</a:t>
            </a:r>
            <a:endParaRPr lang="en-US" altLang="zh-CN" dirty="0">
              <a:latin typeface="Arial" panose="020B0604020202020204" pitchFamily="34" charset="0"/>
              <a:cs typeface="Arial" panose="020B0604020202020204" pitchFamily="34" charset="0"/>
            </a:endParaRPr>
          </a:p>
        </p:txBody>
      </p:sp>
      <p:sp>
        <p:nvSpPr>
          <p:cNvPr id="8" name="Title 4">
            <a:extLst>
              <a:ext uri="{FF2B5EF4-FFF2-40B4-BE49-F238E27FC236}">
                <a16:creationId xmlns:a16="http://schemas.microsoft.com/office/drawing/2014/main" id="{33DE34BE-D7B6-05BB-F820-2DBB27A1AFFE}"/>
              </a:ext>
            </a:extLst>
          </p:cNvPr>
          <p:cNvSpPr txBox="1">
            <a:spLocks/>
          </p:cNvSpPr>
          <p:nvPr/>
        </p:nvSpPr>
        <p:spPr bwMode="auto">
          <a:xfrm>
            <a:off x="457200" y="136800"/>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kumimoji="1" lang="zh-CN" altLang="en-US" dirty="0"/>
              <a:t>本节课目录</a:t>
            </a:r>
            <a:endParaRPr lang="en-CN" kern="0" dirty="0"/>
          </a:p>
        </p:txBody>
      </p:sp>
    </p:spTree>
    <p:extLst>
      <p:ext uri="{BB962C8B-B14F-4D97-AF65-F5344CB8AC3E}">
        <p14:creationId xmlns:p14="http://schemas.microsoft.com/office/powerpoint/2010/main" val="27032783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8DB6E3C9-3DA5-6142-ADEB-E9842D813971}"/>
              </a:ext>
            </a:extLst>
          </p:cNvPr>
          <p:cNvSpPr>
            <a:spLocks noGrp="1"/>
          </p:cNvSpPr>
          <p:nvPr>
            <p:ph type="sldNum" sz="quarter" idx="12"/>
          </p:nvPr>
        </p:nvSpPr>
        <p:spPr/>
        <p:txBody>
          <a:bodyPr/>
          <a:lstStyle/>
          <a:p>
            <a:fld id="{14659731-6BD7-46E7-8D3C-2F3AC07E20B1}" type="slidenum">
              <a:rPr lang="en-US" altLang="zh-CN" smtClean="0"/>
              <a:pPr/>
              <a:t>8</a:t>
            </a:fld>
            <a:endParaRPr lang="en-US" altLang="zh-CN"/>
          </a:p>
        </p:txBody>
      </p:sp>
      <p:sp>
        <p:nvSpPr>
          <p:cNvPr id="2" name="TextBox 25">
            <a:extLst>
              <a:ext uri="{FF2B5EF4-FFF2-40B4-BE49-F238E27FC236}">
                <a16:creationId xmlns:a16="http://schemas.microsoft.com/office/drawing/2014/main" id="{EBA5B381-4934-2EB9-2703-94A2B2290BA3}"/>
              </a:ext>
            </a:extLst>
          </p:cNvPr>
          <p:cNvSpPr txBox="1"/>
          <p:nvPr/>
        </p:nvSpPr>
        <p:spPr>
          <a:xfrm>
            <a:off x="0" y="5774504"/>
            <a:ext cx="9144000" cy="461665"/>
          </a:xfrm>
          <a:prstGeom prst="rect">
            <a:avLst/>
          </a:prstGeom>
          <a:solidFill>
            <a:schemeClr val="bg1">
              <a:lumMod val="95000"/>
            </a:schemeClr>
          </a:solidFill>
          <a:ln>
            <a:noFill/>
          </a:ln>
        </p:spPr>
        <p:txBody>
          <a:bodyPr wrap="square">
            <a:spAutoFit/>
          </a:bodyPr>
          <a:lstStyle>
            <a:defPPr>
              <a:defRPr lang="en-US"/>
            </a:defPPr>
            <a:lvl1pPr eaLnBrk="1" hangingPunct="1">
              <a:defRPr sz="3200" b="1">
                <a:solidFill>
                  <a:srgbClr val="FF3300"/>
                </a:solidFill>
                <a:latin typeface="黑体" pitchFamily="49" charset="-122"/>
                <a:ea typeface="黑体" pitchFamily="49"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ctr"/>
            <a:r>
              <a:rPr lang="zh-CN" altLang="en-US" sz="2400" dirty="0">
                <a:solidFill>
                  <a:schemeClr val="tx1"/>
                </a:solidFill>
                <a:latin typeface="+mj-ea"/>
                <a:ea typeface="+mj-ea"/>
              </a:rPr>
              <a:t>算法本质上是</a:t>
            </a:r>
            <a:r>
              <a:rPr lang="zh-CN" altLang="en-US" sz="2400" dirty="0">
                <a:solidFill>
                  <a:srgbClr val="0432FF"/>
                </a:solidFill>
                <a:latin typeface="+mj-ea"/>
                <a:ea typeface="+mj-ea"/>
              </a:rPr>
              <a:t>几种类型的指令</a:t>
            </a:r>
            <a:r>
              <a:rPr lang="zh-CN" altLang="en-US" sz="2400" dirty="0">
                <a:solidFill>
                  <a:schemeClr val="tx1"/>
                </a:solidFill>
                <a:latin typeface="+mj-ea"/>
                <a:ea typeface="+mj-ea"/>
              </a:rPr>
              <a:t>组成的序列</a:t>
            </a:r>
            <a:endParaRPr lang="en-US" altLang="zh-CN" sz="2400" dirty="0">
              <a:solidFill>
                <a:srgbClr val="0432FF"/>
              </a:solidFill>
              <a:latin typeface="+mj-ea"/>
              <a:ea typeface="+mj-ea"/>
            </a:endParaRPr>
          </a:p>
        </p:txBody>
      </p:sp>
      <p:sp>
        <p:nvSpPr>
          <p:cNvPr id="3" name="Title 4">
            <a:extLst>
              <a:ext uri="{FF2B5EF4-FFF2-40B4-BE49-F238E27FC236}">
                <a16:creationId xmlns:a16="http://schemas.microsoft.com/office/drawing/2014/main" id="{E13D7A39-442A-D7A8-95B9-34AAC00B5D18}"/>
              </a:ext>
            </a:extLst>
          </p:cNvPr>
          <p:cNvSpPr txBox="1">
            <a:spLocks/>
          </p:cNvSpPr>
          <p:nvPr/>
        </p:nvSpPr>
        <p:spPr bwMode="auto">
          <a:xfrm>
            <a:off x="457200" y="136800"/>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kumimoji="1" lang="zh-CN" altLang="en-US" dirty="0"/>
              <a:t>回顾：如何支持通用算法</a:t>
            </a:r>
            <a:endParaRPr lang="en-CN" kern="0" dirty="0"/>
          </a:p>
        </p:txBody>
      </p:sp>
      <p:sp>
        <p:nvSpPr>
          <p:cNvPr id="15" name="TextBox 17">
            <a:extLst>
              <a:ext uri="{FF2B5EF4-FFF2-40B4-BE49-F238E27FC236}">
                <a16:creationId xmlns:a16="http://schemas.microsoft.com/office/drawing/2014/main" id="{565D3B14-39D0-55F3-124B-79E37ABBB214}"/>
              </a:ext>
            </a:extLst>
          </p:cNvPr>
          <p:cNvSpPr txBox="1"/>
          <p:nvPr/>
        </p:nvSpPr>
        <p:spPr>
          <a:xfrm>
            <a:off x="272176" y="1701961"/>
            <a:ext cx="4933426" cy="3970318"/>
          </a:xfrm>
          <a:prstGeom prst="rect">
            <a:avLst/>
          </a:prstGeom>
          <a:noFill/>
        </p:spPr>
        <p:txBody>
          <a:bodyPr wrap="square" rtlCol="0">
            <a:spAutoFit/>
          </a:bodyPr>
          <a:lstStyle/>
          <a:p>
            <a:pPr eaLnBrk="0" hangingPunct="0"/>
            <a:r>
              <a:rPr lang="en-US" altLang="zh-CN" b="1" i="1" dirty="0">
                <a:solidFill>
                  <a:srgbClr val="000000"/>
                </a:solidFill>
                <a:highlight>
                  <a:srgbClr val="C0C0C0"/>
                </a:highlight>
                <a:latin typeface="Consolas" panose="020B0609020204030204" pitchFamily="49" charset="0"/>
              </a:rPr>
              <a:t>QUICK_SORT(A, p, r)</a:t>
            </a:r>
          </a:p>
          <a:p>
            <a:pPr eaLnBrk="0" hangingPunct="0"/>
            <a:r>
              <a:rPr lang="en-US" altLang="zh-CN" i="1" dirty="0">
                <a:solidFill>
                  <a:srgbClr val="9BBB59">
                    <a:lumMod val="50000"/>
                  </a:srgbClr>
                </a:solidFill>
                <a:latin typeface="Consolas" panose="020B0609020204030204" pitchFamily="49" charset="0"/>
              </a:rPr>
              <a:t>if p &lt; r        </a:t>
            </a:r>
          </a:p>
          <a:p>
            <a:pPr eaLnBrk="0" hangingPunct="0"/>
            <a:r>
              <a:rPr lang="en-US" altLang="zh-CN" i="1" dirty="0">
                <a:solidFill>
                  <a:srgbClr val="000000"/>
                </a:solidFill>
                <a:latin typeface="Consolas" panose="020B0609020204030204" pitchFamily="49" charset="0"/>
              </a:rPr>
              <a:t>  </a:t>
            </a:r>
            <a:r>
              <a:rPr lang="en-US" altLang="zh-CN" i="1" dirty="0">
                <a:solidFill>
                  <a:srgbClr val="F79646">
                    <a:lumMod val="75000"/>
                  </a:srgbClr>
                </a:solidFill>
                <a:latin typeface="Consolas" panose="020B0609020204030204" pitchFamily="49" charset="0"/>
              </a:rPr>
              <a:t>q = PARTITION(A, p, r)</a:t>
            </a:r>
          </a:p>
          <a:p>
            <a:pPr eaLnBrk="0" hangingPunct="0"/>
            <a:r>
              <a:rPr lang="en-US" altLang="zh-CN" i="1" dirty="0">
                <a:solidFill>
                  <a:srgbClr val="000000"/>
                </a:solidFill>
                <a:latin typeface="Consolas" panose="020B0609020204030204" pitchFamily="49" charset="0"/>
              </a:rPr>
              <a:t>  </a:t>
            </a:r>
            <a:r>
              <a:rPr lang="en-US" altLang="zh-CN" i="1" dirty="0">
                <a:solidFill>
                  <a:srgbClr val="F79646">
                    <a:lumMod val="75000"/>
                  </a:srgbClr>
                </a:solidFill>
                <a:latin typeface="Consolas" panose="020B0609020204030204" pitchFamily="49" charset="0"/>
              </a:rPr>
              <a:t>QUICK_SORT(A, p, q - 1)</a:t>
            </a:r>
          </a:p>
          <a:p>
            <a:pPr eaLnBrk="0" hangingPunct="0"/>
            <a:r>
              <a:rPr lang="en-US" altLang="zh-CN" i="1" dirty="0">
                <a:solidFill>
                  <a:srgbClr val="F79646">
                    <a:lumMod val="75000"/>
                  </a:srgbClr>
                </a:solidFill>
                <a:latin typeface="Consolas" panose="020B0609020204030204" pitchFamily="49" charset="0"/>
              </a:rPr>
              <a:t>  QUICK_SORT(A, q + 1, r)</a:t>
            </a:r>
          </a:p>
          <a:p>
            <a:pPr eaLnBrk="0" hangingPunct="0"/>
            <a:endParaRPr lang="en-US" altLang="zh-CN" b="1" i="1" dirty="0">
              <a:solidFill>
                <a:srgbClr val="000000"/>
              </a:solidFill>
              <a:latin typeface="Consolas" panose="020B0609020204030204" pitchFamily="49" charset="0"/>
            </a:endParaRPr>
          </a:p>
          <a:p>
            <a:pPr eaLnBrk="0" hangingPunct="0"/>
            <a:r>
              <a:rPr lang="en-US" altLang="zh-CN" b="1" i="1" dirty="0">
                <a:solidFill>
                  <a:srgbClr val="000000"/>
                </a:solidFill>
                <a:highlight>
                  <a:srgbClr val="C0C0C0"/>
                </a:highlight>
                <a:latin typeface="Consolas" panose="020B0609020204030204" pitchFamily="49" charset="0"/>
              </a:rPr>
              <a:t>PARTITION(</a:t>
            </a:r>
            <a:r>
              <a:rPr lang="en-US" altLang="zh-CN" b="1" i="1" dirty="0" err="1">
                <a:solidFill>
                  <a:srgbClr val="000000"/>
                </a:solidFill>
                <a:highlight>
                  <a:srgbClr val="C0C0C0"/>
                </a:highlight>
                <a:latin typeface="Consolas" panose="020B0609020204030204" pitchFamily="49" charset="0"/>
              </a:rPr>
              <a:t>A,p,r</a:t>
            </a:r>
            <a:r>
              <a:rPr lang="en-US" altLang="zh-CN" b="1" i="1" dirty="0">
                <a:solidFill>
                  <a:srgbClr val="000000"/>
                </a:solidFill>
                <a:highlight>
                  <a:srgbClr val="C0C0C0"/>
                </a:highlight>
                <a:latin typeface="Consolas" panose="020B0609020204030204" pitchFamily="49" charset="0"/>
              </a:rPr>
              <a:t>)</a:t>
            </a:r>
          </a:p>
          <a:p>
            <a:pPr eaLnBrk="0" hangingPunct="0"/>
            <a:r>
              <a:rPr lang="en-US" altLang="zh-CN" i="1" dirty="0">
                <a:solidFill>
                  <a:srgbClr val="C00000"/>
                </a:solidFill>
                <a:latin typeface="Consolas" panose="020B0609020204030204" pitchFamily="49" charset="0"/>
              </a:rPr>
              <a:t>i = p - 1</a:t>
            </a:r>
          </a:p>
          <a:p>
            <a:pPr eaLnBrk="0" hangingPunct="0"/>
            <a:r>
              <a:rPr lang="en-US" altLang="zh-CN" i="1" dirty="0">
                <a:solidFill>
                  <a:srgbClr val="9BBB59">
                    <a:lumMod val="50000"/>
                  </a:srgbClr>
                </a:solidFill>
                <a:latin typeface="Consolas" panose="020B0609020204030204" pitchFamily="49" charset="0"/>
              </a:rPr>
              <a:t>for j = p to r - 1</a:t>
            </a:r>
          </a:p>
          <a:p>
            <a:pPr eaLnBrk="0" hangingPunct="0"/>
            <a:r>
              <a:rPr lang="en-US" altLang="zh-CN" i="1" dirty="0">
                <a:solidFill>
                  <a:srgbClr val="9BBB59">
                    <a:lumMod val="50000"/>
                  </a:srgbClr>
                </a:solidFill>
                <a:latin typeface="Consolas" panose="020B0609020204030204" pitchFamily="49" charset="0"/>
              </a:rPr>
              <a:t>  if </a:t>
            </a:r>
            <a:r>
              <a:rPr lang="en-US" altLang="zh-CN" i="1" dirty="0">
                <a:solidFill>
                  <a:srgbClr val="CC0099"/>
                </a:solidFill>
                <a:latin typeface="Consolas" panose="020B0609020204030204" pitchFamily="49" charset="0"/>
              </a:rPr>
              <a:t>A[j]</a:t>
            </a:r>
            <a:r>
              <a:rPr lang="en-US" altLang="zh-CN" i="1" dirty="0">
                <a:solidFill>
                  <a:srgbClr val="9BBB59">
                    <a:lumMod val="50000"/>
                  </a:srgbClr>
                </a:solidFill>
                <a:latin typeface="Consolas" panose="020B0609020204030204" pitchFamily="49" charset="0"/>
              </a:rPr>
              <a:t> &lt; </a:t>
            </a:r>
            <a:r>
              <a:rPr lang="en-US" altLang="zh-CN" i="1" dirty="0">
                <a:solidFill>
                  <a:srgbClr val="CC0099"/>
                </a:solidFill>
                <a:latin typeface="Consolas" panose="020B0609020204030204" pitchFamily="49" charset="0"/>
              </a:rPr>
              <a:t>A[r]</a:t>
            </a:r>
          </a:p>
          <a:p>
            <a:pPr eaLnBrk="0" hangingPunct="0"/>
            <a:r>
              <a:rPr lang="en-US" altLang="zh-CN" i="1" dirty="0">
                <a:solidFill>
                  <a:srgbClr val="C00000"/>
                </a:solidFill>
                <a:latin typeface="Consolas" panose="020B0609020204030204" pitchFamily="49" charset="0"/>
              </a:rPr>
              <a:t>    </a:t>
            </a:r>
            <a:r>
              <a:rPr lang="en-US" altLang="zh-CN" i="1" dirty="0" err="1">
                <a:solidFill>
                  <a:srgbClr val="C00000"/>
                </a:solidFill>
                <a:latin typeface="Consolas" panose="020B0609020204030204" pitchFamily="49" charset="0"/>
              </a:rPr>
              <a:t>i</a:t>
            </a:r>
            <a:r>
              <a:rPr lang="en-US" altLang="zh-CN" i="1" dirty="0">
                <a:solidFill>
                  <a:srgbClr val="C00000"/>
                </a:solidFill>
                <a:latin typeface="Consolas" panose="020B0609020204030204" pitchFamily="49" charset="0"/>
              </a:rPr>
              <a:t> = </a:t>
            </a:r>
            <a:r>
              <a:rPr lang="en-US" altLang="zh-CN" i="1" dirty="0" err="1">
                <a:solidFill>
                  <a:srgbClr val="C00000"/>
                </a:solidFill>
                <a:latin typeface="Consolas" panose="020B0609020204030204" pitchFamily="49" charset="0"/>
              </a:rPr>
              <a:t>i</a:t>
            </a:r>
            <a:r>
              <a:rPr lang="en-US" altLang="zh-CN" i="1" dirty="0">
                <a:solidFill>
                  <a:srgbClr val="C00000"/>
                </a:solidFill>
                <a:latin typeface="Consolas" panose="020B0609020204030204" pitchFamily="49" charset="0"/>
              </a:rPr>
              <a:t> + 1	</a:t>
            </a:r>
            <a:r>
              <a:rPr lang="en-US" altLang="zh-CN" i="1" dirty="0">
                <a:solidFill>
                  <a:srgbClr val="000000"/>
                </a:solidFill>
                <a:latin typeface="Consolas" panose="020B0609020204030204" pitchFamily="49" charset="0"/>
              </a:rPr>
              <a:t>	</a:t>
            </a:r>
          </a:p>
          <a:p>
            <a:pPr eaLnBrk="0" hangingPunct="0"/>
            <a:r>
              <a:rPr lang="en-US" altLang="zh-CN" i="1" dirty="0">
                <a:solidFill>
                  <a:srgbClr val="000000"/>
                </a:solidFill>
                <a:latin typeface="Consolas" panose="020B0609020204030204" pitchFamily="49" charset="0"/>
              </a:rPr>
              <a:t>    </a:t>
            </a:r>
            <a:r>
              <a:rPr lang="en-US" altLang="zh-CN" i="1" dirty="0">
                <a:solidFill>
                  <a:srgbClr val="4F81BD">
                    <a:lumMod val="75000"/>
                  </a:srgbClr>
                </a:solidFill>
                <a:latin typeface="Consolas" panose="020B0609020204030204" pitchFamily="49" charset="0"/>
              </a:rPr>
              <a:t>exchange </a:t>
            </a:r>
            <a:r>
              <a:rPr lang="en-US" altLang="zh-CN" i="1" dirty="0">
                <a:solidFill>
                  <a:srgbClr val="CC0099"/>
                </a:solidFill>
                <a:latin typeface="Consolas" panose="020B0609020204030204" pitchFamily="49" charset="0"/>
              </a:rPr>
              <a:t>A[j]</a:t>
            </a:r>
            <a:r>
              <a:rPr lang="en-US" altLang="zh-CN" i="1" dirty="0">
                <a:solidFill>
                  <a:srgbClr val="4F81BD">
                    <a:lumMod val="75000"/>
                  </a:srgbClr>
                </a:solidFill>
                <a:latin typeface="Consolas" panose="020B0609020204030204" pitchFamily="49" charset="0"/>
              </a:rPr>
              <a:t> with </a:t>
            </a:r>
            <a:r>
              <a:rPr lang="en-US" altLang="zh-CN" i="1" dirty="0">
                <a:solidFill>
                  <a:srgbClr val="CC0099"/>
                </a:solidFill>
                <a:latin typeface="Consolas" panose="020B0609020204030204" pitchFamily="49" charset="0"/>
              </a:rPr>
              <a:t>A[i]</a:t>
            </a:r>
          </a:p>
          <a:p>
            <a:pPr eaLnBrk="0" hangingPunct="0"/>
            <a:r>
              <a:rPr lang="en-US" altLang="zh-CN" i="1" dirty="0">
                <a:solidFill>
                  <a:srgbClr val="4F81BD">
                    <a:lumMod val="75000"/>
                  </a:srgbClr>
                </a:solidFill>
                <a:latin typeface="Consolas" panose="020B0609020204030204" pitchFamily="49" charset="0"/>
              </a:rPr>
              <a:t>exchange </a:t>
            </a:r>
            <a:r>
              <a:rPr lang="en-US" altLang="zh-CN" i="1" dirty="0">
                <a:solidFill>
                  <a:srgbClr val="CC0099"/>
                </a:solidFill>
                <a:latin typeface="Consolas" panose="020B0609020204030204" pitchFamily="49" charset="0"/>
              </a:rPr>
              <a:t>A[i + 1] </a:t>
            </a:r>
            <a:r>
              <a:rPr lang="en-US" altLang="zh-CN" i="1" dirty="0">
                <a:solidFill>
                  <a:srgbClr val="4F81BD">
                    <a:lumMod val="75000"/>
                  </a:srgbClr>
                </a:solidFill>
                <a:latin typeface="Consolas" panose="020B0609020204030204" pitchFamily="49" charset="0"/>
              </a:rPr>
              <a:t>with </a:t>
            </a:r>
            <a:r>
              <a:rPr lang="en-US" altLang="zh-CN" i="1" dirty="0">
                <a:solidFill>
                  <a:srgbClr val="CC0099"/>
                </a:solidFill>
                <a:latin typeface="Consolas" panose="020B0609020204030204" pitchFamily="49" charset="0"/>
              </a:rPr>
              <a:t>A[r]</a:t>
            </a:r>
          </a:p>
          <a:p>
            <a:pPr eaLnBrk="0" hangingPunct="0"/>
            <a:r>
              <a:rPr lang="en-US" altLang="zh-CN" i="1" dirty="0">
                <a:solidFill>
                  <a:srgbClr val="F79646">
                    <a:lumMod val="75000"/>
                  </a:srgbClr>
                </a:solidFill>
                <a:latin typeface="Consolas" panose="020B0609020204030204" pitchFamily="49" charset="0"/>
              </a:rPr>
              <a:t>return i + 1</a:t>
            </a:r>
          </a:p>
        </p:txBody>
      </p:sp>
      <p:sp>
        <p:nvSpPr>
          <p:cNvPr id="17" name="TextBox 15">
            <a:extLst>
              <a:ext uri="{FF2B5EF4-FFF2-40B4-BE49-F238E27FC236}">
                <a16:creationId xmlns:a16="http://schemas.microsoft.com/office/drawing/2014/main" id="{D56023E6-62C3-EEDE-4A11-23D6D6F998C3}"/>
              </a:ext>
            </a:extLst>
          </p:cNvPr>
          <p:cNvSpPr txBox="1"/>
          <p:nvPr/>
        </p:nvSpPr>
        <p:spPr>
          <a:xfrm>
            <a:off x="3930913" y="4255160"/>
            <a:ext cx="1127233" cy="369332"/>
          </a:xfrm>
          <a:prstGeom prst="rect">
            <a:avLst/>
          </a:prstGeom>
          <a:noFill/>
        </p:spPr>
        <p:txBody>
          <a:bodyPr wrap="none" rtlCol="0">
            <a:spAutoFit/>
          </a:bodyPr>
          <a:lstStyle/>
          <a:p>
            <a:pPr algn="ctr"/>
            <a:r>
              <a:rPr lang="zh-CN" altLang="en-US" b="1" dirty="0">
                <a:solidFill>
                  <a:srgbClr val="CC0099"/>
                </a:solidFill>
                <a:latin typeface="+mn-lt"/>
                <a:ea typeface="+mn-ea"/>
              </a:rPr>
              <a:t>访存操作</a:t>
            </a:r>
            <a:endParaRPr lang="en-US" altLang="zh-CN" b="1" dirty="0">
              <a:solidFill>
                <a:srgbClr val="CC0099"/>
              </a:solidFill>
              <a:latin typeface="+mn-lt"/>
              <a:ea typeface="+mn-ea"/>
            </a:endParaRPr>
          </a:p>
        </p:txBody>
      </p:sp>
      <p:sp>
        <p:nvSpPr>
          <p:cNvPr id="18" name="TextBox 10">
            <a:extLst>
              <a:ext uri="{FF2B5EF4-FFF2-40B4-BE49-F238E27FC236}">
                <a16:creationId xmlns:a16="http://schemas.microsoft.com/office/drawing/2014/main" id="{E5B23AFD-8C70-0B47-649F-F48B14FB3D5F}"/>
              </a:ext>
            </a:extLst>
          </p:cNvPr>
          <p:cNvSpPr txBox="1"/>
          <p:nvPr/>
        </p:nvSpPr>
        <p:spPr>
          <a:xfrm>
            <a:off x="5785070" y="1698739"/>
            <a:ext cx="3516580" cy="3693319"/>
          </a:xfrm>
          <a:prstGeom prst="rect">
            <a:avLst/>
          </a:prstGeom>
          <a:noFill/>
        </p:spPr>
        <p:txBody>
          <a:bodyPr wrap="square" rtlCol="0">
            <a:spAutoFit/>
          </a:bodyPr>
          <a:lstStyle/>
          <a:p>
            <a:pPr eaLnBrk="0" hangingPunct="0"/>
            <a:r>
              <a:rPr lang="en-US" altLang="zh-CN" b="1" i="1" dirty="0">
                <a:solidFill>
                  <a:srgbClr val="000000"/>
                </a:solidFill>
                <a:highlight>
                  <a:srgbClr val="C0C0C0"/>
                </a:highlight>
                <a:latin typeface="Consolas" panose="020B0609020204030204" pitchFamily="49" charset="0"/>
              </a:rPr>
              <a:t>DIJKSTRA(G, w, s)</a:t>
            </a:r>
          </a:p>
          <a:p>
            <a:pPr eaLnBrk="0" hangingPunct="0"/>
            <a:r>
              <a:rPr lang="en-US" altLang="zh-CN" i="1" dirty="0">
                <a:solidFill>
                  <a:srgbClr val="4F81BD">
                    <a:lumMod val="75000"/>
                  </a:srgbClr>
                </a:solidFill>
                <a:latin typeface="Consolas" panose="020B0609020204030204" pitchFamily="49" charset="0"/>
              </a:rPr>
              <a:t>S = ∅</a:t>
            </a:r>
          </a:p>
          <a:p>
            <a:pPr eaLnBrk="0" hangingPunct="0"/>
            <a:r>
              <a:rPr lang="en-US" altLang="zh-CN" i="1" dirty="0">
                <a:solidFill>
                  <a:srgbClr val="4F81BD">
                    <a:lumMod val="75000"/>
                  </a:srgbClr>
                </a:solidFill>
                <a:latin typeface="Consolas" panose="020B0609020204030204" pitchFamily="49" charset="0"/>
              </a:rPr>
              <a:t>Q = G.V</a:t>
            </a:r>
          </a:p>
          <a:p>
            <a:pPr eaLnBrk="0" hangingPunct="0"/>
            <a:r>
              <a:rPr lang="en-US" altLang="zh-CN" i="1" dirty="0">
                <a:solidFill>
                  <a:srgbClr val="9BBB59">
                    <a:lumMod val="50000"/>
                  </a:srgbClr>
                </a:solidFill>
                <a:latin typeface="Consolas" panose="020B0609020204030204" pitchFamily="49" charset="0"/>
              </a:rPr>
              <a:t>while Q != ∅</a:t>
            </a:r>
          </a:p>
          <a:p>
            <a:pPr eaLnBrk="0" hangingPunct="0"/>
            <a:r>
              <a:rPr lang="en-US" altLang="zh-CN" i="1" dirty="0">
                <a:solidFill>
                  <a:srgbClr val="000000"/>
                </a:solidFill>
                <a:latin typeface="Consolas" panose="020B0609020204030204" pitchFamily="49" charset="0"/>
              </a:rPr>
              <a:t>  </a:t>
            </a:r>
            <a:r>
              <a:rPr lang="en-US" altLang="zh-CN" i="1" dirty="0">
                <a:solidFill>
                  <a:srgbClr val="4F81BD">
                    <a:lumMod val="75000"/>
                  </a:srgbClr>
                </a:solidFill>
                <a:latin typeface="Consolas" panose="020B0609020204030204" pitchFamily="49" charset="0"/>
              </a:rPr>
              <a:t>u = EXTRACT-MIN(Q) </a:t>
            </a:r>
          </a:p>
          <a:p>
            <a:pPr eaLnBrk="0" hangingPunct="0"/>
            <a:r>
              <a:rPr lang="en-US" altLang="zh-CN" i="1" dirty="0">
                <a:solidFill>
                  <a:srgbClr val="4F81BD">
                    <a:lumMod val="75000"/>
                  </a:srgbClr>
                </a:solidFill>
                <a:latin typeface="Consolas" panose="020B0609020204030204" pitchFamily="49" charset="0"/>
              </a:rPr>
              <a:t>  S = S ∪ {u};</a:t>
            </a:r>
          </a:p>
          <a:p>
            <a:pPr eaLnBrk="0" hangingPunct="0"/>
            <a:r>
              <a:rPr lang="en-US" altLang="zh-CN" i="1" dirty="0">
                <a:solidFill>
                  <a:srgbClr val="000000"/>
                </a:solidFill>
                <a:latin typeface="Consolas" panose="020B0609020204030204" pitchFamily="49" charset="0"/>
              </a:rPr>
              <a:t>  </a:t>
            </a:r>
            <a:r>
              <a:rPr lang="en-US" altLang="zh-CN" i="1" dirty="0">
                <a:solidFill>
                  <a:srgbClr val="9BBB59">
                    <a:lumMod val="50000"/>
                  </a:srgbClr>
                </a:solidFill>
                <a:latin typeface="Consolas" panose="020B0609020204030204" pitchFamily="49" charset="0"/>
              </a:rPr>
              <a:t>for each v ∈ </a:t>
            </a:r>
            <a:r>
              <a:rPr lang="en-US" altLang="zh-CN" i="1" dirty="0" err="1">
                <a:solidFill>
                  <a:srgbClr val="9BBB59">
                    <a:lumMod val="50000"/>
                  </a:srgbClr>
                </a:solidFill>
                <a:latin typeface="Consolas" panose="020B0609020204030204" pitchFamily="49" charset="0"/>
              </a:rPr>
              <a:t>Q.Adj</a:t>
            </a:r>
            <a:r>
              <a:rPr lang="en-US" altLang="zh-CN" i="1" dirty="0">
                <a:solidFill>
                  <a:srgbClr val="9BBB59">
                    <a:lumMod val="50000"/>
                  </a:srgbClr>
                </a:solidFill>
                <a:latin typeface="Consolas" panose="020B0609020204030204" pitchFamily="49" charset="0"/>
              </a:rPr>
              <a:t>(u)</a:t>
            </a:r>
          </a:p>
          <a:p>
            <a:pPr eaLnBrk="0" hangingPunct="0"/>
            <a:r>
              <a:rPr lang="en-US" altLang="zh-CN" i="1" dirty="0">
                <a:solidFill>
                  <a:srgbClr val="000000"/>
                </a:solidFill>
                <a:latin typeface="Consolas" panose="020B0609020204030204" pitchFamily="49" charset="0"/>
              </a:rPr>
              <a:t>    </a:t>
            </a:r>
            <a:r>
              <a:rPr lang="en-US" altLang="zh-CN" i="1" dirty="0">
                <a:solidFill>
                  <a:srgbClr val="F79646">
                    <a:lumMod val="75000"/>
                  </a:srgbClr>
                </a:solidFill>
                <a:latin typeface="Consolas" panose="020B0609020204030204" pitchFamily="49" charset="0"/>
              </a:rPr>
              <a:t>RELAX(u, v, w)</a:t>
            </a:r>
            <a:r>
              <a:rPr lang="en-US" altLang="zh-CN" i="1" dirty="0">
                <a:solidFill>
                  <a:srgbClr val="000000"/>
                </a:solidFill>
                <a:latin typeface="Consolas" panose="020B0609020204030204" pitchFamily="49" charset="0"/>
              </a:rPr>
              <a:t>		</a:t>
            </a:r>
          </a:p>
          <a:p>
            <a:pPr eaLnBrk="0" hangingPunct="0"/>
            <a:r>
              <a:rPr lang="en-US" altLang="zh-CN" b="1" i="1" dirty="0">
                <a:solidFill>
                  <a:srgbClr val="000000"/>
                </a:solidFill>
                <a:highlight>
                  <a:srgbClr val="C0C0C0"/>
                </a:highlight>
                <a:latin typeface="Consolas" panose="020B0609020204030204" pitchFamily="49" charset="0"/>
              </a:rPr>
              <a:t>RELAX(</a:t>
            </a:r>
            <a:r>
              <a:rPr lang="en-US" altLang="zh-CN" b="1" i="1" dirty="0" err="1">
                <a:solidFill>
                  <a:srgbClr val="000000"/>
                </a:solidFill>
                <a:highlight>
                  <a:srgbClr val="C0C0C0"/>
                </a:highlight>
                <a:latin typeface="Consolas" panose="020B0609020204030204" pitchFamily="49" charset="0"/>
              </a:rPr>
              <a:t>u,v,w</a:t>
            </a:r>
            <a:r>
              <a:rPr lang="en-US" altLang="zh-CN" b="1" i="1" dirty="0">
                <a:solidFill>
                  <a:srgbClr val="000000"/>
                </a:solidFill>
                <a:highlight>
                  <a:srgbClr val="C0C0C0"/>
                </a:highlight>
                <a:latin typeface="Consolas" panose="020B0609020204030204" pitchFamily="49" charset="0"/>
              </a:rPr>
              <a:t>)</a:t>
            </a:r>
          </a:p>
          <a:p>
            <a:pPr eaLnBrk="0" hangingPunct="0"/>
            <a:r>
              <a:rPr lang="en-US" altLang="zh-CN" i="1" dirty="0">
                <a:solidFill>
                  <a:srgbClr val="9BBB59">
                    <a:lumMod val="50000"/>
                  </a:srgbClr>
                </a:solidFill>
                <a:latin typeface="Consolas" panose="020B0609020204030204" pitchFamily="49" charset="0"/>
              </a:rPr>
              <a:t>if </a:t>
            </a:r>
            <a:r>
              <a:rPr lang="en-US" altLang="zh-CN" i="1" dirty="0" err="1">
                <a:solidFill>
                  <a:srgbClr val="9BBB59">
                    <a:lumMod val="50000"/>
                  </a:srgbClr>
                </a:solidFill>
                <a:latin typeface="Consolas" panose="020B0609020204030204" pitchFamily="49" charset="0"/>
              </a:rPr>
              <a:t>v.d</a:t>
            </a:r>
            <a:r>
              <a:rPr lang="en-US" altLang="zh-CN" i="1" dirty="0">
                <a:solidFill>
                  <a:srgbClr val="9BBB59">
                    <a:lumMod val="50000"/>
                  </a:srgbClr>
                </a:solidFill>
                <a:latin typeface="Consolas" panose="020B0609020204030204" pitchFamily="49" charset="0"/>
              </a:rPr>
              <a:t> &gt; </a:t>
            </a:r>
            <a:r>
              <a:rPr lang="en-US" altLang="zh-CN" i="1" dirty="0" err="1">
                <a:solidFill>
                  <a:srgbClr val="9BBB59">
                    <a:lumMod val="50000"/>
                  </a:srgbClr>
                </a:solidFill>
                <a:latin typeface="Consolas" panose="020B0609020204030204" pitchFamily="49" charset="0"/>
              </a:rPr>
              <a:t>u.d</a:t>
            </a:r>
            <a:r>
              <a:rPr lang="en-US" altLang="zh-CN" i="1" dirty="0">
                <a:solidFill>
                  <a:srgbClr val="9BBB59">
                    <a:lumMod val="50000"/>
                  </a:srgbClr>
                </a:solidFill>
                <a:latin typeface="Consolas" panose="020B0609020204030204" pitchFamily="49" charset="0"/>
              </a:rPr>
              <a:t> + w(</a:t>
            </a:r>
            <a:r>
              <a:rPr lang="en-US" altLang="zh-CN" i="1" dirty="0" err="1">
                <a:solidFill>
                  <a:srgbClr val="9BBB59">
                    <a:lumMod val="50000"/>
                  </a:srgbClr>
                </a:solidFill>
                <a:latin typeface="Consolas" panose="020B0609020204030204" pitchFamily="49" charset="0"/>
              </a:rPr>
              <a:t>u,v</a:t>
            </a:r>
            <a:r>
              <a:rPr lang="en-US" altLang="zh-CN" i="1" dirty="0">
                <a:solidFill>
                  <a:srgbClr val="9BBB59">
                    <a:lumMod val="50000"/>
                  </a:srgbClr>
                </a:solidFill>
                <a:latin typeface="Consolas" panose="020B0609020204030204" pitchFamily="49" charset="0"/>
              </a:rPr>
              <a:t>)</a:t>
            </a:r>
            <a:r>
              <a:rPr lang="en-US" altLang="zh-CN" i="1" dirty="0">
                <a:solidFill>
                  <a:srgbClr val="000000"/>
                </a:solidFill>
                <a:latin typeface="Consolas" panose="020B0609020204030204" pitchFamily="49" charset="0"/>
              </a:rPr>
              <a:t>	</a:t>
            </a:r>
          </a:p>
          <a:p>
            <a:pPr eaLnBrk="0" hangingPunct="0"/>
            <a:r>
              <a:rPr lang="en-US" altLang="zh-CN" i="1" dirty="0">
                <a:solidFill>
                  <a:srgbClr val="000000"/>
                </a:solidFill>
                <a:latin typeface="Consolas" panose="020B0609020204030204" pitchFamily="49" charset="0"/>
              </a:rPr>
              <a:t>  </a:t>
            </a:r>
            <a:r>
              <a:rPr lang="en-US" altLang="zh-CN" i="1" dirty="0" err="1">
                <a:solidFill>
                  <a:srgbClr val="C00000"/>
                </a:solidFill>
                <a:latin typeface="Consolas" panose="020B0609020204030204" pitchFamily="49" charset="0"/>
              </a:rPr>
              <a:t>v.d</a:t>
            </a:r>
            <a:r>
              <a:rPr lang="en-US" altLang="zh-CN" i="1" dirty="0">
                <a:solidFill>
                  <a:srgbClr val="C00000"/>
                </a:solidFill>
                <a:latin typeface="Consolas" panose="020B0609020204030204" pitchFamily="49" charset="0"/>
              </a:rPr>
              <a:t> = </a:t>
            </a:r>
            <a:r>
              <a:rPr lang="en-US" altLang="zh-CN" i="1" dirty="0" err="1">
                <a:solidFill>
                  <a:srgbClr val="C00000"/>
                </a:solidFill>
                <a:latin typeface="Consolas" panose="020B0609020204030204" pitchFamily="49" charset="0"/>
              </a:rPr>
              <a:t>u.d</a:t>
            </a:r>
            <a:r>
              <a:rPr lang="en-US" altLang="zh-CN" i="1" dirty="0">
                <a:solidFill>
                  <a:srgbClr val="C00000"/>
                </a:solidFill>
                <a:latin typeface="Consolas" panose="020B0609020204030204" pitchFamily="49" charset="0"/>
              </a:rPr>
              <a:t> + w(</a:t>
            </a:r>
            <a:r>
              <a:rPr lang="en-US" altLang="zh-CN" i="1" dirty="0" err="1">
                <a:solidFill>
                  <a:srgbClr val="C00000"/>
                </a:solidFill>
                <a:latin typeface="Consolas" panose="020B0609020204030204" pitchFamily="49" charset="0"/>
              </a:rPr>
              <a:t>u,v</a:t>
            </a:r>
            <a:r>
              <a:rPr lang="en-US" altLang="zh-CN" i="1" dirty="0">
                <a:solidFill>
                  <a:srgbClr val="C00000"/>
                </a:solidFill>
                <a:latin typeface="Consolas" panose="020B0609020204030204" pitchFamily="49" charset="0"/>
              </a:rPr>
              <a:t>)</a:t>
            </a:r>
          </a:p>
          <a:p>
            <a:pPr eaLnBrk="0" hangingPunct="0"/>
            <a:r>
              <a:rPr lang="en-US" altLang="zh-CN" i="1" dirty="0">
                <a:solidFill>
                  <a:srgbClr val="4F81BD">
                    <a:lumMod val="75000"/>
                  </a:srgbClr>
                </a:solidFill>
                <a:latin typeface="Consolas" panose="020B0609020204030204" pitchFamily="49" charset="0"/>
              </a:rPr>
              <a:t>  v.</a:t>
            </a:r>
            <a:r>
              <a:rPr lang="el-GR" altLang="zh-CN" i="1" dirty="0">
                <a:solidFill>
                  <a:srgbClr val="4F81BD">
                    <a:lumMod val="75000"/>
                  </a:srgbClr>
                </a:solidFill>
                <a:latin typeface="Consolas" panose="020B0609020204030204" pitchFamily="49" charset="0"/>
              </a:rPr>
              <a:t>π = </a:t>
            </a:r>
            <a:r>
              <a:rPr lang="en-US" altLang="zh-CN" i="1" dirty="0">
                <a:solidFill>
                  <a:srgbClr val="4F81BD">
                    <a:lumMod val="75000"/>
                  </a:srgbClr>
                </a:solidFill>
                <a:latin typeface="Consolas" panose="020B0609020204030204" pitchFamily="49" charset="0"/>
              </a:rPr>
              <a:t>u</a:t>
            </a:r>
          </a:p>
        </p:txBody>
      </p:sp>
      <p:sp>
        <p:nvSpPr>
          <p:cNvPr id="20" name="TextBox 27">
            <a:extLst>
              <a:ext uri="{FF2B5EF4-FFF2-40B4-BE49-F238E27FC236}">
                <a16:creationId xmlns:a16="http://schemas.microsoft.com/office/drawing/2014/main" id="{1E6D6769-6B59-FD03-87F5-D11BAC971C76}"/>
              </a:ext>
            </a:extLst>
          </p:cNvPr>
          <p:cNvSpPr txBox="1"/>
          <p:nvPr/>
        </p:nvSpPr>
        <p:spPr>
          <a:xfrm>
            <a:off x="3910003" y="3661417"/>
            <a:ext cx="1127233" cy="646331"/>
          </a:xfrm>
          <a:prstGeom prst="rect">
            <a:avLst/>
          </a:prstGeom>
          <a:noFill/>
        </p:spPr>
        <p:txBody>
          <a:bodyPr wrap="none" rtlCol="0">
            <a:spAutoFit/>
          </a:bodyPr>
          <a:lstStyle/>
          <a:p>
            <a:pPr algn="ctr"/>
            <a:r>
              <a:rPr lang="zh-CN" altLang="en-US" b="1" dirty="0">
                <a:solidFill>
                  <a:srgbClr val="F79646">
                    <a:lumMod val="75000"/>
                  </a:srgbClr>
                </a:solidFill>
                <a:latin typeface="+mn-lt"/>
                <a:ea typeface="+mn-ea"/>
              </a:rPr>
              <a:t>直接跳转</a:t>
            </a:r>
            <a:endParaRPr lang="en-US" altLang="zh-CN" b="1" dirty="0">
              <a:solidFill>
                <a:srgbClr val="F79646">
                  <a:lumMod val="75000"/>
                </a:srgbClr>
              </a:solidFill>
              <a:latin typeface="+mn-lt"/>
              <a:ea typeface="+mn-ea"/>
            </a:endParaRPr>
          </a:p>
          <a:p>
            <a:pPr algn="ctr"/>
            <a:r>
              <a:rPr lang="zh-CN" altLang="en-US" b="1">
                <a:solidFill>
                  <a:srgbClr val="F79646">
                    <a:lumMod val="75000"/>
                  </a:srgbClr>
                </a:solidFill>
                <a:latin typeface="+mn-lt"/>
                <a:ea typeface="+mn-ea"/>
              </a:rPr>
              <a:t>过程调用</a:t>
            </a:r>
            <a:endParaRPr lang="zh-CN" altLang="en-US" b="1" dirty="0">
              <a:solidFill>
                <a:srgbClr val="F79646">
                  <a:lumMod val="75000"/>
                </a:srgbClr>
              </a:solidFill>
              <a:latin typeface="+mn-lt"/>
              <a:ea typeface="+mn-ea"/>
            </a:endParaRPr>
          </a:p>
        </p:txBody>
      </p:sp>
      <p:sp>
        <p:nvSpPr>
          <p:cNvPr id="21" name="TextBox 16">
            <a:extLst>
              <a:ext uri="{FF2B5EF4-FFF2-40B4-BE49-F238E27FC236}">
                <a16:creationId xmlns:a16="http://schemas.microsoft.com/office/drawing/2014/main" id="{0D678990-9331-5E9F-639C-E6376F81DB07}"/>
              </a:ext>
            </a:extLst>
          </p:cNvPr>
          <p:cNvSpPr txBox="1"/>
          <p:nvPr/>
        </p:nvSpPr>
        <p:spPr>
          <a:xfrm>
            <a:off x="3910007" y="3372249"/>
            <a:ext cx="1127233" cy="369332"/>
          </a:xfrm>
          <a:prstGeom prst="rect">
            <a:avLst/>
          </a:prstGeom>
          <a:noFill/>
        </p:spPr>
        <p:txBody>
          <a:bodyPr wrap="none" rtlCol="0">
            <a:spAutoFit/>
          </a:bodyPr>
          <a:lstStyle/>
          <a:p>
            <a:pPr algn="ctr"/>
            <a:r>
              <a:rPr lang="zh-CN" altLang="en-US" b="1" dirty="0">
                <a:solidFill>
                  <a:srgbClr val="9BBB59">
                    <a:lumMod val="50000"/>
                  </a:srgbClr>
                </a:solidFill>
                <a:latin typeface="+mn-lt"/>
                <a:ea typeface="+mn-ea"/>
              </a:rPr>
              <a:t>分支跳转</a:t>
            </a:r>
          </a:p>
        </p:txBody>
      </p:sp>
      <p:sp>
        <p:nvSpPr>
          <p:cNvPr id="22" name="TextBox 13">
            <a:extLst>
              <a:ext uri="{FF2B5EF4-FFF2-40B4-BE49-F238E27FC236}">
                <a16:creationId xmlns:a16="http://schemas.microsoft.com/office/drawing/2014/main" id="{265A47D2-F263-83DF-8CE5-DC586636FD16}"/>
              </a:ext>
            </a:extLst>
          </p:cNvPr>
          <p:cNvSpPr txBox="1"/>
          <p:nvPr/>
        </p:nvSpPr>
        <p:spPr>
          <a:xfrm>
            <a:off x="3910008" y="2758970"/>
            <a:ext cx="1127233" cy="646331"/>
          </a:xfrm>
          <a:prstGeom prst="rect">
            <a:avLst/>
          </a:prstGeom>
          <a:noFill/>
        </p:spPr>
        <p:txBody>
          <a:bodyPr wrap="none" rtlCol="0">
            <a:spAutoFit/>
          </a:bodyPr>
          <a:lstStyle/>
          <a:p>
            <a:pPr algn="ctr"/>
            <a:r>
              <a:rPr lang="zh-CN" altLang="en-US" b="1" dirty="0">
                <a:solidFill>
                  <a:srgbClr val="C00000"/>
                </a:solidFill>
                <a:latin typeface="+mn-lt"/>
                <a:ea typeface="+mn-ea"/>
              </a:rPr>
              <a:t>算术操作</a:t>
            </a:r>
            <a:endParaRPr lang="en-US" altLang="zh-CN" b="1" dirty="0">
              <a:solidFill>
                <a:srgbClr val="C00000"/>
              </a:solidFill>
              <a:latin typeface="+mn-lt"/>
              <a:ea typeface="+mn-ea"/>
            </a:endParaRPr>
          </a:p>
          <a:p>
            <a:pPr algn="ctr"/>
            <a:r>
              <a:rPr lang="zh-CN" altLang="en-US" b="1" dirty="0">
                <a:solidFill>
                  <a:srgbClr val="C00000"/>
                </a:solidFill>
                <a:latin typeface="+mn-lt"/>
                <a:ea typeface="+mn-ea"/>
              </a:rPr>
              <a:t>逻辑操作</a:t>
            </a:r>
          </a:p>
        </p:txBody>
      </p:sp>
      <p:sp>
        <p:nvSpPr>
          <p:cNvPr id="23" name="TextBox 13">
            <a:extLst>
              <a:ext uri="{FF2B5EF4-FFF2-40B4-BE49-F238E27FC236}">
                <a16:creationId xmlns:a16="http://schemas.microsoft.com/office/drawing/2014/main" id="{47C2674F-DFDD-74F7-254F-F50E343167A0}"/>
              </a:ext>
            </a:extLst>
          </p:cNvPr>
          <p:cNvSpPr txBox="1"/>
          <p:nvPr/>
        </p:nvSpPr>
        <p:spPr>
          <a:xfrm>
            <a:off x="3344553" y="1410775"/>
            <a:ext cx="2305439" cy="369332"/>
          </a:xfrm>
          <a:prstGeom prst="rect">
            <a:avLst/>
          </a:prstGeom>
          <a:noFill/>
        </p:spPr>
        <p:txBody>
          <a:bodyPr wrap="none" rtlCol="0">
            <a:spAutoFit/>
          </a:bodyPr>
          <a:lstStyle/>
          <a:p>
            <a:pPr algn="ctr"/>
            <a:r>
              <a:rPr lang="zh-CN" altLang="en-US" b="1" dirty="0">
                <a:solidFill>
                  <a:srgbClr val="C0504D">
                    <a:lumMod val="75000"/>
                  </a:srgbClr>
                </a:solidFill>
                <a:latin typeface="+mn-lt"/>
                <a:ea typeface="+mn-ea"/>
              </a:rPr>
              <a:t>顺序执行，除非跳转</a:t>
            </a:r>
          </a:p>
        </p:txBody>
      </p:sp>
      <p:sp>
        <p:nvSpPr>
          <p:cNvPr id="25" name="TextBox 36">
            <a:extLst>
              <a:ext uri="{FF2B5EF4-FFF2-40B4-BE49-F238E27FC236}">
                <a16:creationId xmlns:a16="http://schemas.microsoft.com/office/drawing/2014/main" id="{975156F6-A0C5-E427-354F-F9A47C23AAEA}"/>
              </a:ext>
            </a:extLst>
          </p:cNvPr>
          <p:cNvSpPr txBox="1"/>
          <p:nvPr/>
        </p:nvSpPr>
        <p:spPr>
          <a:xfrm>
            <a:off x="4169573" y="2406008"/>
            <a:ext cx="655950" cy="369332"/>
          </a:xfrm>
          <a:prstGeom prst="rect">
            <a:avLst/>
          </a:prstGeom>
          <a:noFill/>
        </p:spPr>
        <p:txBody>
          <a:bodyPr wrap="none" rtlCol="0">
            <a:spAutoFit/>
          </a:bodyPr>
          <a:lstStyle/>
          <a:p>
            <a:pPr algn="ctr"/>
            <a:r>
              <a:rPr lang="zh-CN" altLang="en-US" b="1" dirty="0">
                <a:solidFill>
                  <a:srgbClr val="4F81BD">
                    <a:lumMod val="75000"/>
                  </a:srgbClr>
                </a:solidFill>
                <a:latin typeface="+mn-lt"/>
                <a:ea typeface="+mn-ea"/>
              </a:rPr>
              <a:t>赋值</a:t>
            </a:r>
          </a:p>
        </p:txBody>
      </p:sp>
    </p:spTree>
    <p:extLst>
      <p:ext uri="{BB962C8B-B14F-4D97-AF65-F5344CB8AC3E}">
        <p14:creationId xmlns:p14="http://schemas.microsoft.com/office/powerpoint/2010/main" val="28200098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3">
            <a:extLst>
              <a:ext uri="{FF2B5EF4-FFF2-40B4-BE49-F238E27FC236}">
                <a16:creationId xmlns:a16="http://schemas.microsoft.com/office/drawing/2014/main" id="{5EAD535F-E7DD-85DD-2271-C3615EC2A760}"/>
              </a:ext>
            </a:extLst>
          </p:cNvPr>
          <p:cNvGraphicFramePr>
            <a:graphicFrameLocks noGrp="1"/>
          </p:cNvGraphicFramePr>
          <p:nvPr>
            <p:extLst>
              <p:ext uri="{D42A27DB-BD31-4B8C-83A1-F6EECF244321}">
                <p14:modId xmlns:p14="http://schemas.microsoft.com/office/powerpoint/2010/main" val="3445449436"/>
              </p:ext>
            </p:extLst>
          </p:nvPr>
        </p:nvGraphicFramePr>
        <p:xfrm>
          <a:off x="503538" y="1765738"/>
          <a:ext cx="8458200" cy="4798824"/>
        </p:xfrm>
        <a:graphic>
          <a:graphicData uri="http://schemas.openxmlformats.org/drawingml/2006/table">
            <a:tbl>
              <a:tblPr firstRow="1" bandRow="1">
                <a:tableStyleId>{073A0DAA-6AF3-43AB-8588-CEC1D06C72B9}</a:tableStyleId>
              </a:tblPr>
              <a:tblGrid>
                <a:gridCol w="2114550">
                  <a:extLst>
                    <a:ext uri="{9D8B030D-6E8A-4147-A177-3AD203B41FA5}">
                      <a16:colId xmlns:a16="http://schemas.microsoft.com/office/drawing/2014/main" val="4168796790"/>
                    </a:ext>
                  </a:extLst>
                </a:gridCol>
                <a:gridCol w="2114550">
                  <a:extLst>
                    <a:ext uri="{9D8B030D-6E8A-4147-A177-3AD203B41FA5}">
                      <a16:colId xmlns:a16="http://schemas.microsoft.com/office/drawing/2014/main" val="4210389464"/>
                    </a:ext>
                  </a:extLst>
                </a:gridCol>
                <a:gridCol w="2114550">
                  <a:extLst>
                    <a:ext uri="{9D8B030D-6E8A-4147-A177-3AD203B41FA5}">
                      <a16:colId xmlns:a16="http://schemas.microsoft.com/office/drawing/2014/main" val="1825201686"/>
                    </a:ext>
                  </a:extLst>
                </a:gridCol>
                <a:gridCol w="2114550">
                  <a:extLst>
                    <a:ext uri="{9D8B030D-6E8A-4147-A177-3AD203B41FA5}">
                      <a16:colId xmlns:a16="http://schemas.microsoft.com/office/drawing/2014/main" val="759132673"/>
                    </a:ext>
                  </a:extLst>
                </a:gridCol>
              </a:tblGrid>
              <a:tr h="408328">
                <a:tc gridSpan="4">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zh-CN" altLang="en-US" sz="1800" dirty="0">
                          <a:solidFill>
                            <a:schemeClr val="tx1"/>
                          </a:solidFill>
                          <a:latin typeface="Consolas" panose="020B0609020204030204" pitchFamily="49" charset="0"/>
                          <a:ea typeface="+mn-ea"/>
                          <a:cs typeface="Consolas" panose="020B0609020204030204" pitchFamily="49" charset="0"/>
                        </a:rPr>
                        <a:t>算术指令</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hMerge="1">
                  <a:txBody>
                    <a:bodyPr/>
                    <a:lstStyle/>
                    <a:p>
                      <a:pPr algn="ctr"/>
                      <a:r>
                        <a:rPr lang="zh-CN" altLang="en-US" sz="1800">
                          <a:solidFill>
                            <a:schemeClr val="tx1"/>
                          </a:solidFill>
                          <a:latin typeface="微软雅黑" panose="020B0503020204020204" pitchFamily="34" charset="-122"/>
                          <a:ea typeface="微软雅黑" panose="020B0503020204020204" pitchFamily="34" charset="-122"/>
                        </a:rPr>
                        <a:t>功能</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zh-CN" altLang="en-US" sz="1800">
                          <a:solidFill>
                            <a:schemeClr val="tx1"/>
                          </a:solidFill>
                          <a:latin typeface="微软雅黑" panose="020B0503020204020204" pitchFamily="34" charset="-122"/>
                          <a:ea typeface="微软雅黑" panose="020B0503020204020204" pitchFamily="34" charset="-122"/>
                        </a:rPr>
                        <a:t>指令</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r>
                        <a:rPr lang="zh-CN" altLang="en-US" sz="1800">
                          <a:solidFill>
                            <a:schemeClr val="tx1"/>
                          </a:solidFill>
                          <a:latin typeface="微软雅黑" panose="020B0503020204020204" pitchFamily="34" charset="-122"/>
                          <a:ea typeface="微软雅黑" panose="020B0503020204020204" pitchFamily="34" charset="-122"/>
                        </a:rPr>
                        <a:t>功能</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9758767"/>
                  </a:ext>
                </a:extLst>
              </a:tr>
              <a:tr h="399136">
                <a:tc>
                  <a:txBody>
                    <a:bodyPr/>
                    <a:lstStyle/>
                    <a:p>
                      <a:pPr marL="0" algn="ctr" defTabSz="685800" rtl="0" eaLnBrk="1" latinLnBrk="0" hangingPunct="1"/>
                      <a:r>
                        <a:rPr lang="en-US" altLang="zh-CN" sz="1400" i="1" kern="1200" dirty="0">
                          <a:solidFill>
                            <a:schemeClr val="dk1"/>
                          </a:solidFill>
                          <a:latin typeface="Consolas" panose="020B0609020204030204" pitchFamily="49" charset="0"/>
                          <a:ea typeface="+mn-ea"/>
                          <a:cs typeface="Consolas" panose="020B0609020204030204" pitchFamily="49" charset="0"/>
                        </a:rPr>
                        <a:t> add a0, a1, a2;    </a:t>
                      </a:r>
                      <a:endParaRPr lang="zh-CN" altLang="en-US" sz="1400" i="1" kern="1200" dirty="0">
                        <a:solidFill>
                          <a:schemeClr val="dk1"/>
                        </a:solidFill>
                        <a:latin typeface="Consolas" panose="020B0609020204030204" pitchFamily="49" charset="0"/>
                        <a:ea typeface="+mn-ea"/>
                        <a:cs typeface="Consolas" panose="020B0609020204030204" pitchFamily="49" charset="0"/>
                      </a:endParaRPr>
                    </a:p>
                  </a:txBody>
                  <a:tcPr anchor="ctr">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685800" rtl="0" eaLnBrk="1" latinLnBrk="0" hangingPunct="1"/>
                      <a:r>
                        <a:rPr lang="en-US" altLang="zh-CN" sz="1400" i="1" kern="1200" noProof="0" dirty="0" err="1">
                          <a:solidFill>
                            <a:schemeClr val="dk1"/>
                          </a:solidFill>
                          <a:latin typeface="Consolas" panose="020B0609020204030204" pitchFamily="49" charset="0"/>
                          <a:ea typeface="+mn-ea"/>
                          <a:cs typeface="Consolas" panose="020B0609020204030204" pitchFamily="49" charset="0"/>
                        </a:rPr>
                        <a:t>addi</a:t>
                      </a:r>
                      <a:r>
                        <a:rPr lang="en-US" altLang="zh-CN" sz="1400" i="1" kern="1200" noProof="0" dirty="0">
                          <a:solidFill>
                            <a:schemeClr val="dk1"/>
                          </a:solidFill>
                          <a:latin typeface="Consolas" panose="020B0609020204030204" pitchFamily="49" charset="0"/>
                          <a:ea typeface="+mn-ea"/>
                          <a:cs typeface="Consolas" panose="020B0609020204030204" pitchFamily="49" charset="0"/>
                        </a:rPr>
                        <a:t> a0, a1, 5;</a:t>
                      </a:r>
                      <a:endParaRPr lang="zh-CN" altLang="en-US" sz="1400" i="1" kern="1200" dirty="0">
                        <a:solidFill>
                          <a:schemeClr val="dk1"/>
                        </a:solidFill>
                        <a:latin typeface="Consolas" panose="020B0609020204030204" pitchFamily="49" charset="0"/>
                        <a:ea typeface="+mn-ea"/>
                        <a:cs typeface="Consolas" panose="020B0609020204030204" pitchFamily="49"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685800" rtl="0" eaLnBrk="1" latinLnBrk="0" hangingPunct="1"/>
                      <a:r>
                        <a:rPr lang="en-US" altLang="zh-CN" sz="1400" i="1" kern="1200" dirty="0">
                          <a:solidFill>
                            <a:schemeClr val="dk1"/>
                          </a:solidFill>
                          <a:latin typeface="Consolas" panose="020B0609020204030204" pitchFamily="49" charset="0"/>
                          <a:ea typeface="+mn-ea"/>
                          <a:cs typeface="Consolas" panose="020B0609020204030204" pitchFamily="49" charset="0"/>
                        </a:rPr>
                        <a:t>sub a0, a1, a2; </a:t>
                      </a:r>
                      <a:endParaRPr lang="zh-CN" altLang="en-US" sz="1400" i="1" kern="1200" dirty="0">
                        <a:solidFill>
                          <a:schemeClr val="dk1"/>
                        </a:solidFill>
                        <a:latin typeface="Consolas" panose="020B0609020204030204" pitchFamily="49" charset="0"/>
                        <a:ea typeface="+mn-ea"/>
                        <a:cs typeface="Consolas" panose="020B0609020204030204" pitchFamily="49"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685800" rtl="0" eaLnBrk="1" latinLnBrk="0" hangingPunct="1"/>
                      <a:r>
                        <a:rPr lang="en-US" altLang="zh-CN" sz="1400" i="1" kern="1200" err="1">
                          <a:solidFill>
                            <a:schemeClr val="dk1"/>
                          </a:solidFill>
                          <a:latin typeface="Consolas" panose="020B0609020204030204" pitchFamily="49" charset="0"/>
                          <a:ea typeface="+mn-ea"/>
                          <a:cs typeface="Consolas" panose="020B0609020204030204" pitchFamily="49" charset="0"/>
                        </a:rPr>
                        <a:t>subi</a:t>
                      </a:r>
                      <a:r>
                        <a:rPr lang="en-US" altLang="zh-CN" sz="1400" i="1" kern="1200">
                          <a:solidFill>
                            <a:schemeClr val="dk1"/>
                          </a:solidFill>
                          <a:latin typeface="Consolas" panose="020B0609020204030204" pitchFamily="49" charset="0"/>
                          <a:ea typeface="+mn-ea"/>
                          <a:cs typeface="Consolas" panose="020B0609020204030204" pitchFamily="49" charset="0"/>
                        </a:rPr>
                        <a:t> a0, a1, 5; </a:t>
                      </a:r>
                      <a:endParaRPr lang="zh-CN" altLang="en-US" sz="1400" i="1" kern="1200">
                        <a:solidFill>
                          <a:schemeClr val="dk1"/>
                        </a:solidFill>
                        <a:latin typeface="Consolas" panose="020B0609020204030204" pitchFamily="49" charset="0"/>
                        <a:ea typeface="+mn-ea"/>
                        <a:cs typeface="Consolas" panose="020B0609020204030204" pitchFamily="49" charset="0"/>
                      </a:endParaRPr>
                    </a:p>
                  </a:txBody>
                  <a:tcPr anchor="ctr">
                    <a:lnL w="1270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59532006"/>
                  </a:ext>
                </a:extLst>
              </a:tr>
              <a:tr h="399136">
                <a:tc>
                  <a:txBody>
                    <a:bodyPr/>
                    <a:lstStyle/>
                    <a:p>
                      <a:pPr marL="0" algn="ctr" defTabSz="685800" rtl="0" eaLnBrk="1" latinLnBrk="0" hangingPunct="1"/>
                      <a:r>
                        <a:rPr lang="en-US" altLang="zh-CN" sz="1400" i="1" kern="1200" dirty="0">
                          <a:solidFill>
                            <a:schemeClr val="dk1"/>
                          </a:solidFill>
                          <a:latin typeface="Consolas" panose="020B0609020204030204" pitchFamily="49" charset="0"/>
                          <a:ea typeface="+mn-ea"/>
                          <a:cs typeface="Consolas" panose="020B0609020204030204" pitchFamily="49" charset="0"/>
                        </a:rPr>
                        <a:t>and a0, a1, a2;</a:t>
                      </a:r>
                      <a:endParaRPr lang="zh-CN" altLang="en-US" sz="1400" i="1" kern="1200" dirty="0">
                        <a:solidFill>
                          <a:schemeClr val="dk1"/>
                        </a:solidFill>
                        <a:latin typeface="Consolas" panose="020B0609020204030204" pitchFamily="49" charset="0"/>
                        <a:ea typeface="+mn-ea"/>
                        <a:cs typeface="Consolas" panose="020B0609020204030204" pitchFamily="49" charset="0"/>
                      </a:endParaRPr>
                    </a:p>
                  </a:txBody>
                  <a:tcPr anchor="ctr">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685800" rtl="0" eaLnBrk="1" latinLnBrk="0" hangingPunct="1"/>
                      <a:r>
                        <a:rPr lang="en-US" altLang="zh-CN" sz="1400" i="1" kern="1200" dirty="0" err="1">
                          <a:solidFill>
                            <a:schemeClr val="dk1"/>
                          </a:solidFill>
                          <a:latin typeface="Consolas" panose="020B0609020204030204" pitchFamily="49" charset="0"/>
                          <a:ea typeface="+mn-ea"/>
                          <a:cs typeface="Consolas" panose="020B0609020204030204" pitchFamily="49" charset="0"/>
                        </a:rPr>
                        <a:t>andi</a:t>
                      </a:r>
                      <a:r>
                        <a:rPr lang="en-US" altLang="zh-CN" sz="1400" i="1" kern="1200" dirty="0">
                          <a:solidFill>
                            <a:schemeClr val="dk1"/>
                          </a:solidFill>
                          <a:latin typeface="Consolas" panose="020B0609020204030204" pitchFamily="49" charset="0"/>
                          <a:ea typeface="+mn-ea"/>
                          <a:cs typeface="Consolas" panose="020B0609020204030204" pitchFamily="49" charset="0"/>
                        </a:rPr>
                        <a:t> a0, a1, 5; </a:t>
                      </a:r>
                      <a:endParaRPr lang="zh-CN" altLang="en-US" sz="1400" i="1" kern="1200" dirty="0">
                        <a:solidFill>
                          <a:schemeClr val="dk1"/>
                        </a:solidFill>
                        <a:latin typeface="Consolas" panose="020B0609020204030204" pitchFamily="49" charset="0"/>
                        <a:ea typeface="+mn-ea"/>
                        <a:cs typeface="Consolas" panose="020B0609020204030204" pitchFamily="49"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685800" rtl="0" eaLnBrk="1" latinLnBrk="0" hangingPunct="1"/>
                      <a:r>
                        <a:rPr lang="en-US" altLang="zh-CN" sz="1400" i="1" kern="1200">
                          <a:solidFill>
                            <a:schemeClr val="dk1"/>
                          </a:solidFill>
                          <a:latin typeface="Consolas" panose="020B0609020204030204" pitchFamily="49" charset="0"/>
                          <a:ea typeface="+mn-ea"/>
                          <a:cs typeface="Consolas" panose="020B0609020204030204" pitchFamily="49" charset="0"/>
                        </a:rPr>
                        <a:t> or a0, a1, a2; </a:t>
                      </a:r>
                      <a:endParaRPr lang="zh-CN" altLang="en-US" sz="1400" i="1" kern="1200">
                        <a:solidFill>
                          <a:schemeClr val="dk1"/>
                        </a:solidFill>
                        <a:latin typeface="Consolas" panose="020B0609020204030204" pitchFamily="49" charset="0"/>
                        <a:ea typeface="+mn-ea"/>
                        <a:cs typeface="Consolas" panose="020B0609020204030204" pitchFamily="49"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685800" rtl="0" eaLnBrk="1" latinLnBrk="0" hangingPunct="1"/>
                      <a:r>
                        <a:rPr lang="en-US" altLang="zh-CN" sz="1400" i="1" kern="1200" err="1">
                          <a:solidFill>
                            <a:schemeClr val="dk1"/>
                          </a:solidFill>
                          <a:latin typeface="Consolas" panose="020B0609020204030204" pitchFamily="49" charset="0"/>
                          <a:ea typeface="+mn-ea"/>
                          <a:cs typeface="Consolas" panose="020B0609020204030204" pitchFamily="49" charset="0"/>
                        </a:rPr>
                        <a:t>ori</a:t>
                      </a:r>
                      <a:r>
                        <a:rPr lang="en-US" altLang="zh-CN" sz="1400" i="1" kern="1200">
                          <a:solidFill>
                            <a:schemeClr val="dk1"/>
                          </a:solidFill>
                          <a:latin typeface="Consolas" panose="020B0609020204030204" pitchFamily="49" charset="0"/>
                          <a:ea typeface="+mn-ea"/>
                          <a:cs typeface="Consolas" panose="020B0609020204030204" pitchFamily="49" charset="0"/>
                        </a:rPr>
                        <a:t> a0, a1, 5; </a:t>
                      </a:r>
                      <a:endParaRPr lang="zh-CN" altLang="en-US" sz="1400" i="1" kern="1200">
                        <a:solidFill>
                          <a:schemeClr val="dk1"/>
                        </a:solidFill>
                        <a:latin typeface="Consolas" panose="020B0609020204030204" pitchFamily="49" charset="0"/>
                        <a:ea typeface="+mn-ea"/>
                        <a:cs typeface="Consolas" panose="020B0609020204030204" pitchFamily="49" charset="0"/>
                      </a:endParaRPr>
                    </a:p>
                  </a:txBody>
                  <a:tcPr anchor="ctr">
                    <a:lnL w="1270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00408262"/>
                  </a:ext>
                </a:extLst>
              </a:tr>
              <a:tr h="399136">
                <a:tc>
                  <a:txBody>
                    <a:bodyPr/>
                    <a:lstStyle/>
                    <a:p>
                      <a:pPr marL="0" algn="ctr" defTabSz="685800" rtl="0" eaLnBrk="1" latinLnBrk="0" hangingPunct="1"/>
                      <a:r>
                        <a:rPr lang="en-US" altLang="zh-CN" sz="1400" i="1" kern="1200" dirty="0">
                          <a:solidFill>
                            <a:schemeClr val="dk1"/>
                          </a:solidFill>
                          <a:latin typeface="Consolas" panose="020B0609020204030204" pitchFamily="49" charset="0"/>
                          <a:ea typeface="+mn-ea"/>
                          <a:cs typeface="Consolas" panose="020B0609020204030204" pitchFamily="49" charset="0"/>
                        </a:rPr>
                        <a:t> </a:t>
                      </a:r>
                      <a:r>
                        <a:rPr lang="en-US" altLang="zh-CN" sz="1400" i="1" kern="1200" dirty="0" err="1">
                          <a:solidFill>
                            <a:schemeClr val="dk1"/>
                          </a:solidFill>
                          <a:latin typeface="Consolas" panose="020B0609020204030204" pitchFamily="49" charset="0"/>
                          <a:ea typeface="+mn-ea"/>
                          <a:cs typeface="Consolas" panose="020B0609020204030204" pitchFamily="49" charset="0"/>
                        </a:rPr>
                        <a:t>xor</a:t>
                      </a:r>
                      <a:r>
                        <a:rPr lang="en-US" altLang="zh-CN" sz="1400" i="1" kern="1200" dirty="0">
                          <a:solidFill>
                            <a:schemeClr val="dk1"/>
                          </a:solidFill>
                          <a:latin typeface="Consolas" panose="020B0609020204030204" pitchFamily="49" charset="0"/>
                          <a:ea typeface="+mn-ea"/>
                          <a:cs typeface="Consolas" panose="020B0609020204030204" pitchFamily="49" charset="0"/>
                        </a:rPr>
                        <a:t> a0, a1, a2; </a:t>
                      </a:r>
                      <a:endParaRPr lang="zh-CN" altLang="en-US" sz="1400" i="1" kern="1200" dirty="0">
                        <a:solidFill>
                          <a:schemeClr val="dk1"/>
                        </a:solidFill>
                        <a:latin typeface="Consolas" panose="020B0609020204030204" pitchFamily="49" charset="0"/>
                        <a:ea typeface="+mn-ea"/>
                        <a:cs typeface="Consolas" panose="020B0609020204030204" pitchFamily="49" charset="0"/>
                      </a:endParaRPr>
                    </a:p>
                  </a:txBody>
                  <a:tcPr anchor="ctr">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685800" rtl="0" eaLnBrk="1" latinLnBrk="0" hangingPunct="1"/>
                      <a:r>
                        <a:rPr lang="en-US" altLang="zh-CN" sz="1400" i="1" kern="1200" dirty="0" err="1">
                          <a:solidFill>
                            <a:schemeClr val="dk1"/>
                          </a:solidFill>
                          <a:latin typeface="Consolas" panose="020B0609020204030204" pitchFamily="49" charset="0"/>
                          <a:ea typeface="+mn-ea"/>
                          <a:cs typeface="Consolas" panose="020B0609020204030204" pitchFamily="49" charset="0"/>
                        </a:rPr>
                        <a:t>xori</a:t>
                      </a:r>
                      <a:r>
                        <a:rPr lang="en-US" altLang="zh-CN" sz="1400" i="1" kern="1200" dirty="0">
                          <a:solidFill>
                            <a:schemeClr val="dk1"/>
                          </a:solidFill>
                          <a:latin typeface="Consolas" panose="020B0609020204030204" pitchFamily="49" charset="0"/>
                          <a:ea typeface="+mn-ea"/>
                          <a:cs typeface="Consolas" panose="020B0609020204030204" pitchFamily="49" charset="0"/>
                        </a:rPr>
                        <a:t> a0, a1, 5; </a:t>
                      </a:r>
                      <a:endParaRPr lang="zh-CN" altLang="en-US" sz="1400" i="1" kern="1200" dirty="0">
                        <a:solidFill>
                          <a:schemeClr val="dk1"/>
                        </a:solidFill>
                        <a:latin typeface="Consolas" panose="020B0609020204030204" pitchFamily="49" charset="0"/>
                        <a:ea typeface="+mn-ea"/>
                        <a:cs typeface="Consolas" panose="020B0609020204030204" pitchFamily="49"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685800" rtl="0" eaLnBrk="1" latinLnBrk="0" hangingPunct="1"/>
                      <a:r>
                        <a:rPr lang="en-US" altLang="zh-CN" sz="1400" i="1" kern="1200" dirty="0">
                          <a:solidFill>
                            <a:schemeClr val="dk1"/>
                          </a:solidFill>
                          <a:latin typeface="Consolas" panose="020B0609020204030204" pitchFamily="49" charset="0"/>
                          <a:ea typeface="+mn-ea"/>
                          <a:cs typeface="Consolas" panose="020B0609020204030204" pitchFamily="49" charset="0"/>
                        </a:rPr>
                        <a:t> </a:t>
                      </a:r>
                      <a:r>
                        <a:rPr lang="en-US" altLang="zh-CN" sz="1400" i="1" kern="1200" dirty="0" err="1">
                          <a:solidFill>
                            <a:schemeClr val="dk1"/>
                          </a:solidFill>
                          <a:latin typeface="Consolas" panose="020B0609020204030204" pitchFamily="49" charset="0"/>
                          <a:ea typeface="+mn-ea"/>
                          <a:cs typeface="Consolas" panose="020B0609020204030204" pitchFamily="49" charset="0"/>
                        </a:rPr>
                        <a:t>sll</a:t>
                      </a:r>
                      <a:r>
                        <a:rPr lang="en-US" altLang="zh-CN" sz="1400" i="1" kern="1200" dirty="0">
                          <a:solidFill>
                            <a:schemeClr val="dk1"/>
                          </a:solidFill>
                          <a:latin typeface="Consolas" panose="020B0609020204030204" pitchFamily="49" charset="0"/>
                          <a:ea typeface="+mn-ea"/>
                          <a:cs typeface="Consolas" panose="020B0609020204030204" pitchFamily="49" charset="0"/>
                        </a:rPr>
                        <a:t> a0, a1, a2; </a:t>
                      </a:r>
                      <a:endParaRPr lang="zh-CN" altLang="en-US" sz="1400" i="1" kern="1200" dirty="0">
                        <a:solidFill>
                          <a:schemeClr val="dk1"/>
                        </a:solidFill>
                        <a:latin typeface="Consolas" panose="020B0609020204030204" pitchFamily="49" charset="0"/>
                        <a:ea typeface="+mn-ea"/>
                        <a:cs typeface="Consolas" panose="020B0609020204030204" pitchFamily="49"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685800" rtl="0" eaLnBrk="1" latinLnBrk="0" hangingPunct="1"/>
                      <a:r>
                        <a:rPr lang="en-US" altLang="zh-CN" sz="1400" i="1" kern="1200" dirty="0" err="1">
                          <a:solidFill>
                            <a:schemeClr val="dk1"/>
                          </a:solidFill>
                          <a:latin typeface="Consolas" panose="020B0609020204030204" pitchFamily="49" charset="0"/>
                          <a:ea typeface="+mn-ea"/>
                          <a:cs typeface="Consolas" panose="020B0609020204030204" pitchFamily="49" charset="0"/>
                        </a:rPr>
                        <a:t>slli</a:t>
                      </a:r>
                      <a:r>
                        <a:rPr lang="en-US" altLang="zh-CN" sz="1400" i="1" kern="1200" dirty="0">
                          <a:solidFill>
                            <a:schemeClr val="dk1"/>
                          </a:solidFill>
                          <a:latin typeface="Consolas" panose="020B0609020204030204" pitchFamily="49" charset="0"/>
                          <a:ea typeface="+mn-ea"/>
                          <a:cs typeface="Consolas" panose="020B0609020204030204" pitchFamily="49" charset="0"/>
                        </a:rPr>
                        <a:t> a0, a1, 5; </a:t>
                      </a:r>
                      <a:endParaRPr lang="zh-CN" altLang="en-US" sz="1400" i="1" kern="1200" dirty="0">
                        <a:solidFill>
                          <a:schemeClr val="dk1"/>
                        </a:solidFill>
                        <a:latin typeface="Consolas" panose="020B0609020204030204" pitchFamily="49" charset="0"/>
                        <a:ea typeface="+mn-ea"/>
                        <a:cs typeface="Consolas" panose="020B0609020204030204" pitchFamily="49" charset="0"/>
                      </a:endParaRPr>
                    </a:p>
                  </a:txBody>
                  <a:tcPr anchor="ctr">
                    <a:lnL w="1270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64102346"/>
                  </a:ext>
                </a:extLst>
              </a:tr>
              <a:tr h="399136">
                <a:tc>
                  <a:txBody>
                    <a:bodyPr/>
                    <a:lstStyle/>
                    <a:p>
                      <a:pPr marL="0" algn="ctr" defTabSz="685800" rtl="0" eaLnBrk="1" latinLnBrk="0" hangingPunct="1"/>
                      <a:r>
                        <a:rPr lang="en-US" altLang="zh-CN" sz="1400" i="1" kern="1200">
                          <a:solidFill>
                            <a:schemeClr val="dk1"/>
                          </a:solidFill>
                          <a:latin typeface="Consolas" panose="020B0609020204030204" pitchFamily="49" charset="0"/>
                          <a:ea typeface="+mn-ea"/>
                          <a:cs typeface="Consolas" panose="020B0609020204030204" pitchFamily="49" charset="0"/>
                        </a:rPr>
                        <a:t> </a:t>
                      </a:r>
                      <a:r>
                        <a:rPr lang="en-US" altLang="zh-CN" sz="1400" i="1" kern="1200" err="1">
                          <a:solidFill>
                            <a:schemeClr val="dk1"/>
                          </a:solidFill>
                          <a:latin typeface="Consolas" panose="020B0609020204030204" pitchFamily="49" charset="0"/>
                          <a:ea typeface="+mn-ea"/>
                          <a:cs typeface="Consolas" panose="020B0609020204030204" pitchFamily="49" charset="0"/>
                        </a:rPr>
                        <a:t>srl</a:t>
                      </a:r>
                      <a:r>
                        <a:rPr lang="en-US" altLang="zh-CN" sz="1400" i="1" kern="1200">
                          <a:solidFill>
                            <a:schemeClr val="dk1"/>
                          </a:solidFill>
                          <a:latin typeface="Consolas" panose="020B0609020204030204" pitchFamily="49" charset="0"/>
                          <a:ea typeface="+mn-ea"/>
                          <a:cs typeface="Consolas" panose="020B0609020204030204" pitchFamily="49" charset="0"/>
                        </a:rPr>
                        <a:t> a0, a1, a2; </a:t>
                      </a:r>
                      <a:endParaRPr lang="zh-CN" altLang="en-US" sz="1400" i="1" kern="1200">
                        <a:solidFill>
                          <a:schemeClr val="dk1"/>
                        </a:solidFill>
                        <a:latin typeface="Consolas" panose="020B0609020204030204" pitchFamily="49" charset="0"/>
                        <a:ea typeface="+mn-ea"/>
                        <a:cs typeface="Consolas" panose="020B0609020204030204" pitchFamily="49" charset="0"/>
                      </a:endParaRPr>
                    </a:p>
                  </a:txBody>
                  <a:tcPr anchor="ctr">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685800" rtl="0" eaLnBrk="1" latinLnBrk="0" hangingPunct="1"/>
                      <a:r>
                        <a:rPr lang="en-US" altLang="zh-CN" sz="1400" i="1" kern="1200" dirty="0" err="1">
                          <a:solidFill>
                            <a:schemeClr val="dk1"/>
                          </a:solidFill>
                          <a:latin typeface="Consolas" panose="020B0609020204030204" pitchFamily="49" charset="0"/>
                          <a:ea typeface="+mn-ea"/>
                          <a:cs typeface="Consolas" panose="020B0609020204030204" pitchFamily="49" charset="0"/>
                        </a:rPr>
                        <a:t>srli</a:t>
                      </a:r>
                      <a:r>
                        <a:rPr lang="en-US" altLang="zh-CN" sz="1400" i="1" kern="1200" dirty="0">
                          <a:solidFill>
                            <a:schemeClr val="dk1"/>
                          </a:solidFill>
                          <a:latin typeface="Consolas" panose="020B0609020204030204" pitchFamily="49" charset="0"/>
                          <a:ea typeface="+mn-ea"/>
                          <a:cs typeface="Consolas" panose="020B0609020204030204" pitchFamily="49" charset="0"/>
                        </a:rPr>
                        <a:t> a0, a1, 5; </a:t>
                      </a:r>
                      <a:endParaRPr lang="zh-CN" altLang="en-US" sz="1400" i="1" kern="1200" dirty="0">
                        <a:solidFill>
                          <a:schemeClr val="dk1"/>
                        </a:solidFill>
                        <a:latin typeface="Consolas" panose="020B0609020204030204" pitchFamily="49" charset="0"/>
                        <a:ea typeface="+mn-ea"/>
                        <a:cs typeface="Consolas" panose="020B0609020204030204" pitchFamily="49"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685800" rtl="0" eaLnBrk="1" latinLnBrk="0" hangingPunct="1"/>
                      <a:r>
                        <a:rPr lang="en-US" altLang="zh-CN" sz="1400" i="1" kern="1200" dirty="0">
                          <a:solidFill>
                            <a:schemeClr val="dk1"/>
                          </a:solidFill>
                          <a:latin typeface="Consolas" panose="020B0609020204030204" pitchFamily="49" charset="0"/>
                          <a:ea typeface="+mn-ea"/>
                          <a:cs typeface="Consolas" panose="020B0609020204030204" pitchFamily="49" charset="0"/>
                        </a:rPr>
                        <a:t> </a:t>
                      </a:r>
                      <a:r>
                        <a:rPr lang="en-US" altLang="zh-CN" sz="1400" i="1" kern="1200" dirty="0" err="1">
                          <a:solidFill>
                            <a:schemeClr val="dk1"/>
                          </a:solidFill>
                          <a:latin typeface="Consolas" panose="020B0609020204030204" pitchFamily="49" charset="0"/>
                          <a:ea typeface="+mn-ea"/>
                          <a:cs typeface="Consolas" panose="020B0609020204030204" pitchFamily="49" charset="0"/>
                        </a:rPr>
                        <a:t>sra</a:t>
                      </a:r>
                      <a:r>
                        <a:rPr lang="en-US" altLang="zh-CN" sz="1400" i="1" kern="1200" dirty="0">
                          <a:solidFill>
                            <a:schemeClr val="dk1"/>
                          </a:solidFill>
                          <a:latin typeface="Consolas" panose="020B0609020204030204" pitchFamily="49" charset="0"/>
                          <a:ea typeface="+mn-ea"/>
                          <a:cs typeface="Consolas" panose="020B0609020204030204" pitchFamily="49" charset="0"/>
                        </a:rPr>
                        <a:t> a0, a1, a2; </a:t>
                      </a:r>
                      <a:endParaRPr lang="zh-CN" altLang="en-US" sz="1400" i="1" kern="1200" dirty="0">
                        <a:solidFill>
                          <a:schemeClr val="dk1"/>
                        </a:solidFill>
                        <a:latin typeface="Consolas" panose="020B0609020204030204" pitchFamily="49" charset="0"/>
                        <a:ea typeface="+mn-ea"/>
                        <a:cs typeface="Consolas" panose="020B0609020204030204" pitchFamily="49"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685800" rtl="0" eaLnBrk="1" latinLnBrk="0" hangingPunct="1"/>
                      <a:r>
                        <a:rPr lang="en-US" altLang="zh-CN" sz="1400" i="1" kern="1200" dirty="0" err="1">
                          <a:solidFill>
                            <a:schemeClr val="dk1"/>
                          </a:solidFill>
                          <a:latin typeface="Consolas" panose="020B0609020204030204" pitchFamily="49" charset="0"/>
                          <a:ea typeface="+mn-ea"/>
                          <a:cs typeface="Consolas" panose="020B0609020204030204" pitchFamily="49" charset="0"/>
                        </a:rPr>
                        <a:t>srai</a:t>
                      </a:r>
                      <a:r>
                        <a:rPr lang="en-US" altLang="zh-CN" sz="1400" i="1" kern="1200" dirty="0">
                          <a:solidFill>
                            <a:schemeClr val="dk1"/>
                          </a:solidFill>
                          <a:latin typeface="Consolas" panose="020B0609020204030204" pitchFamily="49" charset="0"/>
                          <a:ea typeface="+mn-ea"/>
                          <a:cs typeface="Consolas" panose="020B0609020204030204" pitchFamily="49" charset="0"/>
                        </a:rPr>
                        <a:t> a0, a1, 5; </a:t>
                      </a:r>
                      <a:endParaRPr lang="zh-CN" altLang="en-US" sz="1400" i="1" kern="1200" dirty="0">
                        <a:solidFill>
                          <a:schemeClr val="dk1"/>
                        </a:solidFill>
                        <a:latin typeface="Consolas" panose="020B0609020204030204" pitchFamily="49" charset="0"/>
                        <a:ea typeface="+mn-ea"/>
                        <a:cs typeface="Consolas" panose="020B0609020204030204" pitchFamily="49" charset="0"/>
                      </a:endParaRPr>
                    </a:p>
                  </a:txBody>
                  <a:tcPr anchor="ctr">
                    <a:lnL w="1270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1384923"/>
                  </a:ext>
                </a:extLst>
              </a:tr>
              <a:tr h="399136">
                <a:tc gridSpan="4">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zh-CN" altLang="en-US" sz="1800" b="1" kern="1200" dirty="0">
                          <a:solidFill>
                            <a:schemeClr val="tx1"/>
                          </a:solidFill>
                          <a:latin typeface="Consolas" panose="020B0609020204030204" pitchFamily="49" charset="0"/>
                          <a:ea typeface="+mn-ea"/>
                          <a:cs typeface="Consolas" panose="020B0609020204030204" pitchFamily="49" charset="0"/>
                        </a:rPr>
                        <a:t>分支指令</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hMerge="1">
                  <a:txBody>
                    <a:bodyPr/>
                    <a:lstStyle/>
                    <a:p>
                      <a:pPr marL="0" algn="ctr" defTabSz="685800" rtl="0" eaLnBrk="1" latinLnBrk="0" hangingPunct="1"/>
                      <a:endParaRPr lang="zh-CN" altLang="en-US" sz="1600" kern="1200">
                        <a:solidFill>
                          <a:schemeClr val="dk1"/>
                        </a:solidFill>
                        <a:latin typeface="Arial" panose="020B0604020202020204" pitchFamily="34" charset="0"/>
                        <a:ea typeface="+mn-ea"/>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algn="ctr" defTabSz="685800" rtl="0" eaLnBrk="1" latinLnBrk="0" hangingPunct="1"/>
                      <a:endParaRPr lang="zh-CN" altLang="en-US" sz="1600" kern="1200">
                        <a:solidFill>
                          <a:schemeClr val="dk1"/>
                        </a:solidFill>
                        <a:latin typeface="Arial" panose="020B0604020202020204" pitchFamily="34" charset="0"/>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algn="ctr" defTabSz="685800" rtl="0" eaLnBrk="1" latinLnBrk="0" hangingPunct="1"/>
                      <a:endParaRPr lang="zh-CN" altLang="en-US" sz="1600" kern="1200">
                        <a:solidFill>
                          <a:schemeClr val="dk1"/>
                        </a:solidFill>
                        <a:latin typeface="Arial" panose="020B0604020202020204" pitchFamily="34" charset="0"/>
                        <a:ea typeface="+mn-ea"/>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99700185"/>
                  </a:ext>
                </a:extLst>
              </a:tr>
              <a:tr h="399136">
                <a:tc>
                  <a:txBody>
                    <a:bodyPr/>
                    <a:lstStyle/>
                    <a:p>
                      <a:pPr marL="0" algn="ctr" defTabSz="685800" rtl="0" eaLnBrk="1" latinLnBrk="0" hangingPunct="1"/>
                      <a:r>
                        <a:rPr lang="en-US" altLang="zh-CN" sz="1400" i="1" kern="1200" dirty="0" err="1">
                          <a:solidFill>
                            <a:schemeClr val="dk1"/>
                          </a:solidFill>
                          <a:latin typeface="Consolas" panose="020B0609020204030204" pitchFamily="49" charset="0"/>
                          <a:ea typeface="+mn-ea"/>
                          <a:cs typeface="Consolas" panose="020B0609020204030204" pitchFamily="49" charset="0"/>
                        </a:rPr>
                        <a:t>beq</a:t>
                      </a:r>
                      <a:r>
                        <a:rPr lang="en-US" altLang="zh-CN" sz="1400" i="1" kern="1200" dirty="0">
                          <a:solidFill>
                            <a:schemeClr val="dk1"/>
                          </a:solidFill>
                          <a:latin typeface="Consolas" panose="020B0609020204030204" pitchFamily="49" charset="0"/>
                          <a:ea typeface="+mn-ea"/>
                          <a:cs typeface="Consolas" panose="020B0609020204030204" pitchFamily="49" charset="0"/>
                        </a:rPr>
                        <a:t> a0, a1, label; </a:t>
                      </a:r>
                      <a:endParaRPr lang="zh-CN" altLang="en-US" sz="1400" i="1" kern="1200" dirty="0">
                        <a:solidFill>
                          <a:schemeClr val="dk1"/>
                        </a:solidFill>
                        <a:latin typeface="Consolas" panose="020B0609020204030204" pitchFamily="49" charset="0"/>
                        <a:ea typeface="+mn-ea"/>
                        <a:cs typeface="Consolas" panose="020B0609020204030204" pitchFamily="49" charset="0"/>
                      </a:endParaRPr>
                    </a:p>
                  </a:txBody>
                  <a:tcPr anchor="ctr">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altLang="zh-CN" sz="1400" i="1" kern="1200" dirty="0" err="1">
                          <a:solidFill>
                            <a:schemeClr val="dk1"/>
                          </a:solidFill>
                          <a:latin typeface="Consolas" panose="020B0609020204030204" pitchFamily="49" charset="0"/>
                          <a:ea typeface="+mn-ea"/>
                          <a:cs typeface="Consolas" panose="020B0609020204030204" pitchFamily="49" charset="0"/>
                        </a:rPr>
                        <a:t>beqi</a:t>
                      </a:r>
                      <a:r>
                        <a:rPr lang="en-US" altLang="zh-CN" sz="1400" i="1" kern="1200" dirty="0">
                          <a:solidFill>
                            <a:schemeClr val="dk1"/>
                          </a:solidFill>
                          <a:latin typeface="Consolas" panose="020B0609020204030204" pitchFamily="49" charset="0"/>
                          <a:ea typeface="+mn-ea"/>
                          <a:cs typeface="Consolas" panose="020B0609020204030204" pitchFamily="49" charset="0"/>
                        </a:rPr>
                        <a:t> a0, a1, label; </a:t>
                      </a:r>
                      <a:endParaRPr lang="zh-CN" altLang="en-US" sz="1400" i="1" kern="1200" dirty="0">
                        <a:solidFill>
                          <a:schemeClr val="dk1"/>
                        </a:solidFill>
                        <a:latin typeface="Consolas" panose="020B0609020204030204" pitchFamily="49" charset="0"/>
                        <a:ea typeface="+mn-ea"/>
                        <a:cs typeface="Consolas" panose="020B0609020204030204" pitchFamily="49"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685800" rtl="0" eaLnBrk="1" latinLnBrk="0" hangingPunct="1"/>
                      <a:r>
                        <a:rPr lang="en-US" altLang="zh-CN" sz="1400" i="1" kern="1200" err="1">
                          <a:solidFill>
                            <a:schemeClr val="dk1"/>
                          </a:solidFill>
                          <a:latin typeface="Consolas" panose="020B0609020204030204" pitchFamily="49" charset="0"/>
                          <a:ea typeface="+mn-ea"/>
                          <a:cs typeface="Consolas" panose="020B0609020204030204" pitchFamily="49" charset="0"/>
                        </a:rPr>
                        <a:t>blt</a:t>
                      </a:r>
                      <a:r>
                        <a:rPr lang="en-US" altLang="zh-CN" sz="1400" i="1" kern="1200">
                          <a:solidFill>
                            <a:schemeClr val="dk1"/>
                          </a:solidFill>
                          <a:latin typeface="Consolas" panose="020B0609020204030204" pitchFamily="49" charset="0"/>
                          <a:ea typeface="+mn-ea"/>
                          <a:cs typeface="Consolas" panose="020B0609020204030204" pitchFamily="49" charset="0"/>
                        </a:rPr>
                        <a:t> a0, a1, label; </a:t>
                      </a:r>
                      <a:endParaRPr lang="zh-CN" altLang="en-US" sz="1400" i="1" kern="1200">
                        <a:solidFill>
                          <a:schemeClr val="dk1"/>
                        </a:solidFill>
                        <a:latin typeface="Consolas" panose="020B0609020204030204" pitchFamily="49" charset="0"/>
                        <a:ea typeface="+mn-ea"/>
                        <a:cs typeface="Consolas" panose="020B0609020204030204" pitchFamily="49"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altLang="zh-CN" sz="1400" i="1" kern="1200" err="1">
                          <a:solidFill>
                            <a:schemeClr val="dk1"/>
                          </a:solidFill>
                          <a:latin typeface="Consolas" panose="020B0609020204030204" pitchFamily="49" charset="0"/>
                          <a:ea typeface="+mn-ea"/>
                          <a:cs typeface="Consolas" panose="020B0609020204030204" pitchFamily="49" charset="0"/>
                        </a:rPr>
                        <a:t>blti</a:t>
                      </a:r>
                      <a:r>
                        <a:rPr lang="en-US" altLang="zh-CN" sz="1400" i="1" kern="1200">
                          <a:solidFill>
                            <a:schemeClr val="dk1"/>
                          </a:solidFill>
                          <a:latin typeface="Consolas" panose="020B0609020204030204" pitchFamily="49" charset="0"/>
                          <a:ea typeface="+mn-ea"/>
                          <a:cs typeface="Consolas" panose="020B0609020204030204" pitchFamily="49" charset="0"/>
                        </a:rPr>
                        <a:t> a0, a1, label; </a:t>
                      </a:r>
                      <a:endParaRPr lang="zh-CN" altLang="en-US" sz="1400" i="1" kern="1200">
                        <a:solidFill>
                          <a:schemeClr val="dk1"/>
                        </a:solidFill>
                        <a:latin typeface="Consolas" panose="020B0609020204030204" pitchFamily="49" charset="0"/>
                        <a:ea typeface="+mn-ea"/>
                        <a:cs typeface="Consolas" panose="020B0609020204030204" pitchFamily="49" charset="0"/>
                      </a:endParaRPr>
                    </a:p>
                  </a:txBody>
                  <a:tcPr anchor="ctr">
                    <a:lnL w="1270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91006137"/>
                  </a:ext>
                </a:extLst>
              </a:tr>
              <a:tr h="399136">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altLang="zh-CN" sz="1400" i="1" kern="1200" err="1">
                          <a:solidFill>
                            <a:schemeClr val="dk1"/>
                          </a:solidFill>
                          <a:latin typeface="Consolas" panose="020B0609020204030204" pitchFamily="49" charset="0"/>
                          <a:ea typeface="+mn-ea"/>
                          <a:cs typeface="Consolas" panose="020B0609020204030204" pitchFamily="49" charset="0"/>
                        </a:rPr>
                        <a:t>bgt</a:t>
                      </a:r>
                      <a:r>
                        <a:rPr lang="en-US" altLang="zh-CN" sz="1400" i="1" kern="1200">
                          <a:solidFill>
                            <a:schemeClr val="dk1"/>
                          </a:solidFill>
                          <a:latin typeface="Consolas" panose="020B0609020204030204" pitchFamily="49" charset="0"/>
                          <a:ea typeface="+mn-ea"/>
                          <a:cs typeface="Consolas" panose="020B0609020204030204" pitchFamily="49" charset="0"/>
                        </a:rPr>
                        <a:t> a0, a1, label;</a:t>
                      </a:r>
                      <a:endParaRPr lang="zh-CN" altLang="en-US" sz="1400" i="1" kern="1200">
                        <a:solidFill>
                          <a:schemeClr val="dk1"/>
                        </a:solidFill>
                        <a:latin typeface="Consolas" panose="020B0609020204030204" pitchFamily="49" charset="0"/>
                        <a:ea typeface="+mn-ea"/>
                        <a:cs typeface="Consolas" panose="020B0609020204030204" pitchFamily="49" charset="0"/>
                      </a:endParaRPr>
                    </a:p>
                  </a:txBody>
                  <a:tcPr anchor="ctr">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altLang="zh-CN" sz="1400" i="1" kern="1200" dirty="0" err="1">
                          <a:solidFill>
                            <a:schemeClr val="dk1"/>
                          </a:solidFill>
                          <a:latin typeface="Consolas" panose="020B0609020204030204" pitchFamily="49" charset="0"/>
                          <a:ea typeface="+mn-ea"/>
                          <a:cs typeface="Consolas" panose="020B0609020204030204" pitchFamily="49" charset="0"/>
                        </a:rPr>
                        <a:t>bgti</a:t>
                      </a:r>
                      <a:r>
                        <a:rPr lang="en-US" altLang="zh-CN" sz="1400" i="1" kern="1200" dirty="0">
                          <a:solidFill>
                            <a:schemeClr val="dk1"/>
                          </a:solidFill>
                          <a:latin typeface="Consolas" panose="020B0609020204030204" pitchFamily="49" charset="0"/>
                          <a:ea typeface="+mn-ea"/>
                          <a:cs typeface="Consolas" panose="020B0609020204030204" pitchFamily="49" charset="0"/>
                        </a:rPr>
                        <a:t> a0, a1, label;</a:t>
                      </a:r>
                      <a:endParaRPr lang="zh-CN" altLang="en-US" sz="1400" i="1" kern="1200" dirty="0">
                        <a:solidFill>
                          <a:schemeClr val="dk1"/>
                        </a:solidFill>
                        <a:latin typeface="Consolas" panose="020B0609020204030204" pitchFamily="49" charset="0"/>
                        <a:ea typeface="+mn-ea"/>
                        <a:cs typeface="Consolas" panose="020B0609020204030204" pitchFamily="49"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685800" rtl="0" eaLnBrk="1" latinLnBrk="0" hangingPunct="1"/>
                      <a:endParaRPr lang="zh-CN" altLang="en-US" sz="1400" i="1" kern="1200" dirty="0">
                        <a:solidFill>
                          <a:schemeClr val="dk1"/>
                        </a:solidFill>
                        <a:latin typeface="Consolas" panose="020B0609020204030204" pitchFamily="49" charset="0"/>
                        <a:ea typeface="+mn-ea"/>
                        <a:cs typeface="Consolas" panose="020B0609020204030204" pitchFamily="49"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685800" rtl="0" eaLnBrk="1" latinLnBrk="0" hangingPunct="1"/>
                      <a:endParaRPr lang="zh-CN" altLang="en-US" sz="1400" i="1" kern="1200" dirty="0">
                        <a:solidFill>
                          <a:schemeClr val="dk1"/>
                        </a:solidFill>
                        <a:latin typeface="Consolas" panose="020B0609020204030204" pitchFamily="49" charset="0"/>
                        <a:ea typeface="+mn-ea"/>
                        <a:cs typeface="Consolas" panose="020B0609020204030204" pitchFamily="49" charset="0"/>
                      </a:endParaRPr>
                    </a:p>
                  </a:txBody>
                  <a:tcPr anchor="ctr">
                    <a:lnL w="1270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87918431"/>
                  </a:ext>
                </a:extLst>
              </a:tr>
              <a:tr h="399136">
                <a:tc gridSpan="2">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zh-CN" altLang="en-US" sz="1800" b="1" kern="1200" dirty="0">
                          <a:solidFill>
                            <a:schemeClr val="tx1"/>
                          </a:solidFill>
                          <a:latin typeface="Consolas" panose="020B0609020204030204" pitchFamily="49" charset="0"/>
                          <a:ea typeface="+mn-ea"/>
                          <a:cs typeface="Consolas" panose="020B0609020204030204" pitchFamily="49" charset="0"/>
                        </a:rPr>
                        <a:t>跳转指令</a:t>
                      </a:r>
                    </a:p>
                  </a:txBody>
                  <a:tcPr anchor="ctr">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hMerge="1">
                  <a:txBody>
                    <a:bodyPr/>
                    <a:lstStyle/>
                    <a:p>
                      <a:pPr marL="0" algn="ctr" defTabSz="685800" rtl="0" eaLnBrk="1" latinLnBrk="0" hangingPunct="1"/>
                      <a:endParaRPr lang="zh-CN" altLang="en-US" sz="1600" kern="1200">
                        <a:solidFill>
                          <a:schemeClr val="dk1"/>
                        </a:solidFill>
                        <a:latin typeface="Arial" panose="020B0604020202020204" pitchFamily="34" charset="0"/>
                        <a:ea typeface="+mn-ea"/>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zh-CN" altLang="en-US" sz="1800" b="1" kern="1200" dirty="0">
                          <a:solidFill>
                            <a:schemeClr val="tx1"/>
                          </a:solidFill>
                          <a:latin typeface="Consolas" panose="020B0609020204030204" pitchFamily="49" charset="0"/>
                          <a:ea typeface="+mn-ea"/>
                          <a:cs typeface="Consolas" panose="020B0609020204030204" pitchFamily="49" charset="0"/>
                        </a:rPr>
                        <a:t>赋值指令</a:t>
                      </a:r>
                    </a:p>
                  </a:txBody>
                  <a:tcPr anchor="ctr">
                    <a:lnL w="1270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hMerge="1">
                  <a:txBody>
                    <a:bodyPr/>
                    <a:lstStyle/>
                    <a:p>
                      <a:pPr marL="0" algn="ctr" defTabSz="685800" rtl="0" eaLnBrk="1" latinLnBrk="0" hangingPunct="1"/>
                      <a:endParaRPr lang="zh-CN" altLang="en-US" sz="1600" kern="1200">
                        <a:solidFill>
                          <a:schemeClr val="dk1"/>
                        </a:solidFill>
                        <a:latin typeface="Arial" panose="020B0604020202020204" pitchFamily="34" charset="0"/>
                        <a:ea typeface="+mn-ea"/>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61095857"/>
                  </a:ext>
                </a:extLst>
              </a:tr>
              <a:tr h="399136">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altLang="zh-CN" sz="1400" i="1" kern="1200" dirty="0">
                          <a:solidFill>
                            <a:schemeClr val="dk1"/>
                          </a:solidFill>
                          <a:latin typeface="Consolas" panose="020B0609020204030204" pitchFamily="49" charset="0"/>
                          <a:ea typeface="+mn-ea"/>
                          <a:cs typeface="Consolas" panose="020B0609020204030204" pitchFamily="49" charset="0"/>
                        </a:rPr>
                        <a:t>j label;</a:t>
                      </a:r>
                      <a:endParaRPr lang="zh-CN" altLang="en-US" sz="1400" i="1" kern="1200" dirty="0">
                        <a:solidFill>
                          <a:schemeClr val="dk1"/>
                        </a:solidFill>
                        <a:latin typeface="Consolas" panose="020B0609020204030204" pitchFamily="49" charset="0"/>
                        <a:ea typeface="+mn-ea"/>
                        <a:cs typeface="Consolas" panose="020B0609020204030204" pitchFamily="49" charset="0"/>
                      </a:endParaRPr>
                    </a:p>
                  </a:txBody>
                  <a:tcPr anchor="ctr">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zh-CN" altLang="en-US" sz="1400" i="1" kern="1200" dirty="0">
                        <a:solidFill>
                          <a:schemeClr val="dk1"/>
                        </a:solidFill>
                        <a:latin typeface="Consolas" panose="020B0609020204030204" pitchFamily="49" charset="0"/>
                        <a:ea typeface="+mn-ea"/>
                        <a:cs typeface="Consolas" panose="020B0609020204030204" pitchFamily="49"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altLang="zh-CN" sz="1400" i="1" kern="1200" dirty="0">
                          <a:solidFill>
                            <a:schemeClr val="dk1"/>
                          </a:solidFill>
                          <a:latin typeface="Consolas" panose="020B0609020204030204" pitchFamily="49" charset="0"/>
                          <a:ea typeface="+mn-ea"/>
                          <a:cs typeface="Consolas" panose="020B0609020204030204" pitchFamily="49" charset="0"/>
                        </a:rPr>
                        <a:t>mov a0, a1;</a:t>
                      </a:r>
                      <a:endParaRPr lang="zh-CN" altLang="en-US" sz="1400" i="1" kern="1200" dirty="0">
                        <a:solidFill>
                          <a:schemeClr val="dk1"/>
                        </a:solidFill>
                        <a:latin typeface="Consolas" panose="020B0609020204030204" pitchFamily="49" charset="0"/>
                        <a:ea typeface="+mn-ea"/>
                        <a:cs typeface="Consolas" panose="020B0609020204030204" pitchFamily="49"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altLang="zh-CN" sz="1400" i="1" kern="1200" dirty="0" err="1">
                          <a:solidFill>
                            <a:schemeClr val="dk1"/>
                          </a:solidFill>
                          <a:latin typeface="Consolas" panose="020B0609020204030204" pitchFamily="49" charset="0"/>
                          <a:ea typeface="+mn-ea"/>
                          <a:cs typeface="Consolas" panose="020B0609020204030204" pitchFamily="49" charset="0"/>
                        </a:rPr>
                        <a:t>movi</a:t>
                      </a:r>
                      <a:r>
                        <a:rPr lang="en-US" altLang="zh-CN" sz="1400" i="1" kern="1200" dirty="0">
                          <a:solidFill>
                            <a:schemeClr val="dk1"/>
                          </a:solidFill>
                          <a:latin typeface="Consolas" panose="020B0609020204030204" pitchFamily="49" charset="0"/>
                          <a:ea typeface="+mn-ea"/>
                          <a:cs typeface="Consolas" panose="020B0609020204030204" pitchFamily="49" charset="0"/>
                        </a:rPr>
                        <a:t> a0, 4;</a:t>
                      </a:r>
                      <a:endParaRPr lang="zh-CN" altLang="en-US" sz="1400" i="1" kern="1200" dirty="0">
                        <a:solidFill>
                          <a:schemeClr val="dk1"/>
                        </a:solidFill>
                        <a:latin typeface="Consolas" panose="020B0609020204030204" pitchFamily="49" charset="0"/>
                        <a:ea typeface="+mn-ea"/>
                        <a:cs typeface="Consolas" panose="020B0609020204030204" pitchFamily="49" charset="0"/>
                      </a:endParaRPr>
                    </a:p>
                  </a:txBody>
                  <a:tcPr anchor="ctr">
                    <a:lnL w="1270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5097508"/>
                  </a:ext>
                </a:extLst>
              </a:tr>
              <a:tr h="399136">
                <a:tc gridSpan="2">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zh-CN" altLang="en-US" sz="1800" b="1" kern="1200" dirty="0">
                          <a:solidFill>
                            <a:schemeClr val="tx1"/>
                          </a:solidFill>
                          <a:latin typeface="Consolas" panose="020B0609020204030204" pitchFamily="49" charset="0"/>
                          <a:ea typeface="+mn-ea"/>
                          <a:cs typeface="Consolas" panose="020B0609020204030204" pitchFamily="49" charset="0"/>
                        </a:rPr>
                        <a:t>访存指令</a:t>
                      </a:r>
                    </a:p>
                  </a:txBody>
                  <a:tcPr anchor="ctr">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hMerge="1">
                  <a:txBody>
                    <a:bodyPr/>
                    <a:lstStyle/>
                    <a:p>
                      <a:pPr marL="0" algn="ctr" defTabSz="685800" rtl="0" eaLnBrk="1" latinLnBrk="0" hangingPunct="1"/>
                      <a:endParaRPr lang="zh-CN" altLang="en-US" sz="1600" kern="1200">
                        <a:solidFill>
                          <a:schemeClr val="dk1"/>
                        </a:solidFill>
                        <a:latin typeface="Arial" panose="020B0604020202020204" pitchFamily="34" charset="0"/>
                        <a:ea typeface="+mn-ea"/>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zh-CN" altLang="en-US" sz="1800" b="1" kern="1200" dirty="0">
                          <a:solidFill>
                            <a:schemeClr val="tx1"/>
                          </a:solidFill>
                          <a:latin typeface="Consolas" panose="020B0609020204030204" pitchFamily="49" charset="0"/>
                          <a:ea typeface="+mn-ea"/>
                          <a:cs typeface="Consolas" panose="020B0609020204030204" pitchFamily="49" charset="0"/>
                        </a:rPr>
                        <a:t>过程调用指令</a:t>
                      </a:r>
                    </a:p>
                  </a:txBody>
                  <a:tcPr anchor="ctr">
                    <a:lnL w="1270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hMerge="1">
                  <a:txBody>
                    <a:bodyPr/>
                    <a:lstStyle/>
                    <a:p>
                      <a:pPr marL="0" algn="ctr" defTabSz="685800" rtl="0" eaLnBrk="1" latinLnBrk="0" hangingPunct="1"/>
                      <a:endParaRPr lang="zh-CN" altLang="en-US" sz="1600" kern="1200">
                        <a:solidFill>
                          <a:schemeClr val="dk1"/>
                        </a:solidFill>
                        <a:latin typeface="Arial" panose="020B0604020202020204" pitchFamily="34" charset="0"/>
                        <a:ea typeface="+mn-ea"/>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14875393"/>
                  </a:ext>
                </a:extLst>
              </a:tr>
              <a:tr h="399136">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altLang="zh-CN" sz="1400" i="1" kern="1200" dirty="0" err="1">
                          <a:solidFill>
                            <a:schemeClr val="dk1"/>
                          </a:solidFill>
                          <a:latin typeface="Consolas" panose="020B0609020204030204" pitchFamily="49" charset="0"/>
                          <a:ea typeface="+mn-ea"/>
                          <a:cs typeface="Consolas" panose="020B0609020204030204" pitchFamily="49" charset="0"/>
                        </a:rPr>
                        <a:t>lw</a:t>
                      </a:r>
                      <a:r>
                        <a:rPr lang="en-US" altLang="zh-CN" sz="1400" i="1" kern="1200" dirty="0">
                          <a:solidFill>
                            <a:schemeClr val="dk1"/>
                          </a:solidFill>
                          <a:latin typeface="Consolas" panose="020B0609020204030204" pitchFamily="49" charset="0"/>
                          <a:ea typeface="+mn-ea"/>
                          <a:cs typeface="Consolas" panose="020B0609020204030204" pitchFamily="49" charset="0"/>
                        </a:rPr>
                        <a:t> a0, </a:t>
                      </a:r>
                      <a:r>
                        <a:rPr lang="en-US" altLang="zh-CN" sz="1400" i="1" kern="1200" dirty="0" err="1">
                          <a:solidFill>
                            <a:schemeClr val="dk1"/>
                          </a:solidFill>
                          <a:latin typeface="Consolas" panose="020B0609020204030204" pitchFamily="49" charset="0"/>
                          <a:ea typeface="+mn-ea"/>
                          <a:cs typeface="Consolas" panose="020B0609020204030204" pitchFamily="49" charset="0"/>
                        </a:rPr>
                        <a:t>addr</a:t>
                      </a:r>
                      <a:r>
                        <a:rPr lang="en-US" altLang="zh-CN" sz="1400" i="1" kern="1200" dirty="0">
                          <a:solidFill>
                            <a:schemeClr val="dk1"/>
                          </a:solidFill>
                          <a:latin typeface="Consolas" panose="020B0609020204030204" pitchFamily="49" charset="0"/>
                          <a:ea typeface="+mn-ea"/>
                          <a:cs typeface="Consolas" panose="020B0609020204030204" pitchFamily="49" charset="0"/>
                        </a:rPr>
                        <a:t>;</a:t>
                      </a:r>
                      <a:endParaRPr lang="zh-CN" altLang="en-US" sz="1400" i="1" kern="1200" dirty="0">
                        <a:solidFill>
                          <a:schemeClr val="dk1"/>
                        </a:solidFill>
                        <a:latin typeface="Consolas" panose="020B0609020204030204" pitchFamily="49" charset="0"/>
                        <a:ea typeface="+mn-ea"/>
                        <a:cs typeface="Consolas" panose="020B0609020204030204" pitchFamily="49" charset="0"/>
                      </a:endParaRPr>
                    </a:p>
                  </a:txBody>
                  <a:tcPr anchor="ctr">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altLang="zh-CN" sz="1400" i="1" kern="1200" dirty="0" err="1">
                          <a:solidFill>
                            <a:schemeClr val="dk1"/>
                          </a:solidFill>
                          <a:latin typeface="Consolas" panose="020B0609020204030204" pitchFamily="49" charset="0"/>
                          <a:ea typeface="+mn-ea"/>
                          <a:cs typeface="Consolas" panose="020B0609020204030204" pitchFamily="49" charset="0"/>
                        </a:rPr>
                        <a:t>sw</a:t>
                      </a:r>
                      <a:r>
                        <a:rPr lang="en-US" altLang="zh-CN" sz="1400" i="1" kern="1200" dirty="0">
                          <a:solidFill>
                            <a:schemeClr val="dk1"/>
                          </a:solidFill>
                          <a:latin typeface="Consolas" panose="020B0609020204030204" pitchFamily="49" charset="0"/>
                          <a:ea typeface="+mn-ea"/>
                          <a:cs typeface="Consolas" panose="020B0609020204030204" pitchFamily="49" charset="0"/>
                        </a:rPr>
                        <a:t> a0, </a:t>
                      </a:r>
                      <a:r>
                        <a:rPr lang="en-US" altLang="zh-CN" sz="1400" i="1" kern="1200" dirty="0" err="1">
                          <a:solidFill>
                            <a:schemeClr val="dk1"/>
                          </a:solidFill>
                          <a:latin typeface="Consolas" panose="020B0609020204030204" pitchFamily="49" charset="0"/>
                          <a:ea typeface="+mn-ea"/>
                          <a:cs typeface="Consolas" panose="020B0609020204030204" pitchFamily="49" charset="0"/>
                        </a:rPr>
                        <a:t>addr</a:t>
                      </a:r>
                      <a:r>
                        <a:rPr lang="en-US" altLang="zh-CN" sz="1400" i="1" kern="1200" noProof="0" dirty="0">
                          <a:solidFill>
                            <a:schemeClr val="dk1"/>
                          </a:solidFill>
                          <a:latin typeface="Consolas" panose="020B0609020204030204" pitchFamily="49" charset="0"/>
                          <a:ea typeface="+mn-ea"/>
                          <a:cs typeface="Consolas" panose="020B0609020204030204" pitchFamily="49" charset="0"/>
                        </a:rPr>
                        <a:t>;</a:t>
                      </a:r>
                      <a:endParaRPr lang="zh-CN" altLang="en-US" sz="1400" i="1" kern="1200" dirty="0">
                        <a:solidFill>
                          <a:schemeClr val="dk1"/>
                        </a:solidFill>
                        <a:latin typeface="Consolas" panose="020B0609020204030204" pitchFamily="49" charset="0"/>
                        <a:ea typeface="+mn-ea"/>
                        <a:cs typeface="Consolas" panose="020B0609020204030204" pitchFamily="49"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altLang="zh-CN" sz="1400" i="1" kern="1200" dirty="0">
                          <a:solidFill>
                            <a:schemeClr val="dk1"/>
                          </a:solidFill>
                          <a:latin typeface="Consolas" panose="020B0609020204030204" pitchFamily="49" charset="0"/>
                          <a:ea typeface="+mn-ea"/>
                          <a:cs typeface="Consolas" panose="020B0609020204030204" pitchFamily="49" charset="0"/>
                        </a:rPr>
                        <a:t>call a0, label;</a:t>
                      </a:r>
                      <a:endParaRPr lang="zh-CN" altLang="en-US" sz="1400" i="1" kern="1200" dirty="0">
                        <a:solidFill>
                          <a:schemeClr val="dk1"/>
                        </a:solidFill>
                        <a:latin typeface="Consolas" panose="020B0609020204030204" pitchFamily="49" charset="0"/>
                        <a:ea typeface="+mn-ea"/>
                        <a:cs typeface="Consolas" panose="020B0609020204030204" pitchFamily="49"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altLang="zh-CN" sz="1400" i="1" kern="1200" dirty="0">
                          <a:solidFill>
                            <a:schemeClr val="dk1"/>
                          </a:solidFill>
                          <a:latin typeface="Consolas" panose="020B0609020204030204" pitchFamily="49" charset="0"/>
                          <a:ea typeface="+mn-ea"/>
                          <a:cs typeface="Consolas" panose="020B0609020204030204" pitchFamily="49" charset="0"/>
                        </a:rPr>
                        <a:t>ret a0;</a:t>
                      </a:r>
                      <a:endParaRPr lang="zh-CN" altLang="en-US" sz="1400" i="1" kern="1200" dirty="0">
                        <a:solidFill>
                          <a:schemeClr val="dk1"/>
                        </a:solidFill>
                        <a:latin typeface="Consolas" panose="020B0609020204030204" pitchFamily="49" charset="0"/>
                        <a:ea typeface="+mn-ea"/>
                        <a:cs typeface="Consolas" panose="020B0609020204030204" pitchFamily="49" charset="0"/>
                      </a:endParaRPr>
                    </a:p>
                  </a:txBody>
                  <a:tcPr anchor="ctr">
                    <a:lnL w="1270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1525332"/>
                  </a:ext>
                </a:extLst>
              </a:tr>
            </a:tbl>
          </a:graphicData>
        </a:graphic>
      </p:graphicFrame>
      <p:sp>
        <p:nvSpPr>
          <p:cNvPr id="5" name="灯片编号占位符 3">
            <a:extLst>
              <a:ext uri="{FF2B5EF4-FFF2-40B4-BE49-F238E27FC236}">
                <a16:creationId xmlns:a16="http://schemas.microsoft.com/office/drawing/2014/main" id="{68F7FF1C-DC59-5F43-A383-991D51B72C86}"/>
              </a:ext>
            </a:extLst>
          </p:cNvPr>
          <p:cNvSpPr>
            <a:spLocks noGrp="1"/>
          </p:cNvSpPr>
          <p:nvPr>
            <p:ph type="sldNum" sz="quarter" idx="12"/>
          </p:nvPr>
        </p:nvSpPr>
        <p:spPr/>
        <p:txBody>
          <a:bodyPr/>
          <a:lstStyle/>
          <a:p>
            <a:fld id="{14659731-6BD7-46E7-8D3C-2F3AC07E20B1}" type="slidenum">
              <a:rPr lang="en-US" altLang="zh-CN" smtClean="0"/>
              <a:pPr/>
              <a:t>9</a:t>
            </a:fld>
            <a:endParaRPr lang="en-US" altLang="zh-CN"/>
          </a:p>
        </p:txBody>
      </p:sp>
      <p:sp>
        <p:nvSpPr>
          <p:cNvPr id="32771" name="Rectangle 3"/>
          <p:cNvSpPr>
            <a:spLocks noGrp="1" noChangeArrowheads="1"/>
          </p:cNvSpPr>
          <p:nvPr>
            <p:ph idx="4294967295"/>
          </p:nvPr>
        </p:nvSpPr>
        <p:spPr>
          <a:xfrm>
            <a:off x="457200" y="1167166"/>
            <a:ext cx="8229600" cy="5257800"/>
          </a:xfrm>
        </p:spPr>
        <p:txBody>
          <a:bodyPr>
            <a:normAutofit/>
          </a:bodyPr>
          <a:lstStyle/>
          <a:p>
            <a:pPr>
              <a:lnSpc>
                <a:spcPct val="150000"/>
              </a:lnSpc>
            </a:pPr>
            <a:r>
              <a:rPr lang="zh-CN" altLang="en-US" sz="2400" dirty="0"/>
              <a:t>上节课设计的指令</a:t>
            </a:r>
            <a:endParaRPr lang="en-US" altLang="zh-CN" sz="2400" dirty="0"/>
          </a:p>
        </p:txBody>
      </p:sp>
      <p:sp>
        <p:nvSpPr>
          <p:cNvPr id="3" name="Title 4">
            <a:extLst>
              <a:ext uri="{FF2B5EF4-FFF2-40B4-BE49-F238E27FC236}">
                <a16:creationId xmlns:a16="http://schemas.microsoft.com/office/drawing/2014/main" id="{BBEECDCF-4E8D-3D47-00E4-B8B22FD75606}"/>
              </a:ext>
            </a:extLst>
          </p:cNvPr>
          <p:cNvSpPr txBox="1">
            <a:spLocks/>
          </p:cNvSpPr>
          <p:nvPr/>
        </p:nvSpPr>
        <p:spPr bwMode="auto">
          <a:xfrm>
            <a:off x="457200" y="136800"/>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kumimoji="1" lang="zh-CN" altLang="en-US" dirty="0"/>
              <a:t>回顾：指令集设计</a:t>
            </a:r>
            <a:endParaRPr lang="en-CN" kern="0" dirty="0"/>
          </a:p>
        </p:txBody>
      </p:sp>
    </p:spTree>
    <p:extLst>
      <p:ext uri="{BB962C8B-B14F-4D97-AF65-F5344CB8AC3E}">
        <p14:creationId xmlns:p14="http://schemas.microsoft.com/office/powerpoint/2010/main" val="35721852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21EC1DE4-3A57-4B4B-BB9B-9B480071E62B}"/>
              </a:ext>
            </a:extLst>
          </p:cNvPr>
          <p:cNvSpPr>
            <a:spLocks noGrp="1"/>
          </p:cNvSpPr>
          <p:nvPr>
            <p:ph type="sldNum" sz="quarter" idx="12"/>
          </p:nvPr>
        </p:nvSpPr>
        <p:spPr/>
        <p:txBody>
          <a:bodyPr/>
          <a:lstStyle/>
          <a:p>
            <a:fld id="{14659731-6BD7-46E7-8D3C-2F3AC07E20B1}" type="slidenum">
              <a:rPr lang="en-US" altLang="zh-CN" smtClean="0"/>
              <a:pPr/>
              <a:t>10</a:t>
            </a:fld>
            <a:endParaRPr lang="en-US" altLang="zh-CN"/>
          </a:p>
        </p:txBody>
      </p:sp>
      <p:sp>
        <p:nvSpPr>
          <p:cNvPr id="6" name="内容占位符 5">
            <a:extLst>
              <a:ext uri="{FF2B5EF4-FFF2-40B4-BE49-F238E27FC236}">
                <a16:creationId xmlns:a16="http://schemas.microsoft.com/office/drawing/2014/main" id="{54E9E03B-6A5B-BD4D-8A92-47069293EE4C}"/>
              </a:ext>
            </a:extLst>
          </p:cNvPr>
          <p:cNvSpPr>
            <a:spLocks noGrp="1"/>
          </p:cNvSpPr>
          <p:nvPr>
            <p:ph idx="4294967295"/>
          </p:nvPr>
        </p:nvSpPr>
        <p:spPr>
          <a:xfrm>
            <a:off x="457200" y="1292046"/>
            <a:ext cx="8569325" cy="976313"/>
          </a:xfrm>
        </p:spPr>
        <p:txBody>
          <a:bodyPr>
            <a:normAutofit/>
          </a:bodyPr>
          <a:lstStyle/>
          <a:p>
            <a:r>
              <a:rPr lang="zh-CN" altLang="en-US" sz="2800" dirty="0">
                <a:latin typeface="+mj-ea"/>
              </a:rPr>
              <a:t>指令集的角色</a:t>
            </a:r>
            <a:endParaRPr lang="en-US" altLang="zh-CN" sz="2800" dirty="0"/>
          </a:p>
          <a:p>
            <a:pPr lvl="1"/>
            <a:r>
              <a:rPr lang="zh-CN" altLang="en-US" sz="2400" dirty="0"/>
              <a:t>软件和通用处理器之间的桥梁</a:t>
            </a:r>
          </a:p>
        </p:txBody>
      </p:sp>
      <p:sp>
        <p:nvSpPr>
          <p:cNvPr id="9" name="Title 4">
            <a:extLst>
              <a:ext uri="{FF2B5EF4-FFF2-40B4-BE49-F238E27FC236}">
                <a16:creationId xmlns:a16="http://schemas.microsoft.com/office/drawing/2014/main" id="{731A4D7D-B017-5BD8-E605-156C3BED2C64}"/>
              </a:ext>
            </a:extLst>
          </p:cNvPr>
          <p:cNvSpPr txBox="1">
            <a:spLocks/>
          </p:cNvSpPr>
          <p:nvPr/>
        </p:nvSpPr>
        <p:spPr bwMode="auto">
          <a:xfrm>
            <a:off x="457200" y="136800"/>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kumimoji="1" lang="zh-CN" altLang="en-US" dirty="0"/>
              <a:t>回顾：如何支持通用算法？</a:t>
            </a:r>
            <a:endParaRPr lang="en-CN" kern="0" dirty="0"/>
          </a:p>
        </p:txBody>
      </p:sp>
      <p:sp>
        <p:nvSpPr>
          <p:cNvPr id="47" name="内容占位符 5">
            <a:extLst>
              <a:ext uri="{FF2B5EF4-FFF2-40B4-BE49-F238E27FC236}">
                <a16:creationId xmlns:a16="http://schemas.microsoft.com/office/drawing/2014/main" id="{C4E67AFE-C5CC-BEE2-90BC-1ABB5F32A475}"/>
              </a:ext>
            </a:extLst>
          </p:cNvPr>
          <p:cNvSpPr txBox="1">
            <a:spLocks/>
          </p:cNvSpPr>
          <p:nvPr/>
        </p:nvSpPr>
        <p:spPr bwMode="auto">
          <a:xfrm>
            <a:off x="1103242" y="2354317"/>
            <a:ext cx="1726019" cy="1804828"/>
          </a:xfrm>
          <a:prstGeom prst="roundRect">
            <a:avLst>
              <a:gd name="adj" fmla="val 4825"/>
            </a:avLst>
          </a:prstGeom>
          <a:solidFill>
            <a:srgbClr val="F79646">
              <a:lumMod val="20000"/>
              <a:lumOff val="80000"/>
            </a:srgbClr>
          </a:solidFill>
          <a:ln w="25400" cap="flat" cmpd="sng" algn="ctr">
            <a:solidFill>
              <a:srgbClr val="F79646">
                <a:lumMod val="75000"/>
              </a:srgbClr>
            </a:solidFill>
            <a:prstDash val="solid"/>
          </a:ln>
          <a:effectLst>
            <a:outerShdw blurRad="40000" dist="20000" dir="5400000" rotWithShape="0">
              <a:srgbClr val="000000">
                <a:alpha val="38000"/>
              </a:srgbClr>
            </a:outerShdw>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b="1">
                <a:solidFill>
                  <a:schemeClr val="tx1"/>
                </a:solidFill>
                <a:latin typeface="+mn-lt"/>
                <a:ea typeface="+mn-ea"/>
                <a:cs typeface="+mn-cs"/>
              </a:defRPr>
            </a:lvl1pPr>
            <a:lvl2pPr marL="742950" indent="-285750" algn="l" rtl="0" fontAlgn="base">
              <a:spcBef>
                <a:spcPct val="20000"/>
              </a:spcBef>
              <a:spcAft>
                <a:spcPct val="0"/>
              </a:spcAft>
              <a:buChar char="–"/>
              <a:defRPr sz="2800" b="1">
                <a:solidFill>
                  <a:schemeClr val="tx1"/>
                </a:solidFill>
                <a:latin typeface="+mn-lt"/>
                <a:ea typeface="+mn-ea"/>
              </a:defRPr>
            </a:lvl2pPr>
            <a:lvl3pPr marL="1143000" indent="-228600" algn="l" rtl="0" fontAlgn="base">
              <a:spcBef>
                <a:spcPct val="20000"/>
              </a:spcBef>
              <a:spcAft>
                <a:spcPct val="0"/>
              </a:spcAft>
              <a:buChar char="•"/>
              <a:defRPr sz="2400" b="1">
                <a:solidFill>
                  <a:schemeClr val="tx1"/>
                </a:solidFill>
                <a:latin typeface="+mn-lt"/>
                <a:ea typeface="+mn-ea"/>
              </a:defRPr>
            </a:lvl3pPr>
            <a:lvl4pPr marL="1600200" indent="-228600" algn="l" rtl="0" fontAlgn="base">
              <a:spcBef>
                <a:spcPct val="20000"/>
              </a:spcBef>
              <a:spcAft>
                <a:spcPct val="0"/>
              </a:spcAft>
              <a:buChar char="–"/>
              <a:defRPr sz="2000" b="1">
                <a:solidFill>
                  <a:schemeClr val="tx1"/>
                </a:solidFill>
                <a:latin typeface="+mn-lt"/>
                <a:ea typeface="+mn-ea"/>
              </a:defRPr>
            </a:lvl4pPr>
            <a:lvl5pPr marL="2057400" indent="-228600" algn="l" rtl="0" fontAlgn="base">
              <a:spcBef>
                <a:spcPct val="20000"/>
              </a:spcBef>
              <a:spcAft>
                <a:spcPct val="0"/>
              </a:spcAft>
              <a:buChar char="»"/>
              <a:defRPr sz="2000" b="1">
                <a:solidFill>
                  <a:schemeClr val="tx1"/>
                </a:solidFill>
                <a:latin typeface="+mn-lt"/>
                <a:ea typeface="+mn-ea"/>
              </a:defRPr>
            </a:lvl5pPr>
            <a:lvl6pPr marL="2514600" indent="-228600" algn="l" rtl="0" fontAlgn="base">
              <a:spcBef>
                <a:spcPct val="20000"/>
              </a:spcBef>
              <a:spcAft>
                <a:spcPct val="0"/>
              </a:spcAft>
              <a:buChar char="»"/>
              <a:defRPr sz="2000" b="1">
                <a:solidFill>
                  <a:schemeClr val="tx1"/>
                </a:solidFill>
                <a:latin typeface="+mn-lt"/>
                <a:ea typeface="+mn-ea"/>
              </a:defRPr>
            </a:lvl6pPr>
            <a:lvl7pPr marL="2971800" indent="-228600" algn="l" rtl="0" fontAlgn="base">
              <a:spcBef>
                <a:spcPct val="20000"/>
              </a:spcBef>
              <a:spcAft>
                <a:spcPct val="0"/>
              </a:spcAft>
              <a:buChar char="»"/>
              <a:defRPr sz="2000" b="1">
                <a:solidFill>
                  <a:schemeClr val="tx1"/>
                </a:solidFill>
                <a:latin typeface="+mn-lt"/>
                <a:ea typeface="+mn-ea"/>
              </a:defRPr>
            </a:lvl7pPr>
            <a:lvl8pPr marL="3429000" indent="-228600" algn="l" rtl="0" fontAlgn="base">
              <a:spcBef>
                <a:spcPct val="20000"/>
              </a:spcBef>
              <a:spcAft>
                <a:spcPct val="0"/>
              </a:spcAft>
              <a:buChar char="»"/>
              <a:defRPr sz="2000" b="1">
                <a:solidFill>
                  <a:schemeClr val="tx1"/>
                </a:solidFill>
                <a:latin typeface="+mn-lt"/>
                <a:ea typeface="+mn-ea"/>
              </a:defRPr>
            </a:lvl8pPr>
            <a:lvl9pPr marL="3886200" indent="-228600" algn="l" rtl="0" fontAlgn="base">
              <a:spcBef>
                <a:spcPct val="20000"/>
              </a:spcBef>
              <a:spcAft>
                <a:spcPct val="0"/>
              </a:spcAft>
              <a:buChar char="»"/>
              <a:defRPr sz="2000" b="1">
                <a:solidFill>
                  <a:schemeClr val="tx1"/>
                </a:solidFill>
                <a:latin typeface="+mn-lt"/>
                <a:ea typeface="+mn-ea"/>
              </a:defRPr>
            </a:lvl9pPr>
          </a:lstStyle>
          <a:p>
            <a:pPr marL="0" marR="0" lvl="0" indent="0" algn="l" defTabSz="914400" rtl="0" eaLnBrk="1" fontAlgn="base" latinLnBrk="0" hangingPunct="1">
              <a:lnSpc>
                <a:spcPct val="150000"/>
              </a:lnSpc>
              <a:spcBef>
                <a:spcPct val="0"/>
              </a:spcBef>
              <a:spcAft>
                <a:spcPct val="0"/>
              </a:spcAft>
              <a:buClrTx/>
              <a:buSzTx/>
              <a:buFontTx/>
              <a:buNone/>
              <a:tabLst/>
              <a:defRPr/>
            </a:pPr>
            <a:r>
              <a:rPr kumimoji="1" lang="en-US" altLang="zh-CN" sz="1200" b="1" i="0" u="none" strike="noStrike" kern="0" cap="none" spc="0" normalizeH="0" baseline="0" noProof="0" dirty="0" err="1">
                <a:ln>
                  <a:noFill/>
                </a:ln>
                <a:solidFill>
                  <a:srgbClr val="000000"/>
                </a:solidFill>
                <a:effectLst/>
                <a:uLnTx/>
                <a:uFillTx/>
                <a:latin typeface="Consolas" panose="020B0609020204030204" pitchFamily="49" charset="0"/>
                <a:cs typeface="Consolas" panose="020B0609020204030204" pitchFamily="49" charset="0"/>
              </a:rPr>
              <a:t>i</a:t>
            </a:r>
            <a:r>
              <a:rPr kumimoji="1" lang="en-US" altLang="zh-CN" sz="1200" b="1" i="0" u="none" strike="noStrike" kern="0" cap="none" spc="0" normalizeH="0" baseline="0" noProof="0" dirty="0">
                <a:ln>
                  <a:noFill/>
                </a:ln>
                <a:solidFill>
                  <a:srgbClr val="000000"/>
                </a:solidFill>
                <a:effectLst/>
                <a:uLnTx/>
                <a:uFillTx/>
                <a:latin typeface="Consolas" panose="020B0609020204030204" pitchFamily="49" charset="0"/>
                <a:cs typeface="Consolas" panose="020B0609020204030204" pitchFamily="49" charset="0"/>
              </a:rPr>
              <a:t>=0;S=0;r=0;</a:t>
            </a:r>
          </a:p>
          <a:p>
            <a:pPr marL="0" marR="0" lvl="0" indent="0" algn="l" defTabSz="914400" rtl="0" eaLnBrk="1" fontAlgn="base" latinLnBrk="0" hangingPunct="1">
              <a:lnSpc>
                <a:spcPct val="150000"/>
              </a:lnSpc>
              <a:spcBef>
                <a:spcPct val="0"/>
              </a:spcBef>
              <a:spcAft>
                <a:spcPct val="0"/>
              </a:spcAft>
              <a:buClrTx/>
              <a:buSzTx/>
              <a:buFontTx/>
              <a:buNone/>
              <a:tabLst/>
              <a:defRPr/>
            </a:pPr>
            <a:r>
              <a:rPr kumimoji="1" lang="en-US" altLang="zh-CN" sz="1200" b="1" i="0" u="none" strike="noStrike" kern="0" cap="none" spc="0" normalizeH="0" baseline="0" noProof="0" dirty="0">
                <a:ln>
                  <a:noFill/>
                </a:ln>
                <a:solidFill>
                  <a:srgbClr val="000000"/>
                </a:solidFill>
                <a:effectLst/>
                <a:uLnTx/>
                <a:uFillTx/>
                <a:latin typeface="Consolas" panose="020B0609020204030204" pitchFamily="49" charset="0"/>
                <a:cs typeface="Consolas" panose="020B0609020204030204" pitchFamily="49" charset="0"/>
              </a:rPr>
              <a:t>while(</a:t>
            </a:r>
            <a:r>
              <a:rPr kumimoji="1" lang="en-US" altLang="zh-CN" sz="1200" b="1" i="0" u="none" strike="noStrike" kern="0" cap="none" spc="0" normalizeH="0" baseline="0" noProof="0" dirty="0" err="1">
                <a:ln>
                  <a:noFill/>
                </a:ln>
                <a:solidFill>
                  <a:srgbClr val="000000"/>
                </a:solidFill>
                <a:effectLst/>
                <a:uLnTx/>
                <a:uFillTx/>
                <a:latin typeface="Consolas" panose="020B0609020204030204" pitchFamily="49" charset="0"/>
                <a:cs typeface="Consolas" panose="020B0609020204030204" pitchFamily="49" charset="0"/>
              </a:rPr>
              <a:t>i</a:t>
            </a:r>
            <a:r>
              <a:rPr kumimoji="1" lang="en-US" altLang="zh-CN" sz="1200" b="1" i="0" u="none" strike="noStrike" kern="0" cap="none" spc="0" normalizeH="0" baseline="0" noProof="0" dirty="0">
                <a:ln>
                  <a:noFill/>
                </a:ln>
                <a:solidFill>
                  <a:srgbClr val="000000"/>
                </a:solidFill>
                <a:effectLst/>
                <a:uLnTx/>
                <a:uFillTx/>
                <a:latin typeface="Consolas" panose="020B0609020204030204" pitchFamily="49" charset="0"/>
                <a:cs typeface="Consolas" panose="020B0609020204030204" pitchFamily="49" charset="0"/>
              </a:rPr>
              <a:t>&lt;10){</a:t>
            </a:r>
          </a:p>
          <a:p>
            <a:pPr marL="0" marR="0" lvl="0" indent="0" algn="l" defTabSz="914400" rtl="0" eaLnBrk="1" fontAlgn="base" latinLnBrk="0" hangingPunct="1">
              <a:lnSpc>
                <a:spcPct val="150000"/>
              </a:lnSpc>
              <a:spcBef>
                <a:spcPct val="0"/>
              </a:spcBef>
              <a:spcAft>
                <a:spcPct val="0"/>
              </a:spcAft>
              <a:buClrTx/>
              <a:buSzTx/>
              <a:buFontTx/>
              <a:buNone/>
              <a:tabLst/>
              <a:defRPr/>
            </a:pPr>
            <a:r>
              <a:rPr kumimoji="1" lang="en-US" altLang="zh-CN" sz="1200" b="1" i="0" u="none" strike="noStrike" kern="0" cap="none" spc="0" normalizeH="0" baseline="0" noProof="0" dirty="0">
                <a:ln>
                  <a:noFill/>
                </a:ln>
                <a:solidFill>
                  <a:srgbClr val="000000"/>
                </a:solidFill>
                <a:effectLst/>
                <a:uLnTx/>
                <a:uFillTx/>
                <a:latin typeface="Consolas" panose="020B0609020204030204" pitchFamily="49" charset="0"/>
                <a:cs typeface="Consolas" panose="020B0609020204030204" pitchFamily="49" charset="0"/>
              </a:rPr>
              <a:t>    r=A[</a:t>
            </a:r>
            <a:r>
              <a:rPr kumimoji="1" lang="en-US" altLang="zh-CN" sz="1200" b="1" i="0" u="none" strike="noStrike" kern="0" cap="none" spc="0" normalizeH="0" baseline="0" noProof="0" dirty="0" err="1">
                <a:ln>
                  <a:noFill/>
                </a:ln>
                <a:solidFill>
                  <a:srgbClr val="000000"/>
                </a:solidFill>
                <a:effectLst/>
                <a:uLnTx/>
                <a:uFillTx/>
                <a:latin typeface="Consolas" panose="020B0609020204030204" pitchFamily="49" charset="0"/>
                <a:cs typeface="Consolas" panose="020B0609020204030204" pitchFamily="49" charset="0"/>
              </a:rPr>
              <a:t>i</a:t>
            </a:r>
            <a:r>
              <a:rPr kumimoji="1" lang="en-US" altLang="zh-CN" sz="1200" b="1" i="0" u="none" strike="noStrike" kern="0" cap="none" spc="0" normalizeH="0" baseline="0" noProof="0" dirty="0">
                <a:ln>
                  <a:noFill/>
                </a:ln>
                <a:solidFill>
                  <a:srgbClr val="000000"/>
                </a:solidFill>
                <a:effectLst/>
                <a:uLnTx/>
                <a:uFillTx/>
                <a:latin typeface="Consolas" panose="020B0609020204030204" pitchFamily="49" charset="0"/>
                <a:cs typeface="Consolas" panose="020B0609020204030204" pitchFamily="49" charset="0"/>
              </a:rPr>
              <a:t>];</a:t>
            </a:r>
          </a:p>
          <a:p>
            <a:pPr marL="0" marR="0" lvl="0" indent="0" algn="l" defTabSz="914400" rtl="0" eaLnBrk="1" fontAlgn="base" latinLnBrk="0" hangingPunct="1">
              <a:lnSpc>
                <a:spcPct val="150000"/>
              </a:lnSpc>
              <a:spcBef>
                <a:spcPct val="0"/>
              </a:spcBef>
              <a:spcAft>
                <a:spcPct val="0"/>
              </a:spcAft>
              <a:buClrTx/>
              <a:buSzTx/>
              <a:buFontTx/>
              <a:buNone/>
              <a:tabLst/>
              <a:defRPr/>
            </a:pPr>
            <a:r>
              <a:rPr kumimoji="1" lang="en-US" altLang="zh-CN" sz="1200" b="1" i="0" u="none" strike="noStrike" kern="0" cap="none" spc="0" normalizeH="0" baseline="0" noProof="0" dirty="0">
                <a:ln>
                  <a:noFill/>
                </a:ln>
                <a:solidFill>
                  <a:srgbClr val="000000"/>
                </a:solidFill>
                <a:effectLst/>
                <a:uLnTx/>
                <a:uFillTx/>
                <a:latin typeface="Consolas" panose="020B0609020204030204" pitchFamily="49" charset="0"/>
                <a:cs typeface="Consolas" panose="020B0609020204030204" pitchFamily="49" charset="0"/>
              </a:rPr>
              <a:t>    S=</a:t>
            </a:r>
            <a:r>
              <a:rPr kumimoji="1" lang="en-US" altLang="zh-CN" sz="1200" b="1" i="0" u="none" strike="noStrike" kern="0" cap="none" spc="0" normalizeH="0" baseline="0" noProof="0" dirty="0" err="1">
                <a:ln>
                  <a:noFill/>
                </a:ln>
                <a:solidFill>
                  <a:srgbClr val="000000"/>
                </a:solidFill>
                <a:effectLst/>
                <a:uLnTx/>
                <a:uFillTx/>
                <a:latin typeface="Consolas" panose="020B0609020204030204" pitchFamily="49" charset="0"/>
                <a:cs typeface="Consolas" panose="020B0609020204030204" pitchFamily="49" charset="0"/>
              </a:rPr>
              <a:t>S+r</a:t>
            </a:r>
            <a:r>
              <a:rPr kumimoji="1" lang="en-US" altLang="zh-CN" sz="1200" b="1" i="0" u="none" strike="noStrike" kern="0" cap="none" spc="0" normalizeH="0" baseline="0" noProof="0" dirty="0">
                <a:ln>
                  <a:noFill/>
                </a:ln>
                <a:solidFill>
                  <a:srgbClr val="000000"/>
                </a:solidFill>
                <a:effectLst/>
                <a:uLnTx/>
                <a:uFillTx/>
                <a:latin typeface="Consolas" panose="020B0609020204030204" pitchFamily="49" charset="0"/>
                <a:cs typeface="Consolas" panose="020B0609020204030204" pitchFamily="49" charset="0"/>
              </a:rPr>
              <a:t>;</a:t>
            </a:r>
          </a:p>
          <a:p>
            <a:pPr marL="0" marR="0" lvl="0" indent="0" algn="l" defTabSz="914400" rtl="0" eaLnBrk="1" fontAlgn="base" latinLnBrk="0" hangingPunct="1">
              <a:lnSpc>
                <a:spcPct val="150000"/>
              </a:lnSpc>
              <a:spcBef>
                <a:spcPct val="0"/>
              </a:spcBef>
              <a:spcAft>
                <a:spcPct val="0"/>
              </a:spcAft>
              <a:buClrTx/>
              <a:buSzTx/>
              <a:buFontTx/>
              <a:buNone/>
              <a:tabLst/>
              <a:defRPr/>
            </a:pPr>
            <a:r>
              <a:rPr kumimoji="1" lang="en-US" altLang="zh-CN" sz="1200" b="1" i="0" u="none" strike="noStrike" kern="0" cap="none" spc="0" normalizeH="0" baseline="0" noProof="0" dirty="0">
                <a:ln>
                  <a:noFill/>
                </a:ln>
                <a:solidFill>
                  <a:srgbClr val="000000"/>
                </a:solidFill>
                <a:effectLst/>
                <a:uLnTx/>
                <a:uFillTx/>
                <a:latin typeface="Consolas" panose="020B0609020204030204" pitchFamily="49" charset="0"/>
                <a:cs typeface="Consolas" panose="020B0609020204030204" pitchFamily="49" charset="0"/>
              </a:rPr>
              <a:t>    </a:t>
            </a:r>
            <a:r>
              <a:rPr kumimoji="1" lang="en-US" altLang="zh-CN" sz="1200" b="1" i="0" u="none" strike="noStrike" kern="0" cap="none" spc="0" normalizeH="0" baseline="0" noProof="0" dirty="0" err="1">
                <a:ln>
                  <a:noFill/>
                </a:ln>
                <a:solidFill>
                  <a:srgbClr val="000000"/>
                </a:solidFill>
                <a:effectLst/>
                <a:uLnTx/>
                <a:uFillTx/>
                <a:latin typeface="Consolas" panose="020B0609020204030204" pitchFamily="49" charset="0"/>
                <a:cs typeface="Consolas" panose="020B0609020204030204" pitchFamily="49" charset="0"/>
              </a:rPr>
              <a:t>i</a:t>
            </a:r>
            <a:r>
              <a:rPr kumimoji="1" lang="en-US" altLang="zh-CN" sz="1200" b="1" i="0" u="none" strike="noStrike" kern="0" cap="none" spc="0" normalizeH="0" baseline="0" noProof="0" dirty="0">
                <a:ln>
                  <a:noFill/>
                </a:ln>
                <a:solidFill>
                  <a:srgbClr val="000000"/>
                </a:solidFill>
                <a:effectLst/>
                <a:uLnTx/>
                <a:uFillTx/>
                <a:latin typeface="Consolas" panose="020B0609020204030204" pitchFamily="49" charset="0"/>
                <a:cs typeface="Consolas" panose="020B0609020204030204" pitchFamily="49" charset="0"/>
              </a:rPr>
              <a:t>=i+1;</a:t>
            </a:r>
          </a:p>
          <a:p>
            <a:pPr marL="0" marR="0" lvl="0" indent="0" algn="l" defTabSz="914400" rtl="0" eaLnBrk="1" fontAlgn="base" latinLnBrk="0" hangingPunct="1">
              <a:lnSpc>
                <a:spcPct val="150000"/>
              </a:lnSpc>
              <a:spcBef>
                <a:spcPct val="0"/>
              </a:spcBef>
              <a:spcAft>
                <a:spcPct val="0"/>
              </a:spcAft>
              <a:buClrTx/>
              <a:buSzTx/>
              <a:buFontTx/>
              <a:buNone/>
              <a:tabLst/>
              <a:defRPr/>
            </a:pPr>
            <a:r>
              <a:rPr kumimoji="1" lang="en-US" altLang="zh-CN" sz="1200" b="1" i="0" u="none" strike="noStrike" kern="0" cap="none" spc="0" normalizeH="0" baseline="0" noProof="0" dirty="0">
                <a:ln>
                  <a:noFill/>
                </a:ln>
                <a:solidFill>
                  <a:srgbClr val="000000"/>
                </a:solidFill>
                <a:effectLst/>
                <a:uLnTx/>
                <a:uFillTx/>
                <a:latin typeface="Consolas" panose="020B0609020204030204" pitchFamily="49" charset="0"/>
                <a:cs typeface="Consolas" panose="020B0609020204030204" pitchFamily="49" charset="0"/>
              </a:rPr>
              <a:t>}</a:t>
            </a:r>
          </a:p>
        </p:txBody>
      </p:sp>
      <p:sp>
        <p:nvSpPr>
          <p:cNvPr id="48" name="文本框 47">
            <a:extLst>
              <a:ext uri="{FF2B5EF4-FFF2-40B4-BE49-F238E27FC236}">
                <a16:creationId xmlns:a16="http://schemas.microsoft.com/office/drawing/2014/main" id="{894024F2-C126-5F33-E543-F2349397BBBD}"/>
              </a:ext>
            </a:extLst>
          </p:cNvPr>
          <p:cNvSpPr txBox="1"/>
          <p:nvPr/>
        </p:nvSpPr>
        <p:spPr>
          <a:xfrm>
            <a:off x="2035027" y="3743255"/>
            <a:ext cx="813043" cy="417467"/>
          </a:xfrm>
          <a:prstGeom prst="rect">
            <a:avLst/>
          </a:prstGeom>
          <a:noFill/>
        </p:spPr>
        <p:txBody>
          <a:bodyPr wrap="none" rtlCol="0">
            <a:spAutoFit/>
          </a:bodyPr>
          <a:lstStyle/>
          <a:p>
            <a:pPr algn="ctr"/>
            <a:r>
              <a:rPr kumimoji="1" lang="zh-CN" altLang="en-US" sz="2400" b="1" dirty="0">
                <a:solidFill>
                  <a:srgbClr val="C00000"/>
                </a:solidFill>
                <a:latin typeface="+mn-lt"/>
                <a:ea typeface="+mn-ea"/>
              </a:rPr>
              <a:t>程序</a:t>
            </a:r>
          </a:p>
        </p:txBody>
      </p:sp>
      <p:sp>
        <p:nvSpPr>
          <p:cNvPr id="49" name="右箭头 7">
            <a:extLst>
              <a:ext uri="{FF2B5EF4-FFF2-40B4-BE49-F238E27FC236}">
                <a16:creationId xmlns:a16="http://schemas.microsoft.com/office/drawing/2014/main" id="{CFBCC298-976D-81DC-65FE-3995B37AA2C3}"/>
              </a:ext>
            </a:extLst>
          </p:cNvPr>
          <p:cNvSpPr/>
          <p:nvPr/>
        </p:nvSpPr>
        <p:spPr>
          <a:xfrm>
            <a:off x="2933393" y="2950113"/>
            <a:ext cx="3485480" cy="602808"/>
          </a:xfrm>
          <a:prstGeom prst="leftRightArrow">
            <a:avLst/>
          </a:prstGeom>
          <a:gradFill flip="none" rotWithShape="1">
            <a:gsLst>
              <a:gs pos="47000">
                <a:srgbClr val="FFFFFF">
                  <a:lumMod val="95000"/>
                </a:srgbClr>
              </a:gs>
              <a:gs pos="0">
                <a:srgbClr val="4F81BD">
                  <a:lumMod val="20000"/>
                  <a:lumOff val="80000"/>
                </a:srgbClr>
              </a:gs>
              <a:gs pos="100000">
                <a:srgbClr val="F79646">
                  <a:lumMod val="20000"/>
                  <a:lumOff val="80000"/>
                </a:srgbClr>
              </a:gs>
            </a:gsLst>
            <a:lin ang="10800000" scaled="0"/>
            <a:tileRect/>
          </a:gradFill>
          <a:ln w="25400" cap="flat" cmpd="sng" algn="ctr">
            <a:solidFill>
              <a:srgbClr val="8064A2">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800" b="1" i="0" u="none" strike="noStrike" kern="0" cap="none" spc="0" normalizeH="0" baseline="0" noProof="0" dirty="0">
                <a:ln>
                  <a:noFill/>
                </a:ln>
                <a:solidFill>
                  <a:srgbClr val="7030A0"/>
                </a:solidFill>
                <a:effectLst/>
                <a:uLnTx/>
                <a:uFillTx/>
                <a:latin typeface="+mn-lt"/>
                <a:ea typeface="+mn-ea"/>
                <a:cs typeface="+mn-cs"/>
              </a:rPr>
              <a:t>程序编写、编译器</a:t>
            </a:r>
          </a:p>
        </p:txBody>
      </p:sp>
      <p:sp>
        <p:nvSpPr>
          <p:cNvPr id="50" name="圆角矩形 49">
            <a:extLst>
              <a:ext uri="{FF2B5EF4-FFF2-40B4-BE49-F238E27FC236}">
                <a16:creationId xmlns:a16="http://schemas.microsoft.com/office/drawing/2014/main" id="{7D3292FD-1C2D-1FC8-283F-30B8185A4F3F}"/>
              </a:ext>
            </a:extLst>
          </p:cNvPr>
          <p:cNvSpPr/>
          <p:nvPr/>
        </p:nvSpPr>
        <p:spPr>
          <a:xfrm>
            <a:off x="6523006" y="4964386"/>
            <a:ext cx="1520268" cy="1507801"/>
          </a:xfrm>
          <a:prstGeom prst="roundRect">
            <a:avLst>
              <a:gd name="adj" fmla="val 12435"/>
            </a:avLst>
          </a:prstGeom>
          <a:solidFill>
            <a:srgbClr val="C0504D">
              <a:lumMod val="20000"/>
              <a:lumOff val="80000"/>
            </a:srgbClr>
          </a:solidFill>
          <a:ln w="25400" cap="flat" cmpd="sng" algn="ctr">
            <a:solidFill>
              <a:srgbClr val="C0504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2400" b="1" i="0" u="none" strike="noStrike" kern="0" cap="none" spc="0" normalizeH="0" baseline="0" noProof="0" dirty="0">
                <a:ln>
                  <a:noFill/>
                </a:ln>
                <a:solidFill>
                  <a:srgbClr val="C00000"/>
                </a:solidFill>
                <a:effectLst/>
                <a:uLnTx/>
                <a:uFillTx/>
                <a:latin typeface="+mn-lt"/>
                <a:ea typeface="+mn-ea"/>
                <a:cs typeface="+mn-cs"/>
              </a:rPr>
              <a:t>通用</a:t>
            </a:r>
            <a:br>
              <a:rPr kumimoji="1" lang="en-US" altLang="zh-CN" sz="2400" b="1" i="0" u="none" strike="noStrike" kern="0" cap="none" spc="0" normalizeH="0" baseline="0" noProof="0" dirty="0">
                <a:ln>
                  <a:noFill/>
                </a:ln>
                <a:solidFill>
                  <a:srgbClr val="C00000"/>
                </a:solidFill>
                <a:effectLst/>
                <a:uLnTx/>
                <a:uFillTx/>
                <a:latin typeface="+mn-lt"/>
                <a:ea typeface="+mn-ea"/>
                <a:cs typeface="+mn-cs"/>
              </a:rPr>
            </a:br>
            <a:r>
              <a:rPr kumimoji="1" lang="zh-CN" altLang="en-US" sz="2400" b="1" i="0" u="none" strike="noStrike" kern="0" cap="none" spc="0" normalizeH="0" baseline="0" noProof="0" dirty="0">
                <a:ln>
                  <a:noFill/>
                </a:ln>
                <a:solidFill>
                  <a:srgbClr val="C00000"/>
                </a:solidFill>
                <a:effectLst/>
                <a:uLnTx/>
                <a:uFillTx/>
                <a:latin typeface="+mn-lt"/>
                <a:ea typeface="+mn-ea"/>
                <a:cs typeface="+mn-cs"/>
              </a:rPr>
              <a:t>处理器</a:t>
            </a:r>
          </a:p>
        </p:txBody>
      </p:sp>
      <p:sp>
        <p:nvSpPr>
          <p:cNvPr id="51" name="下箭头 24">
            <a:extLst>
              <a:ext uri="{FF2B5EF4-FFF2-40B4-BE49-F238E27FC236}">
                <a16:creationId xmlns:a16="http://schemas.microsoft.com/office/drawing/2014/main" id="{F0502713-1F7B-58D6-544A-8E7FB305D087}"/>
              </a:ext>
            </a:extLst>
          </p:cNvPr>
          <p:cNvSpPr/>
          <p:nvPr/>
        </p:nvSpPr>
        <p:spPr>
          <a:xfrm>
            <a:off x="7079026" y="4159145"/>
            <a:ext cx="435687" cy="805241"/>
          </a:xfrm>
          <a:prstGeom prst="upDownArrow">
            <a:avLst/>
          </a:prstGeom>
          <a:gradFill flip="none" rotWithShape="1">
            <a:gsLst>
              <a:gs pos="47000">
                <a:srgbClr val="FFFFFF">
                  <a:lumMod val="95000"/>
                </a:srgbClr>
              </a:gs>
              <a:gs pos="0">
                <a:srgbClr val="4F81BD">
                  <a:lumMod val="20000"/>
                  <a:lumOff val="80000"/>
                </a:srgbClr>
              </a:gs>
              <a:gs pos="100000">
                <a:srgbClr val="C0504D">
                  <a:lumMod val="20000"/>
                  <a:lumOff val="80000"/>
                </a:srgbClr>
              </a:gs>
            </a:gsLst>
            <a:lin ang="5400000" scaled="1"/>
            <a:tileRect/>
          </a:gradFill>
          <a:ln w="25400" cap="flat" cmpd="sng" algn="ctr">
            <a:solidFill>
              <a:srgbClr val="4F81B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4600" b="1" i="0" u="none" strike="noStrike" kern="0" cap="none" spc="0" normalizeH="0" baseline="0" noProof="0">
              <a:ln>
                <a:noFill/>
              </a:ln>
              <a:solidFill>
                <a:srgbClr val="FFFFFF"/>
              </a:solidFill>
              <a:effectLst/>
              <a:uLnTx/>
              <a:uFillTx/>
              <a:latin typeface="+mn-lt"/>
              <a:ea typeface="+mn-ea"/>
              <a:cs typeface="+mn-cs"/>
            </a:endParaRPr>
          </a:p>
        </p:txBody>
      </p:sp>
      <p:grpSp>
        <p:nvGrpSpPr>
          <p:cNvPr id="52" name="Group 34">
            <a:extLst>
              <a:ext uri="{FF2B5EF4-FFF2-40B4-BE49-F238E27FC236}">
                <a16:creationId xmlns:a16="http://schemas.microsoft.com/office/drawing/2014/main" id="{87B514BC-C03D-6125-2362-D005E2027973}"/>
              </a:ext>
            </a:extLst>
          </p:cNvPr>
          <p:cNvGrpSpPr/>
          <p:nvPr/>
        </p:nvGrpSpPr>
        <p:grpSpPr>
          <a:xfrm>
            <a:off x="6502114" y="2354318"/>
            <a:ext cx="1541159" cy="1813590"/>
            <a:chOff x="1103242" y="4313409"/>
            <a:chExt cx="1541159" cy="2005598"/>
          </a:xfrm>
        </p:grpSpPr>
        <p:sp>
          <p:nvSpPr>
            <p:cNvPr id="53" name="圆角矩形 18">
              <a:extLst>
                <a:ext uri="{FF2B5EF4-FFF2-40B4-BE49-F238E27FC236}">
                  <a16:creationId xmlns:a16="http://schemas.microsoft.com/office/drawing/2014/main" id="{8BAAC7EF-1DFF-D4D8-0F56-CB9784441FA5}"/>
                </a:ext>
              </a:extLst>
            </p:cNvPr>
            <p:cNvSpPr/>
            <p:nvPr/>
          </p:nvSpPr>
          <p:spPr>
            <a:xfrm>
              <a:off x="1124133" y="4313409"/>
              <a:ext cx="1509823" cy="2005598"/>
            </a:xfrm>
            <a:prstGeom prst="roundRect">
              <a:avLst>
                <a:gd name="adj" fmla="val 9542"/>
              </a:avLst>
            </a:prstGeom>
            <a:solidFill>
              <a:srgbClr val="1F497D">
                <a:lumMod val="20000"/>
                <a:lumOff val="80000"/>
              </a:srgbClr>
            </a:solidFill>
            <a:ln w="25400" cap="flat" cmpd="sng" algn="ctr">
              <a:solidFill>
                <a:srgbClr val="1F497D">
                  <a:lumMod val="60000"/>
                  <a:lumOff val="40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000" b="1" i="0" u="none" strike="noStrike" kern="0" cap="none" spc="0" normalizeH="0" baseline="0" noProof="0">
                <a:ln>
                  <a:noFill/>
                </a:ln>
                <a:solidFill>
                  <a:srgbClr val="1F497D"/>
                </a:solidFill>
                <a:effectLst/>
                <a:uLnTx/>
                <a:uFillTx/>
                <a:latin typeface="+mn-lt"/>
                <a:ea typeface="+mn-ea"/>
                <a:cs typeface="+mn-cs"/>
              </a:endParaRPr>
            </a:p>
          </p:txBody>
        </p:sp>
        <p:sp>
          <p:nvSpPr>
            <p:cNvPr id="54" name="矩形 21">
              <a:extLst>
                <a:ext uri="{FF2B5EF4-FFF2-40B4-BE49-F238E27FC236}">
                  <a16:creationId xmlns:a16="http://schemas.microsoft.com/office/drawing/2014/main" id="{7A748E0E-AD2D-2C3B-4BC8-F4FF7E52E6BF}"/>
                </a:ext>
              </a:extLst>
            </p:cNvPr>
            <p:cNvSpPr/>
            <p:nvPr/>
          </p:nvSpPr>
          <p:spPr>
            <a:xfrm rot="5400000">
              <a:off x="1646251" y="5115776"/>
              <a:ext cx="678392" cy="707886"/>
            </a:xfrm>
            <a:prstGeom prst="rect">
              <a:avLst/>
            </a:prstGeom>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dirty="0">
                  <a:ln>
                    <a:noFill/>
                  </a:ln>
                  <a:solidFill>
                    <a:srgbClr val="1F497D"/>
                  </a:solidFill>
                  <a:effectLst/>
                  <a:uLnTx/>
                  <a:uFillTx/>
                  <a:latin typeface="+mn-lt"/>
                  <a:ea typeface="+mn-ea"/>
                </a:rPr>
                <a:t>……</a:t>
              </a:r>
              <a:endParaRPr kumimoji="1" lang="zh-CN" altLang="en-US" sz="2000" b="1" i="0" u="none" strike="noStrike" kern="0" cap="none" spc="0" normalizeH="0" baseline="0" noProof="0" dirty="0">
                <a:ln>
                  <a:noFill/>
                </a:ln>
                <a:solidFill>
                  <a:srgbClr val="1F497D"/>
                </a:solidFill>
                <a:effectLst/>
                <a:uLnTx/>
                <a:uFillTx/>
                <a:latin typeface="+mn-lt"/>
                <a:ea typeface="+mn-ea"/>
              </a:endParaRPr>
            </a:p>
          </p:txBody>
        </p:sp>
        <p:cxnSp>
          <p:nvCxnSpPr>
            <p:cNvPr id="55" name="Straight Connector 37">
              <a:extLst>
                <a:ext uri="{FF2B5EF4-FFF2-40B4-BE49-F238E27FC236}">
                  <a16:creationId xmlns:a16="http://schemas.microsoft.com/office/drawing/2014/main" id="{AB3B4A09-43A3-4DFB-336C-1721A526FC00}"/>
                </a:ext>
              </a:extLst>
            </p:cNvPr>
            <p:cNvCxnSpPr/>
            <p:nvPr/>
          </p:nvCxnSpPr>
          <p:spPr>
            <a:xfrm>
              <a:off x="1103242" y="4733925"/>
              <a:ext cx="1530714" cy="0"/>
            </a:xfrm>
            <a:prstGeom prst="line">
              <a:avLst/>
            </a:prstGeom>
            <a:noFill/>
            <a:ln w="9525" cap="flat" cmpd="sng" algn="ctr">
              <a:solidFill>
                <a:srgbClr val="4F81BD">
                  <a:shade val="95000"/>
                  <a:satMod val="105000"/>
                </a:srgbClr>
              </a:solidFill>
              <a:prstDash val="solid"/>
            </a:ln>
            <a:effectLst/>
          </p:spPr>
        </p:cxnSp>
        <p:cxnSp>
          <p:nvCxnSpPr>
            <p:cNvPr id="56" name="Straight Connector 38">
              <a:extLst>
                <a:ext uri="{FF2B5EF4-FFF2-40B4-BE49-F238E27FC236}">
                  <a16:creationId xmlns:a16="http://schemas.microsoft.com/office/drawing/2014/main" id="{AD87E3C0-6ED5-ABE3-2DA6-4278481F2501}"/>
                </a:ext>
              </a:extLst>
            </p:cNvPr>
            <p:cNvCxnSpPr/>
            <p:nvPr/>
          </p:nvCxnSpPr>
          <p:spPr>
            <a:xfrm>
              <a:off x="1103242" y="5074668"/>
              <a:ext cx="1530714" cy="0"/>
            </a:xfrm>
            <a:prstGeom prst="line">
              <a:avLst/>
            </a:prstGeom>
            <a:noFill/>
            <a:ln w="9525" cap="flat" cmpd="sng" algn="ctr">
              <a:solidFill>
                <a:srgbClr val="4F81BD">
                  <a:shade val="95000"/>
                  <a:satMod val="105000"/>
                </a:srgbClr>
              </a:solidFill>
              <a:prstDash val="solid"/>
            </a:ln>
            <a:effectLst/>
          </p:spPr>
        </p:cxnSp>
        <p:cxnSp>
          <p:nvCxnSpPr>
            <p:cNvPr id="57" name="Straight Connector 39">
              <a:extLst>
                <a:ext uri="{FF2B5EF4-FFF2-40B4-BE49-F238E27FC236}">
                  <a16:creationId xmlns:a16="http://schemas.microsoft.com/office/drawing/2014/main" id="{3FF874B2-7BBC-8058-46D4-FA93C90CD17A}"/>
                </a:ext>
              </a:extLst>
            </p:cNvPr>
            <p:cNvCxnSpPr/>
            <p:nvPr/>
          </p:nvCxnSpPr>
          <p:spPr>
            <a:xfrm>
              <a:off x="1113687" y="5890848"/>
              <a:ext cx="1530714" cy="0"/>
            </a:xfrm>
            <a:prstGeom prst="line">
              <a:avLst/>
            </a:prstGeom>
            <a:noFill/>
            <a:ln w="9525" cap="flat" cmpd="sng" algn="ctr">
              <a:solidFill>
                <a:srgbClr val="4F81BD">
                  <a:shade val="95000"/>
                  <a:satMod val="105000"/>
                </a:srgbClr>
              </a:solidFill>
              <a:prstDash val="solid"/>
            </a:ln>
            <a:effectLst/>
          </p:spPr>
        </p:cxnSp>
        <p:sp>
          <p:nvSpPr>
            <p:cNvPr id="58" name="TextBox 40">
              <a:extLst>
                <a:ext uri="{FF2B5EF4-FFF2-40B4-BE49-F238E27FC236}">
                  <a16:creationId xmlns:a16="http://schemas.microsoft.com/office/drawing/2014/main" id="{ACC2B00F-F08F-8462-55FC-96E7C6EA6E71}"/>
                </a:ext>
              </a:extLst>
            </p:cNvPr>
            <p:cNvSpPr txBox="1"/>
            <p:nvPr/>
          </p:nvSpPr>
          <p:spPr>
            <a:xfrm>
              <a:off x="1529561" y="4377206"/>
              <a:ext cx="776175" cy="338554"/>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solidFill>
                    <a:srgbClr val="1F497D"/>
                  </a:solidFill>
                  <a:effectLst/>
                  <a:uLnTx/>
                  <a:uFillTx/>
                  <a:latin typeface="+mn-lt"/>
                  <a:ea typeface="+mn-ea"/>
                </a:rPr>
                <a:t>指令</a:t>
              </a:r>
              <a:r>
                <a:rPr kumimoji="0" lang="en-US" altLang="zh-CN" sz="1600" b="1" i="0" u="none" strike="noStrike" kern="0" cap="none" spc="0" normalizeH="0" baseline="0" noProof="0" dirty="0">
                  <a:ln>
                    <a:noFill/>
                  </a:ln>
                  <a:solidFill>
                    <a:srgbClr val="1F497D"/>
                  </a:solidFill>
                  <a:effectLst/>
                  <a:uLnTx/>
                  <a:uFillTx/>
                  <a:latin typeface="+mn-lt"/>
                  <a:ea typeface="+mn-ea"/>
                </a:rPr>
                <a:t> 1</a:t>
              </a:r>
              <a:endParaRPr kumimoji="0" lang="zh-CN" altLang="en-US" sz="1600" b="1" i="0" u="none" strike="noStrike" kern="0" cap="none" spc="0" normalizeH="0" baseline="0" noProof="0" dirty="0">
                <a:ln>
                  <a:noFill/>
                </a:ln>
                <a:solidFill>
                  <a:srgbClr val="1F497D"/>
                </a:solidFill>
                <a:effectLst/>
                <a:uLnTx/>
                <a:uFillTx/>
                <a:latin typeface="+mn-lt"/>
                <a:ea typeface="+mn-ea"/>
              </a:endParaRPr>
            </a:p>
          </p:txBody>
        </p:sp>
        <p:sp>
          <p:nvSpPr>
            <p:cNvPr id="59" name="TextBox 41">
              <a:extLst>
                <a:ext uri="{FF2B5EF4-FFF2-40B4-BE49-F238E27FC236}">
                  <a16:creationId xmlns:a16="http://schemas.microsoft.com/office/drawing/2014/main" id="{0D77D9E1-C4F8-393B-D05B-47576272C0E1}"/>
                </a:ext>
              </a:extLst>
            </p:cNvPr>
            <p:cNvSpPr txBox="1"/>
            <p:nvPr/>
          </p:nvSpPr>
          <p:spPr>
            <a:xfrm>
              <a:off x="1529558" y="4739345"/>
              <a:ext cx="776175" cy="338554"/>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solidFill>
                    <a:srgbClr val="1F497D"/>
                  </a:solidFill>
                  <a:effectLst/>
                  <a:uLnTx/>
                  <a:uFillTx/>
                  <a:latin typeface="+mn-lt"/>
                  <a:ea typeface="+mn-ea"/>
                </a:rPr>
                <a:t>指令 </a:t>
              </a:r>
              <a:r>
                <a:rPr kumimoji="0" lang="en-US" altLang="zh-CN" sz="1600" b="1" i="0" u="none" strike="noStrike" kern="0" cap="none" spc="0" normalizeH="0" baseline="0" noProof="0" dirty="0">
                  <a:ln>
                    <a:noFill/>
                  </a:ln>
                  <a:solidFill>
                    <a:srgbClr val="1F497D"/>
                  </a:solidFill>
                  <a:effectLst/>
                  <a:uLnTx/>
                  <a:uFillTx/>
                  <a:latin typeface="+mn-lt"/>
                  <a:ea typeface="+mn-ea"/>
                </a:rPr>
                <a:t>2</a:t>
              </a:r>
              <a:endParaRPr kumimoji="0" lang="zh-CN" altLang="en-US" sz="1600" b="1" i="0" u="none" strike="noStrike" kern="0" cap="none" spc="0" normalizeH="0" baseline="0" noProof="0" dirty="0">
                <a:ln>
                  <a:noFill/>
                </a:ln>
                <a:solidFill>
                  <a:srgbClr val="1F497D"/>
                </a:solidFill>
                <a:effectLst/>
                <a:uLnTx/>
                <a:uFillTx/>
                <a:latin typeface="+mn-lt"/>
                <a:ea typeface="+mn-ea"/>
              </a:endParaRPr>
            </a:p>
          </p:txBody>
        </p:sp>
        <p:sp>
          <p:nvSpPr>
            <p:cNvPr id="60" name="TextBox 42">
              <a:extLst>
                <a:ext uri="{FF2B5EF4-FFF2-40B4-BE49-F238E27FC236}">
                  <a16:creationId xmlns:a16="http://schemas.microsoft.com/office/drawing/2014/main" id="{2925DA34-7FDD-A79D-062C-0566691D3856}"/>
                </a:ext>
              </a:extLst>
            </p:cNvPr>
            <p:cNvSpPr txBox="1"/>
            <p:nvPr/>
          </p:nvSpPr>
          <p:spPr>
            <a:xfrm>
              <a:off x="1482660" y="5912364"/>
              <a:ext cx="830677" cy="338554"/>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solidFill>
                    <a:srgbClr val="1F497D"/>
                  </a:solidFill>
                  <a:effectLst/>
                  <a:uLnTx/>
                  <a:uFillTx/>
                  <a:latin typeface="+mn-lt"/>
                  <a:ea typeface="+mn-ea"/>
                </a:rPr>
                <a:t>指令 </a:t>
              </a:r>
              <a:r>
                <a:rPr kumimoji="0" lang="en-US" altLang="zh-CN" sz="1600" b="1" i="0" u="none" strike="noStrike" kern="0" cap="none" spc="0" normalizeH="0" baseline="0" noProof="0" dirty="0">
                  <a:ln>
                    <a:noFill/>
                  </a:ln>
                  <a:solidFill>
                    <a:srgbClr val="1F497D"/>
                  </a:solidFill>
                  <a:effectLst/>
                  <a:uLnTx/>
                  <a:uFillTx/>
                  <a:latin typeface="+mn-lt"/>
                  <a:ea typeface="+mn-ea"/>
                </a:rPr>
                <a:t>N</a:t>
              </a:r>
              <a:endParaRPr kumimoji="0" lang="zh-CN" altLang="en-US" sz="1600" b="1" i="0" u="none" strike="noStrike" kern="0" cap="none" spc="0" normalizeH="0" baseline="0" noProof="0" dirty="0">
                <a:ln>
                  <a:noFill/>
                </a:ln>
                <a:solidFill>
                  <a:srgbClr val="1F497D"/>
                </a:solidFill>
                <a:effectLst/>
                <a:uLnTx/>
                <a:uFillTx/>
                <a:latin typeface="+mn-lt"/>
                <a:ea typeface="+mn-ea"/>
              </a:endParaRPr>
            </a:p>
          </p:txBody>
        </p:sp>
      </p:grpSp>
      <p:sp>
        <p:nvSpPr>
          <p:cNvPr id="61" name="Rounded Rectangle 2">
            <a:extLst>
              <a:ext uri="{FF2B5EF4-FFF2-40B4-BE49-F238E27FC236}">
                <a16:creationId xmlns:a16="http://schemas.microsoft.com/office/drawing/2014/main" id="{95FC8E15-77B6-E4F5-1933-E164BF2CE05B}"/>
              </a:ext>
            </a:extLst>
          </p:cNvPr>
          <p:cNvSpPr/>
          <p:nvPr/>
        </p:nvSpPr>
        <p:spPr>
          <a:xfrm>
            <a:off x="1103242" y="4964386"/>
            <a:ext cx="1726019" cy="1507801"/>
          </a:xfrm>
          <a:prstGeom prst="roundRect">
            <a:avLst>
              <a:gd name="adj" fmla="val 7318"/>
            </a:avLst>
          </a:prstGeom>
          <a:gradFill rotWithShape="1">
            <a:gsLst>
              <a:gs pos="0">
                <a:srgbClr val="9BBB59">
                  <a:tint val="50000"/>
                  <a:satMod val="300000"/>
                </a:srgbClr>
              </a:gs>
              <a:gs pos="35000">
                <a:srgbClr val="9BBB59">
                  <a:tint val="37000"/>
                  <a:satMod val="300000"/>
                </a:srgbClr>
              </a:gs>
              <a:gs pos="100000">
                <a:srgbClr val="9BBB59">
                  <a:tint val="15000"/>
                  <a:satMod val="350000"/>
                </a:srgbClr>
              </a:gs>
            </a:gsLst>
            <a:lin ang="16200000" scaled="1"/>
          </a:gradFill>
          <a:ln w="9525" cap="flat" cmpd="sng" algn="ctr">
            <a:solidFill>
              <a:srgbClr val="9BBB59">
                <a:shade val="95000"/>
                <a:satMod val="105000"/>
              </a:srgbClr>
            </a:solidFill>
            <a:prstDash val="solid"/>
          </a:ln>
          <a:effectLst>
            <a:outerShdw blurRad="40000" dist="20000" dir="5400000" rotWithShape="0">
              <a:srgbClr val="000000">
                <a:alpha val="38000"/>
              </a:srgbClr>
            </a:outerShdw>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srgbClr val="000000"/>
                </a:solidFill>
                <a:effectLst/>
                <a:uLnTx/>
                <a:uFillTx/>
                <a:latin typeface="+mn-lt"/>
                <a:ea typeface="+mn-ea"/>
                <a:cs typeface="Arial" panose="020B0604020202020204" pitchFamily="34" charset="0"/>
              </a:rPr>
              <a:t>处理器</a:t>
            </a:r>
            <a:br>
              <a:rPr kumimoji="0" lang="en-US" altLang="zh-CN" sz="2400" b="1" i="0" u="none" strike="noStrike" kern="0" cap="none" spc="0" normalizeH="0" baseline="0" noProof="0" dirty="0">
                <a:ln>
                  <a:noFill/>
                </a:ln>
                <a:solidFill>
                  <a:srgbClr val="000000"/>
                </a:solidFill>
                <a:effectLst/>
                <a:uLnTx/>
                <a:uFillTx/>
                <a:latin typeface="+mn-lt"/>
                <a:ea typeface="+mn-ea"/>
                <a:cs typeface="Arial" panose="020B0604020202020204" pitchFamily="34" charset="0"/>
              </a:rPr>
            </a:br>
            <a:r>
              <a:rPr kumimoji="0" lang="zh-CN" altLang="en-US" sz="2400" b="1" i="0" u="none" strike="noStrike" kern="0" cap="none" spc="0" normalizeH="0" baseline="0" noProof="0" dirty="0">
                <a:ln>
                  <a:noFill/>
                </a:ln>
                <a:solidFill>
                  <a:srgbClr val="000000"/>
                </a:solidFill>
                <a:effectLst/>
                <a:uLnTx/>
                <a:uFillTx/>
                <a:latin typeface="+mn-lt"/>
                <a:ea typeface="+mn-ea"/>
                <a:cs typeface="Arial" panose="020B0604020202020204" pitchFamily="34" charset="0"/>
              </a:rPr>
              <a:t>设计师</a:t>
            </a:r>
            <a:endParaRPr kumimoji="0" lang="en-CN" sz="2400" b="1" i="0" u="none" strike="noStrike" kern="0" cap="none" spc="0" normalizeH="0" baseline="0" noProof="0" dirty="0">
              <a:ln>
                <a:noFill/>
              </a:ln>
              <a:solidFill>
                <a:srgbClr val="000000"/>
              </a:solidFill>
              <a:effectLst/>
              <a:uLnTx/>
              <a:uFillTx/>
              <a:latin typeface="+mn-lt"/>
              <a:ea typeface="+mn-ea"/>
              <a:cs typeface="Arial" panose="020B0604020202020204" pitchFamily="34" charset="0"/>
            </a:endParaRPr>
          </a:p>
        </p:txBody>
      </p:sp>
      <p:sp>
        <p:nvSpPr>
          <p:cNvPr id="62" name="右箭头 7">
            <a:extLst>
              <a:ext uri="{FF2B5EF4-FFF2-40B4-BE49-F238E27FC236}">
                <a16:creationId xmlns:a16="http://schemas.microsoft.com/office/drawing/2014/main" id="{210B5BA4-B2EA-0315-03F4-101AE98AE26E}"/>
              </a:ext>
            </a:extLst>
          </p:cNvPr>
          <p:cNvSpPr/>
          <p:nvPr/>
        </p:nvSpPr>
        <p:spPr>
          <a:xfrm>
            <a:off x="2933393" y="5416882"/>
            <a:ext cx="3485480" cy="602808"/>
          </a:xfrm>
          <a:prstGeom prst="leftRightArrow">
            <a:avLst/>
          </a:prstGeom>
          <a:gradFill flip="none" rotWithShape="1">
            <a:gsLst>
              <a:gs pos="65000">
                <a:srgbClr val="F4EEDC"/>
              </a:gs>
              <a:gs pos="0">
                <a:srgbClr val="9BBB59">
                  <a:lumMod val="20000"/>
                  <a:lumOff val="80000"/>
                </a:srgbClr>
              </a:gs>
              <a:gs pos="100000">
                <a:srgbClr val="C0504D">
                  <a:lumMod val="20000"/>
                  <a:lumOff val="80000"/>
                </a:srgbClr>
              </a:gs>
            </a:gsLst>
            <a:lin ang="0" scaled="1"/>
            <a:tileRect/>
          </a:gradFill>
          <a:ln w="25400" cap="flat" cmpd="sng" algn="ctr">
            <a:solidFill>
              <a:srgbClr val="8064A2">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800" b="1" i="0" u="none" strike="noStrike" kern="0" cap="none" spc="0" normalizeH="0" baseline="0" noProof="0" dirty="0">
                <a:ln>
                  <a:noFill/>
                </a:ln>
                <a:solidFill>
                  <a:srgbClr val="7030A0"/>
                </a:solidFill>
                <a:effectLst/>
                <a:uLnTx/>
                <a:uFillTx/>
                <a:latin typeface="+mn-lt"/>
                <a:ea typeface="+mn-ea"/>
                <a:cs typeface="+mn-cs"/>
              </a:rPr>
              <a:t>CPU</a:t>
            </a:r>
            <a:r>
              <a:rPr kumimoji="1" lang="zh-CN" altLang="en-US" sz="1800" b="1" i="0" u="none" strike="noStrike" kern="0" cap="none" spc="0" normalizeH="0" baseline="0" noProof="0" dirty="0">
                <a:ln>
                  <a:noFill/>
                </a:ln>
                <a:solidFill>
                  <a:srgbClr val="7030A0"/>
                </a:solidFill>
                <a:effectLst/>
                <a:uLnTx/>
                <a:uFillTx/>
                <a:latin typeface="+mn-lt"/>
                <a:ea typeface="+mn-ea"/>
                <a:cs typeface="+mn-cs"/>
              </a:rPr>
              <a:t>设计</a:t>
            </a:r>
          </a:p>
        </p:txBody>
      </p:sp>
      <p:grpSp>
        <p:nvGrpSpPr>
          <p:cNvPr id="63" name="Group 29">
            <a:extLst>
              <a:ext uri="{FF2B5EF4-FFF2-40B4-BE49-F238E27FC236}">
                <a16:creationId xmlns:a16="http://schemas.microsoft.com/office/drawing/2014/main" id="{B641F13A-8FE8-442B-5AC6-BAF7F628D107}"/>
              </a:ext>
            </a:extLst>
          </p:cNvPr>
          <p:cNvGrpSpPr/>
          <p:nvPr/>
        </p:nvGrpSpPr>
        <p:grpSpPr>
          <a:xfrm>
            <a:off x="3557783" y="3402219"/>
            <a:ext cx="3630165" cy="2165365"/>
            <a:chOff x="3557783" y="3162990"/>
            <a:chExt cx="3630165" cy="2394616"/>
          </a:xfrm>
        </p:grpSpPr>
        <p:sp>
          <p:nvSpPr>
            <p:cNvPr id="64" name="圆角矩形 63">
              <a:extLst>
                <a:ext uri="{FF2B5EF4-FFF2-40B4-BE49-F238E27FC236}">
                  <a16:creationId xmlns:a16="http://schemas.microsoft.com/office/drawing/2014/main" id="{A72943A2-0F71-F50E-76EC-F72818F0C55D}"/>
                </a:ext>
              </a:extLst>
            </p:cNvPr>
            <p:cNvSpPr/>
            <p:nvPr/>
          </p:nvSpPr>
          <p:spPr>
            <a:xfrm>
              <a:off x="3557783" y="4150920"/>
              <a:ext cx="2236699" cy="609078"/>
            </a:xfrm>
            <a:prstGeom prst="roundRect">
              <a:avLst>
                <a:gd name="adj" fmla="val 13146"/>
              </a:avLst>
            </a:prstGeom>
            <a:solidFill>
              <a:srgbClr val="FFFFFF"/>
            </a:solidFill>
            <a:ln w="25400" cap="flat" cmpd="sng" algn="ctr">
              <a:solidFill>
                <a:srgbClr val="000000">
                  <a:lumMod val="65000"/>
                  <a:lumOff val="3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2400" b="1" i="0" u="none" strike="noStrike" kern="0" cap="none" spc="0" normalizeH="0" baseline="0" noProof="0" dirty="0">
                  <a:ln>
                    <a:noFill/>
                  </a:ln>
                  <a:solidFill>
                    <a:srgbClr val="000000">
                      <a:lumMod val="65000"/>
                      <a:lumOff val="35000"/>
                    </a:srgbClr>
                  </a:solidFill>
                  <a:effectLst/>
                  <a:uLnTx/>
                  <a:uFillTx/>
                  <a:latin typeface="+mn-lt"/>
                  <a:ea typeface="+mn-ea"/>
                  <a:cs typeface="+mn-cs"/>
                </a:rPr>
                <a:t>指令集</a:t>
              </a:r>
            </a:p>
          </p:txBody>
        </p:sp>
        <p:cxnSp>
          <p:nvCxnSpPr>
            <p:cNvPr id="65" name="Straight Arrow Connector 19">
              <a:extLst>
                <a:ext uri="{FF2B5EF4-FFF2-40B4-BE49-F238E27FC236}">
                  <a16:creationId xmlns:a16="http://schemas.microsoft.com/office/drawing/2014/main" id="{F1CC0816-A159-2D0A-C4E1-CAA3FC420846}"/>
                </a:ext>
              </a:extLst>
            </p:cNvPr>
            <p:cNvCxnSpPr>
              <a:cxnSpLocks/>
              <a:stCxn id="64" idx="0"/>
              <a:endCxn id="49" idx="5"/>
            </p:cNvCxnSpPr>
            <p:nvPr/>
          </p:nvCxnSpPr>
          <p:spPr>
            <a:xfrm flipV="1">
              <a:off x="4676133" y="3162990"/>
              <a:ext cx="0" cy="987930"/>
            </a:xfrm>
            <a:prstGeom prst="straightConnector1">
              <a:avLst/>
            </a:prstGeom>
            <a:noFill/>
            <a:ln w="38100" cap="flat" cmpd="sng" algn="ctr">
              <a:solidFill>
                <a:srgbClr val="000000">
                  <a:lumMod val="65000"/>
                  <a:lumOff val="35000"/>
                </a:srgbClr>
              </a:solidFill>
              <a:prstDash val="solid"/>
              <a:tailEnd type="triangle"/>
            </a:ln>
            <a:effectLst/>
          </p:spPr>
        </p:cxnSp>
        <p:cxnSp>
          <p:nvCxnSpPr>
            <p:cNvPr id="66" name="Straight Arrow Connector 26">
              <a:extLst>
                <a:ext uri="{FF2B5EF4-FFF2-40B4-BE49-F238E27FC236}">
                  <a16:creationId xmlns:a16="http://schemas.microsoft.com/office/drawing/2014/main" id="{AC821551-8C16-E6C6-62CD-AE7AD63BADF3}"/>
                </a:ext>
              </a:extLst>
            </p:cNvPr>
            <p:cNvCxnSpPr>
              <a:cxnSpLocks/>
              <a:stCxn id="64" idx="3"/>
              <a:endCxn id="51" idx="2"/>
            </p:cNvCxnSpPr>
            <p:nvPr/>
          </p:nvCxnSpPr>
          <p:spPr>
            <a:xfrm flipV="1">
              <a:off x="5794482" y="4445300"/>
              <a:ext cx="1393466" cy="10159"/>
            </a:xfrm>
            <a:prstGeom prst="straightConnector1">
              <a:avLst/>
            </a:prstGeom>
            <a:noFill/>
            <a:ln w="38100" cap="flat" cmpd="sng" algn="ctr">
              <a:solidFill>
                <a:srgbClr val="000000">
                  <a:lumMod val="65000"/>
                  <a:lumOff val="35000"/>
                </a:srgbClr>
              </a:solidFill>
              <a:prstDash val="solid"/>
              <a:tailEnd type="triangle"/>
            </a:ln>
            <a:effectLst/>
          </p:spPr>
        </p:cxnSp>
        <p:cxnSp>
          <p:nvCxnSpPr>
            <p:cNvPr id="67" name="Straight Arrow Connector 28">
              <a:extLst>
                <a:ext uri="{FF2B5EF4-FFF2-40B4-BE49-F238E27FC236}">
                  <a16:creationId xmlns:a16="http://schemas.microsoft.com/office/drawing/2014/main" id="{597FF385-B074-6B08-8BF5-8B646A0F05F0}"/>
                </a:ext>
              </a:extLst>
            </p:cNvPr>
            <p:cNvCxnSpPr>
              <a:cxnSpLocks/>
              <a:stCxn id="64" idx="2"/>
              <a:endCxn id="62" idx="1"/>
            </p:cNvCxnSpPr>
            <p:nvPr/>
          </p:nvCxnSpPr>
          <p:spPr>
            <a:xfrm>
              <a:off x="4676133" y="4759998"/>
              <a:ext cx="0" cy="797608"/>
            </a:xfrm>
            <a:prstGeom prst="straightConnector1">
              <a:avLst/>
            </a:prstGeom>
            <a:noFill/>
            <a:ln w="38100" cap="flat" cmpd="sng" algn="ctr">
              <a:solidFill>
                <a:srgbClr val="000000">
                  <a:lumMod val="65000"/>
                  <a:lumOff val="35000"/>
                </a:srgbClr>
              </a:solidFill>
              <a:prstDash val="solid"/>
              <a:tailEnd type="triangle"/>
            </a:ln>
            <a:effectLst/>
          </p:spPr>
        </p:cxnSp>
      </p:grpSp>
    </p:spTree>
    <p:extLst>
      <p:ext uri="{BB962C8B-B14F-4D97-AF65-F5344CB8AC3E}">
        <p14:creationId xmlns:p14="http://schemas.microsoft.com/office/powerpoint/2010/main" val="1156699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63"/>
                                        </p:tgtEl>
                                        <p:attrNameLst>
                                          <p:attrName>style.visibility</p:attrName>
                                        </p:attrNameLst>
                                      </p:cBhvr>
                                      <p:to>
                                        <p:strVal val="visible"/>
                                      </p:to>
                                    </p:set>
                                    <p:anim calcmode="lin" valueType="num">
                                      <p:cBhvr>
                                        <p:cTn id="7" dur="500" fill="hold"/>
                                        <p:tgtEl>
                                          <p:spTgt spid="63"/>
                                        </p:tgtEl>
                                        <p:attrNameLst>
                                          <p:attrName>ppt_w</p:attrName>
                                        </p:attrNameLst>
                                      </p:cBhvr>
                                      <p:tavLst>
                                        <p:tav tm="0">
                                          <p:val>
                                            <p:fltVal val="0"/>
                                          </p:val>
                                        </p:tav>
                                        <p:tav tm="100000">
                                          <p:val>
                                            <p:strVal val="#ppt_w"/>
                                          </p:val>
                                        </p:tav>
                                      </p:tavLst>
                                    </p:anim>
                                    <p:anim calcmode="lin" valueType="num">
                                      <p:cBhvr>
                                        <p:cTn id="8" dur="500" fill="hold"/>
                                        <p:tgtEl>
                                          <p:spTgt spid="63"/>
                                        </p:tgtEl>
                                        <p:attrNameLst>
                                          <p:attrName>ppt_h</p:attrName>
                                        </p:attrNameLst>
                                      </p:cBhvr>
                                      <p:tavLst>
                                        <p:tav tm="0">
                                          <p:val>
                                            <p:fltVal val="0"/>
                                          </p:val>
                                        </p:tav>
                                        <p:tav tm="100000">
                                          <p:val>
                                            <p:strVal val="#ppt_h"/>
                                          </p:val>
                                        </p:tav>
                                      </p:tavLst>
                                    </p:anim>
                                    <p:animEffect transition="in" filter="fade">
                                      <p:cBhvr>
                                        <p:cTn id="9"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8DB6E3C9-3DA5-6142-ADEB-E9842D813971}"/>
              </a:ext>
            </a:extLst>
          </p:cNvPr>
          <p:cNvSpPr>
            <a:spLocks noGrp="1"/>
          </p:cNvSpPr>
          <p:nvPr>
            <p:ph type="sldNum" sz="quarter" idx="12"/>
          </p:nvPr>
        </p:nvSpPr>
        <p:spPr/>
        <p:txBody>
          <a:bodyPr/>
          <a:lstStyle/>
          <a:p>
            <a:fld id="{14659731-6BD7-46E7-8D3C-2F3AC07E20B1}" type="slidenum">
              <a:rPr lang="en-US" altLang="zh-CN" smtClean="0"/>
              <a:pPr/>
              <a:t>11</a:t>
            </a:fld>
            <a:endParaRPr lang="en-US" altLang="zh-CN"/>
          </a:p>
        </p:txBody>
      </p:sp>
      <p:sp>
        <p:nvSpPr>
          <p:cNvPr id="33" name="Content Placeholder 9">
            <a:extLst>
              <a:ext uri="{FF2B5EF4-FFF2-40B4-BE49-F238E27FC236}">
                <a16:creationId xmlns:a16="http://schemas.microsoft.com/office/drawing/2014/main" id="{2B3F1695-F4CA-4535-BE9B-6F20EDB8A19D}"/>
              </a:ext>
            </a:extLst>
          </p:cNvPr>
          <p:cNvSpPr>
            <a:spLocks noGrp="1"/>
          </p:cNvSpPr>
          <p:nvPr>
            <p:ph idx="4294967295"/>
          </p:nvPr>
        </p:nvSpPr>
        <p:spPr>
          <a:xfrm>
            <a:off x="414304" y="1316202"/>
            <a:ext cx="8076928" cy="2436813"/>
          </a:xfrm>
        </p:spPr>
        <p:txBody>
          <a:bodyPr>
            <a:normAutofit/>
          </a:bodyPr>
          <a:lstStyle/>
          <a:p>
            <a:r>
              <a:rPr lang="zh-CN" altLang="en-US" sz="2800" dirty="0"/>
              <a:t>如何设计</a:t>
            </a:r>
            <a:r>
              <a:rPr lang="en-US" altLang="zh-CN" sz="2800" dirty="0"/>
              <a:t>CPU</a:t>
            </a:r>
            <a:r>
              <a:rPr lang="zh-CN" altLang="en-US" sz="2800" dirty="0"/>
              <a:t>支持</a:t>
            </a:r>
            <a:r>
              <a:rPr lang="en-US" altLang="zh-CN" sz="2800" dirty="0"/>
              <a:t>ISA?</a:t>
            </a:r>
          </a:p>
          <a:p>
            <a:pPr lvl="1"/>
            <a:r>
              <a:rPr lang="zh-CN" altLang="en-US" sz="2400" dirty="0"/>
              <a:t>明确每条指令的操作步骤</a:t>
            </a:r>
            <a:endParaRPr lang="en-US" altLang="zh-CN" sz="2400" dirty="0"/>
          </a:p>
          <a:p>
            <a:pPr lvl="1"/>
            <a:r>
              <a:rPr kumimoji="1" lang="zh-CN" altLang="en-US" sz="2400" dirty="0"/>
              <a:t>构造</a:t>
            </a:r>
            <a:r>
              <a:rPr kumimoji="1" lang="en-US" altLang="zh-CN" sz="2400" dirty="0"/>
              <a:t>FSM</a:t>
            </a:r>
          </a:p>
          <a:p>
            <a:pPr lvl="2"/>
            <a:r>
              <a:rPr kumimoji="1" lang="zh-CN" altLang="en-US" sz="2000" dirty="0"/>
              <a:t>将操作映射到有限状态机</a:t>
            </a:r>
            <a:endParaRPr kumimoji="1" lang="en-US" altLang="zh-CN" sz="2000" dirty="0"/>
          </a:p>
        </p:txBody>
      </p:sp>
      <p:grpSp>
        <p:nvGrpSpPr>
          <p:cNvPr id="3" name="组合 2">
            <a:extLst>
              <a:ext uri="{FF2B5EF4-FFF2-40B4-BE49-F238E27FC236}">
                <a16:creationId xmlns:a16="http://schemas.microsoft.com/office/drawing/2014/main" id="{58C10DED-4AAD-A784-7F66-CB356124D51C}"/>
              </a:ext>
            </a:extLst>
          </p:cNvPr>
          <p:cNvGrpSpPr/>
          <p:nvPr/>
        </p:nvGrpSpPr>
        <p:grpSpPr>
          <a:xfrm>
            <a:off x="4879579" y="1322992"/>
            <a:ext cx="4004325" cy="2236927"/>
            <a:chOff x="5047527" y="940861"/>
            <a:chExt cx="4004325" cy="2236927"/>
          </a:xfrm>
        </p:grpSpPr>
        <p:pic>
          <p:nvPicPr>
            <p:cNvPr id="6" name="Picture 5">
              <a:extLst>
                <a:ext uri="{FF2B5EF4-FFF2-40B4-BE49-F238E27FC236}">
                  <a16:creationId xmlns:a16="http://schemas.microsoft.com/office/drawing/2014/main" id="{FE175393-1DB9-457A-9148-2449FF5AF6F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047527" y="940861"/>
              <a:ext cx="4004325" cy="2157886"/>
            </a:xfrm>
            <a:prstGeom prst="rect">
              <a:avLst/>
            </a:prstGeom>
          </p:spPr>
        </p:pic>
        <p:sp>
          <p:nvSpPr>
            <p:cNvPr id="29" name="矩形 42">
              <a:extLst>
                <a:ext uri="{FF2B5EF4-FFF2-40B4-BE49-F238E27FC236}">
                  <a16:creationId xmlns:a16="http://schemas.microsoft.com/office/drawing/2014/main" id="{9BA62C7C-0D97-42D1-8270-18C4FF87C417}"/>
                </a:ext>
              </a:extLst>
            </p:cNvPr>
            <p:cNvSpPr/>
            <p:nvPr/>
          </p:nvSpPr>
          <p:spPr>
            <a:xfrm>
              <a:off x="6127667" y="2870011"/>
              <a:ext cx="759270" cy="307777"/>
            </a:xfrm>
            <a:prstGeom prst="rect">
              <a:avLst/>
            </a:prstGeom>
          </p:spPr>
          <p:txBody>
            <a:bodyPr wrap="square">
              <a:spAutoFit/>
            </a:bodyPr>
            <a:lstStyle/>
            <a:p>
              <a:r>
                <a:rPr lang="zh-CN" altLang="en-US" sz="1400" dirty="0">
                  <a:solidFill>
                    <a:schemeClr val="accent2"/>
                  </a:solidFill>
                  <a:latin typeface="微软雅黑" panose="020B0503020204020204" pitchFamily="34" charset="-122"/>
                  <a:ea typeface="微软雅黑" panose="020B0503020204020204" pitchFamily="34" charset="-122"/>
                  <a:cs typeface="Arial" panose="020B0604020202020204" pitchFamily="34" charset="0"/>
                </a:rPr>
                <a:t>时钟</a:t>
              </a:r>
            </a:p>
          </p:txBody>
        </p:sp>
        <p:cxnSp>
          <p:nvCxnSpPr>
            <p:cNvPr id="30" name="Straight Arrow Connector 35">
              <a:extLst>
                <a:ext uri="{FF2B5EF4-FFF2-40B4-BE49-F238E27FC236}">
                  <a16:creationId xmlns:a16="http://schemas.microsoft.com/office/drawing/2014/main" id="{745C87F9-E9CC-49E8-9088-5CC2016F40B7}"/>
                </a:ext>
              </a:extLst>
            </p:cNvPr>
            <p:cNvCxnSpPr>
              <a:cxnSpLocks/>
            </p:cNvCxnSpPr>
            <p:nvPr/>
          </p:nvCxnSpPr>
          <p:spPr>
            <a:xfrm flipH="1">
              <a:off x="6087026" y="2853430"/>
              <a:ext cx="550926" cy="0"/>
            </a:xfrm>
            <a:prstGeom prst="straightConnector1">
              <a:avLst/>
            </a:prstGeom>
            <a:ln w="38100" cap="rnd">
              <a:solidFill>
                <a:schemeClr val="accent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 name="Title 4">
            <a:extLst>
              <a:ext uri="{FF2B5EF4-FFF2-40B4-BE49-F238E27FC236}">
                <a16:creationId xmlns:a16="http://schemas.microsoft.com/office/drawing/2014/main" id="{839598FE-5C03-4EDE-CBF2-99769F462482}"/>
              </a:ext>
            </a:extLst>
          </p:cNvPr>
          <p:cNvSpPr txBox="1">
            <a:spLocks/>
          </p:cNvSpPr>
          <p:nvPr/>
        </p:nvSpPr>
        <p:spPr bwMode="auto">
          <a:xfrm>
            <a:off x="457200" y="136800"/>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kumimoji="1" lang="zh-CN" altLang="en-US" dirty="0"/>
              <a:t>回顾：如何支持通用算法？</a:t>
            </a:r>
            <a:endParaRPr lang="en-CN" kern="0" dirty="0"/>
          </a:p>
        </p:txBody>
      </p:sp>
      <p:grpSp>
        <p:nvGrpSpPr>
          <p:cNvPr id="5" name="Group 30">
            <a:extLst>
              <a:ext uri="{FF2B5EF4-FFF2-40B4-BE49-F238E27FC236}">
                <a16:creationId xmlns:a16="http://schemas.microsoft.com/office/drawing/2014/main" id="{3502833B-B077-A128-8D40-F851899C5AF8}"/>
              </a:ext>
            </a:extLst>
          </p:cNvPr>
          <p:cNvGrpSpPr/>
          <p:nvPr/>
        </p:nvGrpSpPr>
        <p:grpSpPr>
          <a:xfrm>
            <a:off x="154097" y="3541464"/>
            <a:ext cx="4754927" cy="2756647"/>
            <a:chOff x="154097" y="3444481"/>
            <a:chExt cx="4754927" cy="2756647"/>
          </a:xfrm>
        </p:grpSpPr>
        <p:sp>
          <p:nvSpPr>
            <p:cNvPr id="7" name="Rectangle 31">
              <a:extLst>
                <a:ext uri="{FF2B5EF4-FFF2-40B4-BE49-F238E27FC236}">
                  <a16:creationId xmlns:a16="http://schemas.microsoft.com/office/drawing/2014/main" id="{8991A896-6D2C-118F-602A-FB16B91DF661}"/>
                </a:ext>
              </a:extLst>
            </p:cNvPr>
            <p:cNvSpPr/>
            <p:nvPr/>
          </p:nvSpPr>
          <p:spPr>
            <a:xfrm>
              <a:off x="154097" y="3444481"/>
              <a:ext cx="4754927" cy="2756647"/>
            </a:xfrm>
            <a:prstGeom prst="rect">
              <a:avLst/>
            </a:prstGeom>
            <a:solidFill>
              <a:srgbClr val="4F81BD">
                <a:lumMod val="20000"/>
                <a:lumOff val="80000"/>
              </a:srgbClr>
            </a:solidFill>
            <a:ln w="25400" cap="flat" cmpd="sng" algn="ctr">
              <a:noFill/>
              <a:prstDash val="solid"/>
            </a:ln>
            <a:effectLst/>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CN" sz="1800" b="1"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grpSp>
          <p:nvGrpSpPr>
            <p:cNvPr id="8" name="Group 33">
              <a:extLst>
                <a:ext uri="{FF2B5EF4-FFF2-40B4-BE49-F238E27FC236}">
                  <a16:creationId xmlns:a16="http://schemas.microsoft.com/office/drawing/2014/main" id="{584E348A-4CD9-C216-E108-9372B6F31831}"/>
                </a:ext>
              </a:extLst>
            </p:cNvPr>
            <p:cNvGrpSpPr/>
            <p:nvPr/>
          </p:nvGrpSpPr>
          <p:grpSpPr>
            <a:xfrm>
              <a:off x="812070" y="3661840"/>
              <a:ext cx="3940336" cy="2354113"/>
              <a:chOff x="283061" y="3645941"/>
              <a:chExt cx="3940336" cy="2354113"/>
            </a:xfrm>
          </p:grpSpPr>
          <p:grpSp>
            <p:nvGrpSpPr>
              <p:cNvPr id="23" name="Group 51">
                <a:extLst>
                  <a:ext uri="{FF2B5EF4-FFF2-40B4-BE49-F238E27FC236}">
                    <a16:creationId xmlns:a16="http://schemas.microsoft.com/office/drawing/2014/main" id="{CCF51DFB-1167-2C5D-176B-5C2ECEF0224A}"/>
                  </a:ext>
                </a:extLst>
              </p:cNvPr>
              <p:cNvGrpSpPr/>
              <p:nvPr/>
            </p:nvGrpSpPr>
            <p:grpSpPr>
              <a:xfrm>
                <a:off x="283061" y="3645941"/>
                <a:ext cx="3912923" cy="400111"/>
                <a:chOff x="18986" y="2684360"/>
                <a:chExt cx="3912923" cy="400111"/>
              </a:xfrm>
            </p:grpSpPr>
            <p:sp>
              <p:nvSpPr>
                <p:cNvPr id="56" name="Rectangle 29" descr="e">
                  <a:extLst>
                    <a:ext uri="{FF2B5EF4-FFF2-40B4-BE49-F238E27FC236}">
                      <a16:creationId xmlns:a16="http://schemas.microsoft.com/office/drawing/2014/main" id="{897F0273-2F91-EEE0-2B5C-B5E205B37E57}"/>
                    </a:ext>
                  </a:extLst>
                </p:cNvPr>
                <p:cNvSpPr/>
                <p:nvPr/>
              </p:nvSpPr>
              <p:spPr>
                <a:xfrm>
                  <a:off x="1085553" y="2701313"/>
                  <a:ext cx="2846356" cy="366207"/>
                </a:xfrm>
                <a:prstGeom prst="rect">
                  <a:avLst/>
                </a:prstGeom>
                <a:solidFill>
                  <a:srgbClr val="F79646">
                    <a:lumMod val="20000"/>
                    <a:lumOff val="80000"/>
                  </a:srgbClr>
                </a:solidFill>
                <a:ln w="25400" cap="flat" cmpd="sng" algn="ctr">
                  <a:solidFill>
                    <a:srgbClr val="000000"/>
                  </a:solidFill>
                  <a:prstDash val="solid"/>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取指令</a:t>
                  </a:r>
                </a:p>
              </p:txBody>
            </p:sp>
            <p:sp>
              <p:nvSpPr>
                <p:cNvPr id="57" name="矩形 5">
                  <a:extLst>
                    <a:ext uri="{FF2B5EF4-FFF2-40B4-BE49-F238E27FC236}">
                      <a16:creationId xmlns:a16="http://schemas.microsoft.com/office/drawing/2014/main" id="{0CD15F21-7B1C-A6F1-A0F8-7A7FC24CC183}"/>
                    </a:ext>
                  </a:extLst>
                </p:cNvPr>
                <p:cNvSpPr/>
                <p:nvPr/>
              </p:nvSpPr>
              <p:spPr>
                <a:xfrm>
                  <a:off x="18986" y="2684360"/>
                  <a:ext cx="1001197" cy="400111"/>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dirty="0">
                      <a:ln>
                        <a:noFill/>
                      </a:ln>
                      <a:solidFill>
                        <a:srgbClr val="F79646"/>
                      </a:solidFill>
                      <a:effectLst/>
                      <a:uLnTx/>
                      <a:uFillTx/>
                      <a:latin typeface="Arial" panose="020B0604020202020204" pitchFamily="34" charset="0"/>
                      <a:ea typeface="+mn-ea"/>
                      <a:cs typeface="Arial" panose="020B0604020202020204" pitchFamily="34" charset="0"/>
                    </a:rPr>
                    <a:t>步骤</a:t>
                  </a:r>
                  <a:r>
                    <a:rPr kumimoji="0" lang="en-US" altLang="zh-CN" sz="2000" b="1" i="0" u="none" strike="noStrike" kern="0" cap="none" spc="0" normalizeH="0" baseline="0" noProof="0" dirty="0">
                      <a:ln>
                        <a:noFill/>
                      </a:ln>
                      <a:solidFill>
                        <a:srgbClr val="F79646"/>
                      </a:solidFill>
                      <a:effectLst/>
                      <a:uLnTx/>
                      <a:uFillTx/>
                      <a:latin typeface="Arial" panose="020B0604020202020204" pitchFamily="34" charset="0"/>
                      <a:ea typeface="+mn-ea"/>
                      <a:cs typeface="Arial" panose="020B0604020202020204" pitchFamily="34" charset="0"/>
                    </a:rPr>
                    <a:t> 1</a:t>
                  </a:r>
                  <a:endParaRPr kumimoji="0" lang="zh-CN" altLang="en-US" sz="2000" b="1" i="0" u="none" strike="noStrike" kern="0" cap="none" spc="0" normalizeH="0" baseline="0" noProof="0" dirty="0">
                    <a:ln>
                      <a:noFill/>
                    </a:ln>
                    <a:solidFill>
                      <a:srgbClr val="F79646"/>
                    </a:solidFill>
                    <a:effectLst/>
                    <a:uLnTx/>
                    <a:uFillTx/>
                    <a:latin typeface="Arial" panose="020B0604020202020204" pitchFamily="34" charset="0"/>
                    <a:ea typeface="+mn-ea"/>
                    <a:cs typeface="Arial" panose="020B0604020202020204" pitchFamily="34" charset="0"/>
                  </a:endParaRPr>
                </a:p>
              </p:txBody>
            </p:sp>
          </p:grpSp>
          <p:grpSp>
            <p:nvGrpSpPr>
              <p:cNvPr id="24" name="Group 54">
                <a:extLst>
                  <a:ext uri="{FF2B5EF4-FFF2-40B4-BE49-F238E27FC236}">
                    <a16:creationId xmlns:a16="http://schemas.microsoft.com/office/drawing/2014/main" id="{53409516-3A59-C89D-306E-C11438502DA4}"/>
                  </a:ext>
                </a:extLst>
              </p:cNvPr>
              <p:cNvGrpSpPr/>
              <p:nvPr/>
            </p:nvGrpSpPr>
            <p:grpSpPr>
              <a:xfrm>
                <a:off x="283061" y="5305757"/>
                <a:ext cx="3912923" cy="694297"/>
                <a:chOff x="18986" y="4580852"/>
                <a:chExt cx="3912923" cy="694297"/>
              </a:xfrm>
            </p:grpSpPr>
            <p:sp>
              <p:nvSpPr>
                <p:cNvPr id="53" name="Rectangle 29" descr="e">
                  <a:extLst>
                    <a:ext uri="{FF2B5EF4-FFF2-40B4-BE49-F238E27FC236}">
                      <a16:creationId xmlns:a16="http://schemas.microsoft.com/office/drawing/2014/main" id="{3C468124-A1E4-68B5-7B10-15D18D282152}"/>
                    </a:ext>
                  </a:extLst>
                </p:cNvPr>
                <p:cNvSpPr/>
                <p:nvPr/>
              </p:nvSpPr>
              <p:spPr>
                <a:xfrm>
                  <a:off x="1085553" y="4580852"/>
                  <a:ext cx="2846356" cy="694297"/>
                </a:xfrm>
                <a:prstGeom prst="rect">
                  <a:avLst/>
                </a:prstGeom>
                <a:solidFill>
                  <a:srgbClr val="9BBB59">
                    <a:lumMod val="40000"/>
                    <a:lumOff val="60000"/>
                  </a:srgbClr>
                </a:solidFill>
                <a:ln w="25400" cap="flat" cmpd="sng" algn="ctr">
                  <a:solidFill>
                    <a:srgbClr val="000000"/>
                  </a:solidFill>
                  <a:prstDash val="solid"/>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执行指令</a:t>
                  </a:r>
                  <a:endParaRPr kumimoji="0" lang="en-US" altLang="zh-CN" sz="2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&amp; </a:t>
                  </a:r>
                  <a:r>
                    <a:rPr kumimoji="0" lang="zh-CN" altLang="en-US" sz="2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计算输出数据</a:t>
                  </a:r>
                </a:p>
              </p:txBody>
            </p:sp>
            <p:sp>
              <p:nvSpPr>
                <p:cNvPr id="54" name="矩形 14">
                  <a:extLst>
                    <a:ext uri="{FF2B5EF4-FFF2-40B4-BE49-F238E27FC236}">
                      <a16:creationId xmlns:a16="http://schemas.microsoft.com/office/drawing/2014/main" id="{3814F3A1-E660-EB13-F793-9B43552C134A}"/>
                    </a:ext>
                  </a:extLst>
                </p:cNvPr>
                <p:cNvSpPr/>
                <p:nvPr/>
              </p:nvSpPr>
              <p:spPr>
                <a:xfrm>
                  <a:off x="18986" y="4727944"/>
                  <a:ext cx="1009120" cy="400110"/>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dirty="0">
                      <a:ln>
                        <a:noFill/>
                      </a:ln>
                      <a:solidFill>
                        <a:srgbClr val="9BBB59"/>
                      </a:solidFill>
                      <a:effectLst/>
                      <a:uLnTx/>
                      <a:uFillTx/>
                      <a:latin typeface="Arial" panose="020B0604020202020204" pitchFamily="34" charset="0"/>
                      <a:ea typeface="+mn-ea"/>
                      <a:cs typeface="Arial" panose="020B0604020202020204" pitchFamily="34" charset="0"/>
                    </a:rPr>
                    <a:t>步骤</a:t>
                  </a:r>
                  <a:r>
                    <a:rPr kumimoji="0" lang="en-US" altLang="zh-CN" sz="2000" b="1" i="0" u="none" strike="noStrike" kern="0" cap="none" spc="0" normalizeH="0" baseline="0" noProof="0" dirty="0">
                      <a:ln>
                        <a:noFill/>
                      </a:ln>
                      <a:solidFill>
                        <a:srgbClr val="9BBB59"/>
                      </a:solidFill>
                      <a:effectLst/>
                      <a:uLnTx/>
                      <a:uFillTx/>
                      <a:latin typeface="Arial" panose="020B0604020202020204" pitchFamily="34" charset="0"/>
                      <a:ea typeface="+mn-ea"/>
                      <a:cs typeface="Arial" panose="020B0604020202020204" pitchFamily="34" charset="0"/>
                    </a:rPr>
                    <a:t> 3</a:t>
                  </a:r>
                  <a:endParaRPr kumimoji="0" lang="zh-CN" altLang="en-US" sz="2000" b="1" i="0" u="none" strike="noStrike" kern="0" cap="none" spc="0" normalizeH="0" baseline="0" noProof="0" dirty="0">
                    <a:ln>
                      <a:noFill/>
                    </a:ln>
                    <a:solidFill>
                      <a:srgbClr val="9BBB59"/>
                    </a:solidFill>
                    <a:effectLst/>
                    <a:uLnTx/>
                    <a:uFillTx/>
                    <a:latin typeface="Arial" panose="020B0604020202020204" pitchFamily="34" charset="0"/>
                    <a:ea typeface="+mn-ea"/>
                    <a:cs typeface="Arial" panose="020B0604020202020204" pitchFamily="34" charset="0"/>
                  </a:endParaRPr>
                </a:p>
              </p:txBody>
            </p:sp>
          </p:grpSp>
          <p:grpSp>
            <p:nvGrpSpPr>
              <p:cNvPr id="25" name="Group 58">
                <a:extLst>
                  <a:ext uri="{FF2B5EF4-FFF2-40B4-BE49-F238E27FC236}">
                    <a16:creationId xmlns:a16="http://schemas.microsoft.com/office/drawing/2014/main" id="{0A43CE44-0FB0-EFC1-7EAD-20EECDA28757}"/>
                  </a:ext>
                </a:extLst>
              </p:cNvPr>
              <p:cNvGrpSpPr/>
              <p:nvPr/>
            </p:nvGrpSpPr>
            <p:grpSpPr>
              <a:xfrm>
                <a:off x="283061" y="4036496"/>
                <a:ext cx="3940336" cy="1236988"/>
                <a:chOff x="51620" y="3208491"/>
                <a:chExt cx="3940336" cy="1236988"/>
              </a:xfrm>
            </p:grpSpPr>
            <p:sp>
              <p:nvSpPr>
                <p:cNvPr id="26" name="Rectangle 29" descr="e">
                  <a:extLst>
                    <a:ext uri="{FF2B5EF4-FFF2-40B4-BE49-F238E27FC236}">
                      <a16:creationId xmlns:a16="http://schemas.microsoft.com/office/drawing/2014/main" id="{2073CA56-6A1B-CF63-9CA6-D1AC962A81A3}"/>
                    </a:ext>
                  </a:extLst>
                </p:cNvPr>
                <p:cNvSpPr/>
                <p:nvPr/>
              </p:nvSpPr>
              <p:spPr>
                <a:xfrm>
                  <a:off x="1117827" y="3632622"/>
                  <a:ext cx="2846356" cy="366207"/>
                </a:xfrm>
                <a:prstGeom prst="rect">
                  <a:avLst/>
                </a:prstGeom>
                <a:solidFill>
                  <a:srgbClr val="8064A2">
                    <a:lumMod val="40000"/>
                    <a:lumOff val="60000"/>
                  </a:srgbClr>
                </a:solidFill>
                <a:ln w="25400" cap="flat" cmpd="sng" algn="ctr">
                  <a:solidFill>
                    <a:srgbClr val="000000"/>
                  </a:solidFill>
                  <a:prstDash val="solid"/>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指令解码</a:t>
                  </a:r>
                </a:p>
              </p:txBody>
            </p:sp>
            <p:sp>
              <p:nvSpPr>
                <p:cNvPr id="27" name="矩形 7">
                  <a:extLst>
                    <a:ext uri="{FF2B5EF4-FFF2-40B4-BE49-F238E27FC236}">
                      <a16:creationId xmlns:a16="http://schemas.microsoft.com/office/drawing/2014/main" id="{649724BE-5241-9A8A-DD6D-51863316685A}"/>
                    </a:ext>
                  </a:extLst>
                </p:cNvPr>
                <p:cNvSpPr/>
                <p:nvPr/>
              </p:nvSpPr>
              <p:spPr>
                <a:xfrm>
                  <a:off x="51620" y="3595107"/>
                  <a:ext cx="1001197" cy="400110"/>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dirty="0">
                      <a:ln>
                        <a:noFill/>
                      </a:ln>
                      <a:solidFill>
                        <a:srgbClr val="8064A2"/>
                      </a:solidFill>
                      <a:effectLst/>
                      <a:uLnTx/>
                      <a:uFillTx/>
                      <a:latin typeface="Arial" panose="020B0604020202020204" pitchFamily="34" charset="0"/>
                      <a:ea typeface="+mn-ea"/>
                      <a:cs typeface="Arial" panose="020B0604020202020204" pitchFamily="34" charset="0"/>
                    </a:rPr>
                    <a:t>步骤 </a:t>
                  </a:r>
                  <a:r>
                    <a:rPr kumimoji="0" lang="en-US" altLang="zh-CN" sz="2000" b="1" i="0" u="none" strike="noStrike" kern="0" cap="none" spc="0" normalizeH="0" baseline="0" noProof="0" dirty="0">
                      <a:ln>
                        <a:noFill/>
                      </a:ln>
                      <a:solidFill>
                        <a:srgbClr val="8064A2"/>
                      </a:solidFill>
                      <a:effectLst/>
                      <a:uLnTx/>
                      <a:uFillTx/>
                      <a:latin typeface="Arial" panose="020B0604020202020204" pitchFamily="34" charset="0"/>
                      <a:ea typeface="+mn-ea"/>
                      <a:cs typeface="Arial" panose="020B0604020202020204" pitchFamily="34" charset="0"/>
                    </a:rPr>
                    <a:t>2</a:t>
                  </a:r>
                  <a:endParaRPr kumimoji="0" lang="zh-CN" altLang="en-US" sz="2000" b="1" i="0" u="none" strike="noStrike" kern="0" cap="none" spc="0" normalizeH="0" baseline="0" noProof="0" dirty="0">
                    <a:ln>
                      <a:noFill/>
                    </a:ln>
                    <a:solidFill>
                      <a:srgbClr val="8064A2"/>
                    </a:solidFill>
                    <a:effectLst/>
                    <a:uLnTx/>
                    <a:uFillTx/>
                    <a:latin typeface="Arial" panose="020B0604020202020204" pitchFamily="34" charset="0"/>
                    <a:ea typeface="+mn-ea"/>
                    <a:cs typeface="Arial" panose="020B0604020202020204" pitchFamily="34" charset="0"/>
                  </a:endParaRPr>
                </a:p>
              </p:txBody>
            </p:sp>
            <p:cxnSp>
              <p:nvCxnSpPr>
                <p:cNvPr id="28" name="Straight Arrow Connector 35">
                  <a:extLst>
                    <a:ext uri="{FF2B5EF4-FFF2-40B4-BE49-F238E27FC236}">
                      <a16:creationId xmlns:a16="http://schemas.microsoft.com/office/drawing/2014/main" id="{29946195-C795-857D-538C-29BE2DEACCB3}"/>
                    </a:ext>
                  </a:extLst>
                </p:cNvPr>
                <p:cNvCxnSpPr>
                  <a:cxnSpLocks/>
                </p:cNvCxnSpPr>
                <p:nvPr/>
              </p:nvCxnSpPr>
              <p:spPr>
                <a:xfrm>
                  <a:off x="1893305" y="3225117"/>
                  <a:ext cx="0" cy="407505"/>
                </a:xfrm>
                <a:prstGeom prst="straightConnector1">
                  <a:avLst/>
                </a:prstGeom>
                <a:noFill/>
                <a:ln w="38100" cap="rnd" cmpd="sng" algn="ctr">
                  <a:solidFill>
                    <a:srgbClr val="000000"/>
                  </a:solidFill>
                  <a:prstDash val="solid"/>
                  <a:headEnd type="none" w="med" len="med"/>
                  <a:tailEnd type="triangle" w="med" len="med"/>
                </a:ln>
                <a:effectLst/>
              </p:spPr>
            </p:cxnSp>
            <p:cxnSp>
              <p:nvCxnSpPr>
                <p:cNvPr id="35" name="Straight Arrow Connector 35">
                  <a:extLst>
                    <a:ext uri="{FF2B5EF4-FFF2-40B4-BE49-F238E27FC236}">
                      <a16:creationId xmlns:a16="http://schemas.microsoft.com/office/drawing/2014/main" id="{05B7C112-4A4D-9004-62CD-6090E32821FF}"/>
                    </a:ext>
                  </a:extLst>
                </p:cNvPr>
                <p:cNvCxnSpPr>
                  <a:cxnSpLocks/>
                </p:cNvCxnSpPr>
                <p:nvPr/>
              </p:nvCxnSpPr>
              <p:spPr>
                <a:xfrm>
                  <a:off x="1893305" y="3998829"/>
                  <a:ext cx="360" cy="446650"/>
                </a:xfrm>
                <a:prstGeom prst="straightConnector1">
                  <a:avLst/>
                </a:prstGeom>
                <a:noFill/>
                <a:ln w="38100" cap="rnd" cmpd="sng" algn="ctr">
                  <a:solidFill>
                    <a:srgbClr val="000000"/>
                  </a:solidFill>
                  <a:prstDash val="solid"/>
                  <a:headEnd type="none" w="med" len="med"/>
                  <a:tailEnd type="triangle" w="med" len="med"/>
                </a:ln>
                <a:effectLst/>
              </p:spPr>
            </p:cxnSp>
            <p:sp>
              <p:nvSpPr>
                <p:cNvPr id="50" name="矩形 17">
                  <a:extLst>
                    <a:ext uri="{FF2B5EF4-FFF2-40B4-BE49-F238E27FC236}">
                      <a16:creationId xmlns:a16="http://schemas.microsoft.com/office/drawing/2014/main" id="{EC25912E-6C81-4069-1BBE-D826865A0D80}"/>
                    </a:ext>
                  </a:extLst>
                </p:cNvPr>
                <p:cNvSpPr/>
                <p:nvPr/>
              </p:nvSpPr>
              <p:spPr>
                <a:xfrm>
                  <a:off x="1942626" y="4031102"/>
                  <a:ext cx="2049330" cy="400110"/>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数据和控制信号</a:t>
                  </a:r>
                </a:p>
              </p:txBody>
            </p:sp>
            <p:sp>
              <p:nvSpPr>
                <p:cNvPr id="51" name="矩形 17">
                  <a:extLst>
                    <a:ext uri="{FF2B5EF4-FFF2-40B4-BE49-F238E27FC236}">
                      <a16:creationId xmlns:a16="http://schemas.microsoft.com/office/drawing/2014/main" id="{726FA1C2-5D83-FDEF-E240-B0EDD6C0CB99}"/>
                    </a:ext>
                  </a:extLst>
                </p:cNvPr>
                <p:cNvSpPr/>
                <p:nvPr/>
              </p:nvSpPr>
              <p:spPr>
                <a:xfrm>
                  <a:off x="1895015" y="3208491"/>
                  <a:ext cx="2049330" cy="400110"/>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指令</a:t>
                  </a:r>
                </a:p>
              </p:txBody>
            </p:sp>
          </p:grpSp>
        </p:grpSp>
        <p:sp>
          <p:nvSpPr>
            <p:cNvPr id="9" name="Oval 35">
              <a:extLst>
                <a:ext uri="{FF2B5EF4-FFF2-40B4-BE49-F238E27FC236}">
                  <a16:creationId xmlns:a16="http://schemas.microsoft.com/office/drawing/2014/main" id="{ADD87F83-4610-D3DA-874B-D9CDA9C2C95F}"/>
                </a:ext>
              </a:extLst>
            </p:cNvPr>
            <p:cNvSpPr/>
            <p:nvPr/>
          </p:nvSpPr>
          <p:spPr>
            <a:xfrm>
              <a:off x="261725" y="3557944"/>
              <a:ext cx="555959" cy="555959"/>
            </a:xfrm>
            <a:prstGeom prst="ellipse">
              <a:avLst/>
            </a:prstGeom>
            <a:solidFill>
              <a:srgbClr val="FFFFFF"/>
            </a:solidFill>
            <a:ln w="25400" cap="flat" cmpd="sng" algn="ctr">
              <a:solidFill>
                <a:srgbClr val="000000"/>
              </a:solidFill>
              <a:prstDash val="solid"/>
            </a:ln>
            <a:effectLst/>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CN" sz="1800" b="1"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cxnSp>
          <p:nvCxnSpPr>
            <p:cNvPr id="10" name="Straight Connector 36">
              <a:extLst>
                <a:ext uri="{FF2B5EF4-FFF2-40B4-BE49-F238E27FC236}">
                  <a16:creationId xmlns:a16="http://schemas.microsoft.com/office/drawing/2014/main" id="{AEE0642B-41F2-8ACA-834E-C7A77F8FE75A}"/>
                </a:ext>
              </a:extLst>
            </p:cNvPr>
            <p:cNvCxnSpPr>
              <a:cxnSpLocks/>
              <a:stCxn id="9" idx="5"/>
            </p:cNvCxnSpPr>
            <p:nvPr/>
          </p:nvCxnSpPr>
          <p:spPr>
            <a:xfrm flipH="1" flipV="1">
              <a:off x="539705" y="3832486"/>
              <a:ext cx="196561" cy="199999"/>
            </a:xfrm>
            <a:prstGeom prst="line">
              <a:avLst/>
            </a:prstGeom>
            <a:noFill/>
            <a:ln w="19050" cap="flat" cmpd="sng" algn="ctr">
              <a:solidFill>
                <a:srgbClr val="000000">
                  <a:shade val="95000"/>
                  <a:satMod val="105000"/>
                </a:srgbClr>
              </a:solidFill>
              <a:prstDash val="solid"/>
              <a:tailEnd type="oval"/>
            </a:ln>
            <a:effectLst/>
          </p:spPr>
        </p:cxnSp>
        <p:sp>
          <p:nvSpPr>
            <p:cNvPr id="11" name="Pie 58">
              <a:extLst>
                <a:ext uri="{FF2B5EF4-FFF2-40B4-BE49-F238E27FC236}">
                  <a16:creationId xmlns:a16="http://schemas.microsoft.com/office/drawing/2014/main" id="{0A1BE62C-A74E-4EF1-00A5-5878E732D66C}"/>
                </a:ext>
              </a:extLst>
            </p:cNvPr>
            <p:cNvSpPr/>
            <p:nvPr/>
          </p:nvSpPr>
          <p:spPr>
            <a:xfrm>
              <a:off x="261726" y="3557945"/>
              <a:ext cx="555959" cy="555959"/>
            </a:xfrm>
            <a:prstGeom prst="pie">
              <a:avLst>
                <a:gd name="adj1" fmla="val 16263014"/>
                <a:gd name="adj2" fmla="val 2739376"/>
              </a:avLst>
            </a:prstGeom>
            <a:solidFill>
              <a:srgbClr val="F79646">
                <a:lumMod val="20000"/>
                <a:lumOff val="80000"/>
              </a:srgbClr>
            </a:solidFill>
            <a:ln w="25400" cap="flat" cmpd="sng" algn="ctr">
              <a:solidFill>
                <a:srgbClr val="000000"/>
              </a:solidFill>
              <a:prstDash val="solid"/>
            </a:ln>
            <a:effectLst/>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CN" sz="1800" b="1"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2" name="Oval 38">
              <a:extLst>
                <a:ext uri="{FF2B5EF4-FFF2-40B4-BE49-F238E27FC236}">
                  <a16:creationId xmlns:a16="http://schemas.microsoft.com/office/drawing/2014/main" id="{EE7F7CEA-F17D-1EB8-AE52-1A034093B059}"/>
                </a:ext>
              </a:extLst>
            </p:cNvPr>
            <p:cNvSpPr/>
            <p:nvPr/>
          </p:nvSpPr>
          <p:spPr>
            <a:xfrm>
              <a:off x="261633" y="4388443"/>
              <a:ext cx="555959" cy="555959"/>
            </a:xfrm>
            <a:prstGeom prst="ellipse">
              <a:avLst/>
            </a:prstGeom>
            <a:solidFill>
              <a:srgbClr val="FFFFFF"/>
            </a:solidFill>
            <a:ln w="25400" cap="flat" cmpd="sng" algn="ctr">
              <a:solidFill>
                <a:srgbClr val="000000"/>
              </a:solidFill>
              <a:prstDash val="solid"/>
            </a:ln>
            <a:effectLst/>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CN" sz="1800" b="1"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cxnSp>
          <p:nvCxnSpPr>
            <p:cNvPr id="13" name="Straight Connector 39">
              <a:extLst>
                <a:ext uri="{FF2B5EF4-FFF2-40B4-BE49-F238E27FC236}">
                  <a16:creationId xmlns:a16="http://schemas.microsoft.com/office/drawing/2014/main" id="{DE5A4A20-035A-41AB-B16B-D0BAF9DCF6B8}"/>
                </a:ext>
              </a:extLst>
            </p:cNvPr>
            <p:cNvCxnSpPr>
              <a:cxnSpLocks/>
              <a:stCxn id="12" idx="5"/>
            </p:cNvCxnSpPr>
            <p:nvPr/>
          </p:nvCxnSpPr>
          <p:spPr>
            <a:xfrm flipH="1" flipV="1">
              <a:off x="539613" y="4662985"/>
              <a:ext cx="196561" cy="199999"/>
            </a:xfrm>
            <a:prstGeom prst="line">
              <a:avLst/>
            </a:prstGeom>
            <a:noFill/>
            <a:ln w="19050" cap="flat" cmpd="sng" algn="ctr">
              <a:solidFill>
                <a:srgbClr val="000000">
                  <a:shade val="95000"/>
                  <a:satMod val="105000"/>
                </a:srgbClr>
              </a:solidFill>
              <a:prstDash val="solid"/>
              <a:tailEnd type="oval"/>
            </a:ln>
            <a:effectLst/>
          </p:spPr>
        </p:cxnSp>
        <p:sp>
          <p:nvSpPr>
            <p:cNvPr id="14" name="Pie 65">
              <a:extLst>
                <a:ext uri="{FF2B5EF4-FFF2-40B4-BE49-F238E27FC236}">
                  <a16:creationId xmlns:a16="http://schemas.microsoft.com/office/drawing/2014/main" id="{AD8B310B-28E9-57CF-153F-6E3BF80F6092}"/>
                </a:ext>
              </a:extLst>
            </p:cNvPr>
            <p:cNvSpPr/>
            <p:nvPr/>
          </p:nvSpPr>
          <p:spPr>
            <a:xfrm>
              <a:off x="261634" y="4388444"/>
              <a:ext cx="555959" cy="555959"/>
            </a:xfrm>
            <a:prstGeom prst="pie">
              <a:avLst>
                <a:gd name="adj1" fmla="val 2763786"/>
                <a:gd name="adj2" fmla="val 10273713"/>
              </a:avLst>
            </a:prstGeom>
            <a:solidFill>
              <a:srgbClr val="8064A2">
                <a:lumMod val="40000"/>
                <a:lumOff val="60000"/>
              </a:srgbClr>
            </a:solidFill>
            <a:ln w="25400" cap="flat" cmpd="sng" algn="ctr">
              <a:solidFill>
                <a:srgbClr val="000000"/>
              </a:solidFill>
              <a:prstDash val="solid"/>
            </a:ln>
            <a:effectLst/>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CN" sz="1800" b="1"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5" name="Pie 75">
              <a:extLst>
                <a:ext uri="{FF2B5EF4-FFF2-40B4-BE49-F238E27FC236}">
                  <a16:creationId xmlns:a16="http://schemas.microsoft.com/office/drawing/2014/main" id="{9C3988B7-53E1-3A75-9EC9-2E5B84B38B67}"/>
                </a:ext>
              </a:extLst>
            </p:cNvPr>
            <p:cNvSpPr/>
            <p:nvPr/>
          </p:nvSpPr>
          <p:spPr>
            <a:xfrm>
              <a:off x="261632" y="4388443"/>
              <a:ext cx="555959" cy="555959"/>
            </a:xfrm>
            <a:prstGeom prst="pie">
              <a:avLst>
                <a:gd name="adj1" fmla="val 16263014"/>
                <a:gd name="adj2" fmla="val 2739376"/>
              </a:avLst>
            </a:prstGeom>
            <a:solidFill>
              <a:srgbClr val="F79646">
                <a:lumMod val="20000"/>
                <a:lumOff val="80000"/>
              </a:srgbClr>
            </a:solidFill>
            <a:ln w="25400" cap="flat" cmpd="sng" algn="ctr">
              <a:solidFill>
                <a:srgbClr val="000000"/>
              </a:solidFill>
              <a:prstDash val="solid"/>
            </a:ln>
            <a:effectLst/>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CN" sz="1800" b="1"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6" name="Oval 42">
              <a:extLst>
                <a:ext uri="{FF2B5EF4-FFF2-40B4-BE49-F238E27FC236}">
                  <a16:creationId xmlns:a16="http://schemas.microsoft.com/office/drawing/2014/main" id="{B789C117-D90A-8411-E88F-7099D669D8B8}"/>
                </a:ext>
              </a:extLst>
            </p:cNvPr>
            <p:cNvSpPr/>
            <p:nvPr/>
          </p:nvSpPr>
          <p:spPr>
            <a:xfrm>
              <a:off x="261633" y="5405336"/>
              <a:ext cx="555959" cy="555959"/>
            </a:xfrm>
            <a:prstGeom prst="ellipse">
              <a:avLst/>
            </a:prstGeom>
            <a:solidFill>
              <a:srgbClr val="9BBB59">
                <a:lumMod val="40000"/>
                <a:lumOff val="60000"/>
              </a:srgbClr>
            </a:solidFill>
            <a:ln w="25400" cap="flat" cmpd="sng" algn="ctr">
              <a:solidFill>
                <a:srgbClr val="000000"/>
              </a:solidFill>
              <a:prstDash val="solid"/>
            </a:ln>
            <a:effectLst/>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CN" sz="1800" b="1"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cxnSp>
          <p:nvCxnSpPr>
            <p:cNvPr id="17" name="Straight Connector 43">
              <a:extLst>
                <a:ext uri="{FF2B5EF4-FFF2-40B4-BE49-F238E27FC236}">
                  <a16:creationId xmlns:a16="http://schemas.microsoft.com/office/drawing/2014/main" id="{4260A9BF-3266-9F82-B4A2-180AADC99C5B}"/>
                </a:ext>
              </a:extLst>
            </p:cNvPr>
            <p:cNvCxnSpPr>
              <a:cxnSpLocks/>
              <a:stCxn id="16" idx="5"/>
            </p:cNvCxnSpPr>
            <p:nvPr/>
          </p:nvCxnSpPr>
          <p:spPr>
            <a:xfrm flipH="1" flipV="1">
              <a:off x="539613" y="5679878"/>
              <a:ext cx="196561" cy="199999"/>
            </a:xfrm>
            <a:prstGeom prst="line">
              <a:avLst/>
            </a:prstGeom>
            <a:noFill/>
            <a:ln w="19050" cap="flat" cmpd="sng" algn="ctr">
              <a:solidFill>
                <a:srgbClr val="000000">
                  <a:shade val="95000"/>
                  <a:satMod val="105000"/>
                </a:srgbClr>
              </a:solidFill>
              <a:prstDash val="solid"/>
              <a:tailEnd type="oval"/>
            </a:ln>
            <a:effectLst/>
          </p:spPr>
        </p:cxnSp>
        <p:sp>
          <p:nvSpPr>
            <p:cNvPr id="18" name="Pie 78">
              <a:extLst>
                <a:ext uri="{FF2B5EF4-FFF2-40B4-BE49-F238E27FC236}">
                  <a16:creationId xmlns:a16="http://schemas.microsoft.com/office/drawing/2014/main" id="{56A5695C-99CD-0A39-2A3C-90B6E39C32B2}"/>
                </a:ext>
              </a:extLst>
            </p:cNvPr>
            <p:cNvSpPr/>
            <p:nvPr/>
          </p:nvSpPr>
          <p:spPr>
            <a:xfrm>
              <a:off x="261634" y="5405337"/>
              <a:ext cx="555959" cy="555959"/>
            </a:xfrm>
            <a:prstGeom prst="pie">
              <a:avLst>
                <a:gd name="adj1" fmla="val 2763786"/>
                <a:gd name="adj2" fmla="val 10273713"/>
              </a:avLst>
            </a:prstGeom>
            <a:solidFill>
              <a:srgbClr val="8064A2">
                <a:lumMod val="40000"/>
                <a:lumOff val="60000"/>
              </a:srgbClr>
            </a:solidFill>
            <a:ln w="25400" cap="flat" cmpd="sng" algn="ctr">
              <a:solidFill>
                <a:srgbClr val="000000"/>
              </a:solidFill>
              <a:prstDash val="solid"/>
            </a:ln>
            <a:effectLst/>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CN" sz="1800" b="1"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9" name="Pie 79">
              <a:extLst>
                <a:ext uri="{FF2B5EF4-FFF2-40B4-BE49-F238E27FC236}">
                  <a16:creationId xmlns:a16="http://schemas.microsoft.com/office/drawing/2014/main" id="{72EE9B31-39F9-8D6A-3150-29B33D820C81}"/>
                </a:ext>
              </a:extLst>
            </p:cNvPr>
            <p:cNvSpPr/>
            <p:nvPr/>
          </p:nvSpPr>
          <p:spPr>
            <a:xfrm>
              <a:off x="261632" y="5405336"/>
              <a:ext cx="555959" cy="555959"/>
            </a:xfrm>
            <a:prstGeom prst="pie">
              <a:avLst>
                <a:gd name="adj1" fmla="val 16263014"/>
                <a:gd name="adj2" fmla="val 2739376"/>
              </a:avLst>
            </a:prstGeom>
            <a:solidFill>
              <a:srgbClr val="F79646">
                <a:lumMod val="20000"/>
                <a:lumOff val="80000"/>
              </a:srgbClr>
            </a:solidFill>
            <a:ln w="25400" cap="flat" cmpd="sng" algn="ctr">
              <a:solidFill>
                <a:srgbClr val="000000"/>
              </a:solidFill>
              <a:prstDash val="solid"/>
            </a:ln>
            <a:effectLst/>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CN" sz="1800" b="1"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20" name="Freeform 21">
              <a:extLst>
                <a:ext uri="{FF2B5EF4-FFF2-40B4-BE49-F238E27FC236}">
                  <a16:creationId xmlns:a16="http://schemas.microsoft.com/office/drawing/2014/main" id="{E201E991-3075-44F2-AA86-787204C8025A}"/>
                </a:ext>
              </a:extLst>
            </p:cNvPr>
            <p:cNvSpPr/>
            <p:nvPr/>
          </p:nvSpPr>
          <p:spPr>
            <a:xfrm>
              <a:off x="547662" y="3706498"/>
              <a:ext cx="104740" cy="176035"/>
            </a:xfrm>
            <a:custGeom>
              <a:avLst/>
              <a:gdLst>
                <a:gd name="connsiteX0" fmla="*/ 0 w 104740"/>
                <a:gd name="connsiteY0" fmla="*/ 0 h 176035"/>
                <a:gd name="connsiteX1" fmla="*/ 102687 w 104740"/>
                <a:gd name="connsiteY1" fmla="*/ 78238 h 176035"/>
                <a:gd name="connsiteX2" fmla="*/ 58678 w 104740"/>
                <a:gd name="connsiteY2" fmla="*/ 176035 h 176035"/>
              </a:gdLst>
              <a:ahLst/>
              <a:cxnLst>
                <a:cxn ang="0">
                  <a:pos x="connsiteX0" y="connsiteY0"/>
                </a:cxn>
                <a:cxn ang="0">
                  <a:pos x="connsiteX1" y="connsiteY1"/>
                </a:cxn>
                <a:cxn ang="0">
                  <a:pos x="connsiteX2" y="connsiteY2"/>
                </a:cxn>
              </a:cxnLst>
              <a:rect l="l" t="t" r="r" b="b"/>
              <a:pathLst>
                <a:path w="104740" h="176035">
                  <a:moveTo>
                    <a:pt x="0" y="0"/>
                  </a:moveTo>
                  <a:cubicBezTo>
                    <a:pt x="46453" y="24449"/>
                    <a:pt x="92907" y="48899"/>
                    <a:pt x="102687" y="78238"/>
                  </a:cubicBezTo>
                  <a:cubicBezTo>
                    <a:pt x="112467" y="107577"/>
                    <a:pt x="85572" y="141806"/>
                    <a:pt x="58678" y="176035"/>
                  </a:cubicBezTo>
                </a:path>
              </a:pathLst>
            </a:custGeom>
            <a:noFill/>
            <a:ln w="25400" cap="flat" cmpd="sng" algn="ctr">
              <a:solidFill>
                <a:srgbClr val="F79646">
                  <a:lumMod val="75000"/>
                </a:srgbClr>
              </a:solidFill>
              <a:prstDash val="solid"/>
              <a:headEnd type="none" w="med" len="med"/>
              <a:tailEnd type="triangl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CN" sz="4600" b="1"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21" name="Freeform 83">
              <a:extLst>
                <a:ext uri="{FF2B5EF4-FFF2-40B4-BE49-F238E27FC236}">
                  <a16:creationId xmlns:a16="http://schemas.microsoft.com/office/drawing/2014/main" id="{BC7A4522-9488-63A2-A535-08443CBE59D9}"/>
                </a:ext>
              </a:extLst>
            </p:cNvPr>
            <p:cNvSpPr/>
            <p:nvPr/>
          </p:nvSpPr>
          <p:spPr>
            <a:xfrm rot="7488657">
              <a:off x="442337" y="4658298"/>
              <a:ext cx="104740" cy="176035"/>
            </a:xfrm>
            <a:custGeom>
              <a:avLst/>
              <a:gdLst>
                <a:gd name="connsiteX0" fmla="*/ 0 w 104740"/>
                <a:gd name="connsiteY0" fmla="*/ 0 h 176035"/>
                <a:gd name="connsiteX1" fmla="*/ 102687 w 104740"/>
                <a:gd name="connsiteY1" fmla="*/ 78238 h 176035"/>
                <a:gd name="connsiteX2" fmla="*/ 58678 w 104740"/>
                <a:gd name="connsiteY2" fmla="*/ 176035 h 176035"/>
              </a:gdLst>
              <a:ahLst/>
              <a:cxnLst>
                <a:cxn ang="0">
                  <a:pos x="connsiteX0" y="connsiteY0"/>
                </a:cxn>
                <a:cxn ang="0">
                  <a:pos x="connsiteX1" y="connsiteY1"/>
                </a:cxn>
                <a:cxn ang="0">
                  <a:pos x="connsiteX2" y="connsiteY2"/>
                </a:cxn>
              </a:cxnLst>
              <a:rect l="l" t="t" r="r" b="b"/>
              <a:pathLst>
                <a:path w="104740" h="176035">
                  <a:moveTo>
                    <a:pt x="0" y="0"/>
                  </a:moveTo>
                  <a:cubicBezTo>
                    <a:pt x="46453" y="24449"/>
                    <a:pt x="92907" y="48899"/>
                    <a:pt x="102687" y="78238"/>
                  </a:cubicBezTo>
                  <a:cubicBezTo>
                    <a:pt x="112467" y="107577"/>
                    <a:pt x="85572" y="141806"/>
                    <a:pt x="58678" y="176035"/>
                  </a:cubicBezTo>
                </a:path>
              </a:pathLst>
            </a:custGeom>
            <a:noFill/>
            <a:ln w="25400" cap="flat" cmpd="sng" algn="ctr">
              <a:solidFill>
                <a:srgbClr val="8064A2">
                  <a:lumMod val="75000"/>
                </a:srgbClr>
              </a:solidFill>
              <a:prstDash val="solid"/>
              <a:headEnd type="none" w="med" len="med"/>
              <a:tailEnd type="triangl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CN" sz="4600" b="1"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22" name="Freeform 84">
              <a:extLst>
                <a:ext uri="{FF2B5EF4-FFF2-40B4-BE49-F238E27FC236}">
                  <a16:creationId xmlns:a16="http://schemas.microsoft.com/office/drawing/2014/main" id="{2F106264-BFD9-BB76-C6E8-8F31387EA4B5}"/>
                </a:ext>
              </a:extLst>
            </p:cNvPr>
            <p:cNvSpPr/>
            <p:nvPr/>
          </p:nvSpPr>
          <p:spPr>
            <a:xfrm rot="14628013">
              <a:off x="404791" y="5516864"/>
              <a:ext cx="104740" cy="176035"/>
            </a:xfrm>
            <a:custGeom>
              <a:avLst/>
              <a:gdLst>
                <a:gd name="connsiteX0" fmla="*/ 0 w 104740"/>
                <a:gd name="connsiteY0" fmla="*/ 0 h 176035"/>
                <a:gd name="connsiteX1" fmla="*/ 102687 w 104740"/>
                <a:gd name="connsiteY1" fmla="*/ 78238 h 176035"/>
                <a:gd name="connsiteX2" fmla="*/ 58678 w 104740"/>
                <a:gd name="connsiteY2" fmla="*/ 176035 h 176035"/>
              </a:gdLst>
              <a:ahLst/>
              <a:cxnLst>
                <a:cxn ang="0">
                  <a:pos x="connsiteX0" y="connsiteY0"/>
                </a:cxn>
                <a:cxn ang="0">
                  <a:pos x="connsiteX1" y="connsiteY1"/>
                </a:cxn>
                <a:cxn ang="0">
                  <a:pos x="connsiteX2" y="connsiteY2"/>
                </a:cxn>
              </a:cxnLst>
              <a:rect l="l" t="t" r="r" b="b"/>
              <a:pathLst>
                <a:path w="104740" h="176035">
                  <a:moveTo>
                    <a:pt x="0" y="0"/>
                  </a:moveTo>
                  <a:cubicBezTo>
                    <a:pt x="46453" y="24449"/>
                    <a:pt x="92907" y="48899"/>
                    <a:pt x="102687" y="78238"/>
                  </a:cubicBezTo>
                  <a:cubicBezTo>
                    <a:pt x="112467" y="107577"/>
                    <a:pt x="85572" y="141806"/>
                    <a:pt x="58678" y="176035"/>
                  </a:cubicBezTo>
                </a:path>
              </a:pathLst>
            </a:custGeom>
            <a:noFill/>
            <a:ln w="25400" cap="flat" cmpd="sng" algn="ctr">
              <a:solidFill>
                <a:srgbClr val="9BBB59">
                  <a:lumMod val="75000"/>
                </a:srgbClr>
              </a:solidFill>
              <a:prstDash val="solid"/>
              <a:headEnd type="none" w="med" len="med"/>
              <a:tailEnd type="triangl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CN" sz="4600" b="1"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grpSp>
      <p:grpSp>
        <p:nvGrpSpPr>
          <p:cNvPr id="58" name="Group 82">
            <a:extLst>
              <a:ext uri="{FF2B5EF4-FFF2-40B4-BE49-F238E27FC236}">
                <a16:creationId xmlns:a16="http://schemas.microsoft.com/office/drawing/2014/main" id="{D1039AF9-3E17-9E4C-9626-E8CDB2A35F83}"/>
              </a:ext>
            </a:extLst>
          </p:cNvPr>
          <p:cNvGrpSpPr/>
          <p:nvPr/>
        </p:nvGrpSpPr>
        <p:grpSpPr>
          <a:xfrm>
            <a:off x="5090455" y="3541882"/>
            <a:ext cx="3878132" cy="2770916"/>
            <a:chOff x="5090455" y="3444899"/>
            <a:chExt cx="3878132" cy="2770916"/>
          </a:xfrm>
        </p:grpSpPr>
        <p:grpSp>
          <p:nvGrpSpPr>
            <p:cNvPr id="61" name="Group 83">
              <a:extLst>
                <a:ext uri="{FF2B5EF4-FFF2-40B4-BE49-F238E27FC236}">
                  <a16:creationId xmlns:a16="http://schemas.microsoft.com/office/drawing/2014/main" id="{FAABBB22-6D2E-5114-2C32-279B92248922}"/>
                </a:ext>
              </a:extLst>
            </p:cNvPr>
            <p:cNvGrpSpPr/>
            <p:nvPr/>
          </p:nvGrpSpPr>
          <p:grpSpPr>
            <a:xfrm>
              <a:off x="5090455" y="3444899"/>
              <a:ext cx="3878132" cy="2756647"/>
              <a:chOff x="5090455" y="3444899"/>
              <a:chExt cx="3878132" cy="2756647"/>
            </a:xfrm>
          </p:grpSpPr>
          <p:sp>
            <p:nvSpPr>
              <p:cNvPr id="64" name="Rectangle 86">
                <a:extLst>
                  <a:ext uri="{FF2B5EF4-FFF2-40B4-BE49-F238E27FC236}">
                    <a16:creationId xmlns:a16="http://schemas.microsoft.com/office/drawing/2014/main" id="{10AD4080-D80A-12CE-7E06-E355F15D7EB9}"/>
                  </a:ext>
                </a:extLst>
              </p:cNvPr>
              <p:cNvSpPr/>
              <p:nvPr/>
            </p:nvSpPr>
            <p:spPr>
              <a:xfrm>
                <a:off x="5090455" y="3444899"/>
                <a:ext cx="3878132" cy="2756647"/>
              </a:xfrm>
              <a:prstGeom prst="rect">
                <a:avLst/>
              </a:prstGeom>
              <a:solidFill>
                <a:srgbClr val="4F81BD">
                  <a:lumMod val="20000"/>
                  <a:lumOff val="80000"/>
                </a:srgbClr>
              </a:solidFill>
              <a:ln w="25400" cap="flat" cmpd="sng" algn="ctr">
                <a:noFill/>
                <a:prstDash val="solid"/>
              </a:ln>
              <a:effectLst/>
            </p:spPr>
            <p:txBody>
              <a:bodyPr wrap="square" tIns="144000" rtlCol="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2400" b="1" kern="0" dirty="0">
                    <a:solidFill>
                      <a:srgbClr val="4F81BD">
                        <a:lumMod val="75000"/>
                      </a:srgbClr>
                    </a:solidFill>
                    <a:latin typeface="Arial" panose="020B0604020202020204" pitchFamily="34" charset="0"/>
                    <a:ea typeface="+mn-ea"/>
                    <a:cs typeface="Arial" panose="020B0604020202020204" pitchFamily="34" charset="0"/>
                  </a:rPr>
                  <a:t>有限状态</a:t>
                </a:r>
                <a:r>
                  <a:rPr kumimoji="0" lang="zh-CN" altLang="en-US" sz="2400" b="1" i="0" u="none" strike="noStrike" kern="0" cap="none" spc="0" normalizeH="0" baseline="0" noProof="0" dirty="0">
                    <a:ln>
                      <a:noFill/>
                    </a:ln>
                    <a:solidFill>
                      <a:srgbClr val="4F81BD">
                        <a:lumMod val="75000"/>
                      </a:srgbClr>
                    </a:solidFill>
                    <a:effectLst/>
                    <a:uLnTx/>
                    <a:uFillTx/>
                    <a:latin typeface="Arial" panose="020B0604020202020204" pitchFamily="34" charset="0"/>
                    <a:ea typeface="+mn-ea"/>
                    <a:cs typeface="Arial" panose="020B0604020202020204" pitchFamily="34" charset="0"/>
                  </a:rPr>
                  <a:t>机</a:t>
                </a:r>
              </a:p>
            </p:txBody>
          </p:sp>
          <p:sp>
            <p:nvSpPr>
              <p:cNvPr id="67" name="Rectangle 165">
                <a:extLst>
                  <a:ext uri="{FF2B5EF4-FFF2-40B4-BE49-F238E27FC236}">
                    <a16:creationId xmlns:a16="http://schemas.microsoft.com/office/drawing/2014/main" id="{B41FD0CA-40DD-5BFE-6333-B5CAFC550554}"/>
                  </a:ext>
                </a:extLst>
              </p:cNvPr>
              <p:cNvSpPr/>
              <p:nvPr/>
            </p:nvSpPr>
            <p:spPr>
              <a:xfrm>
                <a:off x="5323313" y="4250105"/>
                <a:ext cx="874344" cy="1761491"/>
              </a:xfrm>
              <a:prstGeom prst="rect">
                <a:avLst/>
              </a:prstGeom>
              <a:solidFill>
                <a:srgbClr val="FFFFFF">
                  <a:lumMod val="85000"/>
                </a:srgbClr>
              </a:solidFill>
              <a:ln w="25400" cap="flat" cmpd="sng" algn="ctr">
                <a:solidFill>
                  <a:srgbClr val="000000"/>
                </a:solidFill>
                <a:prstDash val="solid"/>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状态</a:t>
                </a:r>
                <a:r>
                  <a:rPr kumimoji="0" lang="en-US" altLang="zh-CN" sz="2000" b="1"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S/S+</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zh-CN" sz="2000" b="1"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数据</a:t>
                </a:r>
              </a:p>
            </p:txBody>
          </p:sp>
          <p:sp>
            <p:nvSpPr>
              <p:cNvPr id="68" name="Rectangle 166">
                <a:extLst>
                  <a:ext uri="{FF2B5EF4-FFF2-40B4-BE49-F238E27FC236}">
                    <a16:creationId xmlns:a16="http://schemas.microsoft.com/office/drawing/2014/main" id="{2E70301A-3994-0D29-86BE-379A8A97DF9C}"/>
                  </a:ext>
                </a:extLst>
              </p:cNvPr>
              <p:cNvSpPr/>
              <p:nvPr/>
            </p:nvSpPr>
            <p:spPr>
              <a:xfrm>
                <a:off x="7368101" y="4250106"/>
                <a:ext cx="1487527" cy="1761490"/>
              </a:xfrm>
              <a:prstGeom prst="rect">
                <a:avLst/>
              </a:prstGeom>
              <a:solidFill>
                <a:srgbClr val="FFFFFF"/>
              </a:solidFill>
              <a:ln w="28575" cap="flat" cmpd="sng" algn="ctr">
                <a:solidFill>
                  <a:srgbClr val="000000"/>
                </a:solidFill>
                <a:prstDash val="solid"/>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组合逻辑</a:t>
                </a:r>
                <a:br>
                  <a:rPr kumimoji="0" lang="en-US" altLang="zh-CN" sz="2000" b="1"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br>
                <a:br>
                  <a:rPr kumimoji="0" lang="en-US" altLang="zh-CN" sz="2000" b="1"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br>
                <a:r>
                  <a:rPr kumimoji="0" lang="zh-CN" altLang="en-US" sz="2000" b="1"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步骤</a:t>
                </a:r>
                <a:r>
                  <a:rPr kumimoji="0" lang="en-US" altLang="zh-CN" sz="2000" b="1"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1,2,3</a:t>
                </a:r>
              </a:p>
            </p:txBody>
          </p:sp>
          <p:cxnSp>
            <p:nvCxnSpPr>
              <p:cNvPr id="69" name="Straight Arrow Connector 35">
                <a:extLst>
                  <a:ext uri="{FF2B5EF4-FFF2-40B4-BE49-F238E27FC236}">
                    <a16:creationId xmlns:a16="http://schemas.microsoft.com/office/drawing/2014/main" id="{CF2FF0BC-F489-2140-9A82-45FD6302C722}"/>
                  </a:ext>
                </a:extLst>
              </p:cNvPr>
              <p:cNvCxnSpPr>
                <a:cxnSpLocks/>
              </p:cNvCxnSpPr>
              <p:nvPr/>
            </p:nvCxnSpPr>
            <p:spPr>
              <a:xfrm>
                <a:off x="6197657" y="5519032"/>
                <a:ext cx="1170444" cy="0"/>
              </a:xfrm>
              <a:prstGeom prst="straightConnector1">
                <a:avLst/>
              </a:prstGeom>
              <a:noFill/>
              <a:ln w="38100" cap="rnd" cmpd="sng" algn="ctr">
                <a:solidFill>
                  <a:srgbClr val="000000"/>
                </a:solidFill>
                <a:prstDash val="solid"/>
                <a:headEnd type="none" w="med" len="med"/>
                <a:tailEnd type="triangle" w="med" len="med"/>
              </a:ln>
              <a:effectLst/>
            </p:spPr>
          </p:cxnSp>
          <p:cxnSp>
            <p:nvCxnSpPr>
              <p:cNvPr id="70" name="Straight Arrow Connector 35">
                <a:extLst>
                  <a:ext uri="{FF2B5EF4-FFF2-40B4-BE49-F238E27FC236}">
                    <a16:creationId xmlns:a16="http://schemas.microsoft.com/office/drawing/2014/main" id="{AB11C69E-04AD-B57B-2A27-AE8816D9503F}"/>
                  </a:ext>
                </a:extLst>
              </p:cNvPr>
              <p:cNvCxnSpPr>
                <a:cxnSpLocks/>
              </p:cNvCxnSpPr>
              <p:nvPr/>
            </p:nvCxnSpPr>
            <p:spPr>
              <a:xfrm flipH="1">
                <a:off x="6197652" y="4691673"/>
                <a:ext cx="1170449" cy="0"/>
              </a:xfrm>
              <a:prstGeom prst="straightConnector1">
                <a:avLst/>
              </a:prstGeom>
              <a:noFill/>
              <a:ln w="38100" cap="rnd" cmpd="sng" algn="ctr">
                <a:solidFill>
                  <a:srgbClr val="000000"/>
                </a:solidFill>
                <a:prstDash val="solid"/>
                <a:headEnd type="none" w="med" len="med"/>
                <a:tailEnd type="triangle" w="med" len="med"/>
              </a:ln>
              <a:effectLst/>
            </p:spPr>
          </p:cxnSp>
          <p:sp>
            <p:nvSpPr>
              <p:cNvPr id="71" name="矩形 42">
                <a:extLst>
                  <a:ext uri="{FF2B5EF4-FFF2-40B4-BE49-F238E27FC236}">
                    <a16:creationId xmlns:a16="http://schemas.microsoft.com/office/drawing/2014/main" id="{B5788480-5522-07A4-4C02-BDA9D321B021}"/>
                  </a:ext>
                </a:extLst>
              </p:cNvPr>
              <p:cNvSpPr/>
              <p:nvPr/>
            </p:nvSpPr>
            <p:spPr>
              <a:xfrm>
                <a:off x="6163111" y="4285029"/>
                <a:ext cx="1233416" cy="338554"/>
              </a:xfrm>
              <a:prstGeom prst="rect">
                <a:avLst/>
              </a:prstGeom>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状态转移</a:t>
                </a:r>
              </a:p>
            </p:txBody>
          </p:sp>
          <p:sp>
            <p:nvSpPr>
              <p:cNvPr id="72" name="矩形 42">
                <a:extLst>
                  <a:ext uri="{FF2B5EF4-FFF2-40B4-BE49-F238E27FC236}">
                    <a16:creationId xmlns:a16="http://schemas.microsoft.com/office/drawing/2014/main" id="{BDA3BC0A-6C53-DEE0-C793-DC241387CAB0}"/>
                  </a:ext>
                </a:extLst>
              </p:cNvPr>
              <p:cNvSpPr/>
              <p:nvPr/>
            </p:nvSpPr>
            <p:spPr>
              <a:xfrm>
                <a:off x="6157304" y="4946019"/>
                <a:ext cx="1233416" cy="584775"/>
              </a:xfrm>
              <a:prstGeom prst="rect">
                <a:avLst/>
              </a:prstGeom>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指令</a:t>
                </a:r>
                <a:endParaRPr kumimoji="0" lang="en-US" altLang="zh-CN" sz="1600" b="1"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&amp; </a:t>
                </a:r>
                <a:r>
                  <a:rPr kumimoji="0" lang="zh-CN" altLang="en-US" sz="1600" b="1"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数据</a:t>
                </a:r>
              </a:p>
            </p:txBody>
          </p:sp>
        </p:grpSp>
        <p:sp>
          <p:nvSpPr>
            <p:cNvPr id="62" name="矩形 42">
              <a:extLst>
                <a:ext uri="{FF2B5EF4-FFF2-40B4-BE49-F238E27FC236}">
                  <a16:creationId xmlns:a16="http://schemas.microsoft.com/office/drawing/2014/main" id="{B9C1751D-A43B-5BB3-8D4D-301157674206}"/>
                </a:ext>
              </a:extLst>
            </p:cNvPr>
            <p:cNvSpPr/>
            <p:nvPr/>
          </p:nvSpPr>
          <p:spPr>
            <a:xfrm>
              <a:off x="6197652" y="5908038"/>
              <a:ext cx="759270" cy="307777"/>
            </a:xfrm>
            <a:prstGeom prst="rect">
              <a:avLst/>
            </a:prstGeom>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dirty="0">
                  <a:ln>
                    <a:noFill/>
                  </a:ln>
                  <a:solidFill>
                    <a:srgbClr val="C0504D"/>
                  </a:solidFill>
                  <a:effectLst/>
                  <a:uLnTx/>
                  <a:uFillTx/>
                  <a:latin typeface="Arial" panose="020B0604020202020204" pitchFamily="34" charset="0"/>
                  <a:ea typeface="+mn-ea"/>
                  <a:cs typeface="Arial" panose="020B0604020202020204" pitchFamily="34" charset="0"/>
                </a:rPr>
                <a:t>时钟</a:t>
              </a:r>
            </a:p>
          </p:txBody>
        </p:sp>
        <p:cxnSp>
          <p:nvCxnSpPr>
            <p:cNvPr id="63" name="Straight Arrow Connector 35">
              <a:extLst>
                <a:ext uri="{FF2B5EF4-FFF2-40B4-BE49-F238E27FC236}">
                  <a16:creationId xmlns:a16="http://schemas.microsoft.com/office/drawing/2014/main" id="{5AB1AA9C-2569-D736-2BD8-87903E27676D}"/>
                </a:ext>
              </a:extLst>
            </p:cNvPr>
            <p:cNvCxnSpPr>
              <a:cxnSpLocks/>
            </p:cNvCxnSpPr>
            <p:nvPr/>
          </p:nvCxnSpPr>
          <p:spPr>
            <a:xfrm flipH="1">
              <a:off x="6197651" y="5891457"/>
              <a:ext cx="550926" cy="0"/>
            </a:xfrm>
            <a:prstGeom prst="straightConnector1">
              <a:avLst/>
            </a:prstGeom>
            <a:noFill/>
            <a:ln w="38100" cap="rnd" cmpd="sng" algn="ctr">
              <a:solidFill>
                <a:srgbClr val="C0504D"/>
              </a:solidFill>
              <a:prstDash val="solid"/>
              <a:headEnd type="none" w="med" len="med"/>
              <a:tailEnd type="triangle" w="med" len="med"/>
            </a:ln>
            <a:effectLst/>
          </p:spPr>
        </p:cxnSp>
      </p:grpSp>
    </p:spTree>
    <p:extLst>
      <p:ext uri="{BB962C8B-B14F-4D97-AF65-F5344CB8AC3E}">
        <p14:creationId xmlns:p14="http://schemas.microsoft.com/office/powerpoint/2010/main" val="16308911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FD673-68A0-2B5F-803D-35636D3D6A9B}"/>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8923868F-A8F6-1720-CCFD-F44DEC2BFB1B}"/>
              </a:ext>
            </a:extLst>
          </p:cNvPr>
          <p:cNvSpPr>
            <a:spLocks noGrp="1"/>
          </p:cNvSpPr>
          <p:nvPr>
            <p:ph type="sldNum" sz="quarter" idx="12"/>
          </p:nvPr>
        </p:nvSpPr>
        <p:spPr/>
        <p:txBody>
          <a:bodyPr/>
          <a:lstStyle/>
          <a:p>
            <a:fld id="{14659731-6BD7-46E7-8D3C-2F3AC07E20B1}" type="slidenum">
              <a:rPr lang="en-US" altLang="zh-CN" smtClean="0"/>
              <a:pPr/>
              <a:t>12</a:t>
            </a:fld>
            <a:endParaRPr lang="en-US" altLang="zh-CN"/>
          </a:p>
        </p:txBody>
      </p:sp>
      <p:sp>
        <p:nvSpPr>
          <p:cNvPr id="6" name="Title 4">
            <a:extLst>
              <a:ext uri="{FF2B5EF4-FFF2-40B4-BE49-F238E27FC236}">
                <a16:creationId xmlns:a16="http://schemas.microsoft.com/office/drawing/2014/main" id="{C2639A4A-6B9B-8B67-33A2-A6A2D6E5FE6B}"/>
              </a:ext>
            </a:extLst>
          </p:cNvPr>
          <p:cNvSpPr txBox="1">
            <a:spLocks/>
          </p:cNvSpPr>
          <p:nvPr/>
        </p:nvSpPr>
        <p:spPr bwMode="auto">
          <a:xfrm>
            <a:off x="457200" y="136800"/>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kumimoji="1" lang="zh-CN" altLang="en-US" dirty="0"/>
              <a:t>回顾：从专用芯片到处理器</a:t>
            </a:r>
            <a:endParaRPr lang="en-CN" kern="0" dirty="0"/>
          </a:p>
        </p:txBody>
      </p:sp>
      <p:grpSp>
        <p:nvGrpSpPr>
          <p:cNvPr id="2" name="组合 1">
            <a:extLst>
              <a:ext uri="{FF2B5EF4-FFF2-40B4-BE49-F238E27FC236}">
                <a16:creationId xmlns:a16="http://schemas.microsoft.com/office/drawing/2014/main" id="{223CE2BD-572D-19F2-4CC6-EB263297AA5A}"/>
              </a:ext>
            </a:extLst>
          </p:cNvPr>
          <p:cNvGrpSpPr/>
          <p:nvPr/>
        </p:nvGrpSpPr>
        <p:grpSpPr>
          <a:xfrm>
            <a:off x="-140194" y="1383966"/>
            <a:ext cx="9341080" cy="3249973"/>
            <a:chOff x="-140194" y="963446"/>
            <a:chExt cx="9341080" cy="3249973"/>
          </a:xfrm>
        </p:grpSpPr>
        <p:sp>
          <p:nvSpPr>
            <p:cNvPr id="8" name="Rectangle 53">
              <a:extLst>
                <a:ext uri="{FF2B5EF4-FFF2-40B4-BE49-F238E27FC236}">
                  <a16:creationId xmlns:a16="http://schemas.microsoft.com/office/drawing/2014/main" id="{E4A5AEC3-984A-D00E-0D00-6A22956057B6}"/>
                </a:ext>
              </a:extLst>
            </p:cNvPr>
            <p:cNvSpPr>
              <a:spLocks/>
            </p:cNvSpPr>
            <p:nvPr/>
          </p:nvSpPr>
          <p:spPr>
            <a:xfrm>
              <a:off x="779398" y="3033315"/>
              <a:ext cx="1853991" cy="338554"/>
            </a:xfrm>
            <a:prstGeom prst="rect">
              <a:avLst/>
            </a:prstGeom>
            <a:solidFill>
              <a:srgbClr val="8064A2">
                <a:lumMod val="40000"/>
                <a:lumOff val="60000"/>
              </a:srgbClr>
            </a:solidFill>
            <a:ln w="25400">
              <a:solidFill>
                <a:srgbClr val="000000"/>
              </a:solidFill>
            </a:ln>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dirty="0">
                  <a:ln>
                    <a:noFill/>
                  </a:ln>
                  <a:solidFill>
                    <a:srgbClr val="0432FF"/>
                  </a:solidFill>
                  <a:effectLst/>
                  <a:uLnTx/>
                  <a:uFillTx/>
                  <a:latin typeface="+mn-lt"/>
                  <a:ea typeface="+mn-ea"/>
                  <a:cs typeface="Arial" panose="020B0604020202020204" pitchFamily="34" charset="0"/>
                </a:rPr>
                <a:t>PC</a:t>
              </a:r>
              <a:endParaRPr kumimoji="0" lang="en-CN" sz="1600" b="1" i="0" u="none" strike="noStrike" kern="0" cap="none" spc="0" normalizeH="0" baseline="0" noProof="0" dirty="0">
                <a:ln>
                  <a:noFill/>
                </a:ln>
                <a:solidFill>
                  <a:srgbClr val="0432FF"/>
                </a:solidFill>
                <a:effectLst/>
                <a:uLnTx/>
                <a:uFillTx/>
                <a:latin typeface="+mn-lt"/>
                <a:ea typeface="+mn-ea"/>
              </a:endParaRPr>
            </a:p>
          </p:txBody>
        </p:sp>
        <p:sp>
          <p:nvSpPr>
            <p:cNvPr id="14" name="Freeform 31">
              <a:extLst>
                <a:ext uri="{FF2B5EF4-FFF2-40B4-BE49-F238E27FC236}">
                  <a16:creationId xmlns:a16="http://schemas.microsoft.com/office/drawing/2014/main" id="{D2466941-22C8-F4B3-0C79-8B846684C025}"/>
                </a:ext>
              </a:extLst>
            </p:cNvPr>
            <p:cNvSpPr/>
            <p:nvPr/>
          </p:nvSpPr>
          <p:spPr>
            <a:xfrm>
              <a:off x="3781322" y="963446"/>
              <a:ext cx="4790332" cy="3249973"/>
            </a:xfrm>
            <a:custGeom>
              <a:avLst/>
              <a:gdLst>
                <a:gd name="connsiteX0" fmla="*/ 0 w 5056094"/>
                <a:gd name="connsiteY0" fmla="*/ 32273 h 3195021"/>
                <a:gd name="connsiteX1" fmla="*/ 0 w 5056094"/>
                <a:gd name="connsiteY1" fmla="*/ 3195021 h 3195021"/>
                <a:gd name="connsiteX2" fmla="*/ 5056094 w 5056094"/>
                <a:gd name="connsiteY2" fmla="*/ 3195021 h 3195021"/>
                <a:gd name="connsiteX3" fmla="*/ 5056094 w 5056094"/>
                <a:gd name="connsiteY3" fmla="*/ 903642 h 3195021"/>
                <a:gd name="connsiteX4" fmla="*/ 3313355 w 5056094"/>
                <a:gd name="connsiteY4" fmla="*/ 903642 h 3195021"/>
                <a:gd name="connsiteX5" fmla="*/ 3313355 w 5056094"/>
                <a:gd name="connsiteY5" fmla="*/ 0 h 3195021"/>
                <a:gd name="connsiteX6" fmla="*/ 0 w 5056094"/>
                <a:gd name="connsiteY6" fmla="*/ 32273 h 3195021"/>
                <a:gd name="connsiteX0" fmla="*/ 0 w 5056094"/>
                <a:gd name="connsiteY0" fmla="*/ 32273 h 3195021"/>
                <a:gd name="connsiteX1" fmla="*/ 0 w 5056094"/>
                <a:gd name="connsiteY1" fmla="*/ 3195021 h 3195021"/>
                <a:gd name="connsiteX2" fmla="*/ 5056094 w 5056094"/>
                <a:gd name="connsiteY2" fmla="*/ 3195021 h 3195021"/>
                <a:gd name="connsiteX3" fmla="*/ 5056094 w 5056094"/>
                <a:gd name="connsiteY3" fmla="*/ 903642 h 3195021"/>
                <a:gd name="connsiteX4" fmla="*/ 2702513 w 5056094"/>
                <a:gd name="connsiteY4" fmla="*/ 914906 h 3195021"/>
                <a:gd name="connsiteX5" fmla="*/ 3313355 w 5056094"/>
                <a:gd name="connsiteY5" fmla="*/ 0 h 3195021"/>
                <a:gd name="connsiteX6" fmla="*/ 0 w 5056094"/>
                <a:gd name="connsiteY6" fmla="*/ 32273 h 3195021"/>
                <a:gd name="connsiteX0" fmla="*/ 0 w 5056094"/>
                <a:gd name="connsiteY0" fmla="*/ 9745 h 3172493"/>
                <a:gd name="connsiteX1" fmla="*/ 0 w 5056094"/>
                <a:gd name="connsiteY1" fmla="*/ 3172493 h 3172493"/>
                <a:gd name="connsiteX2" fmla="*/ 5056094 w 5056094"/>
                <a:gd name="connsiteY2" fmla="*/ 3172493 h 3172493"/>
                <a:gd name="connsiteX3" fmla="*/ 5056094 w 5056094"/>
                <a:gd name="connsiteY3" fmla="*/ 881114 h 3172493"/>
                <a:gd name="connsiteX4" fmla="*/ 2702513 w 5056094"/>
                <a:gd name="connsiteY4" fmla="*/ 892378 h 3172493"/>
                <a:gd name="connsiteX5" fmla="*/ 2690297 w 5056094"/>
                <a:gd name="connsiteY5" fmla="*/ 0 h 3172493"/>
                <a:gd name="connsiteX6" fmla="*/ 0 w 5056094"/>
                <a:gd name="connsiteY6" fmla="*/ 9745 h 3172493"/>
                <a:gd name="connsiteX0" fmla="*/ 0 w 5056094"/>
                <a:gd name="connsiteY0" fmla="*/ 9745 h 3172493"/>
                <a:gd name="connsiteX1" fmla="*/ 0 w 5056094"/>
                <a:gd name="connsiteY1" fmla="*/ 3172493 h 3172493"/>
                <a:gd name="connsiteX2" fmla="*/ 5056094 w 5056094"/>
                <a:gd name="connsiteY2" fmla="*/ 3172493 h 3172493"/>
                <a:gd name="connsiteX3" fmla="*/ 5056094 w 5056094"/>
                <a:gd name="connsiteY3" fmla="*/ 881114 h 3172493"/>
                <a:gd name="connsiteX4" fmla="*/ 2682546 w 5056094"/>
                <a:gd name="connsiteY4" fmla="*/ 892378 h 3172493"/>
                <a:gd name="connsiteX5" fmla="*/ 2690297 w 5056094"/>
                <a:gd name="connsiteY5" fmla="*/ 0 h 3172493"/>
                <a:gd name="connsiteX6" fmla="*/ 0 w 5056094"/>
                <a:gd name="connsiteY6" fmla="*/ 9745 h 3172493"/>
                <a:gd name="connsiteX0" fmla="*/ 0 w 5056094"/>
                <a:gd name="connsiteY0" fmla="*/ 0 h 3162748"/>
                <a:gd name="connsiteX1" fmla="*/ 0 w 5056094"/>
                <a:gd name="connsiteY1" fmla="*/ 3162748 h 3162748"/>
                <a:gd name="connsiteX2" fmla="*/ 5056094 w 5056094"/>
                <a:gd name="connsiteY2" fmla="*/ 3162748 h 3162748"/>
                <a:gd name="connsiteX3" fmla="*/ 5056094 w 5056094"/>
                <a:gd name="connsiteY3" fmla="*/ 871369 h 3162748"/>
                <a:gd name="connsiteX4" fmla="*/ 2682546 w 5056094"/>
                <a:gd name="connsiteY4" fmla="*/ 882633 h 3162748"/>
                <a:gd name="connsiteX5" fmla="*/ 2683641 w 5056094"/>
                <a:gd name="connsiteY5" fmla="*/ 2529 h 3162748"/>
                <a:gd name="connsiteX6" fmla="*/ 0 w 5056094"/>
                <a:gd name="connsiteY6" fmla="*/ 0 h 316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56094" h="3162748">
                  <a:moveTo>
                    <a:pt x="0" y="0"/>
                  </a:moveTo>
                  <a:lnTo>
                    <a:pt x="0" y="3162748"/>
                  </a:lnTo>
                  <a:lnTo>
                    <a:pt x="5056094" y="3162748"/>
                  </a:lnTo>
                  <a:lnTo>
                    <a:pt x="5056094" y="871369"/>
                  </a:lnTo>
                  <a:lnTo>
                    <a:pt x="2682546" y="882633"/>
                  </a:lnTo>
                  <a:cubicBezTo>
                    <a:pt x="2685130" y="585174"/>
                    <a:pt x="2681057" y="299988"/>
                    <a:pt x="2683641" y="2529"/>
                  </a:cubicBezTo>
                  <a:lnTo>
                    <a:pt x="0" y="0"/>
                  </a:lnTo>
                  <a:close/>
                </a:path>
              </a:pathLst>
            </a:custGeom>
            <a:solidFill>
              <a:srgbClr val="1F497D">
                <a:lumMod val="20000"/>
                <a:lumOff val="80000"/>
              </a:srgbClr>
            </a:solidFill>
            <a:ln w="25400" cap="flat" cmpd="sng" algn="ctr">
              <a:noFill/>
              <a:prstDash val="solid"/>
            </a:ln>
            <a:effectLst/>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CN" sz="1800" b="1" i="0" u="none" strike="noStrike" kern="0" cap="none" spc="0" normalizeH="0" baseline="0" noProof="0" dirty="0">
                <a:ln>
                  <a:noFill/>
                </a:ln>
                <a:solidFill>
                  <a:srgbClr val="000000"/>
                </a:solidFill>
                <a:effectLst/>
                <a:uLnTx/>
                <a:uFillTx/>
                <a:latin typeface="+mn-lt"/>
                <a:ea typeface="+mn-ea"/>
                <a:cs typeface="Arial" panose="020B0604020202020204" pitchFamily="34" charset="0"/>
              </a:endParaRPr>
            </a:p>
          </p:txBody>
        </p:sp>
        <p:cxnSp>
          <p:nvCxnSpPr>
            <p:cNvPr id="15" name="Straight Arrow Connector 35">
              <a:extLst>
                <a:ext uri="{FF2B5EF4-FFF2-40B4-BE49-F238E27FC236}">
                  <a16:creationId xmlns:a16="http://schemas.microsoft.com/office/drawing/2014/main" id="{6A1816D1-A548-6C8E-9393-438BEDCED994}"/>
                </a:ext>
              </a:extLst>
            </p:cNvPr>
            <p:cNvCxnSpPr>
              <a:cxnSpLocks/>
            </p:cNvCxnSpPr>
            <p:nvPr/>
          </p:nvCxnSpPr>
          <p:spPr>
            <a:xfrm>
              <a:off x="42221" y="3229464"/>
              <a:ext cx="728984" cy="0"/>
            </a:xfrm>
            <a:prstGeom prst="straightConnector1">
              <a:avLst/>
            </a:prstGeom>
            <a:noFill/>
            <a:ln w="25400" cap="rnd" cmpd="sng" algn="ctr">
              <a:solidFill>
                <a:srgbClr val="000000"/>
              </a:solidFill>
              <a:prstDash val="solid"/>
              <a:headEnd type="none" w="med" len="lg"/>
              <a:tailEnd type="triangle" w="med" len="lg"/>
            </a:ln>
            <a:effectLst/>
          </p:spPr>
        </p:cxnSp>
        <p:sp>
          <p:nvSpPr>
            <p:cNvPr id="16" name="Rectangle 29" descr="e">
              <a:extLst>
                <a:ext uri="{FF2B5EF4-FFF2-40B4-BE49-F238E27FC236}">
                  <a16:creationId xmlns:a16="http://schemas.microsoft.com/office/drawing/2014/main" id="{CFA65A84-D84F-C9A0-7F0B-D27CB1E106D8}"/>
                </a:ext>
              </a:extLst>
            </p:cNvPr>
            <p:cNvSpPr/>
            <p:nvPr/>
          </p:nvSpPr>
          <p:spPr>
            <a:xfrm>
              <a:off x="6984041" y="1076773"/>
              <a:ext cx="1314651" cy="678976"/>
            </a:xfrm>
            <a:prstGeom prst="rect">
              <a:avLst/>
            </a:prstGeom>
            <a:solidFill>
              <a:srgbClr val="8064A2">
                <a:lumMod val="40000"/>
                <a:lumOff val="60000"/>
              </a:srgbClr>
            </a:solidFill>
            <a:ln w="25400" cap="flat" cmpd="sng" algn="ctr">
              <a:solidFill>
                <a:srgbClr val="000000"/>
              </a:solidFill>
              <a:prstDash val="solid"/>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dirty="0">
                  <a:ln>
                    <a:noFill/>
                  </a:ln>
                  <a:solidFill>
                    <a:srgbClr val="000000"/>
                  </a:solidFill>
                  <a:effectLst/>
                  <a:uLnTx/>
                  <a:uFillTx/>
                  <a:latin typeface="+mn-lt"/>
                  <a:ea typeface="+mn-ea"/>
                  <a:cs typeface="Arial" panose="020B0604020202020204" pitchFamily="34" charset="0"/>
                </a:rPr>
                <a:t>数据存储</a:t>
              </a:r>
            </a:p>
          </p:txBody>
        </p:sp>
        <p:sp>
          <p:nvSpPr>
            <p:cNvPr id="17" name="Rectangle 29" descr="e">
              <a:extLst>
                <a:ext uri="{FF2B5EF4-FFF2-40B4-BE49-F238E27FC236}">
                  <a16:creationId xmlns:a16="http://schemas.microsoft.com/office/drawing/2014/main" id="{00BB22B4-6643-25CC-7E73-FB249C474872}"/>
                </a:ext>
              </a:extLst>
            </p:cNvPr>
            <p:cNvSpPr/>
            <p:nvPr/>
          </p:nvSpPr>
          <p:spPr>
            <a:xfrm>
              <a:off x="6984041" y="2939296"/>
              <a:ext cx="1314651" cy="454918"/>
            </a:xfrm>
            <a:prstGeom prst="rect">
              <a:avLst/>
            </a:prstGeom>
            <a:solidFill>
              <a:srgbClr val="FFFFFF"/>
            </a:solidFill>
            <a:ln w="25400" cap="flat" cmpd="sng" algn="ctr">
              <a:solidFill>
                <a:srgbClr val="000000"/>
              </a:solidFill>
              <a:prstDash val="solid"/>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dirty="0">
                  <a:ln>
                    <a:noFill/>
                  </a:ln>
                  <a:solidFill>
                    <a:srgbClr val="000000"/>
                  </a:solidFill>
                  <a:effectLst/>
                  <a:uLnTx/>
                  <a:uFillTx/>
                  <a:latin typeface="+mn-lt"/>
                  <a:ea typeface="+mn-ea"/>
                  <a:cs typeface="Arial" panose="020B0604020202020204" pitchFamily="34" charset="0"/>
                </a:rPr>
                <a:t>ALU</a:t>
              </a:r>
              <a:endParaRPr kumimoji="0" lang="zh-CN" altLang="en-US" sz="2000" b="1" i="0" u="none" strike="noStrike" kern="0" cap="none" spc="0" normalizeH="0" baseline="0" noProof="0" dirty="0">
                <a:ln>
                  <a:noFill/>
                </a:ln>
                <a:solidFill>
                  <a:srgbClr val="000000"/>
                </a:solidFill>
                <a:effectLst/>
                <a:uLnTx/>
                <a:uFillTx/>
                <a:latin typeface="+mn-lt"/>
                <a:ea typeface="+mn-ea"/>
                <a:cs typeface="Arial" panose="020B0604020202020204" pitchFamily="34" charset="0"/>
              </a:endParaRPr>
            </a:p>
          </p:txBody>
        </p:sp>
        <p:sp>
          <p:nvSpPr>
            <p:cNvPr id="18" name="矩形 22">
              <a:extLst>
                <a:ext uri="{FF2B5EF4-FFF2-40B4-BE49-F238E27FC236}">
                  <a16:creationId xmlns:a16="http://schemas.microsoft.com/office/drawing/2014/main" id="{6137F09E-4C7C-766B-C985-49E223BB661A}"/>
                </a:ext>
              </a:extLst>
            </p:cNvPr>
            <p:cNvSpPr/>
            <p:nvPr/>
          </p:nvSpPr>
          <p:spPr>
            <a:xfrm>
              <a:off x="2832293" y="1811460"/>
              <a:ext cx="1034668" cy="400110"/>
            </a:xfrm>
            <a:prstGeom prst="rect">
              <a:avLst/>
            </a:prstGeom>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dirty="0">
                  <a:ln>
                    <a:noFill/>
                  </a:ln>
                  <a:solidFill>
                    <a:srgbClr val="000000"/>
                  </a:solidFill>
                  <a:effectLst/>
                  <a:uLnTx/>
                  <a:uFillTx/>
                  <a:latin typeface="+mn-lt"/>
                  <a:ea typeface="+mn-ea"/>
                  <a:cs typeface="Arial" panose="020B0604020202020204" pitchFamily="34" charset="0"/>
                </a:rPr>
                <a:t>指令</a:t>
              </a:r>
            </a:p>
          </p:txBody>
        </p:sp>
        <p:cxnSp>
          <p:nvCxnSpPr>
            <p:cNvPr id="19" name="Straight Arrow Connector 35">
              <a:extLst>
                <a:ext uri="{FF2B5EF4-FFF2-40B4-BE49-F238E27FC236}">
                  <a16:creationId xmlns:a16="http://schemas.microsoft.com/office/drawing/2014/main" id="{20E7487D-BCA5-96B4-5560-B7F5D3180472}"/>
                </a:ext>
              </a:extLst>
            </p:cNvPr>
            <p:cNvCxnSpPr>
              <a:cxnSpLocks/>
            </p:cNvCxnSpPr>
            <p:nvPr/>
          </p:nvCxnSpPr>
          <p:spPr>
            <a:xfrm>
              <a:off x="5649680" y="2375145"/>
              <a:ext cx="1987256" cy="0"/>
            </a:xfrm>
            <a:prstGeom prst="straightConnector1">
              <a:avLst/>
            </a:prstGeom>
            <a:noFill/>
            <a:ln w="25400" cap="rnd" cmpd="sng" algn="ctr">
              <a:solidFill>
                <a:srgbClr val="000000"/>
              </a:solidFill>
              <a:prstDash val="solid"/>
              <a:headEnd type="none" w="med" len="med"/>
              <a:tailEnd type="triangle" w="med" len="med"/>
            </a:ln>
            <a:effectLst/>
          </p:spPr>
        </p:cxnSp>
        <p:cxnSp>
          <p:nvCxnSpPr>
            <p:cNvPr id="20" name="Straight Arrow Connector 35">
              <a:extLst>
                <a:ext uri="{FF2B5EF4-FFF2-40B4-BE49-F238E27FC236}">
                  <a16:creationId xmlns:a16="http://schemas.microsoft.com/office/drawing/2014/main" id="{1F138B47-5B38-0195-DD5A-413F43096F3A}"/>
                </a:ext>
              </a:extLst>
            </p:cNvPr>
            <p:cNvCxnSpPr>
              <a:cxnSpLocks/>
            </p:cNvCxnSpPr>
            <p:nvPr/>
          </p:nvCxnSpPr>
          <p:spPr>
            <a:xfrm>
              <a:off x="2902453" y="2235488"/>
              <a:ext cx="1044092" cy="0"/>
            </a:xfrm>
            <a:prstGeom prst="straightConnector1">
              <a:avLst/>
            </a:prstGeom>
            <a:noFill/>
            <a:ln w="25400" cap="rnd" cmpd="sng" algn="ctr">
              <a:solidFill>
                <a:srgbClr val="000000"/>
              </a:solidFill>
              <a:prstDash val="solid"/>
              <a:headEnd type="none" w="med" len="lg"/>
              <a:tailEnd type="triangle" w="med" len="lg"/>
            </a:ln>
            <a:effectLst/>
          </p:spPr>
        </p:cxnSp>
        <p:sp>
          <p:nvSpPr>
            <p:cNvPr id="21" name="矩形 22">
              <a:extLst>
                <a:ext uri="{FF2B5EF4-FFF2-40B4-BE49-F238E27FC236}">
                  <a16:creationId xmlns:a16="http://schemas.microsoft.com/office/drawing/2014/main" id="{8358E63D-8E3A-2C58-6F56-764FDA36F654}"/>
                </a:ext>
              </a:extLst>
            </p:cNvPr>
            <p:cNvSpPr/>
            <p:nvPr/>
          </p:nvSpPr>
          <p:spPr>
            <a:xfrm>
              <a:off x="-140194" y="2855965"/>
              <a:ext cx="985502" cy="400110"/>
            </a:xfrm>
            <a:prstGeom prst="rect">
              <a:avLst/>
            </a:prstGeom>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dirty="0">
                  <a:ln>
                    <a:noFill/>
                  </a:ln>
                  <a:solidFill>
                    <a:srgbClr val="000000"/>
                  </a:solidFill>
                  <a:effectLst/>
                  <a:uLnTx/>
                  <a:uFillTx/>
                  <a:latin typeface="+mn-lt"/>
                  <a:ea typeface="+mn-ea"/>
                  <a:cs typeface="Arial" panose="020B0604020202020204" pitchFamily="34" charset="0"/>
                </a:rPr>
                <a:t>时钟</a:t>
              </a:r>
            </a:p>
          </p:txBody>
        </p:sp>
        <p:cxnSp>
          <p:nvCxnSpPr>
            <p:cNvPr id="22" name="Straight Connector 47">
              <a:extLst>
                <a:ext uri="{FF2B5EF4-FFF2-40B4-BE49-F238E27FC236}">
                  <a16:creationId xmlns:a16="http://schemas.microsoft.com/office/drawing/2014/main" id="{CA285005-A0DD-7492-38D1-D652CE91A31B}"/>
                </a:ext>
              </a:extLst>
            </p:cNvPr>
            <p:cNvCxnSpPr>
              <a:cxnSpLocks/>
            </p:cNvCxnSpPr>
            <p:nvPr/>
          </p:nvCxnSpPr>
          <p:spPr>
            <a:xfrm>
              <a:off x="7641367" y="3403738"/>
              <a:ext cx="0" cy="573453"/>
            </a:xfrm>
            <a:prstGeom prst="line">
              <a:avLst/>
            </a:prstGeom>
            <a:noFill/>
            <a:ln w="25400" cap="rnd" cmpd="sng" algn="ctr">
              <a:solidFill>
                <a:srgbClr val="000000"/>
              </a:solidFill>
              <a:prstDash val="solid"/>
            </a:ln>
            <a:effectLst/>
          </p:spPr>
        </p:cxnSp>
        <p:sp>
          <p:nvSpPr>
            <p:cNvPr id="23" name="矩形 22">
              <a:extLst>
                <a:ext uri="{FF2B5EF4-FFF2-40B4-BE49-F238E27FC236}">
                  <a16:creationId xmlns:a16="http://schemas.microsoft.com/office/drawing/2014/main" id="{F47C902C-629C-2D78-CB44-FCEE4FA94F1A}"/>
                </a:ext>
              </a:extLst>
            </p:cNvPr>
            <p:cNvSpPr/>
            <p:nvPr/>
          </p:nvSpPr>
          <p:spPr>
            <a:xfrm>
              <a:off x="8215384" y="1174250"/>
              <a:ext cx="985502" cy="400110"/>
            </a:xfrm>
            <a:prstGeom prst="rect">
              <a:avLst/>
            </a:prstGeom>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dirty="0">
                  <a:ln>
                    <a:noFill/>
                  </a:ln>
                  <a:solidFill>
                    <a:srgbClr val="000000"/>
                  </a:solidFill>
                  <a:effectLst/>
                  <a:uLnTx/>
                  <a:uFillTx/>
                  <a:latin typeface="+mn-lt"/>
                  <a:ea typeface="+mn-ea"/>
                  <a:cs typeface="Arial" panose="020B0604020202020204" pitchFamily="34" charset="0"/>
                </a:rPr>
                <a:t>时钟</a:t>
              </a:r>
            </a:p>
          </p:txBody>
        </p:sp>
        <p:cxnSp>
          <p:nvCxnSpPr>
            <p:cNvPr id="24" name="Straight Arrow Connector 35">
              <a:extLst>
                <a:ext uri="{FF2B5EF4-FFF2-40B4-BE49-F238E27FC236}">
                  <a16:creationId xmlns:a16="http://schemas.microsoft.com/office/drawing/2014/main" id="{62993F92-5F0D-1948-2F69-DAE388297141}"/>
                </a:ext>
              </a:extLst>
            </p:cNvPr>
            <p:cNvCxnSpPr>
              <a:cxnSpLocks/>
            </p:cNvCxnSpPr>
            <p:nvPr/>
          </p:nvCxnSpPr>
          <p:spPr>
            <a:xfrm flipH="1">
              <a:off x="8298692" y="1578429"/>
              <a:ext cx="700178" cy="0"/>
            </a:xfrm>
            <a:prstGeom prst="straightConnector1">
              <a:avLst/>
            </a:prstGeom>
            <a:noFill/>
            <a:ln w="25400" cap="rnd" cmpd="sng" algn="ctr">
              <a:solidFill>
                <a:srgbClr val="000000"/>
              </a:solidFill>
              <a:prstDash val="solid"/>
              <a:headEnd type="none" w="med" len="lg"/>
              <a:tailEnd type="triangle" w="med" len="lg"/>
            </a:ln>
            <a:effectLst/>
          </p:spPr>
        </p:cxnSp>
        <p:sp>
          <p:nvSpPr>
            <p:cNvPr id="25" name="矩形 22">
              <a:extLst>
                <a:ext uri="{FF2B5EF4-FFF2-40B4-BE49-F238E27FC236}">
                  <a16:creationId xmlns:a16="http://schemas.microsoft.com/office/drawing/2014/main" id="{9B64B65B-75E7-67D7-5C90-B0DA69254DCD}"/>
                </a:ext>
              </a:extLst>
            </p:cNvPr>
            <p:cNvSpPr/>
            <p:nvPr/>
          </p:nvSpPr>
          <p:spPr>
            <a:xfrm>
              <a:off x="5504504" y="1871801"/>
              <a:ext cx="1350428" cy="961289"/>
            </a:xfrm>
            <a:prstGeom prst="rect">
              <a:avLst/>
            </a:prstGeom>
          </p:spPr>
          <p:txBody>
            <a:bodyPr wrap="square">
              <a:spAutoFit/>
            </a:bodyPr>
            <a:lstStyle/>
            <a:p>
              <a:pPr marL="0" marR="0" lvl="0" indent="0" algn="ctr" defTabSz="914400" eaLnBrk="1" fontAlgn="auto" latinLnBrk="0" hangingPunct="1">
                <a:lnSpc>
                  <a:spcPct val="150000"/>
                </a:lnSpc>
                <a:spcBef>
                  <a:spcPts val="0"/>
                </a:spcBef>
                <a:spcAft>
                  <a:spcPts val="0"/>
                </a:spcAft>
                <a:buClrTx/>
                <a:buSzTx/>
                <a:buFontTx/>
                <a:buNone/>
                <a:tabLst/>
                <a:defRPr/>
              </a:pPr>
              <a:r>
                <a:rPr kumimoji="0" lang="zh-CN" altLang="en-US" sz="2000" b="1" i="0" u="none" strike="noStrike" kern="0" cap="none" spc="0" normalizeH="0" baseline="0" noProof="0" dirty="0">
                  <a:ln>
                    <a:noFill/>
                  </a:ln>
                  <a:solidFill>
                    <a:srgbClr val="000000"/>
                  </a:solidFill>
                  <a:effectLst/>
                  <a:uLnTx/>
                  <a:uFillTx/>
                  <a:latin typeface="+mn-lt"/>
                  <a:ea typeface="+mn-ea"/>
                  <a:cs typeface="Arial" panose="020B0604020202020204" pitchFamily="34" charset="0"/>
                </a:rPr>
                <a:t>控制信号</a:t>
              </a:r>
              <a:r>
                <a:rPr kumimoji="0" lang="en-US" altLang="zh-CN" sz="2000" b="1" i="0" u="none" strike="noStrike" kern="0" cap="none" spc="0" normalizeH="0" baseline="0" noProof="0" dirty="0">
                  <a:ln>
                    <a:noFill/>
                  </a:ln>
                  <a:solidFill>
                    <a:srgbClr val="000000"/>
                  </a:solidFill>
                  <a:effectLst/>
                  <a:uLnTx/>
                  <a:uFillTx/>
                  <a:latin typeface="+mn-lt"/>
                  <a:ea typeface="+mn-ea"/>
                  <a:cs typeface="Arial" panose="020B0604020202020204" pitchFamily="34" charset="0"/>
                </a:rPr>
                <a:t>&amp;</a:t>
              </a:r>
              <a:r>
                <a:rPr kumimoji="0" lang="zh-CN" altLang="en-US" sz="2000" b="1" i="0" u="none" strike="noStrike" kern="0" cap="none" spc="0" normalizeH="0" baseline="0" noProof="0" dirty="0">
                  <a:ln>
                    <a:noFill/>
                  </a:ln>
                  <a:solidFill>
                    <a:srgbClr val="000000"/>
                  </a:solidFill>
                  <a:effectLst/>
                  <a:uLnTx/>
                  <a:uFillTx/>
                  <a:latin typeface="+mn-lt"/>
                  <a:ea typeface="+mn-ea"/>
                  <a:cs typeface="Arial" panose="020B0604020202020204" pitchFamily="34" charset="0"/>
                </a:rPr>
                <a:t>数据</a:t>
              </a:r>
            </a:p>
          </p:txBody>
        </p:sp>
        <p:cxnSp>
          <p:nvCxnSpPr>
            <p:cNvPr id="26" name="Straight Connector 106">
              <a:extLst>
                <a:ext uri="{FF2B5EF4-FFF2-40B4-BE49-F238E27FC236}">
                  <a16:creationId xmlns:a16="http://schemas.microsoft.com/office/drawing/2014/main" id="{C12F05A2-31AE-4D9C-4C7A-FE900AA163DB}"/>
                </a:ext>
              </a:extLst>
            </p:cNvPr>
            <p:cNvCxnSpPr>
              <a:cxnSpLocks/>
            </p:cNvCxnSpPr>
            <p:nvPr/>
          </p:nvCxnSpPr>
          <p:spPr>
            <a:xfrm flipH="1">
              <a:off x="1637637" y="3967887"/>
              <a:ext cx="5999299" cy="0"/>
            </a:xfrm>
            <a:prstGeom prst="line">
              <a:avLst/>
            </a:prstGeom>
            <a:noFill/>
            <a:ln w="28575" cap="rnd" cmpd="sng" algn="ctr">
              <a:solidFill>
                <a:srgbClr val="000000"/>
              </a:solidFill>
              <a:prstDash val="solid"/>
            </a:ln>
            <a:effectLst/>
          </p:spPr>
        </p:cxnSp>
        <p:sp>
          <p:nvSpPr>
            <p:cNvPr id="27" name="Rectangle 29" descr="e">
              <a:extLst>
                <a:ext uri="{FF2B5EF4-FFF2-40B4-BE49-F238E27FC236}">
                  <a16:creationId xmlns:a16="http://schemas.microsoft.com/office/drawing/2014/main" id="{4979B5D9-49EC-B6A6-65AC-DBE2CDF47A94}"/>
                </a:ext>
              </a:extLst>
            </p:cNvPr>
            <p:cNvSpPr/>
            <p:nvPr/>
          </p:nvSpPr>
          <p:spPr>
            <a:xfrm>
              <a:off x="4602826" y="3829010"/>
              <a:ext cx="684330" cy="274064"/>
            </a:xfrm>
            <a:prstGeom prst="rect">
              <a:avLst/>
            </a:prstGeom>
            <a:solidFill>
              <a:srgbClr val="FFFFFF"/>
            </a:solidFill>
            <a:ln w="25400" cap="flat" cmpd="sng" algn="ctr">
              <a:solidFill>
                <a:srgbClr val="000000"/>
              </a:solidFill>
              <a:prstDash val="solid"/>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dirty="0">
                  <a:ln>
                    <a:noFill/>
                  </a:ln>
                  <a:solidFill>
                    <a:srgbClr val="000000"/>
                  </a:solidFill>
                  <a:effectLst/>
                  <a:uLnTx/>
                  <a:uFillTx/>
                  <a:latin typeface="+mn-lt"/>
                  <a:ea typeface="+mn-ea"/>
                  <a:cs typeface="Arial" panose="020B0604020202020204" pitchFamily="34" charset="0"/>
                </a:rPr>
                <a:t>MUX</a:t>
              </a:r>
              <a:endParaRPr kumimoji="0" lang="zh-CN" altLang="en-US" sz="1600" b="1" i="0" u="none" strike="noStrike" kern="0" cap="none" spc="0" normalizeH="0" baseline="0" noProof="0" dirty="0">
                <a:ln>
                  <a:noFill/>
                </a:ln>
                <a:solidFill>
                  <a:srgbClr val="000000"/>
                </a:solidFill>
                <a:effectLst/>
                <a:uLnTx/>
                <a:uFillTx/>
                <a:latin typeface="+mn-lt"/>
                <a:ea typeface="+mn-ea"/>
                <a:cs typeface="Arial" panose="020B0604020202020204" pitchFamily="34" charset="0"/>
              </a:endParaRPr>
            </a:p>
          </p:txBody>
        </p:sp>
        <p:cxnSp>
          <p:nvCxnSpPr>
            <p:cNvPr id="28" name="Straight Arrow Connector 35">
              <a:extLst>
                <a:ext uri="{FF2B5EF4-FFF2-40B4-BE49-F238E27FC236}">
                  <a16:creationId xmlns:a16="http://schemas.microsoft.com/office/drawing/2014/main" id="{ACCEF690-6266-A1F3-6B51-EF58B5AEA9B7}"/>
                </a:ext>
              </a:extLst>
            </p:cNvPr>
            <p:cNvCxnSpPr>
              <a:cxnSpLocks/>
            </p:cNvCxnSpPr>
            <p:nvPr/>
          </p:nvCxnSpPr>
          <p:spPr>
            <a:xfrm>
              <a:off x="4925770" y="3394205"/>
              <a:ext cx="0" cy="434805"/>
            </a:xfrm>
            <a:prstGeom prst="straightConnector1">
              <a:avLst/>
            </a:prstGeom>
            <a:noFill/>
            <a:ln w="25400" cap="rnd" cmpd="sng" algn="ctr">
              <a:solidFill>
                <a:srgbClr val="000000"/>
              </a:solidFill>
              <a:prstDash val="solid"/>
              <a:headEnd type="none" w="med" len="med"/>
              <a:tailEnd type="triangle" w="med" len="med"/>
            </a:ln>
            <a:effectLst/>
          </p:spPr>
        </p:cxnSp>
        <p:cxnSp>
          <p:nvCxnSpPr>
            <p:cNvPr id="29" name="Straight Connector 78">
              <a:extLst>
                <a:ext uri="{FF2B5EF4-FFF2-40B4-BE49-F238E27FC236}">
                  <a16:creationId xmlns:a16="http://schemas.microsoft.com/office/drawing/2014/main" id="{53348905-A993-5C24-30ED-B5805798513F}"/>
                </a:ext>
              </a:extLst>
            </p:cNvPr>
            <p:cNvCxnSpPr>
              <a:cxnSpLocks/>
            </p:cNvCxnSpPr>
            <p:nvPr/>
          </p:nvCxnSpPr>
          <p:spPr>
            <a:xfrm>
              <a:off x="1637637" y="3358731"/>
              <a:ext cx="0" cy="608936"/>
            </a:xfrm>
            <a:prstGeom prst="line">
              <a:avLst/>
            </a:prstGeom>
            <a:noFill/>
            <a:ln w="25400" cap="rnd" cmpd="sng" algn="ctr">
              <a:solidFill>
                <a:srgbClr val="000000"/>
              </a:solidFill>
              <a:prstDash val="solid"/>
              <a:headEnd type="triangle" w="med" len="lg"/>
            </a:ln>
            <a:effectLst/>
          </p:spPr>
        </p:cxnSp>
        <p:sp>
          <p:nvSpPr>
            <p:cNvPr id="30" name="矩形 22">
              <a:extLst>
                <a:ext uri="{FF2B5EF4-FFF2-40B4-BE49-F238E27FC236}">
                  <a16:creationId xmlns:a16="http://schemas.microsoft.com/office/drawing/2014/main" id="{F3A9A6F7-4B70-E862-0922-60BC54221080}"/>
                </a:ext>
              </a:extLst>
            </p:cNvPr>
            <p:cNvSpPr/>
            <p:nvPr/>
          </p:nvSpPr>
          <p:spPr>
            <a:xfrm>
              <a:off x="1596300" y="3610855"/>
              <a:ext cx="2053693" cy="369332"/>
            </a:xfrm>
            <a:prstGeom prst="rect">
              <a:avLst/>
            </a:prstGeom>
          </p:spPr>
          <p:txBody>
            <a:bodyPr wrap="square"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srgbClr val="000000"/>
                  </a:solidFill>
                  <a:effectLst/>
                  <a:uLnTx/>
                  <a:uFillTx/>
                  <a:latin typeface="+mn-lt"/>
                  <a:ea typeface="+mn-ea"/>
                  <a:cs typeface="Arial" panose="020B0604020202020204" pitchFamily="34" charset="0"/>
                </a:rPr>
                <a:t>下一条指令地址</a:t>
              </a:r>
            </a:p>
          </p:txBody>
        </p:sp>
        <p:sp>
          <p:nvSpPr>
            <p:cNvPr id="33" name="矩形 22">
              <a:extLst>
                <a:ext uri="{FF2B5EF4-FFF2-40B4-BE49-F238E27FC236}">
                  <a16:creationId xmlns:a16="http://schemas.microsoft.com/office/drawing/2014/main" id="{2A21C3E7-EDF7-F77C-F40A-C41C2E5E9271}"/>
                </a:ext>
              </a:extLst>
            </p:cNvPr>
            <p:cNvSpPr/>
            <p:nvPr/>
          </p:nvSpPr>
          <p:spPr>
            <a:xfrm>
              <a:off x="5377895" y="3610855"/>
              <a:ext cx="2053693" cy="369332"/>
            </a:xfrm>
            <a:prstGeom prst="rect">
              <a:avLst/>
            </a:prstGeom>
          </p:spPr>
          <p:txBody>
            <a:bodyPr wrap="square"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srgbClr val="000000"/>
                  </a:solidFill>
                  <a:effectLst/>
                  <a:uLnTx/>
                  <a:uFillTx/>
                  <a:latin typeface="+mn-lt"/>
                  <a:ea typeface="+mn-ea"/>
                  <a:cs typeface="Arial" panose="020B0604020202020204" pitchFamily="34" charset="0"/>
                </a:rPr>
                <a:t>下一条指令地址</a:t>
              </a:r>
              <a:endParaRPr kumimoji="0" lang="en-US" altLang="zh-CN" sz="1800" b="1" i="0" u="none" strike="noStrike" kern="0" cap="none" spc="0" normalizeH="0" baseline="0" noProof="0" dirty="0">
                <a:ln>
                  <a:noFill/>
                </a:ln>
                <a:solidFill>
                  <a:srgbClr val="000000"/>
                </a:solidFill>
                <a:effectLst/>
                <a:uLnTx/>
                <a:uFillTx/>
                <a:latin typeface="+mn-lt"/>
                <a:ea typeface="+mn-ea"/>
                <a:cs typeface="Arial" panose="020B0604020202020204" pitchFamily="34" charset="0"/>
              </a:endParaRPr>
            </a:p>
          </p:txBody>
        </p:sp>
        <p:cxnSp>
          <p:nvCxnSpPr>
            <p:cNvPr id="36" name="Straight Arrow Connector 35">
              <a:extLst>
                <a:ext uri="{FF2B5EF4-FFF2-40B4-BE49-F238E27FC236}">
                  <a16:creationId xmlns:a16="http://schemas.microsoft.com/office/drawing/2014/main" id="{5CB6DC2A-D63A-FDC2-B745-4A0FD644B317}"/>
                </a:ext>
              </a:extLst>
            </p:cNvPr>
            <p:cNvCxnSpPr>
              <a:cxnSpLocks/>
              <a:stCxn id="16" idx="2"/>
            </p:cNvCxnSpPr>
            <p:nvPr/>
          </p:nvCxnSpPr>
          <p:spPr>
            <a:xfrm>
              <a:off x="7641367" y="1755749"/>
              <a:ext cx="0" cy="1183545"/>
            </a:xfrm>
            <a:prstGeom prst="straightConnector1">
              <a:avLst/>
            </a:prstGeom>
            <a:noFill/>
            <a:ln w="25400" cap="rnd" cmpd="sng" algn="ctr">
              <a:solidFill>
                <a:srgbClr val="000000"/>
              </a:solidFill>
              <a:prstDash val="solid"/>
              <a:headEnd type="triangle" w="med" len="lg"/>
              <a:tailEnd type="triangle" w="med" len="lg"/>
            </a:ln>
            <a:effectLst/>
          </p:spPr>
        </p:cxnSp>
        <p:sp>
          <p:nvSpPr>
            <p:cNvPr id="52" name="Rectangle 29" descr="e">
              <a:extLst>
                <a:ext uri="{FF2B5EF4-FFF2-40B4-BE49-F238E27FC236}">
                  <a16:creationId xmlns:a16="http://schemas.microsoft.com/office/drawing/2014/main" id="{D781738F-F87E-A85B-337D-2E101BAF4015}"/>
                </a:ext>
              </a:extLst>
            </p:cNvPr>
            <p:cNvSpPr>
              <a:spLocks/>
            </p:cNvSpPr>
            <p:nvPr/>
          </p:nvSpPr>
          <p:spPr>
            <a:xfrm>
              <a:off x="2634930" y="1070496"/>
              <a:ext cx="267523" cy="2301372"/>
            </a:xfrm>
            <a:prstGeom prst="rect">
              <a:avLst/>
            </a:prstGeom>
            <a:noFill/>
            <a:ln w="25400" cap="flat" cmpd="sng" algn="ctr">
              <a:solidFill>
                <a:srgbClr val="000000"/>
              </a:solidFill>
              <a:prstDash val="solid"/>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solidFill>
                    <a:srgbClr val="000000"/>
                  </a:solidFill>
                  <a:effectLst/>
                  <a:uLnTx/>
                  <a:uFillTx/>
                  <a:latin typeface="+mn-lt"/>
                  <a:ea typeface="+mn-ea"/>
                  <a:cs typeface="Arial" panose="020B0604020202020204" pitchFamily="34" charset="0"/>
                </a:rPr>
                <a:t>接口</a:t>
              </a:r>
            </a:p>
          </p:txBody>
        </p:sp>
        <p:sp>
          <p:nvSpPr>
            <p:cNvPr id="54" name="Rectangle 29" descr="e">
              <a:extLst>
                <a:ext uri="{FF2B5EF4-FFF2-40B4-BE49-F238E27FC236}">
                  <a16:creationId xmlns:a16="http://schemas.microsoft.com/office/drawing/2014/main" id="{888AC4FD-C4EC-2DC5-B11E-4C36440C939D}"/>
                </a:ext>
              </a:extLst>
            </p:cNvPr>
            <p:cNvSpPr/>
            <p:nvPr/>
          </p:nvSpPr>
          <p:spPr>
            <a:xfrm>
              <a:off x="780939" y="1070497"/>
              <a:ext cx="1853991" cy="1962818"/>
            </a:xfrm>
            <a:prstGeom prst="rect">
              <a:avLst/>
            </a:prstGeom>
            <a:solidFill>
              <a:srgbClr val="FFFFFF"/>
            </a:solidFill>
            <a:ln w="25400" cap="flat" cmpd="sng" algn="ctr">
              <a:solidFill>
                <a:srgbClr val="000000"/>
              </a:solidFill>
              <a:prstDash val="solid"/>
            </a:ln>
            <a:effectLst/>
          </p:spPr>
          <p:txBody>
            <a:bodyPr wrap="square" rtlCol="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zh-CN" sz="2000" b="1" i="0" u="none" strike="noStrike" kern="0" cap="none" spc="0" normalizeH="0" baseline="0" noProof="0" dirty="0">
                <a:ln>
                  <a:noFill/>
                </a:ln>
                <a:solidFill>
                  <a:srgbClr val="000000"/>
                </a:solidFill>
                <a:effectLst/>
                <a:uLnTx/>
                <a:uFillTx/>
                <a:latin typeface="+mn-lt"/>
                <a:ea typeface="+mn-ea"/>
                <a:cs typeface="Arial" panose="020B0604020202020204"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800" b="1" i="0" u="none" strike="noStrike" kern="0" cap="none" spc="0" normalizeH="0" baseline="0" noProof="0" dirty="0">
                  <a:ln>
                    <a:noFill/>
                  </a:ln>
                  <a:solidFill>
                    <a:srgbClr val="000000"/>
                  </a:solidFill>
                  <a:effectLst/>
                  <a:uLnTx/>
                  <a:uFillTx/>
                  <a:latin typeface="+mn-lt"/>
                  <a:ea typeface="+mn-ea"/>
                  <a:cs typeface="Arial" panose="020B0604020202020204" pitchFamily="34" charset="0"/>
                </a:rPr>
                <a:t>指令存储</a:t>
              </a:r>
            </a:p>
          </p:txBody>
        </p:sp>
        <p:sp>
          <p:nvSpPr>
            <p:cNvPr id="55" name="Rectangle 29" descr="e">
              <a:extLst>
                <a:ext uri="{FF2B5EF4-FFF2-40B4-BE49-F238E27FC236}">
                  <a16:creationId xmlns:a16="http://schemas.microsoft.com/office/drawing/2014/main" id="{A11BA5AC-0C3D-5CC6-6D76-1B324173F383}"/>
                </a:ext>
              </a:extLst>
            </p:cNvPr>
            <p:cNvSpPr/>
            <p:nvPr/>
          </p:nvSpPr>
          <p:spPr>
            <a:xfrm>
              <a:off x="3952600" y="1076772"/>
              <a:ext cx="1691024" cy="2317433"/>
            </a:xfrm>
            <a:prstGeom prst="rect">
              <a:avLst/>
            </a:prstGeom>
            <a:solidFill>
              <a:srgbClr val="FFFFFF"/>
            </a:solidFill>
            <a:ln w="25400" cap="flat" cmpd="sng" algn="ctr">
              <a:solidFill>
                <a:srgbClr val="000000"/>
              </a:solidFill>
              <a:prstDash val="solid"/>
            </a:ln>
            <a:effectLst/>
          </p:spPr>
          <p:txBody>
            <a:bodyPr wrap="square" rtlCol="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zh-CN" sz="2000" b="1" i="0" u="none" strike="noStrike" kern="0" cap="none" spc="0" normalizeH="0" baseline="0" noProof="0" dirty="0">
                <a:ln>
                  <a:noFill/>
                </a:ln>
                <a:solidFill>
                  <a:srgbClr val="000000"/>
                </a:solidFill>
                <a:effectLst/>
                <a:uLnTx/>
                <a:uFillTx/>
                <a:latin typeface="+mn-lt"/>
                <a:ea typeface="+mn-ea"/>
                <a:cs typeface="Arial" panose="020B0604020202020204"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800" b="1" i="0" u="none" strike="noStrike" kern="0" cap="none" spc="0" normalizeH="0" baseline="0" noProof="0" dirty="0">
                  <a:ln>
                    <a:noFill/>
                  </a:ln>
                  <a:solidFill>
                    <a:srgbClr val="000000"/>
                  </a:solidFill>
                  <a:effectLst/>
                  <a:uLnTx/>
                  <a:uFillTx/>
                  <a:latin typeface="+mn-lt"/>
                  <a:ea typeface="+mn-ea"/>
                  <a:cs typeface="Arial" panose="020B0604020202020204" pitchFamily="34" charset="0"/>
                </a:rPr>
                <a:t>控制模块</a:t>
              </a:r>
            </a:p>
          </p:txBody>
        </p:sp>
        <p:sp>
          <p:nvSpPr>
            <p:cNvPr id="57" name="矩形 10">
              <a:extLst>
                <a:ext uri="{FF2B5EF4-FFF2-40B4-BE49-F238E27FC236}">
                  <a16:creationId xmlns:a16="http://schemas.microsoft.com/office/drawing/2014/main" id="{06A202E0-33EA-E91E-BE86-35432A44AF1D}"/>
                </a:ext>
              </a:extLst>
            </p:cNvPr>
            <p:cNvSpPr/>
            <p:nvPr/>
          </p:nvSpPr>
          <p:spPr>
            <a:xfrm>
              <a:off x="782680" y="2343484"/>
              <a:ext cx="1842445" cy="584775"/>
            </a:xfrm>
            <a:prstGeom prst="rect">
              <a:avLst/>
            </a:prstGeom>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solidFill>
                    <a:srgbClr val="000000"/>
                  </a:solidFill>
                  <a:effectLst/>
                  <a:uLnTx/>
                  <a:uFillTx/>
                  <a:latin typeface="+mn-lt"/>
                  <a:ea typeface="+mn-ea"/>
                  <a:cs typeface="Arial" panose="020B0604020202020204" pitchFamily="34" charset="0"/>
                </a:rPr>
                <a:t>所有指令按地址顺序存储</a:t>
              </a:r>
            </a:p>
          </p:txBody>
        </p:sp>
        <p:sp>
          <p:nvSpPr>
            <p:cNvPr id="58" name="矩形 10">
              <a:extLst>
                <a:ext uri="{FF2B5EF4-FFF2-40B4-BE49-F238E27FC236}">
                  <a16:creationId xmlns:a16="http://schemas.microsoft.com/office/drawing/2014/main" id="{88210046-DD3B-CB87-008E-1CFA63134388}"/>
                </a:ext>
              </a:extLst>
            </p:cNvPr>
            <p:cNvSpPr/>
            <p:nvPr/>
          </p:nvSpPr>
          <p:spPr>
            <a:xfrm>
              <a:off x="3946544" y="2501591"/>
              <a:ext cx="1691025" cy="584775"/>
            </a:xfrm>
            <a:prstGeom prst="rect">
              <a:avLst/>
            </a:prstGeom>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solidFill>
                    <a:srgbClr val="000000">
                      <a:lumMod val="50000"/>
                      <a:lumOff val="50000"/>
                    </a:srgbClr>
                  </a:solidFill>
                  <a:effectLst/>
                  <a:uLnTx/>
                  <a:uFillTx/>
                  <a:latin typeface="+mn-lt"/>
                  <a:ea typeface="+mn-ea"/>
                  <a:cs typeface="Arial" panose="020B0604020202020204" pitchFamily="34" charset="0"/>
                </a:rPr>
                <a:t>指令解码</a:t>
              </a:r>
              <a:endParaRPr kumimoji="0" lang="en-US" altLang="zh-CN" sz="1600" b="1" i="0" u="none" strike="noStrike" kern="0" cap="none" spc="0" normalizeH="0" baseline="0" noProof="0" dirty="0">
                <a:ln>
                  <a:noFill/>
                </a:ln>
                <a:solidFill>
                  <a:srgbClr val="000000">
                    <a:lumMod val="50000"/>
                    <a:lumOff val="50000"/>
                  </a:srgbClr>
                </a:solidFill>
                <a:effectLst/>
                <a:uLnTx/>
                <a:uFillTx/>
                <a:latin typeface="+mn-lt"/>
                <a:ea typeface="+mn-ea"/>
                <a:cs typeface="Arial" panose="020B0604020202020204"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dirty="0">
                  <a:ln>
                    <a:noFill/>
                  </a:ln>
                  <a:solidFill>
                    <a:srgbClr val="000000">
                      <a:lumMod val="50000"/>
                      <a:lumOff val="50000"/>
                    </a:srgbClr>
                  </a:solidFill>
                  <a:effectLst/>
                  <a:uLnTx/>
                  <a:uFillTx/>
                  <a:latin typeface="+mn-lt"/>
                  <a:ea typeface="+mn-ea"/>
                  <a:cs typeface="Arial" panose="020B0604020202020204" pitchFamily="34" charset="0"/>
                </a:rPr>
                <a:t>&amp; </a:t>
              </a:r>
              <a:r>
                <a:rPr kumimoji="0" lang="zh-CN" altLang="en-US" sz="1600" b="1" i="0" u="none" strike="noStrike" kern="0" cap="none" spc="0" normalizeH="0" baseline="0" noProof="0" dirty="0">
                  <a:ln>
                    <a:noFill/>
                  </a:ln>
                  <a:solidFill>
                    <a:srgbClr val="000000">
                      <a:lumMod val="50000"/>
                      <a:lumOff val="50000"/>
                    </a:srgbClr>
                  </a:solidFill>
                  <a:effectLst/>
                  <a:uLnTx/>
                  <a:uFillTx/>
                  <a:latin typeface="+mn-lt"/>
                  <a:ea typeface="+mn-ea"/>
                  <a:cs typeface="Arial" panose="020B0604020202020204" pitchFamily="34" charset="0"/>
                </a:rPr>
                <a:t>控制信号生成</a:t>
              </a:r>
            </a:p>
          </p:txBody>
        </p:sp>
      </p:grpSp>
      <p:sp>
        <p:nvSpPr>
          <p:cNvPr id="3" name="Content Placeholder 2">
            <a:extLst>
              <a:ext uri="{FF2B5EF4-FFF2-40B4-BE49-F238E27FC236}">
                <a16:creationId xmlns:a16="http://schemas.microsoft.com/office/drawing/2014/main" id="{BE60D1BB-00CD-9869-BD33-8ABF8D964FD6}"/>
              </a:ext>
            </a:extLst>
          </p:cNvPr>
          <p:cNvSpPr txBox="1">
            <a:spLocks/>
          </p:cNvSpPr>
          <p:nvPr/>
        </p:nvSpPr>
        <p:spPr bwMode="auto">
          <a:xfrm>
            <a:off x="515938" y="4570152"/>
            <a:ext cx="8628062" cy="228784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0" rIns="91440" bIns="0" numCol="1" anchor="t" anchorCtr="0" compatLnSpc="1">
            <a:prstTxWarp prst="textNoShape">
              <a:avLst/>
            </a:prstTxWarp>
            <a:normAutofit/>
          </a:bodyPr>
          <a:lstStyle>
            <a:lvl1pPr marL="342900" indent="-342900" algn="l" rtl="0" eaLnBrk="1" fontAlgn="base" hangingPunct="1">
              <a:spcBef>
                <a:spcPct val="20000"/>
              </a:spcBef>
              <a:spcAft>
                <a:spcPct val="0"/>
              </a:spcAft>
              <a:buChar char="•"/>
              <a:defRPr sz="3200" b="1">
                <a:solidFill>
                  <a:schemeClr val="tx1"/>
                </a:solidFill>
                <a:latin typeface="+mn-lt"/>
                <a:ea typeface="黑体" panose="02010609060101010101" pitchFamily="49" charset="-122"/>
                <a:cs typeface="+mn-cs"/>
              </a:defRPr>
            </a:lvl1pPr>
            <a:lvl2pPr marL="742950" indent="-285750" algn="l" rtl="0" eaLnBrk="1" fontAlgn="base" hangingPunct="1">
              <a:spcBef>
                <a:spcPct val="20000"/>
              </a:spcBef>
              <a:spcAft>
                <a:spcPct val="0"/>
              </a:spcAft>
              <a:buChar char="–"/>
              <a:defRPr sz="2800" b="1">
                <a:solidFill>
                  <a:schemeClr val="tx1"/>
                </a:solidFill>
                <a:latin typeface="+mn-lt"/>
                <a:ea typeface="黑体" panose="02010609060101010101" pitchFamily="49" charset="-122"/>
              </a:defRPr>
            </a:lvl2pPr>
            <a:lvl3pPr marL="1143000" indent="-228600" algn="l" rtl="0" eaLnBrk="1" fontAlgn="base" hangingPunct="1">
              <a:spcBef>
                <a:spcPct val="20000"/>
              </a:spcBef>
              <a:spcAft>
                <a:spcPct val="0"/>
              </a:spcAft>
              <a:buChar char="•"/>
              <a:defRPr sz="2400" b="1">
                <a:solidFill>
                  <a:schemeClr val="tx1"/>
                </a:solidFill>
                <a:latin typeface="+mn-lt"/>
                <a:ea typeface="黑体" panose="02010609060101010101" pitchFamily="49" charset="-122"/>
              </a:defRPr>
            </a:lvl3pPr>
            <a:lvl4pPr marL="1600200" indent="-228600" algn="l" rtl="0" eaLnBrk="1" fontAlgn="base" hangingPunct="1">
              <a:spcBef>
                <a:spcPct val="20000"/>
              </a:spcBef>
              <a:spcAft>
                <a:spcPct val="0"/>
              </a:spcAft>
              <a:buChar char="–"/>
              <a:defRPr sz="2000" b="1">
                <a:solidFill>
                  <a:schemeClr val="tx1"/>
                </a:solidFill>
                <a:latin typeface="+mn-lt"/>
                <a:ea typeface="黑体" panose="02010609060101010101" pitchFamily="49" charset="-122"/>
              </a:defRPr>
            </a:lvl4pPr>
            <a:lvl5pPr marL="2057400" indent="-228600" algn="l" rtl="0" eaLnBrk="1" fontAlgn="base" hangingPunct="1">
              <a:spcBef>
                <a:spcPct val="20000"/>
              </a:spcBef>
              <a:spcAft>
                <a:spcPct val="0"/>
              </a:spcAft>
              <a:buChar char="»"/>
              <a:defRPr sz="2000" b="1">
                <a:solidFill>
                  <a:schemeClr val="tx1"/>
                </a:solidFill>
                <a:latin typeface="+mn-lt"/>
                <a:ea typeface="黑体" panose="02010609060101010101" pitchFamily="49" charset="-122"/>
              </a:defRPr>
            </a:lvl5pPr>
            <a:lvl6pPr marL="2514600" indent="-228600" algn="l" rtl="0" eaLnBrk="1" fontAlgn="base" hangingPunct="1">
              <a:spcBef>
                <a:spcPct val="20000"/>
              </a:spcBef>
              <a:spcAft>
                <a:spcPct val="0"/>
              </a:spcAft>
              <a:buChar char="»"/>
              <a:defRPr sz="2000" b="1">
                <a:solidFill>
                  <a:schemeClr val="tx1"/>
                </a:solidFill>
                <a:latin typeface="+mn-lt"/>
                <a:ea typeface="+mn-ea"/>
              </a:defRPr>
            </a:lvl6pPr>
            <a:lvl7pPr marL="2971800" indent="-228600" algn="l" rtl="0" eaLnBrk="1" fontAlgn="base" hangingPunct="1">
              <a:spcBef>
                <a:spcPct val="20000"/>
              </a:spcBef>
              <a:spcAft>
                <a:spcPct val="0"/>
              </a:spcAft>
              <a:buChar char="»"/>
              <a:defRPr sz="2000" b="1">
                <a:solidFill>
                  <a:schemeClr val="tx1"/>
                </a:solidFill>
                <a:latin typeface="+mn-lt"/>
                <a:ea typeface="+mn-ea"/>
              </a:defRPr>
            </a:lvl7pPr>
            <a:lvl8pPr marL="3429000" indent="-228600" algn="l" rtl="0" eaLnBrk="1" fontAlgn="base" hangingPunct="1">
              <a:spcBef>
                <a:spcPct val="20000"/>
              </a:spcBef>
              <a:spcAft>
                <a:spcPct val="0"/>
              </a:spcAft>
              <a:buChar char="»"/>
              <a:defRPr sz="2000" b="1">
                <a:solidFill>
                  <a:schemeClr val="tx1"/>
                </a:solidFill>
                <a:latin typeface="+mn-lt"/>
                <a:ea typeface="+mn-ea"/>
              </a:defRPr>
            </a:lvl8pPr>
            <a:lvl9pPr marL="3886200" indent="-228600" algn="l" rtl="0" eaLnBrk="1" fontAlgn="base" hangingPunct="1">
              <a:spcBef>
                <a:spcPct val="20000"/>
              </a:spcBef>
              <a:spcAft>
                <a:spcPct val="0"/>
              </a:spcAft>
              <a:buChar char="»"/>
              <a:defRPr sz="2000" b="1">
                <a:solidFill>
                  <a:schemeClr val="tx1"/>
                </a:solidFill>
                <a:latin typeface="+mn-lt"/>
                <a:ea typeface="+mn-ea"/>
              </a:defRPr>
            </a:lvl9pPr>
          </a:lstStyle>
          <a:p>
            <a:r>
              <a:rPr lang="en-CN" sz="2800" kern="0" dirty="0">
                <a:solidFill>
                  <a:srgbClr val="0432FF"/>
                </a:solidFill>
              </a:rPr>
              <a:t>PC</a:t>
            </a:r>
          </a:p>
          <a:p>
            <a:pPr lvl="1"/>
            <a:r>
              <a:rPr lang="zh-CN" altLang="en-US" sz="2400" b="0" kern="0" dirty="0"/>
              <a:t>记录当前执行的指令地址</a:t>
            </a:r>
            <a:endParaRPr lang="en-CN" sz="2400" kern="0" dirty="0"/>
          </a:p>
        </p:txBody>
      </p:sp>
    </p:spTree>
    <p:extLst>
      <p:ext uri="{BB962C8B-B14F-4D97-AF65-F5344CB8AC3E}">
        <p14:creationId xmlns:p14="http://schemas.microsoft.com/office/powerpoint/2010/main" val="27335037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8DB6E3C9-3DA5-6142-ADEB-E9842D813971}"/>
              </a:ext>
            </a:extLst>
          </p:cNvPr>
          <p:cNvSpPr>
            <a:spLocks noGrp="1"/>
          </p:cNvSpPr>
          <p:nvPr>
            <p:ph type="sldNum" sz="quarter" idx="12"/>
          </p:nvPr>
        </p:nvSpPr>
        <p:spPr/>
        <p:txBody>
          <a:bodyPr/>
          <a:lstStyle/>
          <a:p>
            <a:fld id="{14659731-6BD7-46E7-8D3C-2F3AC07E20B1}" type="slidenum">
              <a:rPr lang="en-US" altLang="zh-CN" smtClean="0"/>
              <a:pPr/>
              <a:t>13</a:t>
            </a:fld>
            <a:endParaRPr lang="en-US" altLang="zh-CN"/>
          </a:p>
        </p:txBody>
      </p:sp>
      <p:sp>
        <p:nvSpPr>
          <p:cNvPr id="6" name="Title 4">
            <a:extLst>
              <a:ext uri="{FF2B5EF4-FFF2-40B4-BE49-F238E27FC236}">
                <a16:creationId xmlns:a16="http://schemas.microsoft.com/office/drawing/2014/main" id="{EA1A2DA5-3222-19E4-3316-26612726A50B}"/>
              </a:ext>
            </a:extLst>
          </p:cNvPr>
          <p:cNvSpPr txBox="1">
            <a:spLocks/>
          </p:cNvSpPr>
          <p:nvPr/>
        </p:nvSpPr>
        <p:spPr bwMode="auto">
          <a:xfrm>
            <a:off x="457200" y="136800"/>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kumimoji="1" lang="zh-CN" altLang="en-US" dirty="0"/>
              <a:t>回顾：从专用芯片到处理器</a:t>
            </a:r>
            <a:endParaRPr lang="en-CN" kern="0" dirty="0"/>
          </a:p>
        </p:txBody>
      </p:sp>
      <p:grpSp>
        <p:nvGrpSpPr>
          <p:cNvPr id="2" name="组合 1">
            <a:extLst>
              <a:ext uri="{FF2B5EF4-FFF2-40B4-BE49-F238E27FC236}">
                <a16:creationId xmlns:a16="http://schemas.microsoft.com/office/drawing/2014/main" id="{A02AD345-6235-6859-2FBE-2F12096AA406}"/>
              </a:ext>
            </a:extLst>
          </p:cNvPr>
          <p:cNvGrpSpPr/>
          <p:nvPr/>
        </p:nvGrpSpPr>
        <p:grpSpPr>
          <a:xfrm>
            <a:off x="-140194" y="1383966"/>
            <a:ext cx="9341080" cy="3249973"/>
            <a:chOff x="-140194" y="963446"/>
            <a:chExt cx="9341080" cy="3249973"/>
          </a:xfrm>
        </p:grpSpPr>
        <p:sp>
          <p:nvSpPr>
            <p:cNvPr id="8" name="Rectangle 53">
              <a:extLst>
                <a:ext uri="{FF2B5EF4-FFF2-40B4-BE49-F238E27FC236}">
                  <a16:creationId xmlns:a16="http://schemas.microsoft.com/office/drawing/2014/main" id="{7A9F4076-7417-2816-F1BE-25E3A57727E0}"/>
                </a:ext>
              </a:extLst>
            </p:cNvPr>
            <p:cNvSpPr>
              <a:spLocks/>
            </p:cNvSpPr>
            <p:nvPr/>
          </p:nvSpPr>
          <p:spPr>
            <a:xfrm>
              <a:off x="779398" y="3033315"/>
              <a:ext cx="1853991" cy="338554"/>
            </a:xfrm>
            <a:prstGeom prst="rect">
              <a:avLst/>
            </a:prstGeom>
            <a:solidFill>
              <a:srgbClr val="8064A2">
                <a:lumMod val="40000"/>
                <a:lumOff val="60000"/>
              </a:srgbClr>
            </a:solidFill>
            <a:ln w="25400">
              <a:solidFill>
                <a:srgbClr val="000000"/>
              </a:solidFill>
            </a:ln>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dirty="0">
                  <a:ln>
                    <a:noFill/>
                  </a:ln>
                  <a:solidFill>
                    <a:srgbClr val="000000"/>
                  </a:solidFill>
                  <a:effectLst/>
                  <a:uLnTx/>
                  <a:uFillTx/>
                  <a:latin typeface="+mn-lt"/>
                  <a:ea typeface="+mn-ea"/>
                  <a:cs typeface="Arial" panose="020B0604020202020204" pitchFamily="34" charset="0"/>
                </a:rPr>
                <a:t>PC</a:t>
              </a:r>
              <a:endParaRPr kumimoji="0" lang="en-CN" sz="1600" b="1" i="0" u="none" strike="noStrike" kern="0" cap="none" spc="0" normalizeH="0" baseline="0" noProof="0" dirty="0">
                <a:ln>
                  <a:noFill/>
                </a:ln>
                <a:solidFill>
                  <a:srgbClr val="000000"/>
                </a:solidFill>
                <a:effectLst/>
                <a:uLnTx/>
                <a:uFillTx/>
                <a:latin typeface="+mn-lt"/>
                <a:ea typeface="+mn-ea"/>
              </a:endParaRPr>
            </a:p>
          </p:txBody>
        </p:sp>
        <p:sp>
          <p:nvSpPr>
            <p:cNvPr id="14" name="Freeform 31">
              <a:extLst>
                <a:ext uri="{FF2B5EF4-FFF2-40B4-BE49-F238E27FC236}">
                  <a16:creationId xmlns:a16="http://schemas.microsoft.com/office/drawing/2014/main" id="{D713E16B-F1F0-D38F-8F06-EB9CD388170B}"/>
                </a:ext>
              </a:extLst>
            </p:cNvPr>
            <p:cNvSpPr/>
            <p:nvPr/>
          </p:nvSpPr>
          <p:spPr>
            <a:xfrm>
              <a:off x="3781322" y="963446"/>
              <a:ext cx="4790332" cy="3249973"/>
            </a:xfrm>
            <a:custGeom>
              <a:avLst/>
              <a:gdLst>
                <a:gd name="connsiteX0" fmla="*/ 0 w 5056094"/>
                <a:gd name="connsiteY0" fmla="*/ 32273 h 3195021"/>
                <a:gd name="connsiteX1" fmla="*/ 0 w 5056094"/>
                <a:gd name="connsiteY1" fmla="*/ 3195021 h 3195021"/>
                <a:gd name="connsiteX2" fmla="*/ 5056094 w 5056094"/>
                <a:gd name="connsiteY2" fmla="*/ 3195021 h 3195021"/>
                <a:gd name="connsiteX3" fmla="*/ 5056094 w 5056094"/>
                <a:gd name="connsiteY3" fmla="*/ 903642 h 3195021"/>
                <a:gd name="connsiteX4" fmla="*/ 3313355 w 5056094"/>
                <a:gd name="connsiteY4" fmla="*/ 903642 h 3195021"/>
                <a:gd name="connsiteX5" fmla="*/ 3313355 w 5056094"/>
                <a:gd name="connsiteY5" fmla="*/ 0 h 3195021"/>
                <a:gd name="connsiteX6" fmla="*/ 0 w 5056094"/>
                <a:gd name="connsiteY6" fmla="*/ 32273 h 3195021"/>
                <a:gd name="connsiteX0" fmla="*/ 0 w 5056094"/>
                <a:gd name="connsiteY0" fmla="*/ 32273 h 3195021"/>
                <a:gd name="connsiteX1" fmla="*/ 0 w 5056094"/>
                <a:gd name="connsiteY1" fmla="*/ 3195021 h 3195021"/>
                <a:gd name="connsiteX2" fmla="*/ 5056094 w 5056094"/>
                <a:gd name="connsiteY2" fmla="*/ 3195021 h 3195021"/>
                <a:gd name="connsiteX3" fmla="*/ 5056094 w 5056094"/>
                <a:gd name="connsiteY3" fmla="*/ 903642 h 3195021"/>
                <a:gd name="connsiteX4" fmla="*/ 2702513 w 5056094"/>
                <a:gd name="connsiteY4" fmla="*/ 914906 h 3195021"/>
                <a:gd name="connsiteX5" fmla="*/ 3313355 w 5056094"/>
                <a:gd name="connsiteY5" fmla="*/ 0 h 3195021"/>
                <a:gd name="connsiteX6" fmla="*/ 0 w 5056094"/>
                <a:gd name="connsiteY6" fmla="*/ 32273 h 3195021"/>
                <a:gd name="connsiteX0" fmla="*/ 0 w 5056094"/>
                <a:gd name="connsiteY0" fmla="*/ 9745 h 3172493"/>
                <a:gd name="connsiteX1" fmla="*/ 0 w 5056094"/>
                <a:gd name="connsiteY1" fmla="*/ 3172493 h 3172493"/>
                <a:gd name="connsiteX2" fmla="*/ 5056094 w 5056094"/>
                <a:gd name="connsiteY2" fmla="*/ 3172493 h 3172493"/>
                <a:gd name="connsiteX3" fmla="*/ 5056094 w 5056094"/>
                <a:gd name="connsiteY3" fmla="*/ 881114 h 3172493"/>
                <a:gd name="connsiteX4" fmla="*/ 2702513 w 5056094"/>
                <a:gd name="connsiteY4" fmla="*/ 892378 h 3172493"/>
                <a:gd name="connsiteX5" fmla="*/ 2690297 w 5056094"/>
                <a:gd name="connsiteY5" fmla="*/ 0 h 3172493"/>
                <a:gd name="connsiteX6" fmla="*/ 0 w 5056094"/>
                <a:gd name="connsiteY6" fmla="*/ 9745 h 3172493"/>
                <a:gd name="connsiteX0" fmla="*/ 0 w 5056094"/>
                <a:gd name="connsiteY0" fmla="*/ 9745 h 3172493"/>
                <a:gd name="connsiteX1" fmla="*/ 0 w 5056094"/>
                <a:gd name="connsiteY1" fmla="*/ 3172493 h 3172493"/>
                <a:gd name="connsiteX2" fmla="*/ 5056094 w 5056094"/>
                <a:gd name="connsiteY2" fmla="*/ 3172493 h 3172493"/>
                <a:gd name="connsiteX3" fmla="*/ 5056094 w 5056094"/>
                <a:gd name="connsiteY3" fmla="*/ 881114 h 3172493"/>
                <a:gd name="connsiteX4" fmla="*/ 2682546 w 5056094"/>
                <a:gd name="connsiteY4" fmla="*/ 892378 h 3172493"/>
                <a:gd name="connsiteX5" fmla="*/ 2690297 w 5056094"/>
                <a:gd name="connsiteY5" fmla="*/ 0 h 3172493"/>
                <a:gd name="connsiteX6" fmla="*/ 0 w 5056094"/>
                <a:gd name="connsiteY6" fmla="*/ 9745 h 3172493"/>
                <a:gd name="connsiteX0" fmla="*/ 0 w 5056094"/>
                <a:gd name="connsiteY0" fmla="*/ 0 h 3162748"/>
                <a:gd name="connsiteX1" fmla="*/ 0 w 5056094"/>
                <a:gd name="connsiteY1" fmla="*/ 3162748 h 3162748"/>
                <a:gd name="connsiteX2" fmla="*/ 5056094 w 5056094"/>
                <a:gd name="connsiteY2" fmla="*/ 3162748 h 3162748"/>
                <a:gd name="connsiteX3" fmla="*/ 5056094 w 5056094"/>
                <a:gd name="connsiteY3" fmla="*/ 871369 h 3162748"/>
                <a:gd name="connsiteX4" fmla="*/ 2682546 w 5056094"/>
                <a:gd name="connsiteY4" fmla="*/ 882633 h 3162748"/>
                <a:gd name="connsiteX5" fmla="*/ 2683641 w 5056094"/>
                <a:gd name="connsiteY5" fmla="*/ 2529 h 3162748"/>
                <a:gd name="connsiteX6" fmla="*/ 0 w 5056094"/>
                <a:gd name="connsiteY6" fmla="*/ 0 h 316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56094" h="3162748">
                  <a:moveTo>
                    <a:pt x="0" y="0"/>
                  </a:moveTo>
                  <a:lnTo>
                    <a:pt x="0" y="3162748"/>
                  </a:lnTo>
                  <a:lnTo>
                    <a:pt x="5056094" y="3162748"/>
                  </a:lnTo>
                  <a:lnTo>
                    <a:pt x="5056094" y="871369"/>
                  </a:lnTo>
                  <a:lnTo>
                    <a:pt x="2682546" y="882633"/>
                  </a:lnTo>
                  <a:cubicBezTo>
                    <a:pt x="2685130" y="585174"/>
                    <a:pt x="2681057" y="299988"/>
                    <a:pt x="2683641" y="2529"/>
                  </a:cubicBezTo>
                  <a:lnTo>
                    <a:pt x="0" y="0"/>
                  </a:lnTo>
                  <a:close/>
                </a:path>
              </a:pathLst>
            </a:custGeom>
            <a:solidFill>
              <a:srgbClr val="1F497D">
                <a:lumMod val="20000"/>
                <a:lumOff val="80000"/>
              </a:srgbClr>
            </a:solidFill>
            <a:ln w="25400" cap="flat" cmpd="sng" algn="ctr">
              <a:noFill/>
              <a:prstDash val="solid"/>
            </a:ln>
            <a:effectLst/>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CN" sz="1800" b="1" i="0" u="none" strike="noStrike" kern="0" cap="none" spc="0" normalizeH="0" baseline="0" noProof="0" dirty="0">
                <a:ln>
                  <a:noFill/>
                </a:ln>
                <a:solidFill>
                  <a:srgbClr val="000000"/>
                </a:solidFill>
                <a:effectLst/>
                <a:uLnTx/>
                <a:uFillTx/>
                <a:latin typeface="+mn-lt"/>
                <a:ea typeface="+mn-ea"/>
                <a:cs typeface="Arial" panose="020B0604020202020204" pitchFamily="34" charset="0"/>
              </a:endParaRPr>
            </a:p>
          </p:txBody>
        </p:sp>
        <p:cxnSp>
          <p:nvCxnSpPr>
            <p:cNvPr id="15" name="Straight Arrow Connector 35">
              <a:extLst>
                <a:ext uri="{FF2B5EF4-FFF2-40B4-BE49-F238E27FC236}">
                  <a16:creationId xmlns:a16="http://schemas.microsoft.com/office/drawing/2014/main" id="{B6C2A903-C54C-684C-60A8-C6420ACA6D59}"/>
                </a:ext>
              </a:extLst>
            </p:cNvPr>
            <p:cNvCxnSpPr>
              <a:cxnSpLocks/>
            </p:cNvCxnSpPr>
            <p:nvPr/>
          </p:nvCxnSpPr>
          <p:spPr>
            <a:xfrm>
              <a:off x="42221" y="3229464"/>
              <a:ext cx="728984" cy="0"/>
            </a:xfrm>
            <a:prstGeom prst="straightConnector1">
              <a:avLst/>
            </a:prstGeom>
            <a:noFill/>
            <a:ln w="25400" cap="rnd" cmpd="sng" algn="ctr">
              <a:solidFill>
                <a:srgbClr val="000000"/>
              </a:solidFill>
              <a:prstDash val="solid"/>
              <a:headEnd type="none" w="med" len="lg"/>
              <a:tailEnd type="triangle" w="med" len="lg"/>
            </a:ln>
            <a:effectLst/>
          </p:spPr>
        </p:cxnSp>
        <p:sp>
          <p:nvSpPr>
            <p:cNvPr id="16" name="Rectangle 29" descr="e">
              <a:extLst>
                <a:ext uri="{FF2B5EF4-FFF2-40B4-BE49-F238E27FC236}">
                  <a16:creationId xmlns:a16="http://schemas.microsoft.com/office/drawing/2014/main" id="{5642D123-5A00-C00D-49CF-34DB2D6D55FD}"/>
                </a:ext>
              </a:extLst>
            </p:cNvPr>
            <p:cNvSpPr/>
            <p:nvPr/>
          </p:nvSpPr>
          <p:spPr>
            <a:xfrm>
              <a:off x="6984041" y="1076773"/>
              <a:ext cx="1314651" cy="678976"/>
            </a:xfrm>
            <a:prstGeom prst="rect">
              <a:avLst/>
            </a:prstGeom>
            <a:solidFill>
              <a:srgbClr val="8064A2">
                <a:lumMod val="40000"/>
                <a:lumOff val="60000"/>
              </a:srgbClr>
            </a:solidFill>
            <a:ln w="25400" cap="flat" cmpd="sng" algn="ctr">
              <a:solidFill>
                <a:srgbClr val="000000"/>
              </a:solidFill>
              <a:prstDash val="solid"/>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dirty="0">
                  <a:ln>
                    <a:noFill/>
                  </a:ln>
                  <a:solidFill>
                    <a:srgbClr val="000000"/>
                  </a:solidFill>
                  <a:effectLst/>
                  <a:uLnTx/>
                  <a:uFillTx/>
                  <a:latin typeface="+mn-lt"/>
                  <a:ea typeface="+mn-ea"/>
                  <a:cs typeface="Arial" panose="020B0604020202020204" pitchFamily="34" charset="0"/>
                </a:rPr>
                <a:t>数据存储</a:t>
              </a:r>
            </a:p>
          </p:txBody>
        </p:sp>
        <p:sp>
          <p:nvSpPr>
            <p:cNvPr id="17" name="Rectangle 29" descr="e">
              <a:extLst>
                <a:ext uri="{FF2B5EF4-FFF2-40B4-BE49-F238E27FC236}">
                  <a16:creationId xmlns:a16="http://schemas.microsoft.com/office/drawing/2014/main" id="{F5B3773F-2F2D-CD7F-45C1-E17DD4BACEA7}"/>
                </a:ext>
              </a:extLst>
            </p:cNvPr>
            <p:cNvSpPr/>
            <p:nvPr/>
          </p:nvSpPr>
          <p:spPr>
            <a:xfrm>
              <a:off x="6984041" y="2939296"/>
              <a:ext cx="1314651" cy="454918"/>
            </a:xfrm>
            <a:prstGeom prst="rect">
              <a:avLst/>
            </a:prstGeom>
            <a:solidFill>
              <a:srgbClr val="FFFFFF"/>
            </a:solidFill>
            <a:ln w="25400" cap="flat" cmpd="sng" algn="ctr">
              <a:solidFill>
                <a:srgbClr val="000000"/>
              </a:solidFill>
              <a:prstDash val="solid"/>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dirty="0">
                  <a:ln>
                    <a:noFill/>
                  </a:ln>
                  <a:solidFill>
                    <a:srgbClr val="000000"/>
                  </a:solidFill>
                  <a:effectLst/>
                  <a:uLnTx/>
                  <a:uFillTx/>
                  <a:latin typeface="+mn-lt"/>
                  <a:ea typeface="+mn-ea"/>
                  <a:cs typeface="Arial" panose="020B0604020202020204" pitchFamily="34" charset="0"/>
                </a:rPr>
                <a:t>ALU</a:t>
              </a:r>
              <a:endParaRPr kumimoji="0" lang="zh-CN" altLang="en-US" sz="2000" b="1" i="0" u="none" strike="noStrike" kern="0" cap="none" spc="0" normalizeH="0" baseline="0" noProof="0" dirty="0">
                <a:ln>
                  <a:noFill/>
                </a:ln>
                <a:solidFill>
                  <a:srgbClr val="000000"/>
                </a:solidFill>
                <a:effectLst/>
                <a:uLnTx/>
                <a:uFillTx/>
                <a:latin typeface="+mn-lt"/>
                <a:ea typeface="+mn-ea"/>
                <a:cs typeface="Arial" panose="020B0604020202020204" pitchFamily="34" charset="0"/>
              </a:endParaRPr>
            </a:p>
          </p:txBody>
        </p:sp>
        <p:sp>
          <p:nvSpPr>
            <p:cNvPr id="18" name="矩形 22">
              <a:extLst>
                <a:ext uri="{FF2B5EF4-FFF2-40B4-BE49-F238E27FC236}">
                  <a16:creationId xmlns:a16="http://schemas.microsoft.com/office/drawing/2014/main" id="{1E8792A3-3E87-CCFE-9523-033BD64B5061}"/>
                </a:ext>
              </a:extLst>
            </p:cNvPr>
            <p:cNvSpPr/>
            <p:nvPr/>
          </p:nvSpPr>
          <p:spPr>
            <a:xfrm>
              <a:off x="2832293" y="1811460"/>
              <a:ext cx="1034668" cy="400110"/>
            </a:xfrm>
            <a:prstGeom prst="rect">
              <a:avLst/>
            </a:prstGeom>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dirty="0">
                  <a:ln>
                    <a:noFill/>
                  </a:ln>
                  <a:solidFill>
                    <a:srgbClr val="000000"/>
                  </a:solidFill>
                  <a:effectLst/>
                  <a:uLnTx/>
                  <a:uFillTx/>
                  <a:latin typeface="+mn-lt"/>
                  <a:ea typeface="+mn-ea"/>
                  <a:cs typeface="Arial" panose="020B0604020202020204" pitchFamily="34" charset="0"/>
                </a:rPr>
                <a:t>指令</a:t>
              </a:r>
            </a:p>
          </p:txBody>
        </p:sp>
        <p:cxnSp>
          <p:nvCxnSpPr>
            <p:cNvPr id="19" name="Straight Arrow Connector 35">
              <a:extLst>
                <a:ext uri="{FF2B5EF4-FFF2-40B4-BE49-F238E27FC236}">
                  <a16:creationId xmlns:a16="http://schemas.microsoft.com/office/drawing/2014/main" id="{9B72508E-1D70-C595-2423-C8321C96EB31}"/>
                </a:ext>
              </a:extLst>
            </p:cNvPr>
            <p:cNvCxnSpPr>
              <a:cxnSpLocks/>
            </p:cNvCxnSpPr>
            <p:nvPr/>
          </p:nvCxnSpPr>
          <p:spPr>
            <a:xfrm>
              <a:off x="5649680" y="2375145"/>
              <a:ext cx="1328970" cy="0"/>
            </a:xfrm>
            <a:prstGeom prst="straightConnector1">
              <a:avLst/>
            </a:prstGeom>
            <a:noFill/>
            <a:ln w="25400" cap="rnd" cmpd="sng" algn="ctr">
              <a:solidFill>
                <a:srgbClr val="000000"/>
              </a:solidFill>
              <a:prstDash val="solid"/>
              <a:headEnd type="none" w="med" len="med"/>
              <a:tailEnd type="triangle" w="med" len="med"/>
            </a:ln>
            <a:effectLst/>
          </p:spPr>
        </p:cxnSp>
        <p:cxnSp>
          <p:nvCxnSpPr>
            <p:cNvPr id="20" name="Straight Arrow Connector 35">
              <a:extLst>
                <a:ext uri="{FF2B5EF4-FFF2-40B4-BE49-F238E27FC236}">
                  <a16:creationId xmlns:a16="http://schemas.microsoft.com/office/drawing/2014/main" id="{0F145048-2B3B-9B59-C81F-29595143E0D3}"/>
                </a:ext>
              </a:extLst>
            </p:cNvPr>
            <p:cNvCxnSpPr>
              <a:cxnSpLocks/>
            </p:cNvCxnSpPr>
            <p:nvPr/>
          </p:nvCxnSpPr>
          <p:spPr>
            <a:xfrm>
              <a:off x="2902453" y="2235488"/>
              <a:ext cx="1044092" cy="0"/>
            </a:xfrm>
            <a:prstGeom prst="straightConnector1">
              <a:avLst/>
            </a:prstGeom>
            <a:noFill/>
            <a:ln w="25400" cap="rnd" cmpd="sng" algn="ctr">
              <a:solidFill>
                <a:srgbClr val="000000"/>
              </a:solidFill>
              <a:prstDash val="solid"/>
              <a:headEnd type="none" w="med" len="lg"/>
              <a:tailEnd type="triangle" w="med" len="lg"/>
            </a:ln>
            <a:effectLst/>
          </p:spPr>
        </p:cxnSp>
        <p:sp>
          <p:nvSpPr>
            <p:cNvPr id="21" name="矩形 22">
              <a:extLst>
                <a:ext uri="{FF2B5EF4-FFF2-40B4-BE49-F238E27FC236}">
                  <a16:creationId xmlns:a16="http://schemas.microsoft.com/office/drawing/2014/main" id="{46C1AE9E-B04D-2781-EE34-8848E5E8EC8E}"/>
                </a:ext>
              </a:extLst>
            </p:cNvPr>
            <p:cNvSpPr/>
            <p:nvPr/>
          </p:nvSpPr>
          <p:spPr>
            <a:xfrm>
              <a:off x="-140194" y="2855965"/>
              <a:ext cx="985502" cy="400110"/>
            </a:xfrm>
            <a:prstGeom prst="rect">
              <a:avLst/>
            </a:prstGeom>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dirty="0">
                  <a:ln>
                    <a:noFill/>
                  </a:ln>
                  <a:solidFill>
                    <a:srgbClr val="000000"/>
                  </a:solidFill>
                  <a:effectLst/>
                  <a:uLnTx/>
                  <a:uFillTx/>
                  <a:latin typeface="+mn-lt"/>
                  <a:ea typeface="+mn-ea"/>
                  <a:cs typeface="Arial" panose="020B0604020202020204" pitchFamily="34" charset="0"/>
                </a:rPr>
                <a:t>时钟</a:t>
              </a:r>
            </a:p>
          </p:txBody>
        </p:sp>
        <p:cxnSp>
          <p:nvCxnSpPr>
            <p:cNvPr id="22" name="Straight Connector 47">
              <a:extLst>
                <a:ext uri="{FF2B5EF4-FFF2-40B4-BE49-F238E27FC236}">
                  <a16:creationId xmlns:a16="http://schemas.microsoft.com/office/drawing/2014/main" id="{1CB619F2-E33F-EAC7-F18E-C3CE18D0CE28}"/>
                </a:ext>
              </a:extLst>
            </p:cNvPr>
            <p:cNvCxnSpPr>
              <a:cxnSpLocks/>
            </p:cNvCxnSpPr>
            <p:nvPr/>
          </p:nvCxnSpPr>
          <p:spPr>
            <a:xfrm>
              <a:off x="7641367" y="3403738"/>
              <a:ext cx="0" cy="573453"/>
            </a:xfrm>
            <a:prstGeom prst="line">
              <a:avLst/>
            </a:prstGeom>
            <a:noFill/>
            <a:ln w="25400" cap="rnd" cmpd="sng" algn="ctr">
              <a:solidFill>
                <a:srgbClr val="000000"/>
              </a:solidFill>
              <a:prstDash val="solid"/>
            </a:ln>
            <a:effectLst/>
          </p:spPr>
        </p:cxnSp>
        <p:sp>
          <p:nvSpPr>
            <p:cNvPr id="23" name="矩形 22">
              <a:extLst>
                <a:ext uri="{FF2B5EF4-FFF2-40B4-BE49-F238E27FC236}">
                  <a16:creationId xmlns:a16="http://schemas.microsoft.com/office/drawing/2014/main" id="{587CB651-A6D6-5C21-C39A-CC30894F10FF}"/>
                </a:ext>
              </a:extLst>
            </p:cNvPr>
            <p:cNvSpPr/>
            <p:nvPr/>
          </p:nvSpPr>
          <p:spPr>
            <a:xfrm>
              <a:off x="8215384" y="1174250"/>
              <a:ext cx="985502" cy="400110"/>
            </a:xfrm>
            <a:prstGeom prst="rect">
              <a:avLst/>
            </a:prstGeom>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dirty="0">
                  <a:ln>
                    <a:noFill/>
                  </a:ln>
                  <a:solidFill>
                    <a:srgbClr val="000000"/>
                  </a:solidFill>
                  <a:effectLst/>
                  <a:uLnTx/>
                  <a:uFillTx/>
                  <a:latin typeface="+mn-lt"/>
                  <a:ea typeface="+mn-ea"/>
                  <a:cs typeface="Arial" panose="020B0604020202020204" pitchFamily="34" charset="0"/>
                </a:rPr>
                <a:t>时钟</a:t>
              </a:r>
            </a:p>
          </p:txBody>
        </p:sp>
        <p:cxnSp>
          <p:nvCxnSpPr>
            <p:cNvPr id="24" name="Straight Arrow Connector 35">
              <a:extLst>
                <a:ext uri="{FF2B5EF4-FFF2-40B4-BE49-F238E27FC236}">
                  <a16:creationId xmlns:a16="http://schemas.microsoft.com/office/drawing/2014/main" id="{F4E22233-3CF7-06A8-C6E4-C37FFF582423}"/>
                </a:ext>
              </a:extLst>
            </p:cNvPr>
            <p:cNvCxnSpPr>
              <a:cxnSpLocks/>
            </p:cNvCxnSpPr>
            <p:nvPr/>
          </p:nvCxnSpPr>
          <p:spPr>
            <a:xfrm flipH="1">
              <a:off x="8298692" y="1578429"/>
              <a:ext cx="700178" cy="0"/>
            </a:xfrm>
            <a:prstGeom prst="straightConnector1">
              <a:avLst/>
            </a:prstGeom>
            <a:noFill/>
            <a:ln w="25400" cap="rnd" cmpd="sng" algn="ctr">
              <a:solidFill>
                <a:srgbClr val="000000"/>
              </a:solidFill>
              <a:prstDash val="solid"/>
              <a:headEnd type="none" w="med" len="lg"/>
              <a:tailEnd type="triangle" w="med" len="lg"/>
            </a:ln>
            <a:effectLst/>
          </p:spPr>
        </p:cxnSp>
        <p:sp>
          <p:nvSpPr>
            <p:cNvPr id="25" name="矩形 22">
              <a:extLst>
                <a:ext uri="{FF2B5EF4-FFF2-40B4-BE49-F238E27FC236}">
                  <a16:creationId xmlns:a16="http://schemas.microsoft.com/office/drawing/2014/main" id="{24E1CA59-E8D8-68D3-4BC0-415491CFB09B}"/>
                </a:ext>
              </a:extLst>
            </p:cNvPr>
            <p:cNvSpPr/>
            <p:nvPr/>
          </p:nvSpPr>
          <p:spPr>
            <a:xfrm>
              <a:off x="5504504" y="1871801"/>
              <a:ext cx="1350428" cy="961289"/>
            </a:xfrm>
            <a:prstGeom prst="rect">
              <a:avLst/>
            </a:prstGeom>
          </p:spPr>
          <p:txBody>
            <a:bodyPr wrap="square">
              <a:spAutoFit/>
            </a:bodyPr>
            <a:lstStyle/>
            <a:p>
              <a:pPr marL="0" marR="0" lvl="0" indent="0" algn="ctr" defTabSz="914400" eaLnBrk="1" fontAlgn="auto" latinLnBrk="0" hangingPunct="1">
                <a:lnSpc>
                  <a:spcPct val="150000"/>
                </a:lnSpc>
                <a:spcBef>
                  <a:spcPts val="0"/>
                </a:spcBef>
                <a:spcAft>
                  <a:spcPts val="0"/>
                </a:spcAft>
                <a:buClrTx/>
                <a:buSzTx/>
                <a:buFontTx/>
                <a:buNone/>
                <a:tabLst/>
                <a:defRPr/>
              </a:pPr>
              <a:r>
                <a:rPr kumimoji="0" lang="zh-CN" altLang="en-US" sz="2000" b="1" i="0" u="none" strike="noStrike" kern="0" cap="none" spc="0" normalizeH="0" baseline="0" noProof="0" dirty="0">
                  <a:ln>
                    <a:noFill/>
                  </a:ln>
                  <a:solidFill>
                    <a:srgbClr val="000000"/>
                  </a:solidFill>
                  <a:effectLst/>
                  <a:uLnTx/>
                  <a:uFillTx/>
                  <a:latin typeface="+mn-lt"/>
                  <a:ea typeface="+mn-ea"/>
                  <a:cs typeface="Arial" panose="020B0604020202020204" pitchFamily="34" charset="0"/>
                </a:rPr>
                <a:t>控制信号</a:t>
              </a:r>
              <a:r>
                <a:rPr kumimoji="0" lang="en-US" altLang="zh-CN" sz="2000" b="1" i="0" u="none" strike="noStrike" kern="0" cap="none" spc="0" normalizeH="0" baseline="0" noProof="0" dirty="0">
                  <a:ln>
                    <a:noFill/>
                  </a:ln>
                  <a:solidFill>
                    <a:srgbClr val="000000"/>
                  </a:solidFill>
                  <a:effectLst/>
                  <a:uLnTx/>
                  <a:uFillTx/>
                  <a:latin typeface="+mn-lt"/>
                  <a:ea typeface="+mn-ea"/>
                  <a:cs typeface="Arial" panose="020B0604020202020204" pitchFamily="34" charset="0"/>
                </a:rPr>
                <a:t>&amp;</a:t>
              </a:r>
              <a:r>
                <a:rPr kumimoji="0" lang="zh-CN" altLang="en-US" sz="2000" b="1" i="0" u="none" strike="noStrike" kern="0" cap="none" spc="0" normalizeH="0" baseline="0" noProof="0" dirty="0">
                  <a:ln>
                    <a:noFill/>
                  </a:ln>
                  <a:solidFill>
                    <a:srgbClr val="000000"/>
                  </a:solidFill>
                  <a:effectLst/>
                  <a:uLnTx/>
                  <a:uFillTx/>
                  <a:latin typeface="+mn-lt"/>
                  <a:ea typeface="+mn-ea"/>
                  <a:cs typeface="Arial" panose="020B0604020202020204" pitchFamily="34" charset="0"/>
                </a:rPr>
                <a:t>数据</a:t>
              </a:r>
            </a:p>
          </p:txBody>
        </p:sp>
        <p:cxnSp>
          <p:nvCxnSpPr>
            <p:cNvPr id="26" name="Straight Connector 106">
              <a:extLst>
                <a:ext uri="{FF2B5EF4-FFF2-40B4-BE49-F238E27FC236}">
                  <a16:creationId xmlns:a16="http://schemas.microsoft.com/office/drawing/2014/main" id="{3414B223-D497-D7FC-FDBE-0D7A1548CC93}"/>
                </a:ext>
              </a:extLst>
            </p:cNvPr>
            <p:cNvCxnSpPr>
              <a:cxnSpLocks/>
            </p:cNvCxnSpPr>
            <p:nvPr/>
          </p:nvCxnSpPr>
          <p:spPr>
            <a:xfrm flipH="1">
              <a:off x="1637637" y="3967887"/>
              <a:ext cx="5999299" cy="0"/>
            </a:xfrm>
            <a:prstGeom prst="line">
              <a:avLst/>
            </a:prstGeom>
            <a:noFill/>
            <a:ln w="28575" cap="rnd" cmpd="sng" algn="ctr">
              <a:solidFill>
                <a:srgbClr val="000000"/>
              </a:solidFill>
              <a:prstDash val="solid"/>
            </a:ln>
            <a:effectLst/>
          </p:spPr>
        </p:cxnSp>
        <p:sp>
          <p:nvSpPr>
            <p:cNvPr id="27" name="Rectangle 29" descr="e">
              <a:extLst>
                <a:ext uri="{FF2B5EF4-FFF2-40B4-BE49-F238E27FC236}">
                  <a16:creationId xmlns:a16="http://schemas.microsoft.com/office/drawing/2014/main" id="{38AA5B45-21A4-953C-1930-A41C7C43BA3E}"/>
                </a:ext>
              </a:extLst>
            </p:cNvPr>
            <p:cNvSpPr/>
            <p:nvPr/>
          </p:nvSpPr>
          <p:spPr>
            <a:xfrm>
              <a:off x="4602826" y="3829010"/>
              <a:ext cx="684330" cy="274064"/>
            </a:xfrm>
            <a:prstGeom prst="rect">
              <a:avLst/>
            </a:prstGeom>
            <a:solidFill>
              <a:srgbClr val="FFFFFF"/>
            </a:solidFill>
            <a:ln w="25400" cap="flat" cmpd="sng" algn="ctr">
              <a:solidFill>
                <a:srgbClr val="000000"/>
              </a:solidFill>
              <a:prstDash val="solid"/>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dirty="0">
                  <a:ln>
                    <a:noFill/>
                  </a:ln>
                  <a:solidFill>
                    <a:srgbClr val="000000"/>
                  </a:solidFill>
                  <a:effectLst/>
                  <a:uLnTx/>
                  <a:uFillTx/>
                  <a:latin typeface="+mn-lt"/>
                  <a:ea typeface="+mn-ea"/>
                  <a:cs typeface="Arial" panose="020B0604020202020204" pitchFamily="34" charset="0"/>
                </a:rPr>
                <a:t>MUX</a:t>
              </a:r>
              <a:endParaRPr kumimoji="0" lang="zh-CN" altLang="en-US" sz="1600" b="1" i="0" u="none" strike="noStrike" kern="0" cap="none" spc="0" normalizeH="0" baseline="0" noProof="0" dirty="0">
                <a:ln>
                  <a:noFill/>
                </a:ln>
                <a:solidFill>
                  <a:srgbClr val="000000"/>
                </a:solidFill>
                <a:effectLst/>
                <a:uLnTx/>
                <a:uFillTx/>
                <a:latin typeface="+mn-lt"/>
                <a:ea typeface="+mn-ea"/>
                <a:cs typeface="Arial" panose="020B0604020202020204" pitchFamily="34" charset="0"/>
              </a:endParaRPr>
            </a:p>
          </p:txBody>
        </p:sp>
        <p:cxnSp>
          <p:nvCxnSpPr>
            <p:cNvPr id="28" name="Straight Arrow Connector 35">
              <a:extLst>
                <a:ext uri="{FF2B5EF4-FFF2-40B4-BE49-F238E27FC236}">
                  <a16:creationId xmlns:a16="http://schemas.microsoft.com/office/drawing/2014/main" id="{8AEF3E70-FCD7-2E16-F66C-80A705D1E7AD}"/>
                </a:ext>
              </a:extLst>
            </p:cNvPr>
            <p:cNvCxnSpPr>
              <a:cxnSpLocks/>
            </p:cNvCxnSpPr>
            <p:nvPr/>
          </p:nvCxnSpPr>
          <p:spPr>
            <a:xfrm>
              <a:off x="4925770" y="3394205"/>
              <a:ext cx="0" cy="434805"/>
            </a:xfrm>
            <a:prstGeom prst="straightConnector1">
              <a:avLst/>
            </a:prstGeom>
            <a:noFill/>
            <a:ln w="25400" cap="rnd" cmpd="sng" algn="ctr">
              <a:solidFill>
                <a:srgbClr val="000000"/>
              </a:solidFill>
              <a:prstDash val="solid"/>
              <a:headEnd type="none" w="med" len="med"/>
              <a:tailEnd type="triangle" w="med" len="med"/>
            </a:ln>
            <a:effectLst/>
          </p:spPr>
        </p:cxnSp>
        <p:cxnSp>
          <p:nvCxnSpPr>
            <p:cNvPr id="29" name="Straight Connector 78">
              <a:extLst>
                <a:ext uri="{FF2B5EF4-FFF2-40B4-BE49-F238E27FC236}">
                  <a16:creationId xmlns:a16="http://schemas.microsoft.com/office/drawing/2014/main" id="{B48A91A3-C73A-F03B-EFCD-2FBB790FB61F}"/>
                </a:ext>
              </a:extLst>
            </p:cNvPr>
            <p:cNvCxnSpPr>
              <a:cxnSpLocks/>
            </p:cNvCxnSpPr>
            <p:nvPr/>
          </p:nvCxnSpPr>
          <p:spPr>
            <a:xfrm>
              <a:off x="1637637" y="3358731"/>
              <a:ext cx="0" cy="608936"/>
            </a:xfrm>
            <a:prstGeom prst="line">
              <a:avLst/>
            </a:prstGeom>
            <a:noFill/>
            <a:ln w="25400" cap="rnd" cmpd="sng" algn="ctr">
              <a:solidFill>
                <a:srgbClr val="000000"/>
              </a:solidFill>
              <a:prstDash val="solid"/>
              <a:headEnd type="triangle" w="med" len="lg"/>
            </a:ln>
            <a:effectLst/>
          </p:spPr>
        </p:cxnSp>
        <p:sp>
          <p:nvSpPr>
            <p:cNvPr id="30" name="矩形 22">
              <a:extLst>
                <a:ext uri="{FF2B5EF4-FFF2-40B4-BE49-F238E27FC236}">
                  <a16:creationId xmlns:a16="http://schemas.microsoft.com/office/drawing/2014/main" id="{B282CC83-1B63-BDD3-DDC7-5849EBC397D3}"/>
                </a:ext>
              </a:extLst>
            </p:cNvPr>
            <p:cNvSpPr/>
            <p:nvPr/>
          </p:nvSpPr>
          <p:spPr>
            <a:xfrm>
              <a:off x="1596300" y="3610855"/>
              <a:ext cx="2053693" cy="369332"/>
            </a:xfrm>
            <a:prstGeom prst="rect">
              <a:avLst/>
            </a:prstGeom>
          </p:spPr>
          <p:txBody>
            <a:bodyPr wrap="square"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srgbClr val="000000"/>
                  </a:solidFill>
                  <a:effectLst/>
                  <a:uLnTx/>
                  <a:uFillTx/>
                  <a:latin typeface="+mn-lt"/>
                  <a:ea typeface="+mn-ea"/>
                  <a:cs typeface="Arial" panose="020B0604020202020204" pitchFamily="34" charset="0"/>
                </a:rPr>
                <a:t>下一条指令地址</a:t>
              </a:r>
            </a:p>
          </p:txBody>
        </p:sp>
        <p:sp>
          <p:nvSpPr>
            <p:cNvPr id="33" name="矩形 22">
              <a:extLst>
                <a:ext uri="{FF2B5EF4-FFF2-40B4-BE49-F238E27FC236}">
                  <a16:creationId xmlns:a16="http://schemas.microsoft.com/office/drawing/2014/main" id="{2D99CDA6-C15E-B8BB-0007-CC9F3E2C62C7}"/>
                </a:ext>
              </a:extLst>
            </p:cNvPr>
            <p:cNvSpPr/>
            <p:nvPr/>
          </p:nvSpPr>
          <p:spPr>
            <a:xfrm>
              <a:off x="5377895" y="3610855"/>
              <a:ext cx="2053693" cy="369332"/>
            </a:xfrm>
            <a:prstGeom prst="rect">
              <a:avLst/>
            </a:prstGeom>
          </p:spPr>
          <p:txBody>
            <a:bodyPr wrap="square"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srgbClr val="000000"/>
                  </a:solidFill>
                  <a:effectLst/>
                  <a:uLnTx/>
                  <a:uFillTx/>
                  <a:latin typeface="+mn-lt"/>
                  <a:ea typeface="+mn-ea"/>
                  <a:cs typeface="Arial" panose="020B0604020202020204" pitchFamily="34" charset="0"/>
                </a:rPr>
                <a:t>下一条指令地址</a:t>
              </a:r>
              <a:endParaRPr kumimoji="0" lang="en-US" altLang="zh-CN" sz="1800" b="1" i="0" u="none" strike="noStrike" kern="0" cap="none" spc="0" normalizeH="0" baseline="0" noProof="0" dirty="0">
                <a:ln>
                  <a:noFill/>
                </a:ln>
                <a:solidFill>
                  <a:srgbClr val="000000"/>
                </a:solidFill>
                <a:effectLst/>
                <a:uLnTx/>
                <a:uFillTx/>
                <a:latin typeface="+mn-lt"/>
                <a:ea typeface="+mn-ea"/>
                <a:cs typeface="Arial" panose="020B0604020202020204" pitchFamily="34" charset="0"/>
              </a:endParaRPr>
            </a:p>
          </p:txBody>
        </p:sp>
        <p:cxnSp>
          <p:nvCxnSpPr>
            <p:cNvPr id="36" name="Straight Arrow Connector 35">
              <a:extLst>
                <a:ext uri="{FF2B5EF4-FFF2-40B4-BE49-F238E27FC236}">
                  <a16:creationId xmlns:a16="http://schemas.microsoft.com/office/drawing/2014/main" id="{B4687A2C-140D-ECD4-C56B-2937CF74967E}"/>
                </a:ext>
              </a:extLst>
            </p:cNvPr>
            <p:cNvCxnSpPr>
              <a:cxnSpLocks/>
              <a:stCxn id="38" idx="2"/>
            </p:cNvCxnSpPr>
            <p:nvPr/>
          </p:nvCxnSpPr>
          <p:spPr>
            <a:xfrm flipH="1">
              <a:off x="7641367" y="2553246"/>
              <a:ext cx="4643" cy="386048"/>
            </a:xfrm>
            <a:prstGeom prst="straightConnector1">
              <a:avLst/>
            </a:prstGeom>
            <a:noFill/>
            <a:ln w="25400" cap="rnd" cmpd="sng" algn="ctr">
              <a:solidFill>
                <a:srgbClr val="000000"/>
              </a:solidFill>
              <a:prstDash val="solid"/>
              <a:headEnd type="triangle" w="med" len="lg"/>
              <a:tailEnd type="triangle" w="med" len="lg"/>
            </a:ln>
            <a:effectLst/>
          </p:spPr>
        </p:cxnSp>
        <p:cxnSp>
          <p:nvCxnSpPr>
            <p:cNvPr id="37" name="Straight Arrow Connector 34">
              <a:extLst>
                <a:ext uri="{FF2B5EF4-FFF2-40B4-BE49-F238E27FC236}">
                  <a16:creationId xmlns:a16="http://schemas.microsoft.com/office/drawing/2014/main" id="{9D01D36B-A051-8E49-235F-FDD39665E091}"/>
                </a:ext>
              </a:extLst>
            </p:cNvPr>
            <p:cNvCxnSpPr>
              <a:cxnSpLocks/>
            </p:cNvCxnSpPr>
            <p:nvPr/>
          </p:nvCxnSpPr>
          <p:spPr>
            <a:xfrm flipH="1">
              <a:off x="7639045" y="1781150"/>
              <a:ext cx="4643" cy="386048"/>
            </a:xfrm>
            <a:prstGeom prst="straightConnector1">
              <a:avLst/>
            </a:prstGeom>
            <a:noFill/>
            <a:ln w="25400" cap="rnd" cmpd="sng" algn="ctr">
              <a:solidFill>
                <a:srgbClr val="000000"/>
              </a:solidFill>
              <a:prstDash val="solid"/>
              <a:headEnd type="triangle" w="med" len="lg"/>
              <a:tailEnd type="triangle" w="med" len="lg"/>
            </a:ln>
            <a:effectLst/>
          </p:spPr>
        </p:cxnSp>
        <p:sp>
          <p:nvSpPr>
            <p:cNvPr id="38" name="Rectangle 41">
              <a:extLst>
                <a:ext uri="{FF2B5EF4-FFF2-40B4-BE49-F238E27FC236}">
                  <a16:creationId xmlns:a16="http://schemas.microsoft.com/office/drawing/2014/main" id="{C7BE4914-88BF-3541-A986-1D198C44F525}"/>
                </a:ext>
              </a:extLst>
            </p:cNvPr>
            <p:cNvSpPr/>
            <p:nvPr/>
          </p:nvSpPr>
          <p:spPr>
            <a:xfrm>
              <a:off x="6988686" y="2173069"/>
              <a:ext cx="1314647" cy="380177"/>
            </a:xfrm>
            <a:prstGeom prst="rect">
              <a:avLst/>
            </a:prstGeom>
            <a:solidFill>
              <a:srgbClr val="8064A2">
                <a:lumMod val="40000"/>
                <a:lumOff val="60000"/>
              </a:srgbClr>
            </a:solidFill>
            <a:ln w="25400" cap="flat" cmpd="sng" algn="ctr">
              <a:solidFill>
                <a:srgbClr val="000000"/>
              </a:solidFill>
              <a:prstDash val="solid"/>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srgbClr val="0432FF"/>
                  </a:solidFill>
                  <a:effectLst/>
                  <a:uLnTx/>
                  <a:uFillTx/>
                  <a:latin typeface="+mn-lt"/>
                  <a:ea typeface="+mn-ea"/>
                  <a:cs typeface="Arial" panose="020B0604020202020204" pitchFamily="34" charset="0"/>
                </a:rPr>
                <a:t>寄存器</a:t>
              </a:r>
              <a:endParaRPr kumimoji="0" lang="en-CN" sz="1800" b="1" i="0" u="none" strike="noStrike" kern="0" cap="none" spc="0" normalizeH="0" baseline="0" noProof="0" dirty="0">
                <a:ln>
                  <a:noFill/>
                </a:ln>
                <a:solidFill>
                  <a:srgbClr val="0432FF"/>
                </a:solidFill>
                <a:effectLst/>
                <a:uLnTx/>
                <a:uFillTx/>
                <a:latin typeface="+mn-lt"/>
                <a:ea typeface="+mn-ea"/>
                <a:cs typeface="Arial" panose="020B0604020202020204" pitchFamily="34" charset="0"/>
              </a:endParaRPr>
            </a:p>
          </p:txBody>
        </p:sp>
        <p:sp>
          <p:nvSpPr>
            <p:cNvPr id="41" name="Freeform 32">
              <a:extLst>
                <a:ext uri="{FF2B5EF4-FFF2-40B4-BE49-F238E27FC236}">
                  <a16:creationId xmlns:a16="http://schemas.microsoft.com/office/drawing/2014/main" id="{3A9C18DA-33ED-6B57-894E-7037A626200B}"/>
                </a:ext>
              </a:extLst>
            </p:cNvPr>
            <p:cNvSpPr/>
            <p:nvPr/>
          </p:nvSpPr>
          <p:spPr>
            <a:xfrm>
              <a:off x="6741590" y="1422677"/>
              <a:ext cx="242451" cy="1724378"/>
            </a:xfrm>
            <a:custGeom>
              <a:avLst/>
              <a:gdLst>
                <a:gd name="connsiteX0" fmla="*/ 852054 w 857250"/>
                <a:gd name="connsiteY0" fmla="*/ 0 h 789709"/>
                <a:gd name="connsiteX1" fmla="*/ 701386 w 857250"/>
                <a:gd name="connsiteY1" fmla="*/ 5196 h 789709"/>
                <a:gd name="connsiteX2" fmla="*/ 0 w 857250"/>
                <a:gd name="connsiteY2" fmla="*/ 5196 h 789709"/>
                <a:gd name="connsiteX3" fmla="*/ 0 w 857250"/>
                <a:gd name="connsiteY3" fmla="*/ 789709 h 789709"/>
                <a:gd name="connsiteX4" fmla="*/ 857250 w 857250"/>
                <a:gd name="connsiteY4" fmla="*/ 789709 h 7897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0" h="789709">
                  <a:moveTo>
                    <a:pt x="852054" y="0"/>
                  </a:moveTo>
                  <a:lnTo>
                    <a:pt x="701386" y="5196"/>
                  </a:lnTo>
                  <a:lnTo>
                    <a:pt x="0" y="5196"/>
                  </a:lnTo>
                  <a:lnTo>
                    <a:pt x="0" y="789709"/>
                  </a:lnTo>
                  <a:lnTo>
                    <a:pt x="857250" y="789709"/>
                  </a:lnTo>
                </a:path>
              </a:pathLst>
            </a:custGeom>
            <a:noFill/>
            <a:ln w="25400" cap="flat" cmpd="sng" algn="ctr">
              <a:solidFill>
                <a:srgbClr val="000000"/>
              </a:solidFill>
              <a:prstDash val="solid"/>
              <a:headEnd type="triangle" w="med" len="med"/>
              <a:tailEnd type="triangl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CN" sz="4600" b="1" i="0" u="none" strike="noStrike" kern="0" cap="none" spc="0" normalizeH="0" baseline="0" noProof="0">
                <a:ln>
                  <a:noFill/>
                </a:ln>
                <a:solidFill>
                  <a:srgbClr val="000000"/>
                </a:solidFill>
                <a:effectLst/>
                <a:uLnTx/>
                <a:uFillTx/>
                <a:latin typeface="+mn-lt"/>
                <a:ea typeface="+mn-ea"/>
                <a:cs typeface="+mn-cs"/>
              </a:endParaRPr>
            </a:p>
          </p:txBody>
        </p:sp>
        <p:sp>
          <p:nvSpPr>
            <p:cNvPr id="49" name="Freeform 2">
              <a:extLst>
                <a:ext uri="{FF2B5EF4-FFF2-40B4-BE49-F238E27FC236}">
                  <a16:creationId xmlns:a16="http://schemas.microsoft.com/office/drawing/2014/main" id="{DA611624-EE31-21E4-E525-DD4880C0479F}"/>
                </a:ext>
              </a:extLst>
            </p:cNvPr>
            <p:cNvSpPr/>
            <p:nvPr/>
          </p:nvSpPr>
          <p:spPr>
            <a:xfrm>
              <a:off x="8315661" y="1559859"/>
              <a:ext cx="430306" cy="806823"/>
            </a:xfrm>
            <a:custGeom>
              <a:avLst/>
              <a:gdLst>
                <a:gd name="connsiteX0" fmla="*/ 430306 w 430306"/>
                <a:gd name="connsiteY0" fmla="*/ 0 h 806823"/>
                <a:gd name="connsiteX1" fmla="*/ 430306 w 430306"/>
                <a:gd name="connsiteY1" fmla="*/ 806823 h 806823"/>
                <a:gd name="connsiteX2" fmla="*/ 0 w 430306"/>
                <a:gd name="connsiteY2" fmla="*/ 806823 h 806823"/>
              </a:gdLst>
              <a:ahLst/>
              <a:cxnLst>
                <a:cxn ang="0">
                  <a:pos x="connsiteX0" y="connsiteY0"/>
                </a:cxn>
                <a:cxn ang="0">
                  <a:pos x="connsiteX1" y="connsiteY1"/>
                </a:cxn>
                <a:cxn ang="0">
                  <a:pos x="connsiteX2" y="connsiteY2"/>
                </a:cxn>
              </a:cxnLst>
              <a:rect l="l" t="t" r="r" b="b"/>
              <a:pathLst>
                <a:path w="430306" h="806823">
                  <a:moveTo>
                    <a:pt x="430306" y="0"/>
                  </a:moveTo>
                  <a:lnTo>
                    <a:pt x="430306" y="806823"/>
                  </a:lnTo>
                  <a:lnTo>
                    <a:pt x="0" y="806823"/>
                  </a:lnTo>
                </a:path>
              </a:pathLst>
            </a:custGeom>
            <a:noFill/>
            <a:ln w="25400" cap="flat" cmpd="sng" algn="ctr">
              <a:solidFill>
                <a:srgbClr val="000000"/>
              </a:solidFill>
              <a:prstDash val="solid"/>
              <a:headEnd type="none" w="med" len="med"/>
              <a:tailEnd type="triangl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CN" sz="4600" b="1" i="0" u="none" strike="noStrike" kern="0" cap="none" spc="0" normalizeH="0" baseline="0" noProof="0">
                <a:ln>
                  <a:noFill/>
                </a:ln>
                <a:solidFill>
                  <a:srgbClr val="000000"/>
                </a:solidFill>
                <a:effectLst/>
                <a:uLnTx/>
                <a:uFillTx/>
                <a:latin typeface="+mn-lt"/>
                <a:ea typeface="+mn-ea"/>
                <a:cs typeface="+mn-cs"/>
              </a:endParaRPr>
            </a:p>
          </p:txBody>
        </p:sp>
        <p:sp>
          <p:nvSpPr>
            <p:cNvPr id="52" name="Rectangle 29" descr="e">
              <a:extLst>
                <a:ext uri="{FF2B5EF4-FFF2-40B4-BE49-F238E27FC236}">
                  <a16:creationId xmlns:a16="http://schemas.microsoft.com/office/drawing/2014/main" id="{0A45F329-B8A5-98BD-BB81-4C1053B92169}"/>
                </a:ext>
              </a:extLst>
            </p:cNvPr>
            <p:cNvSpPr>
              <a:spLocks/>
            </p:cNvSpPr>
            <p:nvPr/>
          </p:nvSpPr>
          <p:spPr>
            <a:xfrm>
              <a:off x="2634930" y="1070496"/>
              <a:ext cx="267523" cy="2301372"/>
            </a:xfrm>
            <a:prstGeom prst="rect">
              <a:avLst/>
            </a:prstGeom>
            <a:noFill/>
            <a:ln w="25400" cap="flat" cmpd="sng" algn="ctr">
              <a:solidFill>
                <a:srgbClr val="000000"/>
              </a:solidFill>
              <a:prstDash val="solid"/>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solidFill>
                    <a:srgbClr val="000000"/>
                  </a:solidFill>
                  <a:effectLst/>
                  <a:uLnTx/>
                  <a:uFillTx/>
                  <a:latin typeface="+mn-lt"/>
                  <a:ea typeface="+mn-ea"/>
                  <a:cs typeface="Arial" panose="020B0604020202020204" pitchFamily="34" charset="0"/>
                </a:rPr>
                <a:t>接口</a:t>
              </a:r>
            </a:p>
          </p:txBody>
        </p:sp>
        <p:sp>
          <p:nvSpPr>
            <p:cNvPr id="54" name="Rectangle 29" descr="e">
              <a:extLst>
                <a:ext uri="{FF2B5EF4-FFF2-40B4-BE49-F238E27FC236}">
                  <a16:creationId xmlns:a16="http://schemas.microsoft.com/office/drawing/2014/main" id="{15E3E5DC-385D-E737-CF20-4B68E78E8106}"/>
                </a:ext>
              </a:extLst>
            </p:cNvPr>
            <p:cNvSpPr/>
            <p:nvPr/>
          </p:nvSpPr>
          <p:spPr>
            <a:xfrm>
              <a:off x="780939" y="1070497"/>
              <a:ext cx="1853991" cy="1962818"/>
            </a:xfrm>
            <a:prstGeom prst="rect">
              <a:avLst/>
            </a:prstGeom>
            <a:solidFill>
              <a:srgbClr val="FFFFFF"/>
            </a:solidFill>
            <a:ln w="25400" cap="flat" cmpd="sng" algn="ctr">
              <a:solidFill>
                <a:srgbClr val="000000"/>
              </a:solidFill>
              <a:prstDash val="solid"/>
            </a:ln>
            <a:effectLst/>
          </p:spPr>
          <p:txBody>
            <a:bodyPr wrap="square" rtlCol="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zh-CN" sz="2000" b="1" i="0" u="none" strike="noStrike" kern="0" cap="none" spc="0" normalizeH="0" baseline="0" noProof="0" dirty="0">
                <a:ln>
                  <a:noFill/>
                </a:ln>
                <a:solidFill>
                  <a:srgbClr val="000000"/>
                </a:solidFill>
                <a:effectLst/>
                <a:uLnTx/>
                <a:uFillTx/>
                <a:latin typeface="+mn-lt"/>
                <a:ea typeface="+mn-ea"/>
                <a:cs typeface="Arial" panose="020B0604020202020204"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800" b="1" i="0" u="none" strike="noStrike" kern="0" cap="none" spc="0" normalizeH="0" baseline="0" noProof="0" dirty="0">
                  <a:ln>
                    <a:noFill/>
                  </a:ln>
                  <a:solidFill>
                    <a:srgbClr val="000000"/>
                  </a:solidFill>
                  <a:effectLst/>
                  <a:uLnTx/>
                  <a:uFillTx/>
                  <a:latin typeface="+mn-lt"/>
                  <a:ea typeface="+mn-ea"/>
                  <a:cs typeface="Arial" panose="020B0604020202020204" pitchFamily="34" charset="0"/>
                </a:rPr>
                <a:t>指令存储</a:t>
              </a:r>
            </a:p>
          </p:txBody>
        </p:sp>
        <p:sp>
          <p:nvSpPr>
            <p:cNvPr id="55" name="Rectangle 29" descr="e">
              <a:extLst>
                <a:ext uri="{FF2B5EF4-FFF2-40B4-BE49-F238E27FC236}">
                  <a16:creationId xmlns:a16="http://schemas.microsoft.com/office/drawing/2014/main" id="{BEC69929-FCE0-DB24-C1F5-44C1FEF1DFE5}"/>
                </a:ext>
              </a:extLst>
            </p:cNvPr>
            <p:cNvSpPr/>
            <p:nvPr/>
          </p:nvSpPr>
          <p:spPr>
            <a:xfrm>
              <a:off x="3952600" y="1076772"/>
              <a:ext cx="1691024" cy="2317433"/>
            </a:xfrm>
            <a:prstGeom prst="rect">
              <a:avLst/>
            </a:prstGeom>
            <a:solidFill>
              <a:srgbClr val="FFFFFF"/>
            </a:solidFill>
            <a:ln w="25400" cap="flat" cmpd="sng" algn="ctr">
              <a:solidFill>
                <a:srgbClr val="000000"/>
              </a:solidFill>
              <a:prstDash val="solid"/>
            </a:ln>
            <a:effectLst/>
          </p:spPr>
          <p:txBody>
            <a:bodyPr wrap="square" rtlCol="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zh-CN" sz="2000" b="1" i="0" u="none" strike="noStrike" kern="0" cap="none" spc="0" normalizeH="0" baseline="0" noProof="0" dirty="0">
                <a:ln>
                  <a:noFill/>
                </a:ln>
                <a:solidFill>
                  <a:srgbClr val="000000"/>
                </a:solidFill>
                <a:effectLst/>
                <a:uLnTx/>
                <a:uFillTx/>
                <a:latin typeface="+mn-lt"/>
                <a:ea typeface="+mn-ea"/>
                <a:cs typeface="Arial" panose="020B0604020202020204"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800" b="1" i="0" u="none" strike="noStrike" kern="0" cap="none" spc="0" normalizeH="0" baseline="0" noProof="0" dirty="0">
                  <a:ln>
                    <a:noFill/>
                  </a:ln>
                  <a:solidFill>
                    <a:srgbClr val="000000"/>
                  </a:solidFill>
                  <a:effectLst/>
                  <a:uLnTx/>
                  <a:uFillTx/>
                  <a:latin typeface="+mn-lt"/>
                  <a:ea typeface="+mn-ea"/>
                  <a:cs typeface="Arial" panose="020B0604020202020204" pitchFamily="34" charset="0"/>
                </a:rPr>
                <a:t>控制模块</a:t>
              </a:r>
            </a:p>
          </p:txBody>
        </p:sp>
        <p:sp>
          <p:nvSpPr>
            <p:cNvPr id="57" name="矩形 10">
              <a:extLst>
                <a:ext uri="{FF2B5EF4-FFF2-40B4-BE49-F238E27FC236}">
                  <a16:creationId xmlns:a16="http://schemas.microsoft.com/office/drawing/2014/main" id="{643CB99F-950A-0C4C-1451-F69D17C03AB5}"/>
                </a:ext>
              </a:extLst>
            </p:cNvPr>
            <p:cNvSpPr/>
            <p:nvPr/>
          </p:nvSpPr>
          <p:spPr>
            <a:xfrm>
              <a:off x="782680" y="2343484"/>
              <a:ext cx="1842445" cy="584775"/>
            </a:xfrm>
            <a:prstGeom prst="rect">
              <a:avLst/>
            </a:prstGeom>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solidFill>
                    <a:srgbClr val="000000"/>
                  </a:solidFill>
                  <a:effectLst/>
                  <a:uLnTx/>
                  <a:uFillTx/>
                  <a:latin typeface="+mn-lt"/>
                  <a:ea typeface="+mn-ea"/>
                  <a:cs typeface="Arial" panose="020B0604020202020204" pitchFamily="34" charset="0"/>
                </a:rPr>
                <a:t>所有指令按地址顺序存储</a:t>
              </a:r>
            </a:p>
          </p:txBody>
        </p:sp>
        <p:sp>
          <p:nvSpPr>
            <p:cNvPr id="58" name="矩形 10">
              <a:extLst>
                <a:ext uri="{FF2B5EF4-FFF2-40B4-BE49-F238E27FC236}">
                  <a16:creationId xmlns:a16="http://schemas.microsoft.com/office/drawing/2014/main" id="{C086FC21-803E-56EB-2486-9830E3F87E62}"/>
                </a:ext>
              </a:extLst>
            </p:cNvPr>
            <p:cNvSpPr/>
            <p:nvPr/>
          </p:nvSpPr>
          <p:spPr>
            <a:xfrm>
              <a:off x="3946544" y="2501591"/>
              <a:ext cx="1691025" cy="584775"/>
            </a:xfrm>
            <a:prstGeom prst="rect">
              <a:avLst/>
            </a:prstGeom>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solidFill>
                    <a:srgbClr val="000000">
                      <a:lumMod val="50000"/>
                      <a:lumOff val="50000"/>
                    </a:srgbClr>
                  </a:solidFill>
                  <a:effectLst/>
                  <a:uLnTx/>
                  <a:uFillTx/>
                  <a:latin typeface="+mn-lt"/>
                  <a:ea typeface="+mn-ea"/>
                  <a:cs typeface="Arial" panose="020B0604020202020204" pitchFamily="34" charset="0"/>
                </a:rPr>
                <a:t>指令解码</a:t>
              </a:r>
              <a:endParaRPr kumimoji="0" lang="en-US" altLang="zh-CN" sz="1600" b="1" i="0" u="none" strike="noStrike" kern="0" cap="none" spc="0" normalizeH="0" baseline="0" noProof="0" dirty="0">
                <a:ln>
                  <a:noFill/>
                </a:ln>
                <a:solidFill>
                  <a:srgbClr val="000000">
                    <a:lumMod val="50000"/>
                    <a:lumOff val="50000"/>
                  </a:srgbClr>
                </a:solidFill>
                <a:effectLst/>
                <a:uLnTx/>
                <a:uFillTx/>
                <a:latin typeface="+mn-lt"/>
                <a:ea typeface="+mn-ea"/>
                <a:cs typeface="Arial" panose="020B0604020202020204"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dirty="0">
                  <a:ln>
                    <a:noFill/>
                  </a:ln>
                  <a:solidFill>
                    <a:srgbClr val="000000">
                      <a:lumMod val="50000"/>
                      <a:lumOff val="50000"/>
                    </a:srgbClr>
                  </a:solidFill>
                  <a:effectLst/>
                  <a:uLnTx/>
                  <a:uFillTx/>
                  <a:latin typeface="+mn-lt"/>
                  <a:ea typeface="+mn-ea"/>
                  <a:cs typeface="Arial" panose="020B0604020202020204" pitchFamily="34" charset="0"/>
                </a:rPr>
                <a:t>&amp; </a:t>
              </a:r>
              <a:r>
                <a:rPr kumimoji="0" lang="zh-CN" altLang="en-US" sz="1600" b="1" i="0" u="none" strike="noStrike" kern="0" cap="none" spc="0" normalizeH="0" baseline="0" noProof="0" dirty="0">
                  <a:ln>
                    <a:noFill/>
                  </a:ln>
                  <a:solidFill>
                    <a:srgbClr val="000000">
                      <a:lumMod val="50000"/>
                      <a:lumOff val="50000"/>
                    </a:srgbClr>
                  </a:solidFill>
                  <a:effectLst/>
                  <a:uLnTx/>
                  <a:uFillTx/>
                  <a:latin typeface="+mn-lt"/>
                  <a:ea typeface="+mn-ea"/>
                  <a:cs typeface="Arial" panose="020B0604020202020204" pitchFamily="34" charset="0"/>
                </a:rPr>
                <a:t>控制信号生成</a:t>
              </a:r>
            </a:p>
          </p:txBody>
        </p:sp>
      </p:grpSp>
      <p:sp>
        <p:nvSpPr>
          <p:cNvPr id="3" name="Content Placeholder 2">
            <a:extLst>
              <a:ext uri="{FF2B5EF4-FFF2-40B4-BE49-F238E27FC236}">
                <a16:creationId xmlns:a16="http://schemas.microsoft.com/office/drawing/2014/main" id="{C61524B2-924B-0837-D5D3-C8A4A372780C}"/>
              </a:ext>
            </a:extLst>
          </p:cNvPr>
          <p:cNvSpPr txBox="1">
            <a:spLocks/>
          </p:cNvSpPr>
          <p:nvPr/>
        </p:nvSpPr>
        <p:spPr bwMode="auto">
          <a:xfrm>
            <a:off x="515938" y="4570152"/>
            <a:ext cx="8628062" cy="228784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0" rIns="91440" bIns="0" numCol="1" anchor="t" anchorCtr="0" compatLnSpc="1">
            <a:prstTxWarp prst="textNoShape">
              <a:avLst/>
            </a:prstTxWarp>
            <a:normAutofit/>
          </a:bodyPr>
          <a:lstStyle>
            <a:lvl1pPr marL="342900" indent="-342900" algn="l" rtl="0" eaLnBrk="1" fontAlgn="base" hangingPunct="1">
              <a:spcBef>
                <a:spcPct val="20000"/>
              </a:spcBef>
              <a:spcAft>
                <a:spcPct val="0"/>
              </a:spcAft>
              <a:buChar char="•"/>
              <a:defRPr sz="3200" b="1">
                <a:solidFill>
                  <a:schemeClr val="tx1"/>
                </a:solidFill>
                <a:latin typeface="+mn-lt"/>
                <a:ea typeface="黑体" panose="02010609060101010101" pitchFamily="49" charset="-122"/>
                <a:cs typeface="+mn-cs"/>
              </a:defRPr>
            </a:lvl1pPr>
            <a:lvl2pPr marL="742950" indent="-285750" algn="l" rtl="0" eaLnBrk="1" fontAlgn="base" hangingPunct="1">
              <a:spcBef>
                <a:spcPct val="20000"/>
              </a:spcBef>
              <a:spcAft>
                <a:spcPct val="0"/>
              </a:spcAft>
              <a:buChar char="–"/>
              <a:defRPr sz="2800" b="1">
                <a:solidFill>
                  <a:schemeClr val="tx1"/>
                </a:solidFill>
                <a:latin typeface="+mn-lt"/>
                <a:ea typeface="黑体" panose="02010609060101010101" pitchFamily="49" charset="-122"/>
              </a:defRPr>
            </a:lvl2pPr>
            <a:lvl3pPr marL="1143000" indent="-228600" algn="l" rtl="0" eaLnBrk="1" fontAlgn="base" hangingPunct="1">
              <a:spcBef>
                <a:spcPct val="20000"/>
              </a:spcBef>
              <a:spcAft>
                <a:spcPct val="0"/>
              </a:spcAft>
              <a:buChar char="•"/>
              <a:defRPr sz="2400" b="1">
                <a:solidFill>
                  <a:schemeClr val="tx1"/>
                </a:solidFill>
                <a:latin typeface="+mn-lt"/>
                <a:ea typeface="黑体" panose="02010609060101010101" pitchFamily="49" charset="-122"/>
              </a:defRPr>
            </a:lvl3pPr>
            <a:lvl4pPr marL="1600200" indent="-228600" algn="l" rtl="0" eaLnBrk="1" fontAlgn="base" hangingPunct="1">
              <a:spcBef>
                <a:spcPct val="20000"/>
              </a:spcBef>
              <a:spcAft>
                <a:spcPct val="0"/>
              </a:spcAft>
              <a:buChar char="–"/>
              <a:defRPr sz="2000" b="1">
                <a:solidFill>
                  <a:schemeClr val="tx1"/>
                </a:solidFill>
                <a:latin typeface="+mn-lt"/>
                <a:ea typeface="黑体" panose="02010609060101010101" pitchFamily="49" charset="-122"/>
              </a:defRPr>
            </a:lvl4pPr>
            <a:lvl5pPr marL="2057400" indent="-228600" algn="l" rtl="0" eaLnBrk="1" fontAlgn="base" hangingPunct="1">
              <a:spcBef>
                <a:spcPct val="20000"/>
              </a:spcBef>
              <a:spcAft>
                <a:spcPct val="0"/>
              </a:spcAft>
              <a:buChar char="»"/>
              <a:defRPr sz="2000" b="1">
                <a:solidFill>
                  <a:schemeClr val="tx1"/>
                </a:solidFill>
                <a:latin typeface="+mn-lt"/>
                <a:ea typeface="黑体" panose="02010609060101010101" pitchFamily="49" charset="-122"/>
              </a:defRPr>
            </a:lvl5pPr>
            <a:lvl6pPr marL="2514600" indent="-228600" algn="l" rtl="0" eaLnBrk="1" fontAlgn="base" hangingPunct="1">
              <a:spcBef>
                <a:spcPct val="20000"/>
              </a:spcBef>
              <a:spcAft>
                <a:spcPct val="0"/>
              </a:spcAft>
              <a:buChar char="»"/>
              <a:defRPr sz="2000" b="1">
                <a:solidFill>
                  <a:schemeClr val="tx1"/>
                </a:solidFill>
                <a:latin typeface="+mn-lt"/>
                <a:ea typeface="+mn-ea"/>
              </a:defRPr>
            </a:lvl6pPr>
            <a:lvl7pPr marL="2971800" indent="-228600" algn="l" rtl="0" eaLnBrk="1" fontAlgn="base" hangingPunct="1">
              <a:spcBef>
                <a:spcPct val="20000"/>
              </a:spcBef>
              <a:spcAft>
                <a:spcPct val="0"/>
              </a:spcAft>
              <a:buChar char="»"/>
              <a:defRPr sz="2000" b="1">
                <a:solidFill>
                  <a:schemeClr val="tx1"/>
                </a:solidFill>
                <a:latin typeface="+mn-lt"/>
                <a:ea typeface="+mn-ea"/>
              </a:defRPr>
            </a:lvl7pPr>
            <a:lvl8pPr marL="3429000" indent="-228600" algn="l" rtl="0" eaLnBrk="1" fontAlgn="base" hangingPunct="1">
              <a:spcBef>
                <a:spcPct val="20000"/>
              </a:spcBef>
              <a:spcAft>
                <a:spcPct val="0"/>
              </a:spcAft>
              <a:buChar char="»"/>
              <a:defRPr sz="2000" b="1">
                <a:solidFill>
                  <a:schemeClr val="tx1"/>
                </a:solidFill>
                <a:latin typeface="+mn-lt"/>
                <a:ea typeface="+mn-ea"/>
              </a:defRPr>
            </a:lvl8pPr>
            <a:lvl9pPr marL="3886200" indent="-228600" algn="l" rtl="0" eaLnBrk="1" fontAlgn="base" hangingPunct="1">
              <a:spcBef>
                <a:spcPct val="20000"/>
              </a:spcBef>
              <a:spcAft>
                <a:spcPct val="0"/>
              </a:spcAft>
              <a:buChar char="»"/>
              <a:defRPr sz="2000" b="1">
                <a:solidFill>
                  <a:schemeClr val="tx1"/>
                </a:solidFill>
                <a:latin typeface="+mn-lt"/>
                <a:ea typeface="+mn-ea"/>
              </a:defRPr>
            </a:lvl9pPr>
          </a:lstStyle>
          <a:p>
            <a:r>
              <a:rPr lang="en-CN" sz="2800" kern="0"/>
              <a:t>PC</a:t>
            </a:r>
          </a:p>
          <a:p>
            <a:pPr lvl="1"/>
            <a:r>
              <a:rPr lang="zh-CN" altLang="en-US" sz="2400" b="0" kern="0" dirty="0"/>
              <a:t>记录当前执行的指令地址</a:t>
            </a:r>
            <a:endParaRPr lang="en-US" altLang="zh-CN" sz="2400" b="0" kern="0" dirty="0"/>
          </a:p>
          <a:p>
            <a:r>
              <a:rPr lang="zh-CN" altLang="en-US" sz="2800" kern="0" dirty="0">
                <a:solidFill>
                  <a:srgbClr val="0432FF"/>
                </a:solidFill>
              </a:rPr>
              <a:t>寄存器</a:t>
            </a:r>
            <a:endParaRPr lang="en-CN" altLang="zh-CN" sz="2800" kern="0">
              <a:solidFill>
                <a:srgbClr val="0432FF"/>
              </a:solidFill>
            </a:endParaRPr>
          </a:p>
          <a:p>
            <a:pPr lvl="1"/>
            <a:r>
              <a:rPr lang="zh-CN" altLang="en-US" sz="2400" b="0" kern="0" dirty="0"/>
              <a:t>提供数据在</a:t>
            </a:r>
            <a:r>
              <a:rPr lang="en-US" altLang="zh-CN" sz="2400" b="0" kern="0" dirty="0"/>
              <a:t>CPU</a:t>
            </a:r>
            <a:r>
              <a:rPr lang="zh-CN" altLang="en-US" sz="2400" b="0" kern="0" dirty="0"/>
              <a:t>中的临时存储</a:t>
            </a:r>
            <a:endParaRPr lang="en-US" altLang="zh-CN" sz="2400" b="0" kern="0" dirty="0"/>
          </a:p>
          <a:p>
            <a:pPr lvl="1"/>
            <a:r>
              <a:rPr lang="zh-CN" altLang="en-US" sz="2400" b="0" kern="0" dirty="0"/>
              <a:t>只有</a:t>
            </a:r>
            <a:r>
              <a:rPr lang="en-US" altLang="zh-CN" sz="2400" b="0" kern="0" dirty="0"/>
              <a:t>load/store</a:t>
            </a:r>
            <a:r>
              <a:rPr lang="zh-CN" altLang="en-US" sz="2400" b="0" kern="0" dirty="0"/>
              <a:t>指令可以访问内存中的数据存储</a:t>
            </a:r>
            <a:endParaRPr lang="en-CN" altLang="zh-CN" sz="2400" b="0" kern="0"/>
          </a:p>
          <a:p>
            <a:pPr lvl="1"/>
            <a:endParaRPr lang="en-CN" sz="2400" kern="0" dirty="0"/>
          </a:p>
        </p:txBody>
      </p:sp>
    </p:spTree>
    <p:extLst>
      <p:ext uri="{BB962C8B-B14F-4D97-AF65-F5344CB8AC3E}">
        <p14:creationId xmlns:p14="http://schemas.microsoft.com/office/powerpoint/2010/main" val="5940699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a:extLst>
              <a:ext uri="{FF2B5EF4-FFF2-40B4-BE49-F238E27FC236}">
                <a16:creationId xmlns:a16="http://schemas.microsoft.com/office/drawing/2014/main" id="{68F7FF1C-DC59-5F43-A383-991D51B72C86}"/>
              </a:ext>
            </a:extLst>
          </p:cNvPr>
          <p:cNvSpPr>
            <a:spLocks noGrp="1"/>
          </p:cNvSpPr>
          <p:nvPr>
            <p:ph type="sldNum" sz="quarter" idx="12"/>
          </p:nvPr>
        </p:nvSpPr>
        <p:spPr/>
        <p:txBody>
          <a:bodyPr/>
          <a:lstStyle/>
          <a:p>
            <a:fld id="{14659731-6BD7-46E7-8D3C-2F3AC07E20B1}" type="slidenum">
              <a:rPr lang="en-US" altLang="zh-CN" smtClean="0"/>
              <a:pPr/>
              <a:t>14</a:t>
            </a:fld>
            <a:endParaRPr lang="en-US" altLang="zh-CN"/>
          </a:p>
        </p:txBody>
      </p:sp>
      <p:sp>
        <p:nvSpPr>
          <p:cNvPr id="36" name="Rectangle 3">
            <a:extLst>
              <a:ext uri="{FF2B5EF4-FFF2-40B4-BE49-F238E27FC236}">
                <a16:creationId xmlns:a16="http://schemas.microsoft.com/office/drawing/2014/main" id="{1AF4C294-9B96-4AC7-A8CA-FB8884B6204B}"/>
              </a:ext>
            </a:extLst>
          </p:cNvPr>
          <p:cNvSpPr>
            <a:spLocks noGrp="1" noChangeArrowheads="1"/>
          </p:cNvSpPr>
          <p:nvPr>
            <p:ph idx="4294967295"/>
          </p:nvPr>
        </p:nvSpPr>
        <p:spPr>
          <a:xfrm>
            <a:off x="529686" y="1392053"/>
            <a:ext cx="7886700" cy="4351338"/>
          </a:xfrm>
        </p:spPr>
        <p:txBody>
          <a:bodyPr>
            <a:normAutofit lnSpcReduction="10000"/>
          </a:bodyPr>
          <a:lstStyle/>
          <a:p>
            <a:pPr>
              <a:lnSpc>
                <a:spcPct val="120000"/>
              </a:lnSpc>
            </a:pPr>
            <a:r>
              <a:rPr lang="zh-CN" altLang="en-US" sz="3000" dirty="0"/>
              <a:t>目的：更快速、更简单</a:t>
            </a:r>
            <a:endParaRPr lang="en-US" altLang="zh-CN" sz="3000" dirty="0"/>
          </a:p>
          <a:p>
            <a:pPr>
              <a:lnSpc>
                <a:spcPct val="120000"/>
              </a:lnSpc>
            </a:pPr>
            <a:r>
              <a:rPr lang="zh-CN" altLang="en-US" sz="3000" dirty="0"/>
              <a:t>需要包含的信息</a:t>
            </a:r>
            <a:endParaRPr lang="en-US" altLang="zh-CN" sz="3000" dirty="0"/>
          </a:p>
          <a:p>
            <a:pPr lvl="1">
              <a:lnSpc>
                <a:spcPct val="120000"/>
              </a:lnSpc>
            </a:pPr>
            <a:r>
              <a:rPr lang="zh-CN" altLang="en-US" sz="2600" dirty="0"/>
              <a:t>指令的操作</a:t>
            </a:r>
            <a:endParaRPr lang="en-US" altLang="zh-CN" sz="2600" dirty="0"/>
          </a:p>
          <a:p>
            <a:pPr lvl="1">
              <a:lnSpc>
                <a:spcPct val="120000"/>
              </a:lnSpc>
            </a:pPr>
            <a:r>
              <a:rPr lang="zh-CN" altLang="en-US" sz="2600" dirty="0"/>
              <a:t>操作数，数据，地址</a:t>
            </a:r>
            <a:endParaRPr lang="en-US" altLang="zh-CN" sz="2600" dirty="0"/>
          </a:p>
          <a:p>
            <a:pPr lvl="2">
              <a:lnSpc>
                <a:spcPct val="120000"/>
              </a:lnSpc>
            </a:pPr>
            <a:r>
              <a:rPr lang="zh-CN" altLang="en-US" sz="2200" dirty="0"/>
              <a:t>寄存器</a:t>
            </a:r>
            <a:endParaRPr lang="en-US" altLang="zh-CN" sz="2200" dirty="0"/>
          </a:p>
          <a:p>
            <a:pPr lvl="2">
              <a:lnSpc>
                <a:spcPct val="120000"/>
              </a:lnSpc>
            </a:pPr>
            <a:r>
              <a:rPr lang="zh-CN" altLang="en-US" sz="2200" dirty="0"/>
              <a:t>立即数操作数</a:t>
            </a:r>
            <a:r>
              <a:rPr lang="en-US" altLang="zh-CN" sz="2200" dirty="0"/>
              <a:t>/</a:t>
            </a:r>
            <a:r>
              <a:rPr lang="zh-CN" altLang="en-US" sz="2200" dirty="0"/>
              <a:t>地址</a:t>
            </a:r>
            <a:endParaRPr lang="en-US" altLang="zh-CN" sz="2200" dirty="0"/>
          </a:p>
          <a:p>
            <a:pPr lvl="3">
              <a:lnSpc>
                <a:spcPct val="120000"/>
              </a:lnSpc>
            </a:pPr>
            <a:r>
              <a:rPr lang="zh-CN" altLang="en-US" sz="2200" dirty="0"/>
              <a:t>算术数值、分支和跳转地址、访存地址</a:t>
            </a:r>
            <a:endParaRPr lang="en-US" altLang="zh-CN" sz="2200" dirty="0"/>
          </a:p>
          <a:p>
            <a:pPr>
              <a:lnSpc>
                <a:spcPct val="120000"/>
              </a:lnSpc>
            </a:pPr>
            <a:r>
              <a:rPr lang="zh-CN" altLang="en-US" sz="3000" dirty="0"/>
              <a:t>预留以后加入新指令需要的空间</a:t>
            </a:r>
            <a:endParaRPr lang="en-US" altLang="zh-CN" sz="3000" dirty="0"/>
          </a:p>
        </p:txBody>
      </p:sp>
      <p:sp>
        <p:nvSpPr>
          <p:cNvPr id="6" name="Rectangle 5">
            <a:extLst>
              <a:ext uri="{FF2B5EF4-FFF2-40B4-BE49-F238E27FC236}">
                <a16:creationId xmlns:a16="http://schemas.microsoft.com/office/drawing/2014/main" id="{67A5829A-6BC4-4682-BB89-80A9DE1CCE7E}"/>
              </a:ext>
            </a:extLst>
          </p:cNvPr>
          <p:cNvSpPr/>
          <p:nvPr/>
        </p:nvSpPr>
        <p:spPr>
          <a:xfrm>
            <a:off x="596348" y="5621331"/>
            <a:ext cx="7951304" cy="457200"/>
          </a:xfrm>
          <a:prstGeom prst="rect">
            <a:avLst/>
          </a:prstGeom>
          <a:noFill/>
        </p:spPr>
        <p:style>
          <a:lnRef idx="2">
            <a:schemeClr val="dk1"/>
          </a:lnRef>
          <a:fillRef idx="1">
            <a:schemeClr val="lt1"/>
          </a:fillRef>
          <a:effectRef idx="0">
            <a:schemeClr val="dk1"/>
          </a:effectRef>
          <a:fontRef idx="minor">
            <a:schemeClr val="dk1"/>
          </a:fontRef>
        </p:style>
        <p:txBody>
          <a:bodyPr wrap="square" rtlCol="0" anchor="ctr">
            <a:noAutofit/>
          </a:bodyPr>
          <a:lstStyle/>
          <a:p>
            <a:pPr algn="l"/>
            <a:endParaRPr lang="zh-CN" altLang="en-US" sz="1800" b="1">
              <a:solidFill>
                <a:schemeClr val="tx1"/>
              </a:solidFill>
              <a:latin typeface="Arial" panose="020B0604020202020204" pitchFamily="34" charset="0"/>
              <a:cs typeface="Arial" panose="020B0604020202020204" pitchFamily="34" charset="0"/>
            </a:endParaRPr>
          </a:p>
        </p:txBody>
      </p:sp>
      <p:cxnSp>
        <p:nvCxnSpPr>
          <p:cNvPr id="7" name="Straight Connector 6">
            <a:extLst>
              <a:ext uri="{FF2B5EF4-FFF2-40B4-BE49-F238E27FC236}">
                <a16:creationId xmlns:a16="http://schemas.microsoft.com/office/drawing/2014/main" id="{2A3AB49C-4002-40E9-ADB0-9AB91954BC6E}"/>
              </a:ext>
            </a:extLst>
          </p:cNvPr>
          <p:cNvCxnSpPr>
            <a:cxnSpLocks/>
          </p:cNvCxnSpPr>
          <p:nvPr/>
        </p:nvCxnSpPr>
        <p:spPr>
          <a:xfrm>
            <a:off x="2693504" y="5624258"/>
            <a:ext cx="0" cy="4671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38220A9-39B4-478C-BE8B-35BCA5C71596}"/>
              </a:ext>
            </a:extLst>
          </p:cNvPr>
          <p:cNvSpPr txBox="1"/>
          <p:nvPr/>
        </p:nvSpPr>
        <p:spPr>
          <a:xfrm>
            <a:off x="819151" y="5626300"/>
            <a:ext cx="1597895" cy="461665"/>
          </a:xfrm>
          <a:prstGeom prst="rect">
            <a:avLst/>
          </a:prstGeom>
          <a:noFill/>
        </p:spPr>
        <p:txBody>
          <a:bodyPr wrap="square" rtlCol="0">
            <a:spAutoFit/>
          </a:bodyPr>
          <a:lstStyle/>
          <a:p>
            <a:pPr algn="ctr"/>
            <a:r>
              <a:rPr lang="zh-CN" altLang="en-US" sz="2400" b="1" dirty="0">
                <a:solidFill>
                  <a:schemeClr val="tx1"/>
                </a:solidFill>
                <a:latin typeface="+mj-ea"/>
                <a:ea typeface="+mj-ea"/>
              </a:rPr>
              <a:t>操作</a:t>
            </a:r>
          </a:p>
        </p:txBody>
      </p:sp>
      <p:sp>
        <p:nvSpPr>
          <p:cNvPr id="12" name="TextBox 11">
            <a:extLst>
              <a:ext uri="{FF2B5EF4-FFF2-40B4-BE49-F238E27FC236}">
                <a16:creationId xmlns:a16="http://schemas.microsoft.com/office/drawing/2014/main" id="{1BC14241-A454-4888-9E91-78C8701C58AE}"/>
              </a:ext>
            </a:extLst>
          </p:cNvPr>
          <p:cNvSpPr txBox="1"/>
          <p:nvPr/>
        </p:nvSpPr>
        <p:spPr>
          <a:xfrm>
            <a:off x="4571999" y="5626300"/>
            <a:ext cx="2154945" cy="461665"/>
          </a:xfrm>
          <a:prstGeom prst="rect">
            <a:avLst/>
          </a:prstGeom>
          <a:noFill/>
        </p:spPr>
        <p:txBody>
          <a:bodyPr wrap="square" rtlCol="0">
            <a:spAutoFit/>
          </a:bodyPr>
          <a:lstStyle/>
          <a:p>
            <a:r>
              <a:rPr lang="zh-CN" altLang="en-US" sz="2400" b="1" dirty="0">
                <a:solidFill>
                  <a:schemeClr val="tx1"/>
                </a:solidFill>
                <a:latin typeface="+mj-ea"/>
                <a:ea typeface="+mj-ea"/>
              </a:rPr>
              <a:t>操作数或地址</a:t>
            </a:r>
          </a:p>
        </p:txBody>
      </p:sp>
      <p:sp>
        <p:nvSpPr>
          <p:cNvPr id="2" name="Title 4">
            <a:extLst>
              <a:ext uri="{FF2B5EF4-FFF2-40B4-BE49-F238E27FC236}">
                <a16:creationId xmlns:a16="http://schemas.microsoft.com/office/drawing/2014/main" id="{A011E4E4-3635-55CB-9690-A643DFB0DF99}"/>
              </a:ext>
            </a:extLst>
          </p:cNvPr>
          <p:cNvSpPr txBox="1">
            <a:spLocks/>
          </p:cNvSpPr>
          <p:nvPr/>
        </p:nvSpPr>
        <p:spPr bwMode="auto">
          <a:xfrm>
            <a:off x="457200" y="136800"/>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kumimoji="1" lang="zh-CN" altLang="en-US" dirty="0"/>
              <a:t>指令集设计：目标</a:t>
            </a:r>
            <a:endParaRPr lang="en-CN" kern="0" dirty="0"/>
          </a:p>
        </p:txBody>
      </p:sp>
    </p:spTree>
    <p:extLst>
      <p:ext uri="{BB962C8B-B14F-4D97-AF65-F5344CB8AC3E}">
        <p14:creationId xmlns:p14="http://schemas.microsoft.com/office/powerpoint/2010/main" val="8197302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a:extLst>
              <a:ext uri="{FF2B5EF4-FFF2-40B4-BE49-F238E27FC236}">
                <a16:creationId xmlns:a16="http://schemas.microsoft.com/office/drawing/2014/main" id="{68F7FF1C-DC59-5F43-A383-991D51B72C86}"/>
              </a:ext>
            </a:extLst>
          </p:cNvPr>
          <p:cNvSpPr>
            <a:spLocks noGrp="1"/>
          </p:cNvSpPr>
          <p:nvPr>
            <p:ph type="sldNum" sz="quarter" idx="12"/>
          </p:nvPr>
        </p:nvSpPr>
        <p:spPr/>
        <p:txBody>
          <a:bodyPr/>
          <a:lstStyle/>
          <a:p>
            <a:fld id="{14659731-6BD7-46E7-8D3C-2F3AC07E20B1}" type="slidenum">
              <a:rPr lang="en-US" altLang="zh-CN" smtClean="0"/>
              <a:pPr/>
              <a:t>15</a:t>
            </a:fld>
            <a:endParaRPr lang="en-US" altLang="zh-CN"/>
          </a:p>
        </p:txBody>
      </p:sp>
      <p:sp>
        <p:nvSpPr>
          <p:cNvPr id="36" name="Rectangle 3">
            <a:extLst>
              <a:ext uri="{FF2B5EF4-FFF2-40B4-BE49-F238E27FC236}">
                <a16:creationId xmlns:a16="http://schemas.microsoft.com/office/drawing/2014/main" id="{1AF4C294-9B96-4AC7-A8CA-FB8884B6204B}"/>
              </a:ext>
            </a:extLst>
          </p:cNvPr>
          <p:cNvSpPr>
            <a:spLocks noGrp="1" noChangeArrowheads="1"/>
          </p:cNvSpPr>
          <p:nvPr>
            <p:ph idx="4294967295"/>
          </p:nvPr>
        </p:nvSpPr>
        <p:spPr>
          <a:xfrm>
            <a:off x="279779" y="1315309"/>
            <a:ext cx="8864221" cy="4227381"/>
          </a:xfrm>
        </p:spPr>
        <p:txBody>
          <a:bodyPr>
            <a:normAutofit fontScale="92500"/>
          </a:bodyPr>
          <a:lstStyle/>
          <a:p>
            <a:pPr>
              <a:lnSpc>
                <a:spcPct val="110000"/>
              </a:lnSpc>
            </a:pPr>
            <a:r>
              <a:rPr lang="zh-CN" altLang="en-US" dirty="0"/>
              <a:t>最小访存单位（例如</a:t>
            </a:r>
            <a:r>
              <a:rPr lang="en-US" altLang="zh-CN" dirty="0"/>
              <a:t>8</a:t>
            </a:r>
            <a:r>
              <a:rPr lang="zh-CN" altLang="en-US" dirty="0"/>
              <a:t>比特）</a:t>
            </a:r>
            <a:endParaRPr lang="en-US" altLang="zh-CN" dirty="0"/>
          </a:p>
          <a:p>
            <a:pPr lvl="1">
              <a:lnSpc>
                <a:spcPct val="110000"/>
              </a:lnSpc>
            </a:pPr>
            <a:r>
              <a:rPr lang="zh-CN" altLang="en-US" b="0" dirty="0"/>
              <a:t>单条指令长度是</a:t>
            </a:r>
            <a:r>
              <a:rPr lang="en-US" altLang="zh-CN" b="0" dirty="0"/>
              <a:t>Byte</a:t>
            </a:r>
            <a:r>
              <a:rPr lang="zh-CN" altLang="en-US" b="0" dirty="0"/>
              <a:t>的整数倍（例：</a:t>
            </a:r>
            <a:r>
              <a:rPr lang="en-US" altLang="zh-CN" b="0" dirty="0"/>
              <a:t>32bit</a:t>
            </a:r>
            <a:r>
              <a:rPr lang="zh-CN" altLang="en-US" b="0" dirty="0"/>
              <a:t>）</a:t>
            </a:r>
            <a:endParaRPr lang="en-US" altLang="zh-CN" b="0" dirty="0"/>
          </a:p>
          <a:p>
            <a:pPr>
              <a:lnSpc>
                <a:spcPct val="110000"/>
              </a:lnSpc>
            </a:pPr>
            <a:r>
              <a:rPr lang="zh-CN" altLang="en-US" dirty="0"/>
              <a:t>支持一定数量通用寄存器（例如</a:t>
            </a:r>
            <a:r>
              <a:rPr lang="en-US" altLang="zh-CN" dirty="0"/>
              <a:t>32</a:t>
            </a:r>
            <a:r>
              <a:rPr lang="zh-CN" altLang="en-US" dirty="0"/>
              <a:t>个） </a:t>
            </a:r>
            <a:endParaRPr lang="en-US" altLang="zh-CN" dirty="0"/>
          </a:p>
          <a:p>
            <a:pPr lvl="1">
              <a:lnSpc>
                <a:spcPct val="110000"/>
              </a:lnSpc>
            </a:pPr>
            <a:r>
              <a:rPr lang="zh-CN" altLang="en-US" b="0" dirty="0"/>
              <a:t>例：区分</a:t>
            </a:r>
            <a:r>
              <a:rPr lang="en-US" altLang="zh-CN" b="0" dirty="0"/>
              <a:t>32</a:t>
            </a:r>
            <a:r>
              <a:rPr lang="zh-CN" altLang="en-US" b="0" dirty="0"/>
              <a:t>个寄存器需要用</a:t>
            </a:r>
            <a:r>
              <a:rPr lang="en-US" altLang="zh-CN" b="0" dirty="0"/>
              <a:t>5bit</a:t>
            </a:r>
            <a:r>
              <a:rPr lang="zh-CN" altLang="en-US" b="0" dirty="0"/>
              <a:t>编码</a:t>
            </a:r>
            <a:endParaRPr lang="en-US" altLang="zh-CN" b="0" dirty="0"/>
          </a:p>
          <a:p>
            <a:pPr>
              <a:lnSpc>
                <a:spcPct val="110000"/>
              </a:lnSpc>
            </a:pPr>
            <a:r>
              <a:rPr lang="zh-CN" altLang="en-US" dirty="0"/>
              <a:t>如简化指令共</a:t>
            </a:r>
            <a:r>
              <a:rPr lang="en-US" altLang="zh-CN" dirty="0"/>
              <a:t>29</a:t>
            </a:r>
            <a:r>
              <a:rPr lang="zh-CN" altLang="en-US" dirty="0"/>
              <a:t>条</a:t>
            </a:r>
            <a:r>
              <a:rPr lang="en-US" altLang="zh-CN" dirty="0">
                <a:sym typeface="Wingdings" panose="05000000000000000000" pitchFamily="2" charset="2"/>
              </a:rPr>
              <a:t></a:t>
            </a:r>
            <a:r>
              <a:rPr lang="zh-CN" altLang="en-US" dirty="0">
                <a:sym typeface="Wingdings" panose="05000000000000000000" pitchFamily="2" charset="2"/>
              </a:rPr>
              <a:t>至少</a:t>
            </a:r>
            <a:r>
              <a:rPr lang="en-US" altLang="zh-CN" dirty="0">
                <a:sym typeface="Wingdings" panose="05000000000000000000" pitchFamily="2" charset="2"/>
              </a:rPr>
              <a:t>5bit</a:t>
            </a:r>
            <a:r>
              <a:rPr lang="zh-CN" altLang="en-US" dirty="0">
                <a:sym typeface="Wingdings" panose="05000000000000000000" pitchFamily="2" charset="2"/>
              </a:rPr>
              <a:t>用于表示不同指令</a:t>
            </a:r>
            <a:endParaRPr lang="en-US" altLang="zh-CN" dirty="0">
              <a:sym typeface="Wingdings" panose="05000000000000000000" pitchFamily="2" charset="2"/>
            </a:endParaRPr>
          </a:p>
          <a:p>
            <a:pPr lvl="1">
              <a:lnSpc>
                <a:spcPct val="110000"/>
              </a:lnSpc>
            </a:pPr>
            <a:r>
              <a:rPr lang="en-US" altLang="zh-CN" b="0" dirty="0"/>
              <a:t>16</a:t>
            </a:r>
            <a:r>
              <a:rPr lang="zh-CN" altLang="en-US" b="0" dirty="0"/>
              <a:t>条算术指令 </a:t>
            </a:r>
            <a:r>
              <a:rPr lang="en-US" altLang="zh-CN" b="0" dirty="0"/>
              <a:t>+ 13</a:t>
            </a:r>
            <a:r>
              <a:rPr lang="zh-CN" altLang="en-US" b="0" dirty="0"/>
              <a:t>条其他指令</a:t>
            </a:r>
            <a:endParaRPr lang="en-US" altLang="zh-CN" b="0" dirty="0"/>
          </a:p>
          <a:p>
            <a:pPr lvl="1">
              <a:lnSpc>
                <a:spcPct val="110000"/>
              </a:lnSpc>
            </a:pPr>
            <a:r>
              <a:rPr lang="zh-CN" altLang="en-US" b="0" dirty="0"/>
              <a:t>保留一些比特用于未来加入的指令编码</a:t>
            </a:r>
            <a:endParaRPr lang="en-US" altLang="zh-CN" b="0" dirty="0"/>
          </a:p>
        </p:txBody>
      </p:sp>
      <p:grpSp>
        <p:nvGrpSpPr>
          <p:cNvPr id="6" name="组合 5">
            <a:extLst>
              <a:ext uri="{FF2B5EF4-FFF2-40B4-BE49-F238E27FC236}">
                <a16:creationId xmlns:a16="http://schemas.microsoft.com/office/drawing/2014/main" id="{245B5886-A09E-A423-C587-AFFEC098BAF1}"/>
              </a:ext>
            </a:extLst>
          </p:cNvPr>
          <p:cNvGrpSpPr/>
          <p:nvPr/>
        </p:nvGrpSpPr>
        <p:grpSpPr>
          <a:xfrm>
            <a:off x="457200" y="5223929"/>
            <a:ext cx="7951304" cy="1439079"/>
            <a:chOff x="457200" y="5223929"/>
            <a:chExt cx="7951304" cy="1439079"/>
          </a:xfrm>
        </p:grpSpPr>
        <p:sp>
          <p:nvSpPr>
            <p:cNvPr id="2" name="Rectangle 1">
              <a:extLst>
                <a:ext uri="{FF2B5EF4-FFF2-40B4-BE49-F238E27FC236}">
                  <a16:creationId xmlns:a16="http://schemas.microsoft.com/office/drawing/2014/main" id="{9C8F1DB9-6432-4F26-84DE-643D07C20215}"/>
                </a:ext>
              </a:extLst>
            </p:cNvPr>
            <p:cNvSpPr/>
            <p:nvPr/>
          </p:nvSpPr>
          <p:spPr>
            <a:xfrm>
              <a:off x="457200" y="5233869"/>
              <a:ext cx="7951304" cy="457200"/>
            </a:xfrm>
            <a:prstGeom prst="rect">
              <a:avLst/>
            </a:prstGeom>
            <a:noFill/>
          </p:spPr>
          <p:style>
            <a:lnRef idx="2">
              <a:schemeClr val="dk1"/>
            </a:lnRef>
            <a:fillRef idx="1">
              <a:schemeClr val="lt1"/>
            </a:fillRef>
            <a:effectRef idx="0">
              <a:schemeClr val="dk1"/>
            </a:effectRef>
            <a:fontRef idx="minor">
              <a:schemeClr val="dk1"/>
            </a:fontRef>
          </p:style>
          <p:txBody>
            <a:bodyPr wrap="square" rtlCol="0" anchor="ctr">
              <a:noAutofit/>
            </a:bodyPr>
            <a:lstStyle/>
            <a:p>
              <a:pPr algn="ctr"/>
              <a:endParaRPr lang="zh-CN" altLang="en-US" sz="1800" b="1">
                <a:solidFill>
                  <a:schemeClr val="tx1"/>
                </a:solidFill>
                <a:latin typeface="Arial" panose="020B0604020202020204" pitchFamily="34" charset="0"/>
                <a:cs typeface="Arial" panose="020B0604020202020204" pitchFamily="34" charset="0"/>
              </a:endParaRPr>
            </a:p>
          </p:txBody>
        </p:sp>
        <p:cxnSp>
          <p:nvCxnSpPr>
            <p:cNvPr id="4" name="Straight Connector 3">
              <a:extLst>
                <a:ext uri="{FF2B5EF4-FFF2-40B4-BE49-F238E27FC236}">
                  <a16:creationId xmlns:a16="http://schemas.microsoft.com/office/drawing/2014/main" id="{7019E190-889D-4654-B7D5-5490BE9F841E}"/>
                </a:ext>
              </a:extLst>
            </p:cNvPr>
            <p:cNvCxnSpPr>
              <a:cxnSpLocks/>
            </p:cNvCxnSpPr>
            <p:nvPr/>
          </p:nvCxnSpPr>
          <p:spPr>
            <a:xfrm>
              <a:off x="2554356" y="5223929"/>
              <a:ext cx="0" cy="4671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B83CC1E-DC35-487C-83E0-C488BA608F67}"/>
                </a:ext>
              </a:extLst>
            </p:cNvPr>
            <p:cNvSpPr txBox="1"/>
            <p:nvPr/>
          </p:nvSpPr>
          <p:spPr>
            <a:xfrm>
              <a:off x="1028724" y="5701009"/>
              <a:ext cx="968535" cy="400110"/>
            </a:xfrm>
            <a:prstGeom prst="rect">
              <a:avLst/>
            </a:prstGeom>
            <a:noFill/>
          </p:spPr>
          <p:txBody>
            <a:bodyPr wrap="none" rtlCol="0">
              <a:spAutoFit/>
            </a:bodyPr>
            <a:lstStyle/>
            <a:p>
              <a:pPr algn="ctr"/>
              <a:r>
                <a:rPr lang="zh-CN" altLang="en-US" sz="2000" b="1">
                  <a:solidFill>
                    <a:schemeClr val="tx1"/>
                  </a:solidFill>
                  <a:latin typeface="+mj-ea"/>
                  <a:ea typeface="+mj-ea"/>
                </a:rPr>
                <a:t>操作码</a:t>
              </a:r>
            </a:p>
          </p:txBody>
        </p:sp>
        <p:sp>
          <p:nvSpPr>
            <p:cNvPr id="15" name="TextBox 14">
              <a:extLst>
                <a:ext uri="{FF2B5EF4-FFF2-40B4-BE49-F238E27FC236}">
                  <a16:creationId xmlns:a16="http://schemas.microsoft.com/office/drawing/2014/main" id="{C8A249BB-1D91-4FB0-B971-D0435BCF451B}"/>
                </a:ext>
              </a:extLst>
            </p:cNvPr>
            <p:cNvSpPr txBox="1"/>
            <p:nvPr/>
          </p:nvSpPr>
          <p:spPr>
            <a:xfrm>
              <a:off x="1103244" y="5238838"/>
              <a:ext cx="805068" cy="461665"/>
            </a:xfrm>
            <a:prstGeom prst="rect">
              <a:avLst/>
            </a:prstGeom>
            <a:noFill/>
          </p:spPr>
          <p:txBody>
            <a:bodyPr wrap="square" rtlCol="0">
              <a:spAutoFit/>
            </a:bodyPr>
            <a:lstStyle/>
            <a:p>
              <a:pPr algn="ctr"/>
              <a:r>
                <a:rPr lang="en-US" altLang="zh-CN" sz="2400" b="1">
                  <a:solidFill>
                    <a:srgbClr val="0432FF"/>
                  </a:solidFill>
                  <a:latin typeface="+mn-lt"/>
                </a:rPr>
                <a:t>6bit</a:t>
              </a:r>
              <a:endParaRPr lang="zh-CN" altLang="en-US" sz="2400" b="1">
                <a:solidFill>
                  <a:srgbClr val="0432FF"/>
                </a:solidFill>
                <a:latin typeface="+mn-lt"/>
              </a:endParaRPr>
            </a:p>
          </p:txBody>
        </p:sp>
        <p:sp>
          <p:nvSpPr>
            <p:cNvPr id="16" name="TextBox 15">
              <a:extLst>
                <a:ext uri="{FF2B5EF4-FFF2-40B4-BE49-F238E27FC236}">
                  <a16:creationId xmlns:a16="http://schemas.microsoft.com/office/drawing/2014/main" id="{F22EF01D-4157-49F4-AD2F-162B42E7F457}"/>
                </a:ext>
              </a:extLst>
            </p:cNvPr>
            <p:cNvSpPr txBox="1"/>
            <p:nvPr/>
          </p:nvSpPr>
          <p:spPr>
            <a:xfrm>
              <a:off x="4969566" y="5238838"/>
              <a:ext cx="1162877" cy="461665"/>
            </a:xfrm>
            <a:prstGeom prst="rect">
              <a:avLst/>
            </a:prstGeom>
            <a:noFill/>
          </p:spPr>
          <p:txBody>
            <a:bodyPr wrap="square" rtlCol="0">
              <a:spAutoFit/>
            </a:bodyPr>
            <a:lstStyle/>
            <a:p>
              <a:pPr algn="ctr"/>
              <a:r>
                <a:rPr lang="en-US" altLang="zh-CN" sz="2400" b="1">
                  <a:solidFill>
                    <a:srgbClr val="0432FF"/>
                  </a:solidFill>
                  <a:latin typeface="+mn-lt"/>
                </a:rPr>
                <a:t>26bit</a:t>
              </a:r>
              <a:endParaRPr lang="zh-CN" altLang="en-US" sz="2400" b="1">
                <a:solidFill>
                  <a:srgbClr val="0432FF"/>
                </a:solidFill>
                <a:latin typeface="+mn-lt"/>
              </a:endParaRPr>
            </a:p>
          </p:txBody>
        </p:sp>
        <p:sp>
          <p:nvSpPr>
            <p:cNvPr id="17" name="TextBox 16">
              <a:extLst>
                <a:ext uri="{FF2B5EF4-FFF2-40B4-BE49-F238E27FC236}">
                  <a16:creationId xmlns:a16="http://schemas.microsoft.com/office/drawing/2014/main" id="{08FF2F53-4343-4929-9F51-9120DE87B276}"/>
                </a:ext>
              </a:extLst>
            </p:cNvPr>
            <p:cNvSpPr txBox="1"/>
            <p:nvPr/>
          </p:nvSpPr>
          <p:spPr>
            <a:xfrm>
              <a:off x="4689231" y="5708878"/>
              <a:ext cx="1752403" cy="400110"/>
            </a:xfrm>
            <a:prstGeom prst="rect">
              <a:avLst/>
            </a:prstGeom>
            <a:noFill/>
          </p:spPr>
          <p:txBody>
            <a:bodyPr wrap="none" rtlCol="0">
              <a:spAutoFit/>
            </a:bodyPr>
            <a:lstStyle/>
            <a:p>
              <a:pPr algn="ctr"/>
              <a:r>
                <a:rPr lang="zh-CN" altLang="en-US" sz="2000" b="1">
                  <a:solidFill>
                    <a:schemeClr val="tx1"/>
                  </a:solidFill>
                  <a:latin typeface="+mj-ea"/>
                  <a:ea typeface="+mj-ea"/>
                </a:rPr>
                <a:t>操作数或地址</a:t>
              </a:r>
            </a:p>
          </p:txBody>
        </p:sp>
        <p:sp>
          <p:nvSpPr>
            <p:cNvPr id="12" name="TextBox 11">
              <a:extLst>
                <a:ext uri="{FF2B5EF4-FFF2-40B4-BE49-F238E27FC236}">
                  <a16:creationId xmlns:a16="http://schemas.microsoft.com/office/drawing/2014/main" id="{231620A4-AA2E-4B95-B107-44D4623A1E5F}"/>
                </a:ext>
              </a:extLst>
            </p:cNvPr>
            <p:cNvSpPr txBox="1"/>
            <p:nvPr/>
          </p:nvSpPr>
          <p:spPr>
            <a:xfrm>
              <a:off x="2863840" y="6139788"/>
              <a:ext cx="3416320" cy="523220"/>
            </a:xfrm>
            <a:prstGeom prst="rect">
              <a:avLst/>
            </a:prstGeom>
            <a:noFill/>
          </p:spPr>
          <p:txBody>
            <a:bodyPr wrap="none" rtlCol="0">
              <a:spAutoFit/>
            </a:bodyPr>
            <a:lstStyle/>
            <a:p>
              <a:r>
                <a:rPr lang="zh-CN" altLang="en-US" sz="2800" b="1" dirty="0">
                  <a:solidFill>
                    <a:schemeClr val="tx1"/>
                  </a:solidFill>
                  <a:latin typeface="+mj-ea"/>
                  <a:ea typeface="+mj-ea"/>
                </a:rPr>
                <a:t>一种可能的编码方案</a:t>
              </a:r>
            </a:p>
          </p:txBody>
        </p:sp>
      </p:grpSp>
      <p:sp>
        <p:nvSpPr>
          <p:cNvPr id="3" name="Title 4">
            <a:extLst>
              <a:ext uri="{FF2B5EF4-FFF2-40B4-BE49-F238E27FC236}">
                <a16:creationId xmlns:a16="http://schemas.microsoft.com/office/drawing/2014/main" id="{5E75D853-8632-B0B1-4C36-882810F863B0}"/>
              </a:ext>
            </a:extLst>
          </p:cNvPr>
          <p:cNvSpPr txBox="1">
            <a:spLocks/>
          </p:cNvSpPr>
          <p:nvPr/>
        </p:nvSpPr>
        <p:spPr bwMode="auto">
          <a:xfrm>
            <a:off x="457200" y="136800"/>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kumimoji="1" lang="zh-CN" altLang="en-US" dirty="0"/>
              <a:t>指令集设计：约束</a:t>
            </a:r>
            <a:endParaRPr lang="en-CN" kern="0" dirty="0"/>
          </a:p>
        </p:txBody>
      </p:sp>
    </p:spTree>
    <p:extLst>
      <p:ext uri="{BB962C8B-B14F-4D97-AF65-F5344CB8AC3E}">
        <p14:creationId xmlns:p14="http://schemas.microsoft.com/office/powerpoint/2010/main" val="19570963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6">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6">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6">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6">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a:extLst>
              <a:ext uri="{FF2B5EF4-FFF2-40B4-BE49-F238E27FC236}">
                <a16:creationId xmlns:a16="http://schemas.microsoft.com/office/drawing/2014/main" id="{68F7FF1C-DC59-5F43-A383-991D51B72C86}"/>
              </a:ext>
            </a:extLst>
          </p:cNvPr>
          <p:cNvSpPr>
            <a:spLocks noGrp="1"/>
          </p:cNvSpPr>
          <p:nvPr>
            <p:ph type="sldNum" sz="quarter" idx="12"/>
          </p:nvPr>
        </p:nvSpPr>
        <p:spPr/>
        <p:txBody>
          <a:bodyPr/>
          <a:lstStyle/>
          <a:p>
            <a:fld id="{14659731-6BD7-46E7-8D3C-2F3AC07E20B1}" type="slidenum">
              <a:rPr lang="en-US" altLang="zh-CN" smtClean="0"/>
              <a:pPr/>
              <a:t>16</a:t>
            </a:fld>
            <a:endParaRPr lang="en-US" altLang="zh-CN"/>
          </a:p>
        </p:txBody>
      </p:sp>
      <p:sp>
        <p:nvSpPr>
          <p:cNvPr id="36" name="Rectangle 3">
            <a:extLst>
              <a:ext uri="{FF2B5EF4-FFF2-40B4-BE49-F238E27FC236}">
                <a16:creationId xmlns:a16="http://schemas.microsoft.com/office/drawing/2014/main" id="{1AF4C294-9B96-4AC7-A8CA-FB8884B6204B}"/>
              </a:ext>
            </a:extLst>
          </p:cNvPr>
          <p:cNvSpPr>
            <a:spLocks noGrp="1" noChangeArrowheads="1"/>
          </p:cNvSpPr>
          <p:nvPr>
            <p:ph idx="4294967295"/>
          </p:nvPr>
        </p:nvSpPr>
        <p:spPr>
          <a:xfrm>
            <a:off x="0" y="1825625"/>
            <a:ext cx="7886700" cy="4351338"/>
          </a:xfrm>
        </p:spPr>
        <p:txBody>
          <a:bodyPr>
            <a:normAutofit/>
          </a:bodyPr>
          <a:lstStyle/>
          <a:p>
            <a:pPr>
              <a:lnSpc>
                <a:spcPct val="150000"/>
              </a:lnSpc>
            </a:pPr>
            <a:endParaRPr lang="en-US" altLang="zh-CN" sz="2200" dirty="0"/>
          </a:p>
          <a:p>
            <a:pPr>
              <a:lnSpc>
                <a:spcPct val="150000"/>
              </a:lnSpc>
            </a:pPr>
            <a:endParaRPr lang="en-US" altLang="zh-CN" sz="2200" dirty="0"/>
          </a:p>
        </p:txBody>
      </p:sp>
      <p:graphicFrame>
        <p:nvGraphicFramePr>
          <p:cNvPr id="6" name="Table 5">
            <a:extLst>
              <a:ext uri="{FF2B5EF4-FFF2-40B4-BE49-F238E27FC236}">
                <a16:creationId xmlns:a16="http://schemas.microsoft.com/office/drawing/2014/main" id="{BAC94C99-9DBC-41C2-A260-A668652CBD19}"/>
              </a:ext>
            </a:extLst>
          </p:cNvPr>
          <p:cNvGraphicFramePr>
            <a:graphicFrameLocks noGrp="1"/>
          </p:cNvGraphicFramePr>
          <p:nvPr>
            <p:extLst>
              <p:ext uri="{D42A27DB-BD31-4B8C-83A1-F6EECF244321}">
                <p14:modId xmlns:p14="http://schemas.microsoft.com/office/powerpoint/2010/main" val="2559864024"/>
              </p:ext>
            </p:extLst>
          </p:nvPr>
        </p:nvGraphicFramePr>
        <p:xfrm>
          <a:off x="457200" y="1349862"/>
          <a:ext cx="8458200" cy="4177792"/>
        </p:xfrm>
        <a:graphic>
          <a:graphicData uri="http://schemas.openxmlformats.org/drawingml/2006/table">
            <a:tbl>
              <a:tblPr firstRow="1" bandRow="1">
                <a:tableStyleId>{073A0DAA-6AF3-43AB-8588-CEC1D06C72B9}</a:tableStyleId>
              </a:tblPr>
              <a:tblGrid>
                <a:gridCol w="2114550">
                  <a:extLst>
                    <a:ext uri="{9D8B030D-6E8A-4147-A177-3AD203B41FA5}">
                      <a16:colId xmlns:a16="http://schemas.microsoft.com/office/drawing/2014/main" val="4218783033"/>
                    </a:ext>
                  </a:extLst>
                </a:gridCol>
                <a:gridCol w="2114550">
                  <a:extLst>
                    <a:ext uri="{9D8B030D-6E8A-4147-A177-3AD203B41FA5}">
                      <a16:colId xmlns:a16="http://schemas.microsoft.com/office/drawing/2014/main" val="3428713662"/>
                    </a:ext>
                  </a:extLst>
                </a:gridCol>
                <a:gridCol w="2114550">
                  <a:extLst>
                    <a:ext uri="{9D8B030D-6E8A-4147-A177-3AD203B41FA5}">
                      <a16:colId xmlns:a16="http://schemas.microsoft.com/office/drawing/2014/main" val="2428337723"/>
                    </a:ext>
                  </a:extLst>
                </a:gridCol>
                <a:gridCol w="2114550">
                  <a:extLst>
                    <a:ext uri="{9D8B030D-6E8A-4147-A177-3AD203B41FA5}">
                      <a16:colId xmlns:a16="http://schemas.microsoft.com/office/drawing/2014/main" val="1561162359"/>
                    </a:ext>
                  </a:extLst>
                </a:gridCol>
              </a:tblGrid>
              <a:tr h="429196">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zh-CN" altLang="en-US" sz="1800" dirty="0">
                          <a:solidFill>
                            <a:schemeClr val="tx1"/>
                          </a:solidFill>
                          <a:latin typeface="Consolas" panose="020B0609020204030204" pitchFamily="49" charset="0"/>
                          <a:ea typeface="+mn-ea"/>
                          <a:cs typeface="Consolas" panose="020B0609020204030204" pitchFamily="49" charset="0"/>
                        </a:rPr>
                        <a:t>指令</a:t>
                      </a:r>
                    </a:p>
                  </a:txBody>
                  <a:tcPr anchor="ctr">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ctr"/>
                      <a:r>
                        <a:rPr lang="zh-CN" altLang="en-US" sz="1800" dirty="0">
                          <a:solidFill>
                            <a:schemeClr val="tx1"/>
                          </a:solidFill>
                          <a:latin typeface="Consolas" panose="020B0609020204030204" pitchFamily="49" charset="0"/>
                          <a:ea typeface="+mn-ea"/>
                          <a:cs typeface="Consolas" panose="020B0609020204030204" pitchFamily="49" charset="0"/>
                        </a:rPr>
                        <a:t>功能</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zh-CN" altLang="en-US" sz="1800" dirty="0">
                          <a:solidFill>
                            <a:schemeClr val="tx1"/>
                          </a:solidFill>
                          <a:latin typeface="Consolas" panose="020B0609020204030204" pitchFamily="49" charset="0"/>
                          <a:ea typeface="+mn-ea"/>
                          <a:cs typeface="Consolas" panose="020B0609020204030204" pitchFamily="49" charset="0"/>
                        </a:rPr>
                        <a:t>指令</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ctr"/>
                      <a:r>
                        <a:rPr lang="zh-CN" altLang="en-US" sz="1800" dirty="0">
                          <a:solidFill>
                            <a:schemeClr val="tx1"/>
                          </a:solidFill>
                          <a:latin typeface="Consolas" panose="020B0609020204030204" pitchFamily="49" charset="0"/>
                          <a:ea typeface="+mn-ea"/>
                          <a:cs typeface="Consolas" panose="020B0609020204030204" pitchFamily="49" charset="0"/>
                        </a:rPr>
                        <a:t>功能</a:t>
                      </a:r>
                    </a:p>
                  </a:txBody>
                  <a:tcPr anchor="ctr">
                    <a:lnL w="1270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extLst>
                  <a:ext uri="{0D108BD9-81ED-4DB2-BD59-A6C34878D82A}">
                    <a16:rowId xmlns:a16="http://schemas.microsoft.com/office/drawing/2014/main" val="1802908781"/>
                  </a:ext>
                </a:extLst>
              </a:tr>
              <a:tr h="419534">
                <a:tc>
                  <a:txBody>
                    <a:bodyPr/>
                    <a:lstStyle/>
                    <a:p>
                      <a:pPr marL="0" algn="ctr" defTabSz="685800" rtl="0" eaLnBrk="1" latinLnBrk="0" hangingPunct="1"/>
                      <a:r>
                        <a:rPr lang="en-US" altLang="zh-CN" sz="1600" i="1" kern="1200" dirty="0">
                          <a:solidFill>
                            <a:schemeClr val="dk1"/>
                          </a:solidFill>
                          <a:latin typeface="Consolas" panose="020B0609020204030204" pitchFamily="49" charset="0"/>
                          <a:ea typeface="+mn-ea"/>
                          <a:cs typeface="Consolas" panose="020B0609020204030204" pitchFamily="49" charset="0"/>
                        </a:rPr>
                        <a:t> add a0, a1, a2;    </a:t>
                      </a:r>
                      <a:endParaRPr lang="zh-CN" altLang="en-US" sz="1600" i="1" kern="1200" dirty="0">
                        <a:solidFill>
                          <a:schemeClr val="dk1"/>
                        </a:solidFill>
                        <a:latin typeface="Consolas" panose="020B0609020204030204" pitchFamily="49" charset="0"/>
                        <a:ea typeface="+mn-ea"/>
                        <a:cs typeface="Consolas" panose="020B0609020204030204" pitchFamily="49" charset="0"/>
                      </a:endParaRPr>
                    </a:p>
                  </a:txBody>
                  <a:tcPr anchor="ctr">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marL="0" algn="ctr" defTabSz="685800" rtl="0" eaLnBrk="1" latinLnBrk="0" hangingPunct="1"/>
                      <a:r>
                        <a:rPr lang="en-US" altLang="zh-CN" sz="1600" i="1" kern="1200" dirty="0">
                          <a:solidFill>
                            <a:schemeClr val="dk1"/>
                          </a:solidFill>
                          <a:latin typeface="Consolas" panose="020B0609020204030204" pitchFamily="49" charset="0"/>
                          <a:ea typeface="+mn-ea"/>
                          <a:cs typeface="Consolas" panose="020B0609020204030204" pitchFamily="49" charset="0"/>
                        </a:rPr>
                        <a:t>a0=a1 + a2 </a:t>
                      </a:r>
                      <a:endParaRPr lang="zh-CN" altLang="en-US" sz="1600" i="1" kern="1200" dirty="0">
                        <a:solidFill>
                          <a:schemeClr val="dk1"/>
                        </a:solidFill>
                        <a:latin typeface="Consolas" panose="020B0609020204030204" pitchFamily="49" charset="0"/>
                        <a:ea typeface="+mn-ea"/>
                        <a:cs typeface="Consolas" panose="020B0609020204030204" pitchFamily="49"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marL="0" algn="ctr" defTabSz="685800" rtl="0" eaLnBrk="1" latinLnBrk="0" hangingPunct="1"/>
                      <a:r>
                        <a:rPr lang="en-US" altLang="zh-CN" sz="1600" i="1" kern="1200" noProof="0" dirty="0">
                          <a:solidFill>
                            <a:schemeClr val="dk1"/>
                          </a:solidFill>
                          <a:latin typeface="Consolas" panose="020B0609020204030204" pitchFamily="49" charset="0"/>
                          <a:ea typeface="+mn-ea"/>
                          <a:cs typeface="Consolas" panose="020B0609020204030204" pitchFamily="49" charset="0"/>
                        </a:rPr>
                        <a:t>addi a0, a1, 5;    </a:t>
                      </a:r>
                      <a:endParaRPr lang="zh-CN" altLang="en-US" sz="1600" i="1" kern="1200" dirty="0">
                        <a:solidFill>
                          <a:schemeClr val="dk1"/>
                        </a:solidFill>
                        <a:latin typeface="Consolas" panose="020B0609020204030204" pitchFamily="49" charset="0"/>
                        <a:ea typeface="+mn-ea"/>
                        <a:cs typeface="Consolas" panose="020B0609020204030204" pitchFamily="49"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marL="0" algn="ctr" defTabSz="685800" rtl="0" eaLnBrk="1" latinLnBrk="0" hangingPunct="1"/>
                      <a:r>
                        <a:rPr lang="en-US" altLang="zh-CN" sz="1600" i="1" kern="1200" dirty="0">
                          <a:solidFill>
                            <a:schemeClr val="dk1"/>
                          </a:solidFill>
                          <a:latin typeface="Consolas" panose="020B0609020204030204" pitchFamily="49" charset="0"/>
                          <a:ea typeface="+mn-ea"/>
                          <a:cs typeface="Consolas" panose="020B0609020204030204" pitchFamily="49" charset="0"/>
                        </a:rPr>
                        <a:t>a0=a1 + 5</a:t>
                      </a:r>
                      <a:endParaRPr lang="zh-CN" altLang="en-US" sz="1600" i="1" kern="1200" dirty="0">
                        <a:solidFill>
                          <a:schemeClr val="dk1"/>
                        </a:solidFill>
                        <a:latin typeface="Consolas" panose="020B0609020204030204" pitchFamily="49" charset="0"/>
                        <a:ea typeface="+mn-ea"/>
                        <a:cs typeface="Consolas" panose="020B0609020204030204" pitchFamily="49" charset="0"/>
                      </a:endParaRPr>
                    </a:p>
                  </a:txBody>
                  <a:tcPr anchor="ctr">
                    <a:lnL w="1270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220048060"/>
                  </a:ext>
                </a:extLst>
              </a:tr>
              <a:tr h="419534">
                <a:tc>
                  <a:txBody>
                    <a:bodyPr/>
                    <a:lstStyle/>
                    <a:p>
                      <a:pPr marL="0" algn="ctr" defTabSz="685800" rtl="0" eaLnBrk="1" latinLnBrk="0" hangingPunct="1"/>
                      <a:r>
                        <a:rPr lang="en-US" altLang="zh-CN" sz="1600" i="1" kern="1200">
                          <a:solidFill>
                            <a:schemeClr val="dk1"/>
                          </a:solidFill>
                          <a:latin typeface="Consolas" panose="020B0609020204030204" pitchFamily="49" charset="0"/>
                          <a:ea typeface="+mn-ea"/>
                          <a:cs typeface="Consolas" panose="020B0609020204030204" pitchFamily="49" charset="0"/>
                        </a:rPr>
                        <a:t> sub a0, a1, a2; </a:t>
                      </a:r>
                      <a:endParaRPr lang="zh-CN" altLang="en-US" sz="1600" i="1" kern="1200">
                        <a:solidFill>
                          <a:schemeClr val="dk1"/>
                        </a:solidFill>
                        <a:latin typeface="Consolas" panose="020B0609020204030204" pitchFamily="49" charset="0"/>
                        <a:ea typeface="+mn-ea"/>
                        <a:cs typeface="Consolas" panose="020B0609020204030204" pitchFamily="49" charset="0"/>
                      </a:endParaRPr>
                    </a:p>
                  </a:txBody>
                  <a:tcPr anchor="ctr">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marL="0" algn="ctr" defTabSz="685800" rtl="0" eaLnBrk="1" latinLnBrk="0" hangingPunct="1"/>
                      <a:r>
                        <a:rPr lang="en-US" altLang="zh-CN" sz="1600" i="1" kern="1200" dirty="0">
                          <a:solidFill>
                            <a:schemeClr val="dk1"/>
                          </a:solidFill>
                          <a:latin typeface="Consolas" panose="020B0609020204030204" pitchFamily="49" charset="0"/>
                          <a:ea typeface="+mn-ea"/>
                          <a:cs typeface="Consolas" panose="020B0609020204030204" pitchFamily="49" charset="0"/>
                        </a:rPr>
                        <a:t>a0=a1 - a2 </a:t>
                      </a:r>
                      <a:endParaRPr lang="zh-CN" altLang="en-US" sz="1600" i="1" kern="1200" dirty="0">
                        <a:solidFill>
                          <a:schemeClr val="dk1"/>
                        </a:solidFill>
                        <a:latin typeface="Consolas" panose="020B0609020204030204" pitchFamily="49" charset="0"/>
                        <a:ea typeface="+mn-ea"/>
                        <a:cs typeface="Consolas" panose="020B0609020204030204" pitchFamily="49"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marL="0" algn="ctr" defTabSz="685800" rtl="0" eaLnBrk="1" latinLnBrk="0" hangingPunct="1"/>
                      <a:r>
                        <a:rPr lang="en-US" altLang="zh-CN" sz="1600" i="1" kern="1200" dirty="0" err="1">
                          <a:solidFill>
                            <a:schemeClr val="dk1"/>
                          </a:solidFill>
                          <a:latin typeface="Consolas" panose="020B0609020204030204" pitchFamily="49" charset="0"/>
                          <a:ea typeface="+mn-ea"/>
                          <a:cs typeface="Consolas" panose="020B0609020204030204" pitchFamily="49" charset="0"/>
                        </a:rPr>
                        <a:t>subi</a:t>
                      </a:r>
                      <a:r>
                        <a:rPr lang="en-US" altLang="zh-CN" sz="1600" i="1" kern="1200" dirty="0">
                          <a:solidFill>
                            <a:schemeClr val="dk1"/>
                          </a:solidFill>
                          <a:latin typeface="Consolas" panose="020B0609020204030204" pitchFamily="49" charset="0"/>
                          <a:ea typeface="+mn-ea"/>
                          <a:cs typeface="Consolas" panose="020B0609020204030204" pitchFamily="49" charset="0"/>
                        </a:rPr>
                        <a:t> a0, a1, 5; </a:t>
                      </a:r>
                      <a:endParaRPr lang="zh-CN" altLang="en-US" sz="1600" i="1" kern="1200" dirty="0">
                        <a:solidFill>
                          <a:schemeClr val="dk1"/>
                        </a:solidFill>
                        <a:latin typeface="Consolas" panose="020B0609020204030204" pitchFamily="49" charset="0"/>
                        <a:ea typeface="+mn-ea"/>
                        <a:cs typeface="Consolas" panose="020B0609020204030204" pitchFamily="49"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marL="0" algn="ctr" defTabSz="685800" rtl="0" eaLnBrk="1" latinLnBrk="0" hangingPunct="1"/>
                      <a:r>
                        <a:rPr lang="en-US" altLang="zh-CN" sz="1600" i="1" kern="1200">
                          <a:solidFill>
                            <a:schemeClr val="dk1"/>
                          </a:solidFill>
                          <a:latin typeface="Consolas" panose="020B0609020204030204" pitchFamily="49" charset="0"/>
                          <a:ea typeface="+mn-ea"/>
                          <a:cs typeface="Consolas" panose="020B0609020204030204" pitchFamily="49" charset="0"/>
                        </a:rPr>
                        <a:t>a0=a1 - 5 </a:t>
                      </a:r>
                      <a:endParaRPr lang="zh-CN" altLang="en-US" sz="1600" i="1" kern="1200">
                        <a:solidFill>
                          <a:schemeClr val="dk1"/>
                        </a:solidFill>
                        <a:latin typeface="Consolas" panose="020B0609020204030204" pitchFamily="49" charset="0"/>
                        <a:ea typeface="+mn-ea"/>
                        <a:cs typeface="Consolas" panose="020B0609020204030204" pitchFamily="49" charset="0"/>
                      </a:endParaRPr>
                    </a:p>
                  </a:txBody>
                  <a:tcPr anchor="ctr">
                    <a:lnL w="1270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2799462081"/>
                  </a:ext>
                </a:extLst>
              </a:tr>
              <a:tr h="419534">
                <a:tc>
                  <a:txBody>
                    <a:bodyPr/>
                    <a:lstStyle/>
                    <a:p>
                      <a:pPr marL="0" algn="ctr" defTabSz="685800" rtl="0" eaLnBrk="1" latinLnBrk="0" hangingPunct="1"/>
                      <a:r>
                        <a:rPr lang="en-US" altLang="zh-CN" sz="1600" i="1" kern="1200">
                          <a:solidFill>
                            <a:schemeClr val="dk1"/>
                          </a:solidFill>
                          <a:latin typeface="Consolas" panose="020B0609020204030204" pitchFamily="49" charset="0"/>
                          <a:ea typeface="+mn-ea"/>
                          <a:cs typeface="Consolas" panose="020B0609020204030204" pitchFamily="49" charset="0"/>
                        </a:rPr>
                        <a:t>and a0, a1, a2;</a:t>
                      </a:r>
                      <a:endParaRPr lang="zh-CN" altLang="en-US" sz="1600" i="1" kern="1200">
                        <a:solidFill>
                          <a:schemeClr val="dk1"/>
                        </a:solidFill>
                        <a:latin typeface="Consolas" panose="020B0609020204030204" pitchFamily="49" charset="0"/>
                        <a:ea typeface="+mn-ea"/>
                        <a:cs typeface="Consolas" panose="020B0609020204030204" pitchFamily="49" charset="0"/>
                      </a:endParaRPr>
                    </a:p>
                  </a:txBody>
                  <a:tcPr anchor="ctr">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altLang="zh-CN" sz="1600" i="1" kern="1200">
                          <a:solidFill>
                            <a:schemeClr val="dk1"/>
                          </a:solidFill>
                          <a:latin typeface="Consolas" panose="020B0609020204030204" pitchFamily="49" charset="0"/>
                          <a:ea typeface="+mn-ea"/>
                          <a:cs typeface="Consolas" panose="020B0609020204030204" pitchFamily="49" charset="0"/>
                        </a:rPr>
                        <a:t>a0=a1 &amp; a2 </a:t>
                      </a:r>
                      <a:endParaRPr lang="zh-CN" altLang="en-US" sz="1600" i="1" kern="1200">
                        <a:solidFill>
                          <a:schemeClr val="dk1"/>
                        </a:solidFill>
                        <a:latin typeface="Consolas" panose="020B0609020204030204" pitchFamily="49" charset="0"/>
                        <a:ea typeface="+mn-ea"/>
                        <a:cs typeface="Consolas" panose="020B0609020204030204" pitchFamily="49"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marL="0" algn="ctr" defTabSz="685800" rtl="0" eaLnBrk="1" latinLnBrk="0" hangingPunct="1"/>
                      <a:r>
                        <a:rPr lang="en-US" altLang="zh-CN" sz="1600" i="1" kern="1200" dirty="0" err="1">
                          <a:solidFill>
                            <a:schemeClr val="dk1"/>
                          </a:solidFill>
                          <a:latin typeface="Consolas" panose="020B0609020204030204" pitchFamily="49" charset="0"/>
                          <a:ea typeface="+mn-ea"/>
                          <a:cs typeface="Consolas" panose="020B0609020204030204" pitchFamily="49" charset="0"/>
                        </a:rPr>
                        <a:t>andi</a:t>
                      </a:r>
                      <a:r>
                        <a:rPr lang="en-US" altLang="zh-CN" sz="1600" i="1" kern="1200" dirty="0">
                          <a:solidFill>
                            <a:schemeClr val="dk1"/>
                          </a:solidFill>
                          <a:latin typeface="Consolas" panose="020B0609020204030204" pitchFamily="49" charset="0"/>
                          <a:ea typeface="+mn-ea"/>
                          <a:cs typeface="Consolas" panose="020B0609020204030204" pitchFamily="49" charset="0"/>
                        </a:rPr>
                        <a:t> a0, a1, 5; </a:t>
                      </a:r>
                      <a:endParaRPr lang="zh-CN" altLang="en-US" sz="1600" i="1" kern="1200" dirty="0">
                        <a:solidFill>
                          <a:schemeClr val="dk1"/>
                        </a:solidFill>
                        <a:latin typeface="Consolas" panose="020B0609020204030204" pitchFamily="49" charset="0"/>
                        <a:ea typeface="+mn-ea"/>
                        <a:cs typeface="Consolas" panose="020B0609020204030204" pitchFamily="49"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altLang="zh-CN" sz="1600" i="1" kern="1200" dirty="0">
                          <a:solidFill>
                            <a:schemeClr val="dk1"/>
                          </a:solidFill>
                          <a:latin typeface="Consolas" panose="020B0609020204030204" pitchFamily="49" charset="0"/>
                          <a:ea typeface="+mn-ea"/>
                          <a:cs typeface="Consolas" panose="020B0609020204030204" pitchFamily="49" charset="0"/>
                        </a:rPr>
                        <a:t>a0=a1 &amp; 5 </a:t>
                      </a:r>
                      <a:endParaRPr lang="zh-CN" altLang="en-US" sz="1600" i="1" kern="1200" dirty="0">
                        <a:solidFill>
                          <a:schemeClr val="dk1"/>
                        </a:solidFill>
                        <a:latin typeface="Consolas" panose="020B0609020204030204" pitchFamily="49" charset="0"/>
                        <a:ea typeface="+mn-ea"/>
                        <a:cs typeface="Consolas" panose="020B0609020204030204" pitchFamily="49" charset="0"/>
                      </a:endParaRPr>
                    </a:p>
                  </a:txBody>
                  <a:tcPr anchor="ctr">
                    <a:lnL w="1270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4014597116"/>
                  </a:ext>
                </a:extLst>
              </a:tr>
              <a:tr h="419534">
                <a:tc>
                  <a:txBody>
                    <a:bodyPr/>
                    <a:lstStyle/>
                    <a:p>
                      <a:pPr marL="0" algn="ctr" defTabSz="685800" rtl="0" eaLnBrk="1" latinLnBrk="0" hangingPunct="1"/>
                      <a:r>
                        <a:rPr lang="en-US" altLang="zh-CN" sz="1600" i="1" kern="1200">
                          <a:solidFill>
                            <a:schemeClr val="dk1"/>
                          </a:solidFill>
                          <a:latin typeface="Consolas" panose="020B0609020204030204" pitchFamily="49" charset="0"/>
                          <a:ea typeface="+mn-ea"/>
                          <a:cs typeface="Consolas" panose="020B0609020204030204" pitchFamily="49" charset="0"/>
                        </a:rPr>
                        <a:t> or a0, a1, a2; </a:t>
                      </a:r>
                      <a:endParaRPr lang="zh-CN" altLang="en-US" sz="1600" i="1" kern="1200">
                        <a:solidFill>
                          <a:schemeClr val="dk1"/>
                        </a:solidFill>
                        <a:latin typeface="Consolas" panose="020B0609020204030204" pitchFamily="49" charset="0"/>
                        <a:ea typeface="+mn-ea"/>
                        <a:cs typeface="Consolas" panose="020B0609020204030204" pitchFamily="49" charset="0"/>
                      </a:endParaRPr>
                    </a:p>
                  </a:txBody>
                  <a:tcPr anchor="ctr">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altLang="zh-CN" sz="1600" i="1" kern="1200" dirty="0">
                          <a:solidFill>
                            <a:schemeClr val="dk1"/>
                          </a:solidFill>
                          <a:latin typeface="Consolas" panose="020B0609020204030204" pitchFamily="49" charset="0"/>
                          <a:ea typeface="+mn-ea"/>
                          <a:cs typeface="Consolas" panose="020B0609020204030204" pitchFamily="49" charset="0"/>
                        </a:rPr>
                        <a:t>a0=a1 | a2 </a:t>
                      </a:r>
                      <a:endParaRPr lang="zh-CN" altLang="en-US" sz="1600" i="1" kern="1200" dirty="0">
                        <a:solidFill>
                          <a:schemeClr val="dk1"/>
                        </a:solidFill>
                        <a:latin typeface="Consolas" panose="020B0609020204030204" pitchFamily="49" charset="0"/>
                        <a:ea typeface="+mn-ea"/>
                        <a:cs typeface="Consolas" panose="020B0609020204030204" pitchFamily="49"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algn="ctr" defTabSz="685800" rtl="0" eaLnBrk="1" latinLnBrk="0" hangingPunct="1"/>
                      <a:r>
                        <a:rPr lang="en-US" altLang="zh-CN" sz="1600" i="1" kern="1200" err="1">
                          <a:solidFill>
                            <a:schemeClr val="dk1"/>
                          </a:solidFill>
                          <a:latin typeface="Consolas" panose="020B0609020204030204" pitchFamily="49" charset="0"/>
                          <a:ea typeface="+mn-ea"/>
                          <a:cs typeface="Consolas" panose="020B0609020204030204" pitchFamily="49" charset="0"/>
                        </a:rPr>
                        <a:t>ori</a:t>
                      </a:r>
                      <a:r>
                        <a:rPr lang="en-US" altLang="zh-CN" sz="1600" i="1" kern="1200">
                          <a:solidFill>
                            <a:schemeClr val="dk1"/>
                          </a:solidFill>
                          <a:latin typeface="Consolas" panose="020B0609020204030204" pitchFamily="49" charset="0"/>
                          <a:ea typeface="+mn-ea"/>
                          <a:cs typeface="Consolas" panose="020B0609020204030204" pitchFamily="49" charset="0"/>
                        </a:rPr>
                        <a:t> a0, a1, 5; </a:t>
                      </a:r>
                      <a:endParaRPr lang="zh-CN" altLang="en-US" sz="1600" i="1" kern="1200">
                        <a:solidFill>
                          <a:schemeClr val="dk1"/>
                        </a:solidFill>
                        <a:latin typeface="Consolas" panose="020B0609020204030204" pitchFamily="49" charset="0"/>
                        <a:ea typeface="+mn-ea"/>
                        <a:cs typeface="Consolas" panose="020B0609020204030204" pitchFamily="49"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altLang="zh-CN" sz="1600" i="1" kern="1200" dirty="0">
                          <a:solidFill>
                            <a:schemeClr val="dk1"/>
                          </a:solidFill>
                          <a:latin typeface="Consolas" panose="020B0609020204030204" pitchFamily="49" charset="0"/>
                          <a:ea typeface="+mn-ea"/>
                          <a:cs typeface="Consolas" panose="020B0609020204030204" pitchFamily="49" charset="0"/>
                        </a:rPr>
                        <a:t>a0=a1 | 5 </a:t>
                      </a:r>
                      <a:endParaRPr lang="zh-CN" altLang="en-US" sz="1600" i="1" kern="1200" dirty="0">
                        <a:solidFill>
                          <a:schemeClr val="dk1"/>
                        </a:solidFill>
                        <a:latin typeface="Consolas" panose="020B0609020204030204" pitchFamily="49" charset="0"/>
                        <a:ea typeface="+mn-ea"/>
                        <a:cs typeface="Consolas" panose="020B0609020204030204" pitchFamily="49" charset="0"/>
                      </a:endParaRPr>
                    </a:p>
                  </a:txBody>
                  <a:tcPr anchor="ctr">
                    <a:lnL w="1270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043455329"/>
                  </a:ext>
                </a:extLst>
              </a:tr>
              <a:tr h="419534">
                <a:tc>
                  <a:txBody>
                    <a:bodyPr/>
                    <a:lstStyle/>
                    <a:p>
                      <a:pPr marL="0" algn="ctr" defTabSz="685800" rtl="0" eaLnBrk="1" latinLnBrk="0" hangingPunct="1"/>
                      <a:r>
                        <a:rPr lang="en-US" altLang="zh-CN" sz="1600" i="1" kern="1200">
                          <a:solidFill>
                            <a:schemeClr val="dk1"/>
                          </a:solidFill>
                          <a:latin typeface="Consolas" panose="020B0609020204030204" pitchFamily="49" charset="0"/>
                          <a:ea typeface="+mn-ea"/>
                          <a:cs typeface="Consolas" panose="020B0609020204030204" pitchFamily="49" charset="0"/>
                        </a:rPr>
                        <a:t> </a:t>
                      </a:r>
                      <a:r>
                        <a:rPr lang="en-US" altLang="zh-CN" sz="1600" i="1" kern="1200" err="1">
                          <a:solidFill>
                            <a:schemeClr val="dk1"/>
                          </a:solidFill>
                          <a:latin typeface="Consolas" panose="020B0609020204030204" pitchFamily="49" charset="0"/>
                          <a:ea typeface="+mn-ea"/>
                          <a:cs typeface="Consolas" panose="020B0609020204030204" pitchFamily="49" charset="0"/>
                        </a:rPr>
                        <a:t>xor</a:t>
                      </a:r>
                      <a:r>
                        <a:rPr lang="en-US" altLang="zh-CN" sz="1600" i="1" kern="1200">
                          <a:solidFill>
                            <a:schemeClr val="dk1"/>
                          </a:solidFill>
                          <a:latin typeface="Consolas" panose="020B0609020204030204" pitchFamily="49" charset="0"/>
                          <a:ea typeface="+mn-ea"/>
                          <a:cs typeface="Consolas" panose="020B0609020204030204" pitchFamily="49" charset="0"/>
                        </a:rPr>
                        <a:t> a0, a1, a2; </a:t>
                      </a:r>
                      <a:endParaRPr lang="zh-CN" altLang="en-US" sz="1600" i="1" kern="1200">
                        <a:solidFill>
                          <a:schemeClr val="dk1"/>
                        </a:solidFill>
                        <a:latin typeface="Consolas" panose="020B0609020204030204" pitchFamily="49" charset="0"/>
                        <a:ea typeface="+mn-ea"/>
                        <a:cs typeface="Consolas" panose="020B0609020204030204" pitchFamily="49" charset="0"/>
                      </a:endParaRPr>
                    </a:p>
                  </a:txBody>
                  <a:tcPr anchor="ctr">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altLang="zh-CN" sz="1600" i="1" kern="1200" dirty="0">
                          <a:solidFill>
                            <a:schemeClr val="dk1"/>
                          </a:solidFill>
                          <a:latin typeface="Consolas" panose="020B0609020204030204" pitchFamily="49" charset="0"/>
                          <a:ea typeface="+mn-ea"/>
                          <a:cs typeface="Consolas" panose="020B0609020204030204" pitchFamily="49" charset="0"/>
                        </a:rPr>
                        <a:t>a0=a1 ^ a2 </a:t>
                      </a:r>
                      <a:endParaRPr lang="zh-CN" altLang="en-US" sz="1600" i="1" kern="1200" dirty="0">
                        <a:solidFill>
                          <a:schemeClr val="dk1"/>
                        </a:solidFill>
                        <a:latin typeface="Consolas" panose="020B0609020204030204" pitchFamily="49" charset="0"/>
                        <a:ea typeface="+mn-ea"/>
                        <a:cs typeface="Consolas" panose="020B0609020204030204" pitchFamily="49"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algn="ctr" defTabSz="685800" rtl="0" eaLnBrk="1" latinLnBrk="0" hangingPunct="1"/>
                      <a:r>
                        <a:rPr lang="en-US" altLang="zh-CN" sz="1600" i="1" kern="1200" err="1">
                          <a:solidFill>
                            <a:schemeClr val="dk1"/>
                          </a:solidFill>
                          <a:latin typeface="Consolas" panose="020B0609020204030204" pitchFamily="49" charset="0"/>
                          <a:ea typeface="+mn-ea"/>
                          <a:cs typeface="Consolas" panose="020B0609020204030204" pitchFamily="49" charset="0"/>
                        </a:rPr>
                        <a:t>xori</a:t>
                      </a:r>
                      <a:r>
                        <a:rPr lang="en-US" altLang="zh-CN" sz="1600" i="1" kern="1200">
                          <a:solidFill>
                            <a:schemeClr val="dk1"/>
                          </a:solidFill>
                          <a:latin typeface="Consolas" panose="020B0609020204030204" pitchFamily="49" charset="0"/>
                          <a:ea typeface="+mn-ea"/>
                          <a:cs typeface="Consolas" panose="020B0609020204030204" pitchFamily="49" charset="0"/>
                        </a:rPr>
                        <a:t> a0, a1, 5; </a:t>
                      </a:r>
                      <a:endParaRPr lang="zh-CN" altLang="en-US" sz="1600" i="1" kern="1200">
                        <a:solidFill>
                          <a:schemeClr val="dk1"/>
                        </a:solidFill>
                        <a:latin typeface="Consolas" panose="020B0609020204030204" pitchFamily="49" charset="0"/>
                        <a:ea typeface="+mn-ea"/>
                        <a:cs typeface="Consolas" panose="020B0609020204030204" pitchFamily="49"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altLang="zh-CN" sz="1600" i="1" kern="1200" dirty="0">
                          <a:solidFill>
                            <a:schemeClr val="dk1"/>
                          </a:solidFill>
                          <a:latin typeface="Consolas" panose="020B0609020204030204" pitchFamily="49" charset="0"/>
                          <a:ea typeface="+mn-ea"/>
                          <a:cs typeface="Consolas" panose="020B0609020204030204" pitchFamily="49" charset="0"/>
                        </a:rPr>
                        <a:t>a0=a1 ^ 5 </a:t>
                      </a:r>
                      <a:endParaRPr lang="zh-CN" altLang="en-US" sz="1600" i="1" kern="1200" dirty="0">
                        <a:solidFill>
                          <a:schemeClr val="dk1"/>
                        </a:solidFill>
                        <a:latin typeface="Consolas" panose="020B0609020204030204" pitchFamily="49" charset="0"/>
                        <a:ea typeface="+mn-ea"/>
                        <a:cs typeface="Consolas" panose="020B0609020204030204" pitchFamily="49" charset="0"/>
                      </a:endParaRPr>
                    </a:p>
                  </a:txBody>
                  <a:tcPr anchor="ctr">
                    <a:lnL w="1270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3988403072"/>
                  </a:ext>
                </a:extLst>
              </a:tr>
              <a:tr h="492686">
                <a:tc>
                  <a:txBody>
                    <a:bodyPr/>
                    <a:lstStyle/>
                    <a:p>
                      <a:pPr marL="0" algn="ctr" defTabSz="685800" rtl="0" eaLnBrk="1" latinLnBrk="0" hangingPunct="1"/>
                      <a:r>
                        <a:rPr lang="en-US" altLang="zh-CN" sz="1600" i="1" kern="1200">
                          <a:solidFill>
                            <a:schemeClr val="dk1"/>
                          </a:solidFill>
                          <a:latin typeface="Consolas" panose="020B0609020204030204" pitchFamily="49" charset="0"/>
                          <a:ea typeface="+mn-ea"/>
                          <a:cs typeface="Consolas" panose="020B0609020204030204" pitchFamily="49" charset="0"/>
                        </a:rPr>
                        <a:t> </a:t>
                      </a:r>
                      <a:r>
                        <a:rPr lang="en-US" altLang="zh-CN" sz="1600" i="1" kern="1200" err="1">
                          <a:solidFill>
                            <a:schemeClr val="dk1"/>
                          </a:solidFill>
                          <a:latin typeface="Consolas" panose="020B0609020204030204" pitchFamily="49" charset="0"/>
                          <a:ea typeface="+mn-ea"/>
                          <a:cs typeface="Consolas" panose="020B0609020204030204" pitchFamily="49" charset="0"/>
                        </a:rPr>
                        <a:t>sll</a:t>
                      </a:r>
                      <a:r>
                        <a:rPr lang="en-US" altLang="zh-CN" sz="1600" i="1" kern="1200">
                          <a:solidFill>
                            <a:schemeClr val="dk1"/>
                          </a:solidFill>
                          <a:latin typeface="Consolas" panose="020B0609020204030204" pitchFamily="49" charset="0"/>
                          <a:ea typeface="+mn-ea"/>
                          <a:cs typeface="Consolas" panose="020B0609020204030204" pitchFamily="49" charset="0"/>
                        </a:rPr>
                        <a:t> a0, a1, a2; </a:t>
                      </a:r>
                      <a:endParaRPr lang="zh-CN" altLang="en-US" sz="1600" i="1" kern="1200">
                        <a:solidFill>
                          <a:schemeClr val="dk1"/>
                        </a:solidFill>
                        <a:latin typeface="Consolas" panose="020B0609020204030204" pitchFamily="49" charset="0"/>
                        <a:ea typeface="+mn-ea"/>
                        <a:cs typeface="Consolas" panose="020B0609020204030204" pitchFamily="49" charset="0"/>
                      </a:endParaRPr>
                    </a:p>
                  </a:txBody>
                  <a:tcPr anchor="ctr">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altLang="zh-CN" sz="1600" i="1" kern="1200">
                          <a:solidFill>
                            <a:schemeClr val="dk1"/>
                          </a:solidFill>
                          <a:latin typeface="Consolas" panose="020B0609020204030204" pitchFamily="49" charset="0"/>
                          <a:ea typeface="+mn-ea"/>
                          <a:cs typeface="Consolas" panose="020B0609020204030204" pitchFamily="49" charset="0"/>
                        </a:rPr>
                        <a:t>a0=a1 &lt;&lt; a2 </a:t>
                      </a:r>
                      <a:endParaRPr lang="zh-CN" altLang="en-US" sz="1600" i="1" kern="1200">
                        <a:solidFill>
                          <a:schemeClr val="dk1"/>
                        </a:solidFill>
                        <a:latin typeface="Consolas" panose="020B0609020204030204" pitchFamily="49" charset="0"/>
                        <a:ea typeface="+mn-ea"/>
                        <a:cs typeface="Consolas" panose="020B0609020204030204" pitchFamily="49"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algn="ctr" defTabSz="685800" rtl="0" eaLnBrk="1" latinLnBrk="0" hangingPunct="1"/>
                      <a:r>
                        <a:rPr lang="en-US" altLang="zh-CN" sz="1600" i="1" kern="1200" err="1">
                          <a:solidFill>
                            <a:schemeClr val="dk1"/>
                          </a:solidFill>
                          <a:latin typeface="Consolas" panose="020B0609020204030204" pitchFamily="49" charset="0"/>
                          <a:ea typeface="+mn-ea"/>
                          <a:cs typeface="Consolas" panose="020B0609020204030204" pitchFamily="49" charset="0"/>
                        </a:rPr>
                        <a:t>slli</a:t>
                      </a:r>
                      <a:r>
                        <a:rPr lang="en-US" altLang="zh-CN" sz="1600" i="1" kern="1200">
                          <a:solidFill>
                            <a:schemeClr val="dk1"/>
                          </a:solidFill>
                          <a:latin typeface="Consolas" panose="020B0609020204030204" pitchFamily="49" charset="0"/>
                          <a:ea typeface="+mn-ea"/>
                          <a:cs typeface="Consolas" panose="020B0609020204030204" pitchFamily="49" charset="0"/>
                        </a:rPr>
                        <a:t> a0, a1, 5; </a:t>
                      </a:r>
                      <a:endParaRPr lang="zh-CN" altLang="en-US" sz="1600" i="1" kern="1200">
                        <a:solidFill>
                          <a:schemeClr val="dk1"/>
                        </a:solidFill>
                        <a:latin typeface="Consolas" panose="020B0609020204030204" pitchFamily="49" charset="0"/>
                        <a:ea typeface="+mn-ea"/>
                        <a:cs typeface="Consolas" panose="020B0609020204030204" pitchFamily="49"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altLang="zh-CN" sz="1600" i="1" kern="1200" dirty="0">
                          <a:solidFill>
                            <a:schemeClr val="dk1"/>
                          </a:solidFill>
                          <a:latin typeface="Consolas" panose="020B0609020204030204" pitchFamily="49" charset="0"/>
                          <a:ea typeface="+mn-ea"/>
                          <a:cs typeface="Consolas" panose="020B0609020204030204" pitchFamily="49" charset="0"/>
                        </a:rPr>
                        <a:t>a0=a1 &lt;&lt; 5 </a:t>
                      </a:r>
                      <a:endParaRPr lang="zh-CN" altLang="en-US" sz="1600" i="1" kern="1200" dirty="0">
                        <a:solidFill>
                          <a:schemeClr val="dk1"/>
                        </a:solidFill>
                        <a:latin typeface="Consolas" panose="020B0609020204030204" pitchFamily="49" charset="0"/>
                        <a:ea typeface="+mn-ea"/>
                        <a:cs typeface="Consolas" panose="020B0609020204030204" pitchFamily="49" charset="0"/>
                      </a:endParaRPr>
                    </a:p>
                  </a:txBody>
                  <a:tcPr anchor="ctr">
                    <a:lnL w="1270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2137086116"/>
                  </a:ext>
                </a:extLst>
              </a:tr>
              <a:tr h="57912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altLang="zh-CN" sz="1600" i="1" kern="1200">
                          <a:solidFill>
                            <a:schemeClr val="dk1"/>
                          </a:solidFill>
                          <a:latin typeface="Consolas" panose="020B0609020204030204" pitchFamily="49" charset="0"/>
                          <a:ea typeface="+mn-ea"/>
                          <a:cs typeface="Consolas" panose="020B0609020204030204" pitchFamily="49" charset="0"/>
                        </a:rPr>
                        <a:t> </a:t>
                      </a:r>
                      <a:r>
                        <a:rPr lang="en-US" altLang="zh-CN" sz="1600" i="1" kern="1200" err="1">
                          <a:solidFill>
                            <a:schemeClr val="dk1"/>
                          </a:solidFill>
                          <a:latin typeface="Consolas" panose="020B0609020204030204" pitchFamily="49" charset="0"/>
                          <a:ea typeface="+mn-ea"/>
                          <a:cs typeface="Consolas" panose="020B0609020204030204" pitchFamily="49" charset="0"/>
                        </a:rPr>
                        <a:t>srl</a:t>
                      </a:r>
                      <a:r>
                        <a:rPr lang="en-US" altLang="zh-CN" sz="1600" i="1" kern="1200">
                          <a:solidFill>
                            <a:schemeClr val="dk1"/>
                          </a:solidFill>
                          <a:latin typeface="Consolas" panose="020B0609020204030204" pitchFamily="49" charset="0"/>
                          <a:ea typeface="+mn-ea"/>
                          <a:cs typeface="Consolas" panose="020B0609020204030204" pitchFamily="49" charset="0"/>
                        </a:rPr>
                        <a:t> a0, a1, a2; </a:t>
                      </a:r>
                      <a:endParaRPr lang="zh-CN" altLang="en-US" sz="1600" i="1" kern="1200">
                        <a:solidFill>
                          <a:schemeClr val="dk1"/>
                        </a:solidFill>
                        <a:latin typeface="Consolas" panose="020B0609020204030204" pitchFamily="49" charset="0"/>
                        <a:ea typeface="+mn-ea"/>
                        <a:cs typeface="Consolas" panose="020B0609020204030204" pitchFamily="49" charset="0"/>
                      </a:endParaRPr>
                    </a:p>
                  </a:txBody>
                  <a:tcPr anchor="ctr">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altLang="zh-CN" sz="1600" i="1" kern="1200" dirty="0">
                          <a:solidFill>
                            <a:schemeClr val="dk1"/>
                          </a:solidFill>
                          <a:latin typeface="Consolas" panose="020B0609020204030204" pitchFamily="49" charset="0"/>
                          <a:ea typeface="+mn-ea"/>
                          <a:cs typeface="Consolas" panose="020B0609020204030204" pitchFamily="49" charset="0"/>
                        </a:rPr>
                        <a:t>a0=a1 &gt;&gt; a2</a:t>
                      </a:r>
                    </a:p>
                    <a:p>
                      <a:pPr marL="0" marR="0" lvl="0" indent="0" algn="ctr" defTabSz="685800" rtl="0" eaLnBrk="1" fontAlgn="auto" latinLnBrk="0" hangingPunct="1">
                        <a:lnSpc>
                          <a:spcPct val="100000"/>
                        </a:lnSpc>
                        <a:spcBef>
                          <a:spcPts val="0"/>
                        </a:spcBef>
                        <a:spcAft>
                          <a:spcPts val="0"/>
                        </a:spcAft>
                        <a:buClrTx/>
                        <a:buSzTx/>
                        <a:buFontTx/>
                        <a:buNone/>
                        <a:tabLst/>
                        <a:defRPr/>
                      </a:pPr>
                      <a:r>
                        <a:rPr lang="zh-CN" altLang="en-US" sz="1600" kern="1200" dirty="0">
                          <a:solidFill>
                            <a:schemeClr val="dk1"/>
                          </a:solidFill>
                          <a:latin typeface="Consolas" panose="020B0609020204030204" pitchFamily="49" charset="0"/>
                          <a:ea typeface="+mn-ea"/>
                          <a:cs typeface="Consolas" panose="020B0609020204030204" pitchFamily="49" charset="0"/>
                        </a:rPr>
                        <a:t>（逻辑移位）</a:t>
                      </a:r>
                      <a:r>
                        <a:rPr lang="en-US" altLang="zh-CN" sz="1600" kern="1200" dirty="0">
                          <a:solidFill>
                            <a:schemeClr val="dk1"/>
                          </a:solidFill>
                          <a:latin typeface="Consolas" panose="020B0609020204030204" pitchFamily="49" charset="0"/>
                          <a:ea typeface="+mn-ea"/>
                          <a:cs typeface="Consolas" panose="020B0609020204030204" pitchFamily="49" charset="0"/>
                        </a:rPr>
                        <a:t> </a:t>
                      </a:r>
                      <a:endParaRPr lang="zh-CN" altLang="en-US" sz="1600" kern="1200" dirty="0">
                        <a:solidFill>
                          <a:schemeClr val="dk1"/>
                        </a:solidFill>
                        <a:latin typeface="Consolas" panose="020B0609020204030204" pitchFamily="49" charset="0"/>
                        <a:ea typeface="+mn-ea"/>
                        <a:cs typeface="Consolas" panose="020B0609020204030204" pitchFamily="49"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altLang="zh-CN" sz="1600" i="1" kern="1200" err="1">
                          <a:solidFill>
                            <a:schemeClr val="dk1"/>
                          </a:solidFill>
                          <a:latin typeface="Consolas" panose="020B0609020204030204" pitchFamily="49" charset="0"/>
                          <a:ea typeface="+mn-ea"/>
                          <a:cs typeface="Consolas" panose="020B0609020204030204" pitchFamily="49" charset="0"/>
                        </a:rPr>
                        <a:t>srli</a:t>
                      </a:r>
                      <a:r>
                        <a:rPr lang="en-US" altLang="zh-CN" sz="1600" i="1" kern="1200">
                          <a:solidFill>
                            <a:schemeClr val="dk1"/>
                          </a:solidFill>
                          <a:latin typeface="Consolas" panose="020B0609020204030204" pitchFamily="49" charset="0"/>
                          <a:ea typeface="+mn-ea"/>
                          <a:cs typeface="Consolas" panose="020B0609020204030204" pitchFamily="49" charset="0"/>
                        </a:rPr>
                        <a:t> a0, a1, 5; </a:t>
                      </a:r>
                      <a:endParaRPr lang="zh-CN" altLang="en-US" sz="1600" i="1" kern="1200">
                        <a:solidFill>
                          <a:schemeClr val="dk1"/>
                        </a:solidFill>
                        <a:latin typeface="Consolas" panose="020B0609020204030204" pitchFamily="49" charset="0"/>
                        <a:ea typeface="+mn-ea"/>
                        <a:cs typeface="Consolas" panose="020B0609020204030204" pitchFamily="49"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altLang="zh-CN" sz="1600" i="1" kern="1200" dirty="0">
                          <a:solidFill>
                            <a:schemeClr val="dk1"/>
                          </a:solidFill>
                          <a:latin typeface="Consolas" panose="020B0609020204030204" pitchFamily="49" charset="0"/>
                          <a:ea typeface="+mn-ea"/>
                          <a:cs typeface="Consolas" panose="020B0609020204030204" pitchFamily="49" charset="0"/>
                        </a:rPr>
                        <a:t>a0=a1 &gt;&gt; 5 </a:t>
                      </a:r>
                    </a:p>
                    <a:p>
                      <a:pPr marL="0" marR="0" lvl="0" indent="0" algn="ctr" defTabSz="685800" rtl="0" eaLnBrk="1" fontAlgn="auto" latinLnBrk="0" hangingPunct="1">
                        <a:lnSpc>
                          <a:spcPct val="100000"/>
                        </a:lnSpc>
                        <a:spcBef>
                          <a:spcPts val="0"/>
                        </a:spcBef>
                        <a:spcAft>
                          <a:spcPts val="0"/>
                        </a:spcAft>
                        <a:buClrTx/>
                        <a:buSzTx/>
                        <a:buFontTx/>
                        <a:buNone/>
                        <a:tabLst/>
                        <a:defRPr/>
                      </a:pPr>
                      <a:r>
                        <a:rPr lang="zh-CN" altLang="en-US" sz="1600" kern="1200" dirty="0">
                          <a:solidFill>
                            <a:schemeClr val="dk1"/>
                          </a:solidFill>
                          <a:latin typeface="Consolas" panose="020B0609020204030204" pitchFamily="49" charset="0"/>
                          <a:ea typeface="+mn-ea"/>
                          <a:cs typeface="Consolas" panose="020B0609020204030204" pitchFamily="49" charset="0"/>
                        </a:rPr>
                        <a:t>（逻辑移位）</a:t>
                      </a:r>
                      <a:r>
                        <a:rPr lang="en-US" altLang="zh-CN" sz="1600" kern="1200" dirty="0">
                          <a:solidFill>
                            <a:schemeClr val="dk1"/>
                          </a:solidFill>
                          <a:latin typeface="Consolas" panose="020B0609020204030204" pitchFamily="49" charset="0"/>
                          <a:ea typeface="+mn-ea"/>
                          <a:cs typeface="Consolas" panose="020B0609020204030204" pitchFamily="49" charset="0"/>
                        </a:rPr>
                        <a:t> </a:t>
                      </a:r>
                      <a:endParaRPr lang="zh-CN" altLang="en-US" sz="1600" kern="1200" dirty="0">
                        <a:solidFill>
                          <a:schemeClr val="dk1"/>
                        </a:solidFill>
                        <a:latin typeface="Consolas" panose="020B0609020204030204" pitchFamily="49" charset="0"/>
                        <a:ea typeface="+mn-ea"/>
                        <a:cs typeface="Consolas" panose="020B0609020204030204" pitchFamily="49" charset="0"/>
                      </a:endParaRPr>
                    </a:p>
                  </a:txBody>
                  <a:tcPr anchor="ctr">
                    <a:lnL w="1270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4270993715"/>
                  </a:ext>
                </a:extLst>
              </a:tr>
              <a:tr h="57912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altLang="zh-CN" sz="1600" i="1" kern="1200" dirty="0">
                          <a:solidFill>
                            <a:schemeClr val="dk1"/>
                          </a:solidFill>
                          <a:latin typeface="Consolas" panose="020B0609020204030204" pitchFamily="49" charset="0"/>
                          <a:ea typeface="+mn-ea"/>
                          <a:cs typeface="Consolas" panose="020B0609020204030204" pitchFamily="49" charset="0"/>
                        </a:rPr>
                        <a:t> </a:t>
                      </a:r>
                      <a:r>
                        <a:rPr lang="en-US" altLang="zh-CN" sz="1600" i="1" kern="1200" dirty="0" err="1">
                          <a:solidFill>
                            <a:schemeClr val="dk1"/>
                          </a:solidFill>
                          <a:latin typeface="Consolas" panose="020B0609020204030204" pitchFamily="49" charset="0"/>
                          <a:ea typeface="+mn-ea"/>
                          <a:cs typeface="Consolas" panose="020B0609020204030204" pitchFamily="49" charset="0"/>
                        </a:rPr>
                        <a:t>sra</a:t>
                      </a:r>
                      <a:r>
                        <a:rPr lang="en-US" altLang="zh-CN" sz="1600" i="1" kern="1200" dirty="0">
                          <a:solidFill>
                            <a:schemeClr val="dk1"/>
                          </a:solidFill>
                          <a:latin typeface="Consolas" panose="020B0609020204030204" pitchFamily="49" charset="0"/>
                          <a:ea typeface="+mn-ea"/>
                          <a:cs typeface="Consolas" panose="020B0609020204030204" pitchFamily="49" charset="0"/>
                        </a:rPr>
                        <a:t> a0, a1, a2; </a:t>
                      </a:r>
                      <a:endParaRPr lang="zh-CN" altLang="en-US" sz="1600" i="1" kern="1200" dirty="0">
                        <a:solidFill>
                          <a:schemeClr val="dk1"/>
                        </a:solidFill>
                        <a:latin typeface="Consolas" panose="020B0609020204030204" pitchFamily="49" charset="0"/>
                        <a:ea typeface="+mn-ea"/>
                        <a:cs typeface="Consolas" panose="020B0609020204030204" pitchFamily="49" charset="0"/>
                      </a:endParaRPr>
                    </a:p>
                  </a:txBody>
                  <a:tcPr anchor="ctr">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altLang="zh-CN" sz="1600" i="1" kern="1200" dirty="0">
                          <a:solidFill>
                            <a:schemeClr val="dk1"/>
                          </a:solidFill>
                          <a:latin typeface="Consolas" panose="020B0609020204030204" pitchFamily="49" charset="0"/>
                          <a:ea typeface="+mn-ea"/>
                          <a:cs typeface="Consolas" panose="020B0609020204030204" pitchFamily="49" charset="0"/>
                        </a:rPr>
                        <a:t>a0=a1 &gt;&gt; a2 </a:t>
                      </a:r>
                    </a:p>
                    <a:p>
                      <a:pPr marL="0" marR="0" lvl="0" indent="0" algn="ctr" defTabSz="685800" rtl="0" eaLnBrk="1" fontAlgn="auto" latinLnBrk="0" hangingPunct="1">
                        <a:lnSpc>
                          <a:spcPct val="100000"/>
                        </a:lnSpc>
                        <a:spcBef>
                          <a:spcPts val="0"/>
                        </a:spcBef>
                        <a:spcAft>
                          <a:spcPts val="0"/>
                        </a:spcAft>
                        <a:buClrTx/>
                        <a:buSzTx/>
                        <a:buFontTx/>
                        <a:buNone/>
                        <a:tabLst/>
                        <a:defRPr/>
                      </a:pPr>
                      <a:r>
                        <a:rPr lang="zh-CN" altLang="en-US" sz="1600" kern="1200" dirty="0">
                          <a:solidFill>
                            <a:schemeClr val="dk1"/>
                          </a:solidFill>
                          <a:latin typeface="Consolas" panose="020B0609020204030204" pitchFamily="49" charset="0"/>
                          <a:ea typeface="+mn-ea"/>
                          <a:cs typeface="Consolas" panose="020B0609020204030204" pitchFamily="49" charset="0"/>
                        </a:rPr>
                        <a:t>（算术移位）</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altLang="zh-CN" sz="1600" i="1" kern="1200" err="1">
                          <a:solidFill>
                            <a:schemeClr val="dk1"/>
                          </a:solidFill>
                          <a:latin typeface="Consolas" panose="020B0609020204030204" pitchFamily="49" charset="0"/>
                          <a:ea typeface="+mn-ea"/>
                          <a:cs typeface="Consolas" panose="020B0609020204030204" pitchFamily="49" charset="0"/>
                        </a:rPr>
                        <a:t>srai</a:t>
                      </a:r>
                      <a:r>
                        <a:rPr lang="en-US" altLang="zh-CN" sz="1600" i="1" kern="1200">
                          <a:solidFill>
                            <a:schemeClr val="dk1"/>
                          </a:solidFill>
                          <a:latin typeface="Consolas" panose="020B0609020204030204" pitchFamily="49" charset="0"/>
                          <a:ea typeface="+mn-ea"/>
                          <a:cs typeface="Consolas" panose="020B0609020204030204" pitchFamily="49" charset="0"/>
                        </a:rPr>
                        <a:t> a0, a1, 5; </a:t>
                      </a:r>
                      <a:endParaRPr lang="zh-CN" altLang="en-US" sz="1600" i="1" kern="1200">
                        <a:solidFill>
                          <a:schemeClr val="dk1"/>
                        </a:solidFill>
                        <a:latin typeface="Consolas" panose="020B0609020204030204" pitchFamily="49" charset="0"/>
                        <a:ea typeface="+mn-ea"/>
                        <a:cs typeface="Consolas" panose="020B0609020204030204" pitchFamily="49"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altLang="zh-CN" sz="1600" i="1" kern="1200" dirty="0">
                          <a:solidFill>
                            <a:schemeClr val="dk1"/>
                          </a:solidFill>
                          <a:latin typeface="Consolas" panose="020B0609020204030204" pitchFamily="49" charset="0"/>
                          <a:ea typeface="+mn-ea"/>
                          <a:cs typeface="Consolas" panose="020B0609020204030204" pitchFamily="49" charset="0"/>
                        </a:rPr>
                        <a:t>a0=a1 &gt;&gt; 5</a:t>
                      </a:r>
                    </a:p>
                    <a:p>
                      <a:pPr marL="0" marR="0" lvl="0" indent="0" algn="ctr" defTabSz="685800" rtl="0" eaLnBrk="1" fontAlgn="auto" latinLnBrk="0" hangingPunct="1">
                        <a:lnSpc>
                          <a:spcPct val="100000"/>
                        </a:lnSpc>
                        <a:spcBef>
                          <a:spcPts val="0"/>
                        </a:spcBef>
                        <a:spcAft>
                          <a:spcPts val="0"/>
                        </a:spcAft>
                        <a:buClrTx/>
                        <a:buSzTx/>
                        <a:buFontTx/>
                        <a:buNone/>
                        <a:tabLst/>
                        <a:defRPr/>
                      </a:pPr>
                      <a:r>
                        <a:rPr lang="zh-CN" altLang="en-US" sz="1600" kern="1200" dirty="0">
                          <a:solidFill>
                            <a:schemeClr val="dk1"/>
                          </a:solidFill>
                          <a:latin typeface="Consolas" panose="020B0609020204030204" pitchFamily="49" charset="0"/>
                          <a:ea typeface="+mn-ea"/>
                          <a:cs typeface="Consolas" panose="020B0609020204030204" pitchFamily="49" charset="0"/>
                        </a:rPr>
                        <a:t>（算术移位）</a:t>
                      </a:r>
                      <a:r>
                        <a:rPr lang="en-US" altLang="zh-CN" sz="1600" kern="1200" dirty="0">
                          <a:solidFill>
                            <a:schemeClr val="dk1"/>
                          </a:solidFill>
                          <a:latin typeface="Consolas" panose="020B0609020204030204" pitchFamily="49" charset="0"/>
                          <a:ea typeface="+mn-ea"/>
                          <a:cs typeface="Consolas" panose="020B0609020204030204" pitchFamily="49" charset="0"/>
                        </a:rPr>
                        <a:t> </a:t>
                      </a:r>
                      <a:endParaRPr lang="zh-CN" altLang="en-US" sz="1600" kern="1200" dirty="0">
                        <a:solidFill>
                          <a:schemeClr val="dk1"/>
                        </a:solidFill>
                        <a:latin typeface="Consolas" panose="020B0609020204030204" pitchFamily="49" charset="0"/>
                        <a:ea typeface="+mn-ea"/>
                        <a:cs typeface="Consolas" panose="020B0609020204030204" pitchFamily="49" charset="0"/>
                      </a:endParaRPr>
                    </a:p>
                  </a:txBody>
                  <a:tcPr anchor="ctr">
                    <a:lnL w="1270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653344716"/>
                  </a:ext>
                </a:extLst>
              </a:tr>
            </a:tbl>
          </a:graphicData>
        </a:graphic>
      </p:graphicFrame>
      <p:sp>
        <p:nvSpPr>
          <p:cNvPr id="3" name="TextBox 2">
            <a:extLst>
              <a:ext uri="{FF2B5EF4-FFF2-40B4-BE49-F238E27FC236}">
                <a16:creationId xmlns:a16="http://schemas.microsoft.com/office/drawing/2014/main" id="{8D1FF69A-9450-4C7F-A128-451B77AF8D38}"/>
              </a:ext>
            </a:extLst>
          </p:cNvPr>
          <p:cNvSpPr txBox="1"/>
          <p:nvPr/>
        </p:nvSpPr>
        <p:spPr>
          <a:xfrm>
            <a:off x="2590801" y="5682919"/>
            <a:ext cx="5211683" cy="954107"/>
          </a:xfrm>
          <a:prstGeom prst="rect">
            <a:avLst/>
          </a:prstGeom>
          <a:noFill/>
        </p:spPr>
        <p:txBody>
          <a:bodyPr wrap="none" rtlCol="0">
            <a:spAutoFit/>
          </a:bodyPr>
          <a:lstStyle/>
          <a:p>
            <a:r>
              <a:rPr lang="zh-CN" altLang="en-US" sz="2800" dirty="0">
                <a:solidFill>
                  <a:schemeClr val="tx1"/>
                </a:solidFill>
                <a:latin typeface="+mj-ea"/>
                <a:ea typeface="+mj-ea"/>
              </a:rPr>
              <a:t>算术指令编码需要包含的内容：</a:t>
            </a:r>
            <a:endParaRPr lang="en-US" altLang="zh-CN" sz="2800" dirty="0">
              <a:solidFill>
                <a:schemeClr val="tx1"/>
              </a:solidFill>
              <a:latin typeface="+mj-ea"/>
              <a:ea typeface="+mj-ea"/>
            </a:endParaRPr>
          </a:p>
          <a:p>
            <a:r>
              <a:rPr lang="zh-CN" altLang="en-US" sz="2800" dirty="0">
                <a:solidFill>
                  <a:srgbClr val="0432FF"/>
                </a:solidFill>
                <a:latin typeface="+mj-ea"/>
                <a:ea typeface="+mj-ea"/>
              </a:rPr>
              <a:t>操作类型、寄存器、立即数</a:t>
            </a:r>
          </a:p>
        </p:txBody>
      </p:sp>
      <p:sp>
        <p:nvSpPr>
          <p:cNvPr id="2" name="Title 4">
            <a:extLst>
              <a:ext uri="{FF2B5EF4-FFF2-40B4-BE49-F238E27FC236}">
                <a16:creationId xmlns:a16="http://schemas.microsoft.com/office/drawing/2014/main" id="{8EAFB20D-EED1-6FCF-3373-6A5F0B8272FC}"/>
              </a:ext>
            </a:extLst>
          </p:cNvPr>
          <p:cNvSpPr txBox="1">
            <a:spLocks/>
          </p:cNvSpPr>
          <p:nvPr/>
        </p:nvSpPr>
        <p:spPr bwMode="auto">
          <a:xfrm>
            <a:off x="457200" y="136800"/>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kumimoji="1" lang="zh-CN" altLang="en-US" dirty="0"/>
              <a:t>指令集设计：算术</a:t>
            </a:r>
            <a:r>
              <a:rPr kumimoji="1" lang="en-US" altLang="zh-CN" dirty="0"/>
              <a:t>&amp;</a:t>
            </a:r>
            <a:r>
              <a:rPr kumimoji="1" lang="zh-CN" altLang="en-US" dirty="0"/>
              <a:t>逻辑指令</a:t>
            </a:r>
            <a:endParaRPr lang="en-CN" kern="0" dirty="0"/>
          </a:p>
        </p:txBody>
      </p:sp>
    </p:spTree>
    <p:extLst>
      <p:ext uri="{BB962C8B-B14F-4D97-AF65-F5344CB8AC3E}">
        <p14:creationId xmlns:p14="http://schemas.microsoft.com/office/powerpoint/2010/main" val="15639266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1"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a:extLst>
              <a:ext uri="{FF2B5EF4-FFF2-40B4-BE49-F238E27FC236}">
                <a16:creationId xmlns:a16="http://schemas.microsoft.com/office/drawing/2014/main" id="{68F7FF1C-DC59-5F43-A383-991D51B72C86}"/>
              </a:ext>
            </a:extLst>
          </p:cNvPr>
          <p:cNvSpPr>
            <a:spLocks noGrp="1"/>
          </p:cNvSpPr>
          <p:nvPr>
            <p:ph type="sldNum" sz="quarter" idx="12"/>
          </p:nvPr>
        </p:nvSpPr>
        <p:spPr/>
        <p:txBody>
          <a:bodyPr/>
          <a:lstStyle/>
          <a:p>
            <a:fld id="{14659731-6BD7-46E7-8D3C-2F3AC07E20B1}" type="slidenum">
              <a:rPr lang="en-US" altLang="zh-CN" smtClean="0"/>
              <a:pPr/>
              <a:t>17</a:t>
            </a:fld>
            <a:endParaRPr lang="en-US" altLang="zh-CN"/>
          </a:p>
        </p:txBody>
      </p:sp>
      <p:sp>
        <p:nvSpPr>
          <p:cNvPr id="36" name="Rectangle 3">
            <a:extLst>
              <a:ext uri="{FF2B5EF4-FFF2-40B4-BE49-F238E27FC236}">
                <a16:creationId xmlns:a16="http://schemas.microsoft.com/office/drawing/2014/main" id="{1AF4C294-9B96-4AC7-A8CA-FB8884B6204B}"/>
              </a:ext>
            </a:extLst>
          </p:cNvPr>
          <p:cNvSpPr>
            <a:spLocks noGrp="1" noChangeArrowheads="1"/>
          </p:cNvSpPr>
          <p:nvPr>
            <p:ph idx="4294967295"/>
          </p:nvPr>
        </p:nvSpPr>
        <p:spPr>
          <a:xfrm>
            <a:off x="336838" y="1368425"/>
            <a:ext cx="8349961" cy="5205370"/>
          </a:xfrm>
        </p:spPr>
        <p:txBody>
          <a:bodyPr>
            <a:normAutofit/>
          </a:bodyPr>
          <a:lstStyle/>
          <a:p>
            <a:r>
              <a:rPr lang="en-US" altLang="zh-CN" sz="2800" i="1" kern="1200" dirty="0">
                <a:solidFill>
                  <a:schemeClr val="dk1"/>
                </a:solidFill>
                <a:latin typeface="Consolas" panose="020B0609020204030204" pitchFamily="49" charset="0"/>
                <a:ea typeface="+mn-ea"/>
                <a:cs typeface="Arial" panose="020B0604020202020204" pitchFamily="34" charset="0"/>
              </a:rPr>
              <a:t>add a0, a1, a2     # a0 = a1 + a2 </a:t>
            </a:r>
          </a:p>
          <a:p>
            <a:r>
              <a:rPr lang="zh-CN" altLang="en-US" sz="2800" kern="1200" dirty="0">
                <a:solidFill>
                  <a:schemeClr val="dk1"/>
                </a:solidFill>
                <a:latin typeface="+mn-ea"/>
                <a:ea typeface="+mn-ea"/>
                <a:cs typeface="Arial" panose="020B0604020202020204" pitchFamily="34" charset="0"/>
              </a:rPr>
              <a:t>需要几位编码寄存器？</a:t>
            </a:r>
            <a:r>
              <a:rPr lang="en-US" altLang="zh-CN" sz="2800" i="1" kern="1200" dirty="0">
                <a:solidFill>
                  <a:schemeClr val="dk1"/>
                </a:solidFill>
                <a:latin typeface="+mn-ea"/>
                <a:ea typeface="+mn-ea"/>
                <a:cs typeface="Arial" panose="020B0604020202020204" pitchFamily="34" charset="0"/>
              </a:rPr>
              <a:t>   </a:t>
            </a:r>
            <a:endParaRPr lang="en-US" altLang="zh-CN" sz="2800" dirty="0">
              <a:latin typeface="+mn-ea"/>
              <a:ea typeface="+mn-ea"/>
            </a:endParaRPr>
          </a:p>
          <a:p>
            <a:pPr lvl="1"/>
            <a:r>
              <a:rPr lang="zh-CN" altLang="en-US" sz="2400" dirty="0"/>
              <a:t>一共</a:t>
            </a:r>
            <a:r>
              <a:rPr lang="en-US" altLang="zh-CN" sz="2400" dirty="0"/>
              <a:t>32</a:t>
            </a:r>
            <a:r>
              <a:rPr lang="zh-CN" altLang="en-US" sz="2400" dirty="0"/>
              <a:t>个寄存器</a:t>
            </a:r>
            <a:endParaRPr lang="en-US" altLang="zh-CN" sz="2400" dirty="0"/>
          </a:p>
          <a:p>
            <a:pPr lvl="1"/>
            <a:r>
              <a:rPr lang="en-US" altLang="zh-CN" sz="2400" dirty="0"/>
              <a:t>add</a:t>
            </a:r>
            <a:r>
              <a:rPr lang="zh-CN" altLang="en-US" sz="2400" dirty="0"/>
              <a:t>需要三个寄存器：需要使用至少</a:t>
            </a:r>
            <a:r>
              <a:rPr lang="en-US" altLang="zh-CN" sz="2400" dirty="0"/>
              <a:t>15bit</a:t>
            </a:r>
          </a:p>
          <a:p>
            <a:pPr lvl="1"/>
            <a:endParaRPr lang="en-US" altLang="zh-CN" sz="2400" dirty="0"/>
          </a:p>
          <a:p>
            <a:endParaRPr lang="en-US" altLang="zh-CN" sz="2400" dirty="0">
              <a:solidFill>
                <a:srgbClr val="0432FF"/>
              </a:solidFill>
            </a:endParaRPr>
          </a:p>
          <a:p>
            <a:endParaRPr lang="en-US" altLang="zh-CN" sz="2400" dirty="0">
              <a:solidFill>
                <a:srgbClr val="0432FF"/>
              </a:solidFill>
            </a:endParaRPr>
          </a:p>
          <a:p>
            <a:pPr marL="0" indent="0">
              <a:buNone/>
            </a:pPr>
            <a:endParaRPr lang="en-US" altLang="zh-CN" sz="2800" dirty="0"/>
          </a:p>
          <a:p>
            <a:r>
              <a:rPr lang="zh-CN" altLang="en-US" sz="2800" dirty="0">
                <a:solidFill>
                  <a:srgbClr val="0432FF"/>
                </a:solidFill>
              </a:rPr>
              <a:t>问题</a:t>
            </a:r>
            <a:r>
              <a:rPr lang="en-US" altLang="zh-CN" sz="2800" dirty="0">
                <a:solidFill>
                  <a:srgbClr val="0432FF"/>
                </a:solidFill>
              </a:rPr>
              <a:t>1</a:t>
            </a:r>
            <a:r>
              <a:rPr lang="zh-CN" altLang="en-US" sz="2800" dirty="0"/>
              <a:t>：算数</a:t>
            </a:r>
            <a:r>
              <a:rPr lang="en-US" altLang="zh-CN" sz="2800" dirty="0"/>
              <a:t>&amp;</a:t>
            </a:r>
            <a:r>
              <a:rPr lang="zh-CN" altLang="en-US" sz="2800" dirty="0"/>
              <a:t>逻辑指令</a:t>
            </a:r>
            <a:r>
              <a:rPr lang="en-US" altLang="zh-CN" sz="2800" dirty="0"/>
              <a:t>11bit</a:t>
            </a:r>
            <a:r>
              <a:rPr lang="zh-CN" altLang="en-US" sz="2800" dirty="0"/>
              <a:t>空间能否利用起来？</a:t>
            </a:r>
            <a:endParaRPr lang="en-US" altLang="zh-CN" sz="2800" dirty="0"/>
          </a:p>
          <a:p>
            <a:pPr lvl="1"/>
            <a:endParaRPr lang="en-US" altLang="zh-CN" sz="2000" dirty="0"/>
          </a:p>
          <a:p>
            <a:pPr lvl="1"/>
            <a:endParaRPr lang="en-US" altLang="zh-CN" sz="2000" dirty="0"/>
          </a:p>
          <a:p>
            <a:pPr lvl="1"/>
            <a:endParaRPr lang="en-US" altLang="zh-CN" sz="2000" dirty="0"/>
          </a:p>
        </p:txBody>
      </p:sp>
      <p:grpSp>
        <p:nvGrpSpPr>
          <p:cNvPr id="2" name="Group 1">
            <a:extLst>
              <a:ext uri="{FF2B5EF4-FFF2-40B4-BE49-F238E27FC236}">
                <a16:creationId xmlns:a16="http://schemas.microsoft.com/office/drawing/2014/main" id="{590579C2-3519-496D-888C-EDE44D64CE2B}"/>
              </a:ext>
            </a:extLst>
          </p:cNvPr>
          <p:cNvGrpSpPr/>
          <p:nvPr/>
        </p:nvGrpSpPr>
        <p:grpSpPr>
          <a:xfrm>
            <a:off x="660879" y="3429000"/>
            <a:ext cx="7951304" cy="1489210"/>
            <a:chOff x="596348" y="3223120"/>
            <a:chExt cx="7951304" cy="1489210"/>
          </a:xfrm>
        </p:grpSpPr>
        <p:sp>
          <p:nvSpPr>
            <p:cNvPr id="6" name="Rectangle 5">
              <a:extLst>
                <a:ext uri="{FF2B5EF4-FFF2-40B4-BE49-F238E27FC236}">
                  <a16:creationId xmlns:a16="http://schemas.microsoft.com/office/drawing/2014/main" id="{3A1804C4-43D5-4446-B58A-90F094413977}"/>
                </a:ext>
              </a:extLst>
            </p:cNvPr>
            <p:cNvSpPr/>
            <p:nvPr/>
          </p:nvSpPr>
          <p:spPr>
            <a:xfrm>
              <a:off x="596348" y="3837211"/>
              <a:ext cx="7951304" cy="457200"/>
            </a:xfrm>
            <a:prstGeom prst="rect">
              <a:avLst/>
            </a:prstGeom>
            <a:noFill/>
          </p:spPr>
          <p:style>
            <a:lnRef idx="2">
              <a:schemeClr val="dk1"/>
            </a:lnRef>
            <a:fillRef idx="1">
              <a:schemeClr val="lt1"/>
            </a:fillRef>
            <a:effectRef idx="0">
              <a:schemeClr val="dk1"/>
            </a:effectRef>
            <a:fontRef idx="minor">
              <a:schemeClr val="dk1"/>
            </a:fontRef>
          </p:style>
          <p:txBody>
            <a:bodyPr wrap="square" rtlCol="0" anchor="ctr">
              <a:noAutofit/>
            </a:bodyPr>
            <a:lstStyle/>
            <a:p>
              <a:pPr algn="ctr"/>
              <a:endParaRPr lang="zh-CN" altLang="en-US" sz="1800" b="1">
                <a:solidFill>
                  <a:schemeClr val="tx1"/>
                </a:solidFill>
                <a:latin typeface="Arial" panose="020B0604020202020204" pitchFamily="34" charset="0"/>
                <a:cs typeface="Arial" panose="020B0604020202020204" pitchFamily="34" charset="0"/>
              </a:endParaRPr>
            </a:p>
          </p:txBody>
        </p:sp>
        <p:cxnSp>
          <p:nvCxnSpPr>
            <p:cNvPr id="7" name="Straight Connector 6">
              <a:extLst>
                <a:ext uri="{FF2B5EF4-FFF2-40B4-BE49-F238E27FC236}">
                  <a16:creationId xmlns:a16="http://schemas.microsoft.com/office/drawing/2014/main" id="{35D26FC3-41B0-47E8-8629-7537C7892889}"/>
                </a:ext>
              </a:extLst>
            </p:cNvPr>
            <p:cNvCxnSpPr>
              <a:cxnSpLocks/>
            </p:cNvCxnSpPr>
            <p:nvPr/>
          </p:nvCxnSpPr>
          <p:spPr>
            <a:xfrm>
              <a:off x="2221866" y="3827271"/>
              <a:ext cx="0" cy="4671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ADF3572-5256-43C8-B0C4-B4B36B33B24E}"/>
                </a:ext>
              </a:extLst>
            </p:cNvPr>
            <p:cNvSpPr txBox="1"/>
            <p:nvPr/>
          </p:nvSpPr>
          <p:spPr>
            <a:xfrm>
              <a:off x="935368" y="4294411"/>
              <a:ext cx="968535" cy="400110"/>
            </a:xfrm>
            <a:prstGeom prst="rect">
              <a:avLst/>
            </a:prstGeom>
            <a:noFill/>
          </p:spPr>
          <p:txBody>
            <a:bodyPr wrap="none" rtlCol="0">
              <a:spAutoFit/>
            </a:bodyPr>
            <a:lstStyle/>
            <a:p>
              <a:pPr algn="ctr"/>
              <a:r>
                <a:rPr lang="zh-CN" altLang="en-US" sz="2000" b="1" dirty="0">
                  <a:solidFill>
                    <a:schemeClr val="tx1"/>
                  </a:solidFill>
                  <a:latin typeface="+mj-ea"/>
                  <a:ea typeface="+mj-ea"/>
                </a:rPr>
                <a:t>操作码</a:t>
              </a:r>
            </a:p>
          </p:txBody>
        </p:sp>
        <p:sp>
          <p:nvSpPr>
            <p:cNvPr id="11" name="TextBox 10">
              <a:extLst>
                <a:ext uri="{FF2B5EF4-FFF2-40B4-BE49-F238E27FC236}">
                  <a16:creationId xmlns:a16="http://schemas.microsoft.com/office/drawing/2014/main" id="{A4895C16-41B5-4F0D-B3E2-D3E489C4946F}"/>
                </a:ext>
              </a:extLst>
            </p:cNvPr>
            <p:cNvSpPr txBox="1"/>
            <p:nvPr/>
          </p:nvSpPr>
          <p:spPr>
            <a:xfrm>
              <a:off x="1024931" y="3842180"/>
              <a:ext cx="805068" cy="461665"/>
            </a:xfrm>
            <a:prstGeom prst="rect">
              <a:avLst/>
            </a:prstGeom>
            <a:noFill/>
          </p:spPr>
          <p:txBody>
            <a:bodyPr wrap="square" rtlCol="0">
              <a:spAutoFit/>
            </a:bodyPr>
            <a:lstStyle/>
            <a:p>
              <a:pPr algn="ctr"/>
              <a:r>
                <a:rPr lang="en-US" altLang="zh-CN" sz="2400" b="1" dirty="0">
                  <a:solidFill>
                    <a:srgbClr val="0432FF"/>
                  </a:solidFill>
                  <a:latin typeface="+mn-lt"/>
                </a:rPr>
                <a:t>6bit</a:t>
              </a:r>
              <a:endParaRPr lang="zh-CN" altLang="en-US" sz="2400" b="1" dirty="0">
                <a:solidFill>
                  <a:srgbClr val="0432FF"/>
                </a:solidFill>
                <a:latin typeface="+mn-lt"/>
              </a:endParaRPr>
            </a:p>
          </p:txBody>
        </p:sp>
        <p:sp>
          <p:nvSpPr>
            <p:cNvPr id="13" name="TextBox 12">
              <a:extLst>
                <a:ext uri="{FF2B5EF4-FFF2-40B4-BE49-F238E27FC236}">
                  <a16:creationId xmlns:a16="http://schemas.microsoft.com/office/drawing/2014/main" id="{F536982C-CC76-46C1-A104-9DA4A7353156}"/>
                </a:ext>
              </a:extLst>
            </p:cNvPr>
            <p:cNvSpPr txBox="1"/>
            <p:nvPr/>
          </p:nvSpPr>
          <p:spPr>
            <a:xfrm>
              <a:off x="2314715" y="4312220"/>
              <a:ext cx="1112804" cy="400110"/>
            </a:xfrm>
            <a:prstGeom prst="rect">
              <a:avLst/>
            </a:prstGeom>
            <a:noFill/>
          </p:spPr>
          <p:txBody>
            <a:bodyPr wrap="none" rtlCol="0">
              <a:spAutoFit/>
            </a:bodyPr>
            <a:lstStyle/>
            <a:p>
              <a:pPr algn="ctr"/>
              <a:r>
                <a:rPr lang="zh-CN" altLang="en-US" sz="2000" b="1">
                  <a:solidFill>
                    <a:schemeClr val="tx1"/>
                  </a:solidFill>
                  <a:latin typeface="+mj-ea"/>
                  <a:ea typeface="+mj-ea"/>
                </a:rPr>
                <a:t>操作数</a:t>
              </a:r>
              <a:r>
                <a:rPr lang="en-US" altLang="zh-CN" sz="2000" b="1">
                  <a:solidFill>
                    <a:schemeClr val="tx1"/>
                  </a:solidFill>
                  <a:latin typeface="+mj-ea"/>
                  <a:ea typeface="+mj-ea"/>
                </a:rPr>
                <a:t>0</a:t>
              </a:r>
              <a:endParaRPr lang="zh-CN" altLang="en-US" sz="2000" b="1">
                <a:solidFill>
                  <a:schemeClr val="tx1"/>
                </a:solidFill>
                <a:latin typeface="+mj-ea"/>
                <a:ea typeface="+mj-ea"/>
              </a:endParaRPr>
            </a:p>
          </p:txBody>
        </p:sp>
        <p:cxnSp>
          <p:nvCxnSpPr>
            <p:cNvPr id="15" name="Straight Connector 14">
              <a:extLst>
                <a:ext uri="{FF2B5EF4-FFF2-40B4-BE49-F238E27FC236}">
                  <a16:creationId xmlns:a16="http://schemas.microsoft.com/office/drawing/2014/main" id="{41562F77-8A55-49B9-8BE1-FBF669BB63FD}"/>
                </a:ext>
              </a:extLst>
            </p:cNvPr>
            <p:cNvCxnSpPr>
              <a:cxnSpLocks/>
            </p:cNvCxnSpPr>
            <p:nvPr/>
          </p:nvCxnSpPr>
          <p:spPr>
            <a:xfrm>
              <a:off x="3472816" y="3827271"/>
              <a:ext cx="0" cy="4671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7C7D408-C75E-44AB-8CE2-338DC3C6B22C}"/>
                </a:ext>
              </a:extLst>
            </p:cNvPr>
            <p:cNvCxnSpPr>
              <a:cxnSpLocks/>
            </p:cNvCxnSpPr>
            <p:nvPr/>
          </p:nvCxnSpPr>
          <p:spPr>
            <a:xfrm>
              <a:off x="4736466" y="3827271"/>
              <a:ext cx="0" cy="4671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94F98CB-991F-456A-A683-CBEBD5A07B56}"/>
                </a:ext>
              </a:extLst>
            </p:cNvPr>
            <p:cNvCxnSpPr>
              <a:cxnSpLocks/>
            </p:cNvCxnSpPr>
            <p:nvPr/>
          </p:nvCxnSpPr>
          <p:spPr>
            <a:xfrm>
              <a:off x="6029490" y="3827271"/>
              <a:ext cx="0" cy="4671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12E34CA3-CCF4-4252-A384-DF3801247EDE}"/>
                </a:ext>
              </a:extLst>
            </p:cNvPr>
            <p:cNvSpPr txBox="1"/>
            <p:nvPr/>
          </p:nvSpPr>
          <p:spPr>
            <a:xfrm>
              <a:off x="2403989" y="3850555"/>
              <a:ext cx="805068" cy="461665"/>
            </a:xfrm>
            <a:prstGeom prst="rect">
              <a:avLst/>
            </a:prstGeom>
            <a:noFill/>
          </p:spPr>
          <p:txBody>
            <a:bodyPr wrap="square" rtlCol="0">
              <a:spAutoFit/>
            </a:bodyPr>
            <a:lstStyle/>
            <a:p>
              <a:pPr algn="ctr"/>
              <a:r>
                <a:rPr lang="en-US" altLang="zh-CN" sz="2400" b="1">
                  <a:solidFill>
                    <a:srgbClr val="0432FF"/>
                  </a:solidFill>
                  <a:latin typeface="+mn-lt"/>
                </a:rPr>
                <a:t>5bit</a:t>
              </a:r>
              <a:endParaRPr lang="zh-CN" altLang="en-US" sz="2400" b="1">
                <a:solidFill>
                  <a:srgbClr val="0432FF"/>
                </a:solidFill>
                <a:latin typeface="+mn-lt"/>
              </a:endParaRPr>
            </a:p>
          </p:txBody>
        </p:sp>
        <p:sp>
          <p:nvSpPr>
            <p:cNvPr id="19" name="TextBox 18">
              <a:extLst>
                <a:ext uri="{FF2B5EF4-FFF2-40B4-BE49-F238E27FC236}">
                  <a16:creationId xmlns:a16="http://schemas.microsoft.com/office/drawing/2014/main" id="{2C0EE9B4-2F55-4966-ACC9-CE50682A1963}"/>
                </a:ext>
              </a:extLst>
            </p:cNvPr>
            <p:cNvSpPr txBox="1"/>
            <p:nvPr/>
          </p:nvSpPr>
          <p:spPr>
            <a:xfrm>
              <a:off x="3663355" y="3850555"/>
              <a:ext cx="805068" cy="461665"/>
            </a:xfrm>
            <a:prstGeom prst="rect">
              <a:avLst/>
            </a:prstGeom>
            <a:noFill/>
          </p:spPr>
          <p:txBody>
            <a:bodyPr wrap="square" rtlCol="0">
              <a:spAutoFit/>
            </a:bodyPr>
            <a:lstStyle/>
            <a:p>
              <a:pPr algn="ctr"/>
              <a:r>
                <a:rPr lang="en-US" altLang="zh-CN" sz="2400" b="1" dirty="0">
                  <a:solidFill>
                    <a:srgbClr val="0432FF"/>
                  </a:solidFill>
                  <a:latin typeface="+mn-lt"/>
                </a:rPr>
                <a:t>5bit</a:t>
              </a:r>
              <a:endParaRPr lang="zh-CN" altLang="en-US" sz="2400" b="1" dirty="0">
                <a:solidFill>
                  <a:srgbClr val="0432FF"/>
                </a:solidFill>
                <a:latin typeface="+mn-lt"/>
              </a:endParaRPr>
            </a:p>
          </p:txBody>
        </p:sp>
        <p:sp>
          <p:nvSpPr>
            <p:cNvPr id="20" name="TextBox 19">
              <a:extLst>
                <a:ext uri="{FF2B5EF4-FFF2-40B4-BE49-F238E27FC236}">
                  <a16:creationId xmlns:a16="http://schemas.microsoft.com/office/drawing/2014/main" id="{A23D4DC4-F001-4F0F-8606-EB0CB354FCD0}"/>
                </a:ext>
              </a:extLst>
            </p:cNvPr>
            <p:cNvSpPr txBox="1"/>
            <p:nvPr/>
          </p:nvSpPr>
          <p:spPr>
            <a:xfrm>
              <a:off x="4980444" y="3837211"/>
              <a:ext cx="805068" cy="461665"/>
            </a:xfrm>
            <a:prstGeom prst="rect">
              <a:avLst/>
            </a:prstGeom>
            <a:noFill/>
          </p:spPr>
          <p:txBody>
            <a:bodyPr wrap="square" rtlCol="0">
              <a:spAutoFit/>
            </a:bodyPr>
            <a:lstStyle/>
            <a:p>
              <a:pPr algn="ctr"/>
              <a:r>
                <a:rPr lang="en-US" altLang="zh-CN" sz="2400" b="1">
                  <a:solidFill>
                    <a:srgbClr val="0432FF"/>
                  </a:solidFill>
                  <a:latin typeface="+mn-lt"/>
                </a:rPr>
                <a:t>5bit</a:t>
              </a:r>
              <a:endParaRPr lang="zh-CN" altLang="en-US" sz="2400" b="1">
                <a:solidFill>
                  <a:srgbClr val="0432FF"/>
                </a:solidFill>
                <a:latin typeface="+mn-lt"/>
              </a:endParaRPr>
            </a:p>
          </p:txBody>
        </p:sp>
        <p:sp>
          <p:nvSpPr>
            <p:cNvPr id="21" name="TextBox 20">
              <a:extLst>
                <a:ext uri="{FF2B5EF4-FFF2-40B4-BE49-F238E27FC236}">
                  <a16:creationId xmlns:a16="http://schemas.microsoft.com/office/drawing/2014/main" id="{F7F1A022-4F0A-418C-99BD-DE8E86F18A26}"/>
                </a:ext>
              </a:extLst>
            </p:cNvPr>
            <p:cNvSpPr txBox="1"/>
            <p:nvPr/>
          </p:nvSpPr>
          <p:spPr>
            <a:xfrm>
              <a:off x="3543960" y="4302786"/>
              <a:ext cx="1112804" cy="400110"/>
            </a:xfrm>
            <a:prstGeom prst="rect">
              <a:avLst/>
            </a:prstGeom>
            <a:noFill/>
          </p:spPr>
          <p:txBody>
            <a:bodyPr wrap="none" rtlCol="0">
              <a:spAutoFit/>
            </a:bodyPr>
            <a:lstStyle/>
            <a:p>
              <a:pPr algn="ctr"/>
              <a:r>
                <a:rPr lang="zh-CN" altLang="en-US" sz="2000" b="1" dirty="0">
                  <a:solidFill>
                    <a:schemeClr val="tx1"/>
                  </a:solidFill>
                  <a:latin typeface="+mj-ea"/>
                  <a:ea typeface="+mj-ea"/>
                </a:rPr>
                <a:t>操作数</a:t>
              </a:r>
              <a:r>
                <a:rPr lang="en-US" altLang="zh-CN" sz="2000" b="1" dirty="0">
                  <a:solidFill>
                    <a:schemeClr val="tx1"/>
                  </a:solidFill>
                  <a:latin typeface="+mj-ea"/>
                  <a:ea typeface="+mj-ea"/>
                </a:rPr>
                <a:t>1</a:t>
              </a:r>
              <a:endParaRPr lang="zh-CN" altLang="en-US" sz="2000" b="1" dirty="0">
                <a:solidFill>
                  <a:schemeClr val="tx1"/>
                </a:solidFill>
                <a:latin typeface="+mj-ea"/>
                <a:ea typeface="+mj-ea"/>
              </a:endParaRPr>
            </a:p>
          </p:txBody>
        </p:sp>
        <p:sp>
          <p:nvSpPr>
            <p:cNvPr id="22" name="TextBox 21">
              <a:extLst>
                <a:ext uri="{FF2B5EF4-FFF2-40B4-BE49-F238E27FC236}">
                  <a16:creationId xmlns:a16="http://schemas.microsoft.com/office/drawing/2014/main" id="{28B28EF0-A5B1-478F-8E37-7A96F7F54660}"/>
                </a:ext>
              </a:extLst>
            </p:cNvPr>
            <p:cNvSpPr txBox="1"/>
            <p:nvPr/>
          </p:nvSpPr>
          <p:spPr>
            <a:xfrm>
              <a:off x="4826576" y="4312220"/>
              <a:ext cx="1112804" cy="400110"/>
            </a:xfrm>
            <a:prstGeom prst="rect">
              <a:avLst/>
            </a:prstGeom>
            <a:noFill/>
          </p:spPr>
          <p:txBody>
            <a:bodyPr wrap="none" rtlCol="0">
              <a:spAutoFit/>
            </a:bodyPr>
            <a:lstStyle/>
            <a:p>
              <a:pPr algn="ctr"/>
              <a:r>
                <a:rPr lang="zh-CN" altLang="en-US" sz="2000" b="1">
                  <a:solidFill>
                    <a:schemeClr val="tx1"/>
                  </a:solidFill>
                  <a:latin typeface="+mj-ea"/>
                  <a:ea typeface="+mj-ea"/>
                </a:rPr>
                <a:t>操作数</a:t>
              </a:r>
              <a:r>
                <a:rPr lang="en-US" altLang="zh-CN" sz="2000" b="1">
                  <a:solidFill>
                    <a:schemeClr val="tx1"/>
                  </a:solidFill>
                  <a:latin typeface="+mj-ea"/>
                  <a:ea typeface="+mj-ea"/>
                </a:rPr>
                <a:t>2</a:t>
              </a:r>
              <a:endParaRPr lang="zh-CN" altLang="en-US" sz="2000" b="1">
                <a:solidFill>
                  <a:schemeClr val="tx1"/>
                </a:solidFill>
                <a:latin typeface="+mj-ea"/>
                <a:ea typeface="+mj-ea"/>
              </a:endParaRPr>
            </a:p>
          </p:txBody>
        </p:sp>
        <p:sp>
          <p:nvSpPr>
            <p:cNvPr id="23" name="TextBox 22">
              <a:extLst>
                <a:ext uri="{FF2B5EF4-FFF2-40B4-BE49-F238E27FC236}">
                  <a16:creationId xmlns:a16="http://schemas.microsoft.com/office/drawing/2014/main" id="{88FB4B29-03E0-4DDE-A6AD-805F772CA08B}"/>
                </a:ext>
              </a:extLst>
            </p:cNvPr>
            <p:cNvSpPr txBox="1"/>
            <p:nvPr/>
          </p:nvSpPr>
          <p:spPr>
            <a:xfrm>
              <a:off x="6754460" y="3850555"/>
              <a:ext cx="1056944" cy="461665"/>
            </a:xfrm>
            <a:prstGeom prst="rect">
              <a:avLst/>
            </a:prstGeom>
            <a:noFill/>
          </p:spPr>
          <p:txBody>
            <a:bodyPr wrap="square" rtlCol="0">
              <a:spAutoFit/>
            </a:bodyPr>
            <a:lstStyle/>
            <a:p>
              <a:pPr algn="ctr"/>
              <a:r>
                <a:rPr lang="en-US" altLang="zh-CN" sz="2400" b="1">
                  <a:solidFill>
                    <a:srgbClr val="0432FF"/>
                  </a:solidFill>
                  <a:latin typeface="+mn-lt"/>
                </a:rPr>
                <a:t>11bit</a:t>
              </a:r>
              <a:endParaRPr lang="zh-CN" altLang="en-US" sz="2400" b="1">
                <a:solidFill>
                  <a:srgbClr val="0432FF"/>
                </a:solidFill>
                <a:latin typeface="+mn-lt"/>
              </a:endParaRPr>
            </a:p>
          </p:txBody>
        </p:sp>
        <p:sp>
          <p:nvSpPr>
            <p:cNvPr id="24" name="TextBox 23">
              <a:extLst>
                <a:ext uri="{FF2B5EF4-FFF2-40B4-BE49-F238E27FC236}">
                  <a16:creationId xmlns:a16="http://schemas.microsoft.com/office/drawing/2014/main" id="{6F36A371-0D24-420D-813E-CE57F948B8A0}"/>
                </a:ext>
              </a:extLst>
            </p:cNvPr>
            <p:cNvSpPr txBox="1"/>
            <p:nvPr/>
          </p:nvSpPr>
          <p:spPr>
            <a:xfrm>
              <a:off x="6934119" y="4302786"/>
              <a:ext cx="707245" cy="400110"/>
            </a:xfrm>
            <a:prstGeom prst="rect">
              <a:avLst/>
            </a:prstGeom>
            <a:noFill/>
          </p:spPr>
          <p:txBody>
            <a:bodyPr wrap="none" rtlCol="0">
              <a:spAutoFit/>
            </a:bodyPr>
            <a:lstStyle/>
            <a:p>
              <a:pPr algn="ctr"/>
              <a:r>
                <a:rPr lang="zh-CN" altLang="en-US" sz="2000" b="1">
                  <a:solidFill>
                    <a:schemeClr val="tx1"/>
                  </a:solidFill>
                  <a:latin typeface="+mj-ea"/>
                  <a:ea typeface="+mj-ea"/>
                </a:rPr>
                <a:t>保留</a:t>
              </a:r>
            </a:p>
          </p:txBody>
        </p:sp>
        <p:sp>
          <p:nvSpPr>
            <p:cNvPr id="25" name="TextBox 24">
              <a:extLst>
                <a:ext uri="{FF2B5EF4-FFF2-40B4-BE49-F238E27FC236}">
                  <a16:creationId xmlns:a16="http://schemas.microsoft.com/office/drawing/2014/main" id="{1A96BF55-E8B7-4879-9E77-ACCFA1DB49AE}"/>
                </a:ext>
              </a:extLst>
            </p:cNvPr>
            <p:cNvSpPr txBox="1"/>
            <p:nvPr/>
          </p:nvSpPr>
          <p:spPr>
            <a:xfrm>
              <a:off x="2274197" y="3223120"/>
              <a:ext cx="4595618" cy="461665"/>
            </a:xfrm>
            <a:prstGeom prst="rect">
              <a:avLst/>
            </a:prstGeom>
            <a:noFill/>
          </p:spPr>
          <p:txBody>
            <a:bodyPr wrap="none" rtlCol="0">
              <a:spAutoFit/>
            </a:bodyPr>
            <a:lstStyle/>
            <a:p>
              <a:pPr algn="ctr"/>
              <a:r>
                <a:rPr lang="zh-CN" altLang="en-US" sz="2400" b="1" dirty="0">
                  <a:solidFill>
                    <a:schemeClr val="tx1"/>
                  </a:solidFill>
                  <a:latin typeface="+mj-ea"/>
                  <a:ea typeface="+mj-ea"/>
                </a:rPr>
                <a:t>可能的算术</a:t>
              </a:r>
              <a:r>
                <a:rPr lang="en-US" altLang="zh-CN" sz="2400" b="1" dirty="0">
                  <a:solidFill>
                    <a:schemeClr val="tx1"/>
                  </a:solidFill>
                  <a:latin typeface="+mj-ea"/>
                  <a:ea typeface="+mj-ea"/>
                </a:rPr>
                <a:t>&amp;</a:t>
              </a:r>
              <a:r>
                <a:rPr lang="zh-CN" altLang="en-US" sz="2400" b="1" dirty="0">
                  <a:solidFill>
                    <a:schemeClr val="tx1"/>
                  </a:solidFill>
                  <a:latin typeface="+mj-ea"/>
                  <a:ea typeface="+mj-ea"/>
                </a:rPr>
                <a:t>逻辑指令编码方案</a:t>
              </a:r>
            </a:p>
          </p:txBody>
        </p:sp>
      </p:grpSp>
      <p:sp>
        <p:nvSpPr>
          <p:cNvPr id="3" name="Title 4">
            <a:extLst>
              <a:ext uri="{FF2B5EF4-FFF2-40B4-BE49-F238E27FC236}">
                <a16:creationId xmlns:a16="http://schemas.microsoft.com/office/drawing/2014/main" id="{E50978A2-643F-7088-E509-C32F7446AE2C}"/>
              </a:ext>
            </a:extLst>
          </p:cNvPr>
          <p:cNvSpPr txBox="1">
            <a:spLocks/>
          </p:cNvSpPr>
          <p:nvPr/>
        </p:nvSpPr>
        <p:spPr bwMode="auto">
          <a:xfrm>
            <a:off x="457200" y="136800"/>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kumimoji="1" lang="zh-CN" altLang="en-US" dirty="0"/>
              <a:t>指令集设计：算术</a:t>
            </a:r>
            <a:r>
              <a:rPr kumimoji="1" lang="en-US" altLang="zh-CN" dirty="0"/>
              <a:t>&amp;</a:t>
            </a:r>
            <a:r>
              <a:rPr kumimoji="1" lang="zh-CN" altLang="en-US" dirty="0"/>
              <a:t>逻辑指令</a:t>
            </a:r>
            <a:endParaRPr lang="en-CN" kern="0" dirty="0"/>
          </a:p>
        </p:txBody>
      </p:sp>
    </p:spTree>
    <p:extLst>
      <p:ext uri="{BB962C8B-B14F-4D97-AF65-F5344CB8AC3E}">
        <p14:creationId xmlns:p14="http://schemas.microsoft.com/office/powerpoint/2010/main" val="23486482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6">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a:extLst>
              <a:ext uri="{FF2B5EF4-FFF2-40B4-BE49-F238E27FC236}">
                <a16:creationId xmlns:a16="http://schemas.microsoft.com/office/drawing/2014/main" id="{68F7FF1C-DC59-5F43-A383-991D51B72C86}"/>
              </a:ext>
            </a:extLst>
          </p:cNvPr>
          <p:cNvSpPr>
            <a:spLocks noGrp="1"/>
          </p:cNvSpPr>
          <p:nvPr>
            <p:ph type="sldNum" sz="quarter" idx="12"/>
          </p:nvPr>
        </p:nvSpPr>
        <p:spPr/>
        <p:txBody>
          <a:bodyPr/>
          <a:lstStyle/>
          <a:p>
            <a:fld id="{14659731-6BD7-46E7-8D3C-2F3AC07E20B1}" type="slidenum">
              <a:rPr lang="en-US" altLang="zh-CN" smtClean="0"/>
              <a:pPr/>
              <a:t>18</a:t>
            </a:fld>
            <a:endParaRPr lang="en-US" altLang="zh-CN"/>
          </a:p>
        </p:txBody>
      </p:sp>
      <p:sp>
        <p:nvSpPr>
          <p:cNvPr id="36" name="Rectangle 3">
            <a:extLst>
              <a:ext uri="{FF2B5EF4-FFF2-40B4-BE49-F238E27FC236}">
                <a16:creationId xmlns:a16="http://schemas.microsoft.com/office/drawing/2014/main" id="{1AF4C294-9B96-4AC7-A8CA-FB8884B6204B}"/>
              </a:ext>
            </a:extLst>
          </p:cNvPr>
          <p:cNvSpPr>
            <a:spLocks noGrp="1" noChangeArrowheads="1"/>
          </p:cNvSpPr>
          <p:nvPr>
            <p:ph idx="4294967295"/>
          </p:nvPr>
        </p:nvSpPr>
        <p:spPr>
          <a:xfrm>
            <a:off x="417268" y="1375874"/>
            <a:ext cx="8195056" cy="4987856"/>
          </a:xfrm>
        </p:spPr>
        <p:txBody>
          <a:bodyPr>
            <a:normAutofit/>
          </a:bodyPr>
          <a:lstStyle/>
          <a:p>
            <a:r>
              <a:rPr lang="en-US" altLang="zh-CN" sz="2800" i="1" kern="1200" noProof="0" dirty="0">
                <a:solidFill>
                  <a:schemeClr val="dk1"/>
                </a:solidFill>
                <a:latin typeface="Consolas" panose="020B0609020204030204" pitchFamily="49" charset="0"/>
                <a:ea typeface="+mn-ea"/>
                <a:cs typeface="Arial" panose="020B0604020202020204" pitchFamily="34" charset="0"/>
              </a:rPr>
              <a:t>addi a0, a1, 5     </a:t>
            </a:r>
            <a:r>
              <a:rPr lang="en-US" altLang="zh-CN" sz="2800" i="1" kern="1200" dirty="0">
                <a:solidFill>
                  <a:schemeClr val="dk1"/>
                </a:solidFill>
                <a:latin typeface="Consolas" panose="020B0609020204030204" pitchFamily="49" charset="0"/>
                <a:ea typeface="+mn-ea"/>
                <a:cs typeface="Arial" panose="020B0604020202020204" pitchFamily="34" charset="0"/>
              </a:rPr>
              <a:t># a0 = a1 + 5 </a:t>
            </a:r>
            <a:endParaRPr lang="en-US" altLang="zh-CN" sz="2800" kern="1200" noProof="0" dirty="0">
              <a:solidFill>
                <a:schemeClr val="dk1"/>
              </a:solidFill>
              <a:latin typeface="Consolas" panose="020B0609020204030204" pitchFamily="49" charset="0"/>
              <a:ea typeface="+mn-ea"/>
              <a:cs typeface="Arial" panose="020B0604020202020204" pitchFamily="34" charset="0"/>
            </a:endParaRPr>
          </a:p>
          <a:p>
            <a:r>
              <a:rPr lang="zh-CN" altLang="en-US" sz="2800" kern="1200" dirty="0">
                <a:solidFill>
                  <a:schemeClr val="dk1"/>
                </a:solidFill>
                <a:latin typeface="Consolas" panose="020B0609020204030204" pitchFamily="49" charset="0"/>
                <a:ea typeface="+mn-ea"/>
                <a:cs typeface="Arial" panose="020B0604020202020204" pitchFamily="34" charset="0"/>
              </a:rPr>
              <a:t>如何编码立即数？</a:t>
            </a:r>
            <a:endParaRPr lang="en-US" altLang="zh-CN" sz="2800" dirty="0"/>
          </a:p>
          <a:p>
            <a:pPr>
              <a:lnSpc>
                <a:spcPct val="150000"/>
              </a:lnSpc>
            </a:pPr>
            <a:endParaRPr lang="en-US" altLang="zh-CN" sz="2400" dirty="0"/>
          </a:p>
          <a:p>
            <a:pPr>
              <a:lnSpc>
                <a:spcPct val="150000"/>
              </a:lnSpc>
            </a:pPr>
            <a:endParaRPr lang="en-US" altLang="zh-CN" sz="2400" dirty="0"/>
          </a:p>
          <a:p>
            <a:pPr>
              <a:lnSpc>
                <a:spcPct val="150000"/>
              </a:lnSpc>
            </a:pPr>
            <a:endParaRPr lang="en-US" altLang="zh-CN" sz="2400" dirty="0"/>
          </a:p>
          <a:p>
            <a:pPr marL="0" indent="0">
              <a:lnSpc>
                <a:spcPct val="150000"/>
              </a:lnSpc>
              <a:buNone/>
            </a:pPr>
            <a:endParaRPr lang="en-US" altLang="zh-CN" sz="2400" dirty="0"/>
          </a:p>
          <a:p>
            <a:r>
              <a:rPr lang="zh-CN" altLang="en-US" sz="2800" dirty="0"/>
              <a:t>如何处理超过</a:t>
            </a:r>
            <a:r>
              <a:rPr lang="en-US" altLang="zh-CN" sz="2800" dirty="0"/>
              <a:t>16bit</a:t>
            </a:r>
            <a:r>
              <a:rPr lang="zh-CN" altLang="en-US" sz="2800" dirty="0"/>
              <a:t>的立即数？</a:t>
            </a:r>
            <a:endParaRPr lang="en-US" altLang="zh-CN" sz="2800" dirty="0"/>
          </a:p>
          <a:p>
            <a:pPr lvl="1"/>
            <a:r>
              <a:rPr lang="zh-CN" altLang="en-US" sz="2400" dirty="0"/>
              <a:t>例：</a:t>
            </a:r>
            <a:r>
              <a:rPr lang="en-US" altLang="zh-CN" sz="2400" i="1" dirty="0" err="1">
                <a:latin typeface="Consolas" panose="020B0609020204030204" pitchFamily="49" charset="0"/>
              </a:rPr>
              <a:t>andi</a:t>
            </a:r>
            <a:r>
              <a:rPr lang="en-US" altLang="zh-CN" sz="2400" i="1" dirty="0">
                <a:latin typeface="Consolas" panose="020B0609020204030204" pitchFamily="49" charset="0"/>
              </a:rPr>
              <a:t> a0, a1, 0x7fffffff</a:t>
            </a:r>
          </a:p>
          <a:p>
            <a:pPr>
              <a:lnSpc>
                <a:spcPct val="150000"/>
              </a:lnSpc>
            </a:pPr>
            <a:endParaRPr lang="en-US" altLang="zh-CN" sz="2400" dirty="0"/>
          </a:p>
        </p:txBody>
      </p:sp>
      <p:grpSp>
        <p:nvGrpSpPr>
          <p:cNvPr id="2" name="Group 1">
            <a:extLst>
              <a:ext uri="{FF2B5EF4-FFF2-40B4-BE49-F238E27FC236}">
                <a16:creationId xmlns:a16="http://schemas.microsoft.com/office/drawing/2014/main" id="{DBFC3E11-2A74-4A88-99BA-11CC10E52F67}"/>
              </a:ext>
            </a:extLst>
          </p:cNvPr>
          <p:cNvGrpSpPr/>
          <p:nvPr/>
        </p:nvGrpSpPr>
        <p:grpSpPr>
          <a:xfrm>
            <a:off x="596348" y="2907720"/>
            <a:ext cx="7951304" cy="1485355"/>
            <a:chOff x="596348" y="2582962"/>
            <a:chExt cx="7951304" cy="1485355"/>
          </a:xfrm>
        </p:grpSpPr>
        <p:sp>
          <p:nvSpPr>
            <p:cNvPr id="6" name="Rectangle 5">
              <a:extLst>
                <a:ext uri="{FF2B5EF4-FFF2-40B4-BE49-F238E27FC236}">
                  <a16:creationId xmlns:a16="http://schemas.microsoft.com/office/drawing/2014/main" id="{5EC7AEA1-8E94-4F86-8E43-47CBE905FBDA}"/>
                </a:ext>
              </a:extLst>
            </p:cNvPr>
            <p:cNvSpPr/>
            <p:nvPr/>
          </p:nvSpPr>
          <p:spPr>
            <a:xfrm>
              <a:off x="596348" y="3193198"/>
              <a:ext cx="7951304" cy="457200"/>
            </a:xfrm>
            <a:prstGeom prst="rect">
              <a:avLst/>
            </a:prstGeom>
            <a:noFill/>
          </p:spPr>
          <p:style>
            <a:lnRef idx="2">
              <a:schemeClr val="dk1"/>
            </a:lnRef>
            <a:fillRef idx="1">
              <a:schemeClr val="lt1"/>
            </a:fillRef>
            <a:effectRef idx="0">
              <a:schemeClr val="dk1"/>
            </a:effectRef>
            <a:fontRef idx="minor">
              <a:schemeClr val="dk1"/>
            </a:fontRef>
          </p:style>
          <p:txBody>
            <a:bodyPr wrap="square" rtlCol="0" anchor="ctr">
              <a:noAutofit/>
            </a:bodyPr>
            <a:lstStyle/>
            <a:p>
              <a:pPr algn="ctr"/>
              <a:endParaRPr lang="zh-CN" altLang="en-US" sz="1800" b="1">
                <a:solidFill>
                  <a:schemeClr val="tx1"/>
                </a:solidFill>
                <a:latin typeface="Arial" panose="020B0604020202020204" pitchFamily="34" charset="0"/>
                <a:cs typeface="Arial" panose="020B0604020202020204" pitchFamily="34" charset="0"/>
              </a:endParaRPr>
            </a:p>
          </p:txBody>
        </p:sp>
        <p:cxnSp>
          <p:nvCxnSpPr>
            <p:cNvPr id="7" name="Straight Connector 6">
              <a:extLst>
                <a:ext uri="{FF2B5EF4-FFF2-40B4-BE49-F238E27FC236}">
                  <a16:creationId xmlns:a16="http://schemas.microsoft.com/office/drawing/2014/main" id="{09B6AF65-FB21-4310-849A-CF47E20ECBBF}"/>
                </a:ext>
              </a:extLst>
            </p:cNvPr>
            <p:cNvCxnSpPr>
              <a:cxnSpLocks/>
            </p:cNvCxnSpPr>
            <p:nvPr/>
          </p:nvCxnSpPr>
          <p:spPr>
            <a:xfrm>
              <a:off x="2000196" y="3183258"/>
              <a:ext cx="0" cy="4671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393CA98-9CE1-4F8E-BD9E-C1C8986CB256}"/>
                </a:ext>
              </a:extLst>
            </p:cNvPr>
            <p:cNvSpPr txBox="1"/>
            <p:nvPr/>
          </p:nvSpPr>
          <p:spPr>
            <a:xfrm>
              <a:off x="829107" y="3660338"/>
              <a:ext cx="968535" cy="400110"/>
            </a:xfrm>
            <a:prstGeom prst="rect">
              <a:avLst/>
            </a:prstGeom>
            <a:noFill/>
          </p:spPr>
          <p:txBody>
            <a:bodyPr wrap="none" rtlCol="0">
              <a:spAutoFit/>
            </a:bodyPr>
            <a:lstStyle/>
            <a:p>
              <a:pPr algn="ctr"/>
              <a:r>
                <a:rPr lang="zh-CN" altLang="en-US" sz="2000" b="1">
                  <a:solidFill>
                    <a:schemeClr val="tx1"/>
                  </a:solidFill>
                  <a:latin typeface="+mj-ea"/>
                  <a:ea typeface="+mj-ea"/>
                </a:rPr>
                <a:t>操作码</a:t>
              </a:r>
            </a:p>
          </p:txBody>
        </p:sp>
        <p:sp>
          <p:nvSpPr>
            <p:cNvPr id="11" name="TextBox 10">
              <a:extLst>
                <a:ext uri="{FF2B5EF4-FFF2-40B4-BE49-F238E27FC236}">
                  <a16:creationId xmlns:a16="http://schemas.microsoft.com/office/drawing/2014/main" id="{149EF1E1-726B-4BB0-974D-C7B1D01F45F4}"/>
                </a:ext>
              </a:extLst>
            </p:cNvPr>
            <p:cNvSpPr txBox="1"/>
            <p:nvPr/>
          </p:nvSpPr>
          <p:spPr>
            <a:xfrm>
              <a:off x="918670" y="3198167"/>
              <a:ext cx="805068" cy="461665"/>
            </a:xfrm>
            <a:prstGeom prst="rect">
              <a:avLst/>
            </a:prstGeom>
            <a:noFill/>
          </p:spPr>
          <p:txBody>
            <a:bodyPr wrap="square" rtlCol="0">
              <a:spAutoFit/>
            </a:bodyPr>
            <a:lstStyle/>
            <a:p>
              <a:pPr algn="ctr"/>
              <a:r>
                <a:rPr lang="en-US" altLang="zh-CN" sz="2400" b="1">
                  <a:solidFill>
                    <a:srgbClr val="0432FF"/>
                  </a:solidFill>
                  <a:latin typeface="+mn-lt"/>
                </a:rPr>
                <a:t>6bit</a:t>
              </a:r>
              <a:endParaRPr lang="zh-CN" altLang="en-US" sz="2400" b="1">
                <a:solidFill>
                  <a:srgbClr val="0432FF"/>
                </a:solidFill>
                <a:latin typeface="+mn-lt"/>
              </a:endParaRPr>
            </a:p>
          </p:txBody>
        </p:sp>
        <p:sp>
          <p:nvSpPr>
            <p:cNvPr id="12" name="TextBox 11">
              <a:extLst>
                <a:ext uri="{FF2B5EF4-FFF2-40B4-BE49-F238E27FC236}">
                  <a16:creationId xmlns:a16="http://schemas.microsoft.com/office/drawing/2014/main" id="{A1ADF6B7-4588-454D-BA8C-87B418B8FB19}"/>
                </a:ext>
              </a:extLst>
            </p:cNvPr>
            <p:cNvSpPr txBox="1"/>
            <p:nvPr/>
          </p:nvSpPr>
          <p:spPr>
            <a:xfrm>
              <a:off x="2093045" y="3668207"/>
              <a:ext cx="1112804" cy="400110"/>
            </a:xfrm>
            <a:prstGeom prst="rect">
              <a:avLst/>
            </a:prstGeom>
            <a:noFill/>
          </p:spPr>
          <p:txBody>
            <a:bodyPr wrap="none" rtlCol="0">
              <a:spAutoFit/>
            </a:bodyPr>
            <a:lstStyle/>
            <a:p>
              <a:pPr algn="ctr"/>
              <a:r>
                <a:rPr lang="zh-CN" altLang="en-US" sz="2000" b="1">
                  <a:solidFill>
                    <a:schemeClr val="tx1"/>
                  </a:solidFill>
                  <a:latin typeface="+mj-ea"/>
                  <a:ea typeface="+mj-ea"/>
                </a:rPr>
                <a:t>操作数</a:t>
              </a:r>
              <a:r>
                <a:rPr lang="en-US" altLang="zh-CN" sz="2000" b="1">
                  <a:solidFill>
                    <a:schemeClr val="tx1"/>
                  </a:solidFill>
                  <a:latin typeface="+mj-ea"/>
                  <a:ea typeface="+mj-ea"/>
                </a:rPr>
                <a:t>0</a:t>
              </a:r>
              <a:endParaRPr lang="zh-CN" altLang="en-US" sz="2000" b="1">
                <a:solidFill>
                  <a:schemeClr val="tx1"/>
                </a:solidFill>
                <a:latin typeface="+mj-ea"/>
                <a:ea typeface="+mj-ea"/>
              </a:endParaRPr>
            </a:p>
          </p:txBody>
        </p:sp>
        <p:cxnSp>
          <p:nvCxnSpPr>
            <p:cNvPr id="13" name="Straight Connector 12">
              <a:extLst>
                <a:ext uri="{FF2B5EF4-FFF2-40B4-BE49-F238E27FC236}">
                  <a16:creationId xmlns:a16="http://schemas.microsoft.com/office/drawing/2014/main" id="{5D8D5412-9258-4094-B361-233C5A746EFB}"/>
                </a:ext>
              </a:extLst>
            </p:cNvPr>
            <p:cNvCxnSpPr>
              <a:cxnSpLocks/>
            </p:cNvCxnSpPr>
            <p:nvPr/>
          </p:nvCxnSpPr>
          <p:spPr>
            <a:xfrm>
              <a:off x="3251146" y="3183258"/>
              <a:ext cx="0" cy="4671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26A10B8-A9F4-441D-895C-C4A6F0CF8A19}"/>
                </a:ext>
              </a:extLst>
            </p:cNvPr>
            <p:cNvCxnSpPr>
              <a:cxnSpLocks/>
            </p:cNvCxnSpPr>
            <p:nvPr/>
          </p:nvCxnSpPr>
          <p:spPr>
            <a:xfrm>
              <a:off x="4514796" y="3183258"/>
              <a:ext cx="0" cy="4671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D1E2FFDE-7E3F-4D6A-B8CF-D7B00D20F242}"/>
                </a:ext>
              </a:extLst>
            </p:cNvPr>
            <p:cNvSpPr txBox="1"/>
            <p:nvPr/>
          </p:nvSpPr>
          <p:spPr>
            <a:xfrm>
              <a:off x="2182319" y="3206542"/>
              <a:ext cx="805068" cy="461665"/>
            </a:xfrm>
            <a:prstGeom prst="rect">
              <a:avLst/>
            </a:prstGeom>
            <a:noFill/>
          </p:spPr>
          <p:txBody>
            <a:bodyPr wrap="square" rtlCol="0">
              <a:spAutoFit/>
            </a:bodyPr>
            <a:lstStyle/>
            <a:p>
              <a:pPr algn="ctr"/>
              <a:r>
                <a:rPr lang="en-US" altLang="zh-CN" sz="2400" b="1">
                  <a:solidFill>
                    <a:srgbClr val="0432FF"/>
                  </a:solidFill>
                  <a:latin typeface="+mn-lt"/>
                </a:rPr>
                <a:t>5bit</a:t>
              </a:r>
              <a:endParaRPr lang="zh-CN" altLang="en-US" sz="2400" b="1">
                <a:solidFill>
                  <a:srgbClr val="0432FF"/>
                </a:solidFill>
                <a:latin typeface="+mn-lt"/>
              </a:endParaRPr>
            </a:p>
          </p:txBody>
        </p:sp>
        <p:sp>
          <p:nvSpPr>
            <p:cNvPr id="16" name="TextBox 15">
              <a:extLst>
                <a:ext uri="{FF2B5EF4-FFF2-40B4-BE49-F238E27FC236}">
                  <a16:creationId xmlns:a16="http://schemas.microsoft.com/office/drawing/2014/main" id="{0F57CE84-A8A6-4621-8024-D803D54FB689}"/>
                </a:ext>
              </a:extLst>
            </p:cNvPr>
            <p:cNvSpPr txBox="1"/>
            <p:nvPr/>
          </p:nvSpPr>
          <p:spPr>
            <a:xfrm>
              <a:off x="3441685" y="3206542"/>
              <a:ext cx="805068" cy="461665"/>
            </a:xfrm>
            <a:prstGeom prst="rect">
              <a:avLst/>
            </a:prstGeom>
            <a:noFill/>
          </p:spPr>
          <p:txBody>
            <a:bodyPr wrap="square" rtlCol="0">
              <a:spAutoFit/>
            </a:bodyPr>
            <a:lstStyle/>
            <a:p>
              <a:pPr algn="ctr"/>
              <a:r>
                <a:rPr lang="en-US" altLang="zh-CN" sz="2400" b="1">
                  <a:solidFill>
                    <a:srgbClr val="0432FF"/>
                  </a:solidFill>
                  <a:latin typeface="+mn-lt"/>
                </a:rPr>
                <a:t>5bit</a:t>
              </a:r>
              <a:endParaRPr lang="zh-CN" altLang="en-US" sz="2400" b="1">
                <a:solidFill>
                  <a:srgbClr val="0432FF"/>
                </a:solidFill>
                <a:latin typeface="+mn-lt"/>
              </a:endParaRPr>
            </a:p>
          </p:txBody>
        </p:sp>
        <p:sp>
          <p:nvSpPr>
            <p:cNvPr id="17" name="TextBox 16">
              <a:extLst>
                <a:ext uri="{FF2B5EF4-FFF2-40B4-BE49-F238E27FC236}">
                  <a16:creationId xmlns:a16="http://schemas.microsoft.com/office/drawing/2014/main" id="{DE4B3935-8150-425A-824C-784F96F348C9}"/>
                </a:ext>
              </a:extLst>
            </p:cNvPr>
            <p:cNvSpPr txBox="1"/>
            <p:nvPr/>
          </p:nvSpPr>
          <p:spPr>
            <a:xfrm>
              <a:off x="3322290" y="3658773"/>
              <a:ext cx="1112804" cy="400110"/>
            </a:xfrm>
            <a:prstGeom prst="rect">
              <a:avLst/>
            </a:prstGeom>
            <a:noFill/>
          </p:spPr>
          <p:txBody>
            <a:bodyPr wrap="none" rtlCol="0">
              <a:spAutoFit/>
            </a:bodyPr>
            <a:lstStyle/>
            <a:p>
              <a:pPr algn="ctr"/>
              <a:r>
                <a:rPr lang="zh-CN" altLang="en-US" sz="2000" b="1">
                  <a:solidFill>
                    <a:schemeClr val="tx1"/>
                  </a:solidFill>
                  <a:latin typeface="+mj-ea"/>
                  <a:ea typeface="+mj-ea"/>
                </a:rPr>
                <a:t>操作数</a:t>
              </a:r>
              <a:r>
                <a:rPr lang="en-US" altLang="zh-CN" sz="2000" b="1">
                  <a:solidFill>
                    <a:schemeClr val="tx1"/>
                  </a:solidFill>
                  <a:latin typeface="+mj-ea"/>
                  <a:ea typeface="+mj-ea"/>
                </a:rPr>
                <a:t>1</a:t>
              </a:r>
              <a:endParaRPr lang="zh-CN" altLang="en-US" sz="2000" b="1">
                <a:solidFill>
                  <a:schemeClr val="tx1"/>
                </a:solidFill>
                <a:latin typeface="+mj-ea"/>
                <a:ea typeface="+mj-ea"/>
              </a:endParaRPr>
            </a:p>
          </p:txBody>
        </p:sp>
        <p:sp>
          <p:nvSpPr>
            <p:cNvPr id="18" name="TextBox 17">
              <a:extLst>
                <a:ext uri="{FF2B5EF4-FFF2-40B4-BE49-F238E27FC236}">
                  <a16:creationId xmlns:a16="http://schemas.microsoft.com/office/drawing/2014/main" id="{A8EFBFE4-2D0A-44D9-AACB-A62A3BD7DA73}"/>
                </a:ext>
              </a:extLst>
            </p:cNvPr>
            <p:cNvSpPr txBox="1"/>
            <p:nvPr/>
          </p:nvSpPr>
          <p:spPr>
            <a:xfrm>
              <a:off x="5462878" y="3668207"/>
              <a:ext cx="2797561" cy="400110"/>
            </a:xfrm>
            <a:prstGeom prst="rect">
              <a:avLst/>
            </a:prstGeom>
            <a:noFill/>
          </p:spPr>
          <p:txBody>
            <a:bodyPr wrap="none" rtlCol="0">
              <a:spAutoFit/>
            </a:bodyPr>
            <a:lstStyle/>
            <a:p>
              <a:pPr algn="ctr"/>
              <a:r>
                <a:rPr lang="zh-CN" altLang="en-US" sz="2000" b="1" dirty="0">
                  <a:solidFill>
                    <a:schemeClr val="tx1"/>
                  </a:solidFill>
                  <a:latin typeface="+mj-ea"/>
                  <a:ea typeface="+mj-ea"/>
                </a:rPr>
                <a:t>立即数</a:t>
              </a:r>
              <a:r>
                <a:rPr lang="en-US" altLang="zh-CN" sz="2000" b="1" dirty="0">
                  <a:solidFill>
                    <a:schemeClr val="tx1"/>
                  </a:solidFill>
                  <a:latin typeface="+mj-ea"/>
                  <a:ea typeface="+mj-ea"/>
                </a:rPr>
                <a:t>: </a:t>
              </a:r>
              <a:r>
                <a:rPr lang="zh-CN" altLang="en-US" sz="2000" b="1" dirty="0">
                  <a:solidFill>
                    <a:schemeClr val="tx1"/>
                  </a:solidFill>
                  <a:latin typeface="+mj-ea"/>
                  <a:ea typeface="+mj-ea"/>
                </a:rPr>
                <a:t>采用补码存储</a:t>
              </a:r>
            </a:p>
          </p:txBody>
        </p:sp>
        <p:sp>
          <p:nvSpPr>
            <p:cNvPr id="19" name="TextBox 18">
              <a:extLst>
                <a:ext uri="{FF2B5EF4-FFF2-40B4-BE49-F238E27FC236}">
                  <a16:creationId xmlns:a16="http://schemas.microsoft.com/office/drawing/2014/main" id="{906CFA50-0401-4F8C-8303-84BE71531DAE}"/>
                </a:ext>
              </a:extLst>
            </p:cNvPr>
            <p:cNvSpPr txBox="1"/>
            <p:nvPr/>
          </p:nvSpPr>
          <p:spPr>
            <a:xfrm>
              <a:off x="6230205" y="3206542"/>
              <a:ext cx="1056944" cy="461665"/>
            </a:xfrm>
            <a:prstGeom prst="rect">
              <a:avLst/>
            </a:prstGeom>
            <a:noFill/>
          </p:spPr>
          <p:txBody>
            <a:bodyPr wrap="square" rtlCol="0">
              <a:spAutoFit/>
            </a:bodyPr>
            <a:lstStyle/>
            <a:p>
              <a:pPr algn="ctr"/>
              <a:r>
                <a:rPr lang="en-US" altLang="zh-CN" sz="2400" b="1">
                  <a:solidFill>
                    <a:srgbClr val="0432FF"/>
                  </a:solidFill>
                  <a:latin typeface="+mn-lt"/>
                </a:rPr>
                <a:t>16bit</a:t>
              </a:r>
              <a:endParaRPr lang="zh-CN" altLang="en-US" sz="2400" b="1">
                <a:solidFill>
                  <a:srgbClr val="0432FF"/>
                </a:solidFill>
                <a:latin typeface="+mn-lt"/>
              </a:endParaRPr>
            </a:p>
          </p:txBody>
        </p:sp>
        <p:sp>
          <p:nvSpPr>
            <p:cNvPr id="20" name="TextBox 19">
              <a:extLst>
                <a:ext uri="{FF2B5EF4-FFF2-40B4-BE49-F238E27FC236}">
                  <a16:creationId xmlns:a16="http://schemas.microsoft.com/office/drawing/2014/main" id="{1B61014A-0597-4D11-9EB0-AD56799D63D0}"/>
                </a:ext>
              </a:extLst>
            </p:cNvPr>
            <p:cNvSpPr txBox="1"/>
            <p:nvPr/>
          </p:nvSpPr>
          <p:spPr>
            <a:xfrm>
              <a:off x="2274197" y="2582962"/>
              <a:ext cx="4595618" cy="461665"/>
            </a:xfrm>
            <a:prstGeom prst="rect">
              <a:avLst/>
            </a:prstGeom>
            <a:noFill/>
          </p:spPr>
          <p:txBody>
            <a:bodyPr wrap="none" rtlCol="0">
              <a:spAutoFit/>
            </a:bodyPr>
            <a:lstStyle/>
            <a:p>
              <a:pPr algn="ctr"/>
              <a:r>
                <a:rPr lang="zh-CN" altLang="en-US" sz="2400" b="1" dirty="0">
                  <a:solidFill>
                    <a:schemeClr val="tx1"/>
                  </a:solidFill>
                  <a:latin typeface="+mj-ea"/>
                  <a:ea typeface="+mj-ea"/>
                </a:rPr>
                <a:t>可能的算术</a:t>
              </a:r>
              <a:r>
                <a:rPr lang="en-US" altLang="zh-CN" sz="2400" b="1" dirty="0">
                  <a:solidFill>
                    <a:schemeClr val="tx1"/>
                  </a:solidFill>
                  <a:latin typeface="+mj-ea"/>
                  <a:ea typeface="+mj-ea"/>
                </a:rPr>
                <a:t>&amp;</a:t>
              </a:r>
              <a:r>
                <a:rPr lang="zh-CN" altLang="en-US" sz="2400" b="1" dirty="0">
                  <a:solidFill>
                    <a:schemeClr val="tx1"/>
                  </a:solidFill>
                  <a:latin typeface="+mj-ea"/>
                  <a:ea typeface="+mj-ea"/>
                </a:rPr>
                <a:t>逻辑指令编码方案</a:t>
              </a:r>
            </a:p>
          </p:txBody>
        </p:sp>
      </p:grpSp>
      <p:sp>
        <p:nvSpPr>
          <p:cNvPr id="3" name="Title 4">
            <a:extLst>
              <a:ext uri="{FF2B5EF4-FFF2-40B4-BE49-F238E27FC236}">
                <a16:creationId xmlns:a16="http://schemas.microsoft.com/office/drawing/2014/main" id="{D93E901B-DBF3-DC83-702D-C6326F1AF479}"/>
              </a:ext>
            </a:extLst>
          </p:cNvPr>
          <p:cNvSpPr txBox="1">
            <a:spLocks/>
          </p:cNvSpPr>
          <p:nvPr/>
        </p:nvSpPr>
        <p:spPr bwMode="auto">
          <a:xfrm>
            <a:off x="457200" y="136800"/>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kumimoji="1" lang="zh-CN" altLang="en-US" dirty="0"/>
              <a:t>指令集设计：算术指令</a:t>
            </a:r>
            <a:endParaRPr lang="en-CN" kern="0" dirty="0"/>
          </a:p>
        </p:txBody>
      </p:sp>
    </p:spTree>
    <p:extLst>
      <p:ext uri="{BB962C8B-B14F-4D97-AF65-F5344CB8AC3E}">
        <p14:creationId xmlns:p14="http://schemas.microsoft.com/office/powerpoint/2010/main" val="7592683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a:extLst>
              <a:ext uri="{FF2B5EF4-FFF2-40B4-BE49-F238E27FC236}">
                <a16:creationId xmlns:a16="http://schemas.microsoft.com/office/drawing/2014/main" id="{68F7FF1C-DC59-5F43-A383-991D51B72C86}"/>
              </a:ext>
            </a:extLst>
          </p:cNvPr>
          <p:cNvSpPr>
            <a:spLocks noGrp="1"/>
          </p:cNvSpPr>
          <p:nvPr>
            <p:ph type="sldNum" sz="quarter" idx="12"/>
          </p:nvPr>
        </p:nvSpPr>
        <p:spPr/>
        <p:txBody>
          <a:bodyPr/>
          <a:lstStyle/>
          <a:p>
            <a:fld id="{14659731-6BD7-46E7-8D3C-2F3AC07E20B1}" type="slidenum">
              <a:rPr lang="en-US" altLang="zh-CN" smtClean="0"/>
              <a:pPr/>
              <a:t>19</a:t>
            </a:fld>
            <a:endParaRPr lang="en-US" altLang="zh-CN"/>
          </a:p>
        </p:txBody>
      </p:sp>
      <p:graphicFrame>
        <p:nvGraphicFramePr>
          <p:cNvPr id="4" name="Table 3">
            <a:extLst>
              <a:ext uri="{FF2B5EF4-FFF2-40B4-BE49-F238E27FC236}">
                <a16:creationId xmlns:a16="http://schemas.microsoft.com/office/drawing/2014/main" id="{38959C00-DCEB-4997-A816-2FDEF289BBCE}"/>
              </a:ext>
            </a:extLst>
          </p:cNvPr>
          <p:cNvGraphicFramePr>
            <a:graphicFrameLocks noGrp="1"/>
          </p:cNvGraphicFramePr>
          <p:nvPr>
            <p:extLst>
              <p:ext uri="{D42A27DB-BD31-4B8C-83A1-F6EECF244321}">
                <p14:modId xmlns:p14="http://schemas.microsoft.com/office/powerpoint/2010/main" val="1192659682"/>
              </p:ext>
            </p:extLst>
          </p:nvPr>
        </p:nvGraphicFramePr>
        <p:xfrm>
          <a:off x="54592" y="1760327"/>
          <a:ext cx="9020432" cy="3045328"/>
        </p:xfrm>
        <a:graphic>
          <a:graphicData uri="http://schemas.openxmlformats.org/drawingml/2006/table">
            <a:tbl>
              <a:tblPr firstRow="1" bandRow="1">
                <a:tableStyleId>{073A0DAA-6AF3-43AB-8588-CEC1D06C72B9}</a:tableStyleId>
              </a:tblPr>
              <a:tblGrid>
                <a:gridCol w="2725364">
                  <a:extLst>
                    <a:ext uri="{9D8B030D-6E8A-4147-A177-3AD203B41FA5}">
                      <a16:colId xmlns:a16="http://schemas.microsoft.com/office/drawing/2014/main" val="1023643053"/>
                    </a:ext>
                  </a:extLst>
                </a:gridCol>
                <a:gridCol w="1784852">
                  <a:extLst>
                    <a:ext uri="{9D8B030D-6E8A-4147-A177-3AD203B41FA5}">
                      <a16:colId xmlns:a16="http://schemas.microsoft.com/office/drawing/2014/main" val="1620282320"/>
                    </a:ext>
                  </a:extLst>
                </a:gridCol>
                <a:gridCol w="2455848">
                  <a:extLst>
                    <a:ext uri="{9D8B030D-6E8A-4147-A177-3AD203B41FA5}">
                      <a16:colId xmlns:a16="http://schemas.microsoft.com/office/drawing/2014/main" val="3627350327"/>
                    </a:ext>
                  </a:extLst>
                </a:gridCol>
                <a:gridCol w="2054368">
                  <a:extLst>
                    <a:ext uri="{9D8B030D-6E8A-4147-A177-3AD203B41FA5}">
                      <a16:colId xmlns:a16="http://schemas.microsoft.com/office/drawing/2014/main" val="1978708218"/>
                    </a:ext>
                  </a:extLst>
                </a:gridCol>
              </a:tblGrid>
              <a:tr h="429196">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zh-CN" altLang="en-US" sz="1800" dirty="0">
                          <a:solidFill>
                            <a:schemeClr val="tx1"/>
                          </a:solidFill>
                          <a:latin typeface="Consolas" panose="020B0609020204030204" pitchFamily="49" charset="0"/>
                          <a:ea typeface="+mn-ea"/>
                          <a:cs typeface="Consolas" panose="020B0609020204030204" pitchFamily="49" charset="0"/>
                        </a:rPr>
                        <a:t>指令</a:t>
                      </a:r>
                    </a:p>
                  </a:txBody>
                  <a:tcPr anchor="ctr">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ctr"/>
                      <a:r>
                        <a:rPr lang="zh-CN" altLang="en-US" sz="1800" dirty="0">
                          <a:solidFill>
                            <a:schemeClr val="tx1"/>
                          </a:solidFill>
                          <a:latin typeface="Consolas" panose="020B0609020204030204" pitchFamily="49" charset="0"/>
                          <a:ea typeface="+mn-ea"/>
                          <a:cs typeface="Consolas" panose="020B0609020204030204" pitchFamily="49" charset="0"/>
                        </a:rPr>
                        <a:t>功能</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zh-CN" altLang="en-US" sz="1800" dirty="0">
                          <a:solidFill>
                            <a:schemeClr val="tx1"/>
                          </a:solidFill>
                          <a:latin typeface="Consolas" panose="020B0609020204030204" pitchFamily="49" charset="0"/>
                          <a:ea typeface="+mn-ea"/>
                          <a:cs typeface="Consolas" panose="020B0609020204030204" pitchFamily="49" charset="0"/>
                        </a:rPr>
                        <a:t>指令</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ctr"/>
                      <a:r>
                        <a:rPr lang="zh-CN" altLang="en-US" sz="1800" dirty="0">
                          <a:solidFill>
                            <a:schemeClr val="tx1"/>
                          </a:solidFill>
                          <a:latin typeface="Consolas" panose="020B0609020204030204" pitchFamily="49" charset="0"/>
                          <a:ea typeface="+mn-ea"/>
                          <a:cs typeface="Consolas" panose="020B0609020204030204" pitchFamily="49" charset="0"/>
                        </a:rPr>
                        <a:t>功能</a:t>
                      </a:r>
                    </a:p>
                  </a:txBody>
                  <a:tcPr anchor="ctr">
                    <a:lnL w="1270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extLst>
                  <a:ext uri="{0D108BD9-81ED-4DB2-BD59-A6C34878D82A}">
                    <a16:rowId xmlns:a16="http://schemas.microsoft.com/office/drawing/2014/main" val="1675914457"/>
                  </a:ext>
                </a:extLst>
              </a:tr>
              <a:tr h="872044">
                <a:tc>
                  <a:txBody>
                    <a:bodyPr/>
                    <a:lstStyle/>
                    <a:p>
                      <a:pPr marL="0" algn="ctr" defTabSz="685800" rtl="0" eaLnBrk="1" latinLnBrk="0" hangingPunct="1"/>
                      <a:r>
                        <a:rPr lang="en-US" altLang="zh-CN" sz="1800" i="1" kern="1200" dirty="0">
                          <a:solidFill>
                            <a:schemeClr val="dk1"/>
                          </a:solidFill>
                          <a:latin typeface="Consolas" panose="020B0609020204030204" pitchFamily="49" charset="0"/>
                          <a:ea typeface="+mn-ea"/>
                          <a:cs typeface="Consolas" panose="020B0609020204030204" pitchFamily="49" charset="0"/>
                        </a:rPr>
                        <a:t> </a:t>
                      </a:r>
                      <a:r>
                        <a:rPr lang="en-US" altLang="zh-CN" sz="1800" i="1" kern="1200" dirty="0" err="1">
                          <a:solidFill>
                            <a:schemeClr val="dk1"/>
                          </a:solidFill>
                          <a:latin typeface="Consolas" panose="020B0609020204030204" pitchFamily="49" charset="0"/>
                          <a:ea typeface="+mn-ea"/>
                          <a:cs typeface="Consolas" panose="020B0609020204030204" pitchFamily="49" charset="0"/>
                        </a:rPr>
                        <a:t>beq</a:t>
                      </a:r>
                      <a:r>
                        <a:rPr lang="en-US" altLang="zh-CN" sz="1800" i="1" kern="1200" dirty="0">
                          <a:solidFill>
                            <a:schemeClr val="dk1"/>
                          </a:solidFill>
                          <a:latin typeface="Consolas" panose="020B0609020204030204" pitchFamily="49" charset="0"/>
                          <a:ea typeface="+mn-ea"/>
                          <a:cs typeface="Consolas" panose="020B0609020204030204" pitchFamily="49" charset="0"/>
                        </a:rPr>
                        <a:t> a0, a1, label;    </a:t>
                      </a:r>
                      <a:endParaRPr lang="zh-CN" altLang="en-US" sz="1800" i="1" kern="1200" dirty="0">
                        <a:solidFill>
                          <a:schemeClr val="dk1"/>
                        </a:solidFill>
                        <a:latin typeface="Consolas" panose="020B0609020204030204" pitchFamily="49" charset="0"/>
                        <a:ea typeface="+mn-ea"/>
                        <a:cs typeface="Consolas" panose="020B0609020204030204" pitchFamily="49" charset="0"/>
                      </a:endParaRPr>
                    </a:p>
                  </a:txBody>
                  <a:tcPr anchor="ctr">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685800" rtl="0" eaLnBrk="1" latinLnBrk="0" hangingPunct="1"/>
                      <a:r>
                        <a:rPr lang="zh-CN" altLang="en-US" sz="1800" kern="1200" dirty="0">
                          <a:solidFill>
                            <a:schemeClr val="dk1"/>
                          </a:solidFill>
                          <a:latin typeface="Consolas" panose="020B0609020204030204" pitchFamily="49" charset="0"/>
                          <a:ea typeface="+mn-ea"/>
                          <a:cs typeface="Consolas" panose="020B0609020204030204" pitchFamily="49" charset="0"/>
                        </a:rPr>
                        <a:t>如果</a:t>
                      </a:r>
                      <a:r>
                        <a:rPr lang="en-US" altLang="zh-CN" sz="1800" i="1" kern="1200" dirty="0">
                          <a:solidFill>
                            <a:schemeClr val="dk1"/>
                          </a:solidFill>
                          <a:latin typeface="Consolas" panose="020B0609020204030204" pitchFamily="49" charset="0"/>
                          <a:ea typeface="+mn-ea"/>
                          <a:cs typeface="Consolas" panose="020B0609020204030204" pitchFamily="49" charset="0"/>
                        </a:rPr>
                        <a:t>a0 == a1</a:t>
                      </a:r>
                      <a:r>
                        <a:rPr lang="zh-CN" altLang="en-US" sz="1800" kern="1200" dirty="0">
                          <a:solidFill>
                            <a:schemeClr val="dk1"/>
                          </a:solidFill>
                          <a:latin typeface="Consolas" panose="020B0609020204030204" pitchFamily="49" charset="0"/>
                          <a:ea typeface="+mn-ea"/>
                          <a:cs typeface="Consolas" panose="020B0609020204030204" pitchFamily="49" charset="0"/>
                        </a:rPr>
                        <a:t>，则跳转到</a:t>
                      </a:r>
                      <a:r>
                        <a:rPr lang="en-US" altLang="zh-CN" sz="1800" i="1" kern="1200" dirty="0">
                          <a:solidFill>
                            <a:schemeClr val="dk1"/>
                          </a:solidFill>
                          <a:latin typeface="Consolas" panose="020B0609020204030204" pitchFamily="49" charset="0"/>
                          <a:ea typeface="+mn-ea"/>
                          <a:cs typeface="Consolas" panose="020B0609020204030204" pitchFamily="49" charset="0"/>
                        </a:rPr>
                        <a:t>label</a:t>
                      </a:r>
                      <a:r>
                        <a:rPr lang="en-US" altLang="zh-CN" sz="1800" kern="1200" dirty="0">
                          <a:solidFill>
                            <a:schemeClr val="dk1"/>
                          </a:solidFill>
                          <a:latin typeface="Consolas" panose="020B0609020204030204" pitchFamily="49" charset="0"/>
                          <a:ea typeface="+mn-ea"/>
                          <a:cs typeface="Consolas" panose="020B0609020204030204" pitchFamily="49" charset="0"/>
                        </a:rPr>
                        <a:t> </a:t>
                      </a:r>
                      <a:endParaRPr lang="zh-CN" altLang="en-US" sz="1800" i="1" kern="1200" dirty="0">
                        <a:solidFill>
                          <a:schemeClr val="dk1"/>
                        </a:solidFill>
                        <a:latin typeface="Consolas" panose="020B0609020204030204" pitchFamily="49" charset="0"/>
                        <a:ea typeface="+mn-ea"/>
                        <a:cs typeface="Consolas" panose="020B0609020204030204" pitchFamily="49"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685800" rtl="0" eaLnBrk="1" latinLnBrk="0" hangingPunct="1"/>
                      <a:r>
                        <a:rPr lang="en-US" altLang="zh-CN" sz="1800" i="1" kern="1200">
                          <a:solidFill>
                            <a:schemeClr val="dk1"/>
                          </a:solidFill>
                          <a:latin typeface="Consolas" panose="020B0609020204030204" pitchFamily="49" charset="0"/>
                          <a:ea typeface="+mn-ea"/>
                          <a:cs typeface="Consolas" panose="020B0609020204030204" pitchFamily="49" charset="0"/>
                        </a:rPr>
                        <a:t> </a:t>
                      </a:r>
                      <a:r>
                        <a:rPr lang="en-US" altLang="zh-CN" sz="1800" i="1" kern="1200" err="1">
                          <a:solidFill>
                            <a:schemeClr val="dk1"/>
                          </a:solidFill>
                          <a:latin typeface="Consolas" panose="020B0609020204030204" pitchFamily="49" charset="0"/>
                          <a:ea typeface="+mn-ea"/>
                          <a:cs typeface="Consolas" panose="020B0609020204030204" pitchFamily="49" charset="0"/>
                        </a:rPr>
                        <a:t>beqi</a:t>
                      </a:r>
                      <a:r>
                        <a:rPr lang="en-US" altLang="zh-CN" sz="1800" i="1" kern="1200">
                          <a:solidFill>
                            <a:schemeClr val="dk1"/>
                          </a:solidFill>
                          <a:latin typeface="Consolas" panose="020B0609020204030204" pitchFamily="49" charset="0"/>
                          <a:ea typeface="+mn-ea"/>
                          <a:cs typeface="Consolas" panose="020B0609020204030204" pitchFamily="49" charset="0"/>
                        </a:rPr>
                        <a:t> a0, 5, label;    </a:t>
                      </a:r>
                      <a:endParaRPr lang="zh-CN" altLang="en-US" sz="1800" i="1" kern="1200">
                        <a:solidFill>
                          <a:schemeClr val="dk1"/>
                        </a:solidFill>
                        <a:latin typeface="Consolas" panose="020B0609020204030204" pitchFamily="49" charset="0"/>
                        <a:ea typeface="+mn-ea"/>
                        <a:cs typeface="Consolas" panose="020B0609020204030204" pitchFamily="49"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685800" rtl="0" eaLnBrk="1" latinLnBrk="0" hangingPunct="1"/>
                      <a:r>
                        <a:rPr lang="zh-CN" altLang="en-US" sz="1800" kern="1200" dirty="0">
                          <a:solidFill>
                            <a:schemeClr val="dk1"/>
                          </a:solidFill>
                          <a:latin typeface="Consolas" panose="020B0609020204030204" pitchFamily="49" charset="0"/>
                          <a:ea typeface="+mn-ea"/>
                          <a:cs typeface="Consolas" panose="020B0609020204030204" pitchFamily="49" charset="0"/>
                        </a:rPr>
                        <a:t>如果</a:t>
                      </a:r>
                      <a:r>
                        <a:rPr lang="en-US" altLang="zh-CN" sz="1800" i="1" kern="1200" dirty="0">
                          <a:solidFill>
                            <a:schemeClr val="dk1"/>
                          </a:solidFill>
                          <a:latin typeface="Consolas" panose="020B0609020204030204" pitchFamily="49" charset="0"/>
                          <a:ea typeface="+mn-ea"/>
                          <a:cs typeface="Consolas" panose="020B0609020204030204" pitchFamily="49" charset="0"/>
                        </a:rPr>
                        <a:t>a0 == 5</a:t>
                      </a:r>
                      <a:r>
                        <a:rPr lang="zh-CN" altLang="en-US" sz="1800" kern="1200" dirty="0">
                          <a:solidFill>
                            <a:schemeClr val="dk1"/>
                          </a:solidFill>
                          <a:latin typeface="Consolas" panose="020B0609020204030204" pitchFamily="49" charset="0"/>
                          <a:ea typeface="+mn-ea"/>
                          <a:cs typeface="Consolas" panose="020B0609020204030204" pitchFamily="49" charset="0"/>
                        </a:rPr>
                        <a:t>，则跳转到</a:t>
                      </a:r>
                      <a:r>
                        <a:rPr lang="en-US" altLang="zh-CN" sz="1800" i="1" kern="1200" dirty="0">
                          <a:solidFill>
                            <a:schemeClr val="dk1"/>
                          </a:solidFill>
                          <a:latin typeface="Consolas" panose="020B0609020204030204" pitchFamily="49" charset="0"/>
                          <a:ea typeface="+mn-ea"/>
                          <a:cs typeface="Consolas" panose="020B0609020204030204" pitchFamily="49" charset="0"/>
                        </a:rPr>
                        <a:t>label</a:t>
                      </a:r>
                      <a:r>
                        <a:rPr lang="en-US" altLang="zh-CN" sz="1800" kern="1200" dirty="0">
                          <a:solidFill>
                            <a:schemeClr val="dk1"/>
                          </a:solidFill>
                          <a:latin typeface="Consolas" panose="020B0609020204030204" pitchFamily="49" charset="0"/>
                          <a:ea typeface="+mn-ea"/>
                          <a:cs typeface="Consolas" panose="020B0609020204030204" pitchFamily="49" charset="0"/>
                        </a:rPr>
                        <a:t> </a:t>
                      </a:r>
                      <a:endParaRPr lang="zh-CN" altLang="en-US" sz="1800" i="1" kern="1200" dirty="0">
                        <a:solidFill>
                          <a:schemeClr val="dk1"/>
                        </a:solidFill>
                        <a:latin typeface="Consolas" panose="020B0609020204030204" pitchFamily="49" charset="0"/>
                        <a:ea typeface="+mn-ea"/>
                        <a:cs typeface="Consolas" panose="020B0609020204030204" pitchFamily="49" charset="0"/>
                      </a:endParaRPr>
                    </a:p>
                  </a:txBody>
                  <a:tcPr anchor="ctr">
                    <a:lnL w="1270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57226582"/>
                  </a:ext>
                </a:extLst>
              </a:tr>
              <a:tr h="872044">
                <a:tc>
                  <a:txBody>
                    <a:bodyPr/>
                    <a:lstStyle/>
                    <a:p>
                      <a:pPr marL="0" algn="ctr" defTabSz="685800" rtl="0" eaLnBrk="1" latinLnBrk="0" hangingPunct="1"/>
                      <a:r>
                        <a:rPr lang="en-US" altLang="zh-CN" sz="1800" i="1" kern="1200">
                          <a:solidFill>
                            <a:schemeClr val="dk1"/>
                          </a:solidFill>
                          <a:latin typeface="Consolas" panose="020B0609020204030204" pitchFamily="49" charset="0"/>
                          <a:ea typeface="+mn-ea"/>
                          <a:cs typeface="Consolas" panose="020B0609020204030204" pitchFamily="49" charset="0"/>
                        </a:rPr>
                        <a:t> </a:t>
                      </a:r>
                      <a:r>
                        <a:rPr lang="en-US" altLang="zh-CN" sz="1800" i="1" kern="1200" err="1">
                          <a:solidFill>
                            <a:schemeClr val="dk1"/>
                          </a:solidFill>
                          <a:latin typeface="Consolas" panose="020B0609020204030204" pitchFamily="49" charset="0"/>
                          <a:ea typeface="+mn-ea"/>
                          <a:cs typeface="Consolas" panose="020B0609020204030204" pitchFamily="49" charset="0"/>
                        </a:rPr>
                        <a:t>blt</a:t>
                      </a:r>
                      <a:r>
                        <a:rPr lang="en-US" altLang="zh-CN" sz="1800" i="1" kern="1200">
                          <a:solidFill>
                            <a:schemeClr val="dk1"/>
                          </a:solidFill>
                          <a:latin typeface="Consolas" panose="020B0609020204030204" pitchFamily="49" charset="0"/>
                          <a:ea typeface="+mn-ea"/>
                          <a:cs typeface="Consolas" panose="020B0609020204030204" pitchFamily="49" charset="0"/>
                        </a:rPr>
                        <a:t> a0, a1, label; </a:t>
                      </a:r>
                      <a:endParaRPr lang="zh-CN" altLang="en-US" sz="1800" i="1" kern="1200">
                        <a:solidFill>
                          <a:schemeClr val="dk1"/>
                        </a:solidFill>
                        <a:latin typeface="Consolas" panose="020B0609020204030204" pitchFamily="49" charset="0"/>
                        <a:ea typeface="+mn-ea"/>
                        <a:cs typeface="Consolas" panose="020B0609020204030204" pitchFamily="49" charset="0"/>
                      </a:endParaRPr>
                    </a:p>
                  </a:txBody>
                  <a:tcPr anchor="ctr">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685800" rtl="0" eaLnBrk="1" latinLnBrk="0" hangingPunct="1"/>
                      <a:r>
                        <a:rPr lang="zh-CN" altLang="en-US" sz="1800" kern="1200" dirty="0">
                          <a:solidFill>
                            <a:schemeClr val="dk1"/>
                          </a:solidFill>
                          <a:latin typeface="Consolas" panose="020B0609020204030204" pitchFamily="49" charset="0"/>
                          <a:ea typeface="+mn-ea"/>
                          <a:cs typeface="Consolas" panose="020B0609020204030204" pitchFamily="49" charset="0"/>
                        </a:rPr>
                        <a:t>如果</a:t>
                      </a:r>
                      <a:r>
                        <a:rPr lang="en-US" altLang="zh-CN" sz="1800" i="1" kern="1200" dirty="0">
                          <a:solidFill>
                            <a:schemeClr val="dk1"/>
                          </a:solidFill>
                          <a:latin typeface="Consolas" panose="020B0609020204030204" pitchFamily="49" charset="0"/>
                          <a:ea typeface="+mn-ea"/>
                          <a:cs typeface="Consolas" panose="020B0609020204030204" pitchFamily="49" charset="0"/>
                        </a:rPr>
                        <a:t>a0 &lt; a1</a:t>
                      </a:r>
                      <a:r>
                        <a:rPr lang="zh-CN" altLang="en-US" sz="1800" kern="1200" dirty="0">
                          <a:solidFill>
                            <a:schemeClr val="dk1"/>
                          </a:solidFill>
                          <a:latin typeface="Consolas" panose="020B0609020204030204" pitchFamily="49" charset="0"/>
                          <a:ea typeface="+mn-ea"/>
                          <a:cs typeface="Consolas" panose="020B0609020204030204" pitchFamily="49" charset="0"/>
                        </a:rPr>
                        <a:t>，则跳转到</a:t>
                      </a:r>
                      <a:r>
                        <a:rPr lang="en-US" altLang="zh-CN" sz="1800" i="1" kern="1200" dirty="0">
                          <a:solidFill>
                            <a:schemeClr val="dk1"/>
                          </a:solidFill>
                          <a:latin typeface="Consolas" panose="020B0609020204030204" pitchFamily="49" charset="0"/>
                          <a:ea typeface="+mn-ea"/>
                          <a:cs typeface="Consolas" panose="020B0609020204030204" pitchFamily="49" charset="0"/>
                        </a:rPr>
                        <a:t>label</a:t>
                      </a:r>
                      <a:r>
                        <a:rPr lang="en-US" altLang="zh-CN" sz="1800" kern="1200" dirty="0">
                          <a:solidFill>
                            <a:schemeClr val="dk1"/>
                          </a:solidFill>
                          <a:latin typeface="Consolas" panose="020B0609020204030204" pitchFamily="49" charset="0"/>
                          <a:ea typeface="+mn-ea"/>
                          <a:cs typeface="Consolas" panose="020B0609020204030204" pitchFamily="49" charset="0"/>
                        </a:rPr>
                        <a:t> </a:t>
                      </a:r>
                      <a:endParaRPr lang="zh-CN" altLang="en-US" sz="1800" i="1" kern="1200" dirty="0">
                        <a:solidFill>
                          <a:schemeClr val="dk1"/>
                        </a:solidFill>
                        <a:latin typeface="Consolas" panose="020B0609020204030204" pitchFamily="49" charset="0"/>
                        <a:ea typeface="+mn-ea"/>
                        <a:cs typeface="Consolas" panose="020B0609020204030204" pitchFamily="49"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685800" rtl="0" eaLnBrk="1" latinLnBrk="0" hangingPunct="1"/>
                      <a:r>
                        <a:rPr lang="en-US" altLang="zh-CN" sz="1800" i="1" kern="1200" dirty="0">
                          <a:solidFill>
                            <a:schemeClr val="dk1"/>
                          </a:solidFill>
                          <a:latin typeface="Consolas" panose="020B0609020204030204" pitchFamily="49" charset="0"/>
                          <a:ea typeface="+mn-ea"/>
                          <a:cs typeface="Consolas" panose="020B0609020204030204" pitchFamily="49" charset="0"/>
                        </a:rPr>
                        <a:t> </a:t>
                      </a:r>
                      <a:r>
                        <a:rPr lang="en-US" altLang="zh-CN" sz="1800" i="1" kern="1200" dirty="0" err="1">
                          <a:solidFill>
                            <a:schemeClr val="dk1"/>
                          </a:solidFill>
                          <a:latin typeface="Consolas" panose="020B0609020204030204" pitchFamily="49" charset="0"/>
                          <a:ea typeface="+mn-ea"/>
                          <a:cs typeface="Consolas" panose="020B0609020204030204" pitchFamily="49" charset="0"/>
                        </a:rPr>
                        <a:t>blti</a:t>
                      </a:r>
                      <a:r>
                        <a:rPr lang="en-US" altLang="zh-CN" sz="1800" i="1" kern="1200" dirty="0">
                          <a:solidFill>
                            <a:schemeClr val="dk1"/>
                          </a:solidFill>
                          <a:latin typeface="Consolas" panose="020B0609020204030204" pitchFamily="49" charset="0"/>
                          <a:ea typeface="+mn-ea"/>
                          <a:cs typeface="Consolas" panose="020B0609020204030204" pitchFamily="49" charset="0"/>
                        </a:rPr>
                        <a:t> a0, 5, label; </a:t>
                      </a:r>
                      <a:endParaRPr lang="zh-CN" altLang="en-US" sz="1800" i="1" kern="1200" dirty="0">
                        <a:solidFill>
                          <a:schemeClr val="dk1"/>
                        </a:solidFill>
                        <a:latin typeface="Consolas" panose="020B0609020204030204" pitchFamily="49" charset="0"/>
                        <a:ea typeface="+mn-ea"/>
                        <a:cs typeface="Consolas" panose="020B0609020204030204" pitchFamily="49"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685800" rtl="0" eaLnBrk="1" latinLnBrk="0" hangingPunct="1"/>
                      <a:r>
                        <a:rPr lang="zh-CN" altLang="en-US" sz="1800" kern="1200" dirty="0">
                          <a:solidFill>
                            <a:schemeClr val="dk1"/>
                          </a:solidFill>
                          <a:latin typeface="Consolas" panose="020B0609020204030204" pitchFamily="49" charset="0"/>
                          <a:ea typeface="+mn-ea"/>
                          <a:cs typeface="Consolas" panose="020B0609020204030204" pitchFamily="49" charset="0"/>
                        </a:rPr>
                        <a:t>如果</a:t>
                      </a:r>
                      <a:r>
                        <a:rPr lang="en-US" altLang="zh-CN" sz="1800" i="1" kern="1200" dirty="0">
                          <a:solidFill>
                            <a:schemeClr val="dk1"/>
                          </a:solidFill>
                          <a:latin typeface="Consolas" panose="020B0609020204030204" pitchFamily="49" charset="0"/>
                          <a:ea typeface="+mn-ea"/>
                          <a:cs typeface="Consolas" panose="020B0609020204030204" pitchFamily="49" charset="0"/>
                        </a:rPr>
                        <a:t>a0 &lt; 5</a:t>
                      </a:r>
                      <a:r>
                        <a:rPr lang="zh-CN" altLang="en-US" sz="1800" kern="1200" dirty="0">
                          <a:solidFill>
                            <a:schemeClr val="dk1"/>
                          </a:solidFill>
                          <a:latin typeface="Consolas" panose="020B0609020204030204" pitchFamily="49" charset="0"/>
                          <a:ea typeface="+mn-ea"/>
                          <a:cs typeface="Consolas" panose="020B0609020204030204" pitchFamily="49" charset="0"/>
                        </a:rPr>
                        <a:t>，则跳转到</a:t>
                      </a:r>
                      <a:r>
                        <a:rPr lang="en-US" altLang="zh-CN" sz="1800" i="1" kern="1200" dirty="0">
                          <a:solidFill>
                            <a:schemeClr val="dk1"/>
                          </a:solidFill>
                          <a:latin typeface="Consolas" panose="020B0609020204030204" pitchFamily="49" charset="0"/>
                          <a:ea typeface="+mn-ea"/>
                          <a:cs typeface="Consolas" panose="020B0609020204030204" pitchFamily="49" charset="0"/>
                        </a:rPr>
                        <a:t>label</a:t>
                      </a:r>
                      <a:r>
                        <a:rPr lang="en-US" altLang="zh-CN" sz="1800" kern="1200" dirty="0">
                          <a:solidFill>
                            <a:schemeClr val="dk1"/>
                          </a:solidFill>
                          <a:latin typeface="Consolas" panose="020B0609020204030204" pitchFamily="49" charset="0"/>
                          <a:ea typeface="+mn-ea"/>
                          <a:cs typeface="Consolas" panose="020B0609020204030204" pitchFamily="49" charset="0"/>
                        </a:rPr>
                        <a:t> </a:t>
                      </a:r>
                      <a:endParaRPr lang="zh-CN" altLang="en-US" sz="1800" i="1" kern="1200" dirty="0">
                        <a:solidFill>
                          <a:schemeClr val="dk1"/>
                        </a:solidFill>
                        <a:latin typeface="Consolas" panose="020B0609020204030204" pitchFamily="49" charset="0"/>
                        <a:ea typeface="+mn-ea"/>
                        <a:cs typeface="Consolas" panose="020B0609020204030204" pitchFamily="49" charset="0"/>
                      </a:endParaRPr>
                    </a:p>
                  </a:txBody>
                  <a:tcPr anchor="ctr">
                    <a:lnL w="1270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18829863"/>
                  </a:ext>
                </a:extLst>
              </a:tr>
              <a:tr h="872044">
                <a:tc>
                  <a:txBody>
                    <a:bodyPr/>
                    <a:lstStyle/>
                    <a:p>
                      <a:pPr marL="0" algn="ctr" defTabSz="685800" rtl="0" eaLnBrk="1" latinLnBrk="0" hangingPunct="1"/>
                      <a:r>
                        <a:rPr lang="en-US" altLang="zh-CN" sz="1800" i="1" kern="1200" dirty="0" err="1">
                          <a:solidFill>
                            <a:schemeClr val="dk1"/>
                          </a:solidFill>
                          <a:latin typeface="Consolas" panose="020B0609020204030204" pitchFamily="49" charset="0"/>
                          <a:ea typeface="+mn-ea"/>
                          <a:cs typeface="Consolas" panose="020B0609020204030204" pitchFamily="49" charset="0"/>
                        </a:rPr>
                        <a:t>bgt</a:t>
                      </a:r>
                      <a:r>
                        <a:rPr lang="en-US" altLang="zh-CN" sz="1800" i="1" kern="1200" dirty="0">
                          <a:solidFill>
                            <a:schemeClr val="dk1"/>
                          </a:solidFill>
                          <a:latin typeface="Consolas" panose="020B0609020204030204" pitchFamily="49" charset="0"/>
                          <a:ea typeface="+mn-ea"/>
                          <a:cs typeface="Consolas" panose="020B0609020204030204" pitchFamily="49" charset="0"/>
                        </a:rPr>
                        <a:t> a0, a1, label;</a:t>
                      </a:r>
                      <a:endParaRPr lang="zh-CN" altLang="en-US" sz="1800" i="1" kern="1200" dirty="0">
                        <a:solidFill>
                          <a:schemeClr val="dk1"/>
                        </a:solidFill>
                        <a:latin typeface="Consolas" panose="020B0609020204030204" pitchFamily="49" charset="0"/>
                        <a:ea typeface="+mn-ea"/>
                        <a:cs typeface="Consolas" panose="020B0609020204030204" pitchFamily="49" charset="0"/>
                      </a:endParaRPr>
                    </a:p>
                  </a:txBody>
                  <a:tcPr anchor="ctr">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685800" rtl="0" eaLnBrk="1" latinLnBrk="0" hangingPunct="1"/>
                      <a:r>
                        <a:rPr lang="zh-CN" altLang="en-US" sz="1800" kern="1200" dirty="0">
                          <a:solidFill>
                            <a:schemeClr val="dk1"/>
                          </a:solidFill>
                          <a:latin typeface="Consolas" panose="020B0609020204030204" pitchFamily="49" charset="0"/>
                          <a:ea typeface="+mn-ea"/>
                          <a:cs typeface="Consolas" panose="020B0609020204030204" pitchFamily="49" charset="0"/>
                        </a:rPr>
                        <a:t>如果</a:t>
                      </a:r>
                      <a:r>
                        <a:rPr lang="en-US" altLang="zh-CN" sz="1800" i="1" kern="1200" dirty="0">
                          <a:solidFill>
                            <a:schemeClr val="dk1"/>
                          </a:solidFill>
                          <a:latin typeface="Consolas" panose="020B0609020204030204" pitchFamily="49" charset="0"/>
                          <a:ea typeface="+mn-ea"/>
                          <a:cs typeface="Consolas" panose="020B0609020204030204" pitchFamily="49" charset="0"/>
                        </a:rPr>
                        <a:t>a0 &gt; a1</a:t>
                      </a:r>
                      <a:r>
                        <a:rPr lang="zh-CN" altLang="en-US" sz="1800" kern="1200" dirty="0">
                          <a:solidFill>
                            <a:schemeClr val="dk1"/>
                          </a:solidFill>
                          <a:latin typeface="Consolas" panose="020B0609020204030204" pitchFamily="49" charset="0"/>
                          <a:ea typeface="+mn-ea"/>
                          <a:cs typeface="Consolas" panose="020B0609020204030204" pitchFamily="49" charset="0"/>
                        </a:rPr>
                        <a:t>，则跳转到</a:t>
                      </a:r>
                      <a:r>
                        <a:rPr lang="en-US" altLang="zh-CN" sz="1800" i="1" kern="1200" dirty="0">
                          <a:solidFill>
                            <a:schemeClr val="dk1"/>
                          </a:solidFill>
                          <a:latin typeface="Consolas" panose="020B0609020204030204" pitchFamily="49" charset="0"/>
                          <a:ea typeface="+mn-ea"/>
                          <a:cs typeface="Consolas" panose="020B0609020204030204" pitchFamily="49" charset="0"/>
                        </a:rPr>
                        <a:t>label</a:t>
                      </a:r>
                      <a:r>
                        <a:rPr lang="en-US" altLang="zh-CN" sz="1800" kern="1200" dirty="0">
                          <a:solidFill>
                            <a:schemeClr val="dk1"/>
                          </a:solidFill>
                          <a:latin typeface="Consolas" panose="020B0609020204030204" pitchFamily="49" charset="0"/>
                          <a:ea typeface="+mn-ea"/>
                          <a:cs typeface="Consolas" panose="020B0609020204030204" pitchFamily="49" charset="0"/>
                        </a:rPr>
                        <a:t> </a:t>
                      </a:r>
                      <a:endParaRPr lang="zh-CN" altLang="en-US" sz="1800" i="1" kern="1200" dirty="0">
                        <a:solidFill>
                          <a:schemeClr val="dk1"/>
                        </a:solidFill>
                        <a:latin typeface="Consolas" panose="020B0609020204030204" pitchFamily="49" charset="0"/>
                        <a:ea typeface="+mn-ea"/>
                        <a:cs typeface="Consolas" panose="020B0609020204030204" pitchFamily="49"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685800" rtl="0" eaLnBrk="1" latinLnBrk="0" hangingPunct="1"/>
                      <a:r>
                        <a:rPr lang="en-US" altLang="zh-CN" sz="1800" i="1" kern="1200" dirty="0" err="1">
                          <a:solidFill>
                            <a:schemeClr val="dk1"/>
                          </a:solidFill>
                          <a:latin typeface="Consolas" panose="020B0609020204030204" pitchFamily="49" charset="0"/>
                          <a:ea typeface="+mn-ea"/>
                          <a:cs typeface="Consolas" panose="020B0609020204030204" pitchFamily="49" charset="0"/>
                        </a:rPr>
                        <a:t>bgti</a:t>
                      </a:r>
                      <a:r>
                        <a:rPr lang="en-US" altLang="zh-CN" sz="1800" i="1" kern="1200" dirty="0">
                          <a:solidFill>
                            <a:schemeClr val="dk1"/>
                          </a:solidFill>
                          <a:latin typeface="Consolas" panose="020B0609020204030204" pitchFamily="49" charset="0"/>
                          <a:ea typeface="+mn-ea"/>
                          <a:cs typeface="Consolas" panose="020B0609020204030204" pitchFamily="49" charset="0"/>
                        </a:rPr>
                        <a:t> a0, 5, label;</a:t>
                      </a:r>
                      <a:endParaRPr lang="zh-CN" altLang="en-US" sz="1800" i="1" kern="1200" dirty="0">
                        <a:solidFill>
                          <a:schemeClr val="dk1"/>
                        </a:solidFill>
                        <a:latin typeface="Consolas" panose="020B0609020204030204" pitchFamily="49" charset="0"/>
                        <a:ea typeface="+mn-ea"/>
                        <a:cs typeface="Consolas" panose="020B0609020204030204" pitchFamily="49"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685800" rtl="0" eaLnBrk="1" latinLnBrk="0" hangingPunct="1"/>
                      <a:r>
                        <a:rPr lang="zh-CN" altLang="en-US" sz="1800" kern="1200" dirty="0">
                          <a:solidFill>
                            <a:schemeClr val="dk1"/>
                          </a:solidFill>
                          <a:latin typeface="Consolas" panose="020B0609020204030204" pitchFamily="49" charset="0"/>
                          <a:ea typeface="+mn-ea"/>
                          <a:cs typeface="Consolas" panose="020B0609020204030204" pitchFamily="49" charset="0"/>
                        </a:rPr>
                        <a:t>如果</a:t>
                      </a:r>
                      <a:r>
                        <a:rPr lang="en-US" altLang="zh-CN" sz="1800" i="1" kern="1200" dirty="0">
                          <a:solidFill>
                            <a:schemeClr val="dk1"/>
                          </a:solidFill>
                          <a:latin typeface="Consolas" panose="020B0609020204030204" pitchFamily="49" charset="0"/>
                          <a:ea typeface="+mn-ea"/>
                          <a:cs typeface="Consolas" panose="020B0609020204030204" pitchFamily="49" charset="0"/>
                        </a:rPr>
                        <a:t>a0 &gt; 5</a:t>
                      </a:r>
                      <a:r>
                        <a:rPr lang="zh-CN" altLang="en-US" sz="1800" kern="1200" dirty="0">
                          <a:solidFill>
                            <a:schemeClr val="dk1"/>
                          </a:solidFill>
                          <a:latin typeface="Consolas" panose="020B0609020204030204" pitchFamily="49" charset="0"/>
                          <a:ea typeface="+mn-ea"/>
                          <a:cs typeface="Consolas" panose="020B0609020204030204" pitchFamily="49" charset="0"/>
                        </a:rPr>
                        <a:t>，则跳转到</a:t>
                      </a:r>
                      <a:r>
                        <a:rPr lang="en-US" altLang="zh-CN" sz="1800" i="1" kern="1200" dirty="0">
                          <a:solidFill>
                            <a:schemeClr val="dk1"/>
                          </a:solidFill>
                          <a:latin typeface="Consolas" panose="020B0609020204030204" pitchFamily="49" charset="0"/>
                          <a:ea typeface="+mn-ea"/>
                          <a:cs typeface="Consolas" panose="020B0609020204030204" pitchFamily="49" charset="0"/>
                        </a:rPr>
                        <a:t>label</a:t>
                      </a:r>
                      <a:r>
                        <a:rPr lang="en-US" altLang="zh-CN" sz="1800" kern="1200" dirty="0">
                          <a:solidFill>
                            <a:schemeClr val="dk1"/>
                          </a:solidFill>
                          <a:latin typeface="Consolas" panose="020B0609020204030204" pitchFamily="49" charset="0"/>
                          <a:ea typeface="+mn-ea"/>
                          <a:cs typeface="Consolas" panose="020B0609020204030204" pitchFamily="49" charset="0"/>
                        </a:rPr>
                        <a:t> </a:t>
                      </a:r>
                      <a:endParaRPr lang="zh-CN" altLang="en-US" sz="1800" i="1" kern="1200" dirty="0">
                        <a:solidFill>
                          <a:schemeClr val="dk1"/>
                        </a:solidFill>
                        <a:latin typeface="Consolas" panose="020B0609020204030204" pitchFamily="49" charset="0"/>
                        <a:ea typeface="+mn-ea"/>
                        <a:cs typeface="Consolas" panose="020B0609020204030204" pitchFamily="49" charset="0"/>
                      </a:endParaRPr>
                    </a:p>
                  </a:txBody>
                  <a:tcPr anchor="ctr">
                    <a:lnL w="1270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6976349"/>
                  </a:ext>
                </a:extLst>
              </a:tr>
            </a:tbl>
          </a:graphicData>
        </a:graphic>
      </p:graphicFrame>
      <p:sp>
        <p:nvSpPr>
          <p:cNvPr id="10" name="TextBox 9">
            <a:extLst>
              <a:ext uri="{FF2B5EF4-FFF2-40B4-BE49-F238E27FC236}">
                <a16:creationId xmlns:a16="http://schemas.microsoft.com/office/drawing/2014/main" id="{7FD0683F-6A34-4BA3-9106-469B512C68BE}"/>
              </a:ext>
            </a:extLst>
          </p:cNvPr>
          <p:cNvSpPr txBox="1"/>
          <p:nvPr/>
        </p:nvSpPr>
        <p:spPr>
          <a:xfrm>
            <a:off x="2049244" y="5093503"/>
            <a:ext cx="5570756" cy="954107"/>
          </a:xfrm>
          <a:prstGeom prst="rect">
            <a:avLst/>
          </a:prstGeom>
          <a:noFill/>
        </p:spPr>
        <p:txBody>
          <a:bodyPr wrap="none" rtlCol="0">
            <a:spAutoFit/>
          </a:bodyPr>
          <a:lstStyle/>
          <a:p>
            <a:r>
              <a:rPr lang="zh-CN" altLang="en-US" sz="2800" dirty="0">
                <a:solidFill>
                  <a:schemeClr val="tx1"/>
                </a:solidFill>
                <a:latin typeface="+mj-ea"/>
                <a:ea typeface="+mj-ea"/>
              </a:rPr>
              <a:t>分支指令编码需要包含的内容：</a:t>
            </a:r>
            <a:endParaRPr lang="en-US" altLang="zh-CN" sz="2800" dirty="0">
              <a:solidFill>
                <a:schemeClr val="tx1"/>
              </a:solidFill>
              <a:latin typeface="+mj-ea"/>
              <a:ea typeface="+mj-ea"/>
            </a:endParaRPr>
          </a:p>
          <a:p>
            <a:r>
              <a:rPr lang="zh-CN" altLang="en-US" sz="2800" dirty="0">
                <a:solidFill>
                  <a:srgbClr val="0432FF"/>
                </a:solidFill>
                <a:latin typeface="+mj-ea"/>
                <a:ea typeface="+mj-ea"/>
              </a:rPr>
              <a:t>操作类型、寄存器、地址、立即数</a:t>
            </a:r>
          </a:p>
        </p:txBody>
      </p:sp>
      <p:sp>
        <p:nvSpPr>
          <p:cNvPr id="3" name="Title 4">
            <a:extLst>
              <a:ext uri="{FF2B5EF4-FFF2-40B4-BE49-F238E27FC236}">
                <a16:creationId xmlns:a16="http://schemas.microsoft.com/office/drawing/2014/main" id="{CABF33AF-ED8C-F834-F497-3BB0A6A2CAC0}"/>
              </a:ext>
            </a:extLst>
          </p:cNvPr>
          <p:cNvSpPr txBox="1">
            <a:spLocks/>
          </p:cNvSpPr>
          <p:nvPr/>
        </p:nvSpPr>
        <p:spPr bwMode="auto">
          <a:xfrm>
            <a:off x="457200" y="136800"/>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kumimoji="1" lang="zh-CN" altLang="en-US" dirty="0"/>
              <a:t>指令集设计：分支指令</a:t>
            </a:r>
            <a:endParaRPr lang="en-CN" kern="0" dirty="0"/>
          </a:p>
        </p:txBody>
      </p:sp>
    </p:spTree>
    <p:extLst>
      <p:ext uri="{BB962C8B-B14F-4D97-AF65-F5344CB8AC3E}">
        <p14:creationId xmlns:p14="http://schemas.microsoft.com/office/powerpoint/2010/main" val="4503216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a:extLst>
              <a:ext uri="{FF2B5EF4-FFF2-40B4-BE49-F238E27FC236}">
                <a16:creationId xmlns:a16="http://schemas.microsoft.com/office/drawing/2014/main" id="{68F7FF1C-DC59-5F43-A383-991D51B72C86}"/>
              </a:ext>
            </a:extLst>
          </p:cNvPr>
          <p:cNvSpPr>
            <a:spLocks noGrp="1"/>
          </p:cNvSpPr>
          <p:nvPr>
            <p:ph type="sldNum" sz="quarter" idx="12"/>
          </p:nvPr>
        </p:nvSpPr>
        <p:spPr/>
        <p:txBody>
          <a:bodyPr/>
          <a:lstStyle/>
          <a:p>
            <a:fld id="{14659731-6BD7-46E7-8D3C-2F3AC07E20B1}" type="slidenum">
              <a:rPr lang="en-US" altLang="zh-CN" smtClean="0"/>
              <a:pPr/>
              <a:t>20</a:t>
            </a:fld>
            <a:endParaRPr lang="en-US" altLang="zh-CN"/>
          </a:p>
        </p:txBody>
      </p:sp>
      <p:sp>
        <p:nvSpPr>
          <p:cNvPr id="36" name="Rectangle 3">
            <a:extLst>
              <a:ext uri="{FF2B5EF4-FFF2-40B4-BE49-F238E27FC236}">
                <a16:creationId xmlns:a16="http://schemas.microsoft.com/office/drawing/2014/main" id="{1AF4C294-9B96-4AC7-A8CA-FB8884B6204B}"/>
              </a:ext>
            </a:extLst>
          </p:cNvPr>
          <p:cNvSpPr>
            <a:spLocks noGrp="1" noChangeArrowheads="1"/>
          </p:cNvSpPr>
          <p:nvPr>
            <p:ph idx="4294967295"/>
          </p:nvPr>
        </p:nvSpPr>
        <p:spPr>
          <a:xfrm>
            <a:off x="338630" y="1281599"/>
            <a:ext cx="8709836" cy="5131557"/>
          </a:xfrm>
        </p:spPr>
        <p:txBody>
          <a:bodyPr>
            <a:normAutofit/>
          </a:bodyPr>
          <a:lstStyle/>
          <a:p>
            <a:pPr>
              <a:lnSpc>
                <a:spcPct val="150000"/>
              </a:lnSpc>
            </a:pPr>
            <a:r>
              <a:rPr lang="en-US" altLang="zh-CN" sz="2800" i="1" kern="1200" dirty="0" err="1">
                <a:solidFill>
                  <a:schemeClr val="dk1"/>
                </a:solidFill>
                <a:latin typeface="Consolas" panose="020B0609020204030204" pitchFamily="49" charset="0"/>
                <a:ea typeface="+mn-ea"/>
                <a:cs typeface="Arial" panose="020B0604020202020204" pitchFamily="34" charset="0"/>
              </a:rPr>
              <a:t>beq</a:t>
            </a:r>
            <a:r>
              <a:rPr lang="en-US" altLang="zh-CN" sz="2800" i="1" kern="1200" dirty="0">
                <a:solidFill>
                  <a:schemeClr val="dk1"/>
                </a:solidFill>
                <a:latin typeface="Consolas" panose="020B0609020204030204" pitchFamily="49" charset="0"/>
                <a:ea typeface="+mn-ea"/>
                <a:cs typeface="Arial" panose="020B0604020202020204" pitchFamily="34" charset="0"/>
              </a:rPr>
              <a:t> a0, a1, label</a:t>
            </a:r>
          </a:p>
          <a:p>
            <a:pPr>
              <a:lnSpc>
                <a:spcPct val="150000"/>
              </a:lnSpc>
            </a:pPr>
            <a:endParaRPr lang="en-US" altLang="zh-CN" sz="2200" dirty="0">
              <a:solidFill>
                <a:srgbClr val="0432FF"/>
              </a:solidFill>
            </a:endParaRPr>
          </a:p>
          <a:p>
            <a:pPr>
              <a:lnSpc>
                <a:spcPct val="150000"/>
              </a:lnSpc>
            </a:pPr>
            <a:endParaRPr lang="en-US" altLang="zh-CN" sz="2200" dirty="0">
              <a:solidFill>
                <a:srgbClr val="0432FF"/>
              </a:solidFill>
            </a:endParaRPr>
          </a:p>
          <a:p>
            <a:pPr>
              <a:lnSpc>
                <a:spcPct val="150000"/>
              </a:lnSpc>
            </a:pPr>
            <a:endParaRPr lang="en-US" altLang="zh-CN" sz="2200" dirty="0">
              <a:solidFill>
                <a:srgbClr val="0432FF"/>
              </a:solidFill>
            </a:endParaRPr>
          </a:p>
          <a:p>
            <a:r>
              <a:rPr lang="en-US" altLang="zh-CN" sz="2800" dirty="0"/>
              <a:t>16</a:t>
            </a:r>
            <a:r>
              <a:rPr lang="zh-CN" altLang="en-US" sz="2800" dirty="0"/>
              <a:t>位能表示几条不同地址的指令？</a:t>
            </a:r>
            <a:endParaRPr lang="en-US" altLang="zh-CN" sz="2800" dirty="0"/>
          </a:p>
          <a:p>
            <a:pPr lvl="1"/>
            <a:r>
              <a:rPr lang="en-US" altLang="zh-CN" sz="2400" b="1" dirty="0">
                <a:solidFill>
                  <a:srgbClr val="0432FF"/>
                </a:solidFill>
              </a:rPr>
              <a:t>2</a:t>
            </a:r>
            <a:r>
              <a:rPr lang="en-US" altLang="zh-CN" sz="2400" b="1" baseline="30000" dirty="0">
                <a:solidFill>
                  <a:srgbClr val="0432FF"/>
                </a:solidFill>
              </a:rPr>
              <a:t>16</a:t>
            </a:r>
          </a:p>
          <a:p>
            <a:pPr lvl="1"/>
            <a:r>
              <a:rPr lang="zh-CN" altLang="en-US" sz="2400" b="1" dirty="0">
                <a:solidFill>
                  <a:srgbClr val="0432FF"/>
                </a:solidFill>
              </a:rPr>
              <a:t>如一条指令</a:t>
            </a:r>
            <a:r>
              <a:rPr lang="en-US" altLang="zh-CN" sz="2400" b="1" dirty="0">
                <a:solidFill>
                  <a:srgbClr val="0432FF"/>
                </a:solidFill>
              </a:rPr>
              <a:t>4</a:t>
            </a:r>
            <a:r>
              <a:rPr lang="zh-CN" altLang="en-US" sz="2400" b="1" dirty="0">
                <a:solidFill>
                  <a:srgbClr val="0432FF"/>
                </a:solidFill>
              </a:rPr>
              <a:t>个字节（</a:t>
            </a:r>
            <a:r>
              <a:rPr lang="en-US" altLang="zh-CN" sz="2400" b="1" dirty="0">
                <a:solidFill>
                  <a:srgbClr val="0432FF"/>
                </a:solidFill>
              </a:rPr>
              <a:t>32bit</a:t>
            </a:r>
            <a:r>
              <a:rPr lang="zh-CN" altLang="en-US" sz="2400" b="1" dirty="0">
                <a:solidFill>
                  <a:srgbClr val="0432FF"/>
                </a:solidFill>
              </a:rPr>
              <a:t>），且</a:t>
            </a:r>
            <a:r>
              <a:rPr lang="zh-CN" altLang="en-US" sz="2400" dirty="0">
                <a:solidFill>
                  <a:srgbClr val="0432FF"/>
                </a:solidFill>
              </a:rPr>
              <a:t>内存中</a:t>
            </a:r>
            <a:r>
              <a:rPr lang="zh-CN" altLang="en-US" sz="2400" b="1" dirty="0">
                <a:solidFill>
                  <a:srgbClr val="0432FF"/>
                </a:solidFill>
              </a:rPr>
              <a:t>地址按字节编号</a:t>
            </a:r>
          </a:p>
          <a:p>
            <a:pPr lvl="2"/>
            <a:r>
              <a:rPr lang="zh-CN" altLang="en-US" sz="2000" dirty="0"/>
              <a:t>指令地址的低</a:t>
            </a:r>
            <a:r>
              <a:rPr lang="en-US" altLang="zh-CN" sz="2000" dirty="0"/>
              <a:t>2</a:t>
            </a:r>
            <a:r>
              <a:rPr lang="zh-CN" altLang="en-US" sz="2000" dirty="0"/>
              <a:t>位都是</a:t>
            </a:r>
            <a:r>
              <a:rPr lang="en-US" altLang="zh-CN" sz="2000" dirty="0"/>
              <a:t>00</a:t>
            </a:r>
          </a:p>
          <a:p>
            <a:pPr lvl="2"/>
            <a:r>
              <a:rPr lang="en-US" altLang="zh-CN" sz="2000" dirty="0"/>
              <a:t>16</a:t>
            </a:r>
            <a:r>
              <a:rPr lang="zh-CN" altLang="en-US" sz="2000" dirty="0"/>
              <a:t>位的编码中可以不包含地址的低</a:t>
            </a:r>
            <a:r>
              <a:rPr lang="en-US" altLang="zh-CN" sz="2000" dirty="0"/>
              <a:t>2</a:t>
            </a:r>
            <a:r>
              <a:rPr lang="zh-CN" altLang="en-US" sz="2000" dirty="0"/>
              <a:t>位</a:t>
            </a:r>
            <a:r>
              <a:rPr lang="en-US" altLang="zh-CN" sz="2000" dirty="0"/>
              <a:t>00</a:t>
            </a:r>
            <a:r>
              <a:rPr lang="zh-CN" altLang="en-US" sz="2000" dirty="0"/>
              <a:t>；</a:t>
            </a:r>
            <a:r>
              <a:rPr lang="en-US" altLang="zh-CN" sz="2000" dirty="0"/>
              <a:t>CPU</a:t>
            </a:r>
            <a:r>
              <a:rPr lang="zh-CN" altLang="en-US" sz="2000" dirty="0"/>
              <a:t>自行解析即可</a:t>
            </a:r>
            <a:endParaRPr lang="en-US" altLang="zh-CN" sz="2000" dirty="0"/>
          </a:p>
          <a:p>
            <a:pPr>
              <a:lnSpc>
                <a:spcPct val="150000"/>
              </a:lnSpc>
            </a:pPr>
            <a:endParaRPr lang="en-US" altLang="zh-CN" dirty="0"/>
          </a:p>
          <a:p>
            <a:pPr>
              <a:lnSpc>
                <a:spcPct val="150000"/>
              </a:lnSpc>
            </a:pPr>
            <a:endParaRPr lang="en-US" altLang="zh-CN" sz="2200" dirty="0"/>
          </a:p>
        </p:txBody>
      </p:sp>
      <p:grpSp>
        <p:nvGrpSpPr>
          <p:cNvPr id="3" name="Group 2">
            <a:extLst>
              <a:ext uri="{FF2B5EF4-FFF2-40B4-BE49-F238E27FC236}">
                <a16:creationId xmlns:a16="http://schemas.microsoft.com/office/drawing/2014/main" id="{A3314EFC-C10D-42A3-8CA9-394FA98D4DA3}"/>
              </a:ext>
            </a:extLst>
          </p:cNvPr>
          <p:cNvGrpSpPr/>
          <p:nvPr/>
        </p:nvGrpSpPr>
        <p:grpSpPr>
          <a:xfrm>
            <a:off x="457200" y="2519789"/>
            <a:ext cx="7951304" cy="885059"/>
            <a:chOff x="596348" y="2543941"/>
            <a:chExt cx="7951304" cy="885059"/>
          </a:xfrm>
        </p:grpSpPr>
        <p:sp>
          <p:nvSpPr>
            <p:cNvPr id="21" name="Rectangle 20">
              <a:extLst>
                <a:ext uri="{FF2B5EF4-FFF2-40B4-BE49-F238E27FC236}">
                  <a16:creationId xmlns:a16="http://schemas.microsoft.com/office/drawing/2014/main" id="{3387C144-B85E-4425-AF07-CFBAE17C59EB}"/>
                </a:ext>
              </a:extLst>
            </p:cNvPr>
            <p:cNvSpPr/>
            <p:nvPr/>
          </p:nvSpPr>
          <p:spPr>
            <a:xfrm>
              <a:off x="596348" y="2553881"/>
              <a:ext cx="7951304" cy="457200"/>
            </a:xfrm>
            <a:prstGeom prst="rect">
              <a:avLst/>
            </a:prstGeom>
            <a:noFill/>
          </p:spPr>
          <p:style>
            <a:lnRef idx="2">
              <a:schemeClr val="dk1"/>
            </a:lnRef>
            <a:fillRef idx="1">
              <a:schemeClr val="lt1"/>
            </a:fillRef>
            <a:effectRef idx="0">
              <a:schemeClr val="dk1"/>
            </a:effectRef>
            <a:fontRef idx="minor">
              <a:schemeClr val="dk1"/>
            </a:fontRef>
          </p:style>
          <p:txBody>
            <a:bodyPr wrap="square" rtlCol="0" anchor="ctr">
              <a:noAutofit/>
            </a:bodyPr>
            <a:lstStyle/>
            <a:p>
              <a:pPr algn="ctr"/>
              <a:endParaRPr lang="zh-CN" altLang="en-US" sz="1800" b="1">
                <a:solidFill>
                  <a:schemeClr val="tx1"/>
                </a:solidFill>
                <a:latin typeface="Arial" panose="020B0604020202020204" pitchFamily="34" charset="0"/>
                <a:cs typeface="Arial" panose="020B0604020202020204" pitchFamily="34" charset="0"/>
              </a:endParaRPr>
            </a:p>
          </p:txBody>
        </p:sp>
        <p:cxnSp>
          <p:nvCxnSpPr>
            <p:cNvPr id="22" name="Straight Connector 21">
              <a:extLst>
                <a:ext uri="{FF2B5EF4-FFF2-40B4-BE49-F238E27FC236}">
                  <a16:creationId xmlns:a16="http://schemas.microsoft.com/office/drawing/2014/main" id="{E501EA67-8DBE-4B45-9F68-4BCF75A89394}"/>
                </a:ext>
              </a:extLst>
            </p:cNvPr>
            <p:cNvCxnSpPr>
              <a:cxnSpLocks/>
            </p:cNvCxnSpPr>
            <p:nvPr/>
          </p:nvCxnSpPr>
          <p:spPr>
            <a:xfrm>
              <a:off x="2000196" y="2543941"/>
              <a:ext cx="0" cy="4671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67ED2E69-BF75-481B-995C-2AFCB53B302F}"/>
                </a:ext>
              </a:extLst>
            </p:cNvPr>
            <p:cNvSpPr txBox="1"/>
            <p:nvPr/>
          </p:nvSpPr>
          <p:spPr>
            <a:xfrm>
              <a:off x="829107" y="3021021"/>
              <a:ext cx="968535" cy="400110"/>
            </a:xfrm>
            <a:prstGeom prst="rect">
              <a:avLst/>
            </a:prstGeom>
            <a:noFill/>
          </p:spPr>
          <p:txBody>
            <a:bodyPr wrap="none" rtlCol="0">
              <a:spAutoFit/>
            </a:bodyPr>
            <a:lstStyle/>
            <a:p>
              <a:pPr algn="ctr"/>
              <a:r>
                <a:rPr lang="zh-CN" altLang="en-US" sz="2000" b="1">
                  <a:solidFill>
                    <a:schemeClr val="tx1"/>
                  </a:solidFill>
                  <a:latin typeface="+mj-ea"/>
                  <a:ea typeface="+mj-ea"/>
                </a:rPr>
                <a:t>操作码</a:t>
              </a:r>
            </a:p>
          </p:txBody>
        </p:sp>
        <p:sp>
          <p:nvSpPr>
            <p:cNvPr id="26" name="TextBox 25">
              <a:extLst>
                <a:ext uri="{FF2B5EF4-FFF2-40B4-BE49-F238E27FC236}">
                  <a16:creationId xmlns:a16="http://schemas.microsoft.com/office/drawing/2014/main" id="{ABA13A63-A186-4743-8E94-B5DAEF14934C}"/>
                </a:ext>
              </a:extLst>
            </p:cNvPr>
            <p:cNvSpPr txBox="1"/>
            <p:nvPr/>
          </p:nvSpPr>
          <p:spPr>
            <a:xfrm>
              <a:off x="918670" y="2558850"/>
              <a:ext cx="805068" cy="461665"/>
            </a:xfrm>
            <a:prstGeom prst="rect">
              <a:avLst/>
            </a:prstGeom>
            <a:noFill/>
          </p:spPr>
          <p:txBody>
            <a:bodyPr wrap="square" rtlCol="0">
              <a:spAutoFit/>
            </a:bodyPr>
            <a:lstStyle/>
            <a:p>
              <a:pPr algn="ctr"/>
              <a:r>
                <a:rPr lang="en-US" altLang="zh-CN" sz="2400" b="1">
                  <a:solidFill>
                    <a:srgbClr val="0432FF"/>
                  </a:solidFill>
                  <a:latin typeface="+mn-lt"/>
                </a:rPr>
                <a:t>6bit</a:t>
              </a:r>
              <a:endParaRPr lang="zh-CN" altLang="en-US" sz="2400" b="1">
                <a:solidFill>
                  <a:srgbClr val="0432FF"/>
                </a:solidFill>
                <a:latin typeface="+mn-lt"/>
              </a:endParaRPr>
            </a:p>
          </p:txBody>
        </p:sp>
        <p:sp>
          <p:nvSpPr>
            <p:cNvPr id="27" name="TextBox 26">
              <a:extLst>
                <a:ext uri="{FF2B5EF4-FFF2-40B4-BE49-F238E27FC236}">
                  <a16:creationId xmlns:a16="http://schemas.microsoft.com/office/drawing/2014/main" id="{EDCF91F9-85D2-406B-94E0-945C83544AA8}"/>
                </a:ext>
              </a:extLst>
            </p:cNvPr>
            <p:cNvSpPr txBox="1"/>
            <p:nvPr/>
          </p:nvSpPr>
          <p:spPr>
            <a:xfrm>
              <a:off x="2093045" y="3028890"/>
              <a:ext cx="1112804" cy="400110"/>
            </a:xfrm>
            <a:prstGeom prst="rect">
              <a:avLst/>
            </a:prstGeom>
            <a:noFill/>
          </p:spPr>
          <p:txBody>
            <a:bodyPr wrap="none" rtlCol="0">
              <a:spAutoFit/>
            </a:bodyPr>
            <a:lstStyle/>
            <a:p>
              <a:pPr algn="ctr"/>
              <a:r>
                <a:rPr lang="zh-CN" altLang="en-US" sz="2000" b="1">
                  <a:solidFill>
                    <a:schemeClr val="tx1"/>
                  </a:solidFill>
                  <a:latin typeface="+mj-ea"/>
                  <a:ea typeface="+mj-ea"/>
                </a:rPr>
                <a:t>操作数</a:t>
              </a:r>
              <a:r>
                <a:rPr lang="en-US" altLang="zh-CN" sz="2000" b="1">
                  <a:solidFill>
                    <a:schemeClr val="tx1"/>
                  </a:solidFill>
                  <a:latin typeface="+mj-ea"/>
                  <a:ea typeface="+mj-ea"/>
                </a:rPr>
                <a:t>0</a:t>
              </a:r>
              <a:endParaRPr lang="zh-CN" altLang="en-US" sz="2000" b="1">
                <a:solidFill>
                  <a:schemeClr val="tx1"/>
                </a:solidFill>
                <a:latin typeface="+mj-ea"/>
                <a:ea typeface="+mj-ea"/>
              </a:endParaRPr>
            </a:p>
          </p:txBody>
        </p:sp>
        <p:cxnSp>
          <p:nvCxnSpPr>
            <p:cNvPr id="28" name="Straight Connector 27">
              <a:extLst>
                <a:ext uri="{FF2B5EF4-FFF2-40B4-BE49-F238E27FC236}">
                  <a16:creationId xmlns:a16="http://schemas.microsoft.com/office/drawing/2014/main" id="{8DE7420D-B5F6-479E-A2BE-85EE9ED70E5D}"/>
                </a:ext>
              </a:extLst>
            </p:cNvPr>
            <p:cNvCxnSpPr>
              <a:cxnSpLocks/>
            </p:cNvCxnSpPr>
            <p:nvPr/>
          </p:nvCxnSpPr>
          <p:spPr>
            <a:xfrm>
              <a:off x="3251146" y="2543941"/>
              <a:ext cx="0" cy="4671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DEDABCE8-519E-4ED7-A893-1CD587E81D7B}"/>
                </a:ext>
              </a:extLst>
            </p:cNvPr>
            <p:cNvCxnSpPr>
              <a:cxnSpLocks/>
            </p:cNvCxnSpPr>
            <p:nvPr/>
          </p:nvCxnSpPr>
          <p:spPr>
            <a:xfrm>
              <a:off x="4514796" y="2543941"/>
              <a:ext cx="0" cy="4671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085B49D9-BAB5-43BB-BC30-F8E626FFB925}"/>
                </a:ext>
              </a:extLst>
            </p:cNvPr>
            <p:cNvSpPr txBox="1"/>
            <p:nvPr/>
          </p:nvSpPr>
          <p:spPr>
            <a:xfrm>
              <a:off x="2182319" y="2567225"/>
              <a:ext cx="805068" cy="461665"/>
            </a:xfrm>
            <a:prstGeom prst="rect">
              <a:avLst/>
            </a:prstGeom>
            <a:noFill/>
          </p:spPr>
          <p:txBody>
            <a:bodyPr wrap="square" rtlCol="0">
              <a:spAutoFit/>
            </a:bodyPr>
            <a:lstStyle/>
            <a:p>
              <a:pPr algn="ctr"/>
              <a:r>
                <a:rPr lang="en-US" altLang="zh-CN" sz="2400" b="1" dirty="0">
                  <a:solidFill>
                    <a:srgbClr val="0432FF"/>
                  </a:solidFill>
                  <a:latin typeface="+mn-lt"/>
                </a:rPr>
                <a:t>5bit</a:t>
              </a:r>
              <a:endParaRPr lang="zh-CN" altLang="en-US" sz="2400" b="1" dirty="0">
                <a:solidFill>
                  <a:srgbClr val="0432FF"/>
                </a:solidFill>
                <a:latin typeface="+mn-lt"/>
              </a:endParaRPr>
            </a:p>
          </p:txBody>
        </p:sp>
        <p:sp>
          <p:nvSpPr>
            <p:cNvPr id="31" name="TextBox 30">
              <a:extLst>
                <a:ext uri="{FF2B5EF4-FFF2-40B4-BE49-F238E27FC236}">
                  <a16:creationId xmlns:a16="http://schemas.microsoft.com/office/drawing/2014/main" id="{FE270AA3-5E7A-4C30-A617-C5FBC63103B8}"/>
                </a:ext>
              </a:extLst>
            </p:cNvPr>
            <p:cNvSpPr txBox="1"/>
            <p:nvPr/>
          </p:nvSpPr>
          <p:spPr>
            <a:xfrm>
              <a:off x="3441685" y="2567225"/>
              <a:ext cx="805068" cy="461665"/>
            </a:xfrm>
            <a:prstGeom prst="rect">
              <a:avLst/>
            </a:prstGeom>
            <a:noFill/>
          </p:spPr>
          <p:txBody>
            <a:bodyPr wrap="square" rtlCol="0">
              <a:spAutoFit/>
            </a:bodyPr>
            <a:lstStyle/>
            <a:p>
              <a:pPr algn="ctr"/>
              <a:r>
                <a:rPr lang="en-US" altLang="zh-CN" sz="2400" b="1">
                  <a:solidFill>
                    <a:srgbClr val="0432FF"/>
                  </a:solidFill>
                  <a:latin typeface="+mn-lt"/>
                </a:rPr>
                <a:t>5bit</a:t>
              </a:r>
              <a:endParaRPr lang="zh-CN" altLang="en-US" sz="2400" b="1">
                <a:solidFill>
                  <a:srgbClr val="0432FF"/>
                </a:solidFill>
                <a:latin typeface="+mn-lt"/>
              </a:endParaRPr>
            </a:p>
          </p:txBody>
        </p:sp>
        <p:sp>
          <p:nvSpPr>
            <p:cNvPr id="32" name="TextBox 31">
              <a:extLst>
                <a:ext uri="{FF2B5EF4-FFF2-40B4-BE49-F238E27FC236}">
                  <a16:creationId xmlns:a16="http://schemas.microsoft.com/office/drawing/2014/main" id="{2C32909F-235B-4119-B8A3-89B0A47A61D5}"/>
                </a:ext>
              </a:extLst>
            </p:cNvPr>
            <p:cNvSpPr txBox="1"/>
            <p:nvPr/>
          </p:nvSpPr>
          <p:spPr>
            <a:xfrm>
              <a:off x="3322290" y="3019456"/>
              <a:ext cx="1112804" cy="400110"/>
            </a:xfrm>
            <a:prstGeom prst="rect">
              <a:avLst/>
            </a:prstGeom>
            <a:noFill/>
          </p:spPr>
          <p:txBody>
            <a:bodyPr wrap="none" rtlCol="0">
              <a:spAutoFit/>
            </a:bodyPr>
            <a:lstStyle/>
            <a:p>
              <a:pPr algn="ctr"/>
              <a:r>
                <a:rPr lang="zh-CN" altLang="en-US" sz="2000" b="1" dirty="0">
                  <a:solidFill>
                    <a:schemeClr val="tx1"/>
                  </a:solidFill>
                  <a:latin typeface="+mj-ea"/>
                  <a:ea typeface="+mj-ea"/>
                </a:rPr>
                <a:t>操作数</a:t>
              </a:r>
              <a:r>
                <a:rPr lang="en-US" altLang="zh-CN" sz="2000" b="1" dirty="0">
                  <a:solidFill>
                    <a:schemeClr val="tx1"/>
                  </a:solidFill>
                  <a:latin typeface="+mj-ea"/>
                  <a:ea typeface="+mj-ea"/>
                </a:rPr>
                <a:t>1</a:t>
              </a:r>
              <a:endParaRPr lang="zh-CN" altLang="en-US" sz="2000" b="1" dirty="0">
                <a:solidFill>
                  <a:schemeClr val="tx1"/>
                </a:solidFill>
                <a:latin typeface="+mj-ea"/>
                <a:ea typeface="+mj-ea"/>
              </a:endParaRPr>
            </a:p>
          </p:txBody>
        </p:sp>
        <p:sp>
          <p:nvSpPr>
            <p:cNvPr id="33" name="TextBox 32">
              <a:extLst>
                <a:ext uri="{FF2B5EF4-FFF2-40B4-BE49-F238E27FC236}">
                  <a16:creationId xmlns:a16="http://schemas.microsoft.com/office/drawing/2014/main" id="{E09A6CF7-C91B-4D8D-A264-30FC9BE98476}"/>
                </a:ext>
              </a:extLst>
            </p:cNvPr>
            <p:cNvSpPr txBox="1"/>
            <p:nvPr/>
          </p:nvSpPr>
          <p:spPr>
            <a:xfrm>
              <a:off x="5973588" y="3028890"/>
              <a:ext cx="968535" cy="400110"/>
            </a:xfrm>
            <a:prstGeom prst="rect">
              <a:avLst/>
            </a:prstGeom>
            <a:noFill/>
          </p:spPr>
          <p:txBody>
            <a:bodyPr wrap="none" rtlCol="0">
              <a:spAutoFit/>
            </a:bodyPr>
            <a:lstStyle/>
            <a:p>
              <a:pPr algn="ctr"/>
              <a:r>
                <a:rPr lang="zh-CN" altLang="en-US" sz="2000" b="1" dirty="0">
                  <a:solidFill>
                    <a:schemeClr val="tx1"/>
                  </a:solidFill>
                  <a:latin typeface="+mj-ea"/>
                  <a:ea typeface="+mj-ea"/>
                </a:rPr>
                <a:t>立即数</a:t>
              </a:r>
            </a:p>
          </p:txBody>
        </p:sp>
        <p:sp>
          <p:nvSpPr>
            <p:cNvPr id="34" name="TextBox 33">
              <a:extLst>
                <a:ext uri="{FF2B5EF4-FFF2-40B4-BE49-F238E27FC236}">
                  <a16:creationId xmlns:a16="http://schemas.microsoft.com/office/drawing/2014/main" id="{6152AE44-D7D3-48F3-836C-62CD721CB263}"/>
                </a:ext>
              </a:extLst>
            </p:cNvPr>
            <p:cNvSpPr txBox="1"/>
            <p:nvPr/>
          </p:nvSpPr>
          <p:spPr>
            <a:xfrm>
              <a:off x="5896132" y="2567225"/>
              <a:ext cx="1056944" cy="461665"/>
            </a:xfrm>
            <a:prstGeom prst="rect">
              <a:avLst/>
            </a:prstGeom>
            <a:noFill/>
          </p:spPr>
          <p:txBody>
            <a:bodyPr wrap="square" rtlCol="0">
              <a:spAutoFit/>
            </a:bodyPr>
            <a:lstStyle/>
            <a:p>
              <a:pPr algn="ctr"/>
              <a:r>
                <a:rPr lang="en-US" altLang="zh-CN" sz="2400" b="1">
                  <a:solidFill>
                    <a:srgbClr val="0432FF"/>
                  </a:solidFill>
                  <a:latin typeface="+mn-lt"/>
                </a:rPr>
                <a:t>16bit</a:t>
              </a:r>
              <a:endParaRPr lang="zh-CN" altLang="en-US" sz="2400" b="1">
                <a:solidFill>
                  <a:srgbClr val="0432FF"/>
                </a:solidFill>
                <a:latin typeface="+mn-lt"/>
              </a:endParaRPr>
            </a:p>
          </p:txBody>
        </p:sp>
      </p:grpSp>
      <p:sp>
        <p:nvSpPr>
          <p:cNvPr id="2" name="Title 4">
            <a:extLst>
              <a:ext uri="{FF2B5EF4-FFF2-40B4-BE49-F238E27FC236}">
                <a16:creationId xmlns:a16="http://schemas.microsoft.com/office/drawing/2014/main" id="{A32478CC-FED8-856F-DAF0-8706C08EED16}"/>
              </a:ext>
            </a:extLst>
          </p:cNvPr>
          <p:cNvSpPr txBox="1">
            <a:spLocks/>
          </p:cNvSpPr>
          <p:nvPr/>
        </p:nvSpPr>
        <p:spPr bwMode="auto">
          <a:xfrm>
            <a:off x="457200" y="136800"/>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kumimoji="1" lang="zh-CN" altLang="en-US" dirty="0"/>
              <a:t>指令集设计：分支指令</a:t>
            </a:r>
            <a:endParaRPr lang="en-CN" kern="0" dirty="0"/>
          </a:p>
        </p:txBody>
      </p:sp>
    </p:spTree>
    <p:extLst>
      <p:ext uri="{BB962C8B-B14F-4D97-AF65-F5344CB8AC3E}">
        <p14:creationId xmlns:p14="http://schemas.microsoft.com/office/powerpoint/2010/main" val="20330213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6">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a:extLst>
              <a:ext uri="{FF2B5EF4-FFF2-40B4-BE49-F238E27FC236}">
                <a16:creationId xmlns:a16="http://schemas.microsoft.com/office/drawing/2014/main" id="{68F7FF1C-DC59-5F43-A383-991D51B72C86}"/>
              </a:ext>
            </a:extLst>
          </p:cNvPr>
          <p:cNvSpPr>
            <a:spLocks noGrp="1"/>
          </p:cNvSpPr>
          <p:nvPr>
            <p:ph type="sldNum" sz="quarter" idx="12"/>
          </p:nvPr>
        </p:nvSpPr>
        <p:spPr/>
        <p:txBody>
          <a:bodyPr/>
          <a:lstStyle/>
          <a:p>
            <a:fld id="{14659731-6BD7-46E7-8D3C-2F3AC07E20B1}" type="slidenum">
              <a:rPr lang="en-US" altLang="zh-CN" smtClean="0"/>
              <a:pPr/>
              <a:t>21</a:t>
            </a:fld>
            <a:endParaRPr lang="en-US" altLang="zh-CN"/>
          </a:p>
        </p:txBody>
      </p:sp>
      <p:sp>
        <p:nvSpPr>
          <p:cNvPr id="36" name="Rectangle 3">
            <a:extLst>
              <a:ext uri="{FF2B5EF4-FFF2-40B4-BE49-F238E27FC236}">
                <a16:creationId xmlns:a16="http://schemas.microsoft.com/office/drawing/2014/main" id="{1AF4C294-9B96-4AC7-A8CA-FB8884B6204B}"/>
              </a:ext>
            </a:extLst>
          </p:cNvPr>
          <p:cNvSpPr>
            <a:spLocks noGrp="1" noChangeArrowheads="1"/>
          </p:cNvSpPr>
          <p:nvPr>
            <p:ph idx="4294967295"/>
          </p:nvPr>
        </p:nvSpPr>
        <p:spPr>
          <a:xfrm>
            <a:off x="457200" y="1389809"/>
            <a:ext cx="8130744" cy="4351338"/>
          </a:xfrm>
        </p:spPr>
        <p:txBody>
          <a:bodyPr>
            <a:normAutofit/>
          </a:bodyPr>
          <a:lstStyle/>
          <a:p>
            <a:r>
              <a:rPr lang="en-US" altLang="zh-CN" sz="2800" i="1" kern="1200" dirty="0" err="1">
                <a:solidFill>
                  <a:schemeClr val="dk1"/>
                </a:solidFill>
                <a:latin typeface="Consolas" panose="020B0609020204030204" pitchFamily="49" charset="0"/>
                <a:ea typeface="+mn-ea"/>
                <a:cs typeface="Arial" panose="020B0604020202020204" pitchFamily="34" charset="0"/>
              </a:rPr>
              <a:t>beq</a:t>
            </a:r>
            <a:r>
              <a:rPr lang="en-US" altLang="zh-CN" sz="2800" i="1" kern="1200" dirty="0">
                <a:solidFill>
                  <a:schemeClr val="dk1"/>
                </a:solidFill>
                <a:latin typeface="Consolas" panose="020B0609020204030204" pitchFamily="49" charset="0"/>
                <a:ea typeface="+mn-ea"/>
                <a:cs typeface="Arial" panose="020B0604020202020204" pitchFamily="34" charset="0"/>
              </a:rPr>
              <a:t> a0, a1, label</a:t>
            </a:r>
          </a:p>
          <a:p>
            <a:r>
              <a:rPr lang="zh-CN" altLang="en-US" sz="2400" dirty="0">
                <a:solidFill>
                  <a:srgbClr val="0432FF"/>
                </a:solidFill>
              </a:rPr>
              <a:t>问题</a:t>
            </a:r>
            <a:r>
              <a:rPr lang="en-US" altLang="zh-CN" sz="2400" dirty="0">
                <a:solidFill>
                  <a:srgbClr val="0432FF"/>
                </a:solidFill>
              </a:rPr>
              <a:t>2</a:t>
            </a:r>
            <a:r>
              <a:rPr lang="zh-CN" altLang="en-US" sz="2400" dirty="0"/>
              <a:t>：分支可能的地址范围有</a:t>
            </a:r>
            <a:r>
              <a:rPr lang="en-US" altLang="zh-CN" sz="2400" dirty="0"/>
              <a:t>32</a:t>
            </a:r>
            <a:r>
              <a:rPr lang="zh-CN" altLang="en-US" sz="2400" dirty="0"/>
              <a:t>位（</a:t>
            </a:r>
            <a:r>
              <a:rPr lang="en-US" altLang="zh-CN" sz="2400" dirty="0"/>
              <a:t>2</a:t>
            </a:r>
            <a:r>
              <a:rPr lang="en-US" altLang="zh-CN" sz="2400" baseline="30000" dirty="0"/>
              <a:t>30</a:t>
            </a:r>
            <a:r>
              <a:rPr lang="zh-CN" altLang="en-US" sz="2400" dirty="0"/>
              <a:t>指令地址），如何用</a:t>
            </a:r>
            <a:r>
              <a:rPr lang="en-US" altLang="zh-CN" sz="2400" dirty="0"/>
              <a:t>16bit</a:t>
            </a:r>
            <a:r>
              <a:rPr lang="zh-CN" altLang="en-US" sz="2400" dirty="0"/>
              <a:t>表示？</a:t>
            </a:r>
            <a:endParaRPr lang="en-US" altLang="zh-CN" sz="2400" dirty="0"/>
          </a:p>
          <a:p>
            <a:r>
              <a:rPr lang="zh-CN" altLang="en-US" sz="2400" b="1" dirty="0"/>
              <a:t>观察</a:t>
            </a:r>
            <a:r>
              <a:rPr lang="en-US" altLang="zh-CN" sz="2400" b="1" dirty="0"/>
              <a:t>1</a:t>
            </a:r>
            <a:r>
              <a:rPr lang="zh-CN" altLang="en-US" sz="2400" b="1" dirty="0"/>
              <a:t>：分支指令大多用于条件、循环等指令</a:t>
            </a:r>
            <a:endParaRPr lang="en-US" altLang="zh-CN" sz="2400" b="1" dirty="0"/>
          </a:p>
          <a:p>
            <a:pPr lvl="1"/>
            <a:r>
              <a:rPr lang="zh-CN" altLang="en-US" sz="2400" b="1" dirty="0"/>
              <a:t>目标地址往往接近当前地址</a:t>
            </a:r>
            <a:endParaRPr lang="en-US" altLang="zh-CN" sz="2400" b="1" dirty="0"/>
          </a:p>
          <a:p>
            <a:pPr lvl="1"/>
            <a:r>
              <a:rPr lang="zh-CN" altLang="en-US" sz="2400" b="1" dirty="0">
                <a:solidFill>
                  <a:srgbClr val="0432FF"/>
                </a:solidFill>
              </a:rPr>
              <a:t>目标地址</a:t>
            </a:r>
            <a:r>
              <a:rPr lang="en-US" altLang="zh-CN" sz="2400" b="1" dirty="0">
                <a:solidFill>
                  <a:srgbClr val="0432FF"/>
                </a:solidFill>
              </a:rPr>
              <a:t> = </a:t>
            </a:r>
            <a:r>
              <a:rPr lang="zh-CN" altLang="en-US" sz="2400" b="1" dirty="0">
                <a:solidFill>
                  <a:srgbClr val="0432FF"/>
                </a:solidFill>
              </a:rPr>
              <a:t>当前地址</a:t>
            </a:r>
            <a:r>
              <a:rPr lang="en-US" altLang="zh-CN" sz="2400" b="1" dirty="0">
                <a:solidFill>
                  <a:srgbClr val="0432FF"/>
                </a:solidFill>
              </a:rPr>
              <a:t> + </a:t>
            </a:r>
            <a:r>
              <a:rPr lang="zh-CN" altLang="en-US" sz="2400" b="1" dirty="0">
                <a:solidFill>
                  <a:srgbClr val="0432FF"/>
                </a:solidFill>
              </a:rPr>
              <a:t>偏移地址</a:t>
            </a:r>
            <a:endParaRPr lang="en-US" altLang="zh-CN" sz="2400" b="1" dirty="0">
              <a:solidFill>
                <a:srgbClr val="0432FF"/>
              </a:solidFill>
            </a:endParaRPr>
          </a:p>
          <a:p>
            <a:endParaRPr lang="en-US" altLang="zh-CN" sz="2400" dirty="0"/>
          </a:p>
          <a:p>
            <a:endParaRPr lang="en-US" altLang="zh-CN" sz="2400" dirty="0"/>
          </a:p>
        </p:txBody>
      </p:sp>
      <p:pic>
        <p:nvPicPr>
          <p:cNvPr id="7" name="Picture 6">
            <a:extLst>
              <a:ext uri="{FF2B5EF4-FFF2-40B4-BE49-F238E27FC236}">
                <a16:creationId xmlns:a16="http://schemas.microsoft.com/office/drawing/2014/main" id="{5E9FB498-968E-466B-9625-A8346C056FE0}"/>
              </a:ext>
            </a:extLst>
          </p:cNvPr>
          <p:cNvPicPr>
            <a:picLocks noChangeAspect="1"/>
          </p:cNvPicPr>
          <p:nvPr/>
        </p:nvPicPr>
        <p:blipFill>
          <a:blip r:embed="rId3"/>
          <a:stretch>
            <a:fillRect/>
          </a:stretch>
        </p:blipFill>
        <p:spPr>
          <a:xfrm>
            <a:off x="1239466" y="4079883"/>
            <a:ext cx="5444363" cy="2778117"/>
          </a:xfrm>
          <a:prstGeom prst="rect">
            <a:avLst/>
          </a:prstGeom>
        </p:spPr>
      </p:pic>
      <p:sp>
        <p:nvSpPr>
          <p:cNvPr id="2" name="Title 4">
            <a:extLst>
              <a:ext uri="{FF2B5EF4-FFF2-40B4-BE49-F238E27FC236}">
                <a16:creationId xmlns:a16="http://schemas.microsoft.com/office/drawing/2014/main" id="{78BFB71C-D3BC-A475-7CE5-F3D53E6A1C71}"/>
              </a:ext>
            </a:extLst>
          </p:cNvPr>
          <p:cNvSpPr txBox="1">
            <a:spLocks/>
          </p:cNvSpPr>
          <p:nvPr/>
        </p:nvSpPr>
        <p:spPr bwMode="auto">
          <a:xfrm>
            <a:off x="457200" y="136800"/>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kumimoji="1" lang="zh-CN" altLang="en-US" dirty="0"/>
              <a:t>指令集设计：分支指令</a:t>
            </a:r>
            <a:endParaRPr lang="en-CN" kern="0" dirty="0"/>
          </a:p>
        </p:txBody>
      </p:sp>
      <p:sp>
        <p:nvSpPr>
          <p:cNvPr id="4" name="文本框 3">
            <a:extLst>
              <a:ext uri="{FF2B5EF4-FFF2-40B4-BE49-F238E27FC236}">
                <a16:creationId xmlns:a16="http://schemas.microsoft.com/office/drawing/2014/main" id="{840D482A-381E-856E-3348-7A0A74A1D702}"/>
              </a:ext>
            </a:extLst>
          </p:cNvPr>
          <p:cNvSpPr txBox="1"/>
          <p:nvPr/>
        </p:nvSpPr>
        <p:spPr>
          <a:xfrm>
            <a:off x="6289243" y="3898117"/>
            <a:ext cx="2353704" cy="1274195"/>
          </a:xfrm>
          <a:prstGeom prst="rect">
            <a:avLst/>
          </a:prstGeom>
          <a:solidFill>
            <a:schemeClr val="bg1">
              <a:lumMod val="85000"/>
            </a:schemeClr>
          </a:solidFill>
        </p:spPr>
        <p:txBody>
          <a:bodyPr wrap="square">
            <a:spAutoFit/>
          </a:bodyPr>
          <a:lstStyle/>
          <a:p>
            <a:pPr marR="0" lvl="1" algn="l" defTabSz="914400" rtl="0" eaLnBrk="1" fontAlgn="base" latinLnBrk="0" hangingPunct="1">
              <a:lnSpc>
                <a:spcPct val="100000"/>
              </a:lnSpc>
              <a:spcBef>
                <a:spcPct val="20000"/>
              </a:spcBef>
              <a:spcAft>
                <a:spcPct val="0"/>
              </a:spcAft>
              <a:buClrTx/>
              <a:buSzTx/>
              <a:tabLst/>
              <a:defRPr/>
            </a:pPr>
            <a:r>
              <a:rPr kumimoji="0" lang="zh-CN" altLang="en-US" sz="2400" b="1" i="0" u="none" strike="noStrike" kern="0" cap="none" spc="0" normalizeH="0" baseline="0" noProof="0" dirty="0">
                <a:ln>
                  <a:noFill/>
                </a:ln>
                <a:solidFill>
                  <a:srgbClr val="000000"/>
                </a:solidFill>
                <a:effectLst/>
                <a:uLnTx/>
                <a:uFillTx/>
                <a:latin typeface="Arial" panose="020B0604020202020204"/>
                <a:ea typeface="黑体" panose="02010609060101010101" pitchFamily="49" charset="-122"/>
              </a:rPr>
              <a:t>思考：</a:t>
            </a:r>
            <a:endParaRPr kumimoji="0" lang="en-US" altLang="zh-CN" sz="2400" b="1" i="0" u="none" strike="noStrike" kern="0" cap="none" spc="0" normalizeH="0" baseline="0" noProof="0" dirty="0">
              <a:ln>
                <a:noFill/>
              </a:ln>
              <a:solidFill>
                <a:srgbClr val="000000"/>
              </a:solidFill>
              <a:effectLst/>
              <a:uLnTx/>
              <a:uFillTx/>
              <a:latin typeface="Arial" panose="020B0604020202020204"/>
              <a:ea typeface="黑体" panose="02010609060101010101" pitchFamily="49" charset="-122"/>
            </a:endParaRPr>
          </a:p>
          <a:p>
            <a:pPr marR="0" lvl="1" algn="l" defTabSz="914400" rtl="0" eaLnBrk="1" fontAlgn="base" latinLnBrk="0" hangingPunct="1">
              <a:lnSpc>
                <a:spcPct val="100000"/>
              </a:lnSpc>
              <a:spcBef>
                <a:spcPct val="20000"/>
              </a:spcBef>
              <a:spcAft>
                <a:spcPct val="0"/>
              </a:spcAft>
              <a:buClrTx/>
              <a:buSzTx/>
              <a:tabLst/>
              <a:defRPr/>
            </a:pPr>
            <a:r>
              <a:rPr kumimoji="0" lang="zh-CN" altLang="en-US" sz="2400" b="1" i="0" u="none" strike="noStrike" kern="0" cap="none" spc="0" normalizeH="0" baseline="0" noProof="0" dirty="0">
                <a:ln>
                  <a:noFill/>
                </a:ln>
                <a:solidFill>
                  <a:srgbClr val="000000"/>
                </a:solidFill>
                <a:effectLst/>
                <a:uLnTx/>
                <a:uFillTx/>
                <a:latin typeface="Arial" panose="020B0604020202020204"/>
                <a:ea typeface="黑体" panose="02010609060101010101" pitchFamily="49" charset="-122"/>
              </a:rPr>
              <a:t>偏移地址一定是正的吗？</a:t>
            </a:r>
            <a:endParaRPr kumimoji="0" lang="en-US" altLang="zh-CN" sz="2400" b="1" i="0" u="none" strike="noStrike" kern="0" cap="none" spc="0" normalizeH="0" baseline="0" noProof="0" dirty="0">
              <a:ln>
                <a:noFill/>
              </a:ln>
              <a:solidFill>
                <a:srgbClr val="000000"/>
              </a:solidFill>
              <a:effectLst/>
              <a:uLnTx/>
              <a:uFillTx/>
              <a:latin typeface="Arial" panose="020B0604020202020204"/>
              <a:ea typeface="黑体" panose="02010609060101010101" pitchFamily="49" charset="-122"/>
            </a:endParaRPr>
          </a:p>
        </p:txBody>
      </p:sp>
    </p:spTree>
    <p:extLst>
      <p:ext uri="{BB962C8B-B14F-4D97-AF65-F5344CB8AC3E}">
        <p14:creationId xmlns:p14="http://schemas.microsoft.com/office/powerpoint/2010/main" val="247757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6">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6">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angle 3">
            <a:extLst>
              <a:ext uri="{FF2B5EF4-FFF2-40B4-BE49-F238E27FC236}">
                <a16:creationId xmlns:a16="http://schemas.microsoft.com/office/drawing/2014/main" id="{1AF4C294-9B96-4AC7-A8CA-FB8884B6204B}"/>
              </a:ext>
            </a:extLst>
          </p:cNvPr>
          <p:cNvSpPr>
            <a:spLocks noGrp="1" noChangeArrowheads="1"/>
          </p:cNvSpPr>
          <p:nvPr>
            <p:ph idx="4294967295"/>
          </p:nvPr>
        </p:nvSpPr>
        <p:spPr>
          <a:xfrm>
            <a:off x="490118" y="1362515"/>
            <a:ext cx="8229600" cy="1200176"/>
          </a:xfrm>
        </p:spPr>
        <p:txBody>
          <a:bodyPr>
            <a:normAutofit/>
          </a:bodyPr>
          <a:lstStyle/>
          <a:p>
            <a:r>
              <a:rPr lang="en-US" altLang="zh-CN" sz="2800" i="1" kern="1200" dirty="0" err="1">
                <a:solidFill>
                  <a:schemeClr val="dk1"/>
                </a:solidFill>
                <a:latin typeface="Consolas" panose="020B0609020204030204" pitchFamily="49" charset="0"/>
                <a:ea typeface="+mn-ea"/>
                <a:cs typeface="Arial" panose="020B0604020202020204" pitchFamily="34" charset="0"/>
              </a:rPr>
              <a:t>beq</a:t>
            </a:r>
            <a:r>
              <a:rPr lang="en-US" altLang="zh-CN" sz="2800" i="1" kern="1200" dirty="0">
                <a:solidFill>
                  <a:schemeClr val="dk1"/>
                </a:solidFill>
                <a:latin typeface="Consolas" panose="020B0609020204030204" pitchFamily="49" charset="0"/>
                <a:ea typeface="+mn-ea"/>
                <a:cs typeface="Arial" panose="020B0604020202020204" pitchFamily="34" charset="0"/>
              </a:rPr>
              <a:t> a0, a1, label</a:t>
            </a:r>
          </a:p>
          <a:p>
            <a:r>
              <a:rPr lang="zh-CN" altLang="en-US" sz="2400" dirty="0">
                <a:solidFill>
                  <a:srgbClr val="0432FF"/>
                </a:solidFill>
              </a:rPr>
              <a:t>问题</a:t>
            </a:r>
            <a:r>
              <a:rPr lang="en-US" altLang="zh-CN" sz="2400" dirty="0">
                <a:solidFill>
                  <a:srgbClr val="0432FF"/>
                </a:solidFill>
              </a:rPr>
              <a:t>2</a:t>
            </a:r>
            <a:r>
              <a:rPr lang="zh-CN" altLang="en-US" sz="2400" dirty="0"/>
              <a:t>：分支可能的地址范围有</a:t>
            </a:r>
            <a:r>
              <a:rPr lang="en-US" altLang="zh-CN" sz="2400" dirty="0"/>
              <a:t>32</a:t>
            </a:r>
            <a:r>
              <a:rPr lang="zh-CN" altLang="en-US" sz="2400" dirty="0"/>
              <a:t>位，如何用</a:t>
            </a:r>
            <a:r>
              <a:rPr lang="en-US" altLang="zh-CN" sz="2400" dirty="0"/>
              <a:t>16bit</a:t>
            </a:r>
            <a:r>
              <a:rPr lang="zh-CN" altLang="en-US" sz="2400" dirty="0"/>
              <a:t>表示？</a:t>
            </a:r>
            <a:endParaRPr lang="en-US" altLang="zh-CN" sz="2400" dirty="0"/>
          </a:p>
        </p:txBody>
      </p:sp>
      <p:sp>
        <p:nvSpPr>
          <p:cNvPr id="9" name="矩形 8">
            <a:extLst>
              <a:ext uri="{FF2B5EF4-FFF2-40B4-BE49-F238E27FC236}">
                <a16:creationId xmlns:a16="http://schemas.microsoft.com/office/drawing/2014/main" id="{929D5D12-400D-D6CE-A5B4-2DF78D7E8D3A}"/>
              </a:ext>
            </a:extLst>
          </p:cNvPr>
          <p:cNvSpPr/>
          <p:nvPr/>
        </p:nvSpPr>
        <p:spPr>
          <a:xfrm>
            <a:off x="1226692" y="4588852"/>
            <a:ext cx="6482047" cy="1222319"/>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灯片编号占位符 3">
            <a:extLst>
              <a:ext uri="{FF2B5EF4-FFF2-40B4-BE49-F238E27FC236}">
                <a16:creationId xmlns:a16="http://schemas.microsoft.com/office/drawing/2014/main" id="{68F7FF1C-DC59-5F43-A383-991D51B72C86}"/>
              </a:ext>
            </a:extLst>
          </p:cNvPr>
          <p:cNvSpPr>
            <a:spLocks noGrp="1"/>
          </p:cNvSpPr>
          <p:nvPr>
            <p:ph type="sldNum" sz="quarter" idx="12"/>
          </p:nvPr>
        </p:nvSpPr>
        <p:spPr/>
        <p:txBody>
          <a:bodyPr/>
          <a:lstStyle/>
          <a:p>
            <a:fld id="{14659731-6BD7-46E7-8D3C-2F3AC07E20B1}" type="slidenum">
              <a:rPr lang="en-US" altLang="zh-CN" smtClean="0"/>
              <a:pPr/>
              <a:t>22</a:t>
            </a:fld>
            <a:endParaRPr lang="en-US" altLang="zh-CN"/>
          </a:p>
        </p:txBody>
      </p:sp>
      <p:grpSp>
        <p:nvGrpSpPr>
          <p:cNvPr id="6" name="组合 5">
            <a:extLst>
              <a:ext uri="{FF2B5EF4-FFF2-40B4-BE49-F238E27FC236}">
                <a16:creationId xmlns:a16="http://schemas.microsoft.com/office/drawing/2014/main" id="{BCA7CC4E-7512-6D7C-BE70-6C243B995CFE}"/>
              </a:ext>
            </a:extLst>
          </p:cNvPr>
          <p:cNvGrpSpPr/>
          <p:nvPr/>
        </p:nvGrpSpPr>
        <p:grpSpPr>
          <a:xfrm>
            <a:off x="596348" y="2838376"/>
            <a:ext cx="7951304" cy="2864427"/>
            <a:chOff x="596348" y="2384063"/>
            <a:chExt cx="7951304" cy="2864427"/>
          </a:xfrm>
        </p:grpSpPr>
        <p:sp>
          <p:nvSpPr>
            <p:cNvPr id="7" name="Rectangle 6">
              <a:extLst>
                <a:ext uri="{FF2B5EF4-FFF2-40B4-BE49-F238E27FC236}">
                  <a16:creationId xmlns:a16="http://schemas.microsoft.com/office/drawing/2014/main" id="{67998F7F-8A23-4BB0-BBC6-D028800C57C1}"/>
                </a:ext>
              </a:extLst>
            </p:cNvPr>
            <p:cNvSpPr/>
            <p:nvPr/>
          </p:nvSpPr>
          <p:spPr>
            <a:xfrm>
              <a:off x="596348" y="2905516"/>
              <a:ext cx="7951304" cy="457200"/>
            </a:xfrm>
            <a:prstGeom prst="rect">
              <a:avLst/>
            </a:prstGeom>
            <a:noFill/>
          </p:spPr>
          <p:style>
            <a:lnRef idx="2">
              <a:schemeClr val="dk1"/>
            </a:lnRef>
            <a:fillRef idx="1">
              <a:schemeClr val="lt1"/>
            </a:fillRef>
            <a:effectRef idx="0">
              <a:schemeClr val="dk1"/>
            </a:effectRef>
            <a:fontRef idx="minor">
              <a:schemeClr val="dk1"/>
            </a:fontRef>
          </p:style>
          <p:txBody>
            <a:bodyPr wrap="square" rtlCol="0" anchor="ctr">
              <a:noAutofit/>
            </a:bodyPr>
            <a:lstStyle/>
            <a:p>
              <a:pPr algn="ctr"/>
              <a:endParaRPr lang="zh-CN" altLang="en-US" sz="1800" b="1">
                <a:solidFill>
                  <a:schemeClr val="tx1"/>
                </a:solidFill>
                <a:cs typeface="Arial" panose="020B0604020202020204" pitchFamily="34" charset="0"/>
              </a:endParaRPr>
            </a:p>
          </p:txBody>
        </p:sp>
        <p:cxnSp>
          <p:nvCxnSpPr>
            <p:cNvPr id="8" name="Straight Connector 7">
              <a:extLst>
                <a:ext uri="{FF2B5EF4-FFF2-40B4-BE49-F238E27FC236}">
                  <a16:creationId xmlns:a16="http://schemas.microsoft.com/office/drawing/2014/main" id="{AD43E1A4-D54B-448B-8A6B-9416280C8F7A}"/>
                </a:ext>
              </a:extLst>
            </p:cNvPr>
            <p:cNvCxnSpPr>
              <a:cxnSpLocks/>
            </p:cNvCxnSpPr>
            <p:nvPr/>
          </p:nvCxnSpPr>
          <p:spPr>
            <a:xfrm>
              <a:off x="2137102" y="2895576"/>
              <a:ext cx="0" cy="4671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8645FD81-F8DB-41A3-B3D4-EE9CBABC4CC3}"/>
                </a:ext>
              </a:extLst>
            </p:cNvPr>
            <p:cNvSpPr txBox="1"/>
            <p:nvPr/>
          </p:nvSpPr>
          <p:spPr>
            <a:xfrm>
              <a:off x="935616" y="3372656"/>
              <a:ext cx="968535" cy="400110"/>
            </a:xfrm>
            <a:prstGeom prst="rect">
              <a:avLst/>
            </a:prstGeom>
            <a:noFill/>
          </p:spPr>
          <p:txBody>
            <a:bodyPr wrap="none" rtlCol="0">
              <a:spAutoFit/>
            </a:bodyPr>
            <a:lstStyle/>
            <a:p>
              <a:pPr algn="ctr"/>
              <a:r>
                <a:rPr lang="zh-CN" altLang="en-US" sz="2000" b="1" dirty="0">
                  <a:solidFill>
                    <a:schemeClr val="tx1"/>
                  </a:solidFill>
                  <a:latin typeface="+mn-lt"/>
                  <a:ea typeface="+mj-ea"/>
                </a:rPr>
                <a:t>操作码</a:t>
              </a:r>
            </a:p>
          </p:txBody>
        </p:sp>
        <p:sp>
          <p:nvSpPr>
            <p:cNvPr id="12" name="TextBox 11">
              <a:extLst>
                <a:ext uri="{FF2B5EF4-FFF2-40B4-BE49-F238E27FC236}">
                  <a16:creationId xmlns:a16="http://schemas.microsoft.com/office/drawing/2014/main" id="{46C54D8C-EBCB-43BF-9FD5-360DF390A0D6}"/>
                </a:ext>
              </a:extLst>
            </p:cNvPr>
            <p:cNvSpPr txBox="1"/>
            <p:nvPr/>
          </p:nvSpPr>
          <p:spPr>
            <a:xfrm>
              <a:off x="1006990" y="2910485"/>
              <a:ext cx="805068" cy="461665"/>
            </a:xfrm>
            <a:prstGeom prst="rect">
              <a:avLst/>
            </a:prstGeom>
            <a:noFill/>
          </p:spPr>
          <p:txBody>
            <a:bodyPr wrap="square" rtlCol="0">
              <a:spAutoFit/>
            </a:bodyPr>
            <a:lstStyle/>
            <a:p>
              <a:pPr algn="ctr"/>
              <a:r>
                <a:rPr lang="en-US" altLang="zh-CN" sz="2400" b="1">
                  <a:solidFill>
                    <a:srgbClr val="0432FF"/>
                  </a:solidFill>
                  <a:latin typeface="+mn-lt"/>
                </a:rPr>
                <a:t>6bit</a:t>
              </a:r>
              <a:endParaRPr lang="zh-CN" altLang="en-US" sz="2400" b="1">
                <a:solidFill>
                  <a:srgbClr val="0432FF"/>
                </a:solidFill>
                <a:latin typeface="+mn-lt"/>
              </a:endParaRPr>
            </a:p>
          </p:txBody>
        </p:sp>
        <p:sp>
          <p:nvSpPr>
            <p:cNvPr id="13" name="TextBox 12">
              <a:extLst>
                <a:ext uri="{FF2B5EF4-FFF2-40B4-BE49-F238E27FC236}">
                  <a16:creationId xmlns:a16="http://schemas.microsoft.com/office/drawing/2014/main" id="{7E9482EC-581A-4234-9CDD-F64E7AE55AB7}"/>
                </a:ext>
              </a:extLst>
            </p:cNvPr>
            <p:cNvSpPr txBox="1"/>
            <p:nvPr/>
          </p:nvSpPr>
          <p:spPr>
            <a:xfrm>
              <a:off x="2229951" y="3380525"/>
              <a:ext cx="1112804" cy="400110"/>
            </a:xfrm>
            <a:prstGeom prst="rect">
              <a:avLst/>
            </a:prstGeom>
            <a:noFill/>
          </p:spPr>
          <p:txBody>
            <a:bodyPr wrap="none" rtlCol="0">
              <a:spAutoFit/>
            </a:bodyPr>
            <a:lstStyle/>
            <a:p>
              <a:pPr algn="ctr"/>
              <a:r>
                <a:rPr lang="zh-CN" altLang="en-US" sz="2000" b="1" dirty="0">
                  <a:solidFill>
                    <a:schemeClr val="tx1"/>
                  </a:solidFill>
                  <a:latin typeface="+mn-lt"/>
                  <a:ea typeface="+mj-ea"/>
                </a:rPr>
                <a:t>操作数</a:t>
              </a:r>
              <a:r>
                <a:rPr lang="en-US" altLang="zh-CN" sz="2000" b="1" dirty="0">
                  <a:solidFill>
                    <a:schemeClr val="tx1"/>
                  </a:solidFill>
                  <a:latin typeface="+mn-lt"/>
                  <a:ea typeface="+mj-ea"/>
                </a:rPr>
                <a:t>0</a:t>
              </a:r>
              <a:endParaRPr lang="zh-CN" altLang="en-US" sz="2000" b="1" dirty="0">
                <a:solidFill>
                  <a:schemeClr val="tx1"/>
                </a:solidFill>
                <a:latin typeface="+mn-lt"/>
                <a:ea typeface="+mj-ea"/>
              </a:endParaRPr>
            </a:p>
          </p:txBody>
        </p:sp>
        <p:cxnSp>
          <p:nvCxnSpPr>
            <p:cNvPr id="14" name="Straight Connector 13">
              <a:extLst>
                <a:ext uri="{FF2B5EF4-FFF2-40B4-BE49-F238E27FC236}">
                  <a16:creationId xmlns:a16="http://schemas.microsoft.com/office/drawing/2014/main" id="{F1586A97-4437-48A8-A895-4BAF591097D2}"/>
                </a:ext>
              </a:extLst>
            </p:cNvPr>
            <p:cNvCxnSpPr>
              <a:cxnSpLocks/>
            </p:cNvCxnSpPr>
            <p:nvPr/>
          </p:nvCxnSpPr>
          <p:spPr>
            <a:xfrm>
              <a:off x="3388052" y="2895576"/>
              <a:ext cx="0" cy="4671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39D952E-5CAF-42C7-92C8-2BEE8B945BE0}"/>
                </a:ext>
              </a:extLst>
            </p:cNvPr>
            <p:cNvCxnSpPr>
              <a:cxnSpLocks/>
            </p:cNvCxnSpPr>
            <p:nvPr/>
          </p:nvCxnSpPr>
          <p:spPr>
            <a:xfrm>
              <a:off x="4651702" y="2895576"/>
              <a:ext cx="0" cy="4671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0B5F686B-2653-49A1-8352-740BEBC7914F}"/>
                </a:ext>
              </a:extLst>
            </p:cNvPr>
            <p:cNvSpPr txBox="1"/>
            <p:nvPr/>
          </p:nvSpPr>
          <p:spPr>
            <a:xfrm>
              <a:off x="2319225" y="2918860"/>
              <a:ext cx="805068" cy="461665"/>
            </a:xfrm>
            <a:prstGeom prst="rect">
              <a:avLst/>
            </a:prstGeom>
            <a:noFill/>
          </p:spPr>
          <p:txBody>
            <a:bodyPr wrap="square" rtlCol="0">
              <a:spAutoFit/>
            </a:bodyPr>
            <a:lstStyle/>
            <a:p>
              <a:pPr algn="ctr"/>
              <a:r>
                <a:rPr lang="en-US" altLang="zh-CN" sz="2400" b="1">
                  <a:solidFill>
                    <a:srgbClr val="0432FF"/>
                  </a:solidFill>
                  <a:latin typeface="+mn-lt"/>
                </a:rPr>
                <a:t>5bit</a:t>
              </a:r>
              <a:endParaRPr lang="zh-CN" altLang="en-US" sz="2400" b="1">
                <a:solidFill>
                  <a:srgbClr val="0432FF"/>
                </a:solidFill>
                <a:latin typeface="+mn-lt"/>
              </a:endParaRPr>
            </a:p>
          </p:txBody>
        </p:sp>
        <p:sp>
          <p:nvSpPr>
            <p:cNvPr id="17" name="TextBox 16">
              <a:extLst>
                <a:ext uri="{FF2B5EF4-FFF2-40B4-BE49-F238E27FC236}">
                  <a16:creationId xmlns:a16="http://schemas.microsoft.com/office/drawing/2014/main" id="{590EA0E7-EB4A-43F8-8ADF-1C6A1EBFC870}"/>
                </a:ext>
              </a:extLst>
            </p:cNvPr>
            <p:cNvSpPr txBox="1"/>
            <p:nvPr/>
          </p:nvSpPr>
          <p:spPr>
            <a:xfrm>
              <a:off x="3578591" y="2918860"/>
              <a:ext cx="805068" cy="461665"/>
            </a:xfrm>
            <a:prstGeom prst="rect">
              <a:avLst/>
            </a:prstGeom>
            <a:noFill/>
          </p:spPr>
          <p:txBody>
            <a:bodyPr wrap="square" rtlCol="0">
              <a:spAutoFit/>
            </a:bodyPr>
            <a:lstStyle/>
            <a:p>
              <a:pPr algn="ctr"/>
              <a:r>
                <a:rPr lang="en-US" altLang="zh-CN" sz="2400" b="1">
                  <a:solidFill>
                    <a:srgbClr val="0432FF"/>
                  </a:solidFill>
                  <a:latin typeface="+mn-lt"/>
                </a:rPr>
                <a:t>5bit</a:t>
              </a:r>
              <a:endParaRPr lang="zh-CN" altLang="en-US" sz="2400" b="1">
                <a:solidFill>
                  <a:srgbClr val="0432FF"/>
                </a:solidFill>
                <a:latin typeface="+mn-lt"/>
              </a:endParaRPr>
            </a:p>
          </p:txBody>
        </p:sp>
        <p:sp>
          <p:nvSpPr>
            <p:cNvPr id="18" name="TextBox 17">
              <a:extLst>
                <a:ext uri="{FF2B5EF4-FFF2-40B4-BE49-F238E27FC236}">
                  <a16:creationId xmlns:a16="http://schemas.microsoft.com/office/drawing/2014/main" id="{214AF0A1-C72D-4AAD-9182-B02A6B1274EB}"/>
                </a:ext>
              </a:extLst>
            </p:cNvPr>
            <p:cNvSpPr txBox="1"/>
            <p:nvPr/>
          </p:nvSpPr>
          <p:spPr>
            <a:xfrm>
              <a:off x="3459196" y="3371091"/>
              <a:ext cx="1112804" cy="400110"/>
            </a:xfrm>
            <a:prstGeom prst="rect">
              <a:avLst/>
            </a:prstGeom>
            <a:noFill/>
          </p:spPr>
          <p:txBody>
            <a:bodyPr wrap="none" rtlCol="0">
              <a:spAutoFit/>
            </a:bodyPr>
            <a:lstStyle/>
            <a:p>
              <a:pPr algn="ctr"/>
              <a:r>
                <a:rPr lang="zh-CN" altLang="en-US" sz="2000" b="1">
                  <a:solidFill>
                    <a:schemeClr val="tx1"/>
                  </a:solidFill>
                  <a:latin typeface="+mn-lt"/>
                  <a:ea typeface="+mj-ea"/>
                </a:rPr>
                <a:t>操作数</a:t>
              </a:r>
              <a:r>
                <a:rPr lang="en-US" altLang="zh-CN" sz="2000" b="1">
                  <a:solidFill>
                    <a:schemeClr val="tx1"/>
                  </a:solidFill>
                  <a:latin typeface="+mn-lt"/>
                  <a:ea typeface="+mj-ea"/>
                </a:rPr>
                <a:t>1</a:t>
              </a:r>
              <a:endParaRPr lang="zh-CN" altLang="en-US" sz="2000" b="1">
                <a:solidFill>
                  <a:schemeClr val="tx1"/>
                </a:solidFill>
                <a:latin typeface="+mn-lt"/>
                <a:ea typeface="+mj-ea"/>
              </a:endParaRPr>
            </a:p>
          </p:txBody>
        </p:sp>
        <p:sp>
          <p:nvSpPr>
            <p:cNvPr id="19" name="TextBox 18">
              <a:extLst>
                <a:ext uri="{FF2B5EF4-FFF2-40B4-BE49-F238E27FC236}">
                  <a16:creationId xmlns:a16="http://schemas.microsoft.com/office/drawing/2014/main" id="{52BB827F-83C4-4112-917E-24F6E6684FD3}"/>
                </a:ext>
              </a:extLst>
            </p:cNvPr>
            <p:cNvSpPr txBox="1"/>
            <p:nvPr/>
          </p:nvSpPr>
          <p:spPr>
            <a:xfrm>
              <a:off x="5163654" y="3380525"/>
              <a:ext cx="2722220" cy="400110"/>
            </a:xfrm>
            <a:prstGeom prst="rect">
              <a:avLst/>
            </a:prstGeom>
            <a:noFill/>
          </p:spPr>
          <p:txBody>
            <a:bodyPr wrap="none" rtlCol="0">
              <a:spAutoFit/>
            </a:bodyPr>
            <a:lstStyle/>
            <a:p>
              <a:pPr algn="ctr"/>
              <a:r>
                <a:rPr lang="zh-CN" altLang="en-US" sz="2000" b="1" dirty="0">
                  <a:solidFill>
                    <a:schemeClr val="tx1"/>
                  </a:solidFill>
                  <a:latin typeface="+mn-lt"/>
                  <a:ea typeface="+mj-ea"/>
                </a:rPr>
                <a:t>偏移地址 </a:t>
              </a:r>
              <a:r>
                <a:rPr lang="en-US" altLang="zh-CN" sz="2000" b="1" dirty="0">
                  <a:solidFill>
                    <a:schemeClr val="tx1"/>
                  </a:solidFill>
                  <a:latin typeface="+mn-lt"/>
                  <a:ea typeface="+mj-ea"/>
                </a:rPr>
                <a:t>Offset[15:0]</a:t>
              </a:r>
              <a:endParaRPr lang="zh-CN" altLang="en-US" sz="2000" b="1" dirty="0">
                <a:solidFill>
                  <a:schemeClr val="tx1"/>
                </a:solidFill>
                <a:latin typeface="+mn-lt"/>
                <a:ea typeface="+mj-ea"/>
              </a:endParaRPr>
            </a:p>
          </p:txBody>
        </p:sp>
        <p:sp>
          <p:nvSpPr>
            <p:cNvPr id="21" name="TextBox 20">
              <a:extLst>
                <a:ext uri="{FF2B5EF4-FFF2-40B4-BE49-F238E27FC236}">
                  <a16:creationId xmlns:a16="http://schemas.microsoft.com/office/drawing/2014/main" id="{46659C4A-7C4A-491F-8DEB-28C7386EA387}"/>
                </a:ext>
              </a:extLst>
            </p:cNvPr>
            <p:cNvSpPr txBox="1"/>
            <p:nvPr/>
          </p:nvSpPr>
          <p:spPr>
            <a:xfrm>
              <a:off x="6027156" y="2918860"/>
              <a:ext cx="1056944" cy="461665"/>
            </a:xfrm>
            <a:prstGeom prst="rect">
              <a:avLst/>
            </a:prstGeom>
            <a:noFill/>
          </p:spPr>
          <p:txBody>
            <a:bodyPr wrap="square" rtlCol="0">
              <a:spAutoFit/>
            </a:bodyPr>
            <a:lstStyle/>
            <a:p>
              <a:pPr algn="ctr"/>
              <a:r>
                <a:rPr lang="en-US" altLang="zh-CN" sz="2400" b="1" dirty="0">
                  <a:solidFill>
                    <a:srgbClr val="0432FF"/>
                  </a:solidFill>
                  <a:latin typeface="+mn-lt"/>
                </a:rPr>
                <a:t>16bit</a:t>
              </a:r>
              <a:endParaRPr lang="zh-CN" altLang="en-US" sz="2400" b="1" dirty="0">
                <a:solidFill>
                  <a:srgbClr val="0432FF"/>
                </a:solidFill>
                <a:latin typeface="+mn-lt"/>
              </a:endParaRPr>
            </a:p>
          </p:txBody>
        </p:sp>
        <p:sp>
          <p:nvSpPr>
            <p:cNvPr id="2" name="TextBox 1">
              <a:extLst>
                <a:ext uri="{FF2B5EF4-FFF2-40B4-BE49-F238E27FC236}">
                  <a16:creationId xmlns:a16="http://schemas.microsoft.com/office/drawing/2014/main" id="{C7B418F1-268E-42BD-BD94-1A489AEEA550}"/>
                </a:ext>
              </a:extLst>
            </p:cNvPr>
            <p:cNvSpPr txBox="1"/>
            <p:nvPr/>
          </p:nvSpPr>
          <p:spPr>
            <a:xfrm>
              <a:off x="1226692" y="4221626"/>
              <a:ext cx="6462025" cy="461665"/>
            </a:xfrm>
            <a:prstGeom prst="rect">
              <a:avLst/>
            </a:prstGeom>
            <a:noFill/>
          </p:spPr>
          <p:txBody>
            <a:bodyPr wrap="none" rtlCol="0">
              <a:spAutoFit/>
            </a:bodyPr>
            <a:lstStyle/>
            <a:p>
              <a:pPr algn="ctr"/>
              <a:r>
                <a:rPr lang="en-US" altLang="zh-CN" sz="2400" b="1" dirty="0" err="1">
                  <a:solidFill>
                    <a:srgbClr val="0432FF"/>
                  </a:solidFill>
                  <a:latin typeface="+mn-lt"/>
                  <a:ea typeface="+mj-ea"/>
                </a:rPr>
                <a:t>PC_target</a:t>
              </a:r>
              <a:r>
                <a:rPr lang="en-US" altLang="zh-CN" sz="2400" b="1" dirty="0">
                  <a:solidFill>
                    <a:srgbClr val="0432FF"/>
                  </a:solidFill>
                  <a:latin typeface="+mn-lt"/>
                  <a:ea typeface="+mj-ea"/>
                </a:rPr>
                <a:t> = </a:t>
              </a:r>
              <a:r>
                <a:rPr lang="en-US" altLang="zh-CN" sz="2400" b="1" dirty="0" err="1">
                  <a:solidFill>
                    <a:srgbClr val="0432FF"/>
                  </a:solidFill>
                  <a:latin typeface="+mn-lt"/>
                  <a:ea typeface="+mj-ea"/>
                </a:rPr>
                <a:t>PC_now</a:t>
              </a:r>
              <a:r>
                <a:rPr lang="en-US" altLang="zh-CN" sz="2400" b="1" dirty="0">
                  <a:solidFill>
                    <a:srgbClr val="0432FF"/>
                  </a:solidFill>
                  <a:latin typeface="+mn-lt"/>
                  <a:ea typeface="+mj-ea"/>
                </a:rPr>
                <a:t> + {Offset[15:0], </a:t>
              </a:r>
              <a:r>
                <a:rPr lang="en-US" altLang="zh-CN" sz="2400" b="1" dirty="0">
                  <a:solidFill>
                    <a:srgbClr val="7030A0"/>
                  </a:solidFill>
                  <a:latin typeface="+mn-lt"/>
                  <a:ea typeface="+mj-ea"/>
                </a:rPr>
                <a:t>2’b00</a:t>
              </a:r>
              <a:r>
                <a:rPr lang="en-US" altLang="zh-CN" sz="2400" b="1" dirty="0">
                  <a:solidFill>
                    <a:srgbClr val="0432FF"/>
                  </a:solidFill>
                  <a:latin typeface="+mn-lt"/>
                  <a:ea typeface="+mj-ea"/>
                </a:rPr>
                <a:t>}</a:t>
              </a:r>
              <a:endParaRPr lang="zh-CN" altLang="en-US" sz="2400" b="1" dirty="0">
                <a:solidFill>
                  <a:srgbClr val="0432FF"/>
                </a:solidFill>
                <a:latin typeface="+mn-lt"/>
                <a:ea typeface="+mj-ea"/>
              </a:endParaRPr>
            </a:p>
          </p:txBody>
        </p:sp>
        <p:sp>
          <p:nvSpPr>
            <p:cNvPr id="3" name="TextBox 2">
              <a:extLst>
                <a:ext uri="{FF2B5EF4-FFF2-40B4-BE49-F238E27FC236}">
                  <a16:creationId xmlns:a16="http://schemas.microsoft.com/office/drawing/2014/main" id="{777454D5-D5A8-499D-A16D-5CFB7DD3B82E}"/>
                </a:ext>
              </a:extLst>
            </p:cNvPr>
            <p:cNvSpPr txBox="1"/>
            <p:nvPr/>
          </p:nvSpPr>
          <p:spPr>
            <a:xfrm>
              <a:off x="1691300" y="4848380"/>
              <a:ext cx="5933034" cy="400110"/>
            </a:xfrm>
            <a:prstGeom prst="rect">
              <a:avLst/>
            </a:prstGeom>
            <a:noFill/>
          </p:spPr>
          <p:txBody>
            <a:bodyPr wrap="none" rtlCol="0">
              <a:spAutoFit/>
            </a:bodyPr>
            <a:lstStyle/>
            <a:p>
              <a:pPr algn="ctr"/>
              <a:r>
                <a:rPr lang="zh-CN" altLang="en-US" sz="2000" b="1" dirty="0">
                  <a:solidFill>
                    <a:schemeClr val="tx1"/>
                  </a:solidFill>
                  <a:latin typeface="+mn-lt"/>
                  <a:ea typeface="+mj-ea"/>
                </a:rPr>
                <a:t>使用当前地址作为基址，实现尽可能大的跳转范围</a:t>
              </a:r>
              <a:endParaRPr lang="en-US" altLang="zh-CN" sz="2000" b="1" dirty="0">
                <a:solidFill>
                  <a:schemeClr val="tx1"/>
                </a:solidFill>
                <a:latin typeface="+mn-lt"/>
                <a:ea typeface="+mj-ea"/>
              </a:endParaRPr>
            </a:p>
          </p:txBody>
        </p:sp>
        <p:sp>
          <p:nvSpPr>
            <p:cNvPr id="20" name="TextBox 19">
              <a:extLst>
                <a:ext uri="{FF2B5EF4-FFF2-40B4-BE49-F238E27FC236}">
                  <a16:creationId xmlns:a16="http://schemas.microsoft.com/office/drawing/2014/main" id="{793D1127-3A82-4A8B-8719-2497D1404994}"/>
                </a:ext>
              </a:extLst>
            </p:cNvPr>
            <p:cNvSpPr txBox="1"/>
            <p:nvPr/>
          </p:nvSpPr>
          <p:spPr>
            <a:xfrm>
              <a:off x="983532" y="2384063"/>
              <a:ext cx="7228261" cy="461665"/>
            </a:xfrm>
            <a:prstGeom prst="rect">
              <a:avLst/>
            </a:prstGeom>
            <a:noFill/>
          </p:spPr>
          <p:txBody>
            <a:bodyPr wrap="none" rtlCol="0">
              <a:spAutoFit/>
            </a:bodyPr>
            <a:lstStyle/>
            <a:p>
              <a:pPr algn="ctr"/>
              <a:r>
                <a:rPr lang="zh-CN" altLang="en-US" sz="2400" b="1" dirty="0">
                  <a:solidFill>
                    <a:schemeClr val="tx1"/>
                  </a:solidFill>
                  <a:latin typeface="+mn-lt"/>
                  <a:ea typeface="+mj-ea"/>
                </a:rPr>
                <a:t>可能的分支指令编码方案</a:t>
              </a:r>
              <a:r>
                <a:rPr lang="en-US" altLang="zh-CN" sz="2400" b="1" dirty="0">
                  <a:solidFill>
                    <a:srgbClr val="7030A0"/>
                  </a:solidFill>
                  <a:latin typeface="+mn-lt"/>
                  <a:ea typeface="+mj-ea"/>
                </a:rPr>
                <a:t>(</a:t>
              </a:r>
              <a:r>
                <a:rPr lang="zh-CN" altLang="en-US" sz="2400" b="1" dirty="0">
                  <a:solidFill>
                    <a:srgbClr val="7030A0"/>
                  </a:solidFill>
                  <a:latin typeface="+mn-lt"/>
                  <a:ea typeface="+mj-ea"/>
                </a:rPr>
                <a:t>假设一条指令占据</a:t>
              </a:r>
              <a:r>
                <a:rPr lang="en-US" altLang="zh-CN" sz="2400" b="1" dirty="0">
                  <a:solidFill>
                    <a:srgbClr val="7030A0"/>
                  </a:solidFill>
                  <a:latin typeface="+mn-lt"/>
                  <a:ea typeface="+mj-ea"/>
                </a:rPr>
                <a:t>32</a:t>
              </a:r>
              <a:r>
                <a:rPr lang="zh-CN" altLang="en-US" sz="2400" b="1" dirty="0">
                  <a:solidFill>
                    <a:srgbClr val="7030A0"/>
                  </a:solidFill>
                  <a:latin typeface="+mn-lt"/>
                  <a:ea typeface="+mj-ea"/>
                </a:rPr>
                <a:t>位）</a:t>
              </a:r>
            </a:p>
          </p:txBody>
        </p:sp>
      </p:grpSp>
      <p:sp>
        <p:nvSpPr>
          <p:cNvPr id="4" name="Title 4">
            <a:extLst>
              <a:ext uri="{FF2B5EF4-FFF2-40B4-BE49-F238E27FC236}">
                <a16:creationId xmlns:a16="http://schemas.microsoft.com/office/drawing/2014/main" id="{11A3D039-B435-3504-725B-BE70CE9EBA5D}"/>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kumimoji="1" lang="zh-CN" altLang="en-US" dirty="0"/>
              <a:t>指令集设计：分支指令</a:t>
            </a:r>
            <a:endParaRPr lang="en-CN" kern="0" dirty="0"/>
          </a:p>
        </p:txBody>
      </p:sp>
    </p:spTree>
    <p:extLst>
      <p:ext uri="{BB962C8B-B14F-4D97-AF65-F5344CB8AC3E}">
        <p14:creationId xmlns:p14="http://schemas.microsoft.com/office/powerpoint/2010/main" val="12051736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a:extLst>
              <a:ext uri="{FF2B5EF4-FFF2-40B4-BE49-F238E27FC236}">
                <a16:creationId xmlns:a16="http://schemas.microsoft.com/office/drawing/2014/main" id="{68F7FF1C-DC59-5F43-A383-991D51B72C86}"/>
              </a:ext>
            </a:extLst>
          </p:cNvPr>
          <p:cNvSpPr>
            <a:spLocks noGrp="1"/>
          </p:cNvSpPr>
          <p:nvPr>
            <p:ph type="sldNum" sz="quarter" idx="12"/>
          </p:nvPr>
        </p:nvSpPr>
        <p:spPr/>
        <p:txBody>
          <a:bodyPr/>
          <a:lstStyle/>
          <a:p>
            <a:fld id="{14659731-6BD7-46E7-8D3C-2F3AC07E20B1}" type="slidenum">
              <a:rPr lang="en-US" altLang="zh-CN" smtClean="0"/>
              <a:pPr/>
              <a:t>23</a:t>
            </a:fld>
            <a:endParaRPr lang="en-US" altLang="zh-CN"/>
          </a:p>
        </p:txBody>
      </p:sp>
      <p:sp>
        <p:nvSpPr>
          <p:cNvPr id="36" name="Rectangle 3">
            <a:extLst>
              <a:ext uri="{FF2B5EF4-FFF2-40B4-BE49-F238E27FC236}">
                <a16:creationId xmlns:a16="http://schemas.microsoft.com/office/drawing/2014/main" id="{1AF4C294-9B96-4AC7-A8CA-FB8884B6204B}"/>
              </a:ext>
            </a:extLst>
          </p:cNvPr>
          <p:cNvSpPr>
            <a:spLocks noGrp="1" noChangeArrowheads="1"/>
          </p:cNvSpPr>
          <p:nvPr>
            <p:ph idx="4294967295"/>
          </p:nvPr>
        </p:nvSpPr>
        <p:spPr>
          <a:xfrm>
            <a:off x="455824" y="1372573"/>
            <a:ext cx="8229600" cy="5102368"/>
          </a:xfrm>
        </p:spPr>
        <p:txBody>
          <a:bodyPr>
            <a:noAutofit/>
          </a:bodyPr>
          <a:lstStyle/>
          <a:p>
            <a:r>
              <a:rPr lang="en-US" altLang="zh-CN" sz="2800" i="1" kern="1200" dirty="0" err="1">
                <a:solidFill>
                  <a:schemeClr val="dk1"/>
                </a:solidFill>
                <a:latin typeface="Consolas" panose="020B0609020204030204" pitchFamily="49" charset="0"/>
                <a:ea typeface="+mn-ea"/>
                <a:cs typeface="Arial" panose="020B0604020202020204" pitchFamily="34" charset="0"/>
              </a:rPr>
              <a:t>beqi</a:t>
            </a:r>
            <a:r>
              <a:rPr lang="en-US" altLang="zh-CN" sz="2800" i="1" kern="1200" dirty="0">
                <a:solidFill>
                  <a:schemeClr val="dk1"/>
                </a:solidFill>
                <a:latin typeface="Consolas" panose="020B0609020204030204" pitchFamily="49" charset="0"/>
                <a:ea typeface="+mn-ea"/>
                <a:cs typeface="Arial" panose="020B0604020202020204" pitchFamily="34" charset="0"/>
              </a:rPr>
              <a:t> a0, 5, label</a:t>
            </a:r>
          </a:p>
          <a:p>
            <a:r>
              <a:rPr lang="zh-CN" altLang="en-US" sz="2400" dirty="0">
                <a:solidFill>
                  <a:srgbClr val="0432FF"/>
                </a:solidFill>
              </a:rPr>
              <a:t>问题</a:t>
            </a:r>
            <a:r>
              <a:rPr lang="en-US" altLang="zh-CN" sz="2400" dirty="0">
                <a:solidFill>
                  <a:srgbClr val="0432FF"/>
                </a:solidFill>
              </a:rPr>
              <a:t>3</a:t>
            </a:r>
            <a:r>
              <a:rPr lang="zh-CN" altLang="en-US" sz="2400" dirty="0"/>
              <a:t>：带立即数的分支指令立即数如何编码？</a:t>
            </a:r>
            <a:endParaRPr lang="en-US" altLang="zh-CN" sz="2400" dirty="0"/>
          </a:p>
          <a:p>
            <a:pPr lvl="1"/>
            <a:r>
              <a:rPr lang="zh-CN" altLang="en-US" sz="2400" dirty="0"/>
              <a:t>削减偏移地址位数？</a:t>
            </a:r>
            <a:endParaRPr lang="en-US" altLang="zh-CN" sz="2400" dirty="0"/>
          </a:p>
          <a:p>
            <a:pPr lvl="1"/>
            <a:endParaRPr lang="en-US" altLang="zh-CN" sz="1400" dirty="0"/>
          </a:p>
          <a:p>
            <a:pPr lvl="1"/>
            <a:endParaRPr lang="en-US" altLang="zh-CN" sz="1400" dirty="0"/>
          </a:p>
          <a:p>
            <a:pPr lvl="1"/>
            <a:endParaRPr lang="en-US" altLang="zh-CN" sz="1400" dirty="0"/>
          </a:p>
          <a:p>
            <a:pPr lvl="1"/>
            <a:endParaRPr lang="en-US" altLang="zh-CN" sz="1400" dirty="0"/>
          </a:p>
          <a:p>
            <a:pPr lvl="1"/>
            <a:endParaRPr lang="en-US" altLang="zh-CN" sz="1400" dirty="0"/>
          </a:p>
          <a:p>
            <a:pPr lvl="1"/>
            <a:endParaRPr lang="en-US" altLang="zh-CN" sz="1400" dirty="0"/>
          </a:p>
          <a:p>
            <a:pPr lvl="1"/>
            <a:endParaRPr lang="en-US" altLang="zh-CN" sz="1600" dirty="0"/>
          </a:p>
          <a:p>
            <a:pPr lvl="1"/>
            <a:endParaRPr lang="en-US" altLang="zh-CN" sz="1600" dirty="0"/>
          </a:p>
          <a:p>
            <a:pPr lvl="1"/>
            <a:endParaRPr lang="en-US" altLang="zh-CN" sz="1600" dirty="0"/>
          </a:p>
          <a:p>
            <a:pPr lvl="1"/>
            <a:r>
              <a:rPr lang="zh-CN" altLang="en-US" sz="2400" dirty="0"/>
              <a:t>一条指令不行，改用几条指令组合实现？</a:t>
            </a:r>
            <a:endParaRPr lang="en-US" altLang="zh-CN" sz="2400" dirty="0"/>
          </a:p>
        </p:txBody>
      </p:sp>
      <p:grpSp>
        <p:nvGrpSpPr>
          <p:cNvPr id="4" name="Group 3">
            <a:extLst>
              <a:ext uri="{FF2B5EF4-FFF2-40B4-BE49-F238E27FC236}">
                <a16:creationId xmlns:a16="http://schemas.microsoft.com/office/drawing/2014/main" id="{E79449BD-8A88-4839-9F48-F78B5D625D28}"/>
              </a:ext>
            </a:extLst>
          </p:cNvPr>
          <p:cNvGrpSpPr/>
          <p:nvPr/>
        </p:nvGrpSpPr>
        <p:grpSpPr>
          <a:xfrm>
            <a:off x="455824" y="2907355"/>
            <a:ext cx="8300788" cy="2032804"/>
            <a:chOff x="596348" y="3239728"/>
            <a:chExt cx="8300788" cy="2032804"/>
          </a:xfrm>
        </p:grpSpPr>
        <p:grpSp>
          <p:nvGrpSpPr>
            <p:cNvPr id="3" name="Group 2">
              <a:extLst>
                <a:ext uri="{FF2B5EF4-FFF2-40B4-BE49-F238E27FC236}">
                  <a16:creationId xmlns:a16="http://schemas.microsoft.com/office/drawing/2014/main" id="{4597134D-FEFD-4491-BF08-354290395A5D}"/>
                </a:ext>
              </a:extLst>
            </p:cNvPr>
            <p:cNvGrpSpPr/>
            <p:nvPr/>
          </p:nvGrpSpPr>
          <p:grpSpPr>
            <a:xfrm>
              <a:off x="596348" y="3795668"/>
              <a:ext cx="8300788" cy="1476864"/>
              <a:chOff x="596348" y="3795668"/>
              <a:chExt cx="8300788" cy="1476864"/>
            </a:xfrm>
          </p:grpSpPr>
          <p:sp>
            <p:nvSpPr>
              <p:cNvPr id="6" name="Rectangle 5">
                <a:extLst>
                  <a:ext uri="{FF2B5EF4-FFF2-40B4-BE49-F238E27FC236}">
                    <a16:creationId xmlns:a16="http://schemas.microsoft.com/office/drawing/2014/main" id="{6A49EDA8-DB6A-4573-9C1A-D655A0CCAEAF}"/>
                  </a:ext>
                </a:extLst>
              </p:cNvPr>
              <p:cNvSpPr/>
              <p:nvPr/>
            </p:nvSpPr>
            <p:spPr>
              <a:xfrm>
                <a:off x="596348" y="3805608"/>
                <a:ext cx="7951304" cy="457200"/>
              </a:xfrm>
              <a:prstGeom prst="rect">
                <a:avLst/>
              </a:prstGeom>
              <a:noFill/>
            </p:spPr>
            <p:style>
              <a:lnRef idx="2">
                <a:schemeClr val="dk1"/>
              </a:lnRef>
              <a:fillRef idx="1">
                <a:schemeClr val="lt1"/>
              </a:fillRef>
              <a:effectRef idx="0">
                <a:schemeClr val="dk1"/>
              </a:effectRef>
              <a:fontRef idx="minor">
                <a:schemeClr val="dk1"/>
              </a:fontRef>
            </p:style>
            <p:txBody>
              <a:bodyPr wrap="square" rtlCol="0" anchor="ctr">
                <a:noAutofit/>
              </a:bodyPr>
              <a:lstStyle/>
              <a:p>
                <a:pPr algn="ctr"/>
                <a:endParaRPr lang="zh-CN" altLang="en-US" sz="1800" b="1">
                  <a:solidFill>
                    <a:schemeClr val="tx1"/>
                  </a:solidFill>
                  <a:latin typeface="Arial" panose="020B0604020202020204" pitchFamily="34" charset="0"/>
                  <a:cs typeface="Arial" panose="020B0604020202020204" pitchFamily="34" charset="0"/>
                </a:endParaRPr>
              </a:p>
            </p:txBody>
          </p:sp>
          <p:cxnSp>
            <p:nvCxnSpPr>
              <p:cNvPr id="7" name="Straight Connector 6">
                <a:extLst>
                  <a:ext uri="{FF2B5EF4-FFF2-40B4-BE49-F238E27FC236}">
                    <a16:creationId xmlns:a16="http://schemas.microsoft.com/office/drawing/2014/main" id="{FCA74AC5-282A-45CA-85EB-4115092C0B3E}"/>
                  </a:ext>
                </a:extLst>
              </p:cNvPr>
              <p:cNvCxnSpPr>
                <a:cxnSpLocks/>
              </p:cNvCxnSpPr>
              <p:nvPr/>
            </p:nvCxnSpPr>
            <p:spPr>
              <a:xfrm>
                <a:off x="2022150" y="3795668"/>
                <a:ext cx="0" cy="4671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30DB8C3C-7386-4052-802A-6C795F3ABA75}"/>
                  </a:ext>
                </a:extLst>
              </p:cNvPr>
              <p:cNvSpPr txBox="1"/>
              <p:nvPr/>
            </p:nvSpPr>
            <p:spPr>
              <a:xfrm>
                <a:off x="826172" y="4272748"/>
                <a:ext cx="968535" cy="400110"/>
              </a:xfrm>
              <a:prstGeom prst="rect">
                <a:avLst/>
              </a:prstGeom>
              <a:noFill/>
            </p:spPr>
            <p:txBody>
              <a:bodyPr wrap="none" rtlCol="0">
                <a:spAutoFit/>
              </a:bodyPr>
              <a:lstStyle/>
              <a:p>
                <a:pPr algn="ctr"/>
                <a:r>
                  <a:rPr lang="zh-CN" altLang="en-US" sz="2000" b="1" dirty="0">
                    <a:solidFill>
                      <a:schemeClr val="tx1"/>
                    </a:solidFill>
                    <a:latin typeface="+mj-ea"/>
                    <a:ea typeface="+mj-ea"/>
                  </a:rPr>
                  <a:t>操作码</a:t>
                </a:r>
              </a:p>
            </p:txBody>
          </p:sp>
          <p:sp>
            <p:nvSpPr>
              <p:cNvPr id="11" name="TextBox 10">
                <a:extLst>
                  <a:ext uri="{FF2B5EF4-FFF2-40B4-BE49-F238E27FC236}">
                    <a16:creationId xmlns:a16="http://schemas.microsoft.com/office/drawing/2014/main" id="{FACE07E0-B61E-493E-A5AC-BB24F96D6B9F}"/>
                  </a:ext>
                </a:extLst>
              </p:cNvPr>
              <p:cNvSpPr txBox="1"/>
              <p:nvPr/>
            </p:nvSpPr>
            <p:spPr>
              <a:xfrm>
                <a:off x="940624" y="3810577"/>
                <a:ext cx="805068" cy="461665"/>
              </a:xfrm>
              <a:prstGeom prst="rect">
                <a:avLst/>
              </a:prstGeom>
              <a:noFill/>
            </p:spPr>
            <p:txBody>
              <a:bodyPr wrap="square" rtlCol="0">
                <a:spAutoFit/>
              </a:bodyPr>
              <a:lstStyle/>
              <a:p>
                <a:pPr algn="ctr"/>
                <a:r>
                  <a:rPr lang="en-US" altLang="zh-CN" sz="2400" b="1" dirty="0">
                    <a:solidFill>
                      <a:srgbClr val="0432FF"/>
                    </a:solidFill>
                    <a:latin typeface="+mn-lt"/>
                  </a:rPr>
                  <a:t>6bit</a:t>
                </a:r>
                <a:endParaRPr lang="zh-CN" altLang="en-US" sz="2400" b="1" dirty="0">
                  <a:solidFill>
                    <a:srgbClr val="0432FF"/>
                  </a:solidFill>
                  <a:latin typeface="+mn-lt"/>
                </a:endParaRPr>
              </a:p>
            </p:txBody>
          </p:sp>
          <p:sp>
            <p:nvSpPr>
              <p:cNvPr id="12" name="TextBox 11">
                <a:extLst>
                  <a:ext uri="{FF2B5EF4-FFF2-40B4-BE49-F238E27FC236}">
                    <a16:creationId xmlns:a16="http://schemas.microsoft.com/office/drawing/2014/main" id="{05AC6EA9-84DE-495C-A90A-1F6032C1CE1A}"/>
                  </a:ext>
                </a:extLst>
              </p:cNvPr>
              <p:cNvSpPr txBox="1"/>
              <p:nvPr/>
            </p:nvSpPr>
            <p:spPr>
              <a:xfrm>
                <a:off x="2090110" y="4280617"/>
                <a:ext cx="1112804" cy="400110"/>
              </a:xfrm>
              <a:prstGeom prst="rect">
                <a:avLst/>
              </a:prstGeom>
              <a:noFill/>
            </p:spPr>
            <p:txBody>
              <a:bodyPr wrap="none" rtlCol="0">
                <a:spAutoFit/>
              </a:bodyPr>
              <a:lstStyle/>
              <a:p>
                <a:pPr algn="ctr"/>
                <a:r>
                  <a:rPr lang="zh-CN" altLang="en-US" sz="2000" b="1" dirty="0">
                    <a:solidFill>
                      <a:schemeClr val="tx1"/>
                    </a:solidFill>
                    <a:latin typeface="+mj-ea"/>
                    <a:ea typeface="+mj-ea"/>
                  </a:rPr>
                  <a:t>操作数</a:t>
                </a:r>
                <a:r>
                  <a:rPr lang="en-US" altLang="zh-CN" sz="2000" b="1" dirty="0">
                    <a:solidFill>
                      <a:schemeClr val="tx1"/>
                    </a:solidFill>
                    <a:latin typeface="+mj-ea"/>
                    <a:ea typeface="+mj-ea"/>
                  </a:rPr>
                  <a:t>0</a:t>
                </a:r>
                <a:endParaRPr lang="zh-CN" altLang="en-US" sz="2000" b="1" dirty="0">
                  <a:solidFill>
                    <a:schemeClr val="tx1"/>
                  </a:solidFill>
                  <a:latin typeface="+mj-ea"/>
                  <a:ea typeface="+mj-ea"/>
                </a:endParaRPr>
              </a:p>
            </p:txBody>
          </p:sp>
          <p:cxnSp>
            <p:nvCxnSpPr>
              <p:cNvPr id="13" name="Straight Connector 12">
                <a:extLst>
                  <a:ext uri="{FF2B5EF4-FFF2-40B4-BE49-F238E27FC236}">
                    <a16:creationId xmlns:a16="http://schemas.microsoft.com/office/drawing/2014/main" id="{E6F5E6F8-AB77-45FF-BE5C-DCC6B3A5F6AB}"/>
                  </a:ext>
                </a:extLst>
              </p:cNvPr>
              <p:cNvCxnSpPr>
                <a:cxnSpLocks/>
              </p:cNvCxnSpPr>
              <p:nvPr/>
            </p:nvCxnSpPr>
            <p:spPr>
              <a:xfrm>
                <a:off x="3273100" y="3795668"/>
                <a:ext cx="0" cy="4671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95F14774-3EA9-4F0A-9237-2AC8FA9380A4}"/>
                  </a:ext>
                </a:extLst>
              </p:cNvPr>
              <p:cNvSpPr txBox="1"/>
              <p:nvPr/>
            </p:nvSpPr>
            <p:spPr>
              <a:xfrm>
                <a:off x="2204273" y="3818952"/>
                <a:ext cx="805068" cy="461665"/>
              </a:xfrm>
              <a:prstGeom prst="rect">
                <a:avLst/>
              </a:prstGeom>
              <a:noFill/>
            </p:spPr>
            <p:txBody>
              <a:bodyPr wrap="square" rtlCol="0">
                <a:spAutoFit/>
              </a:bodyPr>
              <a:lstStyle/>
              <a:p>
                <a:pPr algn="ctr"/>
                <a:r>
                  <a:rPr lang="en-US" altLang="zh-CN" sz="2400" b="1">
                    <a:solidFill>
                      <a:srgbClr val="0432FF"/>
                    </a:solidFill>
                    <a:latin typeface="+mn-lt"/>
                  </a:rPr>
                  <a:t>5bit</a:t>
                </a:r>
                <a:endParaRPr lang="zh-CN" altLang="en-US" sz="2400" b="1">
                  <a:solidFill>
                    <a:srgbClr val="0432FF"/>
                  </a:solidFill>
                  <a:latin typeface="+mn-lt"/>
                </a:endParaRPr>
              </a:p>
            </p:txBody>
          </p:sp>
          <p:sp>
            <p:nvSpPr>
              <p:cNvPr id="16" name="TextBox 15">
                <a:extLst>
                  <a:ext uri="{FF2B5EF4-FFF2-40B4-BE49-F238E27FC236}">
                    <a16:creationId xmlns:a16="http://schemas.microsoft.com/office/drawing/2014/main" id="{E2E1E887-BB46-4B10-A791-6DB9C492CC74}"/>
                  </a:ext>
                </a:extLst>
              </p:cNvPr>
              <p:cNvSpPr txBox="1"/>
              <p:nvPr/>
            </p:nvSpPr>
            <p:spPr>
              <a:xfrm>
                <a:off x="4317932" y="3809518"/>
                <a:ext cx="1056939" cy="461665"/>
              </a:xfrm>
              <a:prstGeom prst="rect">
                <a:avLst/>
              </a:prstGeom>
              <a:noFill/>
            </p:spPr>
            <p:txBody>
              <a:bodyPr wrap="square" rtlCol="0">
                <a:spAutoFit/>
              </a:bodyPr>
              <a:lstStyle/>
              <a:p>
                <a:pPr algn="ctr"/>
                <a:r>
                  <a:rPr lang="en-US" altLang="zh-CN" sz="2400" b="1" dirty="0">
                    <a:solidFill>
                      <a:srgbClr val="0432FF"/>
                    </a:solidFill>
                    <a:latin typeface="+mn-lt"/>
                  </a:rPr>
                  <a:t>m</a:t>
                </a:r>
                <a:r>
                  <a:rPr lang="zh-CN" altLang="en-US" sz="2400" b="1" dirty="0">
                    <a:solidFill>
                      <a:srgbClr val="0432FF"/>
                    </a:solidFill>
                    <a:latin typeface="+mn-lt"/>
                  </a:rPr>
                  <a:t> </a:t>
                </a:r>
                <a:r>
                  <a:rPr lang="en-US" altLang="zh-CN" sz="2400" b="1" dirty="0">
                    <a:solidFill>
                      <a:srgbClr val="0432FF"/>
                    </a:solidFill>
                    <a:latin typeface="+mn-lt"/>
                  </a:rPr>
                  <a:t>bit</a:t>
                </a:r>
                <a:endParaRPr lang="zh-CN" altLang="en-US" sz="2400" b="1" dirty="0">
                  <a:solidFill>
                    <a:srgbClr val="0432FF"/>
                  </a:solidFill>
                  <a:latin typeface="+mn-lt"/>
                </a:endParaRPr>
              </a:p>
            </p:txBody>
          </p:sp>
          <p:sp>
            <p:nvSpPr>
              <p:cNvPr id="17" name="TextBox 16">
                <a:extLst>
                  <a:ext uri="{FF2B5EF4-FFF2-40B4-BE49-F238E27FC236}">
                    <a16:creationId xmlns:a16="http://schemas.microsoft.com/office/drawing/2014/main" id="{97E3F5A5-C25C-46FB-9EE4-F790EDC59051}"/>
                  </a:ext>
                </a:extLst>
              </p:cNvPr>
              <p:cNvSpPr txBox="1"/>
              <p:nvPr/>
            </p:nvSpPr>
            <p:spPr>
              <a:xfrm>
                <a:off x="3676731" y="4271183"/>
                <a:ext cx="2395207" cy="400110"/>
              </a:xfrm>
              <a:prstGeom prst="rect">
                <a:avLst/>
              </a:prstGeom>
              <a:noFill/>
            </p:spPr>
            <p:txBody>
              <a:bodyPr wrap="none" rtlCol="0">
                <a:spAutoFit/>
              </a:bodyPr>
              <a:lstStyle/>
              <a:p>
                <a:pPr algn="ctr"/>
                <a:r>
                  <a:rPr lang="zh-CN" altLang="en-US" sz="2000" b="1" dirty="0">
                    <a:solidFill>
                      <a:schemeClr val="tx1"/>
                    </a:solidFill>
                    <a:latin typeface="+mj-ea"/>
                    <a:ea typeface="+mj-ea"/>
                  </a:rPr>
                  <a:t>操作数</a:t>
                </a:r>
                <a:r>
                  <a:rPr lang="en-US" altLang="zh-CN" sz="2000" b="1" dirty="0">
                    <a:solidFill>
                      <a:schemeClr val="tx1"/>
                    </a:solidFill>
                    <a:latin typeface="+mj-ea"/>
                    <a:ea typeface="+mj-ea"/>
                  </a:rPr>
                  <a:t>1</a:t>
                </a:r>
                <a:r>
                  <a:rPr lang="zh-CN" altLang="en-US" sz="2000" b="1" dirty="0">
                    <a:solidFill>
                      <a:schemeClr val="tx1"/>
                    </a:solidFill>
                    <a:latin typeface="+mj-ea"/>
                    <a:ea typeface="+mj-ea"/>
                  </a:rPr>
                  <a:t>（立即数）</a:t>
                </a:r>
              </a:p>
            </p:txBody>
          </p:sp>
          <p:sp>
            <p:nvSpPr>
              <p:cNvPr id="18" name="TextBox 17">
                <a:extLst>
                  <a:ext uri="{FF2B5EF4-FFF2-40B4-BE49-F238E27FC236}">
                    <a16:creationId xmlns:a16="http://schemas.microsoft.com/office/drawing/2014/main" id="{A4A1ADD6-79E7-4D00-BC84-D292A451D69A}"/>
                  </a:ext>
                </a:extLst>
              </p:cNvPr>
              <p:cNvSpPr txBox="1"/>
              <p:nvPr/>
            </p:nvSpPr>
            <p:spPr>
              <a:xfrm>
                <a:off x="6317584" y="4280617"/>
                <a:ext cx="2579552" cy="400110"/>
              </a:xfrm>
              <a:prstGeom prst="rect">
                <a:avLst/>
              </a:prstGeom>
              <a:noFill/>
            </p:spPr>
            <p:txBody>
              <a:bodyPr wrap="none" rtlCol="0">
                <a:spAutoFit/>
              </a:bodyPr>
              <a:lstStyle/>
              <a:p>
                <a:pPr algn="ctr"/>
                <a:r>
                  <a:rPr lang="zh-CN" altLang="en-US" sz="2000" b="1" dirty="0">
                    <a:solidFill>
                      <a:schemeClr val="tx1"/>
                    </a:solidFill>
                    <a:latin typeface="+mn-lt"/>
                    <a:ea typeface="+mj-ea"/>
                  </a:rPr>
                  <a:t>偏移地址 </a:t>
                </a:r>
                <a:r>
                  <a:rPr lang="en-US" altLang="zh-CN" sz="2000" b="1" dirty="0">
                    <a:solidFill>
                      <a:schemeClr val="tx1"/>
                    </a:solidFill>
                    <a:latin typeface="+mn-lt"/>
                    <a:ea typeface="+mj-ea"/>
                  </a:rPr>
                  <a:t>Offset[7:0]</a:t>
                </a:r>
                <a:endParaRPr lang="zh-CN" altLang="en-US" sz="2000" b="1" dirty="0">
                  <a:solidFill>
                    <a:schemeClr val="tx1"/>
                  </a:solidFill>
                  <a:latin typeface="+mn-lt"/>
                  <a:ea typeface="+mj-ea"/>
                </a:endParaRPr>
              </a:p>
            </p:txBody>
          </p:sp>
          <p:cxnSp>
            <p:nvCxnSpPr>
              <p:cNvPr id="20" name="Straight Connector 19">
                <a:extLst>
                  <a:ext uri="{FF2B5EF4-FFF2-40B4-BE49-F238E27FC236}">
                    <a16:creationId xmlns:a16="http://schemas.microsoft.com/office/drawing/2014/main" id="{1FA8385C-9D3C-43EA-B78D-3C08184042E9}"/>
                  </a:ext>
                </a:extLst>
              </p:cNvPr>
              <p:cNvCxnSpPr>
                <a:cxnSpLocks/>
              </p:cNvCxnSpPr>
              <p:nvPr/>
            </p:nvCxnSpPr>
            <p:spPr>
              <a:xfrm>
                <a:off x="6503115" y="3805608"/>
                <a:ext cx="0" cy="4671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8FAED850-A95E-4D9F-80DD-5536731F004F}"/>
                  </a:ext>
                </a:extLst>
              </p:cNvPr>
              <p:cNvSpPr txBox="1"/>
              <p:nvPr/>
            </p:nvSpPr>
            <p:spPr>
              <a:xfrm>
                <a:off x="6713139" y="3818952"/>
                <a:ext cx="1771280" cy="461665"/>
              </a:xfrm>
              <a:prstGeom prst="rect">
                <a:avLst/>
              </a:prstGeom>
              <a:noFill/>
            </p:spPr>
            <p:txBody>
              <a:bodyPr wrap="square" rtlCol="0">
                <a:spAutoFit/>
              </a:bodyPr>
              <a:lstStyle/>
              <a:p>
                <a:pPr algn="ctr"/>
                <a:r>
                  <a:rPr lang="en-US" altLang="zh-CN" sz="2400" b="1" dirty="0">
                    <a:solidFill>
                      <a:srgbClr val="0432FF"/>
                    </a:solidFill>
                    <a:latin typeface="+mn-lt"/>
                  </a:rPr>
                  <a:t>(21-m) bit</a:t>
                </a:r>
                <a:endParaRPr lang="zh-CN" altLang="en-US" sz="2400" b="1" dirty="0">
                  <a:solidFill>
                    <a:srgbClr val="0432FF"/>
                  </a:solidFill>
                  <a:latin typeface="+mn-lt"/>
                </a:endParaRPr>
              </a:p>
            </p:txBody>
          </p:sp>
          <p:sp>
            <p:nvSpPr>
              <p:cNvPr id="2" name="TextBox 1">
                <a:extLst>
                  <a:ext uri="{FF2B5EF4-FFF2-40B4-BE49-F238E27FC236}">
                    <a16:creationId xmlns:a16="http://schemas.microsoft.com/office/drawing/2014/main" id="{71442116-D605-4B76-9E5E-CEBEA5356E17}"/>
                  </a:ext>
                </a:extLst>
              </p:cNvPr>
              <p:cNvSpPr txBox="1"/>
              <p:nvPr/>
            </p:nvSpPr>
            <p:spPr>
              <a:xfrm>
                <a:off x="2684309" y="4749312"/>
                <a:ext cx="3839513" cy="523220"/>
              </a:xfrm>
              <a:prstGeom prst="rect">
                <a:avLst/>
              </a:prstGeom>
              <a:noFill/>
            </p:spPr>
            <p:txBody>
              <a:bodyPr wrap="none" rtlCol="0">
                <a:spAutoFit/>
              </a:bodyPr>
              <a:lstStyle/>
              <a:p>
                <a:pPr algn="ctr"/>
                <a:r>
                  <a:rPr lang="zh-CN" altLang="en-US" sz="2800" b="1" dirty="0">
                    <a:solidFill>
                      <a:srgbClr val="0432FF"/>
                    </a:solidFill>
                    <a:latin typeface="+mj-ea"/>
                    <a:ea typeface="+mj-ea"/>
                  </a:rPr>
                  <a:t>可表示的范围仍然有限</a:t>
                </a:r>
              </a:p>
            </p:txBody>
          </p:sp>
        </p:grpSp>
        <p:sp>
          <p:nvSpPr>
            <p:cNvPr id="72" name="TextBox 71">
              <a:extLst>
                <a:ext uri="{FF2B5EF4-FFF2-40B4-BE49-F238E27FC236}">
                  <a16:creationId xmlns:a16="http://schemas.microsoft.com/office/drawing/2014/main" id="{99399BAC-2E21-42B4-9B26-3852FF18CE17}"/>
                </a:ext>
              </a:extLst>
            </p:cNvPr>
            <p:cNvSpPr txBox="1"/>
            <p:nvPr/>
          </p:nvSpPr>
          <p:spPr>
            <a:xfrm>
              <a:off x="3094673" y="3239728"/>
              <a:ext cx="3012363" cy="461665"/>
            </a:xfrm>
            <a:prstGeom prst="rect">
              <a:avLst/>
            </a:prstGeom>
            <a:noFill/>
          </p:spPr>
          <p:txBody>
            <a:bodyPr wrap="none" rtlCol="0">
              <a:spAutoFit/>
            </a:bodyPr>
            <a:lstStyle/>
            <a:p>
              <a:pPr algn="ctr"/>
              <a:r>
                <a:rPr lang="zh-CN" altLang="en-US" sz="2400" b="1" dirty="0">
                  <a:solidFill>
                    <a:schemeClr val="tx1"/>
                  </a:solidFill>
                  <a:latin typeface="+mj-ea"/>
                  <a:ea typeface="+mj-ea"/>
                </a:rPr>
                <a:t>一种可能的编码方案</a:t>
              </a:r>
            </a:p>
          </p:txBody>
        </p:sp>
      </p:grpSp>
      <p:sp>
        <p:nvSpPr>
          <p:cNvPr id="8" name="Title 4">
            <a:extLst>
              <a:ext uri="{FF2B5EF4-FFF2-40B4-BE49-F238E27FC236}">
                <a16:creationId xmlns:a16="http://schemas.microsoft.com/office/drawing/2014/main" id="{7B15E792-18F5-7A55-F140-29F24527DBB8}"/>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kumimoji="1" lang="zh-CN" altLang="en-US" dirty="0"/>
              <a:t>指令集设计：分支指令</a:t>
            </a:r>
            <a:endParaRPr lang="en-CN" kern="0" dirty="0"/>
          </a:p>
        </p:txBody>
      </p:sp>
    </p:spTree>
    <p:extLst>
      <p:ext uri="{BB962C8B-B14F-4D97-AF65-F5344CB8AC3E}">
        <p14:creationId xmlns:p14="http://schemas.microsoft.com/office/powerpoint/2010/main" val="1207786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a:extLst>
              <a:ext uri="{FF2B5EF4-FFF2-40B4-BE49-F238E27FC236}">
                <a16:creationId xmlns:a16="http://schemas.microsoft.com/office/drawing/2014/main" id="{68F7FF1C-DC59-5F43-A383-991D51B72C86}"/>
              </a:ext>
            </a:extLst>
          </p:cNvPr>
          <p:cNvSpPr>
            <a:spLocks noGrp="1"/>
          </p:cNvSpPr>
          <p:nvPr>
            <p:ph type="sldNum" sz="quarter" idx="12"/>
          </p:nvPr>
        </p:nvSpPr>
        <p:spPr/>
        <p:txBody>
          <a:bodyPr/>
          <a:lstStyle/>
          <a:p>
            <a:fld id="{14659731-6BD7-46E7-8D3C-2F3AC07E20B1}" type="slidenum">
              <a:rPr lang="en-US" altLang="zh-CN" smtClean="0"/>
              <a:pPr/>
              <a:t>24</a:t>
            </a:fld>
            <a:endParaRPr lang="en-US" altLang="zh-CN"/>
          </a:p>
        </p:txBody>
      </p:sp>
      <p:sp>
        <p:nvSpPr>
          <p:cNvPr id="15" name="Rectangle 3">
            <a:extLst>
              <a:ext uri="{FF2B5EF4-FFF2-40B4-BE49-F238E27FC236}">
                <a16:creationId xmlns:a16="http://schemas.microsoft.com/office/drawing/2014/main" id="{0FAD6986-5F69-47E2-8A72-09C890359B3B}"/>
              </a:ext>
            </a:extLst>
          </p:cNvPr>
          <p:cNvSpPr>
            <a:spLocks noGrp="1" noChangeArrowheads="1"/>
          </p:cNvSpPr>
          <p:nvPr>
            <p:ph idx="4294967295"/>
          </p:nvPr>
        </p:nvSpPr>
        <p:spPr>
          <a:xfrm>
            <a:off x="404549" y="3768532"/>
            <a:ext cx="8229600" cy="3045206"/>
          </a:xfrm>
        </p:spPr>
        <p:txBody>
          <a:bodyPr>
            <a:normAutofit/>
          </a:bodyPr>
          <a:lstStyle/>
          <a:p>
            <a:pPr>
              <a:lnSpc>
                <a:spcPct val="150000"/>
              </a:lnSpc>
            </a:pPr>
            <a:endParaRPr lang="en-US" altLang="zh-CN" sz="2200" dirty="0">
              <a:solidFill>
                <a:srgbClr val="0432FF"/>
              </a:solidFill>
            </a:endParaRPr>
          </a:p>
          <a:p>
            <a:pPr>
              <a:lnSpc>
                <a:spcPct val="150000"/>
              </a:lnSpc>
            </a:pPr>
            <a:endParaRPr lang="en-US" altLang="zh-CN" sz="2200" dirty="0">
              <a:solidFill>
                <a:srgbClr val="0432FF"/>
              </a:solidFill>
            </a:endParaRPr>
          </a:p>
          <a:p>
            <a:r>
              <a:rPr lang="zh-CN" altLang="en-US" sz="2400" dirty="0">
                <a:solidFill>
                  <a:srgbClr val="0432FF"/>
                </a:solidFill>
              </a:rPr>
              <a:t>问题</a:t>
            </a:r>
            <a:r>
              <a:rPr lang="en-US" altLang="zh-CN" sz="2400" dirty="0">
                <a:solidFill>
                  <a:srgbClr val="0432FF"/>
                </a:solidFill>
              </a:rPr>
              <a:t>4</a:t>
            </a:r>
            <a:r>
              <a:rPr lang="zh-CN" altLang="en-US" sz="2400" dirty="0"/>
              <a:t>：可能的访存地址有</a:t>
            </a:r>
            <a:r>
              <a:rPr lang="en-US" altLang="zh-CN" sz="2400" dirty="0"/>
              <a:t>32</a:t>
            </a:r>
            <a:r>
              <a:rPr lang="zh-CN" altLang="en-US" sz="2400" dirty="0"/>
              <a:t>位，如何用</a:t>
            </a:r>
            <a:r>
              <a:rPr lang="en-US" altLang="zh-CN" sz="2400" dirty="0"/>
              <a:t>21bit</a:t>
            </a:r>
            <a:r>
              <a:rPr lang="zh-CN" altLang="en-US" sz="2400" dirty="0"/>
              <a:t>表示？</a:t>
            </a:r>
            <a:endParaRPr lang="en-US" altLang="zh-CN" sz="2400" dirty="0"/>
          </a:p>
          <a:p>
            <a:pPr lvl="1"/>
            <a:r>
              <a:rPr lang="zh-CN" altLang="en-US" sz="2400" dirty="0"/>
              <a:t>基址</a:t>
            </a:r>
            <a:r>
              <a:rPr lang="en-US" altLang="zh-CN" sz="2400" dirty="0"/>
              <a:t>+</a:t>
            </a:r>
            <a:r>
              <a:rPr lang="zh-CN" altLang="en-US" sz="2400" dirty="0"/>
              <a:t>偏移地址？</a:t>
            </a:r>
            <a:endParaRPr lang="en-US" altLang="zh-CN" sz="2400" dirty="0"/>
          </a:p>
          <a:p>
            <a:pPr lvl="1"/>
            <a:r>
              <a:rPr lang="zh-CN" altLang="en-US" sz="2400" dirty="0"/>
              <a:t>寄存器存储？</a:t>
            </a:r>
            <a:endParaRPr lang="en-US" altLang="zh-CN" sz="2400" dirty="0"/>
          </a:p>
        </p:txBody>
      </p:sp>
      <p:graphicFrame>
        <p:nvGraphicFramePr>
          <p:cNvPr id="2" name="Table 1">
            <a:extLst>
              <a:ext uri="{FF2B5EF4-FFF2-40B4-BE49-F238E27FC236}">
                <a16:creationId xmlns:a16="http://schemas.microsoft.com/office/drawing/2014/main" id="{F7FE0E8D-971B-441F-91B3-0520B52D0252}"/>
              </a:ext>
            </a:extLst>
          </p:cNvPr>
          <p:cNvGraphicFramePr>
            <a:graphicFrameLocks noGrp="1"/>
          </p:cNvGraphicFramePr>
          <p:nvPr>
            <p:extLst>
              <p:ext uri="{D42A27DB-BD31-4B8C-83A1-F6EECF244321}">
                <p14:modId xmlns:p14="http://schemas.microsoft.com/office/powerpoint/2010/main" val="3338603160"/>
              </p:ext>
            </p:extLst>
          </p:nvPr>
        </p:nvGraphicFramePr>
        <p:xfrm>
          <a:off x="457200" y="1386881"/>
          <a:ext cx="8164286" cy="1324533"/>
        </p:xfrm>
        <a:graphic>
          <a:graphicData uri="http://schemas.openxmlformats.org/drawingml/2006/table">
            <a:tbl>
              <a:tblPr firstRow="1" bandRow="1">
                <a:tableStyleId>{073A0DAA-6AF3-43AB-8588-CEC1D06C72B9}</a:tableStyleId>
              </a:tblPr>
              <a:tblGrid>
                <a:gridCol w="1813243">
                  <a:extLst>
                    <a:ext uri="{9D8B030D-6E8A-4147-A177-3AD203B41FA5}">
                      <a16:colId xmlns:a16="http://schemas.microsoft.com/office/drawing/2014/main" val="969078023"/>
                    </a:ext>
                  </a:extLst>
                </a:gridCol>
                <a:gridCol w="2312443">
                  <a:extLst>
                    <a:ext uri="{9D8B030D-6E8A-4147-A177-3AD203B41FA5}">
                      <a16:colId xmlns:a16="http://schemas.microsoft.com/office/drawing/2014/main" val="4196947202"/>
                    </a:ext>
                  </a:extLst>
                </a:gridCol>
                <a:gridCol w="1615350">
                  <a:extLst>
                    <a:ext uri="{9D8B030D-6E8A-4147-A177-3AD203B41FA5}">
                      <a16:colId xmlns:a16="http://schemas.microsoft.com/office/drawing/2014/main" val="2936211889"/>
                    </a:ext>
                  </a:extLst>
                </a:gridCol>
                <a:gridCol w="2423250">
                  <a:extLst>
                    <a:ext uri="{9D8B030D-6E8A-4147-A177-3AD203B41FA5}">
                      <a16:colId xmlns:a16="http://schemas.microsoft.com/office/drawing/2014/main" val="2985695017"/>
                    </a:ext>
                  </a:extLst>
                </a:gridCol>
              </a:tblGrid>
              <a:tr h="429196">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zh-CN" altLang="en-US" sz="1800" dirty="0">
                          <a:solidFill>
                            <a:schemeClr val="tx1"/>
                          </a:solidFill>
                          <a:latin typeface="Consolas" panose="020B0609020204030204" pitchFamily="49" charset="0"/>
                          <a:ea typeface="+mn-ea"/>
                          <a:cs typeface="Consolas" panose="020B0609020204030204" pitchFamily="49" charset="0"/>
                        </a:rPr>
                        <a:t>指令</a:t>
                      </a:r>
                    </a:p>
                  </a:txBody>
                  <a:tcPr anchor="ctr">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ctr"/>
                      <a:r>
                        <a:rPr lang="zh-CN" altLang="en-US" sz="1800" dirty="0">
                          <a:solidFill>
                            <a:schemeClr val="tx1"/>
                          </a:solidFill>
                          <a:latin typeface="Consolas" panose="020B0609020204030204" pitchFamily="49" charset="0"/>
                          <a:ea typeface="+mn-ea"/>
                          <a:cs typeface="Consolas" panose="020B0609020204030204" pitchFamily="49" charset="0"/>
                        </a:rPr>
                        <a:t>功能</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zh-CN" altLang="en-US" sz="1800" dirty="0">
                          <a:solidFill>
                            <a:schemeClr val="tx1"/>
                          </a:solidFill>
                          <a:latin typeface="Consolas" panose="020B0609020204030204" pitchFamily="49" charset="0"/>
                          <a:ea typeface="+mn-ea"/>
                          <a:cs typeface="Consolas" panose="020B0609020204030204" pitchFamily="49" charset="0"/>
                        </a:rPr>
                        <a:t>指令</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ctr"/>
                      <a:r>
                        <a:rPr lang="zh-CN" altLang="en-US" sz="1800" dirty="0">
                          <a:solidFill>
                            <a:schemeClr val="tx1"/>
                          </a:solidFill>
                          <a:latin typeface="Consolas" panose="020B0609020204030204" pitchFamily="49" charset="0"/>
                          <a:ea typeface="+mn-ea"/>
                          <a:cs typeface="Consolas" panose="020B0609020204030204" pitchFamily="49" charset="0"/>
                        </a:rPr>
                        <a:t>功能</a:t>
                      </a:r>
                    </a:p>
                  </a:txBody>
                  <a:tcPr anchor="ctr">
                    <a:lnL w="1270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extLst>
                  <a:ext uri="{0D108BD9-81ED-4DB2-BD59-A6C34878D82A}">
                    <a16:rowId xmlns:a16="http://schemas.microsoft.com/office/drawing/2014/main" val="3013672736"/>
                  </a:ext>
                </a:extLst>
              </a:tr>
              <a:tr h="895337">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altLang="zh-CN" sz="1800" i="1" kern="1200" dirty="0" err="1">
                          <a:solidFill>
                            <a:schemeClr val="dk1"/>
                          </a:solidFill>
                          <a:latin typeface="Consolas" panose="020B0609020204030204" pitchFamily="49" charset="0"/>
                          <a:ea typeface="+mn-ea"/>
                          <a:cs typeface="Consolas" panose="020B0609020204030204" pitchFamily="49" charset="0"/>
                        </a:rPr>
                        <a:t>lw</a:t>
                      </a:r>
                      <a:r>
                        <a:rPr lang="en-US" altLang="zh-CN" sz="1800" i="1" kern="1200" dirty="0">
                          <a:solidFill>
                            <a:schemeClr val="dk1"/>
                          </a:solidFill>
                          <a:latin typeface="Consolas" panose="020B0609020204030204" pitchFamily="49" charset="0"/>
                          <a:ea typeface="+mn-ea"/>
                          <a:cs typeface="Consolas" panose="020B0609020204030204" pitchFamily="49" charset="0"/>
                        </a:rPr>
                        <a:t> a0, addr;</a:t>
                      </a:r>
                      <a:endParaRPr lang="zh-CN" altLang="en-US" sz="1800" i="1" kern="1200" dirty="0">
                        <a:solidFill>
                          <a:schemeClr val="dk1"/>
                        </a:solidFill>
                        <a:latin typeface="Consolas" panose="020B0609020204030204" pitchFamily="49" charset="0"/>
                        <a:ea typeface="+mn-ea"/>
                        <a:cs typeface="Consolas" panose="020B0609020204030204" pitchFamily="49" charset="0"/>
                      </a:endParaRPr>
                    </a:p>
                  </a:txBody>
                  <a:tcPr anchor="ctr">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685800" rtl="0" eaLnBrk="1" latinLnBrk="0" hangingPunct="1"/>
                      <a:r>
                        <a:rPr lang="zh-CN" altLang="en-US" sz="1800" dirty="0">
                          <a:latin typeface="Consolas" panose="020B0609020204030204" pitchFamily="49" charset="0"/>
                          <a:ea typeface="+mn-ea"/>
                          <a:cs typeface="Consolas" panose="020B0609020204030204" pitchFamily="49" charset="0"/>
                        </a:rPr>
                        <a:t>从存储器地址</a:t>
                      </a:r>
                      <a:r>
                        <a:rPr lang="en-US" altLang="zh-CN" sz="1800" i="1" kern="1200" dirty="0">
                          <a:solidFill>
                            <a:schemeClr val="dk1"/>
                          </a:solidFill>
                          <a:latin typeface="Consolas" panose="020B0609020204030204" pitchFamily="49" charset="0"/>
                          <a:ea typeface="+mn-ea"/>
                          <a:cs typeface="Consolas" panose="020B0609020204030204" pitchFamily="49" charset="0"/>
                        </a:rPr>
                        <a:t>addr</a:t>
                      </a:r>
                      <a:r>
                        <a:rPr lang="zh-CN" altLang="en-US" sz="1800" dirty="0">
                          <a:latin typeface="Consolas" panose="020B0609020204030204" pitchFamily="49" charset="0"/>
                          <a:ea typeface="+mn-ea"/>
                          <a:cs typeface="Consolas" panose="020B0609020204030204" pitchFamily="49" charset="0"/>
                        </a:rPr>
                        <a:t>取出数据赋值给变量</a:t>
                      </a:r>
                      <a:r>
                        <a:rPr lang="en-US" altLang="zh-CN" sz="1800" i="1" kern="1200" dirty="0">
                          <a:solidFill>
                            <a:schemeClr val="dk1"/>
                          </a:solidFill>
                          <a:latin typeface="Consolas" panose="020B0609020204030204" pitchFamily="49" charset="0"/>
                          <a:ea typeface="+mn-ea"/>
                          <a:cs typeface="Consolas" panose="020B0609020204030204" pitchFamily="49" charset="0"/>
                        </a:rPr>
                        <a:t>a0</a:t>
                      </a:r>
                      <a:endParaRPr lang="zh-CN" altLang="en-US" sz="1800" i="1" kern="1200" dirty="0">
                        <a:solidFill>
                          <a:schemeClr val="dk1"/>
                        </a:solidFill>
                        <a:latin typeface="Consolas" panose="020B0609020204030204" pitchFamily="49" charset="0"/>
                        <a:ea typeface="+mn-ea"/>
                        <a:cs typeface="Consolas" panose="020B0609020204030204" pitchFamily="49"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altLang="zh-CN" sz="1800" i="1" kern="1200" dirty="0" err="1">
                          <a:solidFill>
                            <a:schemeClr val="dk1"/>
                          </a:solidFill>
                          <a:latin typeface="Consolas" panose="020B0609020204030204" pitchFamily="49" charset="0"/>
                          <a:ea typeface="+mn-ea"/>
                          <a:cs typeface="Consolas" panose="020B0609020204030204" pitchFamily="49" charset="0"/>
                        </a:rPr>
                        <a:t>sw</a:t>
                      </a:r>
                      <a:r>
                        <a:rPr lang="en-US" altLang="zh-CN" sz="1800" i="1" kern="1200" dirty="0">
                          <a:solidFill>
                            <a:schemeClr val="dk1"/>
                          </a:solidFill>
                          <a:latin typeface="Consolas" panose="020B0609020204030204" pitchFamily="49" charset="0"/>
                          <a:ea typeface="+mn-ea"/>
                          <a:cs typeface="Consolas" panose="020B0609020204030204" pitchFamily="49" charset="0"/>
                        </a:rPr>
                        <a:t> a0, addr</a:t>
                      </a:r>
                      <a:r>
                        <a:rPr lang="en-US" altLang="zh-CN" sz="1800" i="1" kern="1200" noProof="0" dirty="0">
                          <a:solidFill>
                            <a:schemeClr val="dk1"/>
                          </a:solidFill>
                          <a:latin typeface="Consolas" panose="020B0609020204030204" pitchFamily="49" charset="0"/>
                          <a:ea typeface="+mn-ea"/>
                          <a:cs typeface="Consolas" panose="020B0609020204030204" pitchFamily="49" charset="0"/>
                        </a:rPr>
                        <a:t>;</a:t>
                      </a:r>
                      <a:endParaRPr lang="zh-CN" altLang="en-US" sz="1800" i="1" kern="1200" dirty="0">
                        <a:solidFill>
                          <a:schemeClr val="dk1"/>
                        </a:solidFill>
                        <a:latin typeface="Consolas" panose="020B0609020204030204" pitchFamily="49" charset="0"/>
                        <a:ea typeface="+mn-ea"/>
                        <a:cs typeface="Consolas" panose="020B0609020204030204" pitchFamily="49"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685800" rtl="0" eaLnBrk="1" latinLnBrk="0" hangingPunct="1"/>
                      <a:r>
                        <a:rPr lang="zh-CN" altLang="en-US" sz="1800" dirty="0">
                          <a:latin typeface="Consolas" panose="020B0609020204030204" pitchFamily="49" charset="0"/>
                          <a:ea typeface="+mn-ea"/>
                          <a:cs typeface="Consolas" panose="020B0609020204030204" pitchFamily="49" charset="0"/>
                        </a:rPr>
                        <a:t>将变量</a:t>
                      </a:r>
                      <a:r>
                        <a:rPr lang="en-US" altLang="zh-CN" sz="1800" i="1" kern="1200" dirty="0">
                          <a:solidFill>
                            <a:schemeClr val="dk1"/>
                          </a:solidFill>
                          <a:latin typeface="Consolas" panose="020B0609020204030204" pitchFamily="49" charset="0"/>
                          <a:ea typeface="+mn-ea"/>
                          <a:cs typeface="Consolas" panose="020B0609020204030204" pitchFamily="49" charset="0"/>
                        </a:rPr>
                        <a:t>a0</a:t>
                      </a:r>
                      <a:r>
                        <a:rPr lang="zh-CN" altLang="en-US" sz="1800" dirty="0">
                          <a:latin typeface="Consolas" panose="020B0609020204030204" pitchFamily="49" charset="0"/>
                          <a:ea typeface="+mn-ea"/>
                          <a:cs typeface="Consolas" panose="020B0609020204030204" pitchFamily="49" charset="0"/>
                        </a:rPr>
                        <a:t>的数据写入到存储器地址</a:t>
                      </a:r>
                      <a:r>
                        <a:rPr lang="en-US" altLang="zh-CN" sz="1800" i="1" kern="1200" dirty="0">
                          <a:solidFill>
                            <a:schemeClr val="dk1"/>
                          </a:solidFill>
                          <a:latin typeface="Consolas" panose="020B0609020204030204" pitchFamily="49" charset="0"/>
                          <a:ea typeface="+mn-ea"/>
                          <a:cs typeface="Consolas" panose="020B0609020204030204" pitchFamily="49" charset="0"/>
                        </a:rPr>
                        <a:t>addr</a:t>
                      </a:r>
                      <a:endParaRPr lang="zh-CN" altLang="en-US" sz="1800" i="1" kern="1200" dirty="0">
                        <a:solidFill>
                          <a:schemeClr val="dk1"/>
                        </a:solidFill>
                        <a:latin typeface="Consolas" panose="020B0609020204030204" pitchFamily="49" charset="0"/>
                        <a:ea typeface="+mn-ea"/>
                        <a:cs typeface="Consolas" panose="020B0609020204030204" pitchFamily="49" charset="0"/>
                      </a:endParaRPr>
                    </a:p>
                  </a:txBody>
                  <a:tcPr anchor="ctr">
                    <a:lnL w="1270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01048486"/>
                  </a:ext>
                </a:extLst>
              </a:tr>
            </a:tbl>
          </a:graphicData>
        </a:graphic>
      </p:graphicFrame>
      <p:sp>
        <p:nvSpPr>
          <p:cNvPr id="8" name="TextBox 7">
            <a:extLst>
              <a:ext uri="{FF2B5EF4-FFF2-40B4-BE49-F238E27FC236}">
                <a16:creationId xmlns:a16="http://schemas.microsoft.com/office/drawing/2014/main" id="{6CD23C1C-00C6-426A-A83E-7B16D75CE5F2}"/>
              </a:ext>
            </a:extLst>
          </p:cNvPr>
          <p:cNvSpPr txBox="1"/>
          <p:nvPr/>
        </p:nvSpPr>
        <p:spPr>
          <a:xfrm>
            <a:off x="2432635" y="2833206"/>
            <a:ext cx="4583306" cy="830997"/>
          </a:xfrm>
          <a:prstGeom prst="rect">
            <a:avLst/>
          </a:prstGeom>
          <a:noFill/>
        </p:spPr>
        <p:txBody>
          <a:bodyPr wrap="none" rtlCol="0">
            <a:spAutoFit/>
          </a:bodyPr>
          <a:lstStyle/>
          <a:p>
            <a:pPr algn="ctr"/>
            <a:r>
              <a:rPr lang="zh-CN" altLang="en-US" sz="2400" b="1" dirty="0">
                <a:solidFill>
                  <a:schemeClr val="tx1"/>
                </a:solidFill>
                <a:latin typeface="+mj-ea"/>
                <a:ea typeface="+mj-ea"/>
              </a:rPr>
              <a:t>访存指令编码需要包含的内容：</a:t>
            </a:r>
            <a:endParaRPr lang="en-US" altLang="zh-CN" sz="2400" b="1" dirty="0">
              <a:solidFill>
                <a:schemeClr val="tx1"/>
              </a:solidFill>
              <a:latin typeface="+mj-ea"/>
              <a:ea typeface="+mj-ea"/>
            </a:endParaRPr>
          </a:p>
          <a:p>
            <a:pPr algn="ctr"/>
            <a:r>
              <a:rPr lang="zh-CN" altLang="en-US" sz="2400" b="1" dirty="0">
                <a:solidFill>
                  <a:srgbClr val="0432FF"/>
                </a:solidFill>
                <a:latin typeface="+mj-ea"/>
                <a:ea typeface="+mj-ea"/>
              </a:rPr>
              <a:t>操作类型、寄存器、地址</a:t>
            </a:r>
          </a:p>
        </p:txBody>
      </p:sp>
      <p:grpSp>
        <p:nvGrpSpPr>
          <p:cNvPr id="3" name="Group 2">
            <a:extLst>
              <a:ext uri="{FF2B5EF4-FFF2-40B4-BE49-F238E27FC236}">
                <a16:creationId xmlns:a16="http://schemas.microsoft.com/office/drawing/2014/main" id="{F13F3CAB-A2EA-4975-84EC-FA569BCFD087}"/>
              </a:ext>
            </a:extLst>
          </p:cNvPr>
          <p:cNvGrpSpPr/>
          <p:nvPr/>
        </p:nvGrpSpPr>
        <p:grpSpPr>
          <a:xfrm>
            <a:off x="457200" y="3910046"/>
            <a:ext cx="7951304" cy="885059"/>
            <a:chOff x="596348" y="3994997"/>
            <a:chExt cx="7951304" cy="885059"/>
          </a:xfrm>
        </p:grpSpPr>
        <p:sp>
          <p:nvSpPr>
            <p:cNvPr id="6" name="Rectangle 5">
              <a:extLst>
                <a:ext uri="{FF2B5EF4-FFF2-40B4-BE49-F238E27FC236}">
                  <a16:creationId xmlns:a16="http://schemas.microsoft.com/office/drawing/2014/main" id="{32F176F0-573D-4327-AB6C-BAB2551BFA84}"/>
                </a:ext>
              </a:extLst>
            </p:cNvPr>
            <p:cNvSpPr/>
            <p:nvPr/>
          </p:nvSpPr>
          <p:spPr>
            <a:xfrm>
              <a:off x="596348" y="4004937"/>
              <a:ext cx="7951304" cy="457200"/>
            </a:xfrm>
            <a:prstGeom prst="rect">
              <a:avLst/>
            </a:prstGeom>
            <a:noFill/>
          </p:spPr>
          <p:style>
            <a:lnRef idx="2">
              <a:schemeClr val="dk1"/>
            </a:lnRef>
            <a:fillRef idx="1">
              <a:schemeClr val="lt1"/>
            </a:fillRef>
            <a:effectRef idx="0">
              <a:schemeClr val="dk1"/>
            </a:effectRef>
            <a:fontRef idx="minor">
              <a:schemeClr val="dk1"/>
            </a:fontRef>
          </p:style>
          <p:txBody>
            <a:bodyPr wrap="square" rtlCol="0" anchor="ctr">
              <a:noAutofit/>
            </a:bodyPr>
            <a:lstStyle/>
            <a:p>
              <a:pPr algn="ctr"/>
              <a:endParaRPr lang="zh-CN" altLang="en-US" sz="1800" b="1">
                <a:solidFill>
                  <a:schemeClr val="tx1"/>
                </a:solidFill>
                <a:latin typeface="Arial" panose="020B0604020202020204" pitchFamily="34" charset="0"/>
                <a:cs typeface="Arial" panose="020B0604020202020204" pitchFamily="34" charset="0"/>
              </a:endParaRPr>
            </a:p>
          </p:txBody>
        </p:sp>
        <p:cxnSp>
          <p:nvCxnSpPr>
            <p:cNvPr id="7" name="Straight Connector 6">
              <a:extLst>
                <a:ext uri="{FF2B5EF4-FFF2-40B4-BE49-F238E27FC236}">
                  <a16:creationId xmlns:a16="http://schemas.microsoft.com/office/drawing/2014/main" id="{40E7AA91-226A-41C1-9009-EAE99E8E35F3}"/>
                </a:ext>
              </a:extLst>
            </p:cNvPr>
            <p:cNvCxnSpPr>
              <a:cxnSpLocks/>
            </p:cNvCxnSpPr>
            <p:nvPr/>
          </p:nvCxnSpPr>
          <p:spPr>
            <a:xfrm>
              <a:off x="2092914" y="3994997"/>
              <a:ext cx="0" cy="4671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D73E07C-EF89-4066-9029-7BCA30C919ED}"/>
                </a:ext>
              </a:extLst>
            </p:cNvPr>
            <p:cNvSpPr txBox="1"/>
            <p:nvPr/>
          </p:nvSpPr>
          <p:spPr>
            <a:xfrm>
              <a:off x="955644" y="4472077"/>
              <a:ext cx="968535" cy="400110"/>
            </a:xfrm>
            <a:prstGeom prst="rect">
              <a:avLst/>
            </a:prstGeom>
            <a:noFill/>
          </p:spPr>
          <p:txBody>
            <a:bodyPr wrap="none" rtlCol="0">
              <a:spAutoFit/>
            </a:bodyPr>
            <a:lstStyle/>
            <a:p>
              <a:pPr algn="ctr"/>
              <a:r>
                <a:rPr lang="zh-CN" altLang="en-US" sz="2000" b="1">
                  <a:solidFill>
                    <a:schemeClr val="tx1"/>
                  </a:solidFill>
                  <a:latin typeface="+mj-ea"/>
                  <a:ea typeface="+mj-ea"/>
                </a:rPr>
                <a:t>操作码</a:t>
              </a:r>
            </a:p>
          </p:txBody>
        </p:sp>
        <p:sp>
          <p:nvSpPr>
            <p:cNvPr id="12" name="TextBox 11">
              <a:extLst>
                <a:ext uri="{FF2B5EF4-FFF2-40B4-BE49-F238E27FC236}">
                  <a16:creationId xmlns:a16="http://schemas.microsoft.com/office/drawing/2014/main" id="{5E3B309C-7A63-4A98-804C-C96827115A19}"/>
                </a:ext>
              </a:extLst>
            </p:cNvPr>
            <p:cNvSpPr txBox="1"/>
            <p:nvPr/>
          </p:nvSpPr>
          <p:spPr>
            <a:xfrm>
              <a:off x="1004489" y="4009906"/>
              <a:ext cx="805068" cy="461665"/>
            </a:xfrm>
            <a:prstGeom prst="rect">
              <a:avLst/>
            </a:prstGeom>
            <a:noFill/>
          </p:spPr>
          <p:txBody>
            <a:bodyPr wrap="square" rtlCol="0">
              <a:spAutoFit/>
            </a:bodyPr>
            <a:lstStyle/>
            <a:p>
              <a:pPr algn="ctr"/>
              <a:r>
                <a:rPr lang="en-US" altLang="zh-CN" sz="2400" b="1">
                  <a:solidFill>
                    <a:srgbClr val="0432FF"/>
                  </a:solidFill>
                  <a:latin typeface="+mn-lt"/>
                </a:rPr>
                <a:t>6bit</a:t>
              </a:r>
              <a:endParaRPr lang="zh-CN" altLang="en-US" sz="2400" b="1">
                <a:solidFill>
                  <a:srgbClr val="0432FF"/>
                </a:solidFill>
                <a:latin typeface="+mn-lt"/>
              </a:endParaRPr>
            </a:p>
          </p:txBody>
        </p:sp>
        <p:sp>
          <p:nvSpPr>
            <p:cNvPr id="13" name="TextBox 12">
              <a:extLst>
                <a:ext uri="{FF2B5EF4-FFF2-40B4-BE49-F238E27FC236}">
                  <a16:creationId xmlns:a16="http://schemas.microsoft.com/office/drawing/2014/main" id="{94376507-625E-4FCB-99AE-D2C04A026E0A}"/>
                </a:ext>
              </a:extLst>
            </p:cNvPr>
            <p:cNvSpPr txBox="1"/>
            <p:nvPr/>
          </p:nvSpPr>
          <p:spPr>
            <a:xfrm>
              <a:off x="5463323" y="4018281"/>
              <a:ext cx="1027557" cy="461665"/>
            </a:xfrm>
            <a:prstGeom prst="rect">
              <a:avLst/>
            </a:prstGeom>
            <a:noFill/>
          </p:spPr>
          <p:txBody>
            <a:bodyPr wrap="square" rtlCol="0">
              <a:spAutoFit/>
            </a:bodyPr>
            <a:lstStyle/>
            <a:p>
              <a:pPr algn="ctr"/>
              <a:r>
                <a:rPr lang="en-US" altLang="zh-CN" sz="2400" b="1">
                  <a:solidFill>
                    <a:srgbClr val="0432FF"/>
                  </a:solidFill>
                  <a:latin typeface="+mn-lt"/>
                </a:rPr>
                <a:t>21bit</a:t>
              </a:r>
              <a:endParaRPr lang="zh-CN" altLang="en-US" sz="2400" b="1">
                <a:solidFill>
                  <a:srgbClr val="0432FF"/>
                </a:solidFill>
                <a:latin typeface="+mn-lt"/>
              </a:endParaRPr>
            </a:p>
          </p:txBody>
        </p:sp>
        <p:sp>
          <p:nvSpPr>
            <p:cNvPr id="14" name="TextBox 13">
              <a:extLst>
                <a:ext uri="{FF2B5EF4-FFF2-40B4-BE49-F238E27FC236}">
                  <a16:creationId xmlns:a16="http://schemas.microsoft.com/office/drawing/2014/main" id="{7E2717BA-258C-43B5-AC04-31B93432C7EB}"/>
                </a:ext>
              </a:extLst>
            </p:cNvPr>
            <p:cNvSpPr txBox="1"/>
            <p:nvPr/>
          </p:nvSpPr>
          <p:spPr>
            <a:xfrm>
              <a:off x="4769056" y="4479946"/>
              <a:ext cx="2478692" cy="400110"/>
            </a:xfrm>
            <a:prstGeom prst="rect">
              <a:avLst/>
            </a:prstGeom>
            <a:noFill/>
          </p:spPr>
          <p:txBody>
            <a:bodyPr wrap="none" rtlCol="0">
              <a:spAutoFit/>
            </a:bodyPr>
            <a:lstStyle/>
            <a:p>
              <a:pPr algn="ctr"/>
              <a:r>
                <a:rPr lang="zh-CN" altLang="en-US" sz="2000" b="1" dirty="0">
                  <a:solidFill>
                    <a:schemeClr val="tx1"/>
                  </a:solidFill>
                  <a:latin typeface="+mn-lt"/>
                  <a:ea typeface="+mj-ea"/>
                </a:rPr>
                <a:t>地址 </a:t>
              </a:r>
              <a:r>
                <a:rPr lang="en-US" altLang="zh-CN" sz="2000" b="1" dirty="0">
                  <a:solidFill>
                    <a:schemeClr val="tx1"/>
                  </a:solidFill>
                  <a:latin typeface="+mn-lt"/>
                  <a:ea typeface="+mj-ea"/>
                </a:rPr>
                <a:t>Address[20:0]</a:t>
              </a:r>
              <a:endParaRPr lang="zh-CN" altLang="en-US" sz="2000" b="1" dirty="0">
                <a:solidFill>
                  <a:schemeClr val="tx1"/>
                </a:solidFill>
                <a:latin typeface="+mn-lt"/>
                <a:ea typeface="+mj-ea"/>
              </a:endParaRPr>
            </a:p>
          </p:txBody>
        </p:sp>
        <p:cxnSp>
          <p:nvCxnSpPr>
            <p:cNvPr id="17" name="Straight Connector 16">
              <a:extLst>
                <a:ext uri="{FF2B5EF4-FFF2-40B4-BE49-F238E27FC236}">
                  <a16:creationId xmlns:a16="http://schemas.microsoft.com/office/drawing/2014/main" id="{480F8611-370B-4293-88F7-1B51A89C4158}"/>
                </a:ext>
              </a:extLst>
            </p:cNvPr>
            <p:cNvCxnSpPr>
              <a:cxnSpLocks/>
            </p:cNvCxnSpPr>
            <p:nvPr/>
          </p:nvCxnSpPr>
          <p:spPr>
            <a:xfrm>
              <a:off x="3481448" y="3994997"/>
              <a:ext cx="0" cy="4671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BA003004-E3E7-40B5-8FF8-015E6057743E}"/>
                </a:ext>
              </a:extLst>
            </p:cNvPr>
            <p:cNvSpPr txBox="1"/>
            <p:nvPr/>
          </p:nvSpPr>
          <p:spPr>
            <a:xfrm>
              <a:off x="2343421" y="3999896"/>
              <a:ext cx="805068" cy="461665"/>
            </a:xfrm>
            <a:prstGeom prst="rect">
              <a:avLst/>
            </a:prstGeom>
            <a:noFill/>
          </p:spPr>
          <p:txBody>
            <a:bodyPr wrap="square" rtlCol="0">
              <a:spAutoFit/>
            </a:bodyPr>
            <a:lstStyle/>
            <a:p>
              <a:pPr algn="ctr"/>
              <a:r>
                <a:rPr lang="en-US" altLang="zh-CN" sz="2400" b="1">
                  <a:solidFill>
                    <a:srgbClr val="0432FF"/>
                  </a:solidFill>
                  <a:latin typeface="+mn-lt"/>
                </a:rPr>
                <a:t>5bit</a:t>
              </a:r>
              <a:endParaRPr lang="zh-CN" altLang="en-US" sz="2400" b="1">
                <a:solidFill>
                  <a:srgbClr val="0432FF"/>
                </a:solidFill>
                <a:latin typeface="+mn-lt"/>
              </a:endParaRPr>
            </a:p>
          </p:txBody>
        </p:sp>
        <p:sp>
          <p:nvSpPr>
            <p:cNvPr id="20" name="TextBox 19">
              <a:extLst>
                <a:ext uri="{FF2B5EF4-FFF2-40B4-BE49-F238E27FC236}">
                  <a16:creationId xmlns:a16="http://schemas.microsoft.com/office/drawing/2014/main" id="{FBA8C6E6-BECD-41CE-8665-DC0422F8A17D}"/>
                </a:ext>
              </a:extLst>
            </p:cNvPr>
            <p:cNvSpPr txBox="1"/>
            <p:nvPr/>
          </p:nvSpPr>
          <p:spPr>
            <a:xfrm>
              <a:off x="2339734" y="4479946"/>
              <a:ext cx="968535" cy="400110"/>
            </a:xfrm>
            <a:prstGeom prst="rect">
              <a:avLst/>
            </a:prstGeom>
            <a:noFill/>
          </p:spPr>
          <p:txBody>
            <a:bodyPr wrap="none" rtlCol="0">
              <a:spAutoFit/>
            </a:bodyPr>
            <a:lstStyle/>
            <a:p>
              <a:pPr algn="ctr"/>
              <a:r>
                <a:rPr lang="zh-CN" altLang="en-US" sz="2000" b="1">
                  <a:solidFill>
                    <a:schemeClr val="tx1"/>
                  </a:solidFill>
                  <a:latin typeface="+mj-ea"/>
                  <a:ea typeface="+mj-ea"/>
                </a:rPr>
                <a:t>操作数</a:t>
              </a:r>
            </a:p>
          </p:txBody>
        </p:sp>
      </p:grpSp>
      <p:sp>
        <p:nvSpPr>
          <p:cNvPr id="4" name="Title 4">
            <a:extLst>
              <a:ext uri="{FF2B5EF4-FFF2-40B4-BE49-F238E27FC236}">
                <a16:creationId xmlns:a16="http://schemas.microsoft.com/office/drawing/2014/main" id="{EE246920-31C0-A634-0833-0ECE6C404B69}"/>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sz="4000" dirty="0">
                <a:latin typeface="+mj-ea"/>
              </a:rPr>
              <a:t>指令集设计：</a:t>
            </a:r>
            <a:r>
              <a:rPr lang="zh-CN" altLang="en-US" sz="4000" kern="1200" dirty="0">
                <a:latin typeface="+mj-ea"/>
                <a:ea typeface="+mj-ea"/>
                <a:cs typeface="+mn-cs"/>
              </a:rPr>
              <a:t>访存指令</a:t>
            </a:r>
            <a:endParaRPr lang="en-CN" kern="0" dirty="0"/>
          </a:p>
        </p:txBody>
      </p:sp>
    </p:spTree>
    <p:extLst>
      <p:ext uri="{BB962C8B-B14F-4D97-AF65-F5344CB8AC3E}">
        <p14:creationId xmlns:p14="http://schemas.microsoft.com/office/powerpoint/2010/main" val="1210614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a:extLst>
              <a:ext uri="{FF2B5EF4-FFF2-40B4-BE49-F238E27FC236}">
                <a16:creationId xmlns:a16="http://schemas.microsoft.com/office/drawing/2014/main" id="{68F7FF1C-DC59-5F43-A383-991D51B72C86}"/>
              </a:ext>
            </a:extLst>
          </p:cNvPr>
          <p:cNvSpPr>
            <a:spLocks noGrp="1"/>
          </p:cNvSpPr>
          <p:nvPr>
            <p:ph type="sldNum" sz="quarter" idx="12"/>
          </p:nvPr>
        </p:nvSpPr>
        <p:spPr/>
        <p:txBody>
          <a:bodyPr/>
          <a:lstStyle/>
          <a:p>
            <a:fld id="{14659731-6BD7-46E7-8D3C-2F3AC07E20B1}" type="slidenum">
              <a:rPr lang="en-US" altLang="zh-CN" smtClean="0"/>
              <a:pPr/>
              <a:t>25</a:t>
            </a:fld>
            <a:endParaRPr lang="en-US" altLang="zh-CN"/>
          </a:p>
        </p:txBody>
      </p:sp>
      <p:sp>
        <p:nvSpPr>
          <p:cNvPr id="25" name="Rectangle 3">
            <a:extLst>
              <a:ext uri="{FF2B5EF4-FFF2-40B4-BE49-F238E27FC236}">
                <a16:creationId xmlns:a16="http://schemas.microsoft.com/office/drawing/2014/main" id="{12C1C0E4-E28D-4A4F-98D3-57096D978CA3}"/>
              </a:ext>
            </a:extLst>
          </p:cNvPr>
          <p:cNvSpPr>
            <a:spLocks noGrp="1" noChangeArrowheads="1"/>
          </p:cNvSpPr>
          <p:nvPr>
            <p:ph idx="4294967295"/>
          </p:nvPr>
        </p:nvSpPr>
        <p:spPr>
          <a:xfrm>
            <a:off x="222420" y="1417355"/>
            <a:ext cx="8229600" cy="5193510"/>
          </a:xfrm>
        </p:spPr>
        <p:txBody>
          <a:bodyPr>
            <a:normAutofit/>
          </a:bodyPr>
          <a:lstStyle/>
          <a:p>
            <a:pPr>
              <a:lnSpc>
                <a:spcPct val="150000"/>
              </a:lnSpc>
            </a:pPr>
            <a:endParaRPr lang="en-US" altLang="zh-CN" sz="2200" dirty="0"/>
          </a:p>
          <a:p>
            <a:pPr>
              <a:lnSpc>
                <a:spcPct val="150000"/>
              </a:lnSpc>
            </a:pPr>
            <a:endParaRPr lang="en-US" altLang="zh-CN" sz="2200" dirty="0"/>
          </a:p>
          <a:p>
            <a:pPr>
              <a:lnSpc>
                <a:spcPct val="150000"/>
              </a:lnSpc>
            </a:pPr>
            <a:endParaRPr lang="en-US" altLang="zh-CN" sz="2200" dirty="0"/>
          </a:p>
          <a:p>
            <a:pPr>
              <a:lnSpc>
                <a:spcPct val="150000"/>
              </a:lnSpc>
            </a:pPr>
            <a:endParaRPr lang="en-US" altLang="zh-CN" sz="2200" dirty="0">
              <a:solidFill>
                <a:srgbClr val="0432FF"/>
              </a:solidFill>
            </a:endParaRPr>
          </a:p>
          <a:p>
            <a:pPr>
              <a:lnSpc>
                <a:spcPct val="150000"/>
              </a:lnSpc>
            </a:pPr>
            <a:endParaRPr lang="en-US" altLang="zh-CN" sz="2200" dirty="0"/>
          </a:p>
          <a:p>
            <a:r>
              <a:rPr lang="zh-CN" altLang="en-US" sz="3000" dirty="0"/>
              <a:t>用除操作码外的</a:t>
            </a:r>
            <a:r>
              <a:rPr lang="en-US" altLang="zh-CN" sz="3000" dirty="0"/>
              <a:t>26bit</a:t>
            </a:r>
            <a:r>
              <a:rPr lang="zh-CN" altLang="en-US" sz="3000" dirty="0"/>
              <a:t>同时表示地址和寄存器</a:t>
            </a:r>
            <a:endParaRPr lang="en-US" altLang="zh-CN" sz="3000" dirty="0"/>
          </a:p>
          <a:p>
            <a:pPr lvl="1"/>
            <a:r>
              <a:rPr lang="zh-CN" altLang="en-US" sz="2600" dirty="0"/>
              <a:t>回到</a:t>
            </a:r>
            <a:r>
              <a:rPr lang="zh-CN" altLang="en-US" sz="2600" dirty="0">
                <a:solidFill>
                  <a:srgbClr val="0432FF"/>
                </a:solidFill>
              </a:rPr>
              <a:t>问题</a:t>
            </a:r>
            <a:r>
              <a:rPr lang="en-US" altLang="zh-CN" sz="2600" dirty="0">
                <a:solidFill>
                  <a:srgbClr val="0432FF"/>
                </a:solidFill>
              </a:rPr>
              <a:t>4</a:t>
            </a:r>
            <a:r>
              <a:rPr lang="zh-CN" altLang="en-US" sz="2600" dirty="0"/>
              <a:t>，用</a:t>
            </a:r>
            <a:r>
              <a:rPr lang="en-US" altLang="zh-CN" sz="2600" dirty="0"/>
              <a:t>21bit</a:t>
            </a:r>
            <a:r>
              <a:rPr lang="zh-CN" altLang="en-US" sz="2600" dirty="0"/>
              <a:t>表示地址</a:t>
            </a:r>
            <a:endParaRPr lang="en-US" altLang="zh-CN" sz="2600" dirty="0"/>
          </a:p>
          <a:p>
            <a:pPr lvl="1"/>
            <a:r>
              <a:rPr lang="zh-CN" altLang="en-US" sz="2600" dirty="0"/>
              <a:t>将返回地址保存到一个预定义的固定寄存器，</a:t>
            </a:r>
            <a:r>
              <a:rPr lang="en-US" altLang="zh-CN" sz="2600" dirty="0"/>
              <a:t>26bit</a:t>
            </a:r>
            <a:r>
              <a:rPr lang="zh-CN" altLang="en-US" sz="2600" dirty="0"/>
              <a:t>全部用于表示地址</a:t>
            </a:r>
            <a:endParaRPr lang="en-US" altLang="zh-CN" sz="2600" dirty="0"/>
          </a:p>
        </p:txBody>
      </p:sp>
      <p:sp>
        <p:nvSpPr>
          <p:cNvPr id="9" name="TextBox 8">
            <a:extLst>
              <a:ext uri="{FF2B5EF4-FFF2-40B4-BE49-F238E27FC236}">
                <a16:creationId xmlns:a16="http://schemas.microsoft.com/office/drawing/2014/main" id="{4BEBA7D2-E231-4D97-BA55-F95CB433D822}"/>
              </a:ext>
            </a:extLst>
          </p:cNvPr>
          <p:cNvSpPr txBox="1"/>
          <p:nvPr/>
        </p:nvSpPr>
        <p:spPr>
          <a:xfrm>
            <a:off x="1790571" y="2802498"/>
            <a:ext cx="6154249" cy="830997"/>
          </a:xfrm>
          <a:prstGeom prst="rect">
            <a:avLst/>
          </a:prstGeom>
          <a:noFill/>
        </p:spPr>
        <p:txBody>
          <a:bodyPr wrap="none" rtlCol="0">
            <a:spAutoFit/>
          </a:bodyPr>
          <a:lstStyle/>
          <a:p>
            <a:pPr algn="ctr"/>
            <a:r>
              <a:rPr lang="zh-CN" altLang="en-US" sz="2400" b="1" dirty="0">
                <a:solidFill>
                  <a:schemeClr val="tx1"/>
                </a:solidFill>
                <a:latin typeface="+mj-ea"/>
                <a:ea typeface="+mj-ea"/>
              </a:rPr>
              <a:t>跳转和过程调用指令编码需要包含的内容：</a:t>
            </a:r>
            <a:endParaRPr lang="en-US" altLang="zh-CN" sz="2400" b="1" dirty="0">
              <a:solidFill>
                <a:schemeClr val="tx1"/>
              </a:solidFill>
              <a:latin typeface="+mj-ea"/>
              <a:ea typeface="+mj-ea"/>
            </a:endParaRPr>
          </a:p>
          <a:p>
            <a:pPr algn="ctr"/>
            <a:r>
              <a:rPr lang="zh-CN" altLang="en-US" sz="2400" b="1" dirty="0">
                <a:solidFill>
                  <a:srgbClr val="0432FF"/>
                </a:solidFill>
                <a:latin typeface="+mj-ea"/>
                <a:ea typeface="+mj-ea"/>
              </a:rPr>
              <a:t>操作类型、地址、（寄存器）</a:t>
            </a:r>
            <a:endParaRPr lang="en-US" altLang="zh-CN" sz="2400" b="1" dirty="0">
              <a:solidFill>
                <a:srgbClr val="0432FF"/>
              </a:solidFill>
              <a:latin typeface="+mj-ea"/>
              <a:ea typeface="+mj-ea"/>
            </a:endParaRPr>
          </a:p>
        </p:txBody>
      </p:sp>
      <p:graphicFrame>
        <p:nvGraphicFramePr>
          <p:cNvPr id="4" name="Table 1">
            <a:extLst>
              <a:ext uri="{FF2B5EF4-FFF2-40B4-BE49-F238E27FC236}">
                <a16:creationId xmlns:a16="http://schemas.microsoft.com/office/drawing/2014/main" id="{32F1AA54-9F53-09C1-09F7-687DFBE54357}"/>
              </a:ext>
            </a:extLst>
          </p:cNvPr>
          <p:cNvGraphicFramePr>
            <a:graphicFrameLocks noGrp="1"/>
          </p:cNvGraphicFramePr>
          <p:nvPr>
            <p:extLst>
              <p:ext uri="{D42A27DB-BD31-4B8C-83A1-F6EECF244321}">
                <p14:modId xmlns:p14="http://schemas.microsoft.com/office/powerpoint/2010/main" val="18416692"/>
              </p:ext>
            </p:extLst>
          </p:nvPr>
        </p:nvGraphicFramePr>
        <p:xfrm>
          <a:off x="111210" y="1417355"/>
          <a:ext cx="8921580" cy="1343596"/>
        </p:xfrm>
        <a:graphic>
          <a:graphicData uri="http://schemas.openxmlformats.org/drawingml/2006/table">
            <a:tbl>
              <a:tblPr firstRow="1" bandRow="1">
                <a:tableStyleId>{073A0DAA-6AF3-43AB-8588-CEC1D06C72B9}</a:tableStyleId>
              </a:tblPr>
              <a:tblGrid>
                <a:gridCol w="2230395">
                  <a:extLst>
                    <a:ext uri="{9D8B030D-6E8A-4147-A177-3AD203B41FA5}">
                      <a16:colId xmlns:a16="http://schemas.microsoft.com/office/drawing/2014/main" val="969078023"/>
                    </a:ext>
                  </a:extLst>
                </a:gridCol>
                <a:gridCol w="2230395">
                  <a:extLst>
                    <a:ext uri="{9D8B030D-6E8A-4147-A177-3AD203B41FA5}">
                      <a16:colId xmlns:a16="http://schemas.microsoft.com/office/drawing/2014/main" val="4196947202"/>
                    </a:ext>
                  </a:extLst>
                </a:gridCol>
                <a:gridCol w="2230395">
                  <a:extLst>
                    <a:ext uri="{9D8B030D-6E8A-4147-A177-3AD203B41FA5}">
                      <a16:colId xmlns:a16="http://schemas.microsoft.com/office/drawing/2014/main" val="2936211889"/>
                    </a:ext>
                  </a:extLst>
                </a:gridCol>
                <a:gridCol w="2230395">
                  <a:extLst>
                    <a:ext uri="{9D8B030D-6E8A-4147-A177-3AD203B41FA5}">
                      <a16:colId xmlns:a16="http://schemas.microsoft.com/office/drawing/2014/main" val="2985695017"/>
                    </a:ext>
                  </a:extLst>
                </a:gridCol>
              </a:tblGrid>
              <a:tr h="429196">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zh-CN" altLang="en-US" sz="1800" dirty="0">
                          <a:solidFill>
                            <a:schemeClr val="tx1"/>
                          </a:solidFill>
                          <a:latin typeface="Consolas" panose="020B0609020204030204" pitchFamily="49" charset="0"/>
                          <a:ea typeface="+mn-ea"/>
                          <a:cs typeface="Consolas" panose="020B0609020204030204" pitchFamily="49" charset="0"/>
                        </a:rPr>
                        <a:t>指令</a:t>
                      </a:r>
                    </a:p>
                  </a:txBody>
                  <a:tcPr anchor="ctr">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ctr"/>
                      <a:r>
                        <a:rPr lang="zh-CN" altLang="en-US" sz="1800" dirty="0">
                          <a:solidFill>
                            <a:schemeClr val="tx1"/>
                          </a:solidFill>
                          <a:latin typeface="Consolas" panose="020B0609020204030204" pitchFamily="49" charset="0"/>
                          <a:ea typeface="+mn-ea"/>
                          <a:cs typeface="Consolas" panose="020B0609020204030204" pitchFamily="49" charset="0"/>
                        </a:rPr>
                        <a:t>功能</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zh-CN" altLang="en-US" sz="1800" dirty="0">
                          <a:solidFill>
                            <a:schemeClr val="tx1"/>
                          </a:solidFill>
                          <a:latin typeface="Consolas" panose="020B0609020204030204" pitchFamily="49" charset="0"/>
                          <a:ea typeface="+mn-ea"/>
                          <a:cs typeface="Consolas" panose="020B0609020204030204" pitchFamily="49" charset="0"/>
                        </a:rPr>
                        <a:t>指令</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ctr"/>
                      <a:r>
                        <a:rPr lang="zh-CN" altLang="en-US" sz="1800" dirty="0">
                          <a:solidFill>
                            <a:schemeClr val="tx1"/>
                          </a:solidFill>
                          <a:latin typeface="Consolas" panose="020B0609020204030204" pitchFamily="49" charset="0"/>
                          <a:ea typeface="+mn-ea"/>
                          <a:cs typeface="Consolas" panose="020B0609020204030204" pitchFamily="49" charset="0"/>
                        </a:rPr>
                        <a:t>功能</a:t>
                      </a:r>
                    </a:p>
                  </a:txBody>
                  <a:tcPr anchor="ctr">
                    <a:lnL w="1270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extLst>
                  <a:ext uri="{0D108BD9-81ED-4DB2-BD59-A6C34878D82A}">
                    <a16:rowId xmlns:a16="http://schemas.microsoft.com/office/drawing/2014/main" val="3013672736"/>
                  </a:ext>
                </a:extLst>
              </a:tr>
              <a:tr h="895337">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altLang="zh-CN" sz="1800" i="1" kern="1200" dirty="0">
                          <a:solidFill>
                            <a:schemeClr val="dk1"/>
                          </a:solidFill>
                          <a:latin typeface="Consolas" panose="020B0609020204030204" pitchFamily="49" charset="0"/>
                          <a:ea typeface="+mn-ea"/>
                          <a:cs typeface="Consolas" panose="020B0609020204030204" pitchFamily="49" charset="0"/>
                        </a:rPr>
                        <a:t>j label;</a:t>
                      </a:r>
                      <a:endParaRPr lang="zh-CN" altLang="en-US" sz="1800" i="1" kern="1200" dirty="0">
                        <a:solidFill>
                          <a:schemeClr val="dk1"/>
                        </a:solidFill>
                        <a:latin typeface="Consolas" panose="020B0609020204030204" pitchFamily="49" charset="0"/>
                        <a:ea typeface="+mn-ea"/>
                        <a:cs typeface="Consolas" panose="020B0609020204030204" pitchFamily="49" charset="0"/>
                      </a:endParaRPr>
                    </a:p>
                  </a:txBody>
                  <a:tcPr anchor="ctr">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685800" rtl="0" eaLnBrk="1" latinLnBrk="0" hangingPunct="1"/>
                      <a:r>
                        <a:rPr lang="zh-CN" altLang="en-US" sz="1800" kern="1200" dirty="0">
                          <a:solidFill>
                            <a:schemeClr val="dk1"/>
                          </a:solidFill>
                          <a:latin typeface="Consolas" panose="020B0609020204030204" pitchFamily="49" charset="0"/>
                          <a:ea typeface="+mn-ea"/>
                          <a:cs typeface="Consolas" panose="020B0609020204030204" pitchFamily="49" charset="0"/>
                        </a:rPr>
                        <a:t>直接跳转到</a:t>
                      </a:r>
                      <a:r>
                        <a:rPr lang="en-US" altLang="zh-CN" sz="1800" i="1" kern="1200" dirty="0">
                          <a:solidFill>
                            <a:schemeClr val="dk1"/>
                          </a:solidFill>
                          <a:latin typeface="Consolas" panose="020B0609020204030204" pitchFamily="49" charset="0"/>
                          <a:ea typeface="+mn-ea"/>
                          <a:cs typeface="Consolas" panose="020B0609020204030204" pitchFamily="49" charset="0"/>
                        </a:rPr>
                        <a:t>label</a:t>
                      </a:r>
                      <a:endParaRPr lang="zh-CN" altLang="en-US" sz="1800" i="1" kern="1200" dirty="0">
                        <a:solidFill>
                          <a:schemeClr val="dk1"/>
                        </a:solidFill>
                        <a:latin typeface="Consolas" panose="020B0609020204030204" pitchFamily="49" charset="0"/>
                        <a:ea typeface="+mn-ea"/>
                        <a:cs typeface="Consolas" panose="020B0609020204030204" pitchFamily="49"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altLang="zh-CN" sz="1800" i="1" kern="1200" dirty="0">
                          <a:solidFill>
                            <a:schemeClr val="dk1"/>
                          </a:solidFill>
                          <a:latin typeface="Consolas" panose="020B0609020204030204" pitchFamily="49" charset="0"/>
                          <a:ea typeface="+mn-ea"/>
                          <a:cs typeface="Consolas" panose="020B0609020204030204" pitchFamily="49" charset="0"/>
                        </a:rPr>
                        <a:t>call a0, label</a:t>
                      </a:r>
                      <a:r>
                        <a:rPr lang="en-US" altLang="zh-CN" sz="1800" i="1" kern="1200" noProof="0" dirty="0">
                          <a:solidFill>
                            <a:schemeClr val="dk1"/>
                          </a:solidFill>
                          <a:latin typeface="Consolas" panose="020B0609020204030204" pitchFamily="49" charset="0"/>
                          <a:ea typeface="+mn-ea"/>
                          <a:cs typeface="Consolas" panose="020B0609020204030204" pitchFamily="49" charset="0"/>
                        </a:rPr>
                        <a:t>;</a:t>
                      </a:r>
                      <a:endParaRPr lang="zh-CN" altLang="en-US" sz="1800" i="1" kern="1200" dirty="0">
                        <a:solidFill>
                          <a:schemeClr val="dk1"/>
                        </a:solidFill>
                        <a:latin typeface="Consolas" panose="020B0609020204030204" pitchFamily="49" charset="0"/>
                        <a:ea typeface="+mn-ea"/>
                        <a:cs typeface="Consolas" panose="020B0609020204030204" pitchFamily="49"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685800" rtl="0" eaLnBrk="1" latinLnBrk="0" hangingPunct="1"/>
                      <a:r>
                        <a:rPr lang="zh-CN" altLang="en-US" sz="1800" dirty="0">
                          <a:latin typeface="Consolas" panose="020B0609020204030204" pitchFamily="49" charset="0"/>
                          <a:ea typeface="+mn-ea"/>
                          <a:cs typeface="Consolas" panose="020B0609020204030204" pitchFamily="49" charset="0"/>
                        </a:rPr>
                        <a:t>将返回指令地址赋值给变量</a:t>
                      </a:r>
                      <a:r>
                        <a:rPr lang="en-US" altLang="zh-CN" sz="1800" i="1" dirty="0">
                          <a:latin typeface="Consolas" panose="020B0609020204030204" pitchFamily="49" charset="0"/>
                          <a:ea typeface="+mn-ea"/>
                          <a:cs typeface="Consolas" panose="020B0609020204030204" pitchFamily="49" charset="0"/>
                        </a:rPr>
                        <a:t>a0</a:t>
                      </a:r>
                      <a:r>
                        <a:rPr lang="zh-CN" altLang="en-US" sz="1800" dirty="0">
                          <a:latin typeface="Consolas" panose="020B0609020204030204" pitchFamily="49" charset="0"/>
                          <a:ea typeface="+mn-ea"/>
                          <a:cs typeface="Consolas" panose="020B0609020204030204" pitchFamily="49" charset="0"/>
                        </a:rPr>
                        <a:t>，然后调用</a:t>
                      </a:r>
                      <a:r>
                        <a:rPr lang="en-US" altLang="zh-CN" sz="1800" i="1" kern="1200" dirty="0">
                          <a:solidFill>
                            <a:schemeClr val="dk1"/>
                          </a:solidFill>
                          <a:latin typeface="Consolas" panose="020B0609020204030204" pitchFamily="49" charset="0"/>
                          <a:ea typeface="+mn-ea"/>
                          <a:cs typeface="Consolas" panose="020B0609020204030204" pitchFamily="49" charset="0"/>
                        </a:rPr>
                        <a:t>label</a:t>
                      </a:r>
                      <a:r>
                        <a:rPr lang="zh-CN" altLang="en-US" sz="1800" i="0" kern="1200" dirty="0">
                          <a:solidFill>
                            <a:schemeClr val="dk1"/>
                          </a:solidFill>
                          <a:latin typeface="Consolas" panose="020B0609020204030204" pitchFamily="49" charset="0"/>
                          <a:ea typeface="+mn-ea"/>
                          <a:cs typeface="Consolas" panose="020B0609020204030204" pitchFamily="49" charset="0"/>
                        </a:rPr>
                        <a:t>处的过程</a:t>
                      </a:r>
                      <a:endParaRPr lang="zh-CN" altLang="en-US" sz="1800" i="1" kern="1200" dirty="0">
                        <a:solidFill>
                          <a:schemeClr val="dk1"/>
                        </a:solidFill>
                        <a:latin typeface="Consolas" panose="020B0609020204030204" pitchFamily="49" charset="0"/>
                        <a:ea typeface="+mn-ea"/>
                        <a:cs typeface="Consolas" panose="020B0609020204030204" pitchFamily="49" charset="0"/>
                      </a:endParaRPr>
                    </a:p>
                  </a:txBody>
                  <a:tcPr anchor="ctr">
                    <a:lnL w="1270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01048486"/>
                  </a:ext>
                </a:extLst>
              </a:tr>
            </a:tbl>
          </a:graphicData>
        </a:graphic>
      </p:graphicFrame>
      <p:sp>
        <p:nvSpPr>
          <p:cNvPr id="2" name="Title 4">
            <a:extLst>
              <a:ext uri="{FF2B5EF4-FFF2-40B4-BE49-F238E27FC236}">
                <a16:creationId xmlns:a16="http://schemas.microsoft.com/office/drawing/2014/main" id="{0A1D008B-B0F7-6B9D-7A09-0FB4FC133223}"/>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kumimoji="1" lang="zh-CN" altLang="en-US" dirty="0"/>
              <a:t>指令集设计：跳转</a:t>
            </a:r>
            <a:r>
              <a:rPr kumimoji="1" lang="en-US" altLang="zh-CN" dirty="0"/>
              <a:t>/</a:t>
            </a:r>
            <a:r>
              <a:rPr kumimoji="1" lang="zh-CN" altLang="en-US" dirty="0"/>
              <a:t>过程调用指令</a:t>
            </a:r>
            <a:endParaRPr lang="en-CN" kern="0" dirty="0"/>
          </a:p>
        </p:txBody>
      </p:sp>
    </p:spTree>
    <p:extLst>
      <p:ext uri="{BB962C8B-B14F-4D97-AF65-F5344CB8AC3E}">
        <p14:creationId xmlns:p14="http://schemas.microsoft.com/office/powerpoint/2010/main" val="34894483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angle 3">
            <a:extLst>
              <a:ext uri="{FF2B5EF4-FFF2-40B4-BE49-F238E27FC236}">
                <a16:creationId xmlns:a16="http://schemas.microsoft.com/office/drawing/2014/main" id="{1AF4C294-9B96-4AC7-A8CA-FB8884B6204B}"/>
              </a:ext>
            </a:extLst>
          </p:cNvPr>
          <p:cNvSpPr>
            <a:spLocks noGrp="1" noChangeArrowheads="1"/>
          </p:cNvSpPr>
          <p:nvPr>
            <p:ph idx="4294967295"/>
          </p:nvPr>
        </p:nvSpPr>
        <p:spPr>
          <a:xfrm>
            <a:off x="337930" y="1343711"/>
            <a:ext cx="8946292" cy="5044731"/>
          </a:xfrm>
        </p:spPr>
        <p:txBody>
          <a:bodyPr>
            <a:normAutofit fontScale="92500" lnSpcReduction="20000"/>
          </a:bodyPr>
          <a:lstStyle/>
          <a:p>
            <a:pPr>
              <a:lnSpc>
                <a:spcPct val="150000"/>
              </a:lnSpc>
            </a:pPr>
            <a:r>
              <a:rPr lang="zh-CN" altLang="en-US" sz="3000" dirty="0">
                <a:solidFill>
                  <a:srgbClr val="0432FF"/>
                </a:solidFill>
              </a:rPr>
              <a:t>问题</a:t>
            </a:r>
            <a:r>
              <a:rPr lang="en-US" altLang="zh-CN" sz="3000" dirty="0">
                <a:solidFill>
                  <a:srgbClr val="0432FF"/>
                </a:solidFill>
              </a:rPr>
              <a:t>5</a:t>
            </a:r>
            <a:r>
              <a:rPr lang="zh-CN" altLang="en-US" sz="3000" dirty="0"/>
              <a:t>：可能的跳转地址有</a:t>
            </a:r>
            <a:r>
              <a:rPr lang="en-US" altLang="zh-CN" sz="3000" dirty="0"/>
              <a:t>32</a:t>
            </a:r>
            <a:r>
              <a:rPr lang="zh-CN" altLang="en-US" sz="3000" dirty="0"/>
              <a:t>位，如何用</a:t>
            </a:r>
            <a:r>
              <a:rPr lang="en-US" altLang="zh-CN" sz="3000" dirty="0"/>
              <a:t>26bit</a:t>
            </a:r>
            <a:r>
              <a:rPr lang="zh-CN" altLang="en-US" sz="3000" dirty="0"/>
              <a:t>表示？</a:t>
            </a:r>
            <a:endParaRPr lang="en-US" altLang="zh-CN" sz="3000" dirty="0"/>
          </a:p>
          <a:p>
            <a:pPr lvl="1">
              <a:lnSpc>
                <a:spcPct val="150000"/>
              </a:lnSpc>
            </a:pPr>
            <a:endParaRPr lang="en-US" altLang="zh-CN" sz="1900" dirty="0"/>
          </a:p>
          <a:p>
            <a:pPr lvl="1">
              <a:lnSpc>
                <a:spcPct val="150000"/>
              </a:lnSpc>
            </a:pPr>
            <a:endParaRPr lang="en-US" altLang="zh-CN" sz="1900" dirty="0"/>
          </a:p>
          <a:p>
            <a:pPr lvl="1">
              <a:lnSpc>
                <a:spcPct val="150000"/>
              </a:lnSpc>
            </a:pPr>
            <a:endParaRPr lang="en-US" altLang="zh-CN" sz="2000" dirty="0"/>
          </a:p>
          <a:p>
            <a:pPr lvl="1">
              <a:lnSpc>
                <a:spcPct val="150000"/>
              </a:lnSpc>
            </a:pPr>
            <a:r>
              <a:rPr lang="zh-CN" altLang="en-US" sz="2600" dirty="0"/>
              <a:t>如地址低</a:t>
            </a:r>
            <a:r>
              <a:rPr lang="en-US" altLang="zh-CN" sz="2600" dirty="0"/>
              <a:t>2</a:t>
            </a:r>
            <a:r>
              <a:rPr lang="zh-CN" altLang="en-US" sz="2600" dirty="0"/>
              <a:t>位默认是</a:t>
            </a:r>
            <a:r>
              <a:rPr lang="en-US" altLang="zh-CN" sz="2600" dirty="0"/>
              <a:t>00</a:t>
            </a:r>
            <a:r>
              <a:rPr lang="zh-CN" altLang="en-US" sz="2600" dirty="0"/>
              <a:t>，可以不需要包含低</a:t>
            </a:r>
            <a:r>
              <a:rPr lang="en-US" altLang="zh-CN" sz="2600" dirty="0"/>
              <a:t>2</a:t>
            </a:r>
            <a:r>
              <a:rPr lang="zh-CN" altLang="en-US" sz="2600" dirty="0"/>
              <a:t>位</a:t>
            </a:r>
            <a:endParaRPr lang="en-US" altLang="zh-CN" sz="2600" dirty="0"/>
          </a:p>
          <a:p>
            <a:pPr>
              <a:lnSpc>
                <a:spcPct val="150000"/>
              </a:lnSpc>
            </a:pPr>
            <a:r>
              <a:rPr lang="zh-CN" altLang="en-US" sz="3000" dirty="0">
                <a:solidFill>
                  <a:schemeClr val="dk1"/>
                </a:solidFill>
                <a:latin typeface="+mn-ea"/>
                <a:ea typeface="+mn-ea"/>
                <a:cs typeface="Arial" panose="020B0604020202020204" pitchFamily="34" charset="0"/>
              </a:rPr>
              <a:t>基址</a:t>
            </a:r>
            <a:r>
              <a:rPr lang="en-US" altLang="zh-CN" sz="3000" dirty="0">
                <a:solidFill>
                  <a:schemeClr val="dk1"/>
                </a:solidFill>
                <a:latin typeface="+mn-ea"/>
                <a:ea typeface="+mn-ea"/>
                <a:cs typeface="Arial" panose="020B0604020202020204" pitchFamily="34" charset="0"/>
              </a:rPr>
              <a:t>+</a:t>
            </a:r>
            <a:r>
              <a:rPr lang="zh-CN" altLang="en-US" sz="3000" dirty="0">
                <a:solidFill>
                  <a:schemeClr val="dk1"/>
                </a:solidFill>
                <a:latin typeface="+mn-ea"/>
                <a:ea typeface="+mn-ea"/>
                <a:cs typeface="Arial" panose="020B0604020202020204" pitchFamily="34" charset="0"/>
              </a:rPr>
              <a:t>偏移地址</a:t>
            </a:r>
            <a:endParaRPr lang="en-US" altLang="zh-CN" sz="3000" dirty="0">
              <a:latin typeface="+mn-ea"/>
              <a:ea typeface="+mn-ea"/>
            </a:endParaRPr>
          </a:p>
          <a:p>
            <a:pPr marL="0" indent="0">
              <a:lnSpc>
                <a:spcPct val="150000"/>
              </a:lnSpc>
              <a:buNone/>
            </a:pPr>
            <a:r>
              <a:rPr lang="en-US" altLang="zh-CN" sz="2600" b="1" dirty="0">
                <a:latin typeface="+mn-ea"/>
                <a:ea typeface="+mn-ea"/>
              </a:rPr>
              <a:t>	</a:t>
            </a:r>
            <a:r>
              <a:rPr lang="en-US" altLang="zh-CN" sz="2600" b="1" dirty="0"/>
              <a:t>target = </a:t>
            </a:r>
            <a:r>
              <a:rPr lang="en-US" altLang="zh-CN" sz="2600" b="1" dirty="0" err="1"/>
              <a:t>PC_now</a:t>
            </a:r>
            <a:r>
              <a:rPr lang="en-US" altLang="zh-CN" sz="2600" b="1" dirty="0"/>
              <a:t> + {Address[25:0], 2’b00}</a:t>
            </a:r>
          </a:p>
          <a:p>
            <a:pPr>
              <a:lnSpc>
                <a:spcPct val="150000"/>
              </a:lnSpc>
            </a:pPr>
            <a:r>
              <a:rPr lang="zh-CN" altLang="en-US" sz="3000" dirty="0">
                <a:latin typeface="+mn-ea"/>
                <a:ea typeface="+mn-ea"/>
              </a:rPr>
              <a:t>“伪”</a:t>
            </a:r>
            <a:r>
              <a:rPr lang="zh-CN" altLang="en-US" sz="3000" dirty="0">
                <a:latin typeface="+mn-ea"/>
              </a:rPr>
              <a:t>直接</a:t>
            </a:r>
            <a:r>
              <a:rPr lang="zh-CN" altLang="en-US" sz="3000" dirty="0">
                <a:latin typeface="+mn-ea"/>
                <a:ea typeface="+mn-ea"/>
              </a:rPr>
              <a:t>地址</a:t>
            </a:r>
            <a:endParaRPr lang="en-US" altLang="zh-CN" sz="3000" dirty="0">
              <a:latin typeface="+mn-ea"/>
              <a:ea typeface="+mn-ea"/>
            </a:endParaRPr>
          </a:p>
          <a:p>
            <a:pPr marL="0" indent="0">
              <a:lnSpc>
                <a:spcPct val="150000"/>
              </a:lnSpc>
              <a:buNone/>
            </a:pPr>
            <a:r>
              <a:rPr lang="en-US" altLang="zh-CN" sz="2600" b="1" dirty="0">
                <a:latin typeface="+mn-ea"/>
                <a:ea typeface="+mn-ea"/>
              </a:rPr>
              <a:t>	</a:t>
            </a:r>
            <a:r>
              <a:rPr lang="en-US" altLang="zh-CN" sz="2600" b="1" dirty="0"/>
              <a:t>target = {</a:t>
            </a:r>
            <a:r>
              <a:rPr lang="en-US" altLang="zh-CN" sz="2600" b="1" dirty="0" err="1"/>
              <a:t>PC_now</a:t>
            </a:r>
            <a:r>
              <a:rPr lang="en-US" altLang="zh-CN" sz="2600" b="1" dirty="0"/>
              <a:t>[31:28], Address[25:0], 2’b00}</a:t>
            </a:r>
          </a:p>
        </p:txBody>
      </p:sp>
      <p:sp>
        <p:nvSpPr>
          <p:cNvPr id="5" name="灯片编号占位符 3">
            <a:extLst>
              <a:ext uri="{FF2B5EF4-FFF2-40B4-BE49-F238E27FC236}">
                <a16:creationId xmlns:a16="http://schemas.microsoft.com/office/drawing/2014/main" id="{68F7FF1C-DC59-5F43-A383-991D51B72C86}"/>
              </a:ext>
            </a:extLst>
          </p:cNvPr>
          <p:cNvSpPr>
            <a:spLocks noGrp="1"/>
          </p:cNvSpPr>
          <p:nvPr>
            <p:ph type="sldNum" sz="quarter" idx="12"/>
          </p:nvPr>
        </p:nvSpPr>
        <p:spPr/>
        <p:txBody>
          <a:bodyPr/>
          <a:lstStyle/>
          <a:p>
            <a:fld id="{14659731-6BD7-46E7-8D3C-2F3AC07E20B1}" type="slidenum">
              <a:rPr lang="en-US" altLang="zh-CN" smtClean="0"/>
              <a:pPr/>
              <a:t>26</a:t>
            </a:fld>
            <a:endParaRPr lang="en-US" altLang="zh-CN"/>
          </a:p>
        </p:txBody>
      </p:sp>
      <p:grpSp>
        <p:nvGrpSpPr>
          <p:cNvPr id="2" name="Group 1">
            <a:extLst>
              <a:ext uri="{FF2B5EF4-FFF2-40B4-BE49-F238E27FC236}">
                <a16:creationId xmlns:a16="http://schemas.microsoft.com/office/drawing/2014/main" id="{AFC23DB4-99E0-7641-A357-5226CAFD67D6}"/>
              </a:ext>
            </a:extLst>
          </p:cNvPr>
          <p:cNvGrpSpPr/>
          <p:nvPr/>
        </p:nvGrpSpPr>
        <p:grpSpPr>
          <a:xfrm>
            <a:off x="735496" y="2151155"/>
            <a:ext cx="7951304" cy="919883"/>
            <a:chOff x="596348" y="1593946"/>
            <a:chExt cx="7951304" cy="919883"/>
          </a:xfrm>
        </p:grpSpPr>
        <p:sp>
          <p:nvSpPr>
            <p:cNvPr id="6" name="Rectangle 5">
              <a:extLst>
                <a:ext uri="{FF2B5EF4-FFF2-40B4-BE49-F238E27FC236}">
                  <a16:creationId xmlns:a16="http://schemas.microsoft.com/office/drawing/2014/main" id="{8C4FD7A4-C5FE-4968-AA78-327D737818FB}"/>
                </a:ext>
              </a:extLst>
            </p:cNvPr>
            <p:cNvSpPr/>
            <p:nvPr/>
          </p:nvSpPr>
          <p:spPr>
            <a:xfrm>
              <a:off x="596348" y="2038820"/>
              <a:ext cx="7951304" cy="457200"/>
            </a:xfrm>
            <a:prstGeom prst="rect">
              <a:avLst/>
            </a:prstGeom>
            <a:noFill/>
          </p:spPr>
          <p:style>
            <a:lnRef idx="2">
              <a:schemeClr val="dk1"/>
            </a:lnRef>
            <a:fillRef idx="1">
              <a:schemeClr val="lt1"/>
            </a:fillRef>
            <a:effectRef idx="0">
              <a:schemeClr val="dk1"/>
            </a:effectRef>
            <a:fontRef idx="minor">
              <a:schemeClr val="dk1"/>
            </a:fontRef>
          </p:style>
          <p:txBody>
            <a:bodyPr wrap="square" rtlCol="0" anchor="ctr">
              <a:noAutofit/>
            </a:bodyPr>
            <a:lstStyle/>
            <a:p>
              <a:pPr algn="ctr"/>
              <a:endParaRPr lang="zh-CN" altLang="en-US" sz="1800" b="1">
                <a:solidFill>
                  <a:schemeClr val="tx1"/>
                </a:solidFill>
                <a:cs typeface="Arial" panose="020B0604020202020204" pitchFamily="34" charset="0"/>
              </a:endParaRPr>
            </a:p>
          </p:txBody>
        </p:sp>
        <p:cxnSp>
          <p:nvCxnSpPr>
            <p:cNvPr id="7" name="Straight Connector 6">
              <a:extLst>
                <a:ext uri="{FF2B5EF4-FFF2-40B4-BE49-F238E27FC236}">
                  <a16:creationId xmlns:a16="http://schemas.microsoft.com/office/drawing/2014/main" id="{40ABDD15-74DB-4A4D-B30B-ACD4B587CB34}"/>
                </a:ext>
              </a:extLst>
            </p:cNvPr>
            <p:cNvCxnSpPr>
              <a:cxnSpLocks/>
            </p:cNvCxnSpPr>
            <p:nvPr/>
          </p:nvCxnSpPr>
          <p:spPr>
            <a:xfrm>
              <a:off x="2693504" y="2028880"/>
              <a:ext cx="0" cy="4671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63ADB7F-52E2-4BBC-99A7-D24582625FC3}"/>
                </a:ext>
              </a:extLst>
            </p:cNvPr>
            <p:cNvSpPr txBox="1"/>
            <p:nvPr/>
          </p:nvSpPr>
          <p:spPr>
            <a:xfrm>
              <a:off x="1109458" y="1593946"/>
              <a:ext cx="1125774" cy="400110"/>
            </a:xfrm>
            <a:prstGeom prst="rect">
              <a:avLst/>
            </a:prstGeom>
            <a:noFill/>
          </p:spPr>
          <p:txBody>
            <a:bodyPr wrap="square" rtlCol="0">
              <a:spAutoFit/>
            </a:bodyPr>
            <a:lstStyle/>
            <a:p>
              <a:pPr algn="ctr"/>
              <a:r>
                <a:rPr lang="zh-CN" altLang="en-US" sz="2000" b="1" dirty="0">
                  <a:solidFill>
                    <a:schemeClr val="tx1"/>
                  </a:solidFill>
                  <a:latin typeface="+mn-lt"/>
                  <a:ea typeface="+mj-ea"/>
                </a:rPr>
                <a:t>操作码</a:t>
              </a:r>
            </a:p>
          </p:txBody>
        </p:sp>
        <p:sp>
          <p:nvSpPr>
            <p:cNvPr id="11" name="TextBox 10">
              <a:extLst>
                <a:ext uri="{FF2B5EF4-FFF2-40B4-BE49-F238E27FC236}">
                  <a16:creationId xmlns:a16="http://schemas.microsoft.com/office/drawing/2014/main" id="{BF44C07E-7A54-4D37-87F7-05DC149A43DC}"/>
                </a:ext>
              </a:extLst>
            </p:cNvPr>
            <p:cNvSpPr txBox="1"/>
            <p:nvPr/>
          </p:nvSpPr>
          <p:spPr>
            <a:xfrm>
              <a:off x="1284854" y="2043789"/>
              <a:ext cx="805068" cy="461665"/>
            </a:xfrm>
            <a:prstGeom prst="rect">
              <a:avLst/>
            </a:prstGeom>
            <a:noFill/>
          </p:spPr>
          <p:txBody>
            <a:bodyPr wrap="square" rtlCol="0">
              <a:spAutoFit/>
            </a:bodyPr>
            <a:lstStyle/>
            <a:p>
              <a:pPr algn="ctr"/>
              <a:r>
                <a:rPr lang="en-US" altLang="zh-CN" sz="2400" b="1">
                  <a:solidFill>
                    <a:srgbClr val="0432FF"/>
                  </a:solidFill>
                  <a:latin typeface="+mn-lt"/>
                </a:rPr>
                <a:t>6bit</a:t>
              </a:r>
              <a:endParaRPr lang="zh-CN" altLang="en-US" sz="2400" b="1">
                <a:solidFill>
                  <a:srgbClr val="0432FF"/>
                </a:solidFill>
                <a:latin typeface="+mn-lt"/>
              </a:endParaRPr>
            </a:p>
          </p:txBody>
        </p:sp>
        <p:sp>
          <p:nvSpPr>
            <p:cNvPr id="16" name="TextBox 15">
              <a:extLst>
                <a:ext uri="{FF2B5EF4-FFF2-40B4-BE49-F238E27FC236}">
                  <a16:creationId xmlns:a16="http://schemas.microsoft.com/office/drawing/2014/main" id="{33383819-33F0-4CC4-BA2B-7FF6137D716F}"/>
                </a:ext>
              </a:extLst>
            </p:cNvPr>
            <p:cNvSpPr txBox="1"/>
            <p:nvPr/>
          </p:nvSpPr>
          <p:spPr>
            <a:xfrm>
              <a:off x="5176374" y="2052164"/>
              <a:ext cx="1027557" cy="461665"/>
            </a:xfrm>
            <a:prstGeom prst="rect">
              <a:avLst/>
            </a:prstGeom>
            <a:noFill/>
          </p:spPr>
          <p:txBody>
            <a:bodyPr wrap="square" rtlCol="0">
              <a:spAutoFit/>
            </a:bodyPr>
            <a:lstStyle/>
            <a:p>
              <a:pPr algn="ctr"/>
              <a:r>
                <a:rPr lang="en-US" altLang="zh-CN" sz="2400" b="1" dirty="0">
                  <a:solidFill>
                    <a:srgbClr val="0432FF"/>
                  </a:solidFill>
                  <a:latin typeface="+mn-lt"/>
                </a:rPr>
                <a:t>26bit</a:t>
              </a:r>
              <a:endParaRPr lang="zh-CN" altLang="en-US" sz="2400" b="1" dirty="0">
                <a:solidFill>
                  <a:srgbClr val="0432FF"/>
                </a:solidFill>
                <a:latin typeface="+mn-lt"/>
              </a:endParaRPr>
            </a:p>
          </p:txBody>
        </p:sp>
        <p:sp>
          <p:nvSpPr>
            <p:cNvPr id="18" name="TextBox 17">
              <a:extLst>
                <a:ext uri="{FF2B5EF4-FFF2-40B4-BE49-F238E27FC236}">
                  <a16:creationId xmlns:a16="http://schemas.microsoft.com/office/drawing/2014/main" id="{ACC11537-6507-433D-8826-C3A919CECB19}"/>
                </a:ext>
              </a:extLst>
            </p:cNvPr>
            <p:cNvSpPr txBox="1"/>
            <p:nvPr/>
          </p:nvSpPr>
          <p:spPr>
            <a:xfrm>
              <a:off x="4432852" y="1601815"/>
              <a:ext cx="2478692" cy="400110"/>
            </a:xfrm>
            <a:prstGeom prst="rect">
              <a:avLst/>
            </a:prstGeom>
            <a:noFill/>
          </p:spPr>
          <p:txBody>
            <a:bodyPr wrap="none" rtlCol="0">
              <a:spAutoFit/>
            </a:bodyPr>
            <a:lstStyle/>
            <a:p>
              <a:pPr algn="ctr"/>
              <a:r>
                <a:rPr lang="zh-CN" altLang="en-US" sz="2000" b="1" dirty="0">
                  <a:solidFill>
                    <a:schemeClr val="tx1"/>
                  </a:solidFill>
                  <a:latin typeface="+mn-lt"/>
                  <a:ea typeface="+mj-ea"/>
                </a:rPr>
                <a:t>地址 </a:t>
              </a:r>
              <a:r>
                <a:rPr lang="en-US" altLang="zh-CN" sz="2000" b="1" dirty="0">
                  <a:solidFill>
                    <a:schemeClr val="tx1"/>
                  </a:solidFill>
                  <a:latin typeface="+mn-lt"/>
                  <a:ea typeface="+mj-ea"/>
                </a:rPr>
                <a:t>Address[25:0]</a:t>
              </a:r>
              <a:endParaRPr lang="zh-CN" altLang="en-US" sz="2000" b="1" dirty="0">
                <a:solidFill>
                  <a:schemeClr val="tx1"/>
                </a:solidFill>
                <a:latin typeface="+mn-lt"/>
                <a:ea typeface="+mj-ea"/>
              </a:endParaRPr>
            </a:p>
          </p:txBody>
        </p:sp>
      </p:grpSp>
      <p:sp>
        <p:nvSpPr>
          <p:cNvPr id="3" name="Title 4">
            <a:extLst>
              <a:ext uri="{FF2B5EF4-FFF2-40B4-BE49-F238E27FC236}">
                <a16:creationId xmlns:a16="http://schemas.microsoft.com/office/drawing/2014/main" id="{33440711-24C5-C538-782E-0FCCAB853DFE}"/>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kumimoji="1" lang="zh-CN" altLang="en-US" dirty="0"/>
              <a:t>指令集设计：跳转</a:t>
            </a:r>
            <a:r>
              <a:rPr kumimoji="1" lang="en-US" altLang="zh-CN" dirty="0"/>
              <a:t>/</a:t>
            </a:r>
            <a:r>
              <a:rPr kumimoji="1" lang="zh-CN" altLang="en-US" dirty="0"/>
              <a:t>过程调用指令</a:t>
            </a:r>
            <a:endParaRPr lang="en-CN" kern="0" dirty="0"/>
          </a:p>
        </p:txBody>
      </p:sp>
    </p:spTree>
    <p:extLst>
      <p:ext uri="{BB962C8B-B14F-4D97-AF65-F5344CB8AC3E}">
        <p14:creationId xmlns:p14="http://schemas.microsoft.com/office/powerpoint/2010/main" val="23481933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a:extLst>
              <a:ext uri="{FF2B5EF4-FFF2-40B4-BE49-F238E27FC236}">
                <a16:creationId xmlns:a16="http://schemas.microsoft.com/office/drawing/2014/main" id="{68F7FF1C-DC59-5F43-A383-991D51B72C86}"/>
              </a:ext>
            </a:extLst>
          </p:cNvPr>
          <p:cNvSpPr>
            <a:spLocks noGrp="1"/>
          </p:cNvSpPr>
          <p:nvPr>
            <p:ph type="sldNum" sz="quarter" idx="12"/>
          </p:nvPr>
        </p:nvSpPr>
        <p:spPr/>
        <p:txBody>
          <a:bodyPr/>
          <a:lstStyle/>
          <a:p>
            <a:fld id="{14659731-6BD7-46E7-8D3C-2F3AC07E20B1}" type="slidenum">
              <a:rPr lang="en-US" altLang="zh-CN" smtClean="0"/>
              <a:pPr/>
              <a:t>27</a:t>
            </a:fld>
            <a:endParaRPr lang="en-US" altLang="zh-CN"/>
          </a:p>
        </p:txBody>
      </p:sp>
      <p:sp>
        <p:nvSpPr>
          <p:cNvPr id="36" name="Rectangle 3">
            <a:extLst>
              <a:ext uri="{FF2B5EF4-FFF2-40B4-BE49-F238E27FC236}">
                <a16:creationId xmlns:a16="http://schemas.microsoft.com/office/drawing/2014/main" id="{1AF4C294-9B96-4AC7-A8CA-FB8884B6204B}"/>
              </a:ext>
            </a:extLst>
          </p:cNvPr>
          <p:cNvSpPr>
            <a:spLocks noGrp="1" noChangeArrowheads="1"/>
          </p:cNvSpPr>
          <p:nvPr>
            <p:ph idx="4294967295"/>
          </p:nvPr>
        </p:nvSpPr>
        <p:spPr>
          <a:xfrm>
            <a:off x="523924" y="1186769"/>
            <a:ext cx="7886700" cy="4351338"/>
          </a:xfrm>
        </p:spPr>
        <p:txBody>
          <a:bodyPr>
            <a:normAutofit/>
          </a:bodyPr>
          <a:lstStyle/>
          <a:p>
            <a:pPr>
              <a:lnSpc>
                <a:spcPct val="150000"/>
              </a:lnSpc>
              <a:spcBef>
                <a:spcPts val="0"/>
              </a:spcBef>
            </a:pPr>
            <a:endParaRPr lang="en-US" altLang="zh-CN" sz="2200" dirty="0"/>
          </a:p>
          <a:p>
            <a:pPr>
              <a:lnSpc>
                <a:spcPct val="150000"/>
              </a:lnSpc>
              <a:spcBef>
                <a:spcPts val="0"/>
              </a:spcBef>
            </a:pPr>
            <a:endParaRPr lang="en-US" altLang="zh-CN" sz="2200" dirty="0"/>
          </a:p>
          <a:p>
            <a:pPr>
              <a:lnSpc>
                <a:spcPct val="150000"/>
              </a:lnSpc>
              <a:spcBef>
                <a:spcPts val="0"/>
              </a:spcBef>
            </a:pPr>
            <a:endParaRPr lang="en-US" altLang="zh-CN" sz="2200" dirty="0"/>
          </a:p>
          <a:p>
            <a:pPr>
              <a:lnSpc>
                <a:spcPct val="150000"/>
              </a:lnSpc>
              <a:spcBef>
                <a:spcPts val="0"/>
              </a:spcBef>
            </a:pPr>
            <a:r>
              <a:rPr lang="zh-CN" altLang="en-US" sz="2800" dirty="0"/>
              <a:t>返回跳转到寄存器存储的地址（</a:t>
            </a:r>
            <a:r>
              <a:rPr lang="en-US" altLang="zh-CN" sz="2800" i="1" dirty="0">
                <a:latin typeface="Consolas" panose="020B0609020204030204" pitchFamily="49" charset="0"/>
              </a:rPr>
              <a:t>ret a0</a:t>
            </a:r>
            <a:r>
              <a:rPr lang="zh-CN" altLang="en-US" sz="2800" dirty="0"/>
              <a:t>）</a:t>
            </a:r>
            <a:endParaRPr lang="en-US" altLang="zh-CN" sz="2800" dirty="0"/>
          </a:p>
        </p:txBody>
      </p:sp>
      <p:grpSp>
        <p:nvGrpSpPr>
          <p:cNvPr id="4" name="组合 3">
            <a:extLst>
              <a:ext uri="{FF2B5EF4-FFF2-40B4-BE49-F238E27FC236}">
                <a16:creationId xmlns:a16="http://schemas.microsoft.com/office/drawing/2014/main" id="{E8085A4F-F660-7835-35AA-870740B189B9}"/>
              </a:ext>
            </a:extLst>
          </p:cNvPr>
          <p:cNvGrpSpPr/>
          <p:nvPr/>
        </p:nvGrpSpPr>
        <p:grpSpPr>
          <a:xfrm>
            <a:off x="746628" y="3628772"/>
            <a:ext cx="7951304" cy="1813190"/>
            <a:chOff x="596348" y="2902168"/>
            <a:chExt cx="7951304" cy="1813190"/>
          </a:xfrm>
        </p:grpSpPr>
        <p:sp>
          <p:nvSpPr>
            <p:cNvPr id="26" name="Rectangle 25">
              <a:extLst>
                <a:ext uri="{FF2B5EF4-FFF2-40B4-BE49-F238E27FC236}">
                  <a16:creationId xmlns:a16="http://schemas.microsoft.com/office/drawing/2014/main" id="{DB19817B-CD90-4F2C-A855-6F76A9EFDAE6}"/>
                </a:ext>
              </a:extLst>
            </p:cNvPr>
            <p:cNvSpPr/>
            <p:nvPr/>
          </p:nvSpPr>
          <p:spPr>
            <a:xfrm>
              <a:off x="596348" y="3649802"/>
              <a:ext cx="7951304" cy="457200"/>
            </a:xfrm>
            <a:prstGeom prst="rect">
              <a:avLst/>
            </a:prstGeom>
            <a:noFill/>
          </p:spPr>
          <p:style>
            <a:lnRef idx="2">
              <a:schemeClr val="dk1"/>
            </a:lnRef>
            <a:fillRef idx="1">
              <a:schemeClr val="lt1"/>
            </a:fillRef>
            <a:effectRef idx="0">
              <a:schemeClr val="dk1"/>
            </a:effectRef>
            <a:fontRef idx="minor">
              <a:schemeClr val="dk1"/>
            </a:fontRef>
          </p:style>
          <p:txBody>
            <a:bodyPr wrap="square" rtlCol="0" anchor="ctr">
              <a:noAutofit/>
            </a:bodyPr>
            <a:lstStyle/>
            <a:p>
              <a:pPr algn="ctr"/>
              <a:endParaRPr lang="zh-CN" altLang="en-US" sz="1800" b="1">
                <a:solidFill>
                  <a:schemeClr val="tx1"/>
                </a:solidFill>
                <a:latin typeface="Arial" panose="020B0604020202020204" pitchFamily="34" charset="0"/>
                <a:cs typeface="Arial" panose="020B0604020202020204" pitchFamily="34" charset="0"/>
              </a:endParaRPr>
            </a:p>
          </p:txBody>
        </p:sp>
        <p:cxnSp>
          <p:nvCxnSpPr>
            <p:cNvPr id="27" name="Straight Connector 26">
              <a:extLst>
                <a:ext uri="{FF2B5EF4-FFF2-40B4-BE49-F238E27FC236}">
                  <a16:creationId xmlns:a16="http://schemas.microsoft.com/office/drawing/2014/main" id="{58A84A52-A12C-40CC-8AC4-642514E6B4FF}"/>
                </a:ext>
              </a:extLst>
            </p:cNvPr>
            <p:cNvCxnSpPr>
              <a:cxnSpLocks/>
            </p:cNvCxnSpPr>
            <p:nvPr/>
          </p:nvCxnSpPr>
          <p:spPr>
            <a:xfrm>
              <a:off x="2693504" y="3639862"/>
              <a:ext cx="0" cy="4671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25A68070-A207-422A-B981-E64D245A827A}"/>
                </a:ext>
              </a:extLst>
            </p:cNvPr>
            <p:cNvSpPr txBox="1"/>
            <p:nvPr/>
          </p:nvSpPr>
          <p:spPr>
            <a:xfrm>
              <a:off x="1174948" y="3198839"/>
              <a:ext cx="994794" cy="400110"/>
            </a:xfrm>
            <a:prstGeom prst="rect">
              <a:avLst/>
            </a:prstGeom>
            <a:noFill/>
          </p:spPr>
          <p:txBody>
            <a:bodyPr wrap="square" rtlCol="0">
              <a:spAutoFit/>
            </a:bodyPr>
            <a:lstStyle/>
            <a:p>
              <a:pPr algn="ctr"/>
              <a:r>
                <a:rPr lang="zh-CN" altLang="en-US" sz="2000" b="1" dirty="0">
                  <a:solidFill>
                    <a:schemeClr val="tx1"/>
                  </a:solidFill>
                  <a:latin typeface="+mj-ea"/>
                  <a:ea typeface="+mj-ea"/>
                </a:rPr>
                <a:t>操作码</a:t>
              </a:r>
            </a:p>
          </p:txBody>
        </p:sp>
        <p:sp>
          <p:nvSpPr>
            <p:cNvPr id="31" name="TextBox 30">
              <a:extLst>
                <a:ext uri="{FF2B5EF4-FFF2-40B4-BE49-F238E27FC236}">
                  <a16:creationId xmlns:a16="http://schemas.microsoft.com/office/drawing/2014/main" id="{0F9A02C5-744B-4C11-A42B-9BC3294D1A42}"/>
                </a:ext>
              </a:extLst>
            </p:cNvPr>
            <p:cNvSpPr txBox="1"/>
            <p:nvPr/>
          </p:nvSpPr>
          <p:spPr>
            <a:xfrm>
              <a:off x="1284854" y="3654771"/>
              <a:ext cx="805068" cy="461665"/>
            </a:xfrm>
            <a:prstGeom prst="rect">
              <a:avLst/>
            </a:prstGeom>
            <a:noFill/>
          </p:spPr>
          <p:txBody>
            <a:bodyPr wrap="square" rtlCol="0">
              <a:spAutoFit/>
            </a:bodyPr>
            <a:lstStyle/>
            <a:p>
              <a:pPr algn="ctr"/>
              <a:r>
                <a:rPr lang="en-US" altLang="zh-CN" sz="2400" b="1">
                  <a:solidFill>
                    <a:srgbClr val="0432FF"/>
                  </a:solidFill>
                  <a:latin typeface="+mn-lt"/>
                </a:rPr>
                <a:t>6bit</a:t>
              </a:r>
              <a:endParaRPr lang="zh-CN" altLang="en-US" sz="2400" b="1">
                <a:solidFill>
                  <a:srgbClr val="0432FF"/>
                </a:solidFill>
                <a:latin typeface="+mn-lt"/>
              </a:endParaRPr>
            </a:p>
          </p:txBody>
        </p:sp>
        <p:cxnSp>
          <p:nvCxnSpPr>
            <p:cNvPr id="34" name="Straight Connector 33">
              <a:extLst>
                <a:ext uri="{FF2B5EF4-FFF2-40B4-BE49-F238E27FC236}">
                  <a16:creationId xmlns:a16="http://schemas.microsoft.com/office/drawing/2014/main" id="{B4552981-D87C-4B3C-827E-90D4F3DEA54B}"/>
                </a:ext>
              </a:extLst>
            </p:cNvPr>
            <p:cNvCxnSpPr>
              <a:cxnSpLocks/>
            </p:cNvCxnSpPr>
            <p:nvPr/>
          </p:nvCxnSpPr>
          <p:spPr>
            <a:xfrm>
              <a:off x="3959343" y="3639862"/>
              <a:ext cx="0" cy="4671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2778A233-FC04-4852-93F7-258BABB5528D}"/>
                </a:ext>
              </a:extLst>
            </p:cNvPr>
            <p:cNvSpPr txBox="1"/>
            <p:nvPr/>
          </p:nvSpPr>
          <p:spPr>
            <a:xfrm>
              <a:off x="2910297" y="3649802"/>
              <a:ext cx="805068" cy="461665"/>
            </a:xfrm>
            <a:prstGeom prst="rect">
              <a:avLst/>
            </a:prstGeom>
            <a:noFill/>
          </p:spPr>
          <p:txBody>
            <a:bodyPr wrap="square" rtlCol="0">
              <a:spAutoFit/>
            </a:bodyPr>
            <a:lstStyle/>
            <a:p>
              <a:pPr algn="ctr"/>
              <a:r>
                <a:rPr lang="en-US" altLang="zh-CN" sz="2400" b="1" dirty="0">
                  <a:solidFill>
                    <a:srgbClr val="0432FF"/>
                  </a:solidFill>
                  <a:latin typeface="+mn-lt"/>
                </a:rPr>
                <a:t>5bit</a:t>
              </a:r>
              <a:endParaRPr lang="zh-CN" altLang="en-US" sz="2400" b="1" dirty="0">
                <a:solidFill>
                  <a:srgbClr val="0432FF"/>
                </a:solidFill>
                <a:latin typeface="+mn-lt"/>
              </a:endParaRPr>
            </a:p>
          </p:txBody>
        </p:sp>
        <p:sp>
          <p:nvSpPr>
            <p:cNvPr id="37" name="TextBox 36">
              <a:extLst>
                <a:ext uri="{FF2B5EF4-FFF2-40B4-BE49-F238E27FC236}">
                  <a16:creationId xmlns:a16="http://schemas.microsoft.com/office/drawing/2014/main" id="{AE89443E-EA6D-447D-8E09-54AF47393259}"/>
                </a:ext>
              </a:extLst>
            </p:cNvPr>
            <p:cNvSpPr txBox="1"/>
            <p:nvPr/>
          </p:nvSpPr>
          <p:spPr>
            <a:xfrm>
              <a:off x="2322819" y="2902168"/>
              <a:ext cx="2013693" cy="707886"/>
            </a:xfrm>
            <a:prstGeom prst="rect">
              <a:avLst/>
            </a:prstGeom>
            <a:noFill/>
          </p:spPr>
          <p:txBody>
            <a:bodyPr wrap="none" rtlCol="0">
              <a:spAutoFit/>
            </a:bodyPr>
            <a:lstStyle/>
            <a:p>
              <a:pPr algn="ctr"/>
              <a:r>
                <a:rPr lang="zh-CN" altLang="en-US" sz="2000" b="1" dirty="0">
                  <a:solidFill>
                    <a:schemeClr val="tx1"/>
                  </a:solidFill>
                  <a:latin typeface="+mj-ea"/>
                  <a:ea typeface="+mj-ea"/>
                </a:rPr>
                <a:t>操作数</a:t>
              </a:r>
              <a:endParaRPr lang="en-US" altLang="zh-CN" sz="2000" b="1" dirty="0">
                <a:solidFill>
                  <a:schemeClr val="tx1"/>
                </a:solidFill>
                <a:latin typeface="+mj-ea"/>
                <a:ea typeface="+mj-ea"/>
              </a:endParaRPr>
            </a:p>
            <a:p>
              <a:pPr algn="ctr"/>
              <a:r>
                <a:rPr lang="zh-CN" altLang="en-US" sz="2000" b="1" dirty="0">
                  <a:solidFill>
                    <a:schemeClr val="tx1"/>
                  </a:solidFill>
                  <a:latin typeface="+mj-ea"/>
                  <a:ea typeface="+mj-ea"/>
                </a:rPr>
                <a:t>（寄存器编号）</a:t>
              </a:r>
            </a:p>
          </p:txBody>
        </p:sp>
        <p:sp>
          <p:nvSpPr>
            <p:cNvPr id="38" name="TextBox 37">
              <a:extLst>
                <a:ext uri="{FF2B5EF4-FFF2-40B4-BE49-F238E27FC236}">
                  <a16:creationId xmlns:a16="http://schemas.microsoft.com/office/drawing/2014/main" id="{FC9488BB-031A-438A-889A-8B0256905CDE}"/>
                </a:ext>
              </a:extLst>
            </p:cNvPr>
            <p:cNvSpPr txBox="1"/>
            <p:nvPr/>
          </p:nvSpPr>
          <p:spPr>
            <a:xfrm>
              <a:off x="5604113" y="3663146"/>
              <a:ext cx="1056944" cy="461665"/>
            </a:xfrm>
            <a:prstGeom prst="rect">
              <a:avLst/>
            </a:prstGeom>
            <a:noFill/>
          </p:spPr>
          <p:txBody>
            <a:bodyPr wrap="square" rtlCol="0">
              <a:spAutoFit/>
            </a:bodyPr>
            <a:lstStyle/>
            <a:p>
              <a:pPr algn="ctr"/>
              <a:r>
                <a:rPr lang="en-US" altLang="zh-CN" sz="2400" b="1">
                  <a:solidFill>
                    <a:srgbClr val="0432FF"/>
                  </a:solidFill>
                  <a:latin typeface="+mn-lt"/>
                </a:rPr>
                <a:t>21bit</a:t>
              </a:r>
              <a:endParaRPr lang="zh-CN" altLang="en-US" sz="2400" b="1">
                <a:solidFill>
                  <a:srgbClr val="0432FF"/>
                </a:solidFill>
                <a:latin typeface="+mn-lt"/>
              </a:endParaRPr>
            </a:p>
          </p:txBody>
        </p:sp>
        <p:sp>
          <p:nvSpPr>
            <p:cNvPr id="39" name="TextBox 38">
              <a:extLst>
                <a:ext uri="{FF2B5EF4-FFF2-40B4-BE49-F238E27FC236}">
                  <a16:creationId xmlns:a16="http://schemas.microsoft.com/office/drawing/2014/main" id="{0C724A1C-6A14-4472-894C-6627E95933D0}"/>
                </a:ext>
              </a:extLst>
            </p:cNvPr>
            <p:cNvSpPr txBox="1"/>
            <p:nvPr/>
          </p:nvSpPr>
          <p:spPr>
            <a:xfrm>
              <a:off x="5655533" y="3231883"/>
              <a:ext cx="968535" cy="400110"/>
            </a:xfrm>
            <a:prstGeom prst="rect">
              <a:avLst/>
            </a:prstGeom>
            <a:noFill/>
          </p:spPr>
          <p:txBody>
            <a:bodyPr wrap="none" rtlCol="0">
              <a:spAutoFit/>
            </a:bodyPr>
            <a:lstStyle/>
            <a:p>
              <a:pPr algn="ctr"/>
              <a:r>
                <a:rPr lang="zh-CN" altLang="en-US" sz="2000" b="1" dirty="0">
                  <a:solidFill>
                    <a:schemeClr val="tx1"/>
                  </a:solidFill>
                  <a:latin typeface="+mj-ea"/>
                  <a:ea typeface="+mj-ea"/>
                </a:rPr>
                <a:t>冗余？</a:t>
              </a:r>
            </a:p>
          </p:txBody>
        </p:sp>
        <p:sp>
          <p:nvSpPr>
            <p:cNvPr id="41" name="TextBox 40">
              <a:extLst>
                <a:ext uri="{FF2B5EF4-FFF2-40B4-BE49-F238E27FC236}">
                  <a16:creationId xmlns:a16="http://schemas.microsoft.com/office/drawing/2014/main" id="{44500A18-899A-451B-8ED0-26D93EE4351E}"/>
                </a:ext>
              </a:extLst>
            </p:cNvPr>
            <p:cNvSpPr txBox="1"/>
            <p:nvPr/>
          </p:nvSpPr>
          <p:spPr>
            <a:xfrm>
              <a:off x="3460471" y="4192138"/>
              <a:ext cx="1994456" cy="523220"/>
            </a:xfrm>
            <a:prstGeom prst="rect">
              <a:avLst/>
            </a:prstGeom>
            <a:noFill/>
          </p:spPr>
          <p:txBody>
            <a:bodyPr wrap="none" rtlCol="0">
              <a:spAutoFit/>
            </a:bodyPr>
            <a:lstStyle/>
            <a:p>
              <a:pPr algn="ctr"/>
              <a:r>
                <a:rPr lang="en-US" altLang="zh-CN" sz="2800" b="1" dirty="0">
                  <a:solidFill>
                    <a:schemeClr val="tx1"/>
                  </a:solidFill>
                  <a:latin typeface="+mn-lt"/>
                  <a:ea typeface="+mj-ea"/>
                </a:rPr>
                <a:t>target = a0</a:t>
              </a:r>
              <a:endParaRPr lang="zh-CN" altLang="en-US" sz="2800" b="1" dirty="0">
                <a:solidFill>
                  <a:schemeClr val="tx1"/>
                </a:solidFill>
                <a:latin typeface="+mn-lt"/>
                <a:ea typeface="+mj-ea"/>
              </a:endParaRPr>
            </a:p>
          </p:txBody>
        </p:sp>
      </p:grpSp>
      <p:graphicFrame>
        <p:nvGraphicFramePr>
          <p:cNvPr id="3" name="Table 3">
            <a:extLst>
              <a:ext uri="{FF2B5EF4-FFF2-40B4-BE49-F238E27FC236}">
                <a16:creationId xmlns:a16="http://schemas.microsoft.com/office/drawing/2014/main" id="{F17FDDD5-57FF-3443-F908-089A46CF7BED}"/>
              </a:ext>
            </a:extLst>
          </p:cNvPr>
          <p:cNvGraphicFramePr>
            <a:graphicFrameLocks noGrp="1"/>
          </p:cNvGraphicFramePr>
          <p:nvPr>
            <p:extLst>
              <p:ext uri="{D42A27DB-BD31-4B8C-83A1-F6EECF244321}">
                <p14:modId xmlns:p14="http://schemas.microsoft.com/office/powerpoint/2010/main" val="1230463945"/>
              </p:ext>
            </p:extLst>
          </p:nvPr>
        </p:nvGraphicFramePr>
        <p:xfrm>
          <a:off x="2149398" y="1416038"/>
          <a:ext cx="4857750" cy="1130236"/>
        </p:xfrm>
        <a:graphic>
          <a:graphicData uri="http://schemas.openxmlformats.org/drawingml/2006/table">
            <a:tbl>
              <a:tblPr firstRow="1" bandRow="1">
                <a:tableStyleId>{073A0DAA-6AF3-43AB-8588-CEC1D06C72B9}</a:tableStyleId>
              </a:tblPr>
              <a:tblGrid>
                <a:gridCol w="2428875">
                  <a:extLst>
                    <a:ext uri="{9D8B030D-6E8A-4147-A177-3AD203B41FA5}">
                      <a16:colId xmlns:a16="http://schemas.microsoft.com/office/drawing/2014/main" val="4168796790"/>
                    </a:ext>
                  </a:extLst>
                </a:gridCol>
                <a:gridCol w="2428875">
                  <a:extLst>
                    <a:ext uri="{9D8B030D-6E8A-4147-A177-3AD203B41FA5}">
                      <a16:colId xmlns:a16="http://schemas.microsoft.com/office/drawing/2014/main" val="4210389464"/>
                    </a:ext>
                  </a:extLst>
                </a:gridCol>
              </a:tblGrid>
              <a:tr h="429196">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zh-CN" altLang="en-US" sz="2000" dirty="0">
                          <a:solidFill>
                            <a:schemeClr val="tx1"/>
                          </a:solidFill>
                          <a:latin typeface="Consolas" panose="020B0609020204030204" pitchFamily="49" charset="0"/>
                          <a:ea typeface="+mn-ea"/>
                          <a:cs typeface="Consolas" panose="020B0609020204030204" pitchFamily="49" charset="0"/>
                        </a:rPr>
                        <a:t>指令</a:t>
                      </a:r>
                    </a:p>
                  </a:txBody>
                  <a:tcPr anchor="ctr">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ctr"/>
                      <a:r>
                        <a:rPr lang="zh-CN" altLang="en-US" sz="2000" dirty="0">
                          <a:solidFill>
                            <a:schemeClr val="tx1"/>
                          </a:solidFill>
                          <a:latin typeface="Consolas" panose="020B0609020204030204" pitchFamily="49" charset="0"/>
                          <a:ea typeface="+mn-ea"/>
                          <a:cs typeface="Consolas" panose="020B0609020204030204" pitchFamily="49" charset="0"/>
                        </a:rPr>
                        <a:t>功能</a:t>
                      </a:r>
                    </a:p>
                  </a:txBody>
                  <a:tcPr anchor="ctr">
                    <a:lnL w="1270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extLst>
                  <a:ext uri="{0D108BD9-81ED-4DB2-BD59-A6C34878D82A}">
                    <a16:rowId xmlns:a16="http://schemas.microsoft.com/office/drawing/2014/main" val="99758767"/>
                  </a:ext>
                </a:extLst>
              </a:tr>
              <a:tr h="429196">
                <a:tc>
                  <a:txBody>
                    <a:bodyPr/>
                    <a:lstStyle/>
                    <a:p>
                      <a:pPr marL="0" algn="ctr" defTabSz="685800" rtl="0" eaLnBrk="1" latinLnBrk="0" hangingPunct="1"/>
                      <a:r>
                        <a:rPr lang="en-US" altLang="zh-CN" sz="2000" i="1" kern="1200" dirty="0">
                          <a:solidFill>
                            <a:schemeClr val="dk1"/>
                          </a:solidFill>
                          <a:latin typeface="Consolas" panose="020B0609020204030204" pitchFamily="49" charset="0"/>
                          <a:ea typeface="+mn-ea"/>
                          <a:cs typeface="Consolas" panose="020B0609020204030204" pitchFamily="49" charset="0"/>
                        </a:rPr>
                        <a:t>ret a0;</a:t>
                      </a:r>
                      <a:endParaRPr lang="zh-CN" altLang="en-US" sz="2000" i="1" kern="1200" dirty="0">
                        <a:solidFill>
                          <a:schemeClr val="dk1"/>
                        </a:solidFill>
                        <a:latin typeface="Consolas" panose="020B0609020204030204" pitchFamily="49" charset="0"/>
                        <a:ea typeface="+mn-ea"/>
                        <a:cs typeface="Consolas" panose="020B0609020204030204" pitchFamily="49" charset="0"/>
                      </a:endParaRPr>
                    </a:p>
                  </a:txBody>
                  <a:tcPr anchor="ctr">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685800" rtl="0" eaLnBrk="1" latinLnBrk="0" hangingPunct="1"/>
                      <a:r>
                        <a:rPr lang="zh-CN" altLang="en-US" sz="2000" dirty="0">
                          <a:latin typeface="Consolas" panose="020B0609020204030204" pitchFamily="49" charset="0"/>
                          <a:ea typeface="+mn-ea"/>
                          <a:cs typeface="Consolas" panose="020B0609020204030204" pitchFamily="49" charset="0"/>
                        </a:rPr>
                        <a:t>返回到变量</a:t>
                      </a:r>
                      <a:r>
                        <a:rPr lang="en-US" altLang="zh-CN" sz="2000" i="1" dirty="0">
                          <a:latin typeface="Consolas" panose="020B0609020204030204" pitchFamily="49" charset="0"/>
                          <a:ea typeface="+mn-ea"/>
                          <a:cs typeface="Consolas" panose="020B0609020204030204" pitchFamily="49" charset="0"/>
                        </a:rPr>
                        <a:t>a0</a:t>
                      </a:r>
                      <a:br>
                        <a:rPr lang="en-US" altLang="zh-CN" sz="2000" i="1" dirty="0">
                          <a:latin typeface="Consolas" panose="020B0609020204030204" pitchFamily="49" charset="0"/>
                          <a:ea typeface="+mn-ea"/>
                          <a:cs typeface="Consolas" panose="020B0609020204030204" pitchFamily="49" charset="0"/>
                        </a:rPr>
                      </a:br>
                      <a:r>
                        <a:rPr lang="zh-CN" altLang="en-US" sz="2000" dirty="0">
                          <a:latin typeface="Consolas" panose="020B0609020204030204" pitchFamily="49" charset="0"/>
                          <a:ea typeface="+mn-ea"/>
                          <a:cs typeface="Consolas" panose="020B0609020204030204" pitchFamily="49" charset="0"/>
                        </a:rPr>
                        <a:t>所存储的指令地址</a:t>
                      </a:r>
                      <a:endParaRPr lang="zh-CN" altLang="en-US" sz="2000" i="1" kern="1200" dirty="0">
                        <a:solidFill>
                          <a:schemeClr val="dk1"/>
                        </a:solidFill>
                        <a:latin typeface="Consolas" panose="020B0609020204030204" pitchFamily="49" charset="0"/>
                        <a:ea typeface="+mn-ea"/>
                        <a:cs typeface="Consolas" panose="020B0609020204030204" pitchFamily="49" charset="0"/>
                      </a:endParaRPr>
                    </a:p>
                  </a:txBody>
                  <a:tcPr anchor="ctr">
                    <a:lnL w="1270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59532006"/>
                  </a:ext>
                </a:extLst>
              </a:tr>
            </a:tbl>
          </a:graphicData>
        </a:graphic>
      </p:graphicFrame>
      <p:sp>
        <p:nvSpPr>
          <p:cNvPr id="2" name="Title 4">
            <a:extLst>
              <a:ext uri="{FF2B5EF4-FFF2-40B4-BE49-F238E27FC236}">
                <a16:creationId xmlns:a16="http://schemas.microsoft.com/office/drawing/2014/main" id="{C4A34C11-5384-B8B3-B0B4-B9F8E186BE7F}"/>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kumimoji="1" lang="zh-CN" altLang="en-US" dirty="0"/>
              <a:t>指令集设计：跳转</a:t>
            </a:r>
            <a:r>
              <a:rPr kumimoji="1" lang="en-US" altLang="zh-CN" dirty="0"/>
              <a:t>/</a:t>
            </a:r>
            <a:r>
              <a:rPr kumimoji="1" lang="zh-CN" altLang="en-US" dirty="0"/>
              <a:t>过程调用指令</a:t>
            </a:r>
            <a:endParaRPr lang="en-CN" kern="0" dirty="0"/>
          </a:p>
        </p:txBody>
      </p:sp>
    </p:spTree>
    <p:extLst>
      <p:ext uri="{BB962C8B-B14F-4D97-AF65-F5344CB8AC3E}">
        <p14:creationId xmlns:p14="http://schemas.microsoft.com/office/powerpoint/2010/main" val="14651860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a:extLst>
              <a:ext uri="{FF2B5EF4-FFF2-40B4-BE49-F238E27FC236}">
                <a16:creationId xmlns:a16="http://schemas.microsoft.com/office/drawing/2014/main" id="{68F7FF1C-DC59-5F43-A383-991D51B72C86}"/>
              </a:ext>
            </a:extLst>
          </p:cNvPr>
          <p:cNvSpPr>
            <a:spLocks noGrp="1"/>
          </p:cNvSpPr>
          <p:nvPr>
            <p:ph type="sldNum" sz="quarter" idx="12"/>
          </p:nvPr>
        </p:nvSpPr>
        <p:spPr/>
        <p:txBody>
          <a:bodyPr/>
          <a:lstStyle/>
          <a:p>
            <a:fld id="{14659731-6BD7-46E7-8D3C-2F3AC07E20B1}" type="slidenum">
              <a:rPr lang="en-US" altLang="zh-CN" smtClean="0"/>
              <a:pPr/>
              <a:t>28</a:t>
            </a:fld>
            <a:endParaRPr lang="en-US" altLang="zh-CN"/>
          </a:p>
        </p:txBody>
      </p:sp>
      <p:sp>
        <p:nvSpPr>
          <p:cNvPr id="36" name="Rectangle 3">
            <a:extLst>
              <a:ext uri="{FF2B5EF4-FFF2-40B4-BE49-F238E27FC236}">
                <a16:creationId xmlns:a16="http://schemas.microsoft.com/office/drawing/2014/main" id="{1AF4C294-9B96-4AC7-A8CA-FB8884B6204B}"/>
              </a:ext>
            </a:extLst>
          </p:cNvPr>
          <p:cNvSpPr>
            <a:spLocks noGrp="1" noChangeArrowheads="1"/>
          </p:cNvSpPr>
          <p:nvPr>
            <p:ph idx="4294967295"/>
          </p:nvPr>
        </p:nvSpPr>
        <p:spPr>
          <a:xfrm>
            <a:off x="457200" y="1393140"/>
            <a:ext cx="7886700" cy="4852086"/>
          </a:xfrm>
        </p:spPr>
        <p:txBody>
          <a:bodyPr>
            <a:normAutofit/>
          </a:bodyPr>
          <a:lstStyle/>
          <a:p>
            <a:pPr>
              <a:lnSpc>
                <a:spcPct val="120000"/>
              </a:lnSpc>
            </a:pPr>
            <a:r>
              <a:rPr lang="zh-CN" altLang="en-US" b="1" kern="1200" dirty="0">
                <a:solidFill>
                  <a:schemeClr val="dk1"/>
                </a:solidFill>
                <a:latin typeface="+mj-ea"/>
                <a:ea typeface="+mj-ea"/>
                <a:cs typeface="Arial" panose="020B0604020202020204" pitchFamily="34" charset="0"/>
              </a:rPr>
              <a:t>可能的编码方案</a:t>
            </a:r>
          </a:p>
          <a:p>
            <a:pPr lvl="1">
              <a:lnSpc>
                <a:spcPct val="120000"/>
              </a:lnSpc>
            </a:pPr>
            <a:r>
              <a:rPr lang="zh-CN" altLang="en-US" dirty="0"/>
              <a:t>当前地址</a:t>
            </a:r>
            <a:r>
              <a:rPr lang="en-US" altLang="zh-CN" dirty="0"/>
              <a:t>+</a:t>
            </a:r>
            <a:r>
              <a:rPr lang="zh-CN" altLang="en-US" dirty="0"/>
              <a:t>偏移地址？</a:t>
            </a:r>
            <a:endParaRPr lang="en-US" altLang="zh-CN" dirty="0"/>
          </a:p>
          <a:p>
            <a:pPr lvl="1">
              <a:lnSpc>
                <a:spcPct val="120000"/>
              </a:lnSpc>
            </a:pPr>
            <a:r>
              <a:rPr lang="zh-CN" altLang="en-US" dirty="0"/>
              <a:t>“伪”直接地址？</a:t>
            </a:r>
            <a:endParaRPr lang="en-US" altLang="zh-CN" dirty="0"/>
          </a:p>
          <a:p>
            <a:pPr lvl="1">
              <a:lnSpc>
                <a:spcPct val="120000"/>
              </a:lnSpc>
            </a:pPr>
            <a:r>
              <a:rPr lang="zh-CN" altLang="en-US" dirty="0"/>
              <a:t>跳转到寄存器中存储的地址？</a:t>
            </a:r>
            <a:endParaRPr lang="en-US" altLang="zh-CN" dirty="0"/>
          </a:p>
          <a:p>
            <a:pPr lvl="1">
              <a:lnSpc>
                <a:spcPct val="120000"/>
              </a:lnSpc>
            </a:pPr>
            <a:r>
              <a:rPr lang="zh-CN" altLang="en-US" dirty="0"/>
              <a:t>其他？</a:t>
            </a:r>
            <a:endParaRPr lang="en-US" altLang="zh-CN" dirty="0"/>
          </a:p>
          <a:p>
            <a:pPr>
              <a:lnSpc>
                <a:spcPct val="120000"/>
              </a:lnSpc>
            </a:pPr>
            <a:r>
              <a:rPr lang="zh-CN" altLang="en-US" dirty="0"/>
              <a:t>需要根据实际情况确定</a:t>
            </a:r>
            <a:endParaRPr lang="en-US" altLang="zh-CN" dirty="0"/>
          </a:p>
          <a:p>
            <a:pPr lvl="1">
              <a:lnSpc>
                <a:spcPct val="120000"/>
              </a:lnSpc>
            </a:pPr>
            <a:r>
              <a:rPr lang="zh-CN" altLang="en-US" dirty="0"/>
              <a:t>选择最适合的一种</a:t>
            </a:r>
            <a:endParaRPr lang="en-US" altLang="zh-CN" dirty="0"/>
          </a:p>
        </p:txBody>
      </p:sp>
      <p:sp>
        <p:nvSpPr>
          <p:cNvPr id="66" name="TextBox 65">
            <a:extLst>
              <a:ext uri="{FF2B5EF4-FFF2-40B4-BE49-F238E27FC236}">
                <a16:creationId xmlns:a16="http://schemas.microsoft.com/office/drawing/2014/main" id="{3BC68151-F0E9-4E9A-AB42-22AB66391476}"/>
              </a:ext>
            </a:extLst>
          </p:cNvPr>
          <p:cNvSpPr txBox="1"/>
          <p:nvPr/>
        </p:nvSpPr>
        <p:spPr>
          <a:xfrm>
            <a:off x="5629553" y="4166098"/>
            <a:ext cx="3057247" cy="584775"/>
          </a:xfrm>
          <a:prstGeom prst="rect">
            <a:avLst/>
          </a:prstGeom>
          <a:noFill/>
        </p:spPr>
        <p:txBody>
          <a:bodyPr wrap="none" rtlCol="0">
            <a:spAutoFit/>
          </a:bodyPr>
          <a:lstStyle/>
          <a:p>
            <a:r>
              <a:rPr lang="zh-CN" altLang="en-US" sz="3200" dirty="0">
                <a:solidFill>
                  <a:srgbClr val="0432FF"/>
                </a:solidFill>
                <a:latin typeface="+mj-ea"/>
                <a:ea typeface="+mj-ea"/>
              </a:rPr>
              <a:t>选择哪种方案？</a:t>
            </a:r>
          </a:p>
        </p:txBody>
      </p:sp>
      <p:sp>
        <p:nvSpPr>
          <p:cNvPr id="2" name="Title 4">
            <a:extLst>
              <a:ext uri="{FF2B5EF4-FFF2-40B4-BE49-F238E27FC236}">
                <a16:creationId xmlns:a16="http://schemas.microsoft.com/office/drawing/2014/main" id="{5BEA78B4-A3AA-1412-840D-A6A491753ADE}"/>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kumimoji="1" lang="zh-CN" altLang="en-US" dirty="0"/>
              <a:t>指令集设计：跳转</a:t>
            </a:r>
            <a:r>
              <a:rPr kumimoji="1" lang="en-US" altLang="zh-CN" dirty="0"/>
              <a:t>/</a:t>
            </a:r>
            <a:r>
              <a:rPr kumimoji="1" lang="zh-CN" altLang="en-US" dirty="0"/>
              <a:t>过程调用指令</a:t>
            </a:r>
            <a:endParaRPr lang="en-CN" kern="0" dirty="0"/>
          </a:p>
        </p:txBody>
      </p:sp>
    </p:spTree>
    <p:extLst>
      <p:ext uri="{BB962C8B-B14F-4D97-AF65-F5344CB8AC3E}">
        <p14:creationId xmlns:p14="http://schemas.microsoft.com/office/powerpoint/2010/main" val="30839564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a:extLst>
              <a:ext uri="{FF2B5EF4-FFF2-40B4-BE49-F238E27FC236}">
                <a16:creationId xmlns:a16="http://schemas.microsoft.com/office/drawing/2014/main" id="{68F7FF1C-DC59-5F43-A383-991D51B72C86}"/>
              </a:ext>
            </a:extLst>
          </p:cNvPr>
          <p:cNvSpPr>
            <a:spLocks noGrp="1"/>
          </p:cNvSpPr>
          <p:nvPr>
            <p:ph type="sldNum" sz="quarter" idx="12"/>
          </p:nvPr>
        </p:nvSpPr>
        <p:spPr/>
        <p:txBody>
          <a:bodyPr/>
          <a:lstStyle/>
          <a:p>
            <a:fld id="{14659731-6BD7-46E7-8D3C-2F3AC07E20B1}" type="slidenum">
              <a:rPr lang="en-US" altLang="zh-CN" smtClean="0"/>
              <a:pPr/>
              <a:t>29</a:t>
            </a:fld>
            <a:endParaRPr lang="en-US" altLang="zh-CN"/>
          </a:p>
        </p:txBody>
      </p:sp>
      <p:sp>
        <p:nvSpPr>
          <p:cNvPr id="36" name="Rectangle 3">
            <a:extLst>
              <a:ext uri="{FF2B5EF4-FFF2-40B4-BE49-F238E27FC236}">
                <a16:creationId xmlns:a16="http://schemas.microsoft.com/office/drawing/2014/main" id="{1AF4C294-9B96-4AC7-A8CA-FB8884B6204B}"/>
              </a:ext>
            </a:extLst>
          </p:cNvPr>
          <p:cNvSpPr>
            <a:spLocks noGrp="1" noChangeArrowheads="1"/>
          </p:cNvSpPr>
          <p:nvPr>
            <p:ph idx="4294967295"/>
          </p:nvPr>
        </p:nvSpPr>
        <p:spPr>
          <a:xfrm>
            <a:off x="457199" y="1253331"/>
            <a:ext cx="8513805" cy="4351338"/>
          </a:xfrm>
        </p:spPr>
        <p:txBody>
          <a:bodyPr>
            <a:normAutofit/>
          </a:bodyPr>
          <a:lstStyle/>
          <a:p>
            <a:pPr>
              <a:lnSpc>
                <a:spcPct val="150000"/>
              </a:lnSpc>
            </a:pPr>
            <a:r>
              <a:rPr lang="zh-CN" altLang="en-US" sz="2800" dirty="0"/>
              <a:t>遇到的问题</a:t>
            </a:r>
            <a:endParaRPr lang="en-US" altLang="zh-CN" sz="2800" dirty="0"/>
          </a:p>
          <a:p>
            <a:pPr lvl="1">
              <a:lnSpc>
                <a:spcPct val="150000"/>
              </a:lnSpc>
            </a:pPr>
            <a:r>
              <a:rPr lang="zh-CN" altLang="en-US" sz="2400" dirty="0">
                <a:solidFill>
                  <a:srgbClr val="0432FF"/>
                </a:solidFill>
              </a:rPr>
              <a:t>问题</a:t>
            </a:r>
            <a:r>
              <a:rPr lang="en-US" altLang="zh-CN" sz="2400" dirty="0">
                <a:solidFill>
                  <a:srgbClr val="0432FF"/>
                </a:solidFill>
              </a:rPr>
              <a:t>1</a:t>
            </a:r>
            <a:r>
              <a:rPr lang="zh-CN" altLang="en-US" sz="2400" dirty="0"/>
              <a:t>：算数</a:t>
            </a:r>
            <a:r>
              <a:rPr lang="en-US" altLang="zh-CN" sz="2400" dirty="0"/>
              <a:t>&amp;</a:t>
            </a:r>
            <a:r>
              <a:rPr lang="zh-CN" altLang="en-US" sz="2400" dirty="0"/>
              <a:t>逻辑指令</a:t>
            </a:r>
            <a:r>
              <a:rPr lang="en-US" altLang="zh-CN" sz="2400" dirty="0"/>
              <a:t>11</a:t>
            </a:r>
            <a:r>
              <a:rPr lang="zh-CN" altLang="en-US" sz="2400" dirty="0"/>
              <a:t>位冗余能否利用起来？</a:t>
            </a:r>
            <a:endParaRPr lang="en-US" altLang="zh-CN" sz="2400" dirty="0"/>
          </a:p>
          <a:p>
            <a:pPr lvl="1">
              <a:lnSpc>
                <a:spcPct val="150000"/>
              </a:lnSpc>
            </a:pPr>
            <a:r>
              <a:rPr lang="zh-CN" altLang="en-US" sz="2400" dirty="0">
                <a:solidFill>
                  <a:srgbClr val="0432FF"/>
                </a:solidFill>
              </a:rPr>
              <a:t>问题</a:t>
            </a:r>
            <a:r>
              <a:rPr lang="en-US" altLang="zh-CN" sz="2400" dirty="0">
                <a:solidFill>
                  <a:srgbClr val="0432FF"/>
                </a:solidFill>
              </a:rPr>
              <a:t>2</a:t>
            </a:r>
            <a:r>
              <a:rPr lang="zh-CN" altLang="en-US" sz="2400" dirty="0"/>
              <a:t>：分支可能的地址范围有</a:t>
            </a:r>
            <a:r>
              <a:rPr lang="en-US" altLang="zh-CN" sz="2400" dirty="0"/>
              <a:t>32</a:t>
            </a:r>
            <a:r>
              <a:rPr lang="zh-CN" altLang="en-US" sz="2400" dirty="0"/>
              <a:t>位，如何用</a:t>
            </a:r>
            <a:r>
              <a:rPr lang="en-US" altLang="zh-CN" sz="2400" dirty="0"/>
              <a:t>16</a:t>
            </a:r>
            <a:r>
              <a:rPr lang="zh-CN" altLang="en-US" sz="2400" dirty="0"/>
              <a:t>位表示？</a:t>
            </a:r>
            <a:endParaRPr lang="en-US" altLang="zh-CN" sz="2400" dirty="0"/>
          </a:p>
          <a:p>
            <a:pPr lvl="1">
              <a:lnSpc>
                <a:spcPct val="150000"/>
              </a:lnSpc>
            </a:pPr>
            <a:r>
              <a:rPr lang="zh-CN" altLang="en-US" sz="2400" dirty="0">
                <a:solidFill>
                  <a:srgbClr val="0432FF"/>
                </a:solidFill>
              </a:rPr>
              <a:t>问题</a:t>
            </a:r>
            <a:r>
              <a:rPr lang="en-US" altLang="zh-CN" sz="2400" dirty="0">
                <a:solidFill>
                  <a:srgbClr val="0432FF"/>
                </a:solidFill>
              </a:rPr>
              <a:t>3</a:t>
            </a:r>
            <a:r>
              <a:rPr lang="zh-CN" altLang="en-US" sz="2400" dirty="0"/>
              <a:t>：带立即数的分支指令立即数如何编码？</a:t>
            </a:r>
            <a:endParaRPr lang="en-US" altLang="zh-CN" sz="2400" dirty="0"/>
          </a:p>
          <a:p>
            <a:pPr lvl="1">
              <a:lnSpc>
                <a:spcPct val="150000"/>
              </a:lnSpc>
            </a:pPr>
            <a:r>
              <a:rPr lang="zh-CN" altLang="en-US" sz="2400" dirty="0">
                <a:solidFill>
                  <a:srgbClr val="0432FF"/>
                </a:solidFill>
              </a:rPr>
              <a:t>问题</a:t>
            </a:r>
            <a:r>
              <a:rPr lang="en-US" altLang="zh-CN" sz="2400" dirty="0">
                <a:solidFill>
                  <a:srgbClr val="0432FF"/>
                </a:solidFill>
              </a:rPr>
              <a:t>4</a:t>
            </a:r>
            <a:r>
              <a:rPr lang="zh-CN" altLang="en-US" sz="2400" dirty="0"/>
              <a:t>：可能的访存地址有</a:t>
            </a:r>
            <a:r>
              <a:rPr lang="en-US" altLang="zh-CN" sz="2400" dirty="0"/>
              <a:t>32</a:t>
            </a:r>
            <a:r>
              <a:rPr lang="zh-CN" altLang="en-US" sz="2400" dirty="0"/>
              <a:t>位，如何用</a:t>
            </a:r>
            <a:r>
              <a:rPr lang="en-US" altLang="zh-CN" sz="2400" dirty="0"/>
              <a:t>21</a:t>
            </a:r>
            <a:r>
              <a:rPr lang="zh-CN" altLang="en-US" sz="2400" dirty="0"/>
              <a:t>位表示？</a:t>
            </a:r>
            <a:endParaRPr lang="en-US" altLang="zh-CN" sz="2400" dirty="0"/>
          </a:p>
          <a:p>
            <a:pPr lvl="1">
              <a:lnSpc>
                <a:spcPct val="150000"/>
              </a:lnSpc>
            </a:pPr>
            <a:r>
              <a:rPr lang="zh-CN" altLang="en-US" sz="2400" dirty="0">
                <a:solidFill>
                  <a:srgbClr val="0432FF"/>
                </a:solidFill>
              </a:rPr>
              <a:t>问题</a:t>
            </a:r>
            <a:r>
              <a:rPr lang="en-US" altLang="zh-CN" sz="2400" dirty="0">
                <a:solidFill>
                  <a:srgbClr val="0432FF"/>
                </a:solidFill>
              </a:rPr>
              <a:t>5</a:t>
            </a:r>
            <a:r>
              <a:rPr lang="zh-CN" altLang="en-US" sz="2400" dirty="0"/>
              <a:t>：可能的跳转地址有</a:t>
            </a:r>
            <a:r>
              <a:rPr lang="en-US" altLang="zh-CN" sz="2400" dirty="0"/>
              <a:t>32</a:t>
            </a:r>
            <a:r>
              <a:rPr lang="zh-CN" altLang="en-US" sz="2400" dirty="0"/>
              <a:t>位，如何用</a:t>
            </a:r>
            <a:r>
              <a:rPr lang="en-US" altLang="zh-CN" sz="2400" dirty="0"/>
              <a:t>26</a:t>
            </a:r>
            <a:r>
              <a:rPr lang="zh-CN" altLang="en-US" sz="2400" dirty="0"/>
              <a:t>位表示？</a:t>
            </a:r>
            <a:endParaRPr lang="en-US" altLang="zh-CN" sz="2400" dirty="0"/>
          </a:p>
        </p:txBody>
      </p:sp>
      <p:sp>
        <p:nvSpPr>
          <p:cNvPr id="3" name="TextBox 2">
            <a:extLst>
              <a:ext uri="{FF2B5EF4-FFF2-40B4-BE49-F238E27FC236}">
                <a16:creationId xmlns:a16="http://schemas.microsoft.com/office/drawing/2014/main" id="{21D9AFE0-66C9-4656-AF63-DB59ACEB6F5B}"/>
              </a:ext>
            </a:extLst>
          </p:cNvPr>
          <p:cNvSpPr txBox="1"/>
          <p:nvPr/>
        </p:nvSpPr>
        <p:spPr>
          <a:xfrm>
            <a:off x="457198" y="5079473"/>
            <a:ext cx="7673546" cy="1284006"/>
          </a:xfrm>
          <a:prstGeom prst="rect">
            <a:avLst/>
          </a:prstGeom>
          <a:noFill/>
        </p:spPr>
        <p:txBody>
          <a:bodyPr wrap="square" rtlCol="0">
            <a:spAutoFit/>
          </a:bodyPr>
          <a:lstStyle/>
          <a:p>
            <a:pPr>
              <a:lnSpc>
                <a:spcPct val="150000"/>
              </a:lnSpc>
            </a:pPr>
            <a:r>
              <a:rPr lang="zh-CN" altLang="en-US" sz="2800" b="1" dirty="0">
                <a:solidFill>
                  <a:schemeClr val="tx1"/>
                </a:solidFill>
                <a:latin typeface="+mj-ea"/>
                <a:ea typeface="+mj-ea"/>
              </a:rPr>
              <a:t>编码中的主要矛盾：寻址</a:t>
            </a:r>
            <a:endParaRPr lang="en-US" altLang="zh-CN" sz="2800" b="1" dirty="0">
              <a:latin typeface="+mj-ea"/>
              <a:ea typeface="+mj-ea"/>
            </a:endParaRPr>
          </a:p>
          <a:p>
            <a:pPr>
              <a:lnSpc>
                <a:spcPct val="150000"/>
              </a:lnSpc>
            </a:pPr>
            <a:r>
              <a:rPr lang="en-US" altLang="zh-CN" sz="2800" b="1" dirty="0">
                <a:solidFill>
                  <a:schemeClr val="tx1"/>
                </a:solidFill>
                <a:latin typeface="+mj-ea"/>
                <a:ea typeface="+mj-ea"/>
              </a:rPr>
              <a:t>	</a:t>
            </a:r>
            <a:r>
              <a:rPr lang="zh-CN" altLang="en-US" sz="2800" b="1" dirty="0">
                <a:solidFill>
                  <a:schemeClr val="tx1"/>
                </a:solidFill>
                <a:latin typeface="+mj-ea"/>
                <a:ea typeface="+mj-ea"/>
              </a:rPr>
              <a:t>如何用有限的比特位表示</a:t>
            </a:r>
            <a:r>
              <a:rPr lang="en-US" altLang="zh-CN" sz="2800" b="1" dirty="0">
                <a:solidFill>
                  <a:schemeClr val="tx1"/>
                </a:solidFill>
                <a:latin typeface="+mj-ea"/>
                <a:ea typeface="+mj-ea"/>
              </a:rPr>
              <a:t>32</a:t>
            </a:r>
            <a:r>
              <a:rPr lang="zh-CN" altLang="en-US" sz="2800" b="1" dirty="0">
                <a:solidFill>
                  <a:schemeClr val="tx1"/>
                </a:solidFill>
                <a:latin typeface="+mj-ea"/>
                <a:ea typeface="+mj-ea"/>
              </a:rPr>
              <a:t>位地址范围</a:t>
            </a:r>
            <a:endParaRPr lang="en-US" altLang="zh-CN" sz="2800" b="1" dirty="0">
              <a:solidFill>
                <a:schemeClr val="tx1"/>
              </a:solidFill>
              <a:latin typeface="+mj-ea"/>
              <a:ea typeface="+mj-ea"/>
            </a:endParaRPr>
          </a:p>
        </p:txBody>
      </p:sp>
      <p:sp>
        <p:nvSpPr>
          <p:cNvPr id="2" name="Title 4">
            <a:extLst>
              <a:ext uri="{FF2B5EF4-FFF2-40B4-BE49-F238E27FC236}">
                <a16:creationId xmlns:a16="http://schemas.microsoft.com/office/drawing/2014/main" id="{FF92C2C5-DDAF-9F9E-A3E5-892677ECE263}"/>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kumimoji="1" lang="zh-CN" altLang="en-US"/>
              <a:t>指令集设计：总结</a:t>
            </a:r>
            <a:endParaRPr lang="en-CN" kern="0" dirty="0"/>
          </a:p>
        </p:txBody>
      </p:sp>
      <mc:AlternateContent xmlns:mc="http://schemas.openxmlformats.org/markup-compatibility/2006" xmlns:p14="http://schemas.microsoft.com/office/powerpoint/2010/main">
        <mc:Choice Requires="p14">
          <p:contentPart p14:bwMode="auto" r:id="rId3">
            <p14:nvContentPartPr>
              <p14:cNvPr id="4" name="墨迹 3">
                <a:extLst>
                  <a:ext uri="{FF2B5EF4-FFF2-40B4-BE49-F238E27FC236}">
                    <a16:creationId xmlns:a16="http://schemas.microsoft.com/office/drawing/2014/main" id="{839A957B-3D5D-FA02-DFB7-A2951FEF9E3D}"/>
                  </a:ext>
                </a:extLst>
              </p14:cNvPr>
              <p14:cNvContentPartPr/>
              <p14:nvPr/>
            </p14:nvContentPartPr>
            <p14:xfrm>
              <a:off x="5248080" y="2399760"/>
              <a:ext cx="2371680" cy="404280"/>
            </p14:xfrm>
          </p:contentPart>
        </mc:Choice>
        <mc:Fallback xmlns="">
          <p:pic>
            <p:nvPicPr>
              <p:cNvPr id="4" name="墨迹 3">
                <a:extLst>
                  <a:ext uri="{FF2B5EF4-FFF2-40B4-BE49-F238E27FC236}">
                    <a16:creationId xmlns:a16="http://schemas.microsoft.com/office/drawing/2014/main" id="{839A957B-3D5D-FA02-DFB7-A2951FEF9E3D}"/>
                  </a:ext>
                </a:extLst>
              </p:cNvPr>
              <p:cNvPicPr/>
              <p:nvPr/>
            </p:nvPicPr>
            <p:blipFill>
              <a:blip r:embed="rId4"/>
              <a:stretch>
                <a:fillRect/>
              </a:stretch>
            </p:blipFill>
            <p:spPr>
              <a:xfrm>
                <a:off x="5238720" y="2390400"/>
                <a:ext cx="2390400" cy="423000"/>
              </a:xfrm>
              <a:prstGeom prst="rect">
                <a:avLst/>
              </a:prstGeom>
            </p:spPr>
          </p:pic>
        </mc:Fallback>
      </mc:AlternateContent>
    </p:spTree>
    <p:extLst>
      <p:ext uri="{BB962C8B-B14F-4D97-AF65-F5344CB8AC3E}">
        <p14:creationId xmlns:p14="http://schemas.microsoft.com/office/powerpoint/2010/main" val="109307964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a:extLst>
              <a:ext uri="{FF2B5EF4-FFF2-40B4-BE49-F238E27FC236}">
                <a16:creationId xmlns:a16="http://schemas.microsoft.com/office/drawing/2014/main" id="{68F7FF1C-DC59-5F43-A383-991D51B72C86}"/>
              </a:ext>
            </a:extLst>
          </p:cNvPr>
          <p:cNvSpPr>
            <a:spLocks noGrp="1"/>
          </p:cNvSpPr>
          <p:nvPr>
            <p:ph type="sldNum" sz="quarter" idx="12"/>
          </p:nvPr>
        </p:nvSpPr>
        <p:spPr/>
        <p:txBody>
          <a:bodyPr/>
          <a:lstStyle/>
          <a:p>
            <a:fld id="{14659731-6BD7-46E7-8D3C-2F3AC07E20B1}" type="slidenum">
              <a:rPr lang="en-US" altLang="zh-CN" smtClean="0"/>
              <a:pPr/>
              <a:t>30</a:t>
            </a:fld>
            <a:endParaRPr lang="en-US" altLang="zh-CN"/>
          </a:p>
        </p:txBody>
      </p:sp>
      <p:sp>
        <p:nvSpPr>
          <p:cNvPr id="36" name="Rectangle 3">
            <a:extLst>
              <a:ext uri="{FF2B5EF4-FFF2-40B4-BE49-F238E27FC236}">
                <a16:creationId xmlns:a16="http://schemas.microsoft.com/office/drawing/2014/main" id="{1AF4C294-9B96-4AC7-A8CA-FB8884B6204B}"/>
              </a:ext>
            </a:extLst>
          </p:cNvPr>
          <p:cNvSpPr>
            <a:spLocks noGrp="1" noChangeArrowheads="1"/>
          </p:cNvSpPr>
          <p:nvPr>
            <p:ph idx="4294967295"/>
          </p:nvPr>
        </p:nvSpPr>
        <p:spPr>
          <a:xfrm>
            <a:off x="451204" y="1430209"/>
            <a:ext cx="8408591" cy="5020018"/>
          </a:xfrm>
        </p:spPr>
        <p:txBody>
          <a:bodyPr>
            <a:normAutofit/>
          </a:bodyPr>
          <a:lstStyle/>
          <a:p>
            <a:pPr>
              <a:lnSpc>
                <a:spcPct val="150000"/>
              </a:lnSpc>
            </a:pPr>
            <a:r>
              <a:rPr lang="zh-CN" altLang="en-US" sz="3500" dirty="0"/>
              <a:t>指令集设计是一个不断迭代的过程</a:t>
            </a:r>
            <a:endParaRPr lang="en-US" altLang="zh-CN" sz="3500" dirty="0"/>
          </a:p>
          <a:p>
            <a:pPr marL="0" indent="0">
              <a:lnSpc>
                <a:spcPct val="150000"/>
              </a:lnSpc>
              <a:buNone/>
            </a:pPr>
            <a:endParaRPr lang="en-US" altLang="zh-CN" sz="3500" dirty="0"/>
          </a:p>
          <a:p>
            <a:pPr>
              <a:lnSpc>
                <a:spcPct val="150000"/>
              </a:lnSpc>
            </a:pPr>
            <a:r>
              <a:rPr lang="zh-CN" altLang="en-US" sz="3500" dirty="0"/>
              <a:t>可能的编码方案很多</a:t>
            </a:r>
            <a:endParaRPr lang="en-US" altLang="zh-CN" sz="3500" dirty="0"/>
          </a:p>
          <a:p>
            <a:pPr>
              <a:lnSpc>
                <a:spcPct val="150000"/>
              </a:lnSpc>
            </a:pPr>
            <a:r>
              <a:rPr lang="zh-CN" altLang="en-US" sz="3500" dirty="0"/>
              <a:t>需要结合实际需求、硬件实现确定哪种方案是最优的</a:t>
            </a:r>
            <a:endParaRPr lang="en-US" altLang="zh-CN" sz="1900" dirty="0"/>
          </a:p>
          <a:p>
            <a:pPr lvl="1">
              <a:lnSpc>
                <a:spcPct val="150000"/>
              </a:lnSpc>
            </a:pPr>
            <a:endParaRPr lang="en-US" altLang="zh-CN" sz="1900" dirty="0"/>
          </a:p>
        </p:txBody>
      </p:sp>
      <p:grpSp>
        <p:nvGrpSpPr>
          <p:cNvPr id="6" name="组合 5">
            <a:extLst>
              <a:ext uri="{FF2B5EF4-FFF2-40B4-BE49-F238E27FC236}">
                <a16:creationId xmlns:a16="http://schemas.microsoft.com/office/drawing/2014/main" id="{1893834D-FBAF-ADE9-8ECA-B81700039641}"/>
              </a:ext>
            </a:extLst>
          </p:cNvPr>
          <p:cNvGrpSpPr/>
          <p:nvPr/>
        </p:nvGrpSpPr>
        <p:grpSpPr>
          <a:xfrm>
            <a:off x="2158132" y="2559409"/>
            <a:ext cx="4395068" cy="523220"/>
            <a:chOff x="2155805" y="1953928"/>
            <a:chExt cx="4395068" cy="523220"/>
          </a:xfrm>
        </p:grpSpPr>
        <p:sp>
          <p:nvSpPr>
            <p:cNvPr id="2" name="TextBox 1">
              <a:extLst>
                <a:ext uri="{FF2B5EF4-FFF2-40B4-BE49-F238E27FC236}">
                  <a16:creationId xmlns:a16="http://schemas.microsoft.com/office/drawing/2014/main" id="{3B0B32CC-8897-4B12-AB0A-D02471DC75C0}"/>
                </a:ext>
              </a:extLst>
            </p:cNvPr>
            <p:cNvSpPr txBox="1"/>
            <p:nvPr/>
          </p:nvSpPr>
          <p:spPr>
            <a:xfrm>
              <a:off x="2155805" y="1953928"/>
              <a:ext cx="906017" cy="523220"/>
            </a:xfrm>
            <a:prstGeom prst="rect">
              <a:avLst/>
            </a:prstGeom>
            <a:noFill/>
          </p:spPr>
          <p:txBody>
            <a:bodyPr wrap="none" rtlCol="0">
              <a:spAutoFit/>
            </a:bodyPr>
            <a:lstStyle/>
            <a:p>
              <a:r>
                <a:rPr lang="zh-CN" altLang="en-US" sz="2800" dirty="0">
                  <a:solidFill>
                    <a:schemeClr val="tx1"/>
                  </a:solidFill>
                  <a:latin typeface="+mj-ea"/>
                  <a:ea typeface="+mj-ea"/>
                </a:rPr>
                <a:t>软件</a:t>
              </a:r>
            </a:p>
          </p:txBody>
        </p:sp>
        <p:cxnSp>
          <p:nvCxnSpPr>
            <p:cNvPr id="4" name="Straight Arrow Connector 3">
              <a:extLst>
                <a:ext uri="{FF2B5EF4-FFF2-40B4-BE49-F238E27FC236}">
                  <a16:creationId xmlns:a16="http://schemas.microsoft.com/office/drawing/2014/main" id="{6E4BE569-92F3-4ABB-B83D-190083C3E26C}"/>
                </a:ext>
              </a:extLst>
            </p:cNvPr>
            <p:cNvCxnSpPr>
              <a:cxnSpLocks/>
            </p:cNvCxnSpPr>
            <p:nvPr/>
          </p:nvCxnSpPr>
          <p:spPr>
            <a:xfrm>
              <a:off x="3141046" y="2215538"/>
              <a:ext cx="504704" cy="0"/>
            </a:xfrm>
            <a:prstGeom prst="straightConnector1">
              <a:avLst/>
            </a:prstGeom>
            <a:ln w="3810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BF7C9AC5-368B-48E2-81B7-2EC0D590550E}"/>
                </a:ext>
              </a:extLst>
            </p:cNvPr>
            <p:cNvSpPr txBox="1"/>
            <p:nvPr/>
          </p:nvSpPr>
          <p:spPr>
            <a:xfrm>
              <a:off x="3763612" y="1953928"/>
              <a:ext cx="1261884" cy="523220"/>
            </a:xfrm>
            <a:prstGeom prst="rect">
              <a:avLst/>
            </a:prstGeom>
            <a:noFill/>
          </p:spPr>
          <p:txBody>
            <a:bodyPr wrap="none" rtlCol="0">
              <a:spAutoFit/>
            </a:bodyPr>
            <a:lstStyle/>
            <a:p>
              <a:r>
                <a:rPr lang="zh-CN" altLang="en-US" sz="2800" dirty="0">
                  <a:solidFill>
                    <a:schemeClr val="tx1"/>
                  </a:solidFill>
                  <a:latin typeface="+mj-ea"/>
                  <a:ea typeface="+mj-ea"/>
                </a:rPr>
                <a:t>指令集</a:t>
              </a:r>
            </a:p>
          </p:txBody>
        </p:sp>
        <p:cxnSp>
          <p:nvCxnSpPr>
            <p:cNvPr id="13" name="Straight Arrow Connector 12">
              <a:extLst>
                <a:ext uri="{FF2B5EF4-FFF2-40B4-BE49-F238E27FC236}">
                  <a16:creationId xmlns:a16="http://schemas.microsoft.com/office/drawing/2014/main" id="{FD71ADF0-E5AF-4527-A679-621EB732AA8E}"/>
                </a:ext>
              </a:extLst>
            </p:cNvPr>
            <p:cNvCxnSpPr>
              <a:cxnSpLocks/>
            </p:cNvCxnSpPr>
            <p:nvPr/>
          </p:nvCxnSpPr>
          <p:spPr>
            <a:xfrm>
              <a:off x="5073621" y="2215538"/>
              <a:ext cx="504704" cy="0"/>
            </a:xfrm>
            <a:prstGeom prst="straightConnector1">
              <a:avLst/>
            </a:prstGeom>
            <a:ln w="3810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4BA17ACB-1DEE-4F65-8C9B-B39EBFC36143}"/>
                </a:ext>
              </a:extLst>
            </p:cNvPr>
            <p:cNvSpPr txBox="1"/>
            <p:nvPr/>
          </p:nvSpPr>
          <p:spPr>
            <a:xfrm>
              <a:off x="5648062" y="1953928"/>
              <a:ext cx="902811" cy="523220"/>
            </a:xfrm>
            <a:prstGeom prst="rect">
              <a:avLst/>
            </a:prstGeom>
            <a:noFill/>
          </p:spPr>
          <p:txBody>
            <a:bodyPr wrap="none" rtlCol="0">
              <a:spAutoFit/>
            </a:bodyPr>
            <a:lstStyle/>
            <a:p>
              <a:r>
                <a:rPr lang="zh-CN" altLang="en-US" sz="2800" dirty="0">
                  <a:solidFill>
                    <a:schemeClr val="tx1"/>
                  </a:solidFill>
                  <a:latin typeface="+mj-ea"/>
                  <a:ea typeface="+mj-ea"/>
                </a:rPr>
                <a:t>硬件</a:t>
              </a:r>
            </a:p>
          </p:txBody>
        </p:sp>
      </p:grpSp>
      <p:sp>
        <p:nvSpPr>
          <p:cNvPr id="3" name="Title 4">
            <a:extLst>
              <a:ext uri="{FF2B5EF4-FFF2-40B4-BE49-F238E27FC236}">
                <a16:creationId xmlns:a16="http://schemas.microsoft.com/office/drawing/2014/main" id="{5CC2185F-0506-27CA-5FDD-8336ADBDB803}"/>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kumimoji="1" lang="zh-CN" altLang="en-US" dirty="0"/>
              <a:t>指令集设计：总结</a:t>
            </a:r>
            <a:endParaRPr lang="en-CN" kern="0" dirty="0"/>
          </a:p>
        </p:txBody>
      </p:sp>
    </p:spTree>
    <p:extLst>
      <p:ext uri="{BB962C8B-B14F-4D97-AF65-F5344CB8AC3E}">
        <p14:creationId xmlns:p14="http://schemas.microsoft.com/office/powerpoint/2010/main" val="22982429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58C6A64-4532-734D-A003-17AB02EDCF0D}"/>
              </a:ext>
            </a:extLst>
          </p:cNvPr>
          <p:cNvSpPr>
            <a:spLocks noGrp="1"/>
          </p:cNvSpPr>
          <p:nvPr>
            <p:ph type="sldNum" sz="quarter" idx="12"/>
          </p:nvPr>
        </p:nvSpPr>
        <p:spPr/>
        <p:txBody>
          <a:bodyPr/>
          <a:lstStyle/>
          <a:p>
            <a:fld id="{176ACFD1-D213-4B9C-817B-45486DBF105A}" type="slidenum">
              <a:rPr lang="en-US" smtClean="0">
                <a:solidFill>
                  <a:prstClr val="black"/>
                </a:solidFill>
              </a:rPr>
              <a:pPr/>
              <a:t>31</a:t>
            </a:fld>
            <a:endParaRPr lang="en-US">
              <a:solidFill>
                <a:prstClr val="black"/>
              </a:solidFill>
            </a:endParaRPr>
          </a:p>
        </p:txBody>
      </p:sp>
      <p:sp>
        <p:nvSpPr>
          <p:cNvPr id="3" name="Content Placeholder 2">
            <a:extLst>
              <a:ext uri="{FF2B5EF4-FFF2-40B4-BE49-F238E27FC236}">
                <a16:creationId xmlns:a16="http://schemas.microsoft.com/office/drawing/2014/main" id="{FBC54065-A8EB-A646-8897-9BA089C94A03}"/>
              </a:ext>
            </a:extLst>
          </p:cNvPr>
          <p:cNvSpPr>
            <a:spLocks noGrp="1"/>
          </p:cNvSpPr>
          <p:nvPr>
            <p:ph idx="4294967295"/>
          </p:nvPr>
        </p:nvSpPr>
        <p:spPr>
          <a:xfrm>
            <a:off x="457200" y="1253331"/>
            <a:ext cx="8229600" cy="5230813"/>
          </a:xfrm>
        </p:spPr>
        <p:txBody>
          <a:bodyPr>
            <a:normAutofit fontScale="92500" lnSpcReduction="20000"/>
          </a:bodyPr>
          <a:lstStyle/>
          <a:p>
            <a:pPr>
              <a:lnSpc>
                <a:spcPct val="150000"/>
              </a:lnSpc>
            </a:pPr>
            <a:r>
              <a:rPr lang="zh-CN" altLang="en-US" dirty="0">
                <a:latin typeface="Arial" panose="020B0604020202020204" pitchFamily="34" charset="0"/>
                <a:cs typeface="Arial" panose="020B0604020202020204" pitchFamily="34" charset="0"/>
              </a:rPr>
              <a:t>指令设计思想与考虑</a:t>
            </a:r>
            <a:endParaRPr lang="en-US" altLang="zh-CN" dirty="0">
              <a:latin typeface="Arial" panose="020B0604020202020204" pitchFamily="34" charset="0"/>
              <a:cs typeface="Arial" panose="020B0604020202020204" pitchFamily="34" charset="0"/>
            </a:endParaRPr>
          </a:p>
          <a:p>
            <a:pPr>
              <a:lnSpc>
                <a:spcPct val="150000"/>
              </a:lnSpc>
            </a:pPr>
            <a:r>
              <a:rPr lang="en-US" dirty="0">
                <a:solidFill>
                  <a:srgbClr val="0432FF"/>
                </a:solidFill>
                <a:latin typeface="Arial" panose="020B0604020202020204" pitchFamily="34" charset="0"/>
                <a:cs typeface="Arial" panose="020B0604020202020204" pitchFamily="34" charset="0"/>
              </a:rPr>
              <a:t>MIPS</a:t>
            </a:r>
            <a:r>
              <a:rPr lang="zh-CN" altLang="en-US" dirty="0">
                <a:solidFill>
                  <a:srgbClr val="0432FF"/>
                </a:solidFill>
                <a:latin typeface="Arial" panose="020B0604020202020204" pitchFamily="34" charset="0"/>
                <a:cs typeface="Arial" panose="020B0604020202020204" pitchFamily="34" charset="0"/>
              </a:rPr>
              <a:t>指令集介绍</a:t>
            </a:r>
            <a:endParaRPr lang="en-US" altLang="zh-CN" dirty="0">
              <a:solidFill>
                <a:srgbClr val="0432FF"/>
              </a:solidFill>
              <a:latin typeface="Arial" panose="020B0604020202020204" pitchFamily="34" charset="0"/>
              <a:cs typeface="Arial" panose="020B0604020202020204" pitchFamily="34" charset="0"/>
            </a:endParaRPr>
          </a:p>
          <a:p>
            <a:pPr lvl="1">
              <a:lnSpc>
                <a:spcPct val="150000"/>
              </a:lnSpc>
            </a:pPr>
            <a:r>
              <a:rPr lang="zh-CN" altLang="en-US" dirty="0">
                <a:solidFill>
                  <a:srgbClr val="0432FF"/>
                </a:solidFill>
                <a:latin typeface="Arial" panose="020B0604020202020204" pitchFamily="34" charset="0"/>
                <a:cs typeface="Arial" panose="020B0604020202020204" pitchFamily="34" charset="0"/>
              </a:rPr>
              <a:t>指令存储与数据存储</a:t>
            </a:r>
            <a:endParaRPr lang="en-US" altLang="zh-CN" dirty="0">
              <a:solidFill>
                <a:srgbClr val="0432FF"/>
              </a:solidFill>
              <a:latin typeface="Arial" panose="020B0604020202020204" pitchFamily="34" charset="0"/>
              <a:cs typeface="Arial" panose="020B0604020202020204" pitchFamily="34" charset="0"/>
            </a:endParaRPr>
          </a:p>
          <a:p>
            <a:pPr lvl="1">
              <a:lnSpc>
                <a:spcPct val="150000"/>
              </a:lnSpc>
            </a:pPr>
            <a:r>
              <a:rPr lang="zh-CN" altLang="en-US" dirty="0">
                <a:latin typeface="Arial" panose="020B0604020202020204" pitchFamily="34" charset="0"/>
                <a:cs typeface="Arial" panose="020B0604020202020204" pitchFamily="34" charset="0"/>
              </a:rPr>
              <a:t>指令分类与格式</a:t>
            </a:r>
            <a:endParaRPr lang="en-US" altLang="zh-CN" dirty="0">
              <a:latin typeface="Arial" panose="020B0604020202020204" pitchFamily="34" charset="0"/>
              <a:cs typeface="Arial" panose="020B0604020202020204" pitchFamily="34" charset="0"/>
            </a:endParaRPr>
          </a:p>
          <a:p>
            <a:pPr lvl="1">
              <a:lnSpc>
                <a:spcPct val="150000"/>
              </a:lnSpc>
            </a:pPr>
            <a:r>
              <a:rPr lang="zh-CN" altLang="en-US" dirty="0">
                <a:latin typeface="Arial" panose="020B0604020202020204" pitchFamily="34" charset="0"/>
                <a:cs typeface="Arial" panose="020B0604020202020204" pitchFamily="34" charset="0"/>
              </a:rPr>
              <a:t>寻址方式</a:t>
            </a:r>
            <a:endParaRPr lang="en-US" altLang="zh-CN" dirty="0">
              <a:latin typeface="Arial" panose="020B0604020202020204" pitchFamily="34" charset="0"/>
              <a:cs typeface="Arial" panose="020B0604020202020204" pitchFamily="34" charset="0"/>
            </a:endParaRPr>
          </a:p>
          <a:p>
            <a:pPr lvl="1">
              <a:lnSpc>
                <a:spcPct val="150000"/>
              </a:lnSpc>
            </a:pPr>
            <a:r>
              <a:rPr lang="zh-CN" altLang="en-US" dirty="0">
                <a:latin typeface="Arial" panose="020B0604020202020204" pitchFamily="34" charset="0"/>
                <a:cs typeface="Arial" panose="020B0604020202020204" pitchFamily="34" charset="0"/>
              </a:rPr>
              <a:t>常见指令介绍</a:t>
            </a:r>
            <a:endParaRPr lang="en-US" altLang="zh-CN" dirty="0">
              <a:latin typeface="Arial" panose="020B0604020202020204" pitchFamily="34" charset="0"/>
              <a:cs typeface="Arial" panose="020B0604020202020204" pitchFamily="34" charset="0"/>
            </a:endParaRPr>
          </a:p>
          <a:p>
            <a:pPr lvl="1">
              <a:lnSpc>
                <a:spcPct val="150000"/>
              </a:lnSpc>
            </a:pPr>
            <a:r>
              <a:rPr lang="zh-CN" altLang="en-US" dirty="0">
                <a:latin typeface="Arial" panose="020B0604020202020204" pitchFamily="34" charset="0"/>
                <a:cs typeface="Arial" panose="020B0604020202020204" pitchFamily="34" charset="0"/>
              </a:rPr>
              <a:t>过程调用</a:t>
            </a:r>
            <a:endParaRPr lang="en-US" altLang="zh-CN" dirty="0">
              <a:latin typeface="Arial" panose="020B0604020202020204" pitchFamily="34" charset="0"/>
              <a:cs typeface="Arial" panose="020B0604020202020204" pitchFamily="34" charset="0"/>
            </a:endParaRPr>
          </a:p>
          <a:p>
            <a:pPr>
              <a:lnSpc>
                <a:spcPct val="150000"/>
              </a:lnSpc>
            </a:pPr>
            <a:r>
              <a:rPr lang="en-US" altLang="zh-CN" dirty="0">
                <a:latin typeface="Arial" panose="020B0604020202020204" pitchFamily="34" charset="0"/>
                <a:cs typeface="Arial" panose="020B0604020202020204" pitchFamily="34" charset="0"/>
              </a:rPr>
              <a:t>MIPS</a:t>
            </a:r>
            <a:r>
              <a:rPr lang="zh-CN" altLang="en-US" dirty="0">
                <a:latin typeface="Arial" panose="020B0604020202020204" pitchFamily="34" charset="0"/>
                <a:cs typeface="Arial" panose="020B0604020202020204" pitchFamily="34" charset="0"/>
              </a:rPr>
              <a:t>指令集程序</a:t>
            </a:r>
            <a:endParaRPr lang="en-US" altLang="zh-CN" dirty="0">
              <a:latin typeface="Arial" panose="020B0604020202020204" pitchFamily="34" charset="0"/>
              <a:cs typeface="Arial" panose="020B0604020202020204" pitchFamily="34" charset="0"/>
            </a:endParaRPr>
          </a:p>
          <a:p>
            <a:pPr marL="342900" lvl="1" indent="0">
              <a:lnSpc>
                <a:spcPct val="150000"/>
              </a:lnSpc>
              <a:buNone/>
            </a:pPr>
            <a:endParaRPr lang="en-US" altLang="zh-CN" sz="2800" dirty="0">
              <a:latin typeface="Arial" panose="020B0604020202020204" pitchFamily="34" charset="0"/>
              <a:cs typeface="Arial" panose="020B0604020202020204" pitchFamily="34" charset="0"/>
            </a:endParaRPr>
          </a:p>
        </p:txBody>
      </p:sp>
      <p:sp>
        <p:nvSpPr>
          <p:cNvPr id="2" name="Title 4">
            <a:extLst>
              <a:ext uri="{FF2B5EF4-FFF2-40B4-BE49-F238E27FC236}">
                <a16:creationId xmlns:a16="http://schemas.microsoft.com/office/drawing/2014/main" id="{6493B1B0-0B03-9F9B-6E54-47431861752F}"/>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kumimoji="1" lang="zh-CN" altLang="en-US" dirty="0"/>
              <a:t>本节课目录</a:t>
            </a:r>
            <a:endParaRPr lang="en-CN" kern="0" dirty="0"/>
          </a:p>
        </p:txBody>
      </p:sp>
    </p:spTree>
    <p:extLst>
      <p:ext uri="{BB962C8B-B14F-4D97-AF65-F5344CB8AC3E}">
        <p14:creationId xmlns:p14="http://schemas.microsoft.com/office/powerpoint/2010/main" val="22640850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4DB5F173-0D98-7E41-BEDF-0A4844878A23}"/>
              </a:ext>
            </a:extLst>
          </p:cNvPr>
          <p:cNvSpPr>
            <a:spLocks noGrp="1"/>
          </p:cNvSpPr>
          <p:nvPr>
            <p:ph type="sldNum" sz="quarter" idx="12"/>
          </p:nvPr>
        </p:nvSpPr>
        <p:spPr/>
        <p:txBody>
          <a:bodyPr/>
          <a:lstStyle/>
          <a:p>
            <a:fld id="{14659731-6BD7-46E7-8D3C-2F3AC07E20B1}" type="slidenum">
              <a:rPr lang="en-US" altLang="zh-CN" smtClean="0"/>
              <a:pPr/>
              <a:t>32</a:t>
            </a:fld>
            <a:endParaRPr lang="en-US" altLang="zh-CN"/>
          </a:p>
        </p:txBody>
      </p:sp>
      <p:sp>
        <p:nvSpPr>
          <p:cNvPr id="12" name="Content Placeholder 8">
            <a:extLst>
              <a:ext uri="{FF2B5EF4-FFF2-40B4-BE49-F238E27FC236}">
                <a16:creationId xmlns:a16="http://schemas.microsoft.com/office/drawing/2014/main" id="{E8B519FF-F83B-4DD9-886D-25B84AAA9E82}"/>
              </a:ext>
            </a:extLst>
          </p:cNvPr>
          <p:cNvSpPr>
            <a:spLocks noGrp="1"/>
          </p:cNvSpPr>
          <p:nvPr>
            <p:ph idx="4294967295"/>
          </p:nvPr>
        </p:nvSpPr>
        <p:spPr>
          <a:xfrm>
            <a:off x="489035" y="1253330"/>
            <a:ext cx="7886700" cy="4761061"/>
          </a:xfrm>
        </p:spPr>
        <p:txBody>
          <a:bodyPr>
            <a:normAutofit/>
          </a:bodyPr>
          <a:lstStyle/>
          <a:p>
            <a:pPr>
              <a:lnSpc>
                <a:spcPct val="150000"/>
              </a:lnSpc>
            </a:pPr>
            <a:r>
              <a:rPr kumimoji="1" lang="zh-CN" altLang="en-US" sz="2600" dirty="0"/>
              <a:t>指令长度固定为</a:t>
            </a:r>
            <a:r>
              <a:rPr kumimoji="1" lang="en-US" altLang="zh-CN" sz="2600" dirty="0"/>
              <a:t>32-bit</a:t>
            </a:r>
          </a:p>
          <a:p>
            <a:pPr>
              <a:lnSpc>
                <a:spcPct val="150000"/>
              </a:lnSpc>
            </a:pPr>
            <a:r>
              <a:rPr kumimoji="1" lang="en-US" altLang="zh-CN" sz="2600" dirty="0"/>
              <a:t>32</a:t>
            </a:r>
            <a:r>
              <a:rPr kumimoji="1" lang="zh-CN" altLang="en-US" sz="2600" dirty="0"/>
              <a:t>个通用寄存器</a:t>
            </a:r>
            <a:r>
              <a:rPr kumimoji="1" lang="en-US" altLang="zh-CN" sz="2600" dirty="0"/>
              <a:t>general-purpose</a:t>
            </a:r>
            <a:r>
              <a:rPr kumimoji="1" lang="zh-CN" altLang="en-US" sz="2600" dirty="0"/>
              <a:t> </a:t>
            </a:r>
            <a:r>
              <a:rPr kumimoji="1" lang="en-US" altLang="zh-CN" sz="2600" dirty="0"/>
              <a:t>(GP) registers</a:t>
            </a:r>
          </a:p>
          <a:p>
            <a:pPr lvl="1">
              <a:lnSpc>
                <a:spcPct val="150000"/>
              </a:lnSpc>
            </a:pPr>
            <a:r>
              <a:rPr kumimoji="1" lang="zh-CN" altLang="en-US" sz="2200" dirty="0"/>
              <a:t>例：</a:t>
            </a:r>
            <a:r>
              <a:rPr kumimoji="1" lang="en-US" altLang="zh-CN" sz="2200" dirty="0"/>
              <a:t>32</a:t>
            </a:r>
            <a:r>
              <a:rPr kumimoji="1" lang="zh-CN" altLang="en-US" sz="2200" dirty="0"/>
              <a:t>个寄存器可以用</a:t>
            </a:r>
            <a:r>
              <a:rPr kumimoji="1" lang="en-US" altLang="zh-CN" sz="2200" dirty="0"/>
              <a:t>5bit</a:t>
            </a:r>
            <a:r>
              <a:rPr kumimoji="1" lang="zh-CN" altLang="en-US" sz="2200" dirty="0"/>
              <a:t>字段表示其序号，但是立即数（常数）往往大于</a:t>
            </a:r>
            <a:r>
              <a:rPr kumimoji="1" lang="en-US" altLang="zh-CN" sz="2200" dirty="0"/>
              <a:t>32</a:t>
            </a:r>
            <a:r>
              <a:rPr kumimoji="1" lang="zh-CN" altLang="en-US" sz="2200" dirty="0"/>
              <a:t>（即位宽</a:t>
            </a:r>
            <a:r>
              <a:rPr kumimoji="1" lang="en-US" altLang="zh-CN" sz="2200" dirty="0"/>
              <a:t>&gt;5</a:t>
            </a:r>
            <a:r>
              <a:rPr kumimoji="1" lang="zh-CN" altLang="en-US" sz="2200" dirty="0"/>
              <a:t>）</a:t>
            </a:r>
            <a:endParaRPr kumimoji="1" lang="en-US" altLang="zh-CN" sz="2200" dirty="0"/>
          </a:p>
          <a:p>
            <a:pPr>
              <a:lnSpc>
                <a:spcPct val="150000"/>
              </a:lnSpc>
            </a:pPr>
            <a:r>
              <a:rPr kumimoji="1" lang="en-US" altLang="zh-CN" sz="2600" dirty="0"/>
              <a:t>MIPS</a:t>
            </a:r>
            <a:r>
              <a:rPr kumimoji="1" lang="zh-CN" altLang="en-US" sz="2600" dirty="0"/>
              <a:t>设计折中</a:t>
            </a:r>
            <a:endParaRPr kumimoji="1" lang="en-US" altLang="zh-CN" sz="2600" dirty="0"/>
          </a:p>
          <a:p>
            <a:pPr lvl="1">
              <a:lnSpc>
                <a:spcPct val="150000"/>
              </a:lnSpc>
            </a:pPr>
            <a:r>
              <a:rPr kumimoji="1" lang="zh-CN" altLang="en-US" sz="2200" dirty="0"/>
              <a:t>指令前</a:t>
            </a:r>
            <a:r>
              <a:rPr kumimoji="1" lang="en-US" altLang="zh-CN" sz="2200" dirty="0"/>
              <a:t>6</a:t>
            </a:r>
            <a:r>
              <a:rPr kumimoji="1" lang="zh-CN" altLang="en-US" sz="2200" dirty="0"/>
              <a:t>位为</a:t>
            </a:r>
            <a:r>
              <a:rPr kumimoji="1" lang="en-US" altLang="zh-CN" sz="2200" dirty="0"/>
              <a:t>opcode</a:t>
            </a:r>
            <a:endParaRPr kumimoji="1" lang="zh-CN" altLang="en-US" sz="2200" dirty="0"/>
          </a:p>
          <a:p>
            <a:pPr lvl="1">
              <a:lnSpc>
                <a:spcPct val="150000"/>
              </a:lnSpc>
            </a:pPr>
            <a:r>
              <a:rPr kumimoji="1" lang="zh-CN" altLang="en-US" sz="2200" dirty="0"/>
              <a:t>其他字段在不同指令中长度可能不同</a:t>
            </a:r>
            <a:endParaRPr kumimoji="1" lang="en-US" altLang="zh-CN" sz="2200" dirty="0"/>
          </a:p>
          <a:p>
            <a:endParaRPr lang="zh-CN" altLang="en-US" sz="2000" dirty="0"/>
          </a:p>
        </p:txBody>
      </p:sp>
      <p:graphicFrame>
        <p:nvGraphicFramePr>
          <p:cNvPr id="14" name="表格 5">
            <a:extLst>
              <a:ext uri="{FF2B5EF4-FFF2-40B4-BE49-F238E27FC236}">
                <a16:creationId xmlns:a16="http://schemas.microsoft.com/office/drawing/2014/main" id="{182D9787-72A7-4C46-97E6-6B5CF1D45782}"/>
              </a:ext>
            </a:extLst>
          </p:cNvPr>
          <p:cNvGraphicFramePr>
            <a:graphicFrameLocks noGrp="1"/>
          </p:cNvGraphicFramePr>
          <p:nvPr>
            <p:extLst>
              <p:ext uri="{D42A27DB-BD31-4B8C-83A1-F6EECF244321}">
                <p14:modId xmlns:p14="http://schemas.microsoft.com/office/powerpoint/2010/main" val="1058988024"/>
              </p:ext>
            </p:extLst>
          </p:nvPr>
        </p:nvGraphicFramePr>
        <p:xfrm>
          <a:off x="1790555" y="5604670"/>
          <a:ext cx="6096000" cy="45720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2152413857"/>
                    </a:ext>
                  </a:extLst>
                </a:gridCol>
                <a:gridCol w="5080000">
                  <a:extLst>
                    <a:ext uri="{9D8B030D-6E8A-4147-A177-3AD203B41FA5}">
                      <a16:colId xmlns:a16="http://schemas.microsoft.com/office/drawing/2014/main" val="513837230"/>
                    </a:ext>
                  </a:extLst>
                </a:gridCol>
              </a:tblGrid>
              <a:tr h="370840">
                <a:tc>
                  <a:txBody>
                    <a:bodyPr/>
                    <a:lstStyle/>
                    <a:p>
                      <a:pPr algn="ctr"/>
                      <a:r>
                        <a:rPr lang="en-US" altLang="zh-CN" sz="2400" dirty="0">
                          <a:solidFill>
                            <a:schemeClr val="tx1"/>
                          </a:solidFill>
                        </a:rPr>
                        <a:t>Op</a:t>
                      </a:r>
                      <a:endParaRPr lang="zh-CN" alt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2400" b="1" kern="1200" dirty="0">
                          <a:solidFill>
                            <a:schemeClr val="tx1"/>
                          </a:solidFill>
                          <a:latin typeface="+mj-ea"/>
                          <a:ea typeface="+mj-ea"/>
                          <a:cs typeface="+mn-cs"/>
                        </a:rPr>
                        <a:t>指令的其他字段</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0027768"/>
                  </a:ext>
                </a:extLst>
              </a:tr>
            </a:tbl>
          </a:graphicData>
        </a:graphic>
      </p:graphicFrame>
      <p:sp>
        <p:nvSpPr>
          <p:cNvPr id="15" name="文本框 14">
            <a:extLst>
              <a:ext uri="{FF2B5EF4-FFF2-40B4-BE49-F238E27FC236}">
                <a16:creationId xmlns:a16="http://schemas.microsoft.com/office/drawing/2014/main" id="{4A59930A-A71C-42A3-B36F-D0B3D06E2862}"/>
              </a:ext>
            </a:extLst>
          </p:cNvPr>
          <p:cNvSpPr txBox="1"/>
          <p:nvPr/>
        </p:nvSpPr>
        <p:spPr>
          <a:xfrm>
            <a:off x="1884100" y="6103039"/>
            <a:ext cx="898857" cy="461665"/>
          </a:xfrm>
          <a:prstGeom prst="rect">
            <a:avLst/>
          </a:prstGeom>
          <a:noFill/>
        </p:spPr>
        <p:txBody>
          <a:bodyPr wrap="square" rtlCol="0">
            <a:spAutoFit/>
          </a:bodyPr>
          <a:lstStyle/>
          <a:p>
            <a:pPr algn="ctr"/>
            <a:r>
              <a:rPr kumimoji="1" lang="en-US" altLang="zh-CN" sz="2400" b="1" dirty="0">
                <a:solidFill>
                  <a:srgbClr val="0432FF"/>
                </a:solidFill>
                <a:latin typeface="+mn-lt"/>
                <a:ea typeface="+mj-ea"/>
              </a:rPr>
              <a:t>6bit</a:t>
            </a:r>
            <a:endParaRPr kumimoji="1" lang="zh-CN" altLang="en-US" sz="2400" b="1" dirty="0">
              <a:solidFill>
                <a:srgbClr val="0432FF"/>
              </a:solidFill>
              <a:latin typeface="+mn-lt"/>
              <a:ea typeface="+mj-ea"/>
            </a:endParaRPr>
          </a:p>
        </p:txBody>
      </p:sp>
      <p:sp>
        <p:nvSpPr>
          <p:cNvPr id="16" name="文本框 15">
            <a:extLst>
              <a:ext uri="{FF2B5EF4-FFF2-40B4-BE49-F238E27FC236}">
                <a16:creationId xmlns:a16="http://schemas.microsoft.com/office/drawing/2014/main" id="{C7F87E10-74F4-4882-B2A2-4590890FF37C}"/>
              </a:ext>
            </a:extLst>
          </p:cNvPr>
          <p:cNvSpPr txBox="1"/>
          <p:nvPr/>
        </p:nvSpPr>
        <p:spPr>
          <a:xfrm>
            <a:off x="4432971" y="6103038"/>
            <a:ext cx="1711132" cy="461665"/>
          </a:xfrm>
          <a:prstGeom prst="rect">
            <a:avLst/>
          </a:prstGeom>
          <a:noFill/>
        </p:spPr>
        <p:txBody>
          <a:bodyPr wrap="square" rtlCol="0">
            <a:spAutoFit/>
          </a:bodyPr>
          <a:lstStyle/>
          <a:p>
            <a:pPr algn="ctr"/>
            <a:r>
              <a:rPr kumimoji="1" lang="en-US" altLang="zh-CN" sz="2400" b="1" dirty="0">
                <a:solidFill>
                  <a:srgbClr val="0432FF"/>
                </a:solidFill>
                <a:latin typeface="+mn-lt"/>
                <a:ea typeface="+mj-ea"/>
              </a:rPr>
              <a:t>26bit</a:t>
            </a:r>
            <a:endParaRPr kumimoji="1" lang="zh-CN" altLang="en-US" sz="2400" b="1" dirty="0">
              <a:solidFill>
                <a:srgbClr val="0432FF"/>
              </a:solidFill>
              <a:latin typeface="+mn-lt"/>
              <a:ea typeface="+mj-ea"/>
            </a:endParaRPr>
          </a:p>
        </p:txBody>
      </p:sp>
      <p:sp>
        <p:nvSpPr>
          <p:cNvPr id="2" name="Title 4">
            <a:extLst>
              <a:ext uri="{FF2B5EF4-FFF2-40B4-BE49-F238E27FC236}">
                <a16:creationId xmlns:a16="http://schemas.microsoft.com/office/drawing/2014/main" id="{1AA42A5C-89AE-0E2A-1D75-C4FFC00BAA63}"/>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kumimoji="1" lang="zh-CN" altLang="en-US" dirty="0"/>
              <a:t>一个</a:t>
            </a:r>
            <a:r>
              <a:rPr kumimoji="1" lang="en-US" altLang="zh-CN" dirty="0"/>
              <a:t>MIPS</a:t>
            </a:r>
            <a:r>
              <a:rPr kumimoji="1" lang="zh-CN" altLang="en-US" dirty="0"/>
              <a:t>指令集架构例子</a:t>
            </a:r>
            <a:endParaRPr lang="en-CN" kern="0" dirty="0"/>
          </a:p>
        </p:txBody>
      </p:sp>
    </p:spTree>
    <p:extLst>
      <p:ext uri="{BB962C8B-B14F-4D97-AF65-F5344CB8AC3E}">
        <p14:creationId xmlns:p14="http://schemas.microsoft.com/office/powerpoint/2010/main" val="33309558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6">
            <a:extLst>
              <a:ext uri="{FF2B5EF4-FFF2-40B4-BE49-F238E27FC236}">
                <a16:creationId xmlns:a16="http://schemas.microsoft.com/office/drawing/2014/main" id="{2BE9B433-46AC-0B4A-A9ED-EC5430CD7FFF}"/>
              </a:ext>
            </a:extLst>
          </p:cNvPr>
          <p:cNvSpPr>
            <a:spLocks noGrp="1"/>
          </p:cNvSpPr>
          <p:nvPr>
            <p:ph type="sldNum" sz="quarter" idx="12"/>
          </p:nvPr>
        </p:nvSpPr>
        <p:spPr/>
        <p:txBody>
          <a:bodyPr/>
          <a:lstStyle/>
          <a:p>
            <a:fld id="{E7C22BC1-7FC1-4B65-8DCC-88E2F449497B}" type="slidenum">
              <a:rPr lang="en-US" altLang="zh-CN" smtClean="0"/>
              <a:pPr/>
              <a:t>33</a:t>
            </a:fld>
            <a:endParaRPr lang="en-US" altLang="zh-CN"/>
          </a:p>
        </p:txBody>
      </p:sp>
      <p:sp>
        <p:nvSpPr>
          <p:cNvPr id="9" name="内容占位符 8">
            <a:extLst>
              <a:ext uri="{FF2B5EF4-FFF2-40B4-BE49-F238E27FC236}">
                <a16:creationId xmlns:a16="http://schemas.microsoft.com/office/drawing/2014/main" id="{414596AC-83DD-894F-B9AF-C8140F38D848}"/>
              </a:ext>
            </a:extLst>
          </p:cNvPr>
          <p:cNvSpPr>
            <a:spLocks noGrp="1"/>
          </p:cNvSpPr>
          <p:nvPr>
            <p:ph idx="4294967295"/>
          </p:nvPr>
        </p:nvSpPr>
        <p:spPr>
          <a:xfrm>
            <a:off x="342106" y="1221197"/>
            <a:ext cx="7886700" cy="4351338"/>
          </a:xfrm>
        </p:spPr>
        <p:txBody>
          <a:bodyPr/>
          <a:lstStyle/>
          <a:p>
            <a:r>
              <a:rPr lang="en-US" altLang="zh-CN" sz="2800" dirty="0"/>
              <a:t>MIPS</a:t>
            </a:r>
            <a:r>
              <a:rPr lang="zh-CN" altLang="en-US" sz="2800" dirty="0"/>
              <a:t>架构包含</a:t>
            </a:r>
            <a:r>
              <a:rPr lang="en-US" altLang="zh-CN" sz="2800" dirty="0"/>
              <a:t>32</a:t>
            </a:r>
            <a:r>
              <a:rPr lang="zh-CN" altLang="en-US" sz="2800" dirty="0"/>
              <a:t>个</a:t>
            </a:r>
            <a:r>
              <a:rPr lang="en-US" altLang="zh-CN" sz="2800" dirty="0"/>
              <a:t>32bit</a:t>
            </a:r>
            <a:r>
              <a:rPr lang="zh-CN" altLang="en-US" sz="2800" dirty="0"/>
              <a:t>的通用寄存器</a:t>
            </a:r>
            <a:endParaRPr lang="en-US" altLang="zh-CN" sz="2800" dirty="0"/>
          </a:p>
          <a:p>
            <a:pPr lvl="1"/>
            <a:r>
              <a:rPr lang="zh-CN" altLang="en-US" sz="2400" dirty="0"/>
              <a:t>使用</a:t>
            </a:r>
            <a:r>
              <a:rPr lang="en-US" altLang="zh-CN" sz="2400" dirty="0"/>
              <a:t>‘$’+</a:t>
            </a:r>
            <a:r>
              <a:rPr lang="zh-CN" altLang="en-US" sz="2400" dirty="0"/>
              <a:t>序号字符的方式代表一个寄存器</a:t>
            </a:r>
            <a:endParaRPr lang="en-US" altLang="zh-CN" sz="2400" dirty="0"/>
          </a:p>
          <a:p>
            <a:r>
              <a:rPr lang="zh-CN" altLang="en-US" sz="2800" dirty="0"/>
              <a:t>通用寄存器的习惯用法和命名</a:t>
            </a:r>
          </a:p>
          <a:p>
            <a:endParaRPr lang="zh-CN" altLang="en-US" sz="2800" dirty="0"/>
          </a:p>
        </p:txBody>
      </p:sp>
      <p:graphicFrame>
        <p:nvGraphicFramePr>
          <p:cNvPr id="10" name="Group 66">
            <a:extLst>
              <a:ext uri="{FF2B5EF4-FFF2-40B4-BE49-F238E27FC236}">
                <a16:creationId xmlns:a16="http://schemas.microsoft.com/office/drawing/2014/main" id="{32E132CC-7E67-7C42-B1DA-A2A3693D287C}"/>
              </a:ext>
            </a:extLst>
          </p:cNvPr>
          <p:cNvGraphicFramePr>
            <a:graphicFrameLocks noGrp="1"/>
          </p:cNvGraphicFramePr>
          <p:nvPr>
            <p:extLst>
              <p:ext uri="{D42A27DB-BD31-4B8C-83A1-F6EECF244321}">
                <p14:modId xmlns:p14="http://schemas.microsoft.com/office/powerpoint/2010/main" val="1642128314"/>
              </p:ext>
            </p:extLst>
          </p:nvPr>
        </p:nvGraphicFramePr>
        <p:xfrm>
          <a:off x="915194" y="2730753"/>
          <a:ext cx="7313612" cy="3657600"/>
        </p:xfrm>
        <a:graphic>
          <a:graphicData uri="http://schemas.openxmlformats.org/drawingml/2006/table">
            <a:tbl>
              <a:tblPr/>
              <a:tblGrid>
                <a:gridCol w="1174951">
                  <a:extLst>
                    <a:ext uri="{9D8B030D-6E8A-4147-A177-3AD203B41FA5}">
                      <a16:colId xmlns:a16="http://schemas.microsoft.com/office/drawing/2014/main" val="20000"/>
                    </a:ext>
                  </a:extLst>
                </a:gridCol>
                <a:gridCol w="959797">
                  <a:extLst>
                    <a:ext uri="{9D8B030D-6E8A-4147-A177-3AD203B41FA5}">
                      <a16:colId xmlns:a16="http://schemas.microsoft.com/office/drawing/2014/main" val="20001"/>
                    </a:ext>
                  </a:extLst>
                </a:gridCol>
                <a:gridCol w="5178864">
                  <a:extLst>
                    <a:ext uri="{9D8B030D-6E8A-4147-A177-3AD203B41FA5}">
                      <a16:colId xmlns:a16="http://schemas.microsoft.com/office/drawing/2014/main" val="20002"/>
                    </a:ext>
                  </a:extLst>
                </a:gridCol>
              </a:tblGrid>
              <a:tr h="24178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dirty="0">
                          <a:ln>
                            <a:noFill/>
                          </a:ln>
                          <a:solidFill>
                            <a:schemeClr val="tx1"/>
                          </a:solidFill>
                          <a:effectLst/>
                          <a:latin typeface="+mj-ea"/>
                          <a:ea typeface="+mj-ea"/>
                          <a:cs typeface="Times New Roman" pitchFamily="18" charset="0"/>
                        </a:rPr>
                        <a:t>寄存器编号</a:t>
                      </a:r>
                      <a:endParaRPr kumimoji="0" lang="zh-CN" altLang="en-US" sz="2800" b="0" i="0" u="none" strike="noStrike" cap="none" normalizeH="0" baseline="0" dirty="0">
                        <a:ln>
                          <a:noFill/>
                        </a:ln>
                        <a:solidFill>
                          <a:schemeClr val="tx1"/>
                        </a:solidFill>
                        <a:effectLst/>
                        <a:latin typeface="+mj-ea"/>
                        <a:ea typeface="+mj-ea"/>
                      </a:endParaRPr>
                    </a:p>
                  </a:txBody>
                  <a:tcPr marL="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mj-ea"/>
                          <a:ea typeface="+mj-ea"/>
                          <a:cs typeface="Times New Roman" pitchFamily="18" charset="0"/>
                        </a:rPr>
                        <a:t>助记符</a:t>
                      </a:r>
                      <a:endParaRPr kumimoji="0" lang="zh-CN" altLang="en-US" sz="2800" b="0" i="0" u="none" strike="noStrike" cap="none" normalizeH="0" baseline="0">
                        <a:ln>
                          <a:noFill/>
                        </a:ln>
                        <a:solidFill>
                          <a:schemeClr val="tx1"/>
                        </a:solidFill>
                        <a:effectLst/>
                        <a:latin typeface="+mj-ea"/>
                        <a:ea typeface="+mj-ea"/>
                      </a:endParaRPr>
                    </a:p>
                  </a:txBody>
                  <a:tcPr marL="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dirty="0">
                          <a:ln>
                            <a:noFill/>
                          </a:ln>
                          <a:solidFill>
                            <a:schemeClr val="tx1"/>
                          </a:solidFill>
                          <a:effectLst/>
                          <a:latin typeface="+mj-ea"/>
                          <a:ea typeface="+mj-ea"/>
                          <a:cs typeface="Times New Roman" pitchFamily="18" charset="0"/>
                        </a:rPr>
                        <a:t>用法</a:t>
                      </a:r>
                      <a:endParaRPr kumimoji="0" lang="zh-CN" altLang="en-US" sz="2800" b="0" i="0" u="none" strike="noStrike" cap="none" normalizeH="0" baseline="0" dirty="0">
                        <a:ln>
                          <a:noFill/>
                        </a:ln>
                        <a:solidFill>
                          <a:schemeClr val="tx1"/>
                        </a:solidFill>
                        <a:effectLst/>
                        <a:latin typeface="+mj-ea"/>
                        <a:ea typeface="+mj-ea"/>
                      </a:endParaRPr>
                    </a:p>
                  </a:txBody>
                  <a:tcPr marL="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4178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rgbClr val="7030A0"/>
                          </a:solidFill>
                          <a:effectLst/>
                          <a:latin typeface="+mn-lt"/>
                          <a:ea typeface="STKaiti" panose="02010600040101010101" pitchFamily="2" charset="-122"/>
                          <a:cs typeface="Times New Roman" pitchFamily="18" charset="0"/>
                        </a:rPr>
                        <a:t>0</a:t>
                      </a:r>
                      <a:endParaRPr kumimoji="0" lang="en-US" altLang="zh-CN" sz="2800" b="0" i="0" u="none" strike="noStrike" cap="none" normalizeH="0" baseline="0" dirty="0">
                        <a:ln>
                          <a:noFill/>
                        </a:ln>
                        <a:solidFill>
                          <a:srgbClr val="7030A0"/>
                        </a:solidFill>
                        <a:effectLst/>
                        <a:latin typeface="+mn-lt"/>
                        <a:ea typeface="STKaiti" panose="02010600040101010101" pitchFamily="2" charset="-122"/>
                      </a:endParaRPr>
                    </a:p>
                  </a:txBody>
                  <a:tcPr marL="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dirty="0">
                          <a:ln>
                            <a:noFill/>
                          </a:ln>
                          <a:solidFill>
                            <a:srgbClr val="7030A0"/>
                          </a:solidFill>
                          <a:effectLst/>
                          <a:latin typeface="Consolas" panose="020B0609020204030204" pitchFamily="49" charset="0"/>
                          <a:ea typeface="STKaiti" panose="02010600040101010101" pitchFamily="2" charset="-122"/>
                          <a:cs typeface="Times New Roman" pitchFamily="18" charset="0"/>
                        </a:rPr>
                        <a:t>$zero</a:t>
                      </a:r>
                      <a:endParaRPr kumimoji="0" lang="en-US" altLang="zh-CN" sz="2800" b="0" i="1" u="none" strike="noStrike" cap="none" normalizeH="0" baseline="0" dirty="0">
                        <a:ln>
                          <a:noFill/>
                        </a:ln>
                        <a:solidFill>
                          <a:srgbClr val="7030A0"/>
                        </a:solidFill>
                        <a:effectLst/>
                        <a:latin typeface="Consolas" panose="020B0609020204030204" pitchFamily="49" charset="0"/>
                        <a:ea typeface="STKaiti" panose="02010600040101010101" pitchFamily="2" charset="-122"/>
                      </a:endParaRPr>
                    </a:p>
                  </a:txBody>
                  <a:tcPr marL="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dirty="0">
                          <a:ln>
                            <a:noFill/>
                          </a:ln>
                          <a:solidFill>
                            <a:srgbClr val="7030A0"/>
                          </a:solidFill>
                          <a:effectLst/>
                          <a:latin typeface="+mj-ea"/>
                          <a:ea typeface="+mj-ea"/>
                          <a:cs typeface="Times New Roman" pitchFamily="18" charset="0"/>
                        </a:rPr>
                        <a:t>永远为</a:t>
                      </a:r>
                      <a:r>
                        <a:rPr kumimoji="0" lang="en-US" altLang="zh-CN" sz="1600" b="1" i="0" u="none" strike="noStrike" cap="none" normalizeH="0" baseline="0" dirty="0">
                          <a:ln>
                            <a:noFill/>
                          </a:ln>
                          <a:solidFill>
                            <a:srgbClr val="7030A0"/>
                          </a:solidFill>
                          <a:effectLst/>
                          <a:latin typeface="+mj-ea"/>
                          <a:ea typeface="+mj-ea"/>
                          <a:cs typeface="Times New Roman" pitchFamily="18" charset="0"/>
                        </a:rPr>
                        <a:t>0</a:t>
                      </a:r>
                      <a:endParaRPr kumimoji="0" lang="en-US" altLang="zh-CN" sz="2800" b="0" i="0" u="none" strike="noStrike" cap="none" normalizeH="0" baseline="0" dirty="0">
                        <a:ln>
                          <a:noFill/>
                        </a:ln>
                        <a:solidFill>
                          <a:srgbClr val="7030A0"/>
                        </a:solidFill>
                        <a:effectLst/>
                        <a:latin typeface="+mj-ea"/>
                        <a:ea typeface="+mj-ea"/>
                      </a:endParaRPr>
                    </a:p>
                  </a:txBody>
                  <a:tcPr marL="3600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24178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mn-lt"/>
                          <a:ea typeface="STKaiti" panose="02010600040101010101" pitchFamily="2" charset="-122"/>
                          <a:cs typeface="Times New Roman" pitchFamily="18" charset="0"/>
                        </a:rPr>
                        <a:t>1</a:t>
                      </a:r>
                      <a:endParaRPr kumimoji="0" lang="en-US" altLang="zh-CN" sz="2800" b="0" i="0" u="none" strike="noStrike" cap="none" normalizeH="0" baseline="0">
                        <a:ln>
                          <a:noFill/>
                        </a:ln>
                        <a:solidFill>
                          <a:schemeClr val="tx1"/>
                        </a:solidFill>
                        <a:effectLst/>
                        <a:latin typeface="+mn-lt"/>
                        <a:ea typeface="STKaiti" panose="02010600040101010101" pitchFamily="2" charset="-122"/>
                      </a:endParaRPr>
                    </a:p>
                  </a:txBody>
                  <a:tcPr marL="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dirty="0">
                          <a:ln>
                            <a:noFill/>
                          </a:ln>
                          <a:solidFill>
                            <a:schemeClr val="tx1"/>
                          </a:solidFill>
                          <a:effectLst/>
                          <a:latin typeface="Consolas" panose="020B0609020204030204" pitchFamily="49" charset="0"/>
                          <a:ea typeface="STKaiti" panose="02010600040101010101" pitchFamily="2" charset="-122"/>
                          <a:cs typeface="Times New Roman" pitchFamily="18" charset="0"/>
                        </a:rPr>
                        <a:t>$at</a:t>
                      </a:r>
                      <a:endParaRPr kumimoji="0" lang="en-US" altLang="zh-CN" sz="2800" b="0" i="1" u="none" strike="noStrike" cap="none" normalizeH="0" baseline="0" dirty="0">
                        <a:ln>
                          <a:noFill/>
                        </a:ln>
                        <a:solidFill>
                          <a:schemeClr val="tx1"/>
                        </a:solidFill>
                        <a:effectLst/>
                        <a:latin typeface="Consolas" panose="020B0609020204030204" pitchFamily="49" charset="0"/>
                        <a:ea typeface="STKaiti" panose="02010600040101010101" pitchFamily="2" charset="-122"/>
                      </a:endParaRPr>
                    </a:p>
                  </a:txBody>
                  <a:tcPr marL="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dirty="0">
                          <a:ln>
                            <a:noFill/>
                          </a:ln>
                          <a:solidFill>
                            <a:schemeClr val="tx1"/>
                          </a:solidFill>
                          <a:effectLst/>
                          <a:latin typeface="+mj-ea"/>
                          <a:ea typeface="+mj-ea"/>
                          <a:cs typeface="Times New Roman" pitchFamily="18" charset="0"/>
                        </a:rPr>
                        <a:t>用做汇编器的临时变量</a:t>
                      </a:r>
                      <a:endParaRPr kumimoji="0" lang="zh-CN" altLang="en-US" sz="2800" b="0" i="0" u="none" strike="noStrike" cap="none" normalizeH="0" baseline="0" dirty="0">
                        <a:ln>
                          <a:noFill/>
                        </a:ln>
                        <a:solidFill>
                          <a:schemeClr val="tx1"/>
                        </a:solidFill>
                        <a:effectLst/>
                        <a:latin typeface="+mj-ea"/>
                        <a:ea typeface="+mj-ea"/>
                      </a:endParaRPr>
                    </a:p>
                  </a:txBody>
                  <a:tcPr marL="3600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24178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mn-lt"/>
                          <a:ea typeface="STKaiti" panose="02010600040101010101" pitchFamily="2" charset="-122"/>
                          <a:cs typeface="Times New Roman" pitchFamily="18" charset="0"/>
                        </a:rPr>
                        <a:t>2-3</a:t>
                      </a:r>
                      <a:endParaRPr kumimoji="0" lang="en-US" altLang="zh-CN" sz="2800" b="0" i="0" u="none" strike="noStrike" cap="none" normalizeH="0" baseline="0">
                        <a:ln>
                          <a:noFill/>
                        </a:ln>
                        <a:solidFill>
                          <a:schemeClr val="tx1"/>
                        </a:solidFill>
                        <a:effectLst/>
                        <a:latin typeface="+mn-lt"/>
                        <a:ea typeface="STKaiti" panose="02010600040101010101" pitchFamily="2" charset="-122"/>
                      </a:endParaRPr>
                    </a:p>
                  </a:txBody>
                  <a:tcPr marL="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dirty="0">
                          <a:ln>
                            <a:noFill/>
                          </a:ln>
                          <a:solidFill>
                            <a:schemeClr val="tx1"/>
                          </a:solidFill>
                          <a:effectLst/>
                          <a:latin typeface="Consolas" panose="020B0609020204030204" pitchFamily="49" charset="0"/>
                          <a:ea typeface="STKaiti" panose="02010600040101010101" pitchFamily="2" charset="-122"/>
                          <a:cs typeface="Times New Roman" pitchFamily="18" charset="0"/>
                        </a:rPr>
                        <a:t>$v0,$v1</a:t>
                      </a:r>
                      <a:endParaRPr kumimoji="0" lang="en-US" altLang="zh-CN" sz="2800" b="0" i="1" u="none" strike="noStrike" cap="none" normalizeH="0" baseline="0" dirty="0">
                        <a:ln>
                          <a:noFill/>
                        </a:ln>
                        <a:solidFill>
                          <a:schemeClr val="tx1"/>
                        </a:solidFill>
                        <a:effectLst/>
                        <a:latin typeface="Consolas" panose="020B0609020204030204" pitchFamily="49" charset="0"/>
                        <a:ea typeface="STKaiti" panose="02010600040101010101" pitchFamily="2" charset="-122"/>
                      </a:endParaRPr>
                    </a:p>
                  </a:txBody>
                  <a:tcPr marL="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dirty="0">
                          <a:ln>
                            <a:noFill/>
                          </a:ln>
                          <a:solidFill>
                            <a:schemeClr val="tx1"/>
                          </a:solidFill>
                          <a:effectLst/>
                          <a:latin typeface="+mj-ea"/>
                          <a:ea typeface="+mj-ea"/>
                          <a:cs typeface="Times New Roman" pitchFamily="18" charset="0"/>
                        </a:rPr>
                        <a:t>用于过程调用时返回结果</a:t>
                      </a:r>
                      <a:endParaRPr kumimoji="0" lang="zh-CN" altLang="en-US" sz="2800" b="0" i="0" u="none" strike="noStrike" cap="none" normalizeH="0" baseline="0" dirty="0">
                        <a:ln>
                          <a:noFill/>
                        </a:ln>
                        <a:solidFill>
                          <a:schemeClr val="tx1"/>
                        </a:solidFill>
                        <a:effectLst/>
                        <a:latin typeface="+mj-ea"/>
                        <a:ea typeface="+mj-ea"/>
                      </a:endParaRPr>
                    </a:p>
                  </a:txBody>
                  <a:tcPr marL="3600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24178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mn-lt"/>
                          <a:ea typeface="STKaiti" panose="02010600040101010101" pitchFamily="2" charset="-122"/>
                          <a:cs typeface="Times New Roman" pitchFamily="18" charset="0"/>
                        </a:rPr>
                        <a:t>4-7</a:t>
                      </a:r>
                      <a:endParaRPr kumimoji="0" lang="en-US" altLang="zh-CN" sz="2800" b="0" i="0" u="none" strike="noStrike" cap="none" normalizeH="0" baseline="0">
                        <a:ln>
                          <a:noFill/>
                        </a:ln>
                        <a:solidFill>
                          <a:schemeClr val="tx1"/>
                        </a:solidFill>
                        <a:effectLst/>
                        <a:latin typeface="+mn-lt"/>
                        <a:ea typeface="STKaiti" panose="02010600040101010101" pitchFamily="2" charset="-122"/>
                      </a:endParaRPr>
                    </a:p>
                  </a:txBody>
                  <a:tcPr marL="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dirty="0">
                          <a:ln>
                            <a:noFill/>
                          </a:ln>
                          <a:solidFill>
                            <a:schemeClr val="tx1"/>
                          </a:solidFill>
                          <a:effectLst/>
                          <a:latin typeface="Consolas" panose="020B0609020204030204" pitchFamily="49" charset="0"/>
                          <a:ea typeface="STKaiti" panose="02010600040101010101" pitchFamily="2" charset="-122"/>
                          <a:cs typeface="Times New Roman" pitchFamily="18" charset="0"/>
                        </a:rPr>
                        <a:t>$a0-$a3</a:t>
                      </a:r>
                      <a:endParaRPr kumimoji="0" lang="en-US" altLang="zh-CN" sz="2800" b="0" i="1" u="none" strike="noStrike" cap="none" normalizeH="0" baseline="0" dirty="0">
                        <a:ln>
                          <a:noFill/>
                        </a:ln>
                        <a:solidFill>
                          <a:schemeClr val="tx1"/>
                        </a:solidFill>
                        <a:effectLst/>
                        <a:latin typeface="Consolas" panose="020B0609020204030204" pitchFamily="49" charset="0"/>
                        <a:ea typeface="STKaiti" panose="02010600040101010101" pitchFamily="2" charset="-122"/>
                      </a:endParaRPr>
                    </a:p>
                  </a:txBody>
                  <a:tcPr marL="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dirty="0">
                          <a:ln>
                            <a:noFill/>
                          </a:ln>
                          <a:solidFill>
                            <a:schemeClr val="tx1"/>
                          </a:solidFill>
                          <a:effectLst/>
                          <a:latin typeface="+mj-ea"/>
                          <a:ea typeface="+mj-ea"/>
                          <a:cs typeface="Times New Roman" pitchFamily="18" charset="0"/>
                        </a:rPr>
                        <a:t>用于过程调用时传递参数</a:t>
                      </a:r>
                      <a:endParaRPr kumimoji="0" lang="zh-CN" altLang="en-US" sz="2800" b="0" i="0" u="none" strike="noStrike" cap="none" normalizeH="0" baseline="0" dirty="0">
                        <a:ln>
                          <a:noFill/>
                        </a:ln>
                        <a:solidFill>
                          <a:schemeClr val="tx1"/>
                        </a:solidFill>
                        <a:effectLst/>
                        <a:latin typeface="+mj-ea"/>
                        <a:ea typeface="+mj-ea"/>
                      </a:endParaRPr>
                    </a:p>
                  </a:txBody>
                  <a:tcPr marL="3600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24178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7030A0"/>
                          </a:solidFill>
                          <a:effectLst/>
                          <a:latin typeface="+mn-lt"/>
                          <a:ea typeface="STKaiti" panose="02010600040101010101" pitchFamily="2" charset="-122"/>
                          <a:cs typeface="Times New Roman" pitchFamily="18" charset="0"/>
                        </a:rPr>
                        <a:t>8-15</a:t>
                      </a:r>
                      <a:endParaRPr kumimoji="0" lang="en-US" altLang="zh-CN" sz="2800" b="0" i="0" u="none" strike="noStrike" cap="none" normalizeH="0" baseline="0">
                        <a:ln>
                          <a:noFill/>
                        </a:ln>
                        <a:solidFill>
                          <a:srgbClr val="7030A0"/>
                        </a:solidFill>
                        <a:effectLst/>
                        <a:latin typeface="+mn-lt"/>
                        <a:ea typeface="STKaiti" panose="02010600040101010101" pitchFamily="2" charset="-122"/>
                      </a:endParaRPr>
                    </a:p>
                  </a:txBody>
                  <a:tcPr marL="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dirty="0">
                          <a:ln>
                            <a:noFill/>
                          </a:ln>
                          <a:solidFill>
                            <a:srgbClr val="7030A0"/>
                          </a:solidFill>
                          <a:effectLst/>
                          <a:latin typeface="Consolas" panose="020B0609020204030204" pitchFamily="49" charset="0"/>
                          <a:ea typeface="STKaiti" panose="02010600040101010101" pitchFamily="2" charset="-122"/>
                          <a:cs typeface="Times New Roman" pitchFamily="18" charset="0"/>
                        </a:rPr>
                        <a:t>$t0-$t7</a:t>
                      </a:r>
                      <a:endParaRPr kumimoji="0" lang="en-US" altLang="zh-CN" sz="2800" b="0" i="1" u="none" strike="noStrike" cap="none" normalizeH="0" baseline="0" dirty="0">
                        <a:ln>
                          <a:noFill/>
                        </a:ln>
                        <a:solidFill>
                          <a:srgbClr val="7030A0"/>
                        </a:solidFill>
                        <a:effectLst/>
                        <a:latin typeface="Consolas" panose="020B0609020204030204" pitchFamily="49" charset="0"/>
                        <a:ea typeface="STKaiti" panose="02010600040101010101" pitchFamily="2" charset="-122"/>
                      </a:endParaRPr>
                    </a:p>
                  </a:txBody>
                  <a:tcPr marL="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rowSpan="2">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dirty="0">
                          <a:ln>
                            <a:noFill/>
                          </a:ln>
                          <a:solidFill>
                            <a:srgbClr val="7030A0"/>
                          </a:solidFill>
                          <a:effectLst/>
                          <a:latin typeface="+mj-ea"/>
                          <a:ea typeface="+mj-ea"/>
                          <a:cs typeface="Times New Roman" pitchFamily="18" charset="0"/>
                        </a:rPr>
                        <a:t>临时寄存器。在过程调用中被调用者不需要保存与恢复</a:t>
                      </a:r>
                      <a:endParaRPr kumimoji="0" lang="zh-CN" altLang="en-US" sz="2800" b="0" i="0" u="none" strike="noStrike" cap="none" normalizeH="0" baseline="0" dirty="0">
                        <a:ln>
                          <a:noFill/>
                        </a:ln>
                        <a:solidFill>
                          <a:srgbClr val="7030A0"/>
                        </a:solidFill>
                        <a:effectLst/>
                        <a:latin typeface="+mj-ea"/>
                        <a:ea typeface="+mj-ea"/>
                      </a:endParaRPr>
                    </a:p>
                  </a:txBody>
                  <a:tcPr marL="3600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24178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7030A0"/>
                          </a:solidFill>
                          <a:effectLst/>
                          <a:latin typeface="+mn-lt"/>
                          <a:ea typeface="STKaiti" panose="02010600040101010101" pitchFamily="2" charset="-122"/>
                          <a:cs typeface="Times New Roman" pitchFamily="18" charset="0"/>
                        </a:rPr>
                        <a:t>24-25</a:t>
                      </a:r>
                      <a:endParaRPr kumimoji="0" lang="en-US" altLang="zh-CN" sz="2800" b="0" i="0" u="none" strike="noStrike" cap="none" normalizeH="0" baseline="0">
                        <a:ln>
                          <a:noFill/>
                        </a:ln>
                        <a:solidFill>
                          <a:srgbClr val="7030A0"/>
                        </a:solidFill>
                        <a:effectLst/>
                        <a:latin typeface="+mn-lt"/>
                        <a:ea typeface="STKaiti" panose="02010600040101010101" pitchFamily="2" charset="-122"/>
                      </a:endParaRPr>
                    </a:p>
                  </a:txBody>
                  <a:tcPr marL="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dirty="0">
                          <a:ln>
                            <a:noFill/>
                          </a:ln>
                          <a:solidFill>
                            <a:srgbClr val="7030A0"/>
                          </a:solidFill>
                          <a:effectLst/>
                          <a:latin typeface="Consolas" panose="020B0609020204030204" pitchFamily="49" charset="0"/>
                          <a:ea typeface="STKaiti" panose="02010600040101010101" pitchFamily="2" charset="-122"/>
                          <a:cs typeface="Times New Roman" pitchFamily="18" charset="0"/>
                        </a:rPr>
                        <a:t>$t8-$t9</a:t>
                      </a:r>
                      <a:endParaRPr kumimoji="0" lang="en-US" altLang="zh-CN" sz="2800" b="0" i="1" u="none" strike="noStrike" cap="none" normalizeH="0" baseline="0" dirty="0">
                        <a:ln>
                          <a:noFill/>
                        </a:ln>
                        <a:solidFill>
                          <a:srgbClr val="7030A0"/>
                        </a:solidFill>
                        <a:effectLst/>
                        <a:latin typeface="Consolas" panose="020B0609020204030204" pitchFamily="49" charset="0"/>
                        <a:ea typeface="STKaiti" panose="02010600040101010101" pitchFamily="2" charset="-122"/>
                      </a:endParaRPr>
                    </a:p>
                  </a:txBody>
                  <a:tcPr marL="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0006"/>
                  </a:ext>
                </a:extLst>
              </a:tr>
              <a:tr h="45207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7030A0"/>
                          </a:solidFill>
                          <a:effectLst/>
                          <a:latin typeface="+mn-lt"/>
                          <a:ea typeface="STKaiti" panose="02010600040101010101" pitchFamily="2" charset="-122"/>
                          <a:cs typeface="Times New Roman" pitchFamily="18" charset="0"/>
                        </a:rPr>
                        <a:t>16-23</a:t>
                      </a:r>
                      <a:endParaRPr kumimoji="0" lang="en-US" altLang="zh-CN" sz="2800" b="0" i="0" u="none" strike="noStrike" cap="none" normalizeH="0" baseline="0">
                        <a:ln>
                          <a:noFill/>
                        </a:ln>
                        <a:solidFill>
                          <a:srgbClr val="7030A0"/>
                        </a:solidFill>
                        <a:effectLst/>
                        <a:latin typeface="+mn-lt"/>
                        <a:ea typeface="STKaiti" panose="02010600040101010101" pitchFamily="2" charset="-122"/>
                      </a:endParaRPr>
                    </a:p>
                  </a:txBody>
                  <a:tcPr marL="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dirty="0">
                          <a:ln>
                            <a:noFill/>
                          </a:ln>
                          <a:solidFill>
                            <a:srgbClr val="7030A0"/>
                          </a:solidFill>
                          <a:effectLst/>
                          <a:latin typeface="Consolas" panose="020B0609020204030204" pitchFamily="49" charset="0"/>
                          <a:ea typeface="STKaiti" panose="02010600040101010101" pitchFamily="2" charset="-122"/>
                          <a:cs typeface="Times New Roman" pitchFamily="18" charset="0"/>
                        </a:rPr>
                        <a:t>$s0-$s7</a:t>
                      </a:r>
                      <a:endParaRPr kumimoji="0" lang="en-US" altLang="zh-CN" sz="2800" b="0" i="1" u="none" strike="noStrike" cap="none" normalizeH="0" baseline="0" dirty="0">
                        <a:ln>
                          <a:noFill/>
                        </a:ln>
                        <a:solidFill>
                          <a:srgbClr val="7030A0"/>
                        </a:solidFill>
                        <a:effectLst/>
                        <a:latin typeface="Consolas" panose="020B0609020204030204" pitchFamily="49" charset="0"/>
                        <a:ea typeface="STKaiti" panose="02010600040101010101" pitchFamily="2" charset="-122"/>
                      </a:endParaRPr>
                    </a:p>
                  </a:txBody>
                  <a:tcPr marL="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dirty="0">
                          <a:ln>
                            <a:noFill/>
                          </a:ln>
                          <a:solidFill>
                            <a:srgbClr val="7030A0"/>
                          </a:solidFill>
                          <a:effectLst/>
                          <a:latin typeface="+mj-ea"/>
                          <a:ea typeface="+mj-ea"/>
                          <a:cs typeface="Times New Roman" pitchFamily="18" charset="0"/>
                        </a:rPr>
                        <a:t>保存寄存器。在过程调用中被调用者一旦使用这些寄存器时，必须负责保存和恢复这些寄存器的原值</a:t>
                      </a:r>
                    </a:p>
                  </a:txBody>
                  <a:tcPr marL="3600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7"/>
                  </a:ext>
                </a:extLst>
              </a:tr>
              <a:tr h="24178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mn-lt"/>
                          <a:ea typeface="STKaiti" panose="02010600040101010101" pitchFamily="2" charset="-122"/>
                          <a:cs typeface="Times New Roman" pitchFamily="18" charset="0"/>
                        </a:rPr>
                        <a:t>26,27</a:t>
                      </a:r>
                      <a:endParaRPr kumimoji="0" lang="en-US" altLang="zh-CN" sz="2800" b="0" i="0" u="none" strike="noStrike" cap="none" normalizeH="0" baseline="0">
                        <a:ln>
                          <a:noFill/>
                        </a:ln>
                        <a:solidFill>
                          <a:schemeClr val="tx1"/>
                        </a:solidFill>
                        <a:effectLst/>
                        <a:latin typeface="+mn-lt"/>
                        <a:ea typeface="STKaiti" panose="02010600040101010101" pitchFamily="2" charset="-122"/>
                      </a:endParaRPr>
                    </a:p>
                  </a:txBody>
                  <a:tcPr marL="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dirty="0">
                          <a:ln>
                            <a:noFill/>
                          </a:ln>
                          <a:solidFill>
                            <a:schemeClr val="tx1"/>
                          </a:solidFill>
                          <a:effectLst/>
                          <a:latin typeface="Consolas" panose="020B0609020204030204" pitchFamily="49" charset="0"/>
                          <a:ea typeface="STKaiti" panose="02010600040101010101" pitchFamily="2" charset="-122"/>
                          <a:cs typeface="Times New Roman" pitchFamily="18" charset="0"/>
                        </a:rPr>
                        <a:t>$k0,$k1</a:t>
                      </a:r>
                      <a:endParaRPr kumimoji="0" lang="en-US" altLang="zh-CN" sz="2800" b="0" i="1" u="none" strike="noStrike" cap="none" normalizeH="0" baseline="0" dirty="0">
                        <a:ln>
                          <a:noFill/>
                        </a:ln>
                        <a:solidFill>
                          <a:schemeClr val="tx1"/>
                        </a:solidFill>
                        <a:effectLst/>
                        <a:latin typeface="Consolas" panose="020B0609020204030204" pitchFamily="49" charset="0"/>
                        <a:ea typeface="STKaiti" panose="02010600040101010101" pitchFamily="2" charset="-122"/>
                      </a:endParaRPr>
                    </a:p>
                  </a:txBody>
                  <a:tcPr marL="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dirty="0">
                          <a:ln>
                            <a:noFill/>
                          </a:ln>
                          <a:solidFill>
                            <a:schemeClr val="tx1"/>
                          </a:solidFill>
                          <a:effectLst/>
                          <a:latin typeface="+mj-ea"/>
                          <a:ea typeface="+mj-ea"/>
                          <a:cs typeface="Times New Roman" pitchFamily="18" charset="0"/>
                        </a:rPr>
                        <a:t>通常被中断或异常处理程序使用，用来保存一些系统参数</a:t>
                      </a:r>
                      <a:endParaRPr kumimoji="0" lang="zh-CN" altLang="en-US" sz="2800" b="0" i="0" u="none" strike="noStrike" cap="none" normalizeH="0" baseline="0" dirty="0">
                        <a:ln>
                          <a:noFill/>
                        </a:ln>
                        <a:solidFill>
                          <a:schemeClr val="tx1"/>
                        </a:solidFill>
                        <a:effectLst/>
                        <a:latin typeface="+mj-ea"/>
                        <a:ea typeface="+mj-ea"/>
                      </a:endParaRPr>
                    </a:p>
                  </a:txBody>
                  <a:tcPr marL="3600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8"/>
                  </a:ext>
                </a:extLst>
              </a:tr>
              <a:tr h="45207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mn-lt"/>
                          <a:ea typeface="STKaiti" panose="02010600040101010101" pitchFamily="2" charset="-122"/>
                          <a:cs typeface="Times New Roman" pitchFamily="18" charset="0"/>
                        </a:rPr>
                        <a:t>28</a:t>
                      </a:r>
                      <a:endParaRPr kumimoji="0" lang="en-US" altLang="zh-CN" sz="2800" b="0" i="0" u="none" strike="noStrike" cap="none" normalizeH="0" baseline="0">
                        <a:ln>
                          <a:noFill/>
                        </a:ln>
                        <a:solidFill>
                          <a:schemeClr val="tx1"/>
                        </a:solidFill>
                        <a:effectLst/>
                        <a:latin typeface="+mn-lt"/>
                        <a:ea typeface="STKaiti" panose="02010600040101010101" pitchFamily="2" charset="-122"/>
                      </a:endParaRPr>
                    </a:p>
                  </a:txBody>
                  <a:tcPr marL="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dirty="0">
                          <a:ln>
                            <a:noFill/>
                          </a:ln>
                          <a:solidFill>
                            <a:schemeClr val="tx1"/>
                          </a:solidFill>
                          <a:effectLst/>
                          <a:latin typeface="Consolas" panose="020B0609020204030204" pitchFamily="49" charset="0"/>
                          <a:ea typeface="STKaiti" panose="02010600040101010101" pitchFamily="2" charset="-122"/>
                          <a:cs typeface="Times New Roman" pitchFamily="18" charset="0"/>
                        </a:rPr>
                        <a:t>$</a:t>
                      </a:r>
                      <a:r>
                        <a:rPr kumimoji="0" lang="en-US" altLang="zh-CN" sz="1600" b="1" i="1" u="none" strike="noStrike" cap="none" normalizeH="0" baseline="0" dirty="0" err="1">
                          <a:ln>
                            <a:noFill/>
                          </a:ln>
                          <a:solidFill>
                            <a:schemeClr val="tx1"/>
                          </a:solidFill>
                          <a:effectLst/>
                          <a:latin typeface="Consolas" panose="020B0609020204030204" pitchFamily="49" charset="0"/>
                          <a:ea typeface="STKaiti" panose="02010600040101010101" pitchFamily="2" charset="-122"/>
                          <a:cs typeface="Times New Roman" pitchFamily="18" charset="0"/>
                        </a:rPr>
                        <a:t>gp</a:t>
                      </a:r>
                      <a:endParaRPr kumimoji="0" lang="en-US" altLang="zh-CN" sz="2800" b="0" i="1" u="none" strike="noStrike" cap="none" normalizeH="0" baseline="0" dirty="0">
                        <a:ln>
                          <a:noFill/>
                        </a:ln>
                        <a:solidFill>
                          <a:schemeClr val="tx1"/>
                        </a:solidFill>
                        <a:effectLst/>
                        <a:latin typeface="Consolas" panose="020B0609020204030204" pitchFamily="49" charset="0"/>
                        <a:ea typeface="STKaiti" panose="02010600040101010101" pitchFamily="2" charset="-122"/>
                      </a:endParaRPr>
                    </a:p>
                  </a:txBody>
                  <a:tcPr marL="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dirty="0">
                          <a:ln>
                            <a:noFill/>
                          </a:ln>
                          <a:solidFill>
                            <a:schemeClr val="tx1"/>
                          </a:solidFill>
                          <a:effectLst/>
                          <a:latin typeface="+mj-ea"/>
                          <a:ea typeface="+mj-ea"/>
                          <a:cs typeface="Times New Roman" pitchFamily="18" charset="0"/>
                        </a:rPr>
                        <a:t>全局指针。一些运行系统维护这个指针来更方便的存取</a:t>
                      </a:r>
                      <a:r>
                        <a:rPr kumimoji="0" lang="en-US" altLang="zh-CN" sz="1600" b="1" i="0" u="none" strike="noStrike" cap="none" normalizeH="0" baseline="0" dirty="0">
                          <a:ln>
                            <a:noFill/>
                          </a:ln>
                          <a:solidFill>
                            <a:schemeClr val="tx1"/>
                          </a:solidFill>
                          <a:effectLst/>
                          <a:latin typeface="+mj-ea"/>
                          <a:ea typeface="+mj-ea"/>
                          <a:cs typeface="Times New Roman" pitchFamily="18" charset="0"/>
                        </a:rPr>
                        <a:t>static</a:t>
                      </a:r>
                      <a:r>
                        <a:rPr kumimoji="0" lang="zh-CN" altLang="en-US" sz="1600" b="1" i="0" u="none" strike="noStrike" cap="none" normalizeH="0" baseline="0" dirty="0">
                          <a:ln>
                            <a:noFill/>
                          </a:ln>
                          <a:solidFill>
                            <a:schemeClr val="tx1"/>
                          </a:solidFill>
                          <a:effectLst/>
                          <a:latin typeface="+mj-ea"/>
                          <a:ea typeface="+mj-ea"/>
                          <a:cs typeface="Times New Roman" pitchFamily="18" charset="0"/>
                        </a:rPr>
                        <a:t>和</a:t>
                      </a:r>
                      <a:r>
                        <a:rPr kumimoji="0" lang="en-US" altLang="zh-CN" sz="1600" b="1" i="0" u="none" strike="noStrike" cap="none" normalizeH="0" baseline="0" dirty="0">
                          <a:ln>
                            <a:noFill/>
                          </a:ln>
                          <a:solidFill>
                            <a:schemeClr val="tx1"/>
                          </a:solidFill>
                          <a:effectLst/>
                          <a:latin typeface="+mj-ea"/>
                          <a:ea typeface="+mj-ea"/>
                          <a:cs typeface="Times New Roman" pitchFamily="18" charset="0"/>
                        </a:rPr>
                        <a:t>extern</a:t>
                      </a:r>
                      <a:r>
                        <a:rPr kumimoji="0" lang="zh-CN" altLang="en-US" sz="1600" b="1" i="0" u="none" strike="noStrike" cap="none" normalizeH="0" baseline="0" dirty="0">
                          <a:ln>
                            <a:noFill/>
                          </a:ln>
                          <a:solidFill>
                            <a:schemeClr val="tx1"/>
                          </a:solidFill>
                          <a:effectLst/>
                          <a:latin typeface="+mj-ea"/>
                          <a:ea typeface="+mj-ea"/>
                          <a:cs typeface="Times New Roman" pitchFamily="18" charset="0"/>
                        </a:rPr>
                        <a:t>变量</a:t>
                      </a:r>
                      <a:endParaRPr kumimoji="0" lang="zh-CN" altLang="en-US" sz="2800" b="0" i="0" u="none" strike="noStrike" cap="none" normalizeH="0" baseline="0" dirty="0">
                        <a:ln>
                          <a:noFill/>
                        </a:ln>
                        <a:solidFill>
                          <a:schemeClr val="tx1"/>
                        </a:solidFill>
                        <a:effectLst/>
                        <a:latin typeface="+mj-ea"/>
                        <a:ea typeface="+mj-ea"/>
                      </a:endParaRPr>
                    </a:p>
                  </a:txBody>
                  <a:tcPr marL="3600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9"/>
                  </a:ext>
                </a:extLst>
              </a:tr>
              <a:tr h="24178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mn-lt"/>
                          <a:ea typeface="STKaiti" panose="02010600040101010101" pitchFamily="2" charset="-122"/>
                          <a:cs typeface="Times New Roman" pitchFamily="18" charset="0"/>
                        </a:rPr>
                        <a:t>29</a:t>
                      </a:r>
                      <a:endParaRPr kumimoji="0" lang="en-US" altLang="zh-CN" sz="2800" b="0" i="0" u="none" strike="noStrike" cap="none" normalizeH="0" baseline="0">
                        <a:ln>
                          <a:noFill/>
                        </a:ln>
                        <a:solidFill>
                          <a:schemeClr val="tx1"/>
                        </a:solidFill>
                        <a:effectLst/>
                        <a:latin typeface="+mn-lt"/>
                        <a:ea typeface="STKaiti" panose="02010600040101010101" pitchFamily="2" charset="-122"/>
                      </a:endParaRPr>
                    </a:p>
                  </a:txBody>
                  <a:tcPr marL="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dirty="0">
                          <a:ln>
                            <a:noFill/>
                          </a:ln>
                          <a:solidFill>
                            <a:schemeClr val="tx1"/>
                          </a:solidFill>
                          <a:effectLst/>
                          <a:latin typeface="Consolas" panose="020B0609020204030204" pitchFamily="49" charset="0"/>
                          <a:ea typeface="STKaiti" panose="02010600040101010101" pitchFamily="2" charset="-122"/>
                          <a:cs typeface="Times New Roman" pitchFamily="18" charset="0"/>
                        </a:rPr>
                        <a:t>$sp</a:t>
                      </a:r>
                      <a:endParaRPr kumimoji="0" lang="en-US" altLang="zh-CN" sz="2800" b="0" i="1" u="none" strike="noStrike" cap="none" normalizeH="0" baseline="0" dirty="0">
                        <a:ln>
                          <a:noFill/>
                        </a:ln>
                        <a:solidFill>
                          <a:schemeClr val="tx1"/>
                        </a:solidFill>
                        <a:effectLst/>
                        <a:latin typeface="Consolas" panose="020B0609020204030204" pitchFamily="49" charset="0"/>
                        <a:ea typeface="STKaiti" panose="02010600040101010101" pitchFamily="2" charset="-122"/>
                      </a:endParaRPr>
                    </a:p>
                  </a:txBody>
                  <a:tcPr marL="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dirty="0">
                          <a:ln>
                            <a:noFill/>
                          </a:ln>
                          <a:solidFill>
                            <a:schemeClr val="tx1"/>
                          </a:solidFill>
                          <a:effectLst/>
                          <a:latin typeface="+mj-ea"/>
                          <a:ea typeface="+mj-ea"/>
                          <a:cs typeface="Times New Roman" pitchFamily="18" charset="0"/>
                        </a:rPr>
                        <a:t>堆栈指针</a:t>
                      </a:r>
                      <a:endParaRPr kumimoji="0" lang="zh-CN" altLang="en-US" sz="2800" b="0" i="0" u="none" strike="noStrike" cap="none" normalizeH="0" baseline="0" dirty="0">
                        <a:ln>
                          <a:noFill/>
                        </a:ln>
                        <a:solidFill>
                          <a:schemeClr val="tx1"/>
                        </a:solidFill>
                        <a:effectLst/>
                        <a:latin typeface="+mj-ea"/>
                        <a:ea typeface="+mj-ea"/>
                      </a:endParaRPr>
                    </a:p>
                  </a:txBody>
                  <a:tcPr marL="3600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0"/>
                  </a:ext>
                </a:extLst>
              </a:tr>
              <a:tr h="24178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mn-lt"/>
                          <a:ea typeface="STKaiti" panose="02010600040101010101" pitchFamily="2" charset="-122"/>
                          <a:cs typeface="Times New Roman" pitchFamily="18" charset="0"/>
                        </a:rPr>
                        <a:t>30</a:t>
                      </a:r>
                      <a:endParaRPr kumimoji="0" lang="en-US" altLang="zh-CN" sz="2800" b="0" i="0" u="none" strike="noStrike" cap="none" normalizeH="0" baseline="0">
                        <a:ln>
                          <a:noFill/>
                        </a:ln>
                        <a:solidFill>
                          <a:schemeClr val="tx1"/>
                        </a:solidFill>
                        <a:effectLst/>
                        <a:latin typeface="+mn-lt"/>
                        <a:ea typeface="STKaiti" panose="02010600040101010101" pitchFamily="2" charset="-122"/>
                      </a:endParaRPr>
                    </a:p>
                  </a:txBody>
                  <a:tcPr marL="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dirty="0">
                          <a:ln>
                            <a:noFill/>
                          </a:ln>
                          <a:solidFill>
                            <a:schemeClr val="tx1"/>
                          </a:solidFill>
                          <a:effectLst/>
                          <a:latin typeface="Consolas" panose="020B0609020204030204" pitchFamily="49" charset="0"/>
                          <a:ea typeface="STKaiti" panose="02010600040101010101" pitchFamily="2" charset="-122"/>
                          <a:cs typeface="Times New Roman" pitchFamily="18" charset="0"/>
                        </a:rPr>
                        <a:t>$</a:t>
                      </a:r>
                      <a:r>
                        <a:rPr kumimoji="0" lang="en-US" altLang="zh-CN" sz="1600" b="1" i="1" u="none" strike="noStrike" cap="none" normalizeH="0" baseline="0" dirty="0" err="1">
                          <a:ln>
                            <a:noFill/>
                          </a:ln>
                          <a:solidFill>
                            <a:schemeClr val="tx1"/>
                          </a:solidFill>
                          <a:effectLst/>
                          <a:latin typeface="Consolas" panose="020B0609020204030204" pitchFamily="49" charset="0"/>
                          <a:ea typeface="STKaiti" panose="02010600040101010101" pitchFamily="2" charset="-122"/>
                          <a:cs typeface="Times New Roman" pitchFamily="18" charset="0"/>
                        </a:rPr>
                        <a:t>fp</a:t>
                      </a:r>
                      <a:endParaRPr kumimoji="0" lang="en-US" altLang="zh-CN" sz="2800" b="0" i="1" u="none" strike="noStrike" cap="none" normalizeH="0" baseline="0" dirty="0">
                        <a:ln>
                          <a:noFill/>
                        </a:ln>
                        <a:solidFill>
                          <a:schemeClr val="tx1"/>
                        </a:solidFill>
                        <a:effectLst/>
                        <a:latin typeface="Consolas" panose="020B0609020204030204" pitchFamily="49" charset="0"/>
                        <a:ea typeface="STKaiti" panose="02010600040101010101" pitchFamily="2" charset="-122"/>
                      </a:endParaRPr>
                    </a:p>
                  </a:txBody>
                  <a:tcPr marL="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dirty="0">
                          <a:ln>
                            <a:noFill/>
                          </a:ln>
                          <a:solidFill>
                            <a:schemeClr val="tx1"/>
                          </a:solidFill>
                          <a:effectLst/>
                          <a:latin typeface="+mj-ea"/>
                          <a:ea typeface="+mj-ea"/>
                          <a:cs typeface="Times New Roman" pitchFamily="18" charset="0"/>
                        </a:rPr>
                        <a:t>帧指针</a:t>
                      </a:r>
                    </a:p>
                  </a:txBody>
                  <a:tcPr marL="3600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1"/>
                  </a:ext>
                </a:extLst>
              </a:tr>
              <a:tr h="12046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mn-lt"/>
                          <a:ea typeface="STKaiti" panose="02010600040101010101" pitchFamily="2" charset="-122"/>
                          <a:cs typeface="Times New Roman" pitchFamily="18" charset="0"/>
                        </a:rPr>
                        <a:t>31</a:t>
                      </a:r>
                      <a:endParaRPr kumimoji="0" lang="en-US" altLang="zh-CN" sz="2800" b="0" i="0" u="none" strike="noStrike" cap="none" normalizeH="0" baseline="0">
                        <a:ln>
                          <a:noFill/>
                        </a:ln>
                        <a:solidFill>
                          <a:schemeClr val="tx1"/>
                        </a:solidFill>
                        <a:effectLst/>
                        <a:latin typeface="+mn-lt"/>
                        <a:ea typeface="STKaiti" panose="02010600040101010101" pitchFamily="2" charset="-122"/>
                      </a:endParaRPr>
                    </a:p>
                  </a:txBody>
                  <a:tcPr marL="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dirty="0">
                          <a:ln>
                            <a:noFill/>
                          </a:ln>
                          <a:solidFill>
                            <a:schemeClr val="tx1"/>
                          </a:solidFill>
                          <a:effectLst/>
                          <a:latin typeface="Consolas" panose="020B0609020204030204" pitchFamily="49" charset="0"/>
                          <a:ea typeface="STKaiti" panose="02010600040101010101" pitchFamily="2" charset="-122"/>
                          <a:cs typeface="Times New Roman" pitchFamily="18" charset="0"/>
                        </a:rPr>
                        <a:t>$</a:t>
                      </a:r>
                      <a:r>
                        <a:rPr kumimoji="0" lang="en-US" altLang="zh-CN" sz="1600" b="1" i="1" u="none" strike="noStrike" cap="none" normalizeH="0" baseline="0" dirty="0" err="1">
                          <a:ln>
                            <a:noFill/>
                          </a:ln>
                          <a:solidFill>
                            <a:schemeClr val="tx1"/>
                          </a:solidFill>
                          <a:effectLst/>
                          <a:latin typeface="Consolas" panose="020B0609020204030204" pitchFamily="49" charset="0"/>
                          <a:ea typeface="STKaiti" panose="02010600040101010101" pitchFamily="2" charset="-122"/>
                          <a:cs typeface="Times New Roman" pitchFamily="18" charset="0"/>
                        </a:rPr>
                        <a:t>ra</a:t>
                      </a:r>
                      <a:endParaRPr kumimoji="0" lang="en-US" altLang="zh-CN" sz="2800" b="0" i="1" u="none" strike="noStrike" cap="none" normalizeH="0" baseline="0" dirty="0">
                        <a:ln>
                          <a:noFill/>
                        </a:ln>
                        <a:solidFill>
                          <a:schemeClr val="tx1"/>
                        </a:solidFill>
                        <a:effectLst/>
                        <a:latin typeface="Consolas" panose="020B0609020204030204" pitchFamily="49" charset="0"/>
                        <a:ea typeface="STKaiti" panose="02010600040101010101" pitchFamily="2" charset="-122"/>
                      </a:endParaRPr>
                    </a:p>
                  </a:txBody>
                  <a:tcPr marL="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dirty="0">
                          <a:ln>
                            <a:noFill/>
                          </a:ln>
                          <a:solidFill>
                            <a:schemeClr val="tx1"/>
                          </a:solidFill>
                          <a:effectLst/>
                          <a:latin typeface="+mj-ea"/>
                          <a:ea typeface="+mj-ea"/>
                          <a:cs typeface="Times New Roman" pitchFamily="18" charset="0"/>
                        </a:rPr>
                        <a:t>返回地址</a:t>
                      </a:r>
                      <a:endParaRPr kumimoji="0" lang="zh-CN" altLang="en-US" sz="2800" b="0" i="0" u="none" strike="noStrike" cap="none" normalizeH="0" baseline="0" dirty="0">
                        <a:ln>
                          <a:noFill/>
                        </a:ln>
                        <a:solidFill>
                          <a:schemeClr val="tx1"/>
                        </a:solidFill>
                        <a:effectLst/>
                        <a:latin typeface="+mj-ea"/>
                        <a:ea typeface="+mj-ea"/>
                      </a:endParaRPr>
                    </a:p>
                  </a:txBody>
                  <a:tcPr marL="3600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2"/>
                  </a:ext>
                </a:extLst>
              </a:tr>
            </a:tbl>
          </a:graphicData>
        </a:graphic>
      </p:graphicFrame>
      <p:sp>
        <p:nvSpPr>
          <p:cNvPr id="2" name="Title 4">
            <a:extLst>
              <a:ext uri="{FF2B5EF4-FFF2-40B4-BE49-F238E27FC236}">
                <a16:creationId xmlns:a16="http://schemas.microsoft.com/office/drawing/2014/main" id="{AA18B0FA-056E-E3B3-2C6C-424DEBCACD07}"/>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en-US" altLang="zh-CN" dirty="0"/>
              <a:t>MIPS</a:t>
            </a:r>
            <a:r>
              <a:rPr lang="zh-CN" altLang="en-US" dirty="0"/>
              <a:t>架构中的数据存储：寄存器</a:t>
            </a:r>
            <a:endParaRPr lang="en-CN" kern="0" dirty="0"/>
          </a:p>
        </p:txBody>
      </p:sp>
      <p:sp>
        <p:nvSpPr>
          <p:cNvPr id="3" name="文本框 2">
            <a:extLst>
              <a:ext uri="{FF2B5EF4-FFF2-40B4-BE49-F238E27FC236}">
                <a16:creationId xmlns:a16="http://schemas.microsoft.com/office/drawing/2014/main" id="{D2E17561-B743-0F69-7D35-A9E6B75155F8}"/>
              </a:ext>
            </a:extLst>
          </p:cNvPr>
          <p:cNvSpPr txBox="1"/>
          <p:nvPr/>
        </p:nvSpPr>
        <p:spPr>
          <a:xfrm>
            <a:off x="7237080" y="2121368"/>
            <a:ext cx="1598744" cy="923330"/>
          </a:xfrm>
          <a:prstGeom prst="rect">
            <a:avLst/>
          </a:prstGeom>
          <a:solidFill>
            <a:schemeClr val="bg1">
              <a:lumMod val="95000"/>
            </a:schemeClr>
          </a:solidFill>
        </p:spPr>
        <p:txBody>
          <a:bodyPr wrap="square">
            <a:spAutoFit/>
          </a:bodyPr>
          <a:lstStyle/>
          <a:p>
            <a:pPr algn="ctr"/>
            <a:r>
              <a:rPr lang="en" altLang="zh-CN" dirty="0"/>
              <a:t>Question: Why do we need $zero?</a:t>
            </a:r>
          </a:p>
        </p:txBody>
      </p:sp>
    </p:spTree>
    <p:extLst>
      <p:ext uri="{BB962C8B-B14F-4D97-AF65-F5344CB8AC3E}">
        <p14:creationId xmlns:p14="http://schemas.microsoft.com/office/powerpoint/2010/main" val="994127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灯片编号占位符 5"/>
          <p:cNvSpPr>
            <a:spLocks noGrp="1"/>
          </p:cNvSpPr>
          <p:nvPr>
            <p:ph type="sldNum" sz="quarter" idx="12"/>
          </p:nvPr>
        </p:nvSpPr>
        <p:spPr/>
        <p:txBody>
          <a:bodyPr/>
          <a:lstStyle/>
          <a:p>
            <a:pPr>
              <a:defRPr/>
            </a:pPr>
            <a:fld id="{CF6541B4-78F6-4DF2-B6B0-49DE56E6F933}" type="slidenum">
              <a:rPr lang="zh-CN" altLang="en-US"/>
              <a:pPr>
                <a:defRPr/>
              </a:pPr>
              <a:t>34</a:t>
            </a:fld>
            <a:endParaRPr lang="en-US" altLang="zh-CN"/>
          </a:p>
        </p:txBody>
      </p:sp>
      <p:sp>
        <p:nvSpPr>
          <p:cNvPr id="269315" name="Rectangle 3"/>
          <p:cNvSpPr>
            <a:spLocks noGrp="1" noChangeArrowheads="1"/>
          </p:cNvSpPr>
          <p:nvPr>
            <p:ph idx="4294967295"/>
          </p:nvPr>
        </p:nvSpPr>
        <p:spPr>
          <a:xfrm>
            <a:off x="457200" y="1479636"/>
            <a:ext cx="7886700" cy="4351338"/>
          </a:xfrm>
        </p:spPr>
        <p:txBody>
          <a:bodyPr/>
          <a:lstStyle/>
          <a:p>
            <a:pPr eaLnBrk="1" hangingPunct="1"/>
            <a:r>
              <a:rPr lang="en-US" altLang="zh-CN" b="1" dirty="0">
                <a:solidFill>
                  <a:srgbClr val="0432FF"/>
                </a:solidFill>
              </a:rPr>
              <a:t>MIPS</a:t>
            </a:r>
            <a:r>
              <a:rPr lang="zh-CN" altLang="en-US" b="1" dirty="0">
                <a:solidFill>
                  <a:srgbClr val="0432FF"/>
                </a:solidFill>
              </a:rPr>
              <a:t>寄存器为什么只有</a:t>
            </a:r>
            <a:r>
              <a:rPr lang="en-US" altLang="zh-CN" b="1" dirty="0">
                <a:solidFill>
                  <a:srgbClr val="0432FF"/>
                </a:solidFill>
              </a:rPr>
              <a:t>32</a:t>
            </a:r>
            <a:r>
              <a:rPr lang="zh-CN" altLang="en-US" b="1" dirty="0">
                <a:solidFill>
                  <a:srgbClr val="0432FF"/>
                </a:solidFill>
              </a:rPr>
              <a:t>个？</a:t>
            </a:r>
            <a:endParaRPr lang="en-US" altLang="zh-CN" b="1" dirty="0">
              <a:solidFill>
                <a:srgbClr val="0432FF"/>
              </a:solidFill>
            </a:endParaRPr>
          </a:p>
          <a:p>
            <a:pPr lvl="1">
              <a:lnSpc>
                <a:spcPct val="150000"/>
              </a:lnSpc>
            </a:pPr>
            <a:r>
              <a:rPr lang="zh-CN" altLang="en-US" dirty="0"/>
              <a:t>速度：寄存器数量越多，延时越长</a:t>
            </a:r>
            <a:endParaRPr lang="en-US" altLang="zh-CN" dirty="0"/>
          </a:p>
          <a:p>
            <a:pPr lvl="1">
              <a:lnSpc>
                <a:spcPct val="150000"/>
              </a:lnSpc>
            </a:pPr>
            <a:r>
              <a:rPr lang="zh-CN" altLang="en-US" dirty="0"/>
              <a:t>寄存器编号被限制为</a:t>
            </a:r>
            <a:r>
              <a:rPr lang="en-US" altLang="zh-CN" dirty="0"/>
              <a:t>5bit</a:t>
            </a:r>
            <a:endParaRPr lang="zh-CN" altLang="en-US" dirty="0"/>
          </a:p>
        </p:txBody>
      </p:sp>
      <p:sp>
        <p:nvSpPr>
          <p:cNvPr id="2" name="Title 4">
            <a:extLst>
              <a:ext uri="{FF2B5EF4-FFF2-40B4-BE49-F238E27FC236}">
                <a16:creationId xmlns:a16="http://schemas.microsoft.com/office/drawing/2014/main" id="{7C9682AA-09AE-16D0-BBCC-C2AD67C99CBD}"/>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kern="1200" dirty="0">
                <a:solidFill>
                  <a:schemeClr val="tx1"/>
                </a:solidFill>
                <a:cs typeface="+mn-cs"/>
              </a:rPr>
              <a:t>问题</a:t>
            </a:r>
            <a:endParaRPr lang="en-CN" kern="0" dirty="0"/>
          </a:p>
        </p:txBody>
      </p:sp>
    </p:spTree>
    <p:extLst>
      <p:ext uri="{BB962C8B-B14F-4D97-AF65-F5344CB8AC3E}">
        <p14:creationId xmlns:p14="http://schemas.microsoft.com/office/powerpoint/2010/main" val="16886143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58C6A64-4532-734D-A003-17AB02EDCF0D}"/>
              </a:ext>
            </a:extLst>
          </p:cNvPr>
          <p:cNvSpPr>
            <a:spLocks noGrp="1"/>
          </p:cNvSpPr>
          <p:nvPr>
            <p:ph type="sldNum" sz="quarter" idx="12"/>
          </p:nvPr>
        </p:nvSpPr>
        <p:spPr/>
        <p:txBody>
          <a:bodyPr/>
          <a:lstStyle/>
          <a:p>
            <a:fld id="{176ACFD1-D213-4B9C-817B-45486DBF105A}" type="slidenum">
              <a:rPr lang="en-US" smtClean="0">
                <a:solidFill>
                  <a:prstClr val="black"/>
                </a:solidFill>
              </a:rPr>
              <a:pPr/>
              <a:t>35</a:t>
            </a:fld>
            <a:endParaRPr lang="en-US">
              <a:solidFill>
                <a:prstClr val="black"/>
              </a:solidFill>
            </a:endParaRPr>
          </a:p>
        </p:txBody>
      </p:sp>
      <p:sp>
        <p:nvSpPr>
          <p:cNvPr id="3" name="Content Placeholder 2">
            <a:extLst>
              <a:ext uri="{FF2B5EF4-FFF2-40B4-BE49-F238E27FC236}">
                <a16:creationId xmlns:a16="http://schemas.microsoft.com/office/drawing/2014/main" id="{FBC54065-A8EB-A646-8897-9BA089C94A03}"/>
              </a:ext>
            </a:extLst>
          </p:cNvPr>
          <p:cNvSpPr>
            <a:spLocks noGrp="1"/>
          </p:cNvSpPr>
          <p:nvPr>
            <p:ph idx="4294967295"/>
          </p:nvPr>
        </p:nvSpPr>
        <p:spPr>
          <a:xfrm>
            <a:off x="457200" y="1252537"/>
            <a:ext cx="8229600" cy="5230813"/>
          </a:xfrm>
        </p:spPr>
        <p:txBody>
          <a:bodyPr>
            <a:normAutofit fontScale="92500" lnSpcReduction="20000"/>
          </a:bodyPr>
          <a:lstStyle/>
          <a:p>
            <a:pPr>
              <a:lnSpc>
                <a:spcPct val="150000"/>
              </a:lnSpc>
            </a:pPr>
            <a:r>
              <a:rPr lang="zh-CN" altLang="en-US" dirty="0">
                <a:latin typeface="Arial" panose="020B0604020202020204" pitchFamily="34" charset="0"/>
                <a:cs typeface="Arial" panose="020B0604020202020204" pitchFamily="34" charset="0"/>
              </a:rPr>
              <a:t>指令设计思想与考虑</a:t>
            </a:r>
            <a:endParaRPr lang="en-US" altLang="zh-CN" dirty="0">
              <a:latin typeface="Arial" panose="020B0604020202020204" pitchFamily="34" charset="0"/>
              <a:cs typeface="Arial" panose="020B0604020202020204" pitchFamily="34" charset="0"/>
            </a:endParaRPr>
          </a:p>
          <a:p>
            <a:pPr>
              <a:lnSpc>
                <a:spcPct val="150000"/>
              </a:lnSpc>
            </a:pPr>
            <a:r>
              <a:rPr lang="en-US" dirty="0">
                <a:solidFill>
                  <a:srgbClr val="0432FF"/>
                </a:solidFill>
                <a:latin typeface="Arial" panose="020B0604020202020204" pitchFamily="34" charset="0"/>
                <a:cs typeface="Arial" panose="020B0604020202020204" pitchFamily="34" charset="0"/>
              </a:rPr>
              <a:t>MIPS</a:t>
            </a:r>
            <a:r>
              <a:rPr lang="zh-CN" altLang="en-US" dirty="0">
                <a:solidFill>
                  <a:srgbClr val="0432FF"/>
                </a:solidFill>
                <a:latin typeface="Arial" panose="020B0604020202020204" pitchFamily="34" charset="0"/>
                <a:cs typeface="Arial" panose="020B0604020202020204" pitchFamily="34" charset="0"/>
              </a:rPr>
              <a:t>指令集介绍</a:t>
            </a:r>
            <a:endParaRPr lang="en-US" altLang="zh-CN" dirty="0">
              <a:solidFill>
                <a:srgbClr val="0432FF"/>
              </a:solidFill>
              <a:latin typeface="Arial" panose="020B0604020202020204" pitchFamily="34" charset="0"/>
              <a:cs typeface="Arial" panose="020B0604020202020204" pitchFamily="34" charset="0"/>
            </a:endParaRPr>
          </a:p>
          <a:p>
            <a:pPr lvl="1">
              <a:lnSpc>
                <a:spcPct val="150000"/>
              </a:lnSpc>
            </a:pPr>
            <a:r>
              <a:rPr lang="zh-CN" altLang="en-US" dirty="0">
                <a:latin typeface="Arial" panose="020B0604020202020204" pitchFamily="34" charset="0"/>
                <a:cs typeface="Arial" panose="020B0604020202020204" pitchFamily="34" charset="0"/>
              </a:rPr>
              <a:t>指令存储与数据存储</a:t>
            </a:r>
            <a:endParaRPr lang="en-US" altLang="zh-CN" dirty="0">
              <a:latin typeface="Arial" panose="020B0604020202020204" pitchFamily="34" charset="0"/>
              <a:cs typeface="Arial" panose="020B0604020202020204" pitchFamily="34" charset="0"/>
            </a:endParaRPr>
          </a:p>
          <a:p>
            <a:pPr lvl="1">
              <a:lnSpc>
                <a:spcPct val="150000"/>
              </a:lnSpc>
            </a:pPr>
            <a:r>
              <a:rPr lang="zh-CN" altLang="en-US" dirty="0">
                <a:solidFill>
                  <a:srgbClr val="0432FF"/>
                </a:solidFill>
                <a:latin typeface="Arial" panose="020B0604020202020204" pitchFamily="34" charset="0"/>
                <a:cs typeface="Arial" panose="020B0604020202020204" pitchFamily="34" charset="0"/>
              </a:rPr>
              <a:t>指令分类与格式</a:t>
            </a:r>
            <a:endParaRPr lang="en-US" altLang="zh-CN" dirty="0">
              <a:solidFill>
                <a:srgbClr val="0432FF"/>
              </a:solidFill>
              <a:latin typeface="Arial" panose="020B0604020202020204" pitchFamily="34" charset="0"/>
              <a:cs typeface="Arial" panose="020B0604020202020204" pitchFamily="34" charset="0"/>
            </a:endParaRPr>
          </a:p>
          <a:p>
            <a:pPr lvl="1">
              <a:lnSpc>
                <a:spcPct val="150000"/>
              </a:lnSpc>
            </a:pPr>
            <a:r>
              <a:rPr lang="zh-CN" altLang="en-US" dirty="0">
                <a:latin typeface="Arial" panose="020B0604020202020204" pitchFamily="34" charset="0"/>
                <a:cs typeface="Arial" panose="020B0604020202020204" pitchFamily="34" charset="0"/>
              </a:rPr>
              <a:t>寻址方式</a:t>
            </a:r>
            <a:endParaRPr lang="en-US" altLang="zh-CN" dirty="0">
              <a:latin typeface="Arial" panose="020B0604020202020204" pitchFamily="34" charset="0"/>
              <a:cs typeface="Arial" panose="020B0604020202020204" pitchFamily="34" charset="0"/>
            </a:endParaRPr>
          </a:p>
          <a:p>
            <a:pPr lvl="1">
              <a:lnSpc>
                <a:spcPct val="150000"/>
              </a:lnSpc>
            </a:pPr>
            <a:r>
              <a:rPr lang="zh-CN" altLang="en-US" dirty="0">
                <a:latin typeface="Arial" panose="020B0604020202020204" pitchFamily="34" charset="0"/>
                <a:cs typeface="Arial" panose="020B0604020202020204" pitchFamily="34" charset="0"/>
              </a:rPr>
              <a:t>常见指令介绍</a:t>
            </a:r>
            <a:endParaRPr lang="en-US" altLang="zh-CN" dirty="0">
              <a:latin typeface="Arial" panose="020B0604020202020204" pitchFamily="34" charset="0"/>
              <a:cs typeface="Arial" panose="020B0604020202020204" pitchFamily="34" charset="0"/>
            </a:endParaRPr>
          </a:p>
          <a:p>
            <a:pPr lvl="1">
              <a:lnSpc>
                <a:spcPct val="150000"/>
              </a:lnSpc>
            </a:pPr>
            <a:r>
              <a:rPr lang="zh-CN" altLang="en-US" dirty="0">
                <a:latin typeface="Arial" panose="020B0604020202020204" pitchFamily="34" charset="0"/>
                <a:cs typeface="Arial" panose="020B0604020202020204" pitchFamily="34" charset="0"/>
              </a:rPr>
              <a:t>过程调用</a:t>
            </a:r>
            <a:endParaRPr lang="en-US" altLang="zh-CN" dirty="0">
              <a:latin typeface="Arial" panose="020B0604020202020204" pitchFamily="34" charset="0"/>
              <a:cs typeface="Arial" panose="020B0604020202020204" pitchFamily="34" charset="0"/>
            </a:endParaRPr>
          </a:p>
          <a:p>
            <a:pPr>
              <a:lnSpc>
                <a:spcPct val="150000"/>
              </a:lnSpc>
            </a:pPr>
            <a:r>
              <a:rPr lang="en-US" altLang="zh-CN" dirty="0">
                <a:latin typeface="Arial" panose="020B0604020202020204" pitchFamily="34" charset="0"/>
                <a:cs typeface="Arial" panose="020B0604020202020204" pitchFamily="34" charset="0"/>
              </a:rPr>
              <a:t>MIPS</a:t>
            </a:r>
            <a:r>
              <a:rPr lang="zh-CN" altLang="en-US" dirty="0">
                <a:latin typeface="Arial" panose="020B0604020202020204" pitchFamily="34" charset="0"/>
                <a:cs typeface="Arial" panose="020B0604020202020204" pitchFamily="34" charset="0"/>
              </a:rPr>
              <a:t>指令集程序</a:t>
            </a:r>
            <a:endParaRPr lang="en-US" altLang="zh-CN" dirty="0">
              <a:latin typeface="Arial" panose="020B0604020202020204" pitchFamily="34" charset="0"/>
              <a:cs typeface="Arial" panose="020B0604020202020204" pitchFamily="34" charset="0"/>
            </a:endParaRPr>
          </a:p>
          <a:p>
            <a:pPr marL="342900" lvl="1" indent="0">
              <a:lnSpc>
                <a:spcPct val="150000"/>
              </a:lnSpc>
              <a:buNone/>
            </a:pPr>
            <a:endParaRPr lang="en-US" altLang="zh-CN" sz="2800" dirty="0">
              <a:latin typeface="Arial" panose="020B0604020202020204" pitchFamily="34" charset="0"/>
              <a:cs typeface="Arial" panose="020B0604020202020204" pitchFamily="34" charset="0"/>
            </a:endParaRPr>
          </a:p>
        </p:txBody>
      </p:sp>
      <p:sp>
        <p:nvSpPr>
          <p:cNvPr id="2" name="Title 4">
            <a:extLst>
              <a:ext uri="{FF2B5EF4-FFF2-40B4-BE49-F238E27FC236}">
                <a16:creationId xmlns:a16="http://schemas.microsoft.com/office/drawing/2014/main" id="{3357B0CE-B954-F448-A327-93E189237108}"/>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kumimoji="1" lang="zh-CN" altLang="en-US" dirty="0"/>
              <a:t>本节课目录</a:t>
            </a:r>
            <a:endParaRPr lang="en-CN" kern="0" dirty="0"/>
          </a:p>
        </p:txBody>
      </p:sp>
    </p:spTree>
    <p:extLst>
      <p:ext uri="{BB962C8B-B14F-4D97-AF65-F5344CB8AC3E}">
        <p14:creationId xmlns:p14="http://schemas.microsoft.com/office/powerpoint/2010/main" val="12852208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9B52569E-53AC-4A41-8430-F9FD330141FD}"/>
              </a:ext>
            </a:extLst>
          </p:cNvPr>
          <p:cNvSpPr>
            <a:spLocks noGrp="1"/>
          </p:cNvSpPr>
          <p:nvPr>
            <p:ph type="sldNum" sz="quarter" idx="12"/>
          </p:nvPr>
        </p:nvSpPr>
        <p:spPr/>
        <p:txBody>
          <a:bodyPr/>
          <a:lstStyle/>
          <a:p>
            <a:fld id="{14659731-6BD7-46E7-8D3C-2F3AC07E20B1}" type="slidenum">
              <a:rPr lang="en-US" altLang="zh-CN" smtClean="0"/>
              <a:pPr/>
              <a:t>36</a:t>
            </a:fld>
            <a:endParaRPr lang="en-US" altLang="zh-CN"/>
          </a:p>
        </p:txBody>
      </p:sp>
      <p:sp>
        <p:nvSpPr>
          <p:cNvPr id="41" name="Content Placeholder 40">
            <a:extLst>
              <a:ext uri="{FF2B5EF4-FFF2-40B4-BE49-F238E27FC236}">
                <a16:creationId xmlns:a16="http://schemas.microsoft.com/office/drawing/2014/main" id="{350F57B5-CF9F-4517-B89B-B1E3C2688AD6}"/>
              </a:ext>
            </a:extLst>
          </p:cNvPr>
          <p:cNvSpPr>
            <a:spLocks noGrp="1"/>
          </p:cNvSpPr>
          <p:nvPr>
            <p:ph idx="4294967295"/>
          </p:nvPr>
        </p:nvSpPr>
        <p:spPr>
          <a:xfrm>
            <a:off x="362418" y="1286535"/>
            <a:ext cx="8781582" cy="5571466"/>
          </a:xfrm>
        </p:spPr>
        <p:txBody>
          <a:bodyPr/>
          <a:lstStyle/>
          <a:p>
            <a:r>
              <a:rPr kumimoji="1" lang="en-US" altLang="zh-CN" sz="2800" dirty="0"/>
              <a:t>R</a:t>
            </a:r>
            <a:r>
              <a:rPr kumimoji="1" lang="zh-CN" altLang="en-US" sz="2800" dirty="0"/>
              <a:t>型指令的字段划分及具体含义如下</a:t>
            </a:r>
            <a:endParaRPr kumimoji="1" lang="en-US" altLang="zh-CN" sz="2800" dirty="0"/>
          </a:p>
          <a:p>
            <a:pPr lvl="1"/>
            <a:r>
              <a:rPr kumimoji="1" lang="en-US" altLang="zh-CN" sz="2400" dirty="0"/>
              <a:t>5bit</a:t>
            </a:r>
            <a:r>
              <a:rPr kumimoji="1" lang="zh-CN" altLang="en-US" sz="2400" dirty="0"/>
              <a:t>表示寄存器编号，</a:t>
            </a:r>
            <a:r>
              <a:rPr kumimoji="1" lang="en-US" altLang="zh-CN" sz="2400" dirty="0"/>
              <a:t>5bit x 3</a:t>
            </a:r>
            <a:r>
              <a:rPr kumimoji="1" lang="zh-CN" altLang="en-US" sz="2400" dirty="0"/>
              <a:t>用于</a:t>
            </a:r>
            <a:r>
              <a:rPr kumimoji="1" lang="en-US" altLang="zh-CN" sz="2400" dirty="0"/>
              <a:t>rs</a:t>
            </a:r>
            <a:r>
              <a:rPr kumimoji="1" lang="zh-CN" altLang="en-US" sz="2400" dirty="0"/>
              <a:t>、</a:t>
            </a:r>
            <a:r>
              <a:rPr kumimoji="1" lang="en-US" altLang="zh-CN" sz="2400" dirty="0"/>
              <a:t>rt</a:t>
            </a:r>
            <a:r>
              <a:rPr kumimoji="1" lang="zh-CN" altLang="en-US" sz="2400" dirty="0"/>
              <a:t>、</a:t>
            </a:r>
            <a:r>
              <a:rPr kumimoji="1" lang="en-US" altLang="zh-CN" sz="2400" dirty="0"/>
              <a:t>rd</a:t>
            </a:r>
          </a:p>
          <a:p>
            <a:pPr lvl="2"/>
            <a:r>
              <a:rPr kumimoji="1" lang="en-US" altLang="zh-CN" sz="2000" b="0" dirty="0" err="1"/>
              <a:t>rs</a:t>
            </a:r>
            <a:r>
              <a:rPr kumimoji="1" lang="en-US" altLang="zh-CN" sz="2000" b="0" dirty="0"/>
              <a:t>:</a:t>
            </a:r>
            <a:r>
              <a:rPr kumimoji="1" lang="zh-CN" altLang="en-US" sz="2000" b="0" dirty="0"/>
              <a:t> </a:t>
            </a:r>
            <a:r>
              <a:rPr kumimoji="1" lang="en-US" altLang="zh-CN" sz="2000" b="0" dirty="0"/>
              <a:t>source,</a:t>
            </a:r>
            <a:r>
              <a:rPr kumimoji="1" lang="zh-CN" altLang="en-US" sz="2000" b="0" dirty="0"/>
              <a:t> </a:t>
            </a:r>
            <a:r>
              <a:rPr kumimoji="1" lang="en-US" altLang="zh-CN" sz="2000" b="0" dirty="0"/>
              <a:t>rt:</a:t>
            </a:r>
            <a:r>
              <a:rPr kumimoji="1" lang="zh-CN" altLang="en-US" sz="2000" b="0" dirty="0"/>
              <a:t> </a:t>
            </a:r>
            <a:r>
              <a:rPr lang="en-US" altLang="zh-CN" sz="2000" b="0" dirty="0"/>
              <a:t>source/target</a:t>
            </a:r>
            <a:r>
              <a:rPr kumimoji="1" lang="en-US" altLang="zh-CN" sz="2000" b="0" dirty="0"/>
              <a:t>,</a:t>
            </a:r>
            <a:r>
              <a:rPr kumimoji="1" lang="zh-CN" altLang="en-US" sz="2000" b="0" dirty="0"/>
              <a:t> </a:t>
            </a:r>
            <a:r>
              <a:rPr kumimoji="1" lang="en-US" altLang="zh-CN" sz="2000" b="0" dirty="0" err="1"/>
              <a:t>rd</a:t>
            </a:r>
            <a:r>
              <a:rPr kumimoji="1" lang="en-US" altLang="zh-CN" sz="2000" b="0" dirty="0"/>
              <a:t>:</a:t>
            </a:r>
            <a:r>
              <a:rPr kumimoji="1" lang="zh-CN" altLang="en-US" sz="2000" b="0" dirty="0"/>
              <a:t> </a:t>
            </a:r>
            <a:r>
              <a:rPr kumimoji="1" lang="en-US" altLang="zh-CN" sz="2000" b="0" dirty="0"/>
              <a:t>destination</a:t>
            </a:r>
          </a:p>
          <a:p>
            <a:pPr lvl="1"/>
            <a:r>
              <a:rPr kumimoji="1" lang="en-US" altLang="zh-CN" sz="2400" dirty="0"/>
              <a:t>5bit</a:t>
            </a:r>
            <a:r>
              <a:rPr kumimoji="1" lang="zh-CN" altLang="en-US" sz="2400" dirty="0"/>
              <a:t>用于</a:t>
            </a:r>
            <a:r>
              <a:rPr kumimoji="1" lang="en-US" altLang="zh-CN" sz="2400" dirty="0"/>
              <a:t>32bit</a:t>
            </a:r>
            <a:r>
              <a:rPr kumimoji="1" lang="zh-CN" altLang="en-US" sz="2400" dirty="0"/>
              <a:t>寄存器的移位量（</a:t>
            </a:r>
            <a:r>
              <a:rPr kumimoji="1" lang="en-US" altLang="zh-CN" sz="2400" dirty="0" err="1"/>
              <a:t>shamt</a:t>
            </a:r>
            <a:r>
              <a:rPr kumimoji="1" lang="zh-CN" altLang="en-US" sz="2400" dirty="0"/>
              <a:t>）</a:t>
            </a:r>
            <a:endParaRPr kumimoji="1" lang="en-US" altLang="zh-CN" sz="2400" dirty="0"/>
          </a:p>
          <a:p>
            <a:pPr lvl="1"/>
            <a:r>
              <a:rPr kumimoji="1" lang="en-US" altLang="zh-CN" sz="2400" dirty="0"/>
              <a:t>opcode</a:t>
            </a:r>
            <a:r>
              <a:rPr kumimoji="1" lang="zh-CN" altLang="en-US" sz="2400" dirty="0"/>
              <a:t>与</a:t>
            </a:r>
            <a:r>
              <a:rPr kumimoji="1" lang="en-US" altLang="zh-CN" sz="2400" dirty="0" err="1"/>
              <a:t>funct</a:t>
            </a:r>
            <a:r>
              <a:rPr kumimoji="1" lang="zh-CN" altLang="en-US" sz="2400" dirty="0"/>
              <a:t>共同确定该</a:t>
            </a:r>
            <a:r>
              <a:rPr kumimoji="1" lang="en-US" altLang="zh-CN" sz="2400" dirty="0"/>
              <a:t>R</a:t>
            </a:r>
            <a:r>
              <a:rPr kumimoji="1" lang="zh-CN" altLang="en-US" sz="2400" dirty="0"/>
              <a:t>型指令的具体功能</a:t>
            </a:r>
          </a:p>
          <a:p>
            <a:endParaRPr lang="zh-CN" altLang="en-US" dirty="0"/>
          </a:p>
        </p:txBody>
      </p:sp>
      <p:sp>
        <p:nvSpPr>
          <p:cNvPr id="32" name="AutoShape 45">
            <a:extLst>
              <a:ext uri="{FF2B5EF4-FFF2-40B4-BE49-F238E27FC236}">
                <a16:creationId xmlns:a16="http://schemas.microsoft.com/office/drawing/2014/main" id="{EAAE727C-A322-C94D-AF2C-7C5EB82B961C}"/>
              </a:ext>
            </a:extLst>
          </p:cNvPr>
          <p:cNvSpPr>
            <a:spLocks noChangeArrowheads="1"/>
          </p:cNvSpPr>
          <p:nvPr/>
        </p:nvSpPr>
        <p:spPr bwMode="auto">
          <a:xfrm>
            <a:off x="5976470" y="5483225"/>
            <a:ext cx="2314914" cy="762000"/>
          </a:xfrm>
          <a:prstGeom prst="wedgeRoundRectCallout">
            <a:avLst>
              <a:gd name="adj1" fmla="val 28034"/>
              <a:gd name="adj2" fmla="val -82184"/>
              <a:gd name="adj3" fmla="val 16667"/>
            </a:avLst>
          </a:prstGeom>
          <a:solidFill>
            <a:srgbClr val="FFFFCC"/>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r>
              <a:rPr lang="zh-CN" altLang="en-US" sz="2000" dirty="0">
                <a:solidFill>
                  <a:schemeClr val="tx1"/>
                </a:solidFill>
                <a:latin typeface="+mn-lt"/>
                <a:ea typeface="+mj-ea"/>
                <a:cs typeface="Consolas" panose="020B0609020204030204" pitchFamily="49" charset="0"/>
              </a:rPr>
              <a:t>选择字段</a:t>
            </a:r>
            <a:r>
              <a:rPr lang="en-US" altLang="zh-CN" sz="2000" dirty="0">
                <a:solidFill>
                  <a:schemeClr val="tx1"/>
                </a:solidFill>
                <a:latin typeface="+mn-lt"/>
                <a:ea typeface="+mj-ea"/>
                <a:cs typeface="Consolas" panose="020B0609020204030204" pitchFamily="49" charset="0"/>
              </a:rPr>
              <a:t>op</a:t>
            </a:r>
            <a:r>
              <a:rPr lang="zh-CN" altLang="en-US" sz="2000" dirty="0">
                <a:solidFill>
                  <a:schemeClr val="tx1"/>
                </a:solidFill>
                <a:latin typeface="+mn-lt"/>
                <a:ea typeface="+mj-ea"/>
                <a:cs typeface="Consolas" panose="020B0609020204030204" pitchFamily="49" charset="0"/>
              </a:rPr>
              <a:t>中操作的某种变体</a:t>
            </a:r>
            <a:endParaRPr lang="en-US" altLang="zh-CN" sz="2000" dirty="0">
              <a:solidFill>
                <a:schemeClr val="tx1"/>
              </a:solidFill>
              <a:latin typeface="+mn-lt"/>
              <a:ea typeface="+mj-ea"/>
              <a:cs typeface="Consolas" panose="020B0609020204030204" pitchFamily="49" charset="0"/>
            </a:endParaRPr>
          </a:p>
        </p:txBody>
      </p:sp>
      <p:grpSp>
        <p:nvGrpSpPr>
          <p:cNvPr id="3" name="组合 2">
            <a:extLst>
              <a:ext uri="{FF2B5EF4-FFF2-40B4-BE49-F238E27FC236}">
                <a16:creationId xmlns:a16="http://schemas.microsoft.com/office/drawing/2014/main" id="{D65943D5-B3E3-1F80-37FB-69EC13537FE4}"/>
              </a:ext>
            </a:extLst>
          </p:cNvPr>
          <p:cNvGrpSpPr/>
          <p:nvPr/>
        </p:nvGrpSpPr>
        <p:grpSpPr>
          <a:xfrm>
            <a:off x="457200" y="3525024"/>
            <a:ext cx="8235385" cy="2451179"/>
            <a:chOff x="457200" y="3833168"/>
            <a:chExt cx="8235385" cy="2451179"/>
          </a:xfrm>
        </p:grpSpPr>
        <p:grpSp>
          <p:nvGrpSpPr>
            <p:cNvPr id="6" name="Group 18">
              <a:extLst>
                <a:ext uri="{FF2B5EF4-FFF2-40B4-BE49-F238E27FC236}">
                  <a16:creationId xmlns:a16="http://schemas.microsoft.com/office/drawing/2014/main" id="{7E6556C8-00BF-D84E-A92C-1ED68A290685}"/>
                </a:ext>
              </a:extLst>
            </p:cNvPr>
            <p:cNvGrpSpPr>
              <a:grpSpLocks/>
            </p:cNvGrpSpPr>
            <p:nvPr/>
          </p:nvGrpSpPr>
          <p:grpSpPr bwMode="auto">
            <a:xfrm>
              <a:off x="477369" y="4230896"/>
              <a:ext cx="8153401" cy="525464"/>
              <a:chOff x="240" y="2466"/>
              <a:chExt cx="5136" cy="331"/>
            </a:xfrm>
          </p:grpSpPr>
          <p:grpSp>
            <p:nvGrpSpPr>
              <p:cNvPr id="7" name="Group 19">
                <a:extLst>
                  <a:ext uri="{FF2B5EF4-FFF2-40B4-BE49-F238E27FC236}">
                    <a16:creationId xmlns:a16="http://schemas.microsoft.com/office/drawing/2014/main" id="{D75EE750-4AC2-5244-89B5-79640DC5A7E9}"/>
                  </a:ext>
                </a:extLst>
              </p:cNvPr>
              <p:cNvGrpSpPr>
                <a:grpSpLocks/>
              </p:cNvGrpSpPr>
              <p:nvPr/>
            </p:nvGrpSpPr>
            <p:grpSpPr bwMode="auto">
              <a:xfrm>
                <a:off x="286" y="2466"/>
                <a:ext cx="4954" cy="331"/>
                <a:chOff x="286" y="2466"/>
                <a:chExt cx="4954" cy="331"/>
              </a:xfrm>
            </p:grpSpPr>
            <p:sp>
              <p:nvSpPr>
                <p:cNvPr id="14" name="Text Box 20">
                  <a:extLst>
                    <a:ext uri="{FF2B5EF4-FFF2-40B4-BE49-F238E27FC236}">
                      <a16:creationId xmlns:a16="http://schemas.microsoft.com/office/drawing/2014/main" id="{EF851E11-EE73-7742-A320-C6F1607CC0AD}"/>
                    </a:ext>
                  </a:extLst>
                </p:cNvPr>
                <p:cNvSpPr txBox="1">
                  <a:spLocks noChangeArrowheads="1"/>
                </p:cNvSpPr>
                <p:nvPr/>
              </p:nvSpPr>
              <p:spPr bwMode="auto">
                <a:xfrm>
                  <a:off x="286" y="2466"/>
                  <a:ext cx="922" cy="3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a:r>
                    <a:rPr lang="en-US" altLang="en-US" sz="2800">
                      <a:latin typeface="+mn-lt"/>
                      <a:ea typeface="+mj-ea"/>
                      <a:cs typeface="Consolas" panose="020B0609020204030204" pitchFamily="49" charset="0"/>
                    </a:rPr>
                    <a:t>opcode</a:t>
                  </a:r>
                  <a:endParaRPr lang="en-US" altLang="en-US" sz="2000" b="0">
                    <a:solidFill>
                      <a:schemeClr val="accent1"/>
                    </a:solidFill>
                    <a:latin typeface="+mn-lt"/>
                    <a:ea typeface="+mj-ea"/>
                    <a:cs typeface="Consolas" panose="020B0609020204030204" pitchFamily="49" charset="0"/>
                  </a:endParaRPr>
                </a:p>
              </p:txBody>
            </p:sp>
            <p:sp>
              <p:nvSpPr>
                <p:cNvPr id="15" name="Text Box 21">
                  <a:extLst>
                    <a:ext uri="{FF2B5EF4-FFF2-40B4-BE49-F238E27FC236}">
                      <a16:creationId xmlns:a16="http://schemas.microsoft.com/office/drawing/2014/main" id="{F38B6804-2281-2C4B-BA1E-A63C782D3911}"/>
                    </a:ext>
                  </a:extLst>
                </p:cNvPr>
                <p:cNvSpPr txBox="1">
                  <a:spLocks noChangeArrowheads="1"/>
                </p:cNvSpPr>
                <p:nvPr/>
              </p:nvSpPr>
              <p:spPr bwMode="auto">
                <a:xfrm>
                  <a:off x="1447" y="2467"/>
                  <a:ext cx="330" cy="3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a:r>
                    <a:rPr lang="en-US" altLang="en-US" sz="2800">
                      <a:latin typeface="+mn-lt"/>
                      <a:ea typeface="+mj-ea"/>
                      <a:cs typeface="Consolas" panose="020B0609020204030204" pitchFamily="49" charset="0"/>
                    </a:rPr>
                    <a:t>rs</a:t>
                  </a:r>
                  <a:endParaRPr lang="en-US" altLang="en-US" sz="2000" b="0">
                    <a:solidFill>
                      <a:schemeClr val="accent1"/>
                    </a:solidFill>
                    <a:latin typeface="+mn-lt"/>
                    <a:ea typeface="+mj-ea"/>
                    <a:cs typeface="Consolas" panose="020B0609020204030204" pitchFamily="49" charset="0"/>
                  </a:endParaRPr>
                </a:p>
              </p:txBody>
            </p:sp>
            <p:sp>
              <p:nvSpPr>
                <p:cNvPr id="16" name="Text Box 22">
                  <a:extLst>
                    <a:ext uri="{FF2B5EF4-FFF2-40B4-BE49-F238E27FC236}">
                      <a16:creationId xmlns:a16="http://schemas.microsoft.com/office/drawing/2014/main" id="{3DA2D17D-947D-8244-AD33-766B2987F1AA}"/>
                    </a:ext>
                  </a:extLst>
                </p:cNvPr>
                <p:cNvSpPr txBox="1">
                  <a:spLocks noChangeArrowheads="1"/>
                </p:cNvSpPr>
                <p:nvPr/>
              </p:nvSpPr>
              <p:spPr bwMode="auto">
                <a:xfrm>
                  <a:off x="2272" y="2467"/>
                  <a:ext cx="280" cy="3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a:r>
                    <a:rPr lang="en-US" altLang="en-US" sz="2800">
                      <a:latin typeface="+mn-lt"/>
                      <a:ea typeface="+mj-ea"/>
                      <a:cs typeface="Consolas" panose="020B0609020204030204" pitchFamily="49" charset="0"/>
                    </a:rPr>
                    <a:t>rt</a:t>
                  </a:r>
                  <a:endParaRPr lang="en-US" altLang="en-US" sz="2000" b="0">
                    <a:solidFill>
                      <a:schemeClr val="accent1"/>
                    </a:solidFill>
                    <a:latin typeface="+mn-lt"/>
                    <a:ea typeface="+mj-ea"/>
                    <a:cs typeface="Consolas" panose="020B0609020204030204" pitchFamily="49" charset="0"/>
                  </a:endParaRPr>
                </a:p>
              </p:txBody>
            </p:sp>
            <p:sp>
              <p:nvSpPr>
                <p:cNvPr id="17" name="Text Box 23">
                  <a:extLst>
                    <a:ext uri="{FF2B5EF4-FFF2-40B4-BE49-F238E27FC236}">
                      <a16:creationId xmlns:a16="http://schemas.microsoft.com/office/drawing/2014/main" id="{E1274358-238D-5448-BF07-E5C62FFA2475}"/>
                    </a:ext>
                  </a:extLst>
                </p:cNvPr>
                <p:cNvSpPr txBox="1">
                  <a:spLocks noChangeArrowheads="1"/>
                </p:cNvSpPr>
                <p:nvPr/>
              </p:nvSpPr>
              <p:spPr bwMode="auto">
                <a:xfrm>
                  <a:off x="3039" y="2467"/>
                  <a:ext cx="343" cy="3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a:r>
                    <a:rPr lang="en-US" altLang="en-US" sz="2800">
                      <a:latin typeface="+mn-lt"/>
                      <a:ea typeface="+mj-ea"/>
                      <a:cs typeface="Consolas" panose="020B0609020204030204" pitchFamily="49" charset="0"/>
                    </a:rPr>
                    <a:t>rd</a:t>
                  </a:r>
                  <a:endParaRPr lang="en-US" altLang="en-US" sz="2000" b="0">
                    <a:solidFill>
                      <a:schemeClr val="accent1"/>
                    </a:solidFill>
                    <a:latin typeface="+mn-lt"/>
                    <a:ea typeface="+mj-ea"/>
                    <a:cs typeface="Consolas" panose="020B0609020204030204" pitchFamily="49" charset="0"/>
                  </a:endParaRPr>
                </a:p>
              </p:txBody>
            </p:sp>
            <p:sp>
              <p:nvSpPr>
                <p:cNvPr id="18" name="Text Box 24">
                  <a:extLst>
                    <a:ext uri="{FF2B5EF4-FFF2-40B4-BE49-F238E27FC236}">
                      <a16:creationId xmlns:a16="http://schemas.microsoft.com/office/drawing/2014/main" id="{C7904FF2-A058-A14E-99EC-7DB36EDF2CBA}"/>
                    </a:ext>
                  </a:extLst>
                </p:cNvPr>
                <p:cNvSpPr txBox="1">
                  <a:spLocks noChangeArrowheads="1"/>
                </p:cNvSpPr>
                <p:nvPr/>
              </p:nvSpPr>
              <p:spPr bwMode="auto">
                <a:xfrm>
                  <a:off x="4569" y="2467"/>
                  <a:ext cx="671" cy="3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a:r>
                    <a:rPr lang="en-US" altLang="en-US" sz="2800" err="1">
                      <a:latin typeface="+mn-lt"/>
                      <a:ea typeface="+mj-ea"/>
                      <a:cs typeface="Consolas" panose="020B0609020204030204" pitchFamily="49" charset="0"/>
                    </a:rPr>
                    <a:t>funct</a:t>
                  </a:r>
                  <a:endParaRPr lang="en-US" altLang="en-US" sz="2000" b="0">
                    <a:solidFill>
                      <a:schemeClr val="accent1"/>
                    </a:solidFill>
                    <a:latin typeface="+mn-lt"/>
                    <a:ea typeface="+mj-ea"/>
                    <a:cs typeface="Consolas" panose="020B0609020204030204" pitchFamily="49" charset="0"/>
                  </a:endParaRPr>
                </a:p>
              </p:txBody>
            </p:sp>
            <p:sp>
              <p:nvSpPr>
                <p:cNvPr id="19" name="Text Box 25">
                  <a:extLst>
                    <a:ext uri="{FF2B5EF4-FFF2-40B4-BE49-F238E27FC236}">
                      <a16:creationId xmlns:a16="http://schemas.microsoft.com/office/drawing/2014/main" id="{6F1DB46D-BD68-BB47-A795-474A99CECDB0}"/>
                    </a:ext>
                  </a:extLst>
                </p:cNvPr>
                <p:cNvSpPr txBox="1">
                  <a:spLocks noChangeArrowheads="1"/>
                </p:cNvSpPr>
                <p:nvPr/>
              </p:nvSpPr>
              <p:spPr bwMode="auto">
                <a:xfrm>
                  <a:off x="3617" y="2466"/>
                  <a:ext cx="784" cy="3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a:r>
                    <a:rPr lang="en-US" altLang="en-US" sz="2800" err="1">
                      <a:latin typeface="+mn-lt"/>
                      <a:ea typeface="+mj-ea"/>
                      <a:cs typeface="Consolas" panose="020B0609020204030204" pitchFamily="49" charset="0"/>
                    </a:rPr>
                    <a:t>shamt</a:t>
                  </a:r>
                  <a:endParaRPr lang="en-US" altLang="en-US" sz="2000" b="0">
                    <a:solidFill>
                      <a:schemeClr val="accent1"/>
                    </a:solidFill>
                    <a:latin typeface="+mn-lt"/>
                    <a:ea typeface="+mj-ea"/>
                    <a:cs typeface="Consolas" panose="020B0609020204030204" pitchFamily="49" charset="0"/>
                  </a:endParaRPr>
                </a:p>
              </p:txBody>
            </p:sp>
          </p:grpSp>
          <p:sp>
            <p:nvSpPr>
              <p:cNvPr id="8" name="Rectangle 26">
                <a:extLst>
                  <a:ext uri="{FF2B5EF4-FFF2-40B4-BE49-F238E27FC236}">
                    <a16:creationId xmlns:a16="http://schemas.microsoft.com/office/drawing/2014/main" id="{A32AC905-06B5-5F40-ADE1-C38E664CE233}"/>
                  </a:ext>
                </a:extLst>
              </p:cNvPr>
              <p:cNvSpPr>
                <a:spLocks noChangeArrowheads="1"/>
              </p:cNvSpPr>
              <p:nvPr/>
            </p:nvSpPr>
            <p:spPr bwMode="auto">
              <a:xfrm>
                <a:off x="240" y="2496"/>
                <a:ext cx="5136" cy="288"/>
              </a:xfrm>
              <a:prstGeom prst="rect">
                <a:avLst/>
              </a:prstGeom>
              <a:noFill/>
              <a:ln w="381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endParaRPr lang="zh-CN" altLang="en-US">
                  <a:latin typeface="+mn-lt"/>
                  <a:ea typeface="+mj-ea"/>
                  <a:cs typeface="Consolas" panose="020B0609020204030204" pitchFamily="49" charset="0"/>
                </a:endParaRPr>
              </a:p>
            </p:txBody>
          </p:sp>
          <p:sp>
            <p:nvSpPr>
              <p:cNvPr id="9" name="Line 27">
                <a:extLst>
                  <a:ext uri="{FF2B5EF4-FFF2-40B4-BE49-F238E27FC236}">
                    <a16:creationId xmlns:a16="http://schemas.microsoft.com/office/drawing/2014/main" id="{DA91C7AC-B0B5-8842-AB83-96930DFACE36}"/>
                  </a:ext>
                </a:extLst>
              </p:cNvPr>
              <p:cNvSpPr>
                <a:spLocks noChangeShapeType="1"/>
              </p:cNvSpPr>
              <p:nvPr/>
            </p:nvSpPr>
            <p:spPr bwMode="auto">
              <a:xfrm>
                <a:off x="1200" y="2496"/>
                <a:ext cx="0" cy="288"/>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endParaRPr lang="zh-CN" altLang="en-US">
                  <a:latin typeface="+mn-lt"/>
                  <a:ea typeface="+mj-ea"/>
                  <a:cs typeface="Consolas" panose="020B0609020204030204" pitchFamily="49" charset="0"/>
                </a:endParaRPr>
              </a:p>
            </p:txBody>
          </p:sp>
          <p:sp>
            <p:nvSpPr>
              <p:cNvPr id="10" name="Line 28">
                <a:extLst>
                  <a:ext uri="{FF2B5EF4-FFF2-40B4-BE49-F238E27FC236}">
                    <a16:creationId xmlns:a16="http://schemas.microsoft.com/office/drawing/2014/main" id="{70233C9C-8EFD-C946-A43E-0905076C895A}"/>
                  </a:ext>
                </a:extLst>
              </p:cNvPr>
              <p:cNvSpPr>
                <a:spLocks noChangeShapeType="1"/>
              </p:cNvSpPr>
              <p:nvPr/>
            </p:nvSpPr>
            <p:spPr bwMode="auto">
              <a:xfrm>
                <a:off x="2016" y="2496"/>
                <a:ext cx="0" cy="288"/>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endParaRPr lang="zh-CN" altLang="en-US">
                  <a:latin typeface="+mn-lt"/>
                  <a:ea typeface="+mj-ea"/>
                  <a:cs typeface="Consolas" panose="020B0609020204030204" pitchFamily="49" charset="0"/>
                </a:endParaRPr>
              </a:p>
            </p:txBody>
          </p:sp>
          <p:sp>
            <p:nvSpPr>
              <p:cNvPr id="11" name="Line 29">
                <a:extLst>
                  <a:ext uri="{FF2B5EF4-FFF2-40B4-BE49-F238E27FC236}">
                    <a16:creationId xmlns:a16="http://schemas.microsoft.com/office/drawing/2014/main" id="{6A498A2F-8E21-294A-B25B-8B44FB3697D8}"/>
                  </a:ext>
                </a:extLst>
              </p:cNvPr>
              <p:cNvSpPr>
                <a:spLocks noChangeShapeType="1"/>
              </p:cNvSpPr>
              <p:nvPr/>
            </p:nvSpPr>
            <p:spPr bwMode="auto">
              <a:xfrm>
                <a:off x="2784" y="2496"/>
                <a:ext cx="0" cy="288"/>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endParaRPr lang="zh-CN" altLang="en-US">
                  <a:latin typeface="+mn-lt"/>
                  <a:ea typeface="+mj-ea"/>
                  <a:cs typeface="Consolas" panose="020B0609020204030204" pitchFamily="49" charset="0"/>
                </a:endParaRPr>
              </a:p>
            </p:txBody>
          </p:sp>
          <p:sp>
            <p:nvSpPr>
              <p:cNvPr id="12" name="Line 30">
                <a:extLst>
                  <a:ext uri="{FF2B5EF4-FFF2-40B4-BE49-F238E27FC236}">
                    <a16:creationId xmlns:a16="http://schemas.microsoft.com/office/drawing/2014/main" id="{A64F2204-670E-9943-BD84-C224612E6A55}"/>
                  </a:ext>
                </a:extLst>
              </p:cNvPr>
              <p:cNvSpPr>
                <a:spLocks noChangeShapeType="1"/>
              </p:cNvSpPr>
              <p:nvPr/>
            </p:nvSpPr>
            <p:spPr bwMode="auto">
              <a:xfrm>
                <a:off x="3600" y="2496"/>
                <a:ext cx="0" cy="288"/>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endParaRPr lang="zh-CN" altLang="en-US">
                  <a:latin typeface="+mn-lt"/>
                  <a:ea typeface="+mj-ea"/>
                  <a:cs typeface="Consolas" panose="020B0609020204030204" pitchFamily="49" charset="0"/>
                </a:endParaRPr>
              </a:p>
            </p:txBody>
          </p:sp>
          <p:sp>
            <p:nvSpPr>
              <p:cNvPr id="13" name="Line 31">
                <a:extLst>
                  <a:ext uri="{FF2B5EF4-FFF2-40B4-BE49-F238E27FC236}">
                    <a16:creationId xmlns:a16="http://schemas.microsoft.com/office/drawing/2014/main" id="{E5895B18-67B7-5646-9DD5-0EC072E84E63}"/>
                  </a:ext>
                </a:extLst>
              </p:cNvPr>
              <p:cNvSpPr>
                <a:spLocks noChangeShapeType="1"/>
              </p:cNvSpPr>
              <p:nvPr/>
            </p:nvSpPr>
            <p:spPr bwMode="auto">
              <a:xfrm>
                <a:off x="4416" y="2496"/>
                <a:ext cx="0" cy="288"/>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endParaRPr lang="zh-CN" altLang="en-US">
                  <a:latin typeface="+mn-lt"/>
                  <a:ea typeface="+mj-ea"/>
                  <a:cs typeface="Consolas" panose="020B0609020204030204" pitchFamily="49" charset="0"/>
                </a:endParaRPr>
              </a:p>
            </p:txBody>
          </p:sp>
        </p:grpSp>
        <p:sp>
          <p:nvSpPr>
            <p:cNvPr id="20" name="Text Box 33">
              <a:extLst>
                <a:ext uri="{FF2B5EF4-FFF2-40B4-BE49-F238E27FC236}">
                  <a16:creationId xmlns:a16="http://schemas.microsoft.com/office/drawing/2014/main" id="{A8BD3AD9-F2C9-924C-AC88-F51808B87F13}"/>
                </a:ext>
              </a:extLst>
            </p:cNvPr>
            <p:cNvSpPr txBox="1">
              <a:spLocks noChangeArrowheads="1"/>
            </p:cNvSpPr>
            <p:nvPr/>
          </p:nvSpPr>
          <p:spPr bwMode="auto">
            <a:xfrm>
              <a:off x="704382" y="5083376"/>
              <a:ext cx="1296987" cy="462307"/>
            </a:xfrm>
            <a:prstGeom prst="rect">
              <a:avLst/>
            </a:prstGeom>
            <a:solidFill>
              <a:srgbClr val="FFCCFF"/>
            </a:solidFill>
            <a:ln>
              <a:noFill/>
            </a:ln>
            <a:effectLst/>
            <a:extLs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92075" tIns="46038" rIns="92075" bIns="46038">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eaLnBrk="1" hangingPunct="1">
                <a:spcBef>
                  <a:spcPct val="50000"/>
                </a:spcBef>
              </a:pPr>
              <a:r>
                <a:rPr lang="zh-CN" altLang="en-US" sz="2400" b="0">
                  <a:latin typeface="+mn-lt"/>
                  <a:ea typeface="+mj-ea"/>
                  <a:cs typeface="Consolas" panose="020B0609020204030204" pitchFamily="49" charset="0"/>
                </a:rPr>
                <a:t>操作码</a:t>
              </a:r>
            </a:p>
          </p:txBody>
        </p:sp>
        <p:sp>
          <p:nvSpPr>
            <p:cNvPr id="21" name="Text Box 34">
              <a:extLst>
                <a:ext uri="{FF2B5EF4-FFF2-40B4-BE49-F238E27FC236}">
                  <a16:creationId xmlns:a16="http://schemas.microsoft.com/office/drawing/2014/main" id="{B7B57D06-8AA6-DD4E-944F-1A7E8C756A71}"/>
                </a:ext>
              </a:extLst>
            </p:cNvPr>
            <p:cNvSpPr txBox="1">
              <a:spLocks noChangeArrowheads="1"/>
            </p:cNvSpPr>
            <p:nvPr/>
          </p:nvSpPr>
          <p:spPr bwMode="auto">
            <a:xfrm>
              <a:off x="2071219" y="5083376"/>
              <a:ext cx="1296988" cy="1200971"/>
            </a:xfrm>
            <a:prstGeom prst="rect">
              <a:avLst/>
            </a:prstGeom>
            <a:solidFill>
              <a:srgbClr val="CCFFFF"/>
            </a:solidFill>
            <a:ln>
              <a:noFill/>
            </a:ln>
            <a:effectLst/>
            <a:extLs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92075" tIns="46038" rIns="92075" bIns="46038">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eaLnBrk="1" hangingPunct="1">
                <a:spcBef>
                  <a:spcPct val="50000"/>
                </a:spcBef>
              </a:pPr>
              <a:r>
                <a:rPr lang="zh-CN" altLang="en-US" sz="2400" b="0" dirty="0">
                  <a:latin typeface="+mn-lt"/>
                  <a:ea typeface="+mj-ea"/>
                  <a:cs typeface="Consolas" panose="020B0609020204030204" pitchFamily="49" charset="0"/>
                </a:rPr>
                <a:t>第</a:t>
              </a:r>
              <a:r>
                <a:rPr lang="en-US" altLang="zh-CN" sz="2400" b="0" dirty="0">
                  <a:latin typeface="+mn-lt"/>
                  <a:ea typeface="+mj-ea"/>
                  <a:cs typeface="Consolas" panose="020B0609020204030204" pitchFamily="49" charset="0"/>
                </a:rPr>
                <a:t>1</a:t>
              </a:r>
              <a:r>
                <a:rPr lang="zh-CN" altLang="en-US" sz="2400" b="0" dirty="0">
                  <a:latin typeface="+mn-lt"/>
                  <a:ea typeface="+mj-ea"/>
                  <a:cs typeface="Consolas" panose="020B0609020204030204" pitchFamily="49" charset="0"/>
                </a:rPr>
                <a:t>个源操作数寄存器</a:t>
              </a:r>
            </a:p>
          </p:txBody>
        </p:sp>
        <p:sp>
          <p:nvSpPr>
            <p:cNvPr id="22" name="Text Box 35">
              <a:extLst>
                <a:ext uri="{FF2B5EF4-FFF2-40B4-BE49-F238E27FC236}">
                  <a16:creationId xmlns:a16="http://schemas.microsoft.com/office/drawing/2014/main" id="{4EDF9148-6CA2-E94C-ABDE-0DCF7156C70D}"/>
                </a:ext>
              </a:extLst>
            </p:cNvPr>
            <p:cNvSpPr txBox="1">
              <a:spLocks noChangeArrowheads="1"/>
            </p:cNvSpPr>
            <p:nvPr/>
          </p:nvSpPr>
          <p:spPr bwMode="auto">
            <a:xfrm>
              <a:off x="3368207" y="5083376"/>
              <a:ext cx="1296987" cy="1200971"/>
            </a:xfrm>
            <a:prstGeom prst="rect">
              <a:avLst/>
            </a:prstGeom>
            <a:solidFill>
              <a:srgbClr val="FEF8AC"/>
            </a:solidFill>
            <a:ln>
              <a:noFill/>
            </a:ln>
            <a:effectLst/>
            <a:extLs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92075" tIns="46038" rIns="92075" bIns="46038">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eaLnBrk="1" hangingPunct="1">
                <a:spcBef>
                  <a:spcPct val="50000"/>
                </a:spcBef>
              </a:pPr>
              <a:r>
                <a:rPr lang="zh-CN" altLang="en-US" sz="2400" b="0" dirty="0">
                  <a:latin typeface="+mn-lt"/>
                  <a:ea typeface="+mj-ea"/>
                  <a:cs typeface="Consolas" panose="020B0609020204030204" pitchFamily="49" charset="0"/>
                </a:rPr>
                <a:t>第</a:t>
              </a:r>
              <a:r>
                <a:rPr lang="en-US" altLang="zh-CN" sz="2400" b="0" dirty="0">
                  <a:latin typeface="+mn-lt"/>
                  <a:ea typeface="+mj-ea"/>
                  <a:cs typeface="Consolas" panose="020B0609020204030204" pitchFamily="49" charset="0"/>
                </a:rPr>
                <a:t>2</a:t>
              </a:r>
              <a:r>
                <a:rPr lang="zh-CN" altLang="en-US" sz="2400" b="0" dirty="0">
                  <a:latin typeface="+mn-lt"/>
                  <a:ea typeface="+mj-ea"/>
                  <a:cs typeface="Consolas" panose="020B0609020204030204" pitchFamily="49" charset="0"/>
                </a:rPr>
                <a:t>个源操作数寄存器</a:t>
              </a:r>
            </a:p>
          </p:txBody>
        </p:sp>
        <p:sp>
          <p:nvSpPr>
            <p:cNvPr id="23" name="Text Box 36">
              <a:extLst>
                <a:ext uri="{FF2B5EF4-FFF2-40B4-BE49-F238E27FC236}">
                  <a16:creationId xmlns:a16="http://schemas.microsoft.com/office/drawing/2014/main" id="{01FE6774-ED12-EA4F-8F86-40F8D22CC9EF}"/>
                </a:ext>
              </a:extLst>
            </p:cNvPr>
            <p:cNvSpPr txBox="1">
              <a:spLocks noChangeArrowheads="1"/>
            </p:cNvSpPr>
            <p:nvPr/>
          </p:nvSpPr>
          <p:spPr bwMode="auto">
            <a:xfrm>
              <a:off x="4592169" y="5083376"/>
              <a:ext cx="1296988" cy="1200971"/>
            </a:xfrm>
            <a:prstGeom prst="rect">
              <a:avLst/>
            </a:prstGeom>
            <a:solidFill>
              <a:srgbClr val="99FF66"/>
            </a:solidFill>
            <a:ln>
              <a:noFill/>
            </a:ln>
            <a:effectLst/>
            <a:extLs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92075" tIns="46038" rIns="92075" bIns="46038">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eaLnBrk="1" hangingPunct="1">
                <a:spcBef>
                  <a:spcPct val="50000"/>
                </a:spcBef>
              </a:pPr>
              <a:r>
                <a:rPr lang="zh-CN" altLang="en-US" sz="2400" b="0">
                  <a:latin typeface="+mn-lt"/>
                  <a:ea typeface="+mj-ea"/>
                  <a:cs typeface="Consolas" panose="020B0609020204030204" pitchFamily="49" charset="0"/>
                </a:rPr>
                <a:t>目标寄存器</a:t>
              </a:r>
            </a:p>
            <a:p>
              <a:pPr algn="ctr" eaLnBrk="1" hangingPunct="1"/>
              <a:r>
                <a:rPr lang="en-US" altLang="zh-CN" sz="2400" b="0">
                  <a:latin typeface="+mn-lt"/>
                  <a:ea typeface="+mj-ea"/>
                  <a:cs typeface="Consolas" panose="020B0609020204030204" pitchFamily="49" charset="0"/>
                </a:rPr>
                <a:t>(</a:t>
              </a:r>
              <a:r>
                <a:rPr lang="zh-CN" altLang="en-US" sz="2400" b="0">
                  <a:latin typeface="+mn-lt"/>
                  <a:ea typeface="+mj-ea"/>
                  <a:cs typeface="Consolas" panose="020B0609020204030204" pitchFamily="49" charset="0"/>
                </a:rPr>
                <a:t>放结果</a:t>
              </a:r>
              <a:r>
                <a:rPr lang="en-US" altLang="zh-CN" sz="2400" b="0">
                  <a:latin typeface="+mn-lt"/>
                  <a:ea typeface="+mj-ea"/>
                  <a:cs typeface="Consolas" panose="020B0609020204030204" pitchFamily="49" charset="0"/>
                </a:rPr>
                <a:t>)</a:t>
              </a:r>
            </a:p>
          </p:txBody>
        </p:sp>
        <p:sp>
          <p:nvSpPr>
            <p:cNvPr id="24" name="Text Box 37">
              <a:extLst>
                <a:ext uri="{FF2B5EF4-FFF2-40B4-BE49-F238E27FC236}">
                  <a16:creationId xmlns:a16="http://schemas.microsoft.com/office/drawing/2014/main" id="{773B3D6E-A3EB-8C45-86BE-903B8E8FBE1C}"/>
                </a:ext>
              </a:extLst>
            </p:cNvPr>
            <p:cNvSpPr txBox="1">
              <a:spLocks noChangeArrowheads="1"/>
            </p:cNvSpPr>
            <p:nvPr/>
          </p:nvSpPr>
          <p:spPr bwMode="auto">
            <a:xfrm>
              <a:off x="5960594" y="5083376"/>
              <a:ext cx="1222375" cy="462307"/>
            </a:xfrm>
            <a:prstGeom prst="rect">
              <a:avLst/>
            </a:prstGeom>
            <a:solidFill>
              <a:srgbClr val="FFCC99"/>
            </a:solidFill>
            <a:ln>
              <a:noFill/>
            </a:ln>
            <a:effectLst/>
            <a:extLs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92075" tIns="46038" rIns="92075" bIns="46038">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eaLnBrk="1" hangingPunct="1">
                <a:spcBef>
                  <a:spcPct val="50000"/>
                </a:spcBef>
              </a:pPr>
              <a:r>
                <a:rPr lang="zh-CN" altLang="en-US" sz="2400" b="0" dirty="0">
                  <a:latin typeface="+mn-lt"/>
                  <a:ea typeface="+mj-ea"/>
                  <a:cs typeface="Consolas" panose="020B0609020204030204" pitchFamily="49" charset="0"/>
                </a:rPr>
                <a:t>移位量</a:t>
              </a:r>
            </a:p>
          </p:txBody>
        </p:sp>
        <p:sp>
          <p:nvSpPr>
            <p:cNvPr id="25" name="Text Box 38">
              <a:extLst>
                <a:ext uri="{FF2B5EF4-FFF2-40B4-BE49-F238E27FC236}">
                  <a16:creationId xmlns:a16="http://schemas.microsoft.com/office/drawing/2014/main" id="{ADFDF17B-8CA2-584B-A19C-4F65A1596D58}"/>
                </a:ext>
              </a:extLst>
            </p:cNvPr>
            <p:cNvSpPr txBox="1">
              <a:spLocks noChangeArrowheads="1"/>
            </p:cNvSpPr>
            <p:nvPr/>
          </p:nvSpPr>
          <p:spPr bwMode="auto">
            <a:xfrm>
              <a:off x="7329019" y="5083376"/>
              <a:ext cx="1149350" cy="462307"/>
            </a:xfrm>
            <a:prstGeom prst="rect">
              <a:avLst/>
            </a:prstGeom>
            <a:solidFill>
              <a:srgbClr val="C2FBFE"/>
            </a:solidFill>
            <a:ln>
              <a:noFill/>
            </a:ln>
            <a:effectLst/>
            <a:extLs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92075" tIns="46038" rIns="92075" bIns="46038">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eaLnBrk="1" hangingPunct="1">
                <a:spcBef>
                  <a:spcPct val="50000"/>
                </a:spcBef>
              </a:pPr>
              <a:r>
                <a:rPr lang="zh-CN" altLang="en-US" sz="2400" b="0">
                  <a:latin typeface="+mn-lt"/>
                  <a:ea typeface="+mj-ea"/>
                  <a:cs typeface="Consolas" panose="020B0609020204030204" pitchFamily="49" charset="0"/>
                </a:rPr>
                <a:t>功能码</a:t>
              </a:r>
            </a:p>
          </p:txBody>
        </p:sp>
        <p:sp>
          <p:nvSpPr>
            <p:cNvPr id="26" name="Line 39">
              <a:extLst>
                <a:ext uri="{FF2B5EF4-FFF2-40B4-BE49-F238E27FC236}">
                  <a16:creationId xmlns:a16="http://schemas.microsoft.com/office/drawing/2014/main" id="{3FCA2398-8253-CF42-82DA-F5F07781922E}"/>
                </a:ext>
              </a:extLst>
            </p:cNvPr>
            <p:cNvSpPr>
              <a:spLocks noChangeShapeType="1"/>
            </p:cNvSpPr>
            <p:nvPr/>
          </p:nvSpPr>
          <p:spPr bwMode="auto">
            <a:xfrm>
              <a:off x="1239369" y="4735713"/>
              <a:ext cx="0" cy="3048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endParaRPr lang="zh-CN" altLang="en-US">
                <a:latin typeface="+mn-lt"/>
                <a:cs typeface="Consolas" panose="020B0609020204030204" pitchFamily="49" charset="0"/>
              </a:endParaRPr>
            </a:p>
          </p:txBody>
        </p:sp>
        <p:sp>
          <p:nvSpPr>
            <p:cNvPr id="27" name="Line 40">
              <a:extLst>
                <a:ext uri="{FF2B5EF4-FFF2-40B4-BE49-F238E27FC236}">
                  <a16:creationId xmlns:a16="http://schemas.microsoft.com/office/drawing/2014/main" id="{E13481C3-A269-2A45-8B10-3CFEFB3253D2}"/>
                </a:ext>
              </a:extLst>
            </p:cNvPr>
            <p:cNvSpPr>
              <a:spLocks noChangeShapeType="1"/>
            </p:cNvSpPr>
            <p:nvPr/>
          </p:nvSpPr>
          <p:spPr bwMode="auto">
            <a:xfrm>
              <a:off x="2610969" y="4735713"/>
              <a:ext cx="0" cy="3048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endParaRPr lang="zh-CN" altLang="en-US">
                <a:latin typeface="+mn-lt"/>
                <a:cs typeface="Consolas" panose="020B0609020204030204" pitchFamily="49" charset="0"/>
              </a:endParaRPr>
            </a:p>
          </p:txBody>
        </p:sp>
        <p:sp>
          <p:nvSpPr>
            <p:cNvPr id="28" name="Line 41">
              <a:extLst>
                <a:ext uri="{FF2B5EF4-FFF2-40B4-BE49-F238E27FC236}">
                  <a16:creationId xmlns:a16="http://schemas.microsoft.com/office/drawing/2014/main" id="{24E2D1DA-CB67-BC4F-8E95-38674333850B}"/>
                </a:ext>
              </a:extLst>
            </p:cNvPr>
            <p:cNvSpPr>
              <a:spLocks noChangeShapeType="1"/>
            </p:cNvSpPr>
            <p:nvPr/>
          </p:nvSpPr>
          <p:spPr bwMode="auto">
            <a:xfrm>
              <a:off x="3982569" y="4735713"/>
              <a:ext cx="0" cy="3048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endParaRPr lang="zh-CN" altLang="en-US">
                <a:latin typeface="+mn-lt"/>
                <a:cs typeface="Consolas" panose="020B0609020204030204" pitchFamily="49" charset="0"/>
              </a:endParaRPr>
            </a:p>
          </p:txBody>
        </p:sp>
        <p:sp>
          <p:nvSpPr>
            <p:cNvPr id="29" name="Line 42">
              <a:extLst>
                <a:ext uri="{FF2B5EF4-FFF2-40B4-BE49-F238E27FC236}">
                  <a16:creationId xmlns:a16="http://schemas.microsoft.com/office/drawing/2014/main" id="{01A1A9BE-7249-7E42-9A0B-8D6724340CCC}"/>
                </a:ext>
              </a:extLst>
            </p:cNvPr>
            <p:cNvSpPr>
              <a:spLocks noChangeShapeType="1"/>
            </p:cNvSpPr>
            <p:nvPr/>
          </p:nvSpPr>
          <p:spPr bwMode="auto">
            <a:xfrm>
              <a:off x="5201769" y="4735713"/>
              <a:ext cx="0" cy="3048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endParaRPr lang="zh-CN" altLang="en-US">
                <a:latin typeface="+mn-lt"/>
                <a:cs typeface="Consolas" panose="020B0609020204030204" pitchFamily="49" charset="0"/>
              </a:endParaRPr>
            </a:p>
          </p:txBody>
        </p:sp>
        <p:sp>
          <p:nvSpPr>
            <p:cNvPr id="30" name="Line 43">
              <a:extLst>
                <a:ext uri="{FF2B5EF4-FFF2-40B4-BE49-F238E27FC236}">
                  <a16:creationId xmlns:a16="http://schemas.microsoft.com/office/drawing/2014/main" id="{AE217866-B1F2-7C4C-8AB7-98DA7801AC20}"/>
                </a:ext>
              </a:extLst>
            </p:cNvPr>
            <p:cNvSpPr>
              <a:spLocks noChangeShapeType="1"/>
            </p:cNvSpPr>
            <p:nvPr/>
          </p:nvSpPr>
          <p:spPr bwMode="auto">
            <a:xfrm>
              <a:off x="6497169" y="4735713"/>
              <a:ext cx="0" cy="3048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endParaRPr lang="zh-CN" altLang="en-US">
                <a:latin typeface="+mn-lt"/>
                <a:cs typeface="Consolas" panose="020B0609020204030204" pitchFamily="49" charset="0"/>
              </a:endParaRPr>
            </a:p>
          </p:txBody>
        </p:sp>
        <p:sp>
          <p:nvSpPr>
            <p:cNvPr id="31" name="Line 44">
              <a:extLst>
                <a:ext uri="{FF2B5EF4-FFF2-40B4-BE49-F238E27FC236}">
                  <a16:creationId xmlns:a16="http://schemas.microsoft.com/office/drawing/2014/main" id="{A26A6AF8-300A-5E4D-92A1-E8072BB8DFF3}"/>
                </a:ext>
              </a:extLst>
            </p:cNvPr>
            <p:cNvSpPr>
              <a:spLocks noChangeShapeType="1"/>
            </p:cNvSpPr>
            <p:nvPr/>
          </p:nvSpPr>
          <p:spPr bwMode="auto">
            <a:xfrm>
              <a:off x="7944969" y="4735713"/>
              <a:ext cx="0" cy="3048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endParaRPr lang="zh-CN" altLang="en-US">
                <a:latin typeface="+mn-lt"/>
                <a:cs typeface="Consolas" panose="020B0609020204030204" pitchFamily="49" charset="0"/>
              </a:endParaRPr>
            </a:p>
          </p:txBody>
        </p:sp>
        <p:sp>
          <p:nvSpPr>
            <p:cNvPr id="33" name="文本框 32">
              <a:extLst>
                <a:ext uri="{FF2B5EF4-FFF2-40B4-BE49-F238E27FC236}">
                  <a16:creationId xmlns:a16="http://schemas.microsoft.com/office/drawing/2014/main" id="{14A85918-E6B2-6D43-988F-8EF760BE3C10}"/>
                </a:ext>
              </a:extLst>
            </p:cNvPr>
            <p:cNvSpPr txBox="1"/>
            <p:nvPr/>
          </p:nvSpPr>
          <p:spPr>
            <a:xfrm>
              <a:off x="457200" y="3833168"/>
              <a:ext cx="1711132" cy="461665"/>
            </a:xfrm>
            <a:prstGeom prst="rect">
              <a:avLst/>
            </a:prstGeom>
            <a:noFill/>
          </p:spPr>
          <p:txBody>
            <a:bodyPr wrap="square" rtlCol="0">
              <a:spAutoFit/>
            </a:bodyPr>
            <a:lstStyle/>
            <a:p>
              <a:pPr algn="ctr"/>
              <a:r>
                <a:rPr kumimoji="1" lang="en-US" altLang="zh-CN" sz="2400" b="1" dirty="0">
                  <a:latin typeface="+mn-lt"/>
                  <a:ea typeface="+mj-ea"/>
                  <a:cs typeface="Consolas" panose="020B0609020204030204" pitchFamily="49" charset="0"/>
                </a:rPr>
                <a:t>6bit</a:t>
              </a:r>
              <a:endParaRPr kumimoji="1" lang="zh-CN" altLang="en-US" sz="2400" b="1" dirty="0">
                <a:latin typeface="+mn-lt"/>
                <a:ea typeface="+mj-ea"/>
                <a:cs typeface="Consolas" panose="020B0609020204030204" pitchFamily="49" charset="0"/>
              </a:endParaRPr>
            </a:p>
          </p:txBody>
        </p:sp>
        <p:sp>
          <p:nvSpPr>
            <p:cNvPr id="34" name="文本框 33">
              <a:extLst>
                <a:ext uri="{FF2B5EF4-FFF2-40B4-BE49-F238E27FC236}">
                  <a16:creationId xmlns:a16="http://schemas.microsoft.com/office/drawing/2014/main" id="{FDFBED6E-E75D-954F-B1F7-8662AFDB59D8}"/>
                </a:ext>
              </a:extLst>
            </p:cNvPr>
            <p:cNvSpPr txBox="1"/>
            <p:nvPr/>
          </p:nvSpPr>
          <p:spPr>
            <a:xfrm>
              <a:off x="1755403" y="3833168"/>
              <a:ext cx="1711132" cy="461665"/>
            </a:xfrm>
            <a:prstGeom prst="rect">
              <a:avLst/>
            </a:prstGeom>
            <a:noFill/>
          </p:spPr>
          <p:txBody>
            <a:bodyPr wrap="square" rtlCol="0">
              <a:spAutoFit/>
            </a:bodyPr>
            <a:lstStyle/>
            <a:p>
              <a:pPr algn="ctr"/>
              <a:r>
                <a:rPr kumimoji="1" lang="en-US" altLang="zh-CN" sz="2400" b="1">
                  <a:latin typeface="+mn-lt"/>
                  <a:ea typeface="+mj-ea"/>
                  <a:cs typeface="Consolas" panose="020B0609020204030204" pitchFamily="49" charset="0"/>
                </a:rPr>
                <a:t>5bit</a:t>
              </a:r>
              <a:endParaRPr kumimoji="1" lang="zh-CN" altLang="en-US" sz="2400" b="1">
                <a:latin typeface="+mn-lt"/>
                <a:ea typeface="+mj-ea"/>
                <a:cs typeface="Consolas" panose="020B0609020204030204" pitchFamily="49" charset="0"/>
              </a:endParaRPr>
            </a:p>
          </p:txBody>
        </p:sp>
        <p:sp>
          <p:nvSpPr>
            <p:cNvPr id="35" name="文本框 34">
              <a:extLst>
                <a:ext uri="{FF2B5EF4-FFF2-40B4-BE49-F238E27FC236}">
                  <a16:creationId xmlns:a16="http://schemas.microsoft.com/office/drawing/2014/main" id="{9414BBCF-6FCE-8344-B886-4499FB911650}"/>
                </a:ext>
              </a:extLst>
            </p:cNvPr>
            <p:cNvSpPr txBox="1"/>
            <p:nvPr/>
          </p:nvSpPr>
          <p:spPr>
            <a:xfrm>
              <a:off x="3077417" y="3833168"/>
              <a:ext cx="1711132" cy="461665"/>
            </a:xfrm>
            <a:prstGeom prst="rect">
              <a:avLst/>
            </a:prstGeom>
            <a:noFill/>
          </p:spPr>
          <p:txBody>
            <a:bodyPr wrap="square" rtlCol="0">
              <a:spAutoFit/>
            </a:bodyPr>
            <a:lstStyle/>
            <a:p>
              <a:pPr algn="ctr"/>
              <a:r>
                <a:rPr kumimoji="1" lang="en-US" altLang="zh-CN" sz="2400" b="1">
                  <a:latin typeface="+mn-lt"/>
                  <a:ea typeface="+mj-ea"/>
                  <a:cs typeface="Consolas" panose="020B0609020204030204" pitchFamily="49" charset="0"/>
                </a:rPr>
                <a:t>5bit</a:t>
              </a:r>
              <a:endParaRPr kumimoji="1" lang="zh-CN" altLang="en-US" sz="2400" b="1">
                <a:latin typeface="+mn-lt"/>
                <a:ea typeface="+mj-ea"/>
                <a:cs typeface="Consolas" panose="020B0609020204030204" pitchFamily="49" charset="0"/>
              </a:endParaRPr>
            </a:p>
          </p:txBody>
        </p:sp>
        <p:sp>
          <p:nvSpPr>
            <p:cNvPr id="36" name="文本框 35">
              <a:extLst>
                <a:ext uri="{FF2B5EF4-FFF2-40B4-BE49-F238E27FC236}">
                  <a16:creationId xmlns:a16="http://schemas.microsoft.com/office/drawing/2014/main" id="{71A1F1C3-48D1-9740-9E00-FB34290BE95F}"/>
                </a:ext>
              </a:extLst>
            </p:cNvPr>
            <p:cNvSpPr txBox="1"/>
            <p:nvPr/>
          </p:nvSpPr>
          <p:spPr>
            <a:xfrm>
              <a:off x="4338266" y="3833168"/>
              <a:ext cx="1711132" cy="461665"/>
            </a:xfrm>
            <a:prstGeom prst="rect">
              <a:avLst/>
            </a:prstGeom>
            <a:noFill/>
          </p:spPr>
          <p:txBody>
            <a:bodyPr wrap="square" rtlCol="0">
              <a:spAutoFit/>
            </a:bodyPr>
            <a:lstStyle/>
            <a:p>
              <a:pPr algn="ctr"/>
              <a:r>
                <a:rPr kumimoji="1" lang="en-US" altLang="zh-CN" sz="2400" b="1">
                  <a:latin typeface="+mn-lt"/>
                  <a:ea typeface="+mj-ea"/>
                  <a:cs typeface="Consolas" panose="020B0609020204030204" pitchFamily="49" charset="0"/>
                </a:rPr>
                <a:t>5bit</a:t>
              </a:r>
              <a:endParaRPr kumimoji="1" lang="zh-CN" altLang="en-US" sz="2400" b="1">
                <a:latin typeface="+mn-lt"/>
                <a:ea typeface="+mj-ea"/>
                <a:cs typeface="Consolas" panose="020B0609020204030204" pitchFamily="49" charset="0"/>
              </a:endParaRPr>
            </a:p>
          </p:txBody>
        </p:sp>
        <p:sp>
          <p:nvSpPr>
            <p:cNvPr id="37" name="文本框 36">
              <a:extLst>
                <a:ext uri="{FF2B5EF4-FFF2-40B4-BE49-F238E27FC236}">
                  <a16:creationId xmlns:a16="http://schemas.microsoft.com/office/drawing/2014/main" id="{5681981E-B5EE-A54B-B494-A3F41EF5D251}"/>
                </a:ext>
              </a:extLst>
            </p:cNvPr>
            <p:cNvSpPr txBox="1"/>
            <p:nvPr/>
          </p:nvSpPr>
          <p:spPr>
            <a:xfrm>
              <a:off x="5592227" y="3833168"/>
              <a:ext cx="1711132" cy="461665"/>
            </a:xfrm>
            <a:prstGeom prst="rect">
              <a:avLst/>
            </a:prstGeom>
            <a:noFill/>
          </p:spPr>
          <p:txBody>
            <a:bodyPr wrap="square" rtlCol="0">
              <a:spAutoFit/>
            </a:bodyPr>
            <a:lstStyle/>
            <a:p>
              <a:pPr algn="ctr"/>
              <a:r>
                <a:rPr kumimoji="1" lang="en-US" altLang="zh-CN" sz="2400" b="1">
                  <a:latin typeface="+mn-lt"/>
                  <a:ea typeface="+mj-ea"/>
                  <a:cs typeface="Consolas" panose="020B0609020204030204" pitchFamily="49" charset="0"/>
                </a:rPr>
                <a:t>5bit</a:t>
              </a:r>
              <a:endParaRPr kumimoji="1" lang="zh-CN" altLang="en-US" sz="2400" b="1">
                <a:latin typeface="+mn-lt"/>
                <a:ea typeface="+mj-ea"/>
                <a:cs typeface="Consolas" panose="020B0609020204030204" pitchFamily="49" charset="0"/>
              </a:endParaRPr>
            </a:p>
          </p:txBody>
        </p:sp>
        <p:sp>
          <p:nvSpPr>
            <p:cNvPr id="38" name="文本框 37">
              <a:extLst>
                <a:ext uri="{FF2B5EF4-FFF2-40B4-BE49-F238E27FC236}">
                  <a16:creationId xmlns:a16="http://schemas.microsoft.com/office/drawing/2014/main" id="{10908EB5-5C65-A446-B7DD-E4B45EEF48B6}"/>
                </a:ext>
              </a:extLst>
            </p:cNvPr>
            <p:cNvSpPr txBox="1"/>
            <p:nvPr/>
          </p:nvSpPr>
          <p:spPr>
            <a:xfrm>
              <a:off x="6981453" y="3833168"/>
              <a:ext cx="1711132" cy="461665"/>
            </a:xfrm>
            <a:prstGeom prst="rect">
              <a:avLst/>
            </a:prstGeom>
            <a:noFill/>
          </p:spPr>
          <p:txBody>
            <a:bodyPr wrap="square" rtlCol="0">
              <a:spAutoFit/>
            </a:bodyPr>
            <a:lstStyle/>
            <a:p>
              <a:pPr algn="ctr"/>
              <a:r>
                <a:rPr kumimoji="1" lang="en-US" altLang="zh-CN" sz="2400" b="1">
                  <a:latin typeface="+mn-lt"/>
                  <a:ea typeface="+mj-ea"/>
                  <a:cs typeface="Consolas" panose="020B0609020204030204" pitchFamily="49" charset="0"/>
                </a:rPr>
                <a:t>6bit</a:t>
              </a:r>
              <a:endParaRPr kumimoji="1" lang="zh-CN" altLang="en-US" sz="2400" b="1">
                <a:latin typeface="+mn-lt"/>
                <a:ea typeface="+mj-ea"/>
                <a:cs typeface="Consolas" panose="020B0609020204030204" pitchFamily="49" charset="0"/>
              </a:endParaRPr>
            </a:p>
          </p:txBody>
        </p:sp>
      </p:grpSp>
      <p:sp>
        <p:nvSpPr>
          <p:cNvPr id="5" name="Title 4">
            <a:extLst>
              <a:ext uri="{FF2B5EF4-FFF2-40B4-BE49-F238E27FC236}">
                <a16:creationId xmlns:a16="http://schemas.microsoft.com/office/drawing/2014/main" id="{557C8B50-A6E1-9B36-9EC4-CB25335AD10C}"/>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kumimoji="1" lang="en-US" altLang="zh-CN" dirty="0"/>
              <a:t>MIPS</a:t>
            </a:r>
            <a:r>
              <a:rPr kumimoji="1" lang="zh-CN" altLang="en-US" dirty="0"/>
              <a:t>指令格式：</a:t>
            </a:r>
            <a:r>
              <a:rPr kumimoji="1" lang="en-US" altLang="zh-CN" dirty="0">
                <a:solidFill>
                  <a:srgbClr val="0432FF"/>
                </a:solidFill>
              </a:rPr>
              <a:t>R</a:t>
            </a:r>
            <a:r>
              <a:rPr kumimoji="1" lang="zh-CN" altLang="en-US" dirty="0">
                <a:solidFill>
                  <a:srgbClr val="0432FF"/>
                </a:solidFill>
              </a:rPr>
              <a:t>型指令</a:t>
            </a:r>
            <a:endParaRPr lang="en-CN" kern="0" dirty="0">
              <a:solidFill>
                <a:srgbClr val="0432FF"/>
              </a:solidFill>
            </a:endParaRPr>
          </a:p>
        </p:txBody>
      </p:sp>
    </p:spTree>
    <p:extLst>
      <p:ext uri="{BB962C8B-B14F-4D97-AF65-F5344CB8AC3E}">
        <p14:creationId xmlns:p14="http://schemas.microsoft.com/office/powerpoint/2010/main" val="17529563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9B52569E-53AC-4A41-8430-F9FD330141FD}"/>
              </a:ext>
            </a:extLst>
          </p:cNvPr>
          <p:cNvSpPr>
            <a:spLocks noGrp="1"/>
          </p:cNvSpPr>
          <p:nvPr>
            <p:ph type="sldNum" sz="quarter" idx="12"/>
          </p:nvPr>
        </p:nvSpPr>
        <p:spPr/>
        <p:txBody>
          <a:bodyPr/>
          <a:lstStyle/>
          <a:p>
            <a:fld id="{14659731-6BD7-46E7-8D3C-2F3AC07E20B1}" type="slidenum">
              <a:rPr lang="en-US" altLang="zh-CN" smtClean="0"/>
              <a:pPr/>
              <a:t>37</a:t>
            </a:fld>
            <a:endParaRPr lang="en-US" altLang="zh-CN"/>
          </a:p>
        </p:txBody>
      </p:sp>
      <p:sp>
        <p:nvSpPr>
          <p:cNvPr id="37" name="Content Placeholder 36">
            <a:extLst>
              <a:ext uri="{FF2B5EF4-FFF2-40B4-BE49-F238E27FC236}">
                <a16:creationId xmlns:a16="http://schemas.microsoft.com/office/drawing/2014/main" id="{FE00ACAF-EA8A-4130-8975-06DC6C14926E}"/>
              </a:ext>
            </a:extLst>
          </p:cNvPr>
          <p:cNvSpPr>
            <a:spLocks noGrp="1"/>
          </p:cNvSpPr>
          <p:nvPr>
            <p:ph idx="4294967295"/>
          </p:nvPr>
        </p:nvSpPr>
        <p:spPr>
          <a:xfrm>
            <a:off x="440596" y="1304336"/>
            <a:ext cx="7886700" cy="4351338"/>
          </a:xfrm>
        </p:spPr>
        <p:txBody>
          <a:bodyPr/>
          <a:lstStyle/>
          <a:p>
            <a:r>
              <a:rPr kumimoji="1" lang="zh-CN" altLang="en-US" dirty="0"/>
              <a:t>例子：加法指令</a:t>
            </a:r>
            <a:endParaRPr kumimoji="1" lang="en-US" altLang="zh-CN" dirty="0"/>
          </a:p>
          <a:p>
            <a:endParaRPr lang="zh-CN" altLang="en-US" dirty="0"/>
          </a:p>
        </p:txBody>
      </p:sp>
      <p:grpSp>
        <p:nvGrpSpPr>
          <p:cNvPr id="6" name="组合 5">
            <a:extLst>
              <a:ext uri="{FF2B5EF4-FFF2-40B4-BE49-F238E27FC236}">
                <a16:creationId xmlns:a16="http://schemas.microsoft.com/office/drawing/2014/main" id="{504BDBFD-FEA1-CBA1-8933-0A8F0647EEC9}"/>
              </a:ext>
            </a:extLst>
          </p:cNvPr>
          <p:cNvGrpSpPr/>
          <p:nvPr/>
        </p:nvGrpSpPr>
        <p:grpSpPr>
          <a:xfrm>
            <a:off x="440596" y="1843875"/>
            <a:ext cx="8156089" cy="4401350"/>
            <a:chOff x="457200" y="1490966"/>
            <a:chExt cx="8156089" cy="4401350"/>
          </a:xfrm>
        </p:grpSpPr>
        <p:grpSp>
          <p:nvGrpSpPr>
            <p:cNvPr id="39" name="Group 4">
              <a:extLst>
                <a:ext uri="{FF2B5EF4-FFF2-40B4-BE49-F238E27FC236}">
                  <a16:creationId xmlns:a16="http://schemas.microsoft.com/office/drawing/2014/main" id="{B8D7A5E4-E0BB-ED4A-B7D1-EF63F7F28C3C}"/>
                </a:ext>
              </a:extLst>
            </p:cNvPr>
            <p:cNvGrpSpPr>
              <a:grpSpLocks/>
            </p:cNvGrpSpPr>
            <p:nvPr/>
          </p:nvGrpSpPr>
          <p:grpSpPr bwMode="auto">
            <a:xfrm>
              <a:off x="457200" y="4700246"/>
              <a:ext cx="8153401" cy="523876"/>
              <a:chOff x="240" y="2472"/>
              <a:chExt cx="5136" cy="330"/>
            </a:xfrm>
          </p:grpSpPr>
          <p:grpSp>
            <p:nvGrpSpPr>
              <p:cNvPr id="40" name="Group 5">
                <a:extLst>
                  <a:ext uri="{FF2B5EF4-FFF2-40B4-BE49-F238E27FC236}">
                    <a16:creationId xmlns:a16="http://schemas.microsoft.com/office/drawing/2014/main" id="{F089CCAA-7632-AA4E-B05C-EAFC1C4A1DA6}"/>
                  </a:ext>
                </a:extLst>
              </p:cNvPr>
              <p:cNvGrpSpPr>
                <a:grpSpLocks/>
              </p:cNvGrpSpPr>
              <p:nvPr/>
            </p:nvGrpSpPr>
            <p:grpSpPr bwMode="auto">
              <a:xfrm>
                <a:off x="623" y="2472"/>
                <a:ext cx="4521" cy="330"/>
                <a:chOff x="623" y="2472"/>
                <a:chExt cx="4521" cy="330"/>
              </a:xfrm>
            </p:grpSpPr>
            <p:sp>
              <p:nvSpPr>
                <p:cNvPr id="47" name="Text Box 6">
                  <a:extLst>
                    <a:ext uri="{FF2B5EF4-FFF2-40B4-BE49-F238E27FC236}">
                      <a16:creationId xmlns:a16="http://schemas.microsoft.com/office/drawing/2014/main" id="{11B067F3-5413-6743-AA20-0A8CDE0FEC88}"/>
                    </a:ext>
                  </a:extLst>
                </p:cNvPr>
                <p:cNvSpPr txBox="1">
                  <a:spLocks noChangeArrowheads="1"/>
                </p:cNvSpPr>
                <p:nvPr/>
              </p:nvSpPr>
              <p:spPr bwMode="auto">
                <a:xfrm>
                  <a:off x="623" y="2472"/>
                  <a:ext cx="250" cy="3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a:r>
                    <a:rPr lang="en-US" altLang="en-US" sz="2800" dirty="0">
                      <a:latin typeface="+mj-ea"/>
                      <a:ea typeface="+mj-ea"/>
                    </a:rPr>
                    <a:t>0</a:t>
                  </a:r>
                  <a:endParaRPr lang="en-US" altLang="en-US" sz="2000" b="0" dirty="0">
                    <a:solidFill>
                      <a:schemeClr val="accent1"/>
                    </a:solidFill>
                    <a:latin typeface="+mj-ea"/>
                    <a:ea typeface="+mj-ea"/>
                  </a:endParaRPr>
                </a:p>
              </p:txBody>
            </p:sp>
            <p:sp>
              <p:nvSpPr>
                <p:cNvPr id="48" name="Text Box 7">
                  <a:extLst>
                    <a:ext uri="{FF2B5EF4-FFF2-40B4-BE49-F238E27FC236}">
                      <a16:creationId xmlns:a16="http://schemas.microsoft.com/office/drawing/2014/main" id="{0CAA7936-540D-AE4F-9F75-90A4CECF7D1E}"/>
                    </a:ext>
                  </a:extLst>
                </p:cNvPr>
                <p:cNvSpPr txBox="1">
                  <a:spLocks noChangeArrowheads="1"/>
                </p:cNvSpPr>
                <p:nvPr/>
              </p:nvSpPr>
              <p:spPr bwMode="auto">
                <a:xfrm>
                  <a:off x="1408" y="2472"/>
                  <a:ext cx="410" cy="3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a:r>
                    <a:rPr lang="en-US" altLang="en-US" sz="2800" dirty="0">
                      <a:latin typeface="+mj-ea"/>
                      <a:ea typeface="+mj-ea"/>
                    </a:rPr>
                    <a:t>9</a:t>
                  </a:r>
                  <a:r>
                    <a:rPr lang="en-US" altLang="en-US" sz="2800" baseline="-25000" dirty="0">
                      <a:latin typeface="+mj-ea"/>
                      <a:ea typeface="+mj-ea"/>
                    </a:rPr>
                    <a:t>10</a:t>
                  </a:r>
                  <a:endParaRPr lang="en-US" altLang="en-US" sz="2000" b="0" baseline="-25000" dirty="0">
                    <a:solidFill>
                      <a:schemeClr val="accent1"/>
                    </a:solidFill>
                    <a:latin typeface="+mj-ea"/>
                    <a:ea typeface="+mj-ea"/>
                  </a:endParaRPr>
                </a:p>
              </p:txBody>
            </p:sp>
            <p:sp>
              <p:nvSpPr>
                <p:cNvPr id="49" name="Text Box 8">
                  <a:extLst>
                    <a:ext uri="{FF2B5EF4-FFF2-40B4-BE49-F238E27FC236}">
                      <a16:creationId xmlns:a16="http://schemas.microsoft.com/office/drawing/2014/main" id="{96FC9E12-7F47-1B43-89CE-6C9C25AA0186}"/>
                    </a:ext>
                  </a:extLst>
                </p:cNvPr>
                <p:cNvSpPr txBox="1">
                  <a:spLocks noChangeArrowheads="1"/>
                </p:cNvSpPr>
                <p:nvPr/>
              </p:nvSpPr>
              <p:spPr bwMode="auto">
                <a:xfrm>
                  <a:off x="2144" y="2472"/>
                  <a:ext cx="536" cy="3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a:r>
                    <a:rPr lang="en-US" altLang="en-US" sz="2800" dirty="0">
                      <a:latin typeface="+mj-ea"/>
                      <a:ea typeface="+mj-ea"/>
                    </a:rPr>
                    <a:t>10</a:t>
                  </a:r>
                  <a:r>
                    <a:rPr lang="en-US" altLang="en-US" sz="2800" baseline="-25000" dirty="0">
                      <a:latin typeface="+mj-ea"/>
                      <a:ea typeface="+mj-ea"/>
                    </a:rPr>
                    <a:t>10</a:t>
                  </a:r>
                  <a:endParaRPr lang="en-US" altLang="en-US" sz="2000" b="0" baseline="-25000" dirty="0">
                    <a:solidFill>
                      <a:schemeClr val="accent1"/>
                    </a:solidFill>
                    <a:latin typeface="+mj-ea"/>
                    <a:ea typeface="+mj-ea"/>
                  </a:endParaRPr>
                </a:p>
              </p:txBody>
            </p:sp>
            <p:sp>
              <p:nvSpPr>
                <p:cNvPr id="50" name="Text Box 9">
                  <a:extLst>
                    <a:ext uri="{FF2B5EF4-FFF2-40B4-BE49-F238E27FC236}">
                      <a16:creationId xmlns:a16="http://schemas.microsoft.com/office/drawing/2014/main" id="{1E690B7F-D5E9-5946-9DA4-C59467F5957F}"/>
                    </a:ext>
                  </a:extLst>
                </p:cNvPr>
                <p:cNvSpPr txBox="1">
                  <a:spLocks noChangeArrowheads="1"/>
                </p:cNvSpPr>
                <p:nvPr/>
              </p:nvSpPr>
              <p:spPr bwMode="auto">
                <a:xfrm>
                  <a:off x="3006" y="2472"/>
                  <a:ext cx="410" cy="3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a:r>
                    <a:rPr lang="en-US" altLang="en-US" sz="2800" dirty="0">
                      <a:latin typeface="+mj-ea"/>
                      <a:ea typeface="+mj-ea"/>
                    </a:rPr>
                    <a:t>8</a:t>
                  </a:r>
                  <a:r>
                    <a:rPr lang="en-US" altLang="en-US" sz="2800" baseline="-25000" dirty="0">
                      <a:latin typeface="+mj-ea"/>
                      <a:ea typeface="+mj-ea"/>
                    </a:rPr>
                    <a:t>10</a:t>
                  </a:r>
                  <a:endParaRPr lang="en-US" altLang="en-US" sz="2000" b="0" baseline="-25000" dirty="0">
                    <a:solidFill>
                      <a:schemeClr val="accent1"/>
                    </a:solidFill>
                    <a:latin typeface="+mj-ea"/>
                    <a:ea typeface="+mj-ea"/>
                  </a:endParaRPr>
                </a:p>
              </p:txBody>
            </p:sp>
            <p:sp>
              <p:nvSpPr>
                <p:cNvPr id="51" name="Text Box 10">
                  <a:extLst>
                    <a:ext uri="{FF2B5EF4-FFF2-40B4-BE49-F238E27FC236}">
                      <a16:creationId xmlns:a16="http://schemas.microsoft.com/office/drawing/2014/main" id="{9D5A6AEB-8259-264D-93B0-69FAC50F9D3D}"/>
                    </a:ext>
                  </a:extLst>
                </p:cNvPr>
                <p:cNvSpPr txBox="1">
                  <a:spLocks noChangeArrowheads="1"/>
                </p:cNvSpPr>
                <p:nvPr/>
              </p:nvSpPr>
              <p:spPr bwMode="auto">
                <a:xfrm>
                  <a:off x="4608" y="2472"/>
                  <a:ext cx="536" cy="3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a:r>
                    <a:rPr lang="en-US" altLang="en-US" sz="2800" dirty="0">
                      <a:latin typeface="+mj-ea"/>
                      <a:ea typeface="+mj-ea"/>
                    </a:rPr>
                    <a:t>32</a:t>
                  </a:r>
                  <a:r>
                    <a:rPr lang="en-US" altLang="en-US" sz="2800" baseline="-25000" dirty="0">
                      <a:latin typeface="+mj-ea"/>
                      <a:ea typeface="+mj-ea"/>
                    </a:rPr>
                    <a:t>10</a:t>
                  </a:r>
                  <a:endParaRPr lang="en-US" altLang="en-US" sz="2000" b="0" baseline="-25000" dirty="0">
                    <a:solidFill>
                      <a:schemeClr val="accent1"/>
                    </a:solidFill>
                    <a:latin typeface="+mj-ea"/>
                    <a:ea typeface="+mj-ea"/>
                  </a:endParaRPr>
                </a:p>
              </p:txBody>
            </p:sp>
            <p:sp>
              <p:nvSpPr>
                <p:cNvPr id="52" name="Text Box 11">
                  <a:extLst>
                    <a:ext uri="{FF2B5EF4-FFF2-40B4-BE49-F238E27FC236}">
                      <a16:creationId xmlns:a16="http://schemas.microsoft.com/office/drawing/2014/main" id="{2B0E43BD-3701-B246-89E6-0BB38CB5DE54}"/>
                    </a:ext>
                  </a:extLst>
                </p:cNvPr>
                <p:cNvSpPr txBox="1">
                  <a:spLocks noChangeArrowheads="1"/>
                </p:cNvSpPr>
                <p:nvPr/>
              </p:nvSpPr>
              <p:spPr bwMode="auto">
                <a:xfrm>
                  <a:off x="3885" y="2472"/>
                  <a:ext cx="250" cy="3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a:r>
                    <a:rPr lang="en-US" altLang="en-US" sz="2800">
                      <a:latin typeface="+mj-ea"/>
                      <a:ea typeface="+mj-ea"/>
                    </a:rPr>
                    <a:t>0</a:t>
                  </a:r>
                  <a:endParaRPr lang="en-US" altLang="en-US" sz="2000" b="0">
                    <a:solidFill>
                      <a:schemeClr val="accent1"/>
                    </a:solidFill>
                    <a:latin typeface="+mj-ea"/>
                    <a:ea typeface="+mj-ea"/>
                  </a:endParaRPr>
                </a:p>
              </p:txBody>
            </p:sp>
          </p:grpSp>
          <p:sp>
            <p:nvSpPr>
              <p:cNvPr id="41" name="Rectangle 12">
                <a:extLst>
                  <a:ext uri="{FF2B5EF4-FFF2-40B4-BE49-F238E27FC236}">
                    <a16:creationId xmlns:a16="http://schemas.microsoft.com/office/drawing/2014/main" id="{466C58F3-C89A-B34C-BB25-C10E9A62A0B5}"/>
                  </a:ext>
                </a:extLst>
              </p:cNvPr>
              <p:cNvSpPr>
                <a:spLocks noChangeArrowheads="1"/>
              </p:cNvSpPr>
              <p:nvPr/>
            </p:nvSpPr>
            <p:spPr bwMode="auto">
              <a:xfrm>
                <a:off x="240" y="2496"/>
                <a:ext cx="5136" cy="288"/>
              </a:xfrm>
              <a:prstGeom prst="rect">
                <a:avLst/>
              </a:prstGeom>
              <a:noFill/>
              <a:ln w="381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42" name="Line 13">
                <a:extLst>
                  <a:ext uri="{FF2B5EF4-FFF2-40B4-BE49-F238E27FC236}">
                    <a16:creationId xmlns:a16="http://schemas.microsoft.com/office/drawing/2014/main" id="{1856442F-325A-9047-A8A5-4812C8944117}"/>
                  </a:ext>
                </a:extLst>
              </p:cNvPr>
              <p:cNvSpPr>
                <a:spLocks noChangeShapeType="1"/>
              </p:cNvSpPr>
              <p:nvPr/>
            </p:nvSpPr>
            <p:spPr bwMode="auto">
              <a:xfrm>
                <a:off x="1200" y="2496"/>
                <a:ext cx="0" cy="288"/>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43" name="Line 14">
                <a:extLst>
                  <a:ext uri="{FF2B5EF4-FFF2-40B4-BE49-F238E27FC236}">
                    <a16:creationId xmlns:a16="http://schemas.microsoft.com/office/drawing/2014/main" id="{B531A628-7311-AD48-83FA-873D628F8267}"/>
                  </a:ext>
                </a:extLst>
              </p:cNvPr>
              <p:cNvSpPr>
                <a:spLocks noChangeShapeType="1"/>
              </p:cNvSpPr>
              <p:nvPr/>
            </p:nvSpPr>
            <p:spPr bwMode="auto">
              <a:xfrm>
                <a:off x="2016" y="2496"/>
                <a:ext cx="0" cy="288"/>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44" name="Line 15">
                <a:extLst>
                  <a:ext uri="{FF2B5EF4-FFF2-40B4-BE49-F238E27FC236}">
                    <a16:creationId xmlns:a16="http://schemas.microsoft.com/office/drawing/2014/main" id="{554AC725-24F8-B84D-8814-616C4BEFF6F4}"/>
                  </a:ext>
                </a:extLst>
              </p:cNvPr>
              <p:cNvSpPr>
                <a:spLocks noChangeShapeType="1"/>
              </p:cNvSpPr>
              <p:nvPr/>
            </p:nvSpPr>
            <p:spPr bwMode="auto">
              <a:xfrm>
                <a:off x="2784" y="2496"/>
                <a:ext cx="0" cy="288"/>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45" name="Line 16">
                <a:extLst>
                  <a:ext uri="{FF2B5EF4-FFF2-40B4-BE49-F238E27FC236}">
                    <a16:creationId xmlns:a16="http://schemas.microsoft.com/office/drawing/2014/main" id="{678750CC-A243-084C-ACA1-749E0BCEA0F4}"/>
                  </a:ext>
                </a:extLst>
              </p:cNvPr>
              <p:cNvSpPr>
                <a:spLocks noChangeShapeType="1"/>
              </p:cNvSpPr>
              <p:nvPr/>
            </p:nvSpPr>
            <p:spPr bwMode="auto">
              <a:xfrm>
                <a:off x="3600" y="2496"/>
                <a:ext cx="0" cy="288"/>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46" name="Line 17">
                <a:extLst>
                  <a:ext uri="{FF2B5EF4-FFF2-40B4-BE49-F238E27FC236}">
                    <a16:creationId xmlns:a16="http://schemas.microsoft.com/office/drawing/2014/main" id="{63913DE2-0210-1644-A55C-AA330359A70E}"/>
                  </a:ext>
                </a:extLst>
              </p:cNvPr>
              <p:cNvSpPr>
                <a:spLocks noChangeShapeType="1"/>
              </p:cNvSpPr>
              <p:nvPr/>
            </p:nvSpPr>
            <p:spPr bwMode="auto">
              <a:xfrm>
                <a:off x="4416" y="2496"/>
                <a:ext cx="0" cy="288"/>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grpSp>
        <p:grpSp>
          <p:nvGrpSpPr>
            <p:cNvPr id="55" name="Group 22">
              <a:extLst>
                <a:ext uri="{FF2B5EF4-FFF2-40B4-BE49-F238E27FC236}">
                  <a16:creationId xmlns:a16="http://schemas.microsoft.com/office/drawing/2014/main" id="{F7859F48-C8C7-F849-8E1D-921734413DD5}"/>
                </a:ext>
              </a:extLst>
            </p:cNvPr>
            <p:cNvGrpSpPr>
              <a:grpSpLocks/>
            </p:cNvGrpSpPr>
            <p:nvPr/>
          </p:nvGrpSpPr>
          <p:grpSpPr bwMode="auto">
            <a:xfrm>
              <a:off x="457201" y="5368440"/>
              <a:ext cx="8153400" cy="523876"/>
              <a:chOff x="240" y="2479"/>
              <a:chExt cx="5136" cy="330"/>
            </a:xfrm>
          </p:grpSpPr>
          <p:grpSp>
            <p:nvGrpSpPr>
              <p:cNvPr id="56" name="Group 23">
                <a:extLst>
                  <a:ext uri="{FF2B5EF4-FFF2-40B4-BE49-F238E27FC236}">
                    <a16:creationId xmlns:a16="http://schemas.microsoft.com/office/drawing/2014/main" id="{DE6D26A4-7A20-1E49-BD4C-D2ABA3AF1BB5}"/>
                  </a:ext>
                </a:extLst>
              </p:cNvPr>
              <p:cNvGrpSpPr>
                <a:grpSpLocks/>
              </p:cNvGrpSpPr>
              <p:nvPr/>
            </p:nvGrpSpPr>
            <p:grpSpPr bwMode="auto">
              <a:xfrm>
                <a:off x="311" y="2479"/>
                <a:ext cx="5002" cy="330"/>
                <a:chOff x="311" y="2479"/>
                <a:chExt cx="5002" cy="330"/>
              </a:xfrm>
            </p:grpSpPr>
            <p:sp>
              <p:nvSpPr>
                <p:cNvPr id="63" name="Text Box 24">
                  <a:extLst>
                    <a:ext uri="{FF2B5EF4-FFF2-40B4-BE49-F238E27FC236}">
                      <a16:creationId xmlns:a16="http://schemas.microsoft.com/office/drawing/2014/main" id="{F3A5B03C-F9F0-A14D-8DBB-A6337380AD49}"/>
                    </a:ext>
                  </a:extLst>
                </p:cNvPr>
                <p:cNvSpPr txBox="1">
                  <a:spLocks noChangeArrowheads="1"/>
                </p:cNvSpPr>
                <p:nvPr/>
              </p:nvSpPr>
              <p:spPr bwMode="auto">
                <a:xfrm>
                  <a:off x="311" y="2479"/>
                  <a:ext cx="874" cy="3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a:r>
                    <a:rPr lang="en-US" altLang="en-US" sz="2800">
                      <a:latin typeface="+mj-ea"/>
                      <a:ea typeface="+mj-ea"/>
                    </a:rPr>
                    <a:t>000000</a:t>
                  </a:r>
                  <a:endParaRPr lang="en-US" altLang="en-US" sz="2000" b="0">
                    <a:solidFill>
                      <a:schemeClr val="accent1"/>
                    </a:solidFill>
                    <a:latin typeface="+mj-ea"/>
                    <a:ea typeface="+mj-ea"/>
                  </a:endParaRPr>
                </a:p>
              </p:txBody>
            </p:sp>
            <p:sp>
              <p:nvSpPr>
                <p:cNvPr id="64" name="Text Box 25">
                  <a:extLst>
                    <a:ext uri="{FF2B5EF4-FFF2-40B4-BE49-F238E27FC236}">
                      <a16:creationId xmlns:a16="http://schemas.microsoft.com/office/drawing/2014/main" id="{42011CE2-C652-FA4E-BF00-C98AC632FDA6}"/>
                    </a:ext>
                  </a:extLst>
                </p:cNvPr>
                <p:cNvSpPr txBox="1">
                  <a:spLocks noChangeArrowheads="1"/>
                </p:cNvSpPr>
                <p:nvPr/>
              </p:nvSpPr>
              <p:spPr bwMode="auto">
                <a:xfrm>
                  <a:off x="1239" y="2479"/>
                  <a:ext cx="747" cy="3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a:r>
                    <a:rPr lang="en-US" altLang="en-US" sz="2800">
                      <a:latin typeface="+mj-ea"/>
                      <a:ea typeface="+mj-ea"/>
                    </a:rPr>
                    <a:t>01001</a:t>
                  </a:r>
                  <a:endParaRPr lang="en-US" altLang="en-US" sz="2000" b="0">
                    <a:solidFill>
                      <a:schemeClr val="accent1"/>
                    </a:solidFill>
                    <a:latin typeface="+mj-ea"/>
                    <a:ea typeface="+mj-ea"/>
                  </a:endParaRPr>
                </a:p>
              </p:txBody>
            </p:sp>
            <p:sp>
              <p:nvSpPr>
                <p:cNvPr id="65" name="Text Box 26">
                  <a:extLst>
                    <a:ext uri="{FF2B5EF4-FFF2-40B4-BE49-F238E27FC236}">
                      <a16:creationId xmlns:a16="http://schemas.microsoft.com/office/drawing/2014/main" id="{6096AF30-FB77-5546-9592-B9FF2E0EB8DA}"/>
                    </a:ext>
                  </a:extLst>
                </p:cNvPr>
                <p:cNvSpPr txBox="1">
                  <a:spLocks noChangeArrowheads="1"/>
                </p:cNvSpPr>
                <p:nvPr/>
              </p:nvSpPr>
              <p:spPr bwMode="auto">
                <a:xfrm>
                  <a:off x="2038" y="2479"/>
                  <a:ext cx="747" cy="3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a:r>
                    <a:rPr lang="en-US" altLang="en-US" sz="2800">
                      <a:latin typeface="+mj-ea"/>
                      <a:ea typeface="+mj-ea"/>
                    </a:rPr>
                    <a:t>01010</a:t>
                  </a:r>
                  <a:endParaRPr lang="en-US" altLang="en-US" sz="2000" b="0">
                    <a:solidFill>
                      <a:schemeClr val="accent1"/>
                    </a:solidFill>
                    <a:latin typeface="+mj-ea"/>
                    <a:ea typeface="+mj-ea"/>
                  </a:endParaRPr>
                </a:p>
              </p:txBody>
            </p:sp>
            <p:sp>
              <p:nvSpPr>
                <p:cNvPr id="66" name="Text Box 27">
                  <a:extLst>
                    <a:ext uri="{FF2B5EF4-FFF2-40B4-BE49-F238E27FC236}">
                      <a16:creationId xmlns:a16="http://schemas.microsoft.com/office/drawing/2014/main" id="{5094EDE6-D2F2-2043-AF83-5D189892E761}"/>
                    </a:ext>
                  </a:extLst>
                </p:cNvPr>
                <p:cNvSpPr txBox="1">
                  <a:spLocks noChangeArrowheads="1"/>
                </p:cNvSpPr>
                <p:nvPr/>
              </p:nvSpPr>
              <p:spPr bwMode="auto">
                <a:xfrm>
                  <a:off x="2837" y="2479"/>
                  <a:ext cx="747" cy="3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a:r>
                    <a:rPr lang="en-US" altLang="en-US" sz="2800">
                      <a:latin typeface="+mj-ea"/>
                      <a:ea typeface="+mj-ea"/>
                    </a:rPr>
                    <a:t>01000</a:t>
                  </a:r>
                  <a:endParaRPr lang="en-US" altLang="en-US" sz="2000" b="0">
                    <a:solidFill>
                      <a:schemeClr val="accent1"/>
                    </a:solidFill>
                    <a:latin typeface="+mj-ea"/>
                    <a:ea typeface="+mj-ea"/>
                  </a:endParaRPr>
                </a:p>
              </p:txBody>
            </p:sp>
            <p:sp>
              <p:nvSpPr>
                <p:cNvPr id="67" name="Text Box 28">
                  <a:extLst>
                    <a:ext uri="{FF2B5EF4-FFF2-40B4-BE49-F238E27FC236}">
                      <a16:creationId xmlns:a16="http://schemas.microsoft.com/office/drawing/2014/main" id="{48B5A779-0D81-ED4B-B3B0-87A680DB129A}"/>
                    </a:ext>
                  </a:extLst>
                </p:cNvPr>
                <p:cNvSpPr txBox="1">
                  <a:spLocks noChangeArrowheads="1"/>
                </p:cNvSpPr>
                <p:nvPr/>
              </p:nvSpPr>
              <p:spPr bwMode="auto">
                <a:xfrm>
                  <a:off x="4439" y="2479"/>
                  <a:ext cx="874" cy="3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a:r>
                    <a:rPr lang="en-US" altLang="en-US" sz="2800">
                      <a:latin typeface="+mj-ea"/>
                      <a:ea typeface="+mj-ea"/>
                    </a:rPr>
                    <a:t>100000</a:t>
                  </a:r>
                  <a:endParaRPr lang="en-US" altLang="en-US" sz="2000" b="0">
                    <a:solidFill>
                      <a:schemeClr val="accent1"/>
                    </a:solidFill>
                    <a:latin typeface="+mj-ea"/>
                    <a:ea typeface="+mj-ea"/>
                  </a:endParaRPr>
                </a:p>
              </p:txBody>
            </p:sp>
            <p:sp>
              <p:nvSpPr>
                <p:cNvPr id="68" name="Text Box 29">
                  <a:extLst>
                    <a:ext uri="{FF2B5EF4-FFF2-40B4-BE49-F238E27FC236}">
                      <a16:creationId xmlns:a16="http://schemas.microsoft.com/office/drawing/2014/main" id="{FABF5055-E962-F246-8CF0-3A12F958858B}"/>
                    </a:ext>
                  </a:extLst>
                </p:cNvPr>
                <p:cNvSpPr txBox="1">
                  <a:spLocks noChangeArrowheads="1"/>
                </p:cNvSpPr>
                <p:nvPr/>
              </p:nvSpPr>
              <p:spPr bwMode="auto">
                <a:xfrm>
                  <a:off x="3636" y="2479"/>
                  <a:ext cx="747" cy="3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a:r>
                    <a:rPr lang="en-US" altLang="en-US" sz="2800" dirty="0">
                      <a:latin typeface="+mj-ea"/>
                      <a:ea typeface="+mj-ea"/>
                    </a:rPr>
                    <a:t>00000</a:t>
                  </a:r>
                  <a:endParaRPr lang="en-US" altLang="en-US" sz="2000" b="0" dirty="0">
                    <a:solidFill>
                      <a:schemeClr val="accent1"/>
                    </a:solidFill>
                    <a:latin typeface="+mj-ea"/>
                    <a:ea typeface="+mj-ea"/>
                  </a:endParaRPr>
                </a:p>
              </p:txBody>
            </p:sp>
          </p:grpSp>
          <p:sp>
            <p:nvSpPr>
              <p:cNvPr id="57" name="Rectangle 30">
                <a:extLst>
                  <a:ext uri="{FF2B5EF4-FFF2-40B4-BE49-F238E27FC236}">
                    <a16:creationId xmlns:a16="http://schemas.microsoft.com/office/drawing/2014/main" id="{B4E73CDE-70F7-914B-B7C1-1066C0312B82}"/>
                  </a:ext>
                </a:extLst>
              </p:cNvPr>
              <p:cNvSpPr>
                <a:spLocks noChangeArrowheads="1"/>
              </p:cNvSpPr>
              <p:nvPr/>
            </p:nvSpPr>
            <p:spPr bwMode="auto">
              <a:xfrm>
                <a:off x="240" y="2496"/>
                <a:ext cx="5136" cy="288"/>
              </a:xfrm>
              <a:prstGeom prst="rect">
                <a:avLst/>
              </a:prstGeom>
              <a:noFill/>
              <a:ln w="381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58" name="Line 31">
                <a:extLst>
                  <a:ext uri="{FF2B5EF4-FFF2-40B4-BE49-F238E27FC236}">
                    <a16:creationId xmlns:a16="http://schemas.microsoft.com/office/drawing/2014/main" id="{2F26D956-338B-ED43-890C-78828EFF8FE5}"/>
                  </a:ext>
                </a:extLst>
              </p:cNvPr>
              <p:cNvSpPr>
                <a:spLocks noChangeShapeType="1"/>
              </p:cNvSpPr>
              <p:nvPr/>
            </p:nvSpPr>
            <p:spPr bwMode="auto">
              <a:xfrm>
                <a:off x="1200" y="2496"/>
                <a:ext cx="0" cy="288"/>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59" name="Line 32">
                <a:extLst>
                  <a:ext uri="{FF2B5EF4-FFF2-40B4-BE49-F238E27FC236}">
                    <a16:creationId xmlns:a16="http://schemas.microsoft.com/office/drawing/2014/main" id="{4A2EA3BD-D9F7-C641-ACAE-D030661C62C1}"/>
                  </a:ext>
                </a:extLst>
              </p:cNvPr>
              <p:cNvSpPr>
                <a:spLocks noChangeShapeType="1"/>
              </p:cNvSpPr>
              <p:nvPr/>
            </p:nvSpPr>
            <p:spPr bwMode="auto">
              <a:xfrm>
                <a:off x="2016" y="2496"/>
                <a:ext cx="0" cy="288"/>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latin typeface="+mj-ea"/>
                  <a:ea typeface="+mj-ea"/>
                </a:endParaRPr>
              </a:p>
            </p:txBody>
          </p:sp>
          <p:sp>
            <p:nvSpPr>
              <p:cNvPr id="60" name="Line 33">
                <a:extLst>
                  <a:ext uri="{FF2B5EF4-FFF2-40B4-BE49-F238E27FC236}">
                    <a16:creationId xmlns:a16="http://schemas.microsoft.com/office/drawing/2014/main" id="{98B905C4-39AD-F243-9A7A-BF1BDAFF3E18}"/>
                  </a:ext>
                </a:extLst>
              </p:cNvPr>
              <p:cNvSpPr>
                <a:spLocks noChangeShapeType="1"/>
              </p:cNvSpPr>
              <p:nvPr/>
            </p:nvSpPr>
            <p:spPr bwMode="auto">
              <a:xfrm>
                <a:off x="2784" y="2496"/>
                <a:ext cx="0" cy="288"/>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61" name="Line 34">
                <a:extLst>
                  <a:ext uri="{FF2B5EF4-FFF2-40B4-BE49-F238E27FC236}">
                    <a16:creationId xmlns:a16="http://schemas.microsoft.com/office/drawing/2014/main" id="{8799A63C-24B3-8444-9EDC-308B0DB2F7DD}"/>
                  </a:ext>
                </a:extLst>
              </p:cNvPr>
              <p:cNvSpPr>
                <a:spLocks noChangeShapeType="1"/>
              </p:cNvSpPr>
              <p:nvPr/>
            </p:nvSpPr>
            <p:spPr bwMode="auto">
              <a:xfrm>
                <a:off x="3600" y="2496"/>
                <a:ext cx="0" cy="288"/>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62" name="Line 35">
                <a:extLst>
                  <a:ext uri="{FF2B5EF4-FFF2-40B4-BE49-F238E27FC236}">
                    <a16:creationId xmlns:a16="http://schemas.microsoft.com/office/drawing/2014/main" id="{C6C6D813-16BA-5643-BA41-F8BAEFD51B7A}"/>
                  </a:ext>
                </a:extLst>
              </p:cNvPr>
              <p:cNvSpPr>
                <a:spLocks noChangeShapeType="1"/>
              </p:cNvSpPr>
              <p:nvPr/>
            </p:nvSpPr>
            <p:spPr bwMode="auto">
              <a:xfrm>
                <a:off x="4416" y="2496"/>
                <a:ext cx="0" cy="288"/>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grpSp>
        <p:sp>
          <p:nvSpPr>
            <p:cNvPr id="81" name="矩形 80">
              <a:extLst>
                <a:ext uri="{FF2B5EF4-FFF2-40B4-BE49-F238E27FC236}">
                  <a16:creationId xmlns:a16="http://schemas.microsoft.com/office/drawing/2014/main" id="{DE33DFBF-5CE8-104F-9CBB-53351359FE3F}"/>
                </a:ext>
              </a:extLst>
            </p:cNvPr>
            <p:cNvSpPr/>
            <p:nvPr/>
          </p:nvSpPr>
          <p:spPr>
            <a:xfrm>
              <a:off x="533400" y="3811558"/>
              <a:ext cx="8079889" cy="966418"/>
            </a:xfrm>
            <a:prstGeom prst="rect">
              <a:avLst/>
            </a:prstGeom>
          </p:spPr>
          <p:txBody>
            <a:bodyPr wrap="square">
              <a:spAutoFit/>
            </a:bodyPr>
            <a:lstStyle/>
            <a:p>
              <a:pPr marL="742950" lvl="1" indent="-285750">
                <a:spcBef>
                  <a:spcPct val="20000"/>
                </a:spcBef>
              </a:pPr>
              <a:r>
                <a:rPr lang="en-US" altLang="en-US" sz="2400" i="1" kern="0" dirty="0">
                  <a:solidFill>
                    <a:srgbClr val="000000"/>
                  </a:solidFill>
                  <a:latin typeface="Consolas" panose="020B0609020204030204" pitchFamily="49" charset="0"/>
                  <a:ea typeface="宋体"/>
                  <a:cs typeface="Times New Roman" panose="02020603050405020304" pitchFamily="18" charset="0"/>
                </a:rPr>
                <a:t>add rd,</a:t>
              </a:r>
              <a:r>
                <a:rPr lang="zh-CN" altLang="en-US" sz="2400" i="1" kern="0" dirty="0">
                  <a:solidFill>
                    <a:srgbClr val="000000"/>
                  </a:solidFill>
                  <a:latin typeface="Consolas" panose="020B0609020204030204" pitchFamily="49" charset="0"/>
                  <a:ea typeface="宋体"/>
                  <a:cs typeface="Times New Roman" panose="02020603050405020304" pitchFamily="18" charset="0"/>
                </a:rPr>
                <a:t> </a:t>
              </a:r>
              <a:r>
                <a:rPr lang="en-US" altLang="en-US" sz="2400" i="1" kern="0" dirty="0">
                  <a:solidFill>
                    <a:srgbClr val="000000"/>
                  </a:solidFill>
                  <a:latin typeface="Consolas" panose="020B0609020204030204" pitchFamily="49" charset="0"/>
                  <a:ea typeface="宋体"/>
                  <a:cs typeface="Times New Roman" panose="02020603050405020304" pitchFamily="18" charset="0"/>
                </a:rPr>
                <a:t>rs,</a:t>
              </a:r>
              <a:r>
                <a:rPr lang="zh-CN" altLang="en-US" sz="2400" i="1" kern="0" dirty="0">
                  <a:solidFill>
                    <a:srgbClr val="000000"/>
                  </a:solidFill>
                  <a:latin typeface="Consolas" panose="020B0609020204030204" pitchFamily="49" charset="0"/>
                  <a:ea typeface="宋体"/>
                  <a:cs typeface="Times New Roman" panose="02020603050405020304" pitchFamily="18" charset="0"/>
                </a:rPr>
                <a:t> </a:t>
              </a:r>
              <a:r>
                <a:rPr lang="en-US" altLang="en-US" sz="2400" i="1" kern="0" dirty="0">
                  <a:solidFill>
                    <a:srgbClr val="000000"/>
                  </a:solidFill>
                  <a:latin typeface="Consolas" panose="020B0609020204030204" pitchFamily="49" charset="0"/>
                  <a:ea typeface="宋体"/>
                  <a:cs typeface="Times New Roman" panose="02020603050405020304" pitchFamily="18" charset="0"/>
                </a:rPr>
                <a:t>rt </a:t>
              </a:r>
              <a:r>
                <a:rPr lang="zh-CN" altLang="en-US" sz="2400" i="1" kern="0" dirty="0">
                  <a:solidFill>
                    <a:srgbClr val="000000"/>
                  </a:solidFill>
                  <a:latin typeface="Consolas" panose="020B0609020204030204" pitchFamily="49" charset="0"/>
                  <a:ea typeface="宋体"/>
                  <a:cs typeface="Times New Roman" panose="02020603050405020304" pitchFamily="18" charset="0"/>
                </a:rPr>
                <a:t>    </a:t>
              </a:r>
              <a:r>
                <a:rPr lang="zh-CN" altLang="en-US" sz="2800" kern="0" dirty="0">
                  <a:solidFill>
                    <a:srgbClr val="000000"/>
                  </a:solidFill>
                  <a:latin typeface="+mj-ea"/>
                  <a:ea typeface="+mj-ea"/>
                  <a:cs typeface="Times New Roman" panose="02020603050405020304" pitchFamily="18" charset="0"/>
                </a:rPr>
                <a:t>如</a:t>
              </a:r>
              <a:r>
                <a:rPr lang="en-US" altLang="en-US" sz="2400" i="1" kern="0" dirty="0">
                  <a:solidFill>
                    <a:srgbClr val="000000"/>
                  </a:solidFill>
                  <a:latin typeface="Consolas" panose="020B0609020204030204" pitchFamily="49" charset="0"/>
                  <a:ea typeface="宋体"/>
                  <a:cs typeface="Times New Roman" panose="02020603050405020304" pitchFamily="18" charset="0"/>
                </a:rPr>
                <a:t>add $8,</a:t>
              </a:r>
              <a:r>
                <a:rPr lang="zh-CN" altLang="en-US" sz="2400" i="1" kern="0" dirty="0">
                  <a:solidFill>
                    <a:srgbClr val="000000"/>
                  </a:solidFill>
                  <a:latin typeface="Consolas" panose="020B0609020204030204" pitchFamily="49" charset="0"/>
                  <a:ea typeface="宋体"/>
                  <a:cs typeface="Times New Roman" panose="02020603050405020304" pitchFamily="18" charset="0"/>
                </a:rPr>
                <a:t> </a:t>
              </a:r>
              <a:r>
                <a:rPr lang="en-US" altLang="en-US" sz="2400" i="1" kern="0" dirty="0">
                  <a:solidFill>
                    <a:srgbClr val="000000"/>
                  </a:solidFill>
                  <a:latin typeface="Consolas" panose="020B0609020204030204" pitchFamily="49" charset="0"/>
                  <a:ea typeface="宋体"/>
                  <a:cs typeface="Times New Roman" panose="02020603050405020304" pitchFamily="18" charset="0"/>
                </a:rPr>
                <a:t>$9,</a:t>
              </a:r>
              <a:r>
                <a:rPr lang="zh-CN" altLang="en-US" sz="2400" i="1" kern="0" dirty="0">
                  <a:solidFill>
                    <a:srgbClr val="000000"/>
                  </a:solidFill>
                  <a:latin typeface="Consolas" panose="020B0609020204030204" pitchFamily="49" charset="0"/>
                  <a:ea typeface="宋体"/>
                  <a:cs typeface="Times New Roman" panose="02020603050405020304" pitchFamily="18" charset="0"/>
                </a:rPr>
                <a:t> </a:t>
              </a:r>
              <a:r>
                <a:rPr lang="en-US" altLang="en-US" sz="2400" i="1" kern="0" dirty="0">
                  <a:solidFill>
                    <a:srgbClr val="000000"/>
                  </a:solidFill>
                  <a:latin typeface="Consolas" panose="020B0609020204030204" pitchFamily="49" charset="0"/>
                  <a:ea typeface="宋体"/>
                  <a:cs typeface="Times New Roman" panose="02020603050405020304" pitchFamily="18" charset="0"/>
                </a:rPr>
                <a:t>$10</a:t>
              </a:r>
            </a:p>
            <a:p>
              <a:pPr marL="742950" lvl="1" indent="-285750">
                <a:spcBef>
                  <a:spcPct val="20000"/>
                </a:spcBef>
              </a:pPr>
              <a:r>
                <a:rPr lang="en-US" altLang="zh-CN" sz="2400" i="1" kern="0" dirty="0">
                  <a:solidFill>
                    <a:srgbClr val="000000"/>
                  </a:solidFill>
                  <a:latin typeface="Consolas" panose="020B0609020204030204" pitchFamily="49" charset="0"/>
                  <a:ea typeface="宋体"/>
                  <a:cs typeface="Times New Roman" panose="02020603050405020304" pitchFamily="18" charset="0"/>
                </a:rPr>
                <a:t>                             #$8=$9+$10</a:t>
              </a:r>
              <a:endParaRPr lang="en-US" altLang="en-US" sz="2800" i="1" kern="0" dirty="0">
                <a:solidFill>
                  <a:srgbClr val="000000"/>
                </a:solidFill>
                <a:latin typeface="Consolas" panose="020B0609020204030204" pitchFamily="49" charset="0"/>
                <a:ea typeface="宋体"/>
                <a:cs typeface="Times New Roman" panose="02020603050405020304" pitchFamily="18" charset="0"/>
              </a:endParaRPr>
            </a:p>
          </p:txBody>
        </p:sp>
        <p:pic>
          <p:nvPicPr>
            <p:cNvPr id="5" name="Picture 4">
              <a:extLst>
                <a:ext uri="{FF2B5EF4-FFF2-40B4-BE49-F238E27FC236}">
                  <a16:creationId xmlns:a16="http://schemas.microsoft.com/office/drawing/2014/main" id="{FB45B169-1105-41B5-8D05-12BA6AD35FB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917832" y="1490966"/>
              <a:ext cx="7324210" cy="2341346"/>
            </a:xfrm>
            <a:prstGeom prst="rect">
              <a:avLst/>
            </a:prstGeom>
          </p:spPr>
        </p:pic>
        <p:grpSp>
          <p:nvGrpSpPr>
            <p:cNvPr id="9" name="Group 8">
              <a:extLst>
                <a:ext uri="{FF2B5EF4-FFF2-40B4-BE49-F238E27FC236}">
                  <a16:creationId xmlns:a16="http://schemas.microsoft.com/office/drawing/2014/main" id="{BF599545-B81D-42B7-8BA5-01F65E316363}"/>
                </a:ext>
              </a:extLst>
            </p:cNvPr>
            <p:cNvGrpSpPr/>
            <p:nvPr/>
          </p:nvGrpSpPr>
          <p:grpSpPr>
            <a:xfrm>
              <a:off x="1669312" y="3861780"/>
              <a:ext cx="4100469" cy="1375663"/>
              <a:chOff x="1392079" y="3861780"/>
              <a:chExt cx="4563259" cy="1375663"/>
            </a:xfrm>
          </p:grpSpPr>
          <p:sp>
            <p:nvSpPr>
              <p:cNvPr id="76" name="椭圆 75">
                <a:extLst>
                  <a:ext uri="{FF2B5EF4-FFF2-40B4-BE49-F238E27FC236}">
                    <a16:creationId xmlns:a16="http://schemas.microsoft.com/office/drawing/2014/main" id="{14A82D6C-0C41-BE46-887D-0A97328D86A7}"/>
                  </a:ext>
                </a:extLst>
              </p:cNvPr>
              <p:cNvSpPr/>
              <p:nvPr/>
            </p:nvSpPr>
            <p:spPr>
              <a:xfrm>
                <a:off x="5372448" y="3875740"/>
                <a:ext cx="582890" cy="508444"/>
              </a:xfrm>
              <a:prstGeom prst="ellipse">
                <a:avLst/>
              </a:prstGeom>
              <a:no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9" name="椭圆 68">
                <a:extLst>
                  <a:ext uri="{FF2B5EF4-FFF2-40B4-BE49-F238E27FC236}">
                    <a16:creationId xmlns:a16="http://schemas.microsoft.com/office/drawing/2014/main" id="{EB5B48F4-366C-2B47-9FF3-5AA1E66E8BF5}"/>
                  </a:ext>
                </a:extLst>
              </p:cNvPr>
              <p:cNvSpPr/>
              <p:nvPr/>
            </p:nvSpPr>
            <p:spPr>
              <a:xfrm>
                <a:off x="1392079" y="3861780"/>
                <a:ext cx="641179" cy="508444"/>
              </a:xfrm>
              <a:prstGeom prst="ellipse">
                <a:avLst/>
              </a:prstGeom>
              <a:no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0" name="椭圆 69">
                <a:extLst>
                  <a:ext uri="{FF2B5EF4-FFF2-40B4-BE49-F238E27FC236}">
                    <a16:creationId xmlns:a16="http://schemas.microsoft.com/office/drawing/2014/main" id="{E83EB9FD-9D8F-0F44-913F-306EE860D881}"/>
                  </a:ext>
                </a:extLst>
              </p:cNvPr>
              <p:cNvSpPr/>
              <p:nvPr/>
            </p:nvSpPr>
            <p:spPr>
              <a:xfrm>
                <a:off x="4751135" y="4728999"/>
                <a:ext cx="853408" cy="508444"/>
              </a:xfrm>
              <a:prstGeom prst="ellipse">
                <a:avLst/>
              </a:prstGeom>
              <a:no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72" name="直线箭头连接符 71">
                <a:extLst>
                  <a:ext uri="{FF2B5EF4-FFF2-40B4-BE49-F238E27FC236}">
                    <a16:creationId xmlns:a16="http://schemas.microsoft.com/office/drawing/2014/main" id="{C0D669CB-A8A8-B644-95D7-BA6392D01DDB}"/>
                  </a:ext>
                </a:extLst>
              </p:cNvPr>
              <p:cNvCxnSpPr>
                <a:cxnSpLocks/>
                <a:stCxn id="69" idx="5"/>
                <a:endCxn id="70" idx="1"/>
              </p:cNvCxnSpPr>
              <p:nvPr/>
            </p:nvCxnSpPr>
            <p:spPr>
              <a:xfrm>
                <a:off x="1939359" y="4295764"/>
                <a:ext cx="2936755" cy="507695"/>
              </a:xfrm>
              <a:prstGeom prst="straightConnector1">
                <a:avLst/>
              </a:prstGeom>
              <a:ln w="28575">
                <a:solidFill>
                  <a:schemeClr val="accent2">
                    <a:lumMod val="60000"/>
                    <a:lumOff val="4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73" name="直线箭头连接符 72">
                <a:extLst>
                  <a:ext uri="{FF2B5EF4-FFF2-40B4-BE49-F238E27FC236}">
                    <a16:creationId xmlns:a16="http://schemas.microsoft.com/office/drawing/2014/main" id="{08FCCCAB-EA04-194E-8362-AB0199FB1064}"/>
                  </a:ext>
                </a:extLst>
              </p:cNvPr>
              <p:cNvCxnSpPr>
                <a:cxnSpLocks/>
                <a:stCxn id="76" idx="4"/>
                <a:endCxn id="70" idx="7"/>
              </p:cNvCxnSpPr>
              <p:nvPr/>
            </p:nvCxnSpPr>
            <p:spPr>
              <a:xfrm flipH="1">
                <a:off x="5479564" y="4384184"/>
                <a:ext cx="184330" cy="419275"/>
              </a:xfrm>
              <a:prstGeom prst="straightConnector1">
                <a:avLst/>
              </a:prstGeom>
              <a:ln w="28575">
                <a:solidFill>
                  <a:schemeClr val="accent2">
                    <a:lumMod val="60000"/>
                    <a:lumOff val="40000"/>
                  </a:schemeClr>
                </a:solidFill>
                <a:tailEnd type="triangle" w="lg" len="lg"/>
              </a:ln>
            </p:spPr>
            <p:style>
              <a:lnRef idx="1">
                <a:schemeClr val="accent1"/>
              </a:lnRef>
              <a:fillRef idx="0">
                <a:schemeClr val="accent1"/>
              </a:fillRef>
              <a:effectRef idx="0">
                <a:schemeClr val="accent1"/>
              </a:effectRef>
              <a:fontRef idx="minor">
                <a:schemeClr val="tx1"/>
              </a:fontRef>
            </p:style>
          </p:cxnSp>
        </p:grpSp>
      </p:grpSp>
      <p:sp>
        <p:nvSpPr>
          <p:cNvPr id="3" name="Title 4">
            <a:extLst>
              <a:ext uri="{FF2B5EF4-FFF2-40B4-BE49-F238E27FC236}">
                <a16:creationId xmlns:a16="http://schemas.microsoft.com/office/drawing/2014/main" id="{B566167F-070D-532D-DAB1-5E31557B013D}"/>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kumimoji="1" lang="en-US" altLang="zh-CN" dirty="0"/>
              <a:t>MIPS</a:t>
            </a:r>
            <a:r>
              <a:rPr kumimoji="1" lang="zh-CN" altLang="en-US" dirty="0"/>
              <a:t>指令格式：</a:t>
            </a:r>
            <a:r>
              <a:rPr kumimoji="1" lang="en-US" altLang="zh-CN" dirty="0"/>
              <a:t>R</a:t>
            </a:r>
            <a:r>
              <a:rPr kumimoji="1" lang="zh-CN" altLang="en-US" dirty="0"/>
              <a:t>型指令</a:t>
            </a:r>
            <a:endParaRPr lang="en-CN" kern="0" dirty="0"/>
          </a:p>
        </p:txBody>
      </p:sp>
    </p:spTree>
    <p:extLst>
      <p:ext uri="{BB962C8B-B14F-4D97-AF65-F5344CB8AC3E}">
        <p14:creationId xmlns:p14="http://schemas.microsoft.com/office/powerpoint/2010/main" val="8954060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a:extLst>
              <a:ext uri="{FF2B5EF4-FFF2-40B4-BE49-F238E27FC236}">
                <a16:creationId xmlns:a16="http://schemas.microsoft.com/office/drawing/2014/main" id="{68F7FF1C-DC59-5F43-A383-991D51B72C86}"/>
              </a:ext>
            </a:extLst>
          </p:cNvPr>
          <p:cNvSpPr>
            <a:spLocks noGrp="1"/>
          </p:cNvSpPr>
          <p:nvPr>
            <p:ph type="sldNum" sz="quarter" idx="12"/>
          </p:nvPr>
        </p:nvSpPr>
        <p:spPr/>
        <p:txBody>
          <a:bodyPr/>
          <a:lstStyle/>
          <a:p>
            <a:fld id="{14659731-6BD7-46E7-8D3C-2F3AC07E20B1}" type="slidenum">
              <a:rPr lang="en-US" altLang="zh-CN" smtClean="0"/>
              <a:pPr/>
              <a:t>38</a:t>
            </a:fld>
            <a:endParaRPr lang="en-US" altLang="zh-CN"/>
          </a:p>
        </p:txBody>
      </p:sp>
      <p:sp>
        <p:nvSpPr>
          <p:cNvPr id="36" name="Rectangle 3">
            <a:extLst>
              <a:ext uri="{FF2B5EF4-FFF2-40B4-BE49-F238E27FC236}">
                <a16:creationId xmlns:a16="http://schemas.microsoft.com/office/drawing/2014/main" id="{1AF4C294-9B96-4AC7-A8CA-FB8884B6204B}"/>
              </a:ext>
            </a:extLst>
          </p:cNvPr>
          <p:cNvSpPr>
            <a:spLocks noGrp="1" noChangeArrowheads="1"/>
          </p:cNvSpPr>
          <p:nvPr>
            <p:ph idx="4294967295"/>
          </p:nvPr>
        </p:nvSpPr>
        <p:spPr>
          <a:xfrm>
            <a:off x="523059" y="1253331"/>
            <a:ext cx="8229600" cy="5715880"/>
          </a:xfrm>
        </p:spPr>
        <p:txBody>
          <a:bodyPr>
            <a:normAutofit/>
          </a:bodyPr>
          <a:lstStyle/>
          <a:p>
            <a:pPr>
              <a:lnSpc>
                <a:spcPct val="150000"/>
              </a:lnSpc>
            </a:pPr>
            <a:r>
              <a:rPr lang="zh-CN" altLang="en-US" sz="2800" b="1" dirty="0">
                <a:solidFill>
                  <a:srgbClr val="0432FF"/>
                </a:solidFill>
              </a:rPr>
              <a:t>问题</a:t>
            </a:r>
            <a:r>
              <a:rPr lang="en-US" altLang="zh-CN" sz="2800" b="1" dirty="0">
                <a:solidFill>
                  <a:srgbClr val="0432FF"/>
                </a:solidFill>
              </a:rPr>
              <a:t>1</a:t>
            </a:r>
            <a:r>
              <a:rPr lang="zh-CN" altLang="en-US" sz="2800" b="1" dirty="0"/>
              <a:t>：算数</a:t>
            </a:r>
            <a:r>
              <a:rPr lang="en-US" altLang="zh-CN" sz="2800" b="1" dirty="0"/>
              <a:t>&amp;</a:t>
            </a:r>
            <a:r>
              <a:rPr lang="zh-CN" altLang="en-US" sz="2800" b="1" dirty="0"/>
              <a:t>逻辑指令</a:t>
            </a:r>
            <a:r>
              <a:rPr lang="en-US" altLang="zh-CN" sz="2800" b="1" dirty="0"/>
              <a:t>11bit</a:t>
            </a:r>
            <a:r>
              <a:rPr lang="zh-CN" altLang="en-US" sz="2800" b="1" dirty="0"/>
              <a:t>冗余能否利用起来？</a:t>
            </a:r>
            <a:endParaRPr lang="en-US" altLang="zh-CN" sz="2800" b="1" dirty="0">
              <a:solidFill>
                <a:srgbClr val="0432FF"/>
              </a:solidFill>
            </a:endParaRPr>
          </a:p>
          <a:p>
            <a:pPr>
              <a:lnSpc>
                <a:spcPct val="150000"/>
              </a:lnSpc>
            </a:pPr>
            <a:endParaRPr lang="en-US" altLang="zh-CN" sz="2300" dirty="0">
              <a:solidFill>
                <a:srgbClr val="0432FF"/>
              </a:solidFill>
            </a:endParaRPr>
          </a:p>
          <a:p>
            <a:pPr>
              <a:lnSpc>
                <a:spcPct val="150000"/>
              </a:lnSpc>
            </a:pPr>
            <a:endParaRPr lang="en-US" altLang="zh-CN" sz="2300" dirty="0">
              <a:solidFill>
                <a:srgbClr val="0432FF"/>
              </a:solidFill>
            </a:endParaRPr>
          </a:p>
          <a:p>
            <a:pPr>
              <a:lnSpc>
                <a:spcPct val="150000"/>
              </a:lnSpc>
            </a:pPr>
            <a:endParaRPr lang="en-US" altLang="zh-CN" sz="2300" dirty="0">
              <a:solidFill>
                <a:srgbClr val="0432FF"/>
              </a:solidFill>
            </a:endParaRPr>
          </a:p>
          <a:p>
            <a:pPr>
              <a:lnSpc>
                <a:spcPct val="150000"/>
              </a:lnSpc>
            </a:pPr>
            <a:endParaRPr lang="en-US" altLang="zh-CN" sz="2300" dirty="0">
              <a:solidFill>
                <a:srgbClr val="0432FF"/>
              </a:solidFill>
            </a:endParaRPr>
          </a:p>
          <a:p>
            <a:r>
              <a:rPr lang="zh-CN" altLang="en-US" sz="2800" dirty="0"/>
              <a:t>额外</a:t>
            </a:r>
            <a:r>
              <a:rPr lang="en-US" altLang="zh-CN" sz="2800" dirty="0"/>
              <a:t>11bit</a:t>
            </a:r>
            <a:r>
              <a:rPr lang="zh-CN" altLang="en-US" sz="2800" dirty="0"/>
              <a:t>用于移位量</a:t>
            </a:r>
            <a:r>
              <a:rPr lang="en-US" altLang="zh-CN" sz="2800" dirty="0"/>
              <a:t>&amp;</a:t>
            </a:r>
            <a:r>
              <a:rPr lang="zh-CN" altLang="en-US" sz="2800" dirty="0"/>
              <a:t>功能码</a:t>
            </a:r>
            <a:endParaRPr lang="en-US" altLang="zh-CN" sz="2800" dirty="0"/>
          </a:p>
          <a:p>
            <a:pPr lvl="1"/>
            <a:r>
              <a:rPr lang="zh-CN" altLang="en-US" sz="2400" dirty="0"/>
              <a:t>寄存器算术操作只占用一种操作码，指令集可以使用其他操作码支持更多种指令</a:t>
            </a:r>
            <a:endParaRPr lang="en-US" altLang="zh-CN" sz="1900" dirty="0"/>
          </a:p>
        </p:txBody>
      </p:sp>
      <p:grpSp>
        <p:nvGrpSpPr>
          <p:cNvPr id="6" name="组合 5">
            <a:extLst>
              <a:ext uri="{FF2B5EF4-FFF2-40B4-BE49-F238E27FC236}">
                <a16:creationId xmlns:a16="http://schemas.microsoft.com/office/drawing/2014/main" id="{7E682603-BE81-6936-AFFD-765A6EA4A3D4}"/>
              </a:ext>
            </a:extLst>
          </p:cNvPr>
          <p:cNvGrpSpPr/>
          <p:nvPr/>
        </p:nvGrpSpPr>
        <p:grpSpPr>
          <a:xfrm>
            <a:off x="940057" y="2024337"/>
            <a:ext cx="7680884" cy="2341346"/>
            <a:chOff x="917832" y="1616564"/>
            <a:chExt cx="7680884" cy="2341346"/>
          </a:xfrm>
        </p:grpSpPr>
        <p:pic>
          <p:nvPicPr>
            <p:cNvPr id="26" name="Picture 25">
              <a:extLst>
                <a:ext uri="{FF2B5EF4-FFF2-40B4-BE49-F238E27FC236}">
                  <a16:creationId xmlns:a16="http://schemas.microsoft.com/office/drawing/2014/main" id="{C5F568F1-48A2-4C0B-B60F-C1FF3E5D9E7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917832" y="1616564"/>
              <a:ext cx="7324210" cy="2341346"/>
            </a:xfrm>
            <a:prstGeom prst="rect">
              <a:avLst/>
            </a:prstGeom>
          </p:spPr>
        </p:pic>
        <p:sp>
          <p:nvSpPr>
            <p:cNvPr id="2" name="Oval 1">
              <a:extLst>
                <a:ext uri="{FF2B5EF4-FFF2-40B4-BE49-F238E27FC236}">
                  <a16:creationId xmlns:a16="http://schemas.microsoft.com/office/drawing/2014/main" id="{9247DF76-D847-4FB0-BB74-84A563ECC20E}"/>
                </a:ext>
              </a:extLst>
            </p:cNvPr>
            <p:cNvSpPr/>
            <p:nvPr/>
          </p:nvSpPr>
          <p:spPr>
            <a:xfrm>
              <a:off x="5352176" y="1895912"/>
              <a:ext cx="3246540" cy="767593"/>
            </a:xfrm>
            <a:prstGeom prst="ellipse">
              <a:avLst/>
            </a:prstGeom>
            <a:noFill/>
            <a:ln>
              <a:solidFill>
                <a:schemeClr val="accent4">
                  <a:lumMod val="60000"/>
                  <a:lumOff val="40000"/>
                </a:schemeClr>
              </a:solidFill>
            </a:ln>
          </p:spPr>
          <p:style>
            <a:lnRef idx="2">
              <a:schemeClr val="dk1"/>
            </a:lnRef>
            <a:fillRef idx="1">
              <a:schemeClr val="lt1"/>
            </a:fillRef>
            <a:effectRef idx="0">
              <a:schemeClr val="dk1"/>
            </a:effectRef>
            <a:fontRef idx="minor">
              <a:schemeClr val="dk1"/>
            </a:fontRef>
          </p:style>
          <p:txBody>
            <a:bodyPr wrap="square" rtlCol="0" anchor="ctr">
              <a:noAutofit/>
            </a:bodyPr>
            <a:lstStyle/>
            <a:p>
              <a:pPr algn="l"/>
              <a:endParaRPr lang="en-US" sz="1800" dirty="0">
                <a:solidFill>
                  <a:schemeClr val="tx1"/>
                </a:solidFill>
                <a:latin typeface="Arial" panose="020B0604020202020204" pitchFamily="34" charset="0"/>
                <a:cs typeface="Arial" panose="020B0604020202020204" pitchFamily="34" charset="0"/>
              </a:endParaRPr>
            </a:p>
          </p:txBody>
        </p:sp>
      </p:grpSp>
      <p:sp>
        <p:nvSpPr>
          <p:cNvPr id="3" name="Title 4">
            <a:extLst>
              <a:ext uri="{FF2B5EF4-FFF2-40B4-BE49-F238E27FC236}">
                <a16:creationId xmlns:a16="http://schemas.microsoft.com/office/drawing/2014/main" id="{449ED46D-A397-1DB9-9AF3-4B15AE6373E5}"/>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kumimoji="1" lang="zh-CN" altLang="en-US" dirty="0"/>
              <a:t>回顾：指令编码</a:t>
            </a:r>
            <a:endParaRPr lang="en-CN" kern="0" dirty="0"/>
          </a:p>
        </p:txBody>
      </p:sp>
    </p:spTree>
    <p:extLst>
      <p:ext uri="{BB962C8B-B14F-4D97-AF65-F5344CB8AC3E}">
        <p14:creationId xmlns:p14="http://schemas.microsoft.com/office/powerpoint/2010/main" val="20942222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9B52569E-53AC-4A41-8430-F9FD330141FD}"/>
              </a:ext>
            </a:extLst>
          </p:cNvPr>
          <p:cNvSpPr>
            <a:spLocks noGrp="1"/>
          </p:cNvSpPr>
          <p:nvPr>
            <p:ph type="sldNum" sz="quarter" idx="12"/>
          </p:nvPr>
        </p:nvSpPr>
        <p:spPr/>
        <p:txBody>
          <a:bodyPr/>
          <a:lstStyle/>
          <a:p>
            <a:fld id="{14659731-6BD7-46E7-8D3C-2F3AC07E20B1}" type="slidenum">
              <a:rPr lang="en-US" altLang="zh-CN" smtClean="0"/>
              <a:pPr/>
              <a:t>39</a:t>
            </a:fld>
            <a:endParaRPr lang="en-US" altLang="zh-CN"/>
          </a:p>
        </p:txBody>
      </p:sp>
      <p:sp>
        <p:nvSpPr>
          <p:cNvPr id="3" name="内容占位符 2">
            <a:extLst>
              <a:ext uri="{FF2B5EF4-FFF2-40B4-BE49-F238E27FC236}">
                <a16:creationId xmlns:a16="http://schemas.microsoft.com/office/drawing/2014/main" id="{2C756905-E7EA-C34B-B6C7-DAD6E5D1D10C}"/>
              </a:ext>
            </a:extLst>
          </p:cNvPr>
          <p:cNvSpPr>
            <a:spLocks noGrp="1"/>
          </p:cNvSpPr>
          <p:nvPr>
            <p:ph idx="4294967295"/>
          </p:nvPr>
        </p:nvSpPr>
        <p:spPr>
          <a:xfrm>
            <a:off x="457200" y="1397544"/>
            <a:ext cx="7886700" cy="4351338"/>
          </a:xfrm>
        </p:spPr>
        <p:txBody>
          <a:bodyPr/>
          <a:lstStyle/>
          <a:p>
            <a:pPr>
              <a:spcAft>
                <a:spcPts val="600"/>
              </a:spcAft>
            </a:pPr>
            <a:r>
              <a:rPr kumimoji="1" lang="en-US" altLang="zh-CN" dirty="0"/>
              <a:t>I</a:t>
            </a:r>
            <a:r>
              <a:rPr kumimoji="1" lang="zh-CN" altLang="en-US" dirty="0"/>
              <a:t>型指令的字段划分及具体含义如下</a:t>
            </a:r>
            <a:endParaRPr kumimoji="1" lang="en-US" altLang="zh-CN" dirty="0"/>
          </a:p>
          <a:p>
            <a:pPr lvl="1">
              <a:spcAft>
                <a:spcPts val="600"/>
              </a:spcAft>
            </a:pPr>
            <a:r>
              <a:rPr kumimoji="1" lang="en-US" altLang="zh-CN" dirty="0"/>
              <a:t>5bit</a:t>
            </a:r>
            <a:r>
              <a:rPr kumimoji="1" lang="zh-CN" altLang="en-US" dirty="0"/>
              <a:t>表示寄存器</a:t>
            </a:r>
            <a:endParaRPr kumimoji="1" lang="en-US" altLang="zh-CN" dirty="0"/>
          </a:p>
          <a:p>
            <a:pPr lvl="2">
              <a:spcAft>
                <a:spcPts val="600"/>
              </a:spcAft>
            </a:pPr>
            <a:r>
              <a:rPr kumimoji="1" lang="en-US" altLang="zh-CN" dirty="0"/>
              <a:t>rt</a:t>
            </a:r>
            <a:r>
              <a:rPr kumimoji="1" lang="zh-CN" altLang="en-US" dirty="0"/>
              <a:t>作为源操作数或目标寄存器</a:t>
            </a:r>
            <a:endParaRPr kumimoji="1" lang="en-US" altLang="zh-CN" dirty="0"/>
          </a:p>
          <a:p>
            <a:pPr lvl="1">
              <a:spcAft>
                <a:spcPts val="600"/>
              </a:spcAft>
            </a:pPr>
            <a:r>
              <a:rPr kumimoji="1" lang="zh-CN" altLang="en-US" dirty="0"/>
              <a:t>立即数</a:t>
            </a:r>
            <a:endParaRPr kumimoji="1" lang="en-US" altLang="zh-CN" dirty="0"/>
          </a:p>
          <a:p>
            <a:pPr lvl="2">
              <a:spcAft>
                <a:spcPts val="600"/>
              </a:spcAft>
            </a:pPr>
            <a:r>
              <a:rPr kumimoji="1" lang="zh-CN" altLang="en-US" dirty="0"/>
              <a:t>可表示</a:t>
            </a:r>
            <a:r>
              <a:rPr kumimoji="1" lang="en-US" altLang="zh-CN" dirty="0">
                <a:solidFill>
                  <a:srgbClr val="0432FF"/>
                </a:solidFill>
              </a:rPr>
              <a:t>16bit</a:t>
            </a:r>
            <a:r>
              <a:rPr kumimoji="1" lang="zh-CN" altLang="en-US" dirty="0">
                <a:solidFill>
                  <a:srgbClr val="0432FF"/>
                </a:solidFill>
              </a:rPr>
              <a:t>常数</a:t>
            </a:r>
            <a:r>
              <a:rPr kumimoji="1" lang="zh-CN" altLang="en-US" dirty="0"/>
              <a:t>，也可表示</a:t>
            </a:r>
            <a:r>
              <a:rPr kumimoji="1" lang="zh-CN" altLang="en-US" dirty="0">
                <a:solidFill>
                  <a:srgbClr val="0432FF"/>
                </a:solidFill>
              </a:rPr>
              <a:t>地址偏移量</a:t>
            </a:r>
            <a:endParaRPr kumimoji="1" lang="en-US" altLang="zh-CN" dirty="0">
              <a:solidFill>
                <a:srgbClr val="0432FF"/>
              </a:solidFill>
            </a:endParaRPr>
          </a:p>
        </p:txBody>
      </p:sp>
      <p:grpSp>
        <p:nvGrpSpPr>
          <p:cNvPr id="5" name="组合 4">
            <a:extLst>
              <a:ext uri="{FF2B5EF4-FFF2-40B4-BE49-F238E27FC236}">
                <a16:creationId xmlns:a16="http://schemas.microsoft.com/office/drawing/2014/main" id="{5B1DD21B-DE78-784E-8ABF-3376CDD7962F}"/>
              </a:ext>
            </a:extLst>
          </p:cNvPr>
          <p:cNvGrpSpPr/>
          <p:nvPr/>
        </p:nvGrpSpPr>
        <p:grpSpPr>
          <a:xfrm>
            <a:off x="651991" y="4246401"/>
            <a:ext cx="8181030" cy="2503068"/>
            <a:chOff x="429570" y="3879503"/>
            <a:chExt cx="8181030" cy="2503068"/>
          </a:xfrm>
        </p:grpSpPr>
        <p:sp>
          <p:nvSpPr>
            <p:cNvPr id="39" name="Text Box 20">
              <a:extLst>
                <a:ext uri="{FF2B5EF4-FFF2-40B4-BE49-F238E27FC236}">
                  <a16:creationId xmlns:a16="http://schemas.microsoft.com/office/drawing/2014/main" id="{4EE760A0-1BE1-6D4B-8063-7B881F9A41FC}"/>
                </a:ext>
              </a:extLst>
            </p:cNvPr>
            <p:cNvSpPr txBox="1">
              <a:spLocks noChangeArrowheads="1"/>
            </p:cNvSpPr>
            <p:nvPr/>
          </p:nvSpPr>
          <p:spPr bwMode="auto">
            <a:xfrm>
              <a:off x="615495" y="4317503"/>
              <a:ext cx="1277914"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a:r>
                <a:rPr lang="en-US" altLang="en-US" sz="2400">
                  <a:latin typeface="+mn-lt"/>
                  <a:ea typeface="+mj-ea"/>
                </a:rPr>
                <a:t>opcode</a:t>
              </a:r>
              <a:endParaRPr lang="en-US" altLang="en-US" sz="2400">
                <a:solidFill>
                  <a:schemeClr val="accent1"/>
                </a:solidFill>
                <a:latin typeface="+mn-lt"/>
                <a:ea typeface="+mj-ea"/>
              </a:endParaRPr>
            </a:p>
          </p:txBody>
        </p:sp>
        <p:sp>
          <p:nvSpPr>
            <p:cNvPr id="40" name="Text Box 21">
              <a:extLst>
                <a:ext uri="{FF2B5EF4-FFF2-40B4-BE49-F238E27FC236}">
                  <a16:creationId xmlns:a16="http://schemas.microsoft.com/office/drawing/2014/main" id="{42CF5F5D-246C-8347-B613-5557E974E141}"/>
                </a:ext>
              </a:extLst>
            </p:cNvPr>
            <p:cNvSpPr txBox="1">
              <a:spLocks noChangeArrowheads="1"/>
            </p:cNvSpPr>
            <p:nvPr/>
          </p:nvSpPr>
          <p:spPr bwMode="auto">
            <a:xfrm>
              <a:off x="2389433" y="4317503"/>
              <a:ext cx="476412"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a:r>
                <a:rPr lang="en-US" altLang="en-US" sz="2400" err="1">
                  <a:latin typeface="+mn-lt"/>
                  <a:ea typeface="+mj-ea"/>
                </a:rPr>
                <a:t>rs</a:t>
              </a:r>
              <a:endParaRPr lang="en-US" altLang="en-US" sz="2400">
                <a:solidFill>
                  <a:schemeClr val="accent1"/>
                </a:solidFill>
                <a:latin typeface="+mn-lt"/>
                <a:ea typeface="+mj-ea"/>
              </a:endParaRPr>
            </a:p>
          </p:txBody>
        </p:sp>
        <p:sp>
          <p:nvSpPr>
            <p:cNvPr id="41" name="Text Box 22">
              <a:extLst>
                <a:ext uri="{FF2B5EF4-FFF2-40B4-BE49-F238E27FC236}">
                  <a16:creationId xmlns:a16="http://schemas.microsoft.com/office/drawing/2014/main" id="{7EEEAEBF-6034-B64F-B873-AAE960702744}"/>
                </a:ext>
              </a:extLst>
            </p:cNvPr>
            <p:cNvSpPr txBox="1">
              <a:spLocks noChangeArrowheads="1"/>
            </p:cNvSpPr>
            <p:nvPr/>
          </p:nvSpPr>
          <p:spPr bwMode="auto">
            <a:xfrm>
              <a:off x="3692310" y="4317503"/>
              <a:ext cx="407484"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a:r>
                <a:rPr lang="en-US" altLang="en-US" sz="2400">
                  <a:latin typeface="+mn-lt"/>
                  <a:ea typeface="+mj-ea"/>
                </a:rPr>
                <a:t>rt</a:t>
              </a:r>
              <a:endParaRPr lang="en-US" altLang="en-US" sz="2400">
                <a:solidFill>
                  <a:schemeClr val="accent1"/>
                </a:solidFill>
                <a:latin typeface="+mn-lt"/>
                <a:ea typeface="+mj-ea"/>
              </a:endParaRPr>
            </a:p>
          </p:txBody>
        </p:sp>
        <p:sp>
          <p:nvSpPr>
            <p:cNvPr id="42" name="Text Box 24">
              <a:extLst>
                <a:ext uri="{FF2B5EF4-FFF2-40B4-BE49-F238E27FC236}">
                  <a16:creationId xmlns:a16="http://schemas.microsoft.com/office/drawing/2014/main" id="{EC9B860F-AF00-394C-85D9-9EC56FD8F0BD}"/>
                </a:ext>
              </a:extLst>
            </p:cNvPr>
            <p:cNvSpPr txBox="1">
              <a:spLocks noChangeArrowheads="1"/>
            </p:cNvSpPr>
            <p:nvPr/>
          </p:nvSpPr>
          <p:spPr bwMode="auto">
            <a:xfrm>
              <a:off x="6147775" y="4317503"/>
              <a:ext cx="817853"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a:r>
                <a:rPr lang="en-US" altLang="zh-CN" sz="2400" err="1">
                  <a:latin typeface="+mn-lt"/>
                  <a:ea typeface="+mj-ea"/>
                </a:rPr>
                <a:t>Imm</a:t>
              </a:r>
              <a:endParaRPr lang="en-US" altLang="zh-CN" sz="2400">
                <a:solidFill>
                  <a:schemeClr val="accent1"/>
                </a:solidFill>
                <a:latin typeface="+mn-lt"/>
                <a:ea typeface="+mj-ea"/>
              </a:endParaRPr>
            </a:p>
          </p:txBody>
        </p:sp>
        <p:sp>
          <p:nvSpPr>
            <p:cNvPr id="43" name="Rectangle 26">
              <a:extLst>
                <a:ext uri="{FF2B5EF4-FFF2-40B4-BE49-F238E27FC236}">
                  <a16:creationId xmlns:a16="http://schemas.microsoft.com/office/drawing/2014/main" id="{ED583640-C2CD-984B-8053-BB1B24C6CAA9}"/>
                </a:ext>
              </a:extLst>
            </p:cNvPr>
            <p:cNvSpPr>
              <a:spLocks noChangeArrowheads="1"/>
            </p:cNvSpPr>
            <p:nvPr/>
          </p:nvSpPr>
          <p:spPr bwMode="auto">
            <a:xfrm>
              <a:off x="457200" y="4343400"/>
              <a:ext cx="8153400" cy="457200"/>
            </a:xfrm>
            <a:prstGeom prst="rect">
              <a:avLst/>
            </a:prstGeom>
            <a:noFill/>
            <a:ln w="381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endParaRPr lang="zh-CN" altLang="en-US" b="1">
                <a:latin typeface="+mn-lt"/>
              </a:endParaRPr>
            </a:p>
          </p:txBody>
        </p:sp>
        <p:sp>
          <p:nvSpPr>
            <p:cNvPr id="44" name="Line 27">
              <a:extLst>
                <a:ext uri="{FF2B5EF4-FFF2-40B4-BE49-F238E27FC236}">
                  <a16:creationId xmlns:a16="http://schemas.microsoft.com/office/drawing/2014/main" id="{B8B8F63A-D96B-824B-A32A-C369372501F9}"/>
                </a:ext>
              </a:extLst>
            </p:cNvPr>
            <p:cNvSpPr>
              <a:spLocks noChangeShapeType="1"/>
            </p:cNvSpPr>
            <p:nvPr/>
          </p:nvSpPr>
          <p:spPr bwMode="auto">
            <a:xfrm>
              <a:off x="1981200" y="4343400"/>
              <a:ext cx="0" cy="45720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endParaRPr lang="zh-CN" altLang="en-US" b="1">
                <a:latin typeface="+mn-lt"/>
              </a:endParaRPr>
            </a:p>
          </p:txBody>
        </p:sp>
        <p:sp>
          <p:nvSpPr>
            <p:cNvPr id="45" name="Line 28">
              <a:extLst>
                <a:ext uri="{FF2B5EF4-FFF2-40B4-BE49-F238E27FC236}">
                  <a16:creationId xmlns:a16="http://schemas.microsoft.com/office/drawing/2014/main" id="{2CCCE4E0-D187-5843-B5E5-C07F94279AC4}"/>
                </a:ext>
              </a:extLst>
            </p:cNvPr>
            <p:cNvSpPr>
              <a:spLocks noChangeShapeType="1"/>
            </p:cNvSpPr>
            <p:nvPr/>
          </p:nvSpPr>
          <p:spPr bwMode="auto">
            <a:xfrm>
              <a:off x="3276600" y="4343400"/>
              <a:ext cx="0" cy="45720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endParaRPr lang="zh-CN" altLang="en-US" b="1">
                <a:latin typeface="+mn-lt"/>
              </a:endParaRPr>
            </a:p>
          </p:txBody>
        </p:sp>
        <p:sp>
          <p:nvSpPr>
            <p:cNvPr id="46" name="Line 29">
              <a:extLst>
                <a:ext uri="{FF2B5EF4-FFF2-40B4-BE49-F238E27FC236}">
                  <a16:creationId xmlns:a16="http://schemas.microsoft.com/office/drawing/2014/main" id="{8C4B4700-BAE8-934D-9DBA-131EBBCB23B0}"/>
                </a:ext>
              </a:extLst>
            </p:cNvPr>
            <p:cNvSpPr>
              <a:spLocks noChangeShapeType="1"/>
            </p:cNvSpPr>
            <p:nvPr/>
          </p:nvSpPr>
          <p:spPr bwMode="auto">
            <a:xfrm>
              <a:off x="4495800" y="4343400"/>
              <a:ext cx="0" cy="45720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endParaRPr lang="zh-CN" altLang="en-US" b="1">
                <a:latin typeface="+mn-lt"/>
              </a:endParaRPr>
            </a:p>
          </p:txBody>
        </p:sp>
        <p:sp>
          <p:nvSpPr>
            <p:cNvPr id="47" name="Text Box 33">
              <a:extLst>
                <a:ext uri="{FF2B5EF4-FFF2-40B4-BE49-F238E27FC236}">
                  <a16:creationId xmlns:a16="http://schemas.microsoft.com/office/drawing/2014/main" id="{99A4768D-66CA-B842-B56C-09D01AA4AA4F}"/>
                </a:ext>
              </a:extLst>
            </p:cNvPr>
            <p:cNvSpPr txBox="1">
              <a:spLocks noChangeArrowheads="1"/>
            </p:cNvSpPr>
            <p:nvPr/>
          </p:nvSpPr>
          <p:spPr bwMode="auto">
            <a:xfrm>
              <a:off x="684213" y="5148263"/>
              <a:ext cx="1296987" cy="462307"/>
            </a:xfrm>
            <a:prstGeom prst="rect">
              <a:avLst/>
            </a:prstGeom>
            <a:solidFill>
              <a:srgbClr val="FFCCFF"/>
            </a:solidFill>
            <a:ln>
              <a:noFill/>
            </a:ln>
            <a:effectLst/>
            <a:extLs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92075" tIns="46038" rIns="92075" bIns="46038">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eaLnBrk="1" hangingPunct="1">
                <a:spcBef>
                  <a:spcPct val="50000"/>
                </a:spcBef>
              </a:pPr>
              <a:r>
                <a:rPr lang="zh-CN" altLang="en-US" sz="2400">
                  <a:latin typeface="+mn-lt"/>
                  <a:ea typeface="+mj-ea"/>
                </a:rPr>
                <a:t>操作码</a:t>
              </a:r>
            </a:p>
          </p:txBody>
        </p:sp>
        <p:sp>
          <p:nvSpPr>
            <p:cNvPr id="48" name="Text Box 34">
              <a:extLst>
                <a:ext uri="{FF2B5EF4-FFF2-40B4-BE49-F238E27FC236}">
                  <a16:creationId xmlns:a16="http://schemas.microsoft.com/office/drawing/2014/main" id="{8DF9C70C-0EA4-504C-B5F6-0166B48B19CB}"/>
                </a:ext>
              </a:extLst>
            </p:cNvPr>
            <p:cNvSpPr txBox="1">
              <a:spLocks noChangeArrowheads="1"/>
            </p:cNvSpPr>
            <p:nvPr/>
          </p:nvSpPr>
          <p:spPr bwMode="auto">
            <a:xfrm>
              <a:off x="2051050" y="5148263"/>
              <a:ext cx="1296988" cy="1200971"/>
            </a:xfrm>
            <a:prstGeom prst="rect">
              <a:avLst/>
            </a:prstGeom>
            <a:solidFill>
              <a:srgbClr val="CCFFFF"/>
            </a:solidFill>
            <a:ln>
              <a:noFill/>
            </a:ln>
            <a:effectLst/>
            <a:extLs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92075" tIns="46038" rIns="92075" bIns="46038">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eaLnBrk="1" hangingPunct="1">
                <a:spcBef>
                  <a:spcPct val="50000"/>
                </a:spcBef>
              </a:pPr>
              <a:r>
                <a:rPr lang="zh-CN" altLang="en-US" sz="2400">
                  <a:latin typeface="+mn-lt"/>
                  <a:ea typeface="+mj-ea"/>
                </a:rPr>
                <a:t>第</a:t>
              </a:r>
              <a:r>
                <a:rPr lang="en-US" altLang="zh-CN" sz="2400">
                  <a:latin typeface="+mn-lt"/>
                  <a:ea typeface="+mj-ea"/>
                </a:rPr>
                <a:t>1</a:t>
              </a:r>
              <a:r>
                <a:rPr lang="zh-CN" altLang="en-US" sz="2400">
                  <a:latin typeface="+mn-lt"/>
                  <a:ea typeface="+mj-ea"/>
                </a:rPr>
                <a:t>个源操作数寄存器</a:t>
              </a:r>
            </a:p>
          </p:txBody>
        </p:sp>
        <p:sp>
          <p:nvSpPr>
            <p:cNvPr id="49" name="Text Box 36">
              <a:extLst>
                <a:ext uri="{FF2B5EF4-FFF2-40B4-BE49-F238E27FC236}">
                  <a16:creationId xmlns:a16="http://schemas.microsoft.com/office/drawing/2014/main" id="{E8A35D4E-EE96-6441-89CB-5A2C09798ABB}"/>
                </a:ext>
              </a:extLst>
            </p:cNvPr>
            <p:cNvSpPr txBox="1">
              <a:spLocks noChangeArrowheads="1"/>
            </p:cNvSpPr>
            <p:nvPr/>
          </p:nvSpPr>
          <p:spPr bwMode="auto">
            <a:xfrm>
              <a:off x="3429000" y="5181600"/>
              <a:ext cx="2374474" cy="1200971"/>
            </a:xfrm>
            <a:prstGeom prst="rect">
              <a:avLst/>
            </a:prstGeom>
            <a:solidFill>
              <a:srgbClr val="99FF66"/>
            </a:solidFill>
            <a:ln>
              <a:noFill/>
            </a:ln>
            <a:effectLst/>
            <a:extLs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lIns="92075" tIns="46038" rIns="92075" bIns="46038">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eaLnBrk="1" hangingPunct="1">
                <a:spcBef>
                  <a:spcPct val="50000"/>
                </a:spcBef>
              </a:pPr>
              <a:r>
                <a:rPr lang="zh-CN" altLang="en-US" sz="2400" dirty="0">
                  <a:latin typeface="+mn-lt"/>
                  <a:ea typeface="+mj-ea"/>
                </a:rPr>
                <a:t>目标寄存器</a:t>
              </a:r>
              <a:r>
                <a:rPr lang="en-US" altLang="zh-CN" sz="2400" dirty="0">
                  <a:latin typeface="+mn-lt"/>
                  <a:ea typeface="+mj-ea"/>
                </a:rPr>
                <a:t>(</a:t>
              </a:r>
              <a:r>
                <a:rPr lang="zh-CN" altLang="en-US" sz="2400" dirty="0">
                  <a:latin typeface="+mn-lt"/>
                  <a:ea typeface="+mj-ea"/>
                </a:rPr>
                <a:t>放结果</a:t>
              </a:r>
              <a:r>
                <a:rPr lang="en-US" altLang="zh-CN" sz="2400" dirty="0">
                  <a:latin typeface="+mn-lt"/>
                  <a:ea typeface="+mj-ea"/>
                </a:rPr>
                <a:t>)</a:t>
              </a:r>
              <a:r>
                <a:rPr lang="zh-CN" altLang="en-US" sz="2400" dirty="0">
                  <a:latin typeface="+mn-lt"/>
                  <a:ea typeface="+mj-ea"/>
                </a:rPr>
                <a:t>或者第</a:t>
              </a:r>
              <a:r>
                <a:rPr lang="zh-CN" altLang="zh-CN" sz="2400" dirty="0">
                  <a:latin typeface="+mn-lt"/>
                  <a:ea typeface="+mj-ea"/>
                </a:rPr>
                <a:t>2</a:t>
              </a:r>
              <a:r>
                <a:rPr lang="zh-CN" altLang="en-US" sz="2400" dirty="0">
                  <a:latin typeface="+mn-lt"/>
                  <a:ea typeface="+mj-ea"/>
                </a:rPr>
                <a:t>个源操作数寄存器</a:t>
              </a:r>
            </a:p>
          </p:txBody>
        </p:sp>
        <p:sp>
          <p:nvSpPr>
            <p:cNvPr id="50" name="Text Box 37">
              <a:extLst>
                <a:ext uri="{FF2B5EF4-FFF2-40B4-BE49-F238E27FC236}">
                  <a16:creationId xmlns:a16="http://schemas.microsoft.com/office/drawing/2014/main" id="{3C08A51B-5AA2-CE4C-9A4E-8578048F4A24}"/>
                </a:ext>
              </a:extLst>
            </p:cNvPr>
            <p:cNvSpPr txBox="1">
              <a:spLocks noChangeArrowheads="1"/>
            </p:cNvSpPr>
            <p:nvPr/>
          </p:nvSpPr>
          <p:spPr bwMode="auto">
            <a:xfrm>
              <a:off x="5940425" y="5148263"/>
              <a:ext cx="1222375" cy="462307"/>
            </a:xfrm>
            <a:prstGeom prst="rect">
              <a:avLst/>
            </a:prstGeom>
            <a:solidFill>
              <a:srgbClr val="FFCC99"/>
            </a:solidFill>
            <a:ln>
              <a:noFill/>
            </a:ln>
            <a:effectLst/>
            <a:extLs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92075" tIns="46038" rIns="92075" bIns="46038">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eaLnBrk="1" hangingPunct="1">
                <a:spcBef>
                  <a:spcPct val="50000"/>
                </a:spcBef>
              </a:pPr>
              <a:r>
                <a:rPr lang="zh-CN" altLang="en-US" sz="2400">
                  <a:latin typeface="+mn-lt"/>
                  <a:ea typeface="+mj-ea"/>
                </a:rPr>
                <a:t>立即数</a:t>
              </a:r>
              <a:endParaRPr lang="en-US" altLang="zh-CN" sz="2400">
                <a:latin typeface="+mn-lt"/>
                <a:ea typeface="+mj-ea"/>
              </a:endParaRPr>
            </a:p>
          </p:txBody>
        </p:sp>
        <p:sp>
          <p:nvSpPr>
            <p:cNvPr id="51" name="Line 39">
              <a:extLst>
                <a:ext uri="{FF2B5EF4-FFF2-40B4-BE49-F238E27FC236}">
                  <a16:creationId xmlns:a16="http://schemas.microsoft.com/office/drawing/2014/main" id="{0A4D3A31-63C5-4645-B1C7-97B01A73BB6E}"/>
                </a:ext>
              </a:extLst>
            </p:cNvPr>
            <p:cNvSpPr>
              <a:spLocks noChangeShapeType="1"/>
            </p:cNvSpPr>
            <p:nvPr/>
          </p:nvSpPr>
          <p:spPr bwMode="auto">
            <a:xfrm>
              <a:off x="1219200" y="4800600"/>
              <a:ext cx="0" cy="3048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endParaRPr lang="zh-CN" altLang="en-US" b="1">
                <a:latin typeface="+mn-lt"/>
              </a:endParaRPr>
            </a:p>
          </p:txBody>
        </p:sp>
        <p:sp>
          <p:nvSpPr>
            <p:cNvPr id="52" name="Line 40">
              <a:extLst>
                <a:ext uri="{FF2B5EF4-FFF2-40B4-BE49-F238E27FC236}">
                  <a16:creationId xmlns:a16="http://schemas.microsoft.com/office/drawing/2014/main" id="{0E029649-6260-394B-B225-E3354F2BB16D}"/>
                </a:ext>
              </a:extLst>
            </p:cNvPr>
            <p:cNvSpPr>
              <a:spLocks noChangeShapeType="1"/>
            </p:cNvSpPr>
            <p:nvPr/>
          </p:nvSpPr>
          <p:spPr bwMode="auto">
            <a:xfrm>
              <a:off x="2590800" y="4800600"/>
              <a:ext cx="0" cy="3048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endParaRPr lang="zh-CN" altLang="en-US" b="1">
                <a:latin typeface="+mn-lt"/>
              </a:endParaRPr>
            </a:p>
          </p:txBody>
        </p:sp>
        <p:sp>
          <p:nvSpPr>
            <p:cNvPr id="53" name="Line 41">
              <a:extLst>
                <a:ext uri="{FF2B5EF4-FFF2-40B4-BE49-F238E27FC236}">
                  <a16:creationId xmlns:a16="http://schemas.microsoft.com/office/drawing/2014/main" id="{C98A5CD7-8D92-1C4E-972D-B085D1C08F05}"/>
                </a:ext>
              </a:extLst>
            </p:cNvPr>
            <p:cNvSpPr>
              <a:spLocks noChangeShapeType="1"/>
            </p:cNvSpPr>
            <p:nvPr/>
          </p:nvSpPr>
          <p:spPr bwMode="auto">
            <a:xfrm>
              <a:off x="3962400" y="4800600"/>
              <a:ext cx="0" cy="3048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endParaRPr lang="zh-CN" altLang="en-US" b="1">
                <a:latin typeface="+mn-lt"/>
              </a:endParaRPr>
            </a:p>
          </p:txBody>
        </p:sp>
        <p:sp>
          <p:nvSpPr>
            <p:cNvPr id="54" name="Line 43">
              <a:extLst>
                <a:ext uri="{FF2B5EF4-FFF2-40B4-BE49-F238E27FC236}">
                  <a16:creationId xmlns:a16="http://schemas.microsoft.com/office/drawing/2014/main" id="{703C79AB-FB6E-1B41-9FBD-0721D940F76F}"/>
                </a:ext>
              </a:extLst>
            </p:cNvPr>
            <p:cNvSpPr>
              <a:spLocks noChangeShapeType="1"/>
            </p:cNvSpPr>
            <p:nvPr/>
          </p:nvSpPr>
          <p:spPr bwMode="auto">
            <a:xfrm>
              <a:off x="6477000" y="4800600"/>
              <a:ext cx="0" cy="3048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endParaRPr lang="zh-CN" altLang="en-US" b="1">
                <a:latin typeface="+mn-lt"/>
              </a:endParaRPr>
            </a:p>
          </p:txBody>
        </p:sp>
        <p:sp>
          <p:nvSpPr>
            <p:cNvPr id="55" name="文本框 54">
              <a:extLst>
                <a:ext uri="{FF2B5EF4-FFF2-40B4-BE49-F238E27FC236}">
                  <a16:creationId xmlns:a16="http://schemas.microsoft.com/office/drawing/2014/main" id="{A7E523F7-7EA3-8B4B-A511-2D45FB9C1127}"/>
                </a:ext>
              </a:extLst>
            </p:cNvPr>
            <p:cNvSpPr txBox="1"/>
            <p:nvPr/>
          </p:nvSpPr>
          <p:spPr>
            <a:xfrm>
              <a:off x="429570" y="3879503"/>
              <a:ext cx="1711132" cy="461665"/>
            </a:xfrm>
            <a:prstGeom prst="rect">
              <a:avLst/>
            </a:prstGeom>
            <a:noFill/>
          </p:spPr>
          <p:txBody>
            <a:bodyPr wrap="square" rtlCol="0">
              <a:spAutoFit/>
            </a:bodyPr>
            <a:lstStyle/>
            <a:p>
              <a:pPr algn="ctr"/>
              <a:r>
                <a:rPr kumimoji="1" lang="en-US" altLang="zh-CN" sz="2400" b="1" dirty="0">
                  <a:latin typeface="+mn-lt"/>
                  <a:ea typeface="+mj-ea"/>
                </a:rPr>
                <a:t>6bit</a:t>
              </a:r>
              <a:endParaRPr kumimoji="1" lang="zh-CN" altLang="en-US" sz="2400" b="1" dirty="0">
                <a:latin typeface="+mn-lt"/>
                <a:ea typeface="+mj-ea"/>
              </a:endParaRPr>
            </a:p>
          </p:txBody>
        </p:sp>
        <p:sp>
          <p:nvSpPr>
            <p:cNvPr id="56" name="文本框 55">
              <a:extLst>
                <a:ext uri="{FF2B5EF4-FFF2-40B4-BE49-F238E27FC236}">
                  <a16:creationId xmlns:a16="http://schemas.microsoft.com/office/drawing/2014/main" id="{5402E1EB-2465-CD4A-85F2-919A7F757BF4}"/>
                </a:ext>
              </a:extLst>
            </p:cNvPr>
            <p:cNvSpPr txBox="1"/>
            <p:nvPr/>
          </p:nvSpPr>
          <p:spPr>
            <a:xfrm>
              <a:off x="1727773" y="3879503"/>
              <a:ext cx="1711132" cy="461665"/>
            </a:xfrm>
            <a:prstGeom prst="rect">
              <a:avLst/>
            </a:prstGeom>
            <a:noFill/>
          </p:spPr>
          <p:txBody>
            <a:bodyPr wrap="square" rtlCol="0">
              <a:spAutoFit/>
            </a:bodyPr>
            <a:lstStyle/>
            <a:p>
              <a:pPr algn="ctr"/>
              <a:r>
                <a:rPr kumimoji="1" lang="en-US" altLang="zh-CN" sz="2400" b="1">
                  <a:latin typeface="+mn-lt"/>
                  <a:ea typeface="+mj-ea"/>
                </a:rPr>
                <a:t>5bit</a:t>
              </a:r>
              <a:endParaRPr kumimoji="1" lang="zh-CN" altLang="en-US" sz="2400" b="1">
                <a:latin typeface="+mn-lt"/>
                <a:ea typeface="+mj-ea"/>
              </a:endParaRPr>
            </a:p>
          </p:txBody>
        </p:sp>
        <p:sp>
          <p:nvSpPr>
            <p:cNvPr id="57" name="文本框 56">
              <a:extLst>
                <a:ext uri="{FF2B5EF4-FFF2-40B4-BE49-F238E27FC236}">
                  <a16:creationId xmlns:a16="http://schemas.microsoft.com/office/drawing/2014/main" id="{C70CA679-0B71-754C-8B73-AB0C11DD0655}"/>
                </a:ext>
              </a:extLst>
            </p:cNvPr>
            <p:cNvSpPr txBox="1"/>
            <p:nvPr/>
          </p:nvSpPr>
          <p:spPr>
            <a:xfrm>
              <a:off x="3049787" y="3879503"/>
              <a:ext cx="1711132" cy="461665"/>
            </a:xfrm>
            <a:prstGeom prst="rect">
              <a:avLst/>
            </a:prstGeom>
            <a:noFill/>
          </p:spPr>
          <p:txBody>
            <a:bodyPr wrap="square" rtlCol="0">
              <a:spAutoFit/>
            </a:bodyPr>
            <a:lstStyle/>
            <a:p>
              <a:pPr algn="ctr"/>
              <a:r>
                <a:rPr kumimoji="1" lang="en-US" altLang="zh-CN" sz="2400" b="1" dirty="0">
                  <a:latin typeface="+mn-lt"/>
                  <a:ea typeface="+mj-ea"/>
                </a:rPr>
                <a:t>5bit</a:t>
              </a:r>
              <a:endParaRPr kumimoji="1" lang="zh-CN" altLang="en-US" sz="2400" b="1" dirty="0">
                <a:latin typeface="+mn-lt"/>
                <a:ea typeface="+mj-ea"/>
              </a:endParaRPr>
            </a:p>
          </p:txBody>
        </p:sp>
        <p:sp>
          <p:nvSpPr>
            <p:cNvPr id="58" name="文本框 57">
              <a:extLst>
                <a:ext uri="{FF2B5EF4-FFF2-40B4-BE49-F238E27FC236}">
                  <a16:creationId xmlns:a16="http://schemas.microsoft.com/office/drawing/2014/main" id="{C84277A6-1597-5346-A5FA-D84E4BD823DC}"/>
                </a:ext>
              </a:extLst>
            </p:cNvPr>
            <p:cNvSpPr txBox="1"/>
            <p:nvPr/>
          </p:nvSpPr>
          <p:spPr>
            <a:xfrm>
              <a:off x="5670004" y="3879503"/>
              <a:ext cx="1711132" cy="461665"/>
            </a:xfrm>
            <a:prstGeom prst="rect">
              <a:avLst/>
            </a:prstGeom>
            <a:noFill/>
          </p:spPr>
          <p:txBody>
            <a:bodyPr wrap="square" rtlCol="0">
              <a:spAutoFit/>
            </a:bodyPr>
            <a:lstStyle/>
            <a:p>
              <a:pPr algn="ctr"/>
              <a:r>
                <a:rPr kumimoji="1" lang="en-US" altLang="zh-CN" sz="2400" b="1">
                  <a:solidFill>
                    <a:srgbClr val="0432FF"/>
                  </a:solidFill>
                  <a:latin typeface="+mn-lt"/>
                  <a:ea typeface="+mj-ea"/>
                </a:rPr>
                <a:t>16bit</a:t>
              </a:r>
              <a:endParaRPr kumimoji="1" lang="zh-CN" altLang="en-US" sz="2400" b="1">
                <a:solidFill>
                  <a:srgbClr val="0432FF"/>
                </a:solidFill>
                <a:latin typeface="+mn-lt"/>
                <a:ea typeface="+mj-ea"/>
              </a:endParaRPr>
            </a:p>
          </p:txBody>
        </p:sp>
      </p:grpSp>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5B70DD0A-A3DB-5D47-BC05-2D330A19C27E}"/>
                  </a:ext>
                </a:extLst>
              </p14:cNvPr>
              <p14:cNvContentPartPr/>
              <p14:nvPr/>
            </p14:nvContentPartPr>
            <p14:xfrm>
              <a:off x="7680960" y="1554480"/>
              <a:ext cx="360" cy="360"/>
            </p14:xfrm>
          </p:contentPart>
        </mc:Choice>
        <mc:Fallback xmlns="">
          <p:pic>
            <p:nvPicPr>
              <p:cNvPr id="6" name="Ink 5">
                <a:extLst>
                  <a:ext uri="{FF2B5EF4-FFF2-40B4-BE49-F238E27FC236}">
                    <a16:creationId xmlns:a16="http://schemas.microsoft.com/office/drawing/2014/main" id="{5B70DD0A-A3DB-5D47-BC05-2D330A19C27E}"/>
                  </a:ext>
                </a:extLst>
              </p:cNvPr>
              <p:cNvPicPr/>
              <p:nvPr/>
            </p:nvPicPr>
            <p:blipFill>
              <a:blip r:embed="rId4"/>
              <a:stretch>
                <a:fillRect/>
              </a:stretch>
            </p:blipFill>
            <p:spPr>
              <a:xfrm>
                <a:off x="7671600" y="1545120"/>
                <a:ext cx="19080" cy="19080"/>
              </a:xfrm>
              <a:prstGeom prst="rect">
                <a:avLst/>
              </a:prstGeom>
            </p:spPr>
          </p:pic>
        </mc:Fallback>
      </mc:AlternateContent>
      <p:sp>
        <p:nvSpPr>
          <p:cNvPr id="7" name="Title 4">
            <a:extLst>
              <a:ext uri="{FF2B5EF4-FFF2-40B4-BE49-F238E27FC236}">
                <a16:creationId xmlns:a16="http://schemas.microsoft.com/office/drawing/2014/main" id="{AEA74D1A-C8D5-0D93-5AF2-2D663DF601AD}"/>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kumimoji="1" lang="en-US" altLang="zh-CN" dirty="0"/>
              <a:t>MIPS</a:t>
            </a:r>
            <a:r>
              <a:rPr kumimoji="1" lang="zh-CN" altLang="en-US" dirty="0"/>
              <a:t>指令格式：</a:t>
            </a:r>
            <a:r>
              <a:rPr kumimoji="1" lang="en-US" altLang="zh-CN" dirty="0"/>
              <a:t>I</a:t>
            </a:r>
            <a:r>
              <a:rPr kumimoji="1" lang="zh-CN" altLang="en-US" dirty="0"/>
              <a:t>型指令</a:t>
            </a:r>
            <a:endParaRPr lang="en-CN" kern="0" dirty="0"/>
          </a:p>
        </p:txBody>
      </p:sp>
    </p:spTree>
    <p:extLst>
      <p:ext uri="{BB962C8B-B14F-4D97-AF65-F5344CB8AC3E}">
        <p14:creationId xmlns:p14="http://schemas.microsoft.com/office/powerpoint/2010/main" val="23802152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C756905-E7EA-C34B-B6C7-DAD6E5D1D10C}"/>
              </a:ext>
            </a:extLst>
          </p:cNvPr>
          <p:cNvSpPr>
            <a:spLocks noGrp="1"/>
          </p:cNvSpPr>
          <p:nvPr>
            <p:ph idx="4294967295"/>
          </p:nvPr>
        </p:nvSpPr>
        <p:spPr>
          <a:xfrm>
            <a:off x="441754" y="1324318"/>
            <a:ext cx="7886700" cy="4351338"/>
          </a:xfrm>
        </p:spPr>
        <p:txBody>
          <a:bodyPr/>
          <a:lstStyle/>
          <a:p>
            <a:r>
              <a:rPr kumimoji="1" lang="zh-CN" altLang="en-US" sz="2400" dirty="0"/>
              <a:t>例子</a:t>
            </a:r>
            <a:r>
              <a:rPr kumimoji="1" lang="en-US" altLang="zh-CN" sz="2400" dirty="0"/>
              <a:t>1</a:t>
            </a:r>
            <a:r>
              <a:rPr kumimoji="1" lang="zh-CN" altLang="en-US" sz="2400" dirty="0"/>
              <a:t>：</a:t>
            </a:r>
            <a:r>
              <a:rPr kumimoji="1" lang="en-US" altLang="zh-CN" sz="2400" i="1" dirty="0">
                <a:latin typeface="Consolas" panose="020B0609020204030204" pitchFamily="49" charset="0"/>
              </a:rPr>
              <a:t>addi</a:t>
            </a:r>
            <a:r>
              <a:rPr kumimoji="1" lang="en-US" altLang="zh-CN" sz="2400" dirty="0"/>
              <a:t>    A=B+50</a:t>
            </a:r>
            <a:r>
              <a:rPr kumimoji="1" lang="en-US" altLang="zh-CN" sz="2400" baseline="-25000" dirty="0"/>
              <a:t>10</a:t>
            </a:r>
          </a:p>
          <a:p>
            <a:pPr lvl="1"/>
            <a:endParaRPr kumimoji="1" lang="en-US" altLang="zh-CN" sz="2400" dirty="0"/>
          </a:p>
        </p:txBody>
      </p:sp>
      <p:grpSp>
        <p:nvGrpSpPr>
          <p:cNvPr id="6" name="组合 5">
            <a:extLst>
              <a:ext uri="{FF2B5EF4-FFF2-40B4-BE49-F238E27FC236}">
                <a16:creationId xmlns:a16="http://schemas.microsoft.com/office/drawing/2014/main" id="{F3946BA5-EA2F-A8F7-5D13-CE27AFDC334C}"/>
              </a:ext>
            </a:extLst>
          </p:cNvPr>
          <p:cNvGrpSpPr/>
          <p:nvPr/>
        </p:nvGrpSpPr>
        <p:grpSpPr>
          <a:xfrm>
            <a:off x="296726" y="1809823"/>
            <a:ext cx="8730073" cy="4389708"/>
            <a:chOff x="344070" y="1560377"/>
            <a:chExt cx="8730073" cy="4389708"/>
          </a:xfrm>
        </p:grpSpPr>
        <p:sp>
          <p:nvSpPr>
            <p:cNvPr id="39" name="矩形 38">
              <a:extLst>
                <a:ext uri="{FF2B5EF4-FFF2-40B4-BE49-F238E27FC236}">
                  <a16:creationId xmlns:a16="http://schemas.microsoft.com/office/drawing/2014/main" id="{74BD766C-43DE-0A4E-9F45-F986F3FD2532}"/>
                </a:ext>
              </a:extLst>
            </p:cNvPr>
            <p:cNvSpPr/>
            <p:nvPr/>
          </p:nvSpPr>
          <p:spPr>
            <a:xfrm>
              <a:off x="387721" y="3480747"/>
              <a:ext cx="3073277" cy="461665"/>
            </a:xfrm>
            <a:prstGeom prst="rect">
              <a:avLst/>
            </a:prstGeom>
          </p:spPr>
          <p:txBody>
            <a:bodyPr wrap="none">
              <a:spAutoFit/>
            </a:bodyPr>
            <a:lstStyle/>
            <a:p>
              <a:pPr algn="ctr"/>
              <a:r>
                <a:rPr lang="en-US" altLang="zh-CN" sz="2400" b="1" i="1" dirty="0">
                  <a:solidFill>
                    <a:srgbClr val="000000"/>
                  </a:solidFill>
                  <a:latin typeface="Consolas" panose="020B0609020204030204" pitchFamily="49" charset="0"/>
                  <a:cs typeface="Consolas" panose="020B0609020204030204" pitchFamily="49" charset="0"/>
                </a:rPr>
                <a:t>addi</a:t>
              </a:r>
              <a:r>
                <a:rPr lang="zh-CN" altLang="en-US" sz="2400" b="1" i="1" dirty="0">
                  <a:solidFill>
                    <a:srgbClr val="000000"/>
                  </a:solidFill>
                  <a:latin typeface="Consolas" panose="020B0609020204030204" pitchFamily="49" charset="0"/>
                  <a:cs typeface="Consolas" panose="020B0609020204030204" pitchFamily="49" charset="0"/>
                </a:rPr>
                <a:t> </a:t>
              </a:r>
              <a:r>
                <a:rPr lang="en-US" altLang="zh-CN" sz="2400" b="1" i="1" dirty="0">
                  <a:solidFill>
                    <a:srgbClr val="000000"/>
                  </a:solidFill>
                  <a:latin typeface="Consolas" panose="020B0609020204030204" pitchFamily="49" charset="0"/>
                  <a:cs typeface="Consolas" panose="020B0609020204030204" pitchFamily="49" charset="0"/>
                </a:rPr>
                <a:t>$21,</a:t>
              </a:r>
              <a:r>
                <a:rPr lang="zh-CN" altLang="en-US" sz="2400" b="1" i="1" dirty="0">
                  <a:solidFill>
                    <a:srgbClr val="000000"/>
                  </a:solidFill>
                  <a:latin typeface="Consolas" panose="020B0609020204030204" pitchFamily="49" charset="0"/>
                  <a:cs typeface="Consolas" panose="020B0609020204030204" pitchFamily="49" charset="0"/>
                </a:rPr>
                <a:t> </a:t>
              </a:r>
              <a:r>
                <a:rPr lang="en-US" altLang="zh-CN" sz="2400" b="1" i="1" dirty="0">
                  <a:solidFill>
                    <a:srgbClr val="000000"/>
                  </a:solidFill>
                  <a:latin typeface="Consolas" panose="020B0609020204030204" pitchFamily="49" charset="0"/>
                  <a:cs typeface="Consolas" panose="020B0609020204030204" pitchFamily="49" charset="0"/>
                </a:rPr>
                <a:t>$22,</a:t>
              </a:r>
              <a:r>
                <a:rPr lang="zh-CN" altLang="en-US" sz="2400" b="1" i="1" dirty="0">
                  <a:solidFill>
                    <a:srgbClr val="000000"/>
                  </a:solidFill>
                  <a:latin typeface="Consolas" panose="020B0609020204030204" pitchFamily="49" charset="0"/>
                  <a:cs typeface="Consolas" panose="020B0609020204030204" pitchFamily="49" charset="0"/>
                </a:rPr>
                <a:t> </a:t>
              </a:r>
              <a:r>
                <a:rPr lang="en-US" altLang="zh-CN" sz="2400" b="1" i="1" dirty="0">
                  <a:solidFill>
                    <a:srgbClr val="000000"/>
                  </a:solidFill>
                  <a:latin typeface="Consolas" panose="020B0609020204030204" pitchFamily="49" charset="0"/>
                  <a:cs typeface="Consolas" panose="020B0609020204030204" pitchFamily="49" charset="0"/>
                </a:rPr>
                <a:t>50</a:t>
              </a:r>
              <a:endParaRPr lang="zh-CN" altLang="en-US" sz="2400" b="1" i="1" dirty="0">
                <a:solidFill>
                  <a:srgbClr val="000000"/>
                </a:solidFill>
                <a:latin typeface="Consolas" panose="020B0609020204030204" pitchFamily="49" charset="0"/>
                <a:cs typeface="Consolas" panose="020B0609020204030204" pitchFamily="49" charset="0"/>
              </a:endParaRPr>
            </a:p>
          </p:txBody>
        </p:sp>
        <p:sp>
          <p:nvSpPr>
            <p:cNvPr id="110" name="Rectangle 18">
              <a:extLst>
                <a:ext uri="{FF2B5EF4-FFF2-40B4-BE49-F238E27FC236}">
                  <a16:creationId xmlns:a16="http://schemas.microsoft.com/office/drawing/2014/main" id="{6B34C3C0-88B7-4945-878F-5681DAD7D666}"/>
                </a:ext>
              </a:extLst>
            </p:cNvPr>
            <p:cNvSpPr>
              <a:spLocks noChangeArrowheads="1"/>
            </p:cNvSpPr>
            <p:nvPr/>
          </p:nvSpPr>
          <p:spPr bwMode="auto">
            <a:xfrm>
              <a:off x="3356305" y="3495680"/>
              <a:ext cx="4328227" cy="431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lIns="63500" tIns="25400" rIns="63500" bIns="25400">
              <a:spAutoFit/>
            </a:bodyPr>
            <a:lstStyle/>
            <a:p>
              <a:pPr marL="742950" lvl="1" indent="-285750" algn="ctr">
                <a:spcBef>
                  <a:spcPct val="20000"/>
                </a:spcBef>
                <a:buClr>
                  <a:schemeClr val="accent2"/>
                </a:buClr>
                <a:buSzPct val="70000"/>
                <a:buFont typeface="Wingdings" pitchFamily="2" charset="2"/>
                <a:buNone/>
              </a:pPr>
              <a:r>
                <a:rPr lang="en-US" altLang="zh-CN" sz="2500" b="1" dirty="0">
                  <a:solidFill>
                    <a:srgbClr val="0432FF"/>
                  </a:solidFill>
                  <a:latin typeface="+mn-lt"/>
                  <a:ea typeface="+mj-ea"/>
                </a:rPr>
                <a:t>50</a:t>
              </a:r>
              <a:r>
                <a:rPr lang="zh-CN" altLang="en-US" sz="2500" b="1" dirty="0">
                  <a:solidFill>
                    <a:srgbClr val="0432FF"/>
                  </a:solidFill>
                  <a:latin typeface="+mn-lt"/>
                  <a:ea typeface="+mj-ea"/>
                </a:rPr>
                <a:t>需转换为二进制机器码</a:t>
              </a:r>
              <a:endParaRPr lang="en-US" altLang="en-US" sz="2500" b="1" dirty="0">
                <a:solidFill>
                  <a:srgbClr val="0432FF"/>
                </a:solidFill>
                <a:latin typeface="+mn-lt"/>
                <a:ea typeface="+mj-ea"/>
              </a:endParaRPr>
            </a:p>
          </p:txBody>
        </p:sp>
        <p:sp>
          <p:nvSpPr>
            <p:cNvPr id="41" name="文本框 40">
              <a:extLst>
                <a:ext uri="{FF2B5EF4-FFF2-40B4-BE49-F238E27FC236}">
                  <a16:creationId xmlns:a16="http://schemas.microsoft.com/office/drawing/2014/main" id="{1FA160CD-FBCB-D847-BAD1-A9D20D076943}"/>
                </a:ext>
              </a:extLst>
            </p:cNvPr>
            <p:cNvSpPr txBox="1"/>
            <p:nvPr/>
          </p:nvSpPr>
          <p:spPr>
            <a:xfrm>
              <a:off x="344070" y="5143550"/>
              <a:ext cx="2536272" cy="707886"/>
            </a:xfrm>
            <a:prstGeom prst="rect">
              <a:avLst/>
            </a:prstGeom>
            <a:noFill/>
          </p:spPr>
          <p:txBody>
            <a:bodyPr wrap="none" rtlCol="0">
              <a:spAutoFit/>
            </a:bodyPr>
            <a:lstStyle/>
            <a:p>
              <a:pPr algn="ctr"/>
              <a:r>
                <a:rPr kumimoji="1" lang="en-US" altLang="zh-CN" sz="2000" b="1" dirty="0">
                  <a:solidFill>
                    <a:srgbClr val="0432FF"/>
                  </a:solidFill>
                  <a:latin typeface="+mn-lt"/>
                  <a:ea typeface="+mj-ea"/>
                </a:rPr>
                <a:t>opcode</a:t>
              </a:r>
              <a:r>
                <a:rPr kumimoji="1" lang="zh-CN" altLang="en-US" sz="2000" b="1" dirty="0">
                  <a:solidFill>
                    <a:srgbClr val="0432FF"/>
                  </a:solidFill>
                  <a:latin typeface="+mn-lt"/>
                  <a:ea typeface="+mj-ea"/>
                </a:rPr>
                <a:t> </a:t>
              </a:r>
              <a:r>
                <a:rPr kumimoji="1" lang="en-US" altLang="zh-CN" sz="2000" b="1" dirty="0">
                  <a:solidFill>
                    <a:srgbClr val="0432FF"/>
                  </a:solidFill>
                  <a:latin typeface="+mn-lt"/>
                  <a:ea typeface="+mj-ea"/>
                </a:rPr>
                <a:t>=</a:t>
              </a:r>
              <a:r>
                <a:rPr kumimoji="1" lang="zh-CN" altLang="en-US" sz="2000" b="1" dirty="0">
                  <a:solidFill>
                    <a:srgbClr val="0432FF"/>
                  </a:solidFill>
                  <a:latin typeface="+mn-lt"/>
                  <a:ea typeface="+mj-ea"/>
                </a:rPr>
                <a:t> </a:t>
              </a:r>
              <a:r>
                <a:rPr kumimoji="1" lang="en-US" altLang="zh-CN" sz="2000" b="1" dirty="0">
                  <a:solidFill>
                    <a:srgbClr val="0432FF"/>
                  </a:solidFill>
                  <a:latin typeface="+mn-lt"/>
                  <a:ea typeface="+mj-ea"/>
                </a:rPr>
                <a:t>8</a:t>
              </a:r>
              <a:r>
                <a:rPr kumimoji="1" lang="en-US" altLang="zh-CN" sz="2000" b="1" baseline="-25000" dirty="0">
                  <a:solidFill>
                    <a:srgbClr val="0432FF"/>
                  </a:solidFill>
                  <a:latin typeface="+mn-lt"/>
                  <a:ea typeface="+mj-ea"/>
                </a:rPr>
                <a:t>10</a:t>
              </a:r>
            </a:p>
            <a:p>
              <a:pPr algn="ctr"/>
              <a:r>
                <a:rPr kumimoji="1" lang="zh-CN" altLang="en-US" sz="2000" b="1" dirty="0">
                  <a:solidFill>
                    <a:srgbClr val="0432FF"/>
                  </a:solidFill>
                  <a:latin typeface="+mn-lt"/>
                  <a:ea typeface="+mj-ea"/>
                </a:rPr>
                <a:t>指定是立即数加操作</a:t>
              </a:r>
              <a:endParaRPr kumimoji="1" lang="en-US" altLang="zh-CN" sz="2000" b="1" dirty="0">
                <a:solidFill>
                  <a:srgbClr val="0432FF"/>
                </a:solidFill>
                <a:latin typeface="+mn-lt"/>
                <a:ea typeface="+mj-ea"/>
              </a:endParaRPr>
            </a:p>
          </p:txBody>
        </p:sp>
        <p:grpSp>
          <p:nvGrpSpPr>
            <p:cNvPr id="20" name="Group 4">
              <a:extLst>
                <a:ext uri="{FF2B5EF4-FFF2-40B4-BE49-F238E27FC236}">
                  <a16:creationId xmlns:a16="http://schemas.microsoft.com/office/drawing/2014/main" id="{6678F191-2971-8141-A4A2-5F378F6420C2}"/>
                </a:ext>
              </a:extLst>
            </p:cNvPr>
            <p:cNvGrpSpPr>
              <a:grpSpLocks/>
            </p:cNvGrpSpPr>
            <p:nvPr/>
          </p:nvGrpSpPr>
          <p:grpSpPr bwMode="auto">
            <a:xfrm>
              <a:off x="806002" y="4622817"/>
              <a:ext cx="8153401" cy="1204913"/>
              <a:chOff x="503" y="2976"/>
              <a:chExt cx="5136" cy="759"/>
            </a:xfrm>
          </p:grpSpPr>
          <p:grpSp>
            <p:nvGrpSpPr>
              <p:cNvPr id="21" name="Group 5">
                <a:extLst>
                  <a:ext uri="{FF2B5EF4-FFF2-40B4-BE49-F238E27FC236}">
                    <a16:creationId xmlns:a16="http://schemas.microsoft.com/office/drawing/2014/main" id="{74CE3D64-D334-084D-ADB4-F0DE98D579BE}"/>
                  </a:ext>
                </a:extLst>
              </p:cNvPr>
              <p:cNvGrpSpPr>
                <a:grpSpLocks/>
              </p:cNvGrpSpPr>
              <p:nvPr/>
            </p:nvGrpSpPr>
            <p:grpSpPr bwMode="auto">
              <a:xfrm>
                <a:off x="826" y="2976"/>
                <a:ext cx="4320" cy="444"/>
                <a:chOff x="614" y="2352"/>
                <a:chExt cx="4320" cy="444"/>
              </a:xfrm>
            </p:grpSpPr>
            <p:sp>
              <p:nvSpPr>
                <p:cNvPr id="30" name="Text Box 6">
                  <a:extLst>
                    <a:ext uri="{FF2B5EF4-FFF2-40B4-BE49-F238E27FC236}">
                      <a16:creationId xmlns:a16="http://schemas.microsoft.com/office/drawing/2014/main" id="{F75B6A31-CC3D-4341-A02E-A496BBFF27FA}"/>
                    </a:ext>
                  </a:extLst>
                </p:cNvPr>
                <p:cNvSpPr txBox="1">
                  <a:spLocks noChangeArrowheads="1"/>
                </p:cNvSpPr>
                <p:nvPr/>
              </p:nvSpPr>
              <p:spPr bwMode="auto">
                <a:xfrm>
                  <a:off x="614" y="2352"/>
                  <a:ext cx="410" cy="3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a:r>
                    <a:rPr lang="en-US" altLang="en-US" sz="2800" dirty="0">
                      <a:solidFill>
                        <a:srgbClr val="3333FF"/>
                      </a:solidFill>
                      <a:latin typeface="+mn-lt"/>
                    </a:rPr>
                    <a:t>8</a:t>
                  </a:r>
                  <a:r>
                    <a:rPr lang="en-US" altLang="en-US" sz="2800" baseline="-25000" dirty="0">
                      <a:solidFill>
                        <a:srgbClr val="3333FF"/>
                      </a:solidFill>
                      <a:latin typeface="+mn-lt"/>
                    </a:rPr>
                    <a:t>10</a:t>
                  </a:r>
                  <a:endParaRPr lang="en-US" altLang="en-US" sz="2000" baseline="-25000" dirty="0">
                    <a:solidFill>
                      <a:srgbClr val="3333FF"/>
                    </a:solidFill>
                    <a:latin typeface="+mn-lt"/>
                  </a:endParaRPr>
                </a:p>
              </p:txBody>
            </p:sp>
            <p:sp>
              <p:nvSpPr>
                <p:cNvPr id="31" name="Text Box 7">
                  <a:extLst>
                    <a:ext uri="{FF2B5EF4-FFF2-40B4-BE49-F238E27FC236}">
                      <a16:creationId xmlns:a16="http://schemas.microsoft.com/office/drawing/2014/main" id="{36803B1A-72F3-E841-9AD9-2CDD96232592}"/>
                    </a:ext>
                  </a:extLst>
                </p:cNvPr>
                <p:cNvSpPr txBox="1">
                  <a:spLocks noChangeArrowheads="1"/>
                </p:cNvSpPr>
                <p:nvPr/>
              </p:nvSpPr>
              <p:spPr bwMode="auto">
                <a:xfrm>
                  <a:off x="1416" y="2352"/>
                  <a:ext cx="536" cy="3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a:r>
                    <a:rPr lang="en-US" altLang="en-US" sz="2800" dirty="0">
                      <a:latin typeface="+mn-lt"/>
                    </a:rPr>
                    <a:t>22</a:t>
                  </a:r>
                  <a:r>
                    <a:rPr lang="en-US" altLang="en-US" sz="2800" baseline="-25000" dirty="0">
                      <a:latin typeface="+mn-lt"/>
                    </a:rPr>
                    <a:t>10</a:t>
                  </a:r>
                  <a:endParaRPr lang="en-US" altLang="en-US" sz="2000" baseline="-25000" dirty="0">
                    <a:solidFill>
                      <a:schemeClr val="accent1"/>
                    </a:solidFill>
                    <a:latin typeface="+mn-lt"/>
                  </a:endParaRPr>
                </a:p>
              </p:txBody>
            </p:sp>
            <p:sp>
              <p:nvSpPr>
                <p:cNvPr id="33" name="Text Box 8">
                  <a:extLst>
                    <a:ext uri="{FF2B5EF4-FFF2-40B4-BE49-F238E27FC236}">
                      <a16:creationId xmlns:a16="http://schemas.microsoft.com/office/drawing/2014/main" id="{305E2B14-FD4B-5E4E-803A-C3D0854C785C}"/>
                    </a:ext>
                  </a:extLst>
                </p:cNvPr>
                <p:cNvSpPr txBox="1">
                  <a:spLocks noChangeArrowheads="1"/>
                </p:cNvSpPr>
                <p:nvPr/>
              </p:nvSpPr>
              <p:spPr bwMode="auto">
                <a:xfrm>
                  <a:off x="2222" y="2352"/>
                  <a:ext cx="524" cy="3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a:r>
                    <a:rPr lang="en-US" altLang="en-US" sz="2800" dirty="0">
                      <a:solidFill>
                        <a:srgbClr val="3333FF"/>
                      </a:solidFill>
                      <a:latin typeface="+mn-lt"/>
                    </a:rPr>
                    <a:t>21</a:t>
                  </a:r>
                  <a:r>
                    <a:rPr lang="en-US" altLang="en-US" sz="2800" baseline="-25000" dirty="0">
                      <a:solidFill>
                        <a:srgbClr val="3333FF"/>
                      </a:solidFill>
                      <a:latin typeface="+mn-lt"/>
                    </a:rPr>
                    <a:t>10</a:t>
                  </a:r>
                  <a:endParaRPr lang="en-US" altLang="en-US" sz="2000" baseline="-25000" dirty="0">
                    <a:solidFill>
                      <a:srgbClr val="3333FF"/>
                    </a:solidFill>
                    <a:latin typeface="+mn-lt"/>
                  </a:endParaRPr>
                </a:p>
              </p:txBody>
            </p:sp>
            <p:sp>
              <p:nvSpPr>
                <p:cNvPr id="34" name="Text Box 9">
                  <a:extLst>
                    <a:ext uri="{FF2B5EF4-FFF2-40B4-BE49-F238E27FC236}">
                      <a16:creationId xmlns:a16="http://schemas.microsoft.com/office/drawing/2014/main" id="{1932B7F9-86B5-AD48-9FFF-736ABE866768}"/>
                    </a:ext>
                  </a:extLst>
                </p:cNvPr>
                <p:cNvSpPr txBox="1">
                  <a:spLocks noChangeArrowheads="1"/>
                </p:cNvSpPr>
                <p:nvPr/>
              </p:nvSpPr>
              <p:spPr bwMode="auto">
                <a:xfrm>
                  <a:off x="3153" y="2546"/>
                  <a:ext cx="116" cy="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a:endParaRPr lang="en-US" altLang="en-US" sz="2000">
                    <a:solidFill>
                      <a:schemeClr val="accent1"/>
                    </a:solidFill>
                    <a:latin typeface="+mn-lt"/>
                  </a:endParaRPr>
                </a:p>
              </p:txBody>
            </p:sp>
            <p:sp>
              <p:nvSpPr>
                <p:cNvPr id="35" name="Text Box 10">
                  <a:extLst>
                    <a:ext uri="{FF2B5EF4-FFF2-40B4-BE49-F238E27FC236}">
                      <a16:creationId xmlns:a16="http://schemas.microsoft.com/office/drawing/2014/main" id="{B8759358-1E3F-CB41-9338-B8BD3E59E1E0}"/>
                    </a:ext>
                  </a:extLst>
                </p:cNvPr>
                <p:cNvSpPr txBox="1">
                  <a:spLocks noChangeArrowheads="1"/>
                </p:cNvSpPr>
                <p:nvPr/>
              </p:nvSpPr>
              <p:spPr bwMode="auto">
                <a:xfrm>
                  <a:off x="4818" y="2546"/>
                  <a:ext cx="116" cy="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a:endParaRPr lang="en-US" altLang="en-US" sz="2000">
                    <a:solidFill>
                      <a:schemeClr val="accent1"/>
                    </a:solidFill>
                    <a:latin typeface="+mn-lt"/>
                  </a:endParaRPr>
                </a:p>
              </p:txBody>
            </p:sp>
            <p:sp>
              <p:nvSpPr>
                <p:cNvPr id="36" name="Text Box 11">
                  <a:extLst>
                    <a:ext uri="{FF2B5EF4-FFF2-40B4-BE49-F238E27FC236}">
                      <a16:creationId xmlns:a16="http://schemas.microsoft.com/office/drawing/2014/main" id="{10747E2B-81DE-EB4F-B8B2-5F6A015A205E}"/>
                    </a:ext>
                  </a:extLst>
                </p:cNvPr>
                <p:cNvSpPr txBox="1">
                  <a:spLocks noChangeArrowheads="1"/>
                </p:cNvSpPr>
                <p:nvPr/>
              </p:nvSpPr>
              <p:spPr bwMode="auto">
                <a:xfrm>
                  <a:off x="3813" y="2352"/>
                  <a:ext cx="536" cy="3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a:r>
                    <a:rPr lang="en-US" altLang="en-US" sz="2800" dirty="0">
                      <a:latin typeface="+mn-lt"/>
                    </a:rPr>
                    <a:t>50</a:t>
                  </a:r>
                  <a:r>
                    <a:rPr lang="en-US" altLang="en-US" sz="2800" baseline="-25000" dirty="0">
                      <a:latin typeface="+mn-lt"/>
                    </a:rPr>
                    <a:t>10</a:t>
                  </a:r>
                  <a:endParaRPr lang="en-US" altLang="en-US" sz="2000" baseline="-25000" dirty="0">
                    <a:solidFill>
                      <a:schemeClr val="accent1"/>
                    </a:solidFill>
                    <a:latin typeface="+mn-lt"/>
                  </a:endParaRPr>
                </a:p>
              </p:txBody>
            </p:sp>
          </p:grpSp>
          <p:sp>
            <p:nvSpPr>
              <p:cNvPr id="22" name="Rectangle 12">
                <a:extLst>
                  <a:ext uri="{FF2B5EF4-FFF2-40B4-BE49-F238E27FC236}">
                    <a16:creationId xmlns:a16="http://schemas.microsoft.com/office/drawing/2014/main" id="{04B68F6C-CF66-6640-9AAF-CBE5CB481A5E}"/>
                  </a:ext>
                </a:extLst>
              </p:cNvPr>
              <p:cNvSpPr>
                <a:spLocks noChangeArrowheads="1"/>
              </p:cNvSpPr>
              <p:nvPr/>
            </p:nvSpPr>
            <p:spPr bwMode="auto">
              <a:xfrm>
                <a:off x="503" y="3008"/>
                <a:ext cx="5136" cy="288"/>
              </a:xfrm>
              <a:prstGeom prst="rect">
                <a:avLst/>
              </a:prstGeom>
              <a:noFill/>
              <a:ln w="381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endParaRPr lang="zh-CN" altLang="en-US" b="1">
                  <a:latin typeface="+mn-lt"/>
                </a:endParaRPr>
              </a:p>
            </p:txBody>
          </p:sp>
          <p:sp>
            <p:nvSpPr>
              <p:cNvPr id="23" name="Line 13">
                <a:extLst>
                  <a:ext uri="{FF2B5EF4-FFF2-40B4-BE49-F238E27FC236}">
                    <a16:creationId xmlns:a16="http://schemas.microsoft.com/office/drawing/2014/main" id="{01C605FB-87EE-4148-97F4-D5E6F6649837}"/>
                  </a:ext>
                </a:extLst>
              </p:cNvPr>
              <p:cNvSpPr>
                <a:spLocks noChangeShapeType="1"/>
              </p:cNvSpPr>
              <p:nvPr/>
            </p:nvSpPr>
            <p:spPr bwMode="auto">
              <a:xfrm>
                <a:off x="1392" y="3017"/>
                <a:ext cx="0" cy="288"/>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endParaRPr lang="zh-CN" altLang="en-US" b="1">
                  <a:latin typeface="+mn-lt"/>
                </a:endParaRPr>
              </a:p>
            </p:txBody>
          </p:sp>
          <p:sp>
            <p:nvSpPr>
              <p:cNvPr id="24" name="Line 14">
                <a:extLst>
                  <a:ext uri="{FF2B5EF4-FFF2-40B4-BE49-F238E27FC236}">
                    <a16:creationId xmlns:a16="http://schemas.microsoft.com/office/drawing/2014/main" id="{902B9C9B-418D-6F44-A8D6-F5A9E5092C2D}"/>
                  </a:ext>
                </a:extLst>
              </p:cNvPr>
              <p:cNvSpPr>
                <a:spLocks noChangeShapeType="1"/>
              </p:cNvSpPr>
              <p:nvPr/>
            </p:nvSpPr>
            <p:spPr bwMode="auto">
              <a:xfrm>
                <a:off x="2208" y="3017"/>
                <a:ext cx="0" cy="288"/>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endParaRPr lang="zh-CN" altLang="en-US" b="1">
                  <a:latin typeface="+mn-lt"/>
                </a:endParaRPr>
              </a:p>
            </p:txBody>
          </p:sp>
          <p:sp>
            <p:nvSpPr>
              <p:cNvPr id="25" name="Line 15">
                <a:extLst>
                  <a:ext uri="{FF2B5EF4-FFF2-40B4-BE49-F238E27FC236}">
                    <a16:creationId xmlns:a16="http://schemas.microsoft.com/office/drawing/2014/main" id="{B59C2961-7F3F-454F-BBB9-A4A9690F12D3}"/>
                  </a:ext>
                </a:extLst>
              </p:cNvPr>
              <p:cNvSpPr>
                <a:spLocks noChangeShapeType="1"/>
              </p:cNvSpPr>
              <p:nvPr/>
            </p:nvSpPr>
            <p:spPr bwMode="auto">
              <a:xfrm>
                <a:off x="2976" y="3017"/>
                <a:ext cx="0" cy="288"/>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endParaRPr lang="zh-CN" altLang="en-US" b="1">
                  <a:latin typeface="+mn-lt"/>
                </a:endParaRPr>
              </a:p>
            </p:txBody>
          </p:sp>
          <p:sp>
            <p:nvSpPr>
              <p:cNvPr id="26" name="Text Box 16">
                <a:extLst>
                  <a:ext uri="{FF2B5EF4-FFF2-40B4-BE49-F238E27FC236}">
                    <a16:creationId xmlns:a16="http://schemas.microsoft.com/office/drawing/2014/main" id="{D781F768-F816-5D49-83A1-0FCD9660A84F}"/>
                  </a:ext>
                </a:extLst>
              </p:cNvPr>
              <p:cNvSpPr txBox="1">
                <a:spLocks noChangeArrowheads="1"/>
              </p:cNvSpPr>
              <p:nvPr/>
            </p:nvSpPr>
            <p:spPr bwMode="auto">
              <a:xfrm>
                <a:off x="528" y="3408"/>
                <a:ext cx="116" cy="3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a:endParaRPr lang="en-US" altLang="en-US" sz="2800">
                  <a:latin typeface="+mn-lt"/>
                </a:endParaRPr>
              </a:p>
            </p:txBody>
          </p:sp>
          <p:sp>
            <p:nvSpPr>
              <p:cNvPr id="27" name="Text Box 17">
                <a:extLst>
                  <a:ext uri="{FF2B5EF4-FFF2-40B4-BE49-F238E27FC236}">
                    <a16:creationId xmlns:a16="http://schemas.microsoft.com/office/drawing/2014/main" id="{AA9F087E-45C3-CF47-8FFE-CF42CCFAEA15}"/>
                  </a:ext>
                </a:extLst>
              </p:cNvPr>
              <p:cNvSpPr txBox="1">
                <a:spLocks noChangeArrowheads="1"/>
              </p:cNvSpPr>
              <p:nvPr/>
            </p:nvSpPr>
            <p:spPr bwMode="auto">
              <a:xfrm>
                <a:off x="1440" y="3408"/>
                <a:ext cx="116" cy="3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a:endParaRPr lang="en-US" altLang="en-US" sz="2800">
                  <a:latin typeface="+mn-lt"/>
                </a:endParaRPr>
              </a:p>
            </p:txBody>
          </p:sp>
          <p:sp>
            <p:nvSpPr>
              <p:cNvPr id="28" name="Text Box 18">
                <a:extLst>
                  <a:ext uri="{FF2B5EF4-FFF2-40B4-BE49-F238E27FC236}">
                    <a16:creationId xmlns:a16="http://schemas.microsoft.com/office/drawing/2014/main" id="{B5094FBB-FA48-B34D-BD40-935478D23F85}"/>
                  </a:ext>
                </a:extLst>
              </p:cNvPr>
              <p:cNvSpPr txBox="1">
                <a:spLocks noChangeArrowheads="1"/>
              </p:cNvSpPr>
              <p:nvPr/>
            </p:nvSpPr>
            <p:spPr bwMode="auto">
              <a:xfrm>
                <a:off x="2208" y="3408"/>
                <a:ext cx="116" cy="3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a:endParaRPr lang="en-US" altLang="en-US" sz="2800">
                  <a:latin typeface="+mn-lt"/>
                </a:endParaRPr>
              </a:p>
            </p:txBody>
          </p:sp>
          <p:sp>
            <p:nvSpPr>
              <p:cNvPr id="29" name="Text Box 19">
                <a:extLst>
                  <a:ext uri="{FF2B5EF4-FFF2-40B4-BE49-F238E27FC236}">
                    <a16:creationId xmlns:a16="http://schemas.microsoft.com/office/drawing/2014/main" id="{6F780E8C-668D-6B41-A48E-448314D32C48}"/>
                  </a:ext>
                </a:extLst>
              </p:cNvPr>
              <p:cNvSpPr txBox="1">
                <a:spLocks noChangeArrowheads="1"/>
              </p:cNvSpPr>
              <p:nvPr/>
            </p:nvSpPr>
            <p:spPr bwMode="auto">
              <a:xfrm>
                <a:off x="3840" y="3408"/>
                <a:ext cx="116" cy="3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a:endParaRPr lang="en-US" altLang="en-US" sz="2800">
                  <a:latin typeface="+mn-lt"/>
                </a:endParaRPr>
              </a:p>
            </p:txBody>
          </p:sp>
        </p:grpSp>
        <p:sp>
          <p:nvSpPr>
            <p:cNvPr id="37" name="文本框 36">
              <a:extLst>
                <a:ext uri="{FF2B5EF4-FFF2-40B4-BE49-F238E27FC236}">
                  <a16:creationId xmlns:a16="http://schemas.microsoft.com/office/drawing/2014/main" id="{E3C4AF6C-BE06-0D4D-8673-0CC9734074E2}"/>
                </a:ext>
              </a:extLst>
            </p:cNvPr>
            <p:cNvSpPr txBox="1"/>
            <p:nvPr/>
          </p:nvSpPr>
          <p:spPr>
            <a:xfrm>
              <a:off x="1889175" y="3915623"/>
              <a:ext cx="2013693" cy="707886"/>
            </a:xfrm>
            <a:prstGeom prst="rect">
              <a:avLst/>
            </a:prstGeom>
            <a:noFill/>
          </p:spPr>
          <p:txBody>
            <a:bodyPr wrap="none" rtlCol="0">
              <a:spAutoFit/>
            </a:bodyPr>
            <a:lstStyle/>
            <a:p>
              <a:pPr algn="ctr"/>
              <a:r>
                <a:rPr kumimoji="1" lang="zh-CN" altLang="en-US" sz="2000" b="1">
                  <a:solidFill>
                    <a:srgbClr val="0432FF"/>
                  </a:solidFill>
                  <a:latin typeface="+mn-lt"/>
                  <a:ea typeface="+mj-ea"/>
                </a:rPr>
                <a:t>源操作数寄存器</a:t>
              </a:r>
              <a:endParaRPr kumimoji="1" lang="en-US" altLang="zh-CN" sz="2000" b="1">
                <a:solidFill>
                  <a:srgbClr val="0432FF"/>
                </a:solidFill>
                <a:latin typeface="+mn-lt"/>
                <a:ea typeface="+mj-ea"/>
              </a:endParaRPr>
            </a:p>
            <a:p>
              <a:pPr algn="ctr"/>
              <a:r>
                <a:rPr kumimoji="1" lang="zh-CN" altLang="en-US" sz="2000" b="1">
                  <a:solidFill>
                    <a:srgbClr val="0432FF"/>
                  </a:solidFill>
                  <a:latin typeface="+mn-lt"/>
                  <a:ea typeface="+mj-ea"/>
                </a:rPr>
                <a:t>第</a:t>
              </a:r>
              <a:r>
                <a:rPr kumimoji="1" lang="en-US" altLang="zh-CN" sz="2000" b="1">
                  <a:solidFill>
                    <a:srgbClr val="0432FF"/>
                  </a:solidFill>
                  <a:latin typeface="+mn-lt"/>
                  <a:ea typeface="+mj-ea"/>
                </a:rPr>
                <a:t>22</a:t>
              </a:r>
              <a:r>
                <a:rPr kumimoji="1" lang="zh-CN" altLang="en-US" sz="2000" b="1">
                  <a:solidFill>
                    <a:srgbClr val="0432FF"/>
                  </a:solidFill>
                  <a:latin typeface="+mn-lt"/>
                  <a:ea typeface="+mj-ea"/>
                </a:rPr>
                <a:t>号寄存器</a:t>
              </a:r>
              <a:endParaRPr kumimoji="1" lang="en-US" altLang="zh-CN" sz="2000" b="1">
                <a:solidFill>
                  <a:srgbClr val="0432FF"/>
                </a:solidFill>
                <a:latin typeface="+mn-lt"/>
                <a:ea typeface="+mj-ea"/>
              </a:endParaRPr>
            </a:p>
          </p:txBody>
        </p:sp>
        <p:sp>
          <p:nvSpPr>
            <p:cNvPr id="38" name="文本框 37">
              <a:extLst>
                <a:ext uri="{FF2B5EF4-FFF2-40B4-BE49-F238E27FC236}">
                  <a16:creationId xmlns:a16="http://schemas.microsoft.com/office/drawing/2014/main" id="{9674897B-34B5-154C-B84C-3C40991C0B1A}"/>
                </a:ext>
              </a:extLst>
            </p:cNvPr>
            <p:cNvSpPr txBox="1"/>
            <p:nvPr/>
          </p:nvSpPr>
          <p:spPr>
            <a:xfrm>
              <a:off x="3356305" y="5143550"/>
              <a:ext cx="1784463" cy="707886"/>
            </a:xfrm>
            <a:prstGeom prst="rect">
              <a:avLst/>
            </a:prstGeom>
            <a:noFill/>
          </p:spPr>
          <p:txBody>
            <a:bodyPr wrap="none" rtlCol="0">
              <a:spAutoFit/>
            </a:bodyPr>
            <a:lstStyle/>
            <a:p>
              <a:pPr algn="ctr"/>
              <a:r>
                <a:rPr kumimoji="1" lang="zh-CN" altLang="en-US" sz="2000" b="1">
                  <a:solidFill>
                    <a:srgbClr val="0432FF"/>
                  </a:solidFill>
                  <a:latin typeface="+mn-lt"/>
                  <a:ea typeface="+mj-ea"/>
                </a:rPr>
                <a:t>目的寄存器</a:t>
              </a:r>
              <a:endParaRPr kumimoji="1" lang="en-US" altLang="zh-CN" sz="2000" b="1">
                <a:solidFill>
                  <a:srgbClr val="0432FF"/>
                </a:solidFill>
                <a:latin typeface="+mn-lt"/>
                <a:ea typeface="+mj-ea"/>
              </a:endParaRPr>
            </a:p>
            <a:p>
              <a:pPr algn="ctr"/>
              <a:r>
                <a:rPr kumimoji="1" lang="zh-CN" altLang="en-US" sz="2000" b="1">
                  <a:solidFill>
                    <a:srgbClr val="0432FF"/>
                  </a:solidFill>
                  <a:latin typeface="+mn-lt"/>
                  <a:ea typeface="+mj-ea"/>
                </a:rPr>
                <a:t>第</a:t>
              </a:r>
              <a:r>
                <a:rPr kumimoji="1" lang="en-US" altLang="zh-CN" sz="2000" b="1">
                  <a:solidFill>
                    <a:srgbClr val="0432FF"/>
                  </a:solidFill>
                  <a:latin typeface="+mn-lt"/>
                  <a:ea typeface="+mj-ea"/>
                </a:rPr>
                <a:t>21</a:t>
              </a:r>
              <a:r>
                <a:rPr kumimoji="1" lang="zh-CN" altLang="en-US" sz="2000" b="1">
                  <a:solidFill>
                    <a:srgbClr val="0432FF"/>
                  </a:solidFill>
                  <a:latin typeface="+mn-lt"/>
                  <a:ea typeface="+mj-ea"/>
                </a:rPr>
                <a:t>号寄存器</a:t>
              </a:r>
              <a:endParaRPr kumimoji="1" lang="en-US" altLang="zh-CN" sz="2000" b="1">
                <a:solidFill>
                  <a:srgbClr val="0432FF"/>
                </a:solidFill>
                <a:latin typeface="+mn-lt"/>
                <a:ea typeface="+mj-ea"/>
              </a:endParaRPr>
            </a:p>
          </p:txBody>
        </p:sp>
        <p:sp>
          <p:nvSpPr>
            <p:cNvPr id="42" name="文本框 41">
              <a:extLst>
                <a:ext uri="{FF2B5EF4-FFF2-40B4-BE49-F238E27FC236}">
                  <a16:creationId xmlns:a16="http://schemas.microsoft.com/office/drawing/2014/main" id="{92CB6580-5BEF-6443-9560-88C52395B380}"/>
                </a:ext>
              </a:extLst>
            </p:cNvPr>
            <p:cNvSpPr txBox="1"/>
            <p:nvPr/>
          </p:nvSpPr>
          <p:spPr>
            <a:xfrm>
              <a:off x="4578738" y="4218767"/>
              <a:ext cx="4495405" cy="400110"/>
            </a:xfrm>
            <a:prstGeom prst="rect">
              <a:avLst/>
            </a:prstGeom>
            <a:noFill/>
          </p:spPr>
          <p:txBody>
            <a:bodyPr wrap="square" rtlCol="0">
              <a:spAutoFit/>
            </a:bodyPr>
            <a:lstStyle/>
            <a:p>
              <a:pPr marL="742950" lvl="1" indent="-285750" algn="ctr">
                <a:spcBef>
                  <a:spcPct val="20000"/>
                </a:spcBef>
                <a:buClr>
                  <a:schemeClr val="accent2"/>
                </a:buClr>
                <a:buSzPct val="70000"/>
              </a:pPr>
              <a:r>
                <a:rPr lang="zh-CN" altLang="en-US" sz="2000" b="1" dirty="0">
                  <a:solidFill>
                    <a:srgbClr val="0432FF"/>
                  </a:solidFill>
                  <a:latin typeface="+mn-lt"/>
                  <a:ea typeface="+mj-ea"/>
                </a:rPr>
                <a:t>立即数源操作数</a:t>
              </a:r>
              <a:r>
                <a:rPr lang="en-US" altLang="zh-CN" sz="2000" b="1" dirty="0">
                  <a:solidFill>
                    <a:srgbClr val="0432FF"/>
                  </a:solidFill>
                  <a:latin typeface="+mn-lt"/>
                  <a:ea typeface="+mj-ea"/>
                </a:rPr>
                <a:t>50</a:t>
              </a:r>
              <a:r>
                <a:rPr lang="en-US" altLang="zh-CN" sz="2000" b="1" baseline="-25000" dirty="0">
                  <a:solidFill>
                    <a:srgbClr val="0432FF"/>
                  </a:solidFill>
                  <a:latin typeface="+mn-lt"/>
                  <a:ea typeface="+mj-ea"/>
                </a:rPr>
                <a:t>10</a:t>
              </a:r>
            </a:p>
          </p:txBody>
        </p:sp>
        <p:sp>
          <p:nvSpPr>
            <p:cNvPr id="40" name="矩形 119">
              <a:extLst>
                <a:ext uri="{FF2B5EF4-FFF2-40B4-BE49-F238E27FC236}">
                  <a16:creationId xmlns:a16="http://schemas.microsoft.com/office/drawing/2014/main" id="{0FEFEA18-3F0A-49F0-9C0F-373CC74846CF}"/>
                </a:ext>
              </a:extLst>
            </p:cNvPr>
            <p:cNvSpPr/>
            <p:nvPr/>
          </p:nvSpPr>
          <p:spPr>
            <a:xfrm>
              <a:off x="6065776" y="5426210"/>
              <a:ext cx="2903088" cy="523875"/>
            </a:xfrm>
            <a:prstGeom prst="rect">
              <a:avLst/>
            </a:prstGeom>
            <a:solidFill>
              <a:schemeClr val="bg1">
                <a:lumMod val="95000"/>
              </a:schemeClr>
            </a:solidFill>
            <a:ln>
              <a:noFill/>
            </a:ln>
            <a:effectLst/>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2400" b="1" dirty="0">
                  <a:ea typeface="+mj-ea"/>
                </a:rPr>
                <a:t>只有</a:t>
              </a:r>
              <a:r>
                <a:rPr lang="en-US" altLang="zh-CN" sz="2400" b="1" dirty="0">
                  <a:ea typeface="+mj-ea"/>
                </a:rPr>
                <a:t>rs</a:t>
              </a:r>
              <a:r>
                <a:rPr lang="zh-CN" altLang="en-US" sz="2400" b="1" dirty="0">
                  <a:ea typeface="+mj-ea"/>
                </a:rPr>
                <a:t>为源寄存器</a:t>
              </a:r>
              <a:endParaRPr lang="en-US" altLang="zh-CN" sz="2400" b="1" dirty="0">
                <a:ea typeface="+mj-ea"/>
              </a:endParaRPr>
            </a:p>
          </p:txBody>
        </p:sp>
        <p:pic>
          <p:nvPicPr>
            <p:cNvPr id="43" name="Picture 42">
              <a:extLst>
                <a:ext uri="{FF2B5EF4-FFF2-40B4-BE49-F238E27FC236}">
                  <a16:creationId xmlns:a16="http://schemas.microsoft.com/office/drawing/2014/main" id="{7E03A921-EBEC-4BF9-95A0-9FD6626C681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561228" y="1560377"/>
              <a:ext cx="6021544" cy="1963682"/>
            </a:xfrm>
            <a:prstGeom prst="rect">
              <a:avLst/>
            </a:prstGeom>
          </p:spPr>
        </p:pic>
      </p:grpSp>
      <p:sp>
        <p:nvSpPr>
          <p:cNvPr id="5" name="Title 4">
            <a:extLst>
              <a:ext uri="{FF2B5EF4-FFF2-40B4-BE49-F238E27FC236}">
                <a16:creationId xmlns:a16="http://schemas.microsoft.com/office/drawing/2014/main" id="{8B45DAF5-7CE3-A363-31F2-A6582152FCA1}"/>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kumimoji="1" lang="en-US" altLang="zh-CN" dirty="0"/>
              <a:t>MIPS</a:t>
            </a:r>
            <a:r>
              <a:rPr kumimoji="1" lang="zh-CN" altLang="en-US" dirty="0"/>
              <a:t>指令格式：</a:t>
            </a:r>
            <a:r>
              <a:rPr kumimoji="1" lang="en-US" altLang="zh-CN" dirty="0"/>
              <a:t>I</a:t>
            </a:r>
            <a:r>
              <a:rPr kumimoji="1" lang="zh-CN" altLang="en-US" dirty="0"/>
              <a:t>型指令</a:t>
            </a:r>
            <a:endParaRPr lang="en-CN" kern="0" dirty="0"/>
          </a:p>
        </p:txBody>
      </p:sp>
      <p:sp>
        <p:nvSpPr>
          <p:cNvPr id="4" name="灯片编号占位符 3">
            <a:extLst>
              <a:ext uri="{FF2B5EF4-FFF2-40B4-BE49-F238E27FC236}">
                <a16:creationId xmlns:a16="http://schemas.microsoft.com/office/drawing/2014/main" id="{9B52569E-53AC-4A41-8430-F9FD330141FD}"/>
              </a:ext>
            </a:extLst>
          </p:cNvPr>
          <p:cNvSpPr>
            <a:spLocks noGrp="1"/>
          </p:cNvSpPr>
          <p:nvPr>
            <p:ph type="sldNum" sz="quarter" idx="12"/>
          </p:nvPr>
        </p:nvSpPr>
        <p:spPr/>
        <p:txBody>
          <a:bodyPr/>
          <a:lstStyle/>
          <a:p>
            <a:fld id="{14659731-6BD7-46E7-8D3C-2F3AC07E20B1}" type="slidenum">
              <a:rPr lang="en-US" altLang="zh-CN" smtClean="0"/>
              <a:pPr/>
              <a:t>40</a:t>
            </a:fld>
            <a:endParaRPr lang="en-US" altLang="zh-CN"/>
          </a:p>
        </p:txBody>
      </p:sp>
    </p:spTree>
    <p:extLst>
      <p:ext uri="{BB962C8B-B14F-4D97-AF65-F5344CB8AC3E}">
        <p14:creationId xmlns:p14="http://schemas.microsoft.com/office/powerpoint/2010/main" val="31273529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9B52569E-53AC-4A41-8430-F9FD330141FD}"/>
              </a:ext>
            </a:extLst>
          </p:cNvPr>
          <p:cNvSpPr>
            <a:spLocks noGrp="1"/>
          </p:cNvSpPr>
          <p:nvPr>
            <p:ph type="sldNum" sz="quarter" idx="12"/>
          </p:nvPr>
        </p:nvSpPr>
        <p:spPr/>
        <p:txBody>
          <a:bodyPr/>
          <a:lstStyle/>
          <a:p>
            <a:fld id="{14659731-6BD7-46E7-8D3C-2F3AC07E20B1}" type="slidenum">
              <a:rPr lang="en-US" altLang="zh-CN" smtClean="0"/>
              <a:pPr/>
              <a:t>41</a:t>
            </a:fld>
            <a:endParaRPr lang="en-US" altLang="zh-CN"/>
          </a:p>
        </p:txBody>
      </p:sp>
      <p:sp>
        <p:nvSpPr>
          <p:cNvPr id="3" name="内容占位符 2">
            <a:extLst>
              <a:ext uri="{FF2B5EF4-FFF2-40B4-BE49-F238E27FC236}">
                <a16:creationId xmlns:a16="http://schemas.microsoft.com/office/drawing/2014/main" id="{2C756905-E7EA-C34B-B6C7-DAD6E5D1D10C}"/>
              </a:ext>
            </a:extLst>
          </p:cNvPr>
          <p:cNvSpPr>
            <a:spLocks noGrp="1"/>
          </p:cNvSpPr>
          <p:nvPr>
            <p:ph idx="4294967295"/>
          </p:nvPr>
        </p:nvSpPr>
        <p:spPr>
          <a:xfrm>
            <a:off x="518883" y="1368361"/>
            <a:ext cx="7930333" cy="4351338"/>
          </a:xfrm>
        </p:spPr>
        <p:txBody>
          <a:bodyPr/>
          <a:lstStyle/>
          <a:p>
            <a:r>
              <a:rPr kumimoji="1" lang="zh-CN" altLang="en-US" sz="2400" dirty="0"/>
              <a:t>例子</a:t>
            </a:r>
            <a:r>
              <a:rPr kumimoji="1" lang="en-US" altLang="zh-CN" sz="2400" dirty="0"/>
              <a:t>2</a:t>
            </a:r>
            <a:r>
              <a:rPr kumimoji="1" lang="zh-CN" altLang="en-US" sz="2400" dirty="0"/>
              <a:t>：分支指令，如 </a:t>
            </a:r>
            <a:r>
              <a:rPr kumimoji="1" lang="en-US" altLang="zh-CN" sz="2400" dirty="0"/>
              <a:t>if</a:t>
            </a:r>
            <a:r>
              <a:rPr kumimoji="1" lang="zh-CN" altLang="en-US" sz="2400" dirty="0"/>
              <a:t> </a:t>
            </a:r>
            <a:r>
              <a:rPr kumimoji="1" lang="en-US" altLang="zh-CN" sz="2400" dirty="0"/>
              <a:t>(A==B)</a:t>
            </a:r>
            <a:r>
              <a:rPr kumimoji="1" lang="zh-CN" altLang="en-US" sz="2400" dirty="0"/>
              <a:t> </a:t>
            </a:r>
            <a:r>
              <a:rPr kumimoji="1" lang="en-US" altLang="zh-CN" sz="2400" dirty="0" err="1"/>
              <a:t>goto</a:t>
            </a:r>
            <a:r>
              <a:rPr kumimoji="1" lang="zh-CN" altLang="en-US" sz="2400" dirty="0"/>
              <a:t> </a:t>
            </a:r>
            <a:r>
              <a:rPr kumimoji="1" lang="en-US" altLang="zh-CN" sz="2400" b="1" dirty="0" err="1"/>
              <a:t>Addr</a:t>
            </a:r>
            <a:endParaRPr kumimoji="1" lang="en-US" altLang="zh-CN" sz="2400" b="1" dirty="0"/>
          </a:p>
          <a:p>
            <a:pPr lvl="1"/>
            <a:r>
              <a:rPr kumimoji="1" lang="zh-CN" altLang="en-US" sz="2000" dirty="0"/>
              <a:t>目标地址：</a:t>
            </a:r>
            <a:r>
              <a:rPr kumimoji="1" lang="en-US" altLang="zh-CN" sz="2000" dirty="0"/>
              <a:t>PC + 4</a:t>
            </a:r>
            <a:r>
              <a:rPr kumimoji="1" lang="zh-CN" altLang="en-US" sz="2000" dirty="0"/>
              <a:t> </a:t>
            </a:r>
            <a:r>
              <a:rPr kumimoji="1" lang="en-US" altLang="zh-CN" sz="2000" dirty="0"/>
              <a:t>+</a:t>
            </a:r>
            <a:r>
              <a:rPr kumimoji="1" lang="zh-CN" altLang="en-US" sz="2000" dirty="0"/>
              <a:t> </a:t>
            </a:r>
            <a:r>
              <a:rPr kumimoji="1" lang="en-US" altLang="zh-CN" sz="2000" dirty="0"/>
              <a:t>(</a:t>
            </a:r>
            <a:r>
              <a:rPr kumimoji="1" lang="en-US" altLang="zh-CN" sz="2000" b="1" dirty="0" err="1"/>
              <a:t>Addr</a:t>
            </a:r>
            <a:r>
              <a:rPr kumimoji="1" lang="en-US" altLang="zh-CN" sz="2000" dirty="0"/>
              <a:t> &lt;&lt; 2)</a:t>
            </a:r>
          </a:p>
          <a:p>
            <a:pPr lvl="2"/>
            <a:r>
              <a:rPr kumimoji="1" lang="en-US" altLang="zh-CN" sz="2000" dirty="0"/>
              <a:t>PC+4</a:t>
            </a:r>
            <a:r>
              <a:rPr kumimoji="1" lang="zh-CN" altLang="en-US" sz="2000" dirty="0"/>
              <a:t>（每条指令</a:t>
            </a:r>
            <a:r>
              <a:rPr kumimoji="1" lang="en-US" altLang="zh-CN" sz="2000" dirty="0"/>
              <a:t>4</a:t>
            </a:r>
            <a:r>
              <a:rPr kumimoji="1" lang="zh-CN" altLang="en-US" sz="2000" dirty="0"/>
              <a:t>字节）：不发生分支跳转的下一条指令</a:t>
            </a:r>
            <a:endParaRPr kumimoji="1" lang="en-US" altLang="zh-CN" sz="2000" dirty="0"/>
          </a:p>
          <a:p>
            <a:pPr lvl="2"/>
            <a:r>
              <a:rPr kumimoji="1" lang="en-US" altLang="zh-CN" sz="2000" dirty="0" err="1"/>
              <a:t>Addr</a:t>
            </a:r>
            <a:r>
              <a:rPr kumimoji="1" lang="en-US" altLang="zh-CN" sz="2000" dirty="0"/>
              <a:t> &lt;&lt; 2 </a:t>
            </a:r>
            <a:r>
              <a:rPr kumimoji="1" lang="zh-CN" altLang="en-US" sz="2000" dirty="0"/>
              <a:t>（字地址 </a:t>
            </a:r>
            <a:r>
              <a:rPr kumimoji="1" lang="en-US" altLang="zh-CN" sz="2000" dirty="0">
                <a:sym typeface="Wingdings" panose="05000000000000000000" pitchFamily="2" charset="2"/>
              </a:rPr>
              <a:t> </a:t>
            </a:r>
            <a:r>
              <a:rPr kumimoji="1" lang="zh-CN" altLang="en-US" sz="2000" dirty="0">
                <a:sym typeface="Wingdings" panose="05000000000000000000" pitchFamily="2" charset="2"/>
              </a:rPr>
              <a:t>字节地址）</a:t>
            </a:r>
            <a:endParaRPr kumimoji="1" lang="en-US" altLang="zh-CN" sz="2000" dirty="0"/>
          </a:p>
        </p:txBody>
      </p:sp>
      <p:sp>
        <p:nvSpPr>
          <p:cNvPr id="39" name="矩形 38">
            <a:extLst>
              <a:ext uri="{FF2B5EF4-FFF2-40B4-BE49-F238E27FC236}">
                <a16:creationId xmlns:a16="http://schemas.microsoft.com/office/drawing/2014/main" id="{74BD766C-43DE-0A4E-9F45-F986F3FD2532}"/>
              </a:ext>
            </a:extLst>
          </p:cNvPr>
          <p:cNvSpPr/>
          <p:nvPr/>
        </p:nvSpPr>
        <p:spPr>
          <a:xfrm>
            <a:off x="694783" y="4821458"/>
            <a:ext cx="3413114" cy="461665"/>
          </a:xfrm>
          <a:prstGeom prst="rect">
            <a:avLst/>
          </a:prstGeom>
        </p:spPr>
        <p:txBody>
          <a:bodyPr wrap="none">
            <a:spAutoFit/>
          </a:bodyPr>
          <a:lstStyle/>
          <a:p>
            <a:r>
              <a:rPr lang="en-US" altLang="zh-CN" sz="2400" i="1" dirty="0">
                <a:solidFill>
                  <a:srgbClr val="000000"/>
                </a:solidFill>
                <a:latin typeface="Consolas" panose="020B0609020204030204" pitchFamily="49" charset="0"/>
              </a:rPr>
              <a:t>beq rs, rt, Address</a:t>
            </a:r>
            <a:endParaRPr lang="zh-CN" altLang="en-US" i="1" dirty="0">
              <a:latin typeface="Consolas" panose="020B0609020204030204" pitchFamily="49" charset="0"/>
            </a:endParaRPr>
          </a:p>
        </p:txBody>
      </p:sp>
      <p:grpSp>
        <p:nvGrpSpPr>
          <p:cNvPr id="20" name="Group 4">
            <a:extLst>
              <a:ext uri="{FF2B5EF4-FFF2-40B4-BE49-F238E27FC236}">
                <a16:creationId xmlns:a16="http://schemas.microsoft.com/office/drawing/2014/main" id="{6678F191-2971-8141-A4A2-5F378F6420C2}"/>
              </a:ext>
            </a:extLst>
          </p:cNvPr>
          <p:cNvGrpSpPr>
            <a:grpSpLocks/>
          </p:cNvGrpSpPr>
          <p:nvPr/>
        </p:nvGrpSpPr>
        <p:grpSpPr bwMode="auto">
          <a:xfrm>
            <a:off x="518884" y="5366921"/>
            <a:ext cx="8153401" cy="944564"/>
            <a:chOff x="432" y="3140"/>
            <a:chExt cx="5136" cy="595"/>
          </a:xfrm>
        </p:grpSpPr>
        <p:grpSp>
          <p:nvGrpSpPr>
            <p:cNvPr id="21" name="Group 5">
              <a:extLst>
                <a:ext uri="{FF2B5EF4-FFF2-40B4-BE49-F238E27FC236}">
                  <a16:creationId xmlns:a16="http://schemas.microsoft.com/office/drawing/2014/main" id="{74CE3D64-D334-084D-ADB4-F0DE98D579BE}"/>
                </a:ext>
              </a:extLst>
            </p:cNvPr>
            <p:cNvGrpSpPr>
              <a:grpSpLocks/>
            </p:cNvGrpSpPr>
            <p:nvPr/>
          </p:nvGrpSpPr>
          <p:grpSpPr bwMode="auto">
            <a:xfrm>
              <a:off x="558" y="3140"/>
              <a:ext cx="4588" cy="291"/>
              <a:chOff x="346" y="2516"/>
              <a:chExt cx="4588" cy="291"/>
            </a:xfrm>
          </p:grpSpPr>
          <p:sp>
            <p:nvSpPr>
              <p:cNvPr id="30" name="Text Box 6">
                <a:extLst>
                  <a:ext uri="{FF2B5EF4-FFF2-40B4-BE49-F238E27FC236}">
                    <a16:creationId xmlns:a16="http://schemas.microsoft.com/office/drawing/2014/main" id="{F75B6A31-CC3D-4341-A02E-A496BBFF27FA}"/>
                  </a:ext>
                </a:extLst>
              </p:cNvPr>
              <p:cNvSpPr txBox="1">
                <a:spLocks noChangeArrowheads="1"/>
              </p:cNvSpPr>
              <p:nvPr/>
            </p:nvSpPr>
            <p:spPr bwMode="auto">
              <a:xfrm>
                <a:off x="346" y="2516"/>
                <a:ext cx="805" cy="29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a:r>
                  <a:rPr lang="en-US" altLang="zh-CN" sz="2400" dirty="0">
                    <a:latin typeface="+mn-lt"/>
                    <a:ea typeface="+mj-ea"/>
                  </a:rPr>
                  <a:t>opcode</a:t>
                </a:r>
                <a:endParaRPr lang="en-US" altLang="en-US" sz="2400" dirty="0">
                  <a:solidFill>
                    <a:schemeClr val="accent1"/>
                  </a:solidFill>
                  <a:latin typeface="+mn-lt"/>
                  <a:ea typeface="+mj-ea"/>
                </a:endParaRPr>
              </a:p>
            </p:txBody>
          </p:sp>
          <p:sp>
            <p:nvSpPr>
              <p:cNvPr id="31" name="Text Box 7">
                <a:extLst>
                  <a:ext uri="{FF2B5EF4-FFF2-40B4-BE49-F238E27FC236}">
                    <a16:creationId xmlns:a16="http://schemas.microsoft.com/office/drawing/2014/main" id="{36803B1A-72F3-E841-9AD9-2CDD96232592}"/>
                  </a:ext>
                </a:extLst>
              </p:cNvPr>
              <p:cNvSpPr txBox="1">
                <a:spLocks noChangeArrowheads="1"/>
              </p:cNvSpPr>
              <p:nvPr/>
            </p:nvSpPr>
            <p:spPr bwMode="auto">
              <a:xfrm>
                <a:off x="1463" y="2516"/>
                <a:ext cx="300" cy="29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a:r>
                  <a:rPr lang="en-US" altLang="zh-CN" sz="2400" err="1">
                    <a:latin typeface="+mn-lt"/>
                    <a:ea typeface="+mj-ea"/>
                  </a:rPr>
                  <a:t>rs</a:t>
                </a:r>
                <a:endParaRPr lang="en-US" altLang="en-US" sz="2400">
                  <a:solidFill>
                    <a:schemeClr val="accent1"/>
                  </a:solidFill>
                  <a:latin typeface="+mn-lt"/>
                  <a:ea typeface="+mj-ea"/>
                </a:endParaRPr>
              </a:p>
            </p:txBody>
          </p:sp>
          <p:sp>
            <p:nvSpPr>
              <p:cNvPr id="33" name="Text Box 8">
                <a:extLst>
                  <a:ext uri="{FF2B5EF4-FFF2-40B4-BE49-F238E27FC236}">
                    <a16:creationId xmlns:a16="http://schemas.microsoft.com/office/drawing/2014/main" id="{305E2B14-FD4B-5E4E-803A-C3D0854C785C}"/>
                  </a:ext>
                </a:extLst>
              </p:cNvPr>
              <p:cNvSpPr txBox="1">
                <a:spLocks noChangeArrowheads="1"/>
              </p:cNvSpPr>
              <p:nvPr/>
            </p:nvSpPr>
            <p:spPr bwMode="auto">
              <a:xfrm>
                <a:off x="2284" y="2516"/>
                <a:ext cx="257" cy="29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a:r>
                  <a:rPr lang="en-US" altLang="zh-CN" sz="2400" dirty="0">
                    <a:latin typeface="+mn-lt"/>
                    <a:ea typeface="+mj-ea"/>
                  </a:rPr>
                  <a:t>rt</a:t>
                </a:r>
                <a:endParaRPr lang="en-US" altLang="en-US" sz="2400" dirty="0">
                  <a:solidFill>
                    <a:schemeClr val="accent1"/>
                  </a:solidFill>
                  <a:latin typeface="+mn-lt"/>
                  <a:ea typeface="+mj-ea"/>
                </a:endParaRPr>
              </a:p>
            </p:txBody>
          </p:sp>
          <p:sp>
            <p:nvSpPr>
              <p:cNvPr id="34" name="Text Box 9">
                <a:extLst>
                  <a:ext uri="{FF2B5EF4-FFF2-40B4-BE49-F238E27FC236}">
                    <a16:creationId xmlns:a16="http://schemas.microsoft.com/office/drawing/2014/main" id="{1932B7F9-86B5-AD48-9FFF-736ABE866768}"/>
                  </a:ext>
                </a:extLst>
              </p:cNvPr>
              <p:cNvSpPr txBox="1">
                <a:spLocks noChangeArrowheads="1"/>
              </p:cNvSpPr>
              <p:nvPr/>
            </p:nvSpPr>
            <p:spPr bwMode="auto">
              <a:xfrm>
                <a:off x="3153" y="2546"/>
                <a:ext cx="116" cy="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a:endParaRPr lang="en-US" altLang="en-US" sz="2000">
                  <a:solidFill>
                    <a:schemeClr val="accent1"/>
                  </a:solidFill>
                  <a:latin typeface="+mn-lt"/>
                </a:endParaRPr>
              </a:p>
            </p:txBody>
          </p:sp>
          <p:sp>
            <p:nvSpPr>
              <p:cNvPr id="35" name="Text Box 10">
                <a:extLst>
                  <a:ext uri="{FF2B5EF4-FFF2-40B4-BE49-F238E27FC236}">
                    <a16:creationId xmlns:a16="http://schemas.microsoft.com/office/drawing/2014/main" id="{B8759358-1E3F-CB41-9338-B8BD3E59E1E0}"/>
                  </a:ext>
                </a:extLst>
              </p:cNvPr>
              <p:cNvSpPr txBox="1">
                <a:spLocks noChangeArrowheads="1"/>
              </p:cNvSpPr>
              <p:nvPr/>
            </p:nvSpPr>
            <p:spPr bwMode="auto">
              <a:xfrm>
                <a:off x="4818" y="2546"/>
                <a:ext cx="116" cy="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a:endParaRPr lang="en-US" altLang="en-US" sz="2000">
                  <a:solidFill>
                    <a:schemeClr val="accent1"/>
                  </a:solidFill>
                  <a:latin typeface="+mn-lt"/>
                </a:endParaRPr>
              </a:p>
            </p:txBody>
          </p:sp>
          <p:sp>
            <p:nvSpPr>
              <p:cNvPr id="36" name="Text Box 11">
                <a:extLst>
                  <a:ext uri="{FF2B5EF4-FFF2-40B4-BE49-F238E27FC236}">
                    <a16:creationId xmlns:a16="http://schemas.microsoft.com/office/drawing/2014/main" id="{10747E2B-81DE-EB4F-B8B2-5F6A015A205E}"/>
                  </a:ext>
                </a:extLst>
              </p:cNvPr>
              <p:cNvSpPr txBox="1">
                <a:spLocks noChangeArrowheads="1"/>
              </p:cNvSpPr>
              <p:nvPr/>
            </p:nvSpPr>
            <p:spPr bwMode="auto">
              <a:xfrm>
                <a:off x="3726" y="2516"/>
                <a:ext cx="569" cy="29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a:r>
                  <a:rPr lang="en-US" altLang="zh-CN" sz="2400" dirty="0" err="1">
                    <a:latin typeface="+mn-lt"/>
                    <a:ea typeface="+mj-ea"/>
                  </a:rPr>
                  <a:t>Addr</a:t>
                </a:r>
                <a:endParaRPr lang="en-US" altLang="en-US" sz="2400" dirty="0">
                  <a:solidFill>
                    <a:schemeClr val="accent1"/>
                  </a:solidFill>
                  <a:latin typeface="+mn-lt"/>
                  <a:ea typeface="+mj-ea"/>
                </a:endParaRPr>
              </a:p>
            </p:txBody>
          </p:sp>
        </p:grpSp>
        <p:sp>
          <p:nvSpPr>
            <p:cNvPr id="22" name="Rectangle 12">
              <a:extLst>
                <a:ext uri="{FF2B5EF4-FFF2-40B4-BE49-F238E27FC236}">
                  <a16:creationId xmlns:a16="http://schemas.microsoft.com/office/drawing/2014/main" id="{04B68F6C-CF66-6640-9AAF-CBE5CB481A5E}"/>
                </a:ext>
              </a:extLst>
            </p:cNvPr>
            <p:cNvSpPr>
              <a:spLocks noChangeArrowheads="1"/>
            </p:cNvSpPr>
            <p:nvPr/>
          </p:nvSpPr>
          <p:spPr bwMode="auto">
            <a:xfrm>
              <a:off x="432" y="3170"/>
              <a:ext cx="5136" cy="238"/>
            </a:xfrm>
            <a:prstGeom prst="rect">
              <a:avLst/>
            </a:prstGeom>
            <a:noFill/>
            <a:ln w="381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endParaRPr lang="zh-CN" altLang="en-US" b="1">
                <a:latin typeface="+mn-lt"/>
              </a:endParaRPr>
            </a:p>
          </p:txBody>
        </p:sp>
        <p:sp>
          <p:nvSpPr>
            <p:cNvPr id="23" name="Line 13">
              <a:extLst>
                <a:ext uri="{FF2B5EF4-FFF2-40B4-BE49-F238E27FC236}">
                  <a16:creationId xmlns:a16="http://schemas.microsoft.com/office/drawing/2014/main" id="{01C605FB-87EE-4148-97F4-D5E6F6649837}"/>
                </a:ext>
              </a:extLst>
            </p:cNvPr>
            <p:cNvSpPr>
              <a:spLocks noChangeShapeType="1"/>
            </p:cNvSpPr>
            <p:nvPr/>
          </p:nvSpPr>
          <p:spPr bwMode="auto">
            <a:xfrm>
              <a:off x="1392" y="3170"/>
              <a:ext cx="0" cy="238"/>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endParaRPr lang="zh-CN" altLang="en-US" b="1">
                <a:latin typeface="+mn-lt"/>
              </a:endParaRPr>
            </a:p>
          </p:txBody>
        </p:sp>
        <p:sp>
          <p:nvSpPr>
            <p:cNvPr id="24" name="Line 14">
              <a:extLst>
                <a:ext uri="{FF2B5EF4-FFF2-40B4-BE49-F238E27FC236}">
                  <a16:creationId xmlns:a16="http://schemas.microsoft.com/office/drawing/2014/main" id="{902B9C9B-418D-6F44-A8D6-F5A9E5092C2D}"/>
                </a:ext>
              </a:extLst>
            </p:cNvPr>
            <p:cNvSpPr>
              <a:spLocks noChangeShapeType="1"/>
            </p:cNvSpPr>
            <p:nvPr/>
          </p:nvSpPr>
          <p:spPr bwMode="auto">
            <a:xfrm>
              <a:off x="2208" y="3170"/>
              <a:ext cx="0" cy="238"/>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endParaRPr lang="zh-CN" altLang="en-US" b="1">
                <a:latin typeface="+mn-lt"/>
              </a:endParaRPr>
            </a:p>
          </p:txBody>
        </p:sp>
        <p:sp>
          <p:nvSpPr>
            <p:cNvPr id="25" name="Line 15">
              <a:extLst>
                <a:ext uri="{FF2B5EF4-FFF2-40B4-BE49-F238E27FC236}">
                  <a16:creationId xmlns:a16="http://schemas.microsoft.com/office/drawing/2014/main" id="{B59C2961-7F3F-454F-BBB9-A4A9690F12D3}"/>
                </a:ext>
              </a:extLst>
            </p:cNvPr>
            <p:cNvSpPr>
              <a:spLocks noChangeShapeType="1"/>
            </p:cNvSpPr>
            <p:nvPr/>
          </p:nvSpPr>
          <p:spPr bwMode="auto">
            <a:xfrm>
              <a:off x="2976" y="3170"/>
              <a:ext cx="0" cy="238"/>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endParaRPr lang="zh-CN" altLang="en-US" b="1">
                <a:latin typeface="+mn-lt"/>
              </a:endParaRPr>
            </a:p>
          </p:txBody>
        </p:sp>
        <p:sp>
          <p:nvSpPr>
            <p:cNvPr id="26" name="Text Box 16">
              <a:extLst>
                <a:ext uri="{FF2B5EF4-FFF2-40B4-BE49-F238E27FC236}">
                  <a16:creationId xmlns:a16="http://schemas.microsoft.com/office/drawing/2014/main" id="{D781F768-F816-5D49-83A1-0FCD9660A84F}"/>
                </a:ext>
              </a:extLst>
            </p:cNvPr>
            <p:cNvSpPr txBox="1">
              <a:spLocks noChangeArrowheads="1"/>
            </p:cNvSpPr>
            <p:nvPr/>
          </p:nvSpPr>
          <p:spPr bwMode="auto">
            <a:xfrm>
              <a:off x="528" y="3408"/>
              <a:ext cx="116" cy="3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a:endParaRPr lang="en-US" altLang="en-US" sz="2800">
                <a:latin typeface="+mn-lt"/>
              </a:endParaRPr>
            </a:p>
          </p:txBody>
        </p:sp>
        <p:sp>
          <p:nvSpPr>
            <p:cNvPr id="27" name="Text Box 17">
              <a:extLst>
                <a:ext uri="{FF2B5EF4-FFF2-40B4-BE49-F238E27FC236}">
                  <a16:creationId xmlns:a16="http://schemas.microsoft.com/office/drawing/2014/main" id="{AA9F087E-45C3-CF47-8FFE-CF42CCFAEA15}"/>
                </a:ext>
              </a:extLst>
            </p:cNvPr>
            <p:cNvSpPr txBox="1">
              <a:spLocks noChangeArrowheads="1"/>
            </p:cNvSpPr>
            <p:nvPr/>
          </p:nvSpPr>
          <p:spPr bwMode="auto">
            <a:xfrm>
              <a:off x="1440" y="3408"/>
              <a:ext cx="116" cy="3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a:endParaRPr lang="en-US" altLang="en-US" sz="2800">
                <a:latin typeface="+mn-lt"/>
              </a:endParaRPr>
            </a:p>
          </p:txBody>
        </p:sp>
        <p:sp>
          <p:nvSpPr>
            <p:cNvPr id="28" name="Text Box 18">
              <a:extLst>
                <a:ext uri="{FF2B5EF4-FFF2-40B4-BE49-F238E27FC236}">
                  <a16:creationId xmlns:a16="http://schemas.microsoft.com/office/drawing/2014/main" id="{B5094FBB-FA48-B34D-BD40-935478D23F85}"/>
                </a:ext>
              </a:extLst>
            </p:cNvPr>
            <p:cNvSpPr txBox="1">
              <a:spLocks noChangeArrowheads="1"/>
            </p:cNvSpPr>
            <p:nvPr/>
          </p:nvSpPr>
          <p:spPr bwMode="auto">
            <a:xfrm>
              <a:off x="2208" y="3408"/>
              <a:ext cx="116" cy="3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a:endParaRPr lang="en-US" altLang="en-US" sz="2800">
                <a:latin typeface="+mn-lt"/>
              </a:endParaRPr>
            </a:p>
          </p:txBody>
        </p:sp>
        <p:sp>
          <p:nvSpPr>
            <p:cNvPr id="29" name="Text Box 19">
              <a:extLst>
                <a:ext uri="{FF2B5EF4-FFF2-40B4-BE49-F238E27FC236}">
                  <a16:creationId xmlns:a16="http://schemas.microsoft.com/office/drawing/2014/main" id="{6F780E8C-668D-6B41-A48E-448314D32C48}"/>
                </a:ext>
              </a:extLst>
            </p:cNvPr>
            <p:cNvSpPr txBox="1">
              <a:spLocks noChangeArrowheads="1"/>
            </p:cNvSpPr>
            <p:nvPr/>
          </p:nvSpPr>
          <p:spPr bwMode="auto">
            <a:xfrm>
              <a:off x="3840" y="3408"/>
              <a:ext cx="116" cy="3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a:endParaRPr lang="en-US" altLang="en-US" sz="2800">
                <a:latin typeface="+mn-lt"/>
              </a:endParaRPr>
            </a:p>
          </p:txBody>
        </p:sp>
      </p:grpSp>
      <p:sp>
        <p:nvSpPr>
          <p:cNvPr id="38" name="文本框 37">
            <a:extLst>
              <a:ext uri="{FF2B5EF4-FFF2-40B4-BE49-F238E27FC236}">
                <a16:creationId xmlns:a16="http://schemas.microsoft.com/office/drawing/2014/main" id="{9674897B-34B5-154C-B84C-3C40991C0B1A}"/>
              </a:ext>
            </a:extLst>
          </p:cNvPr>
          <p:cNvSpPr txBox="1"/>
          <p:nvPr/>
        </p:nvSpPr>
        <p:spPr>
          <a:xfrm>
            <a:off x="2191005" y="5835297"/>
            <a:ext cx="1988044" cy="400110"/>
          </a:xfrm>
          <a:prstGeom prst="rect">
            <a:avLst/>
          </a:prstGeom>
          <a:noFill/>
        </p:spPr>
        <p:txBody>
          <a:bodyPr wrap="none" rtlCol="0">
            <a:spAutoFit/>
          </a:bodyPr>
          <a:lstStyle/>
          <a:p>
            <a:pPr algn="ctr"/>
            <a:r>
              <a:rPr kumimoji="1" lang="zh-CN" altLang="en-US" sz="2000" b="1" dirty="0">
                <a:solidFill>
                  <a:srgbClr val="0432FF"/>
                </a:solidFill>
                <a:latin typeface="+mn-lt"/>
                <a:ea typeface="+mj-ea"/>
              </a:rPr>
              <a:t>源寄存器：</a:t>
            </a:r>
            <a:r>
              <a:rPr kumimoji="1" lang="en-US" altLang="zh-CN" sz="2000" b="1" dirty="0" err="1">
                <a:solidFill>
                  <a:srgbClr val="0432FF"/>
                </a:solidFill>
                <a:latin typeface="+mn-lt"/>
                <a:ea typeface="+mj-ea"/>
              </a:rPr>
              <a:t>rs</a:t>
            </a:r>
            <a:r>
              <a:rPr kumimoji="1" lang="zh-CN" altLang="en-US" sz="2000" b="1" dirty="0">
                <a:solidFill>
                  <a:srgbClr val="0432FF"/>
                </a:solidFill>
                <a:latin typeface="+mn-lt"/>
                <a:ea typeface="+mj-ea"/>
              </a:rPr>
              <a:t> </a:t>
            </a:r>
            <a:r>
              <a:rPr kumimoji="1" lang="en-US" altLang="zh-CN" sz="2000" b="1" dirty="0">
                <a:solidFill>
                  <a:srgbClr val="0432FF"/>
                </a:solidFill>
                <a:latin typeface="+mn-lt"/>
                <a:ea typeface="+mj-ea"/>
              </a:rPr>
              <a:t>rt</a:t>
            </a:r>
          </a:p>
        </p:txBody>
      </p:sp>
      <p:sp>
        <p:nvSpPr>
          <p:cNvPr id="42" name="文本框 41">
            <a:extLst>
              <a:ext uri="{FF2B5EF4-FFF2-40B4-BE49-F238E27FC236}">
                <a16:creationId xmlns:a16="http://schemas.microsoft.com/office/drawing/2014/main" id="{92CB6580-5BEF-6443-9560-88C52395B380}"/>
              </a:ext>
            </a:extLst>
          </p:cNvPr>
          <p:cNvSpPr txBox="1"/>
          <p:nvPr/>
        </p:nvSpPr>
        <p:spPr>
          <a:xfrm>
            <a:off x="5518745" y="5835297"/>
            <a:ext cx="2536272" cy="400110"/>
          </a:xfrm>
          <a:prstGeom prst="rect">
            <a:avLst/>
          </a:prstGeom>
          <a:noFill/>
        </p:spPr>
        <p:txBody>
          <a:bodyPr wrap="none" rtlCol="0">
            <a:spAutoFit/>
          </a:bodyPr>
          <a:lstStyle/>
          <a:p>
            <a:pPr algn="ctr"/>
            <a:r>
              <a:rPr kumimoji="1" lang="zh-CN" altLang="en-US" sz="2000" b="1" dirty="0">
                <a:solidFill>
                  <a:srgbClr val="0432FF"/>
                </a:solidFill>
                <a:latin typeface="+mn-lt"/>
                <a:ea typeface="+mj-ea"/>
              </a:rPr>
              <a:t>目标地址（立即数）</a:t>
            </a:r>
            <a:endParaRPr kumimoji="1" lang="en-US" altLang="zh-CN" sz="2000" b="1" dirty="0">
              <a:solidFill>
                <a:srgbClr val="0432FF"/>
              </a:solidFill>
              <a:latin typeface="+mn-lt"/>
              <a:ea typeface="+mj-ea"/>
            </a:endParaRPr>
          </a:p>
        </p:txBody>
      </p:sp>
      <p:pic>
        <p:nvPicPr>
          <p:cNvPr id="40" name="Picture 39">
            <a:extLst>
              <a:ext uri="{FF2B5EF4-FFF2-40B4-BE49-F238E27FC236}">
                <a16:creationId xmlns:a16="http://schemas.microsoft.com/office/drawing/2014/main" id="{E5B5167F-BB74-457B-98F6-76BB4B3F217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07903" y="2943185"/>
            <a:ext cx="5568529" cy="1815949"/>
          </a:xfrm>
          <a:prstGeom prst="rect">
            <a:avLst/>
          </a:prstGeom>
        </p:spPr>
      </p:pic>
      <p:sp>
        <p:nvSpPr>
          <p:cNvPr id="32" name="矩形 119">
            <a:extLst>
              <a:ext uri="{FF2B5EF4-FFF2-40B4-BE49-F238E27FC236}">
                <a16:creationId xmlns:a16="http://schemas.microsoft.com/office/drawing/2014/main" id="{885F3BA6-036B-284C-8F9F-E539D6E626FA}"/>
              </a:ext>
            </a:extLst>
          </p:cNvPr>
          <p:cNvSpPr/>
          <p:nvPr/>
        </p:nvSpPr>
        <p:spPr>
          <a:xfrm>
            <a:off x="5831504" y="4121941"/>
            <a:ext cx="3167184" cy="523875"/>
          </a:xfrm>
          <a:prstGeom prst="rect">
            <a:avLst/>
          </a:prstGeom>
          <a:solidFill>
            <a:schemeClr val="bg1">
              <a:lumMod val="95000"/>
            </a:schemeClr>
          </a:solidFill>
          <a:ln>
            <a:noFill/>
          </a:ln>
          <a:effectLst/>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sz="2400" b="1" dirty="0" err="1">
                <a:ea typeface="+mj-ea"/>
              </a:rPr>
              <a:t>rs</a:t>
            </a:r>
            <a:r>
              <a:rPr lang="zh-CN" altLang="en-US" sz="2400" b="1" dirty="0">
                <a:ea typeface="+mj-ea"/>
              </a:rPr>
              <a:t>与</a:t>
            </a:r>
            <a:r>
              <a:rPr lang="en-US" altLang="zh-CN" sz="2400" b="1" dirty="0">
                <a:ea typeface="+mj-ea"/>
              </a:rPr>
              <a:t>rt</a:t>
            </a:r>
            <a:r>
              <a:rPr lang="zh-CN" altLang="en-US" sz="2400" b="1" dirty="0">
                <a:ea typeface="+mj-ea"/>
              </a:rPr>
              <a:t>均为源寄存器</a:t>
            </a:r>
            <a:endParaRPr lang="en-US" altLang="zh-CN" sz="2400" b="1" dirty="0">
              <a:ea typeface="+mj-ea"/>
            </a:endParaRPr>
          </a:p>
        </p:txBody>
      </p:sp>
      <p:sp>
        <p:nvSpPr>
          <p:cNvPr id="5" name="Title 4">
            <a:extLst>
              <a:ext uri="{FF2B5EF4-FFF2-40B4-BE49-F238E27FC236}">
                <a16:creationId xmlns:a16="http://schemas.microsoft.com/office/drawing/2014/main" id="{3DE9C2FC-85F5-EAEA-6EBD-75BB9E84258B}"/>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kumimoji="1" lang="en-US" altLang="zh-CN" dirty="0"/>
              <a:t>MIPS</a:t>
            </a:r>
            <a:r>
              <a:rPr kumimoji="1" lang="zh-CN" altLang="en-US" dirty="0"/>
              <a:t>指令格式：</a:t>
            </a:r>
            <a:r>
              <a:rPr kumimoji="1" lang="en-US" altLang="zh-CN" dirty="0"/>
              <a:t>I</a:t>
            </a:r>
            <a:r>
              <a:rPr kumimoji="1" lang="zh-CN" altLang="en-US" dirty="0"/>
              <a:t>型指令</a:t>
            </a:r>
            <a:endParaRPr lang="en-CN" kern="0" dirty="0"/>
          </a:p>
        </p:txBody>
      </p:sp>
    </p:spTree>
    <p:extLst>
      <p:ext uri="{BB962C8B-B14F-4D97-AF65-F5344CB8AC3E}">
        <p14:creationId xmlns:p14="http://schemas.microsoft.com/office/powerpoint/2010/main" val="35339975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a:extLst>
              <a:ext uri="{FF2B5EF4-FFF2-40B4-BE49-F238E27FC236}">
                <a16:creationId xmlns:a16="http://schemas.microsoft.com/office/drawing/2014/main" id="{68F7FF1C-DC59-5F43-A383-991D51B72C86}"/>
              </a:ext>
            </a:extLst>
          </p:cNvPr>
          <p:cNvSpPr>
            <a:spLocks noGrp="1"/>
          </p:cNvSpPr>
          <p:nvPr>
            <p:ph type="sldNum" sz="quarter" idx="12"/>
          </p:nvPr>
        </p:nvSpPr>
        <p:spPr/>
        <p:txBody>
          <a:bodyPr/>
          <a:lstStyle/>
          <a:p>
            <a:fld id="{14659731-6BD7-46E7-8D3C-2F3AC07E20B1}" type="slidenum">
              <a:rPr lang="en-US" altLang="zh-CN" smtClean="0"/>
              <a:pPr/>
              <a:t>42</a:t>
            </a:fld>
            <a:endParaRPr lang="en-US" altLang="zh-CN"/>
          </a:p>
        </p:txBody>
      </p:sp>
      <p:sp>
        <p:nvSpPr>
          <p:cNvPr id="36" name="Rectangle 3">
            <a:extLst>
              <a:ext uri="{FF2B5EF4-FFF2-40B4-BE49-F238E27FC236}">
                <a16:creationId xmlns:a16="http://schemas.microsoft.com/office/drawing/2014/main" id="{1AF4C294-9B96-4AC7-A8CA-FB8884B6204B}"/>
              </a:ext>
            </a:extLst>
          </p:cNvPr>
          <p:cNvSpPr>
            <a:spLocks noGrp="1" noChangeArrowheads="1"/>
          </p:cNvSpPr>
          <p:nvPr>
            <p:ph idx="4294967295"/>
          </p:nvPr>
        </p:nvSpPr>
        <p:spPr>
          <a:xfrm>
            <a:off x="432486" y="1348794"/>
            <a:ext cx="8229600" cy="5400675"/>
          </a:xfrm>
        </p:spPr>
        <p:txBody>
          <a:bodyPr>
            <a:normAutofit/>
          </a:bodyPr>
          <a:lstStyle/>
          <a:p>
            <a:pPr>
              <a:lnSpc>
                <a:spcPct val="110000"/>
              </a:lnSpc>
            </a:pPr>
            <a:r>
              <a:rPr lang="zh-CN" altLang="en-US" sz="3000" b="1" dirty="0">
                <a:solidFill>
                  <a:srgbClr val="0432FF"/>
                </a:solidFill>
              </a:rPr>
              <a:t>问题</a:t>
            </a:r>
            <a:r>
              <a:rPr lang="en-US" altLang="zh-CN" sz="3000" b="1" dirty="0">
                <a:solidFill>
                  <a:srgbClr val="0432FF"/>
                </a:solidFill>
              </a:rPr>
              <a:t>2</a:t>
            </a:r>
            <a:r>
              <a:rPr lang="zh-CN" altLang="en-US" sz="3000" b="1" dirty="0"/>
              <a:t>：分支可能的地址范围有</a:t>
            </a:r>
            <a:r>
              <a:rPr lang="en-US" altLang="zh-CN" sz="3000" b="1" dirty="0"/>
              <a:t>32</a:t>
            </a:r>
            <a:r>
              <a:rPr lang="zh-CN" altLang="en-US" sz="3000" b="1" dirty="0"/>
              <a:t>位，如何用</a:t>
            </a:r>
            <a:r>
              <a:rPr lang="en-US" altLang="zh-CN" sz="3000" b="1" dirty="0"/>
              <a:t>16bit</a:t>
            </a:r>
            <a:r>
              <a:rPr lang="zh-CN" altLang="en-US" sz="3000" b="1" dirty="0"/>
              <a:t>表示？</a:t>
            </a:r>
            <a:endParaRPr lang="en-US" altLang="zh-CN" sz="3000" b="1" dirty="0"/>
          </a:p>
          <a:p>
            <a:pPr>
              <a:lnSpc>
                <a:spcPct val="110000"/>
              </a:lnSpc>
            </a:pPr>
            <a:endParaRPr lang="en-US" altLang="zh-CN" sz="2300" dirty="0">
              <a:solidFill>
                <a:srgbClr val="0432FF"/>
              </a:solidFill>
            </a:endParaRPr>
          </a:p>
          <a:p>
            <a:pPr>
              <a:lnSpc>
                <a:spcPct val="110000"/>
              </a:lnSpc>
            </a:pPr>
            <a:endParaRPr lang="en-US" altLang="zh-CN" sz="2300" dirty="0">
              <a:solidFill>
                <a:srgbClr val="0432FF"/>
              </a:solidFill>
            </a:endParaRPr>
          </a:p>
          <a:p>
            <a:pPr>
              <a:lnSpc>
                <a:spcPct val="110000"/>
              </a:lnSpc>
            </a:pPr>
            <a:endParaRPr lang="en-US" altLang="zh-CN" sz="2300" dirty="0">
              <a:solidFill>
                <a:srgbClr val="0432FF"/>
              </a:solidFill>
            </a:endParaRPr>
          </a:p>
          <a:p>
            <a:pPr>
              <a:lnSpc>
                <a:spcPct val="110000"/>
              </a:lnSpc>
            </a:pPr>
            <a:endParaRPr lang="en-US" altLang="zh-CN" sz="2300" dirty="0">
              <a:solidFill>
                <a:srgbClr val="0432FF"/>
              </a:solidFill>
            </a:endParaRPr>
          </a:p>
          <a:p>
            <a:pPr>
              <a:lnSpc>
                <a:spcPct val="110000"/>
              </a:lnSpc>
            </a:pPr>
            <a:endParaRPr lang="en-US" altLang="zh-CN" sz="2300" dirty="0">
              <a:solidFill>
                <a:srgbClr val="0432FF"/>
              </a:solidFill>
            </a:endParaRPr>
          </a:p>
          <a:p>
            <a:pPr>
              <a:lnSpc>
                <a:spcPct val="110000"/>
              </a:lnSpc>
            </a:pPr>
            <a:endParaRPr lang="en-US" altLang="zh-CN" dirty="0"/>
          </a:p>
          <a:p>
            <a:pPr>
              <a:lnSpc>
                <a:spcPct val="110000"/>
              </a:lnSpc>
            </a:pPr>
            <a:r>
              <a:rPr lang="en-US" altLang="zh-CN" sz="3000" dirty="0"/>
              <a:t>MIPS</a:t>
            </a:r>
            <a:r>
              <a:rPr lang="zh-CN" altLang="en-US" sz="3000" dirty="0"/>
              <a:t>采用基址</a:t>
            </a:r>
            <a:r>
              <a:rPr lang="en-US" altLang="zh-CN" sz="3000" dirty="0"/>
              <a:t>+</a:t>
            </a:r>
            <a:r>
              <a:rPr lang="zh-CN" altLang="en-US" sz="3000" dirty="0"/>
              <a:t>偏移地址的寻址方式</a:t>
            </a:r>
            <a:endParaRPr lang="en-US" altLang="zh-CN" sz="3000" dirty="0"/>
          </a:p>
          <a:p>
            <a:pPr lvl="1">
              <a:lnSpc>
                <a:spcPct val="110000"/>
              </a:lnSpc>
            </a:pPr>
            <a:r>
              <a:rPr lang="zh-CN" altLang="en-US" sz="2600" dirty="0"/>
              <a:t>更大范围采用跳转指令 </a:t>
            </a:r>
            <a:r>
              <a:rPr lang="en-US" altLang="zh-CN" sz="2600" i="1" dirty="0">
                <a:latin typeface="Consolas" panose="020B0609020204030204" pitchFamily="49" charset="0"/>
              </a:rPr>
              <a:t>j</a:t>
            </a:r>
            <a:r>
              <a:rPr lang="en-US" altLang="zh-CN" sz="2600" dirty="0"/>
              <a:t> / </a:t>
            </a:r>
            <a:r>
              <a:rPr lang="en-US" altLang="zh-CN" sz="2600" i="1" dirty="0">
                <a:latin typeface="Consolas" panose="020B0609020204030204" pitchFamily="49" charset="0"/>
              </a:rPr>
              <a:t>jr</a:t>
            </a:r>
            <a:r>
              <a:rPr lang="en-US" altLang="zh-CN" sz="2600" dirty="0"/>
              <a:t> </a:t>
            </a:r>
            <a:r>
              <a:rPr lang="zh-CN" altLang="en-US" sz="2600" dirty="0"/>
              <a:t>实现</a:t>
            </a:r>
            <a:endParaRPr lang="en-US" altLang="zh-CN" sz="2600" dirty="0">
              <a:solidFill>
                <a:srgbClr val="0432FF"/>
              </a:solidFill>
            </a:endParaRPr>
          </a:p>
          <a:p>
            <a:pPr lvl="1">
              <a:lnSpc>
                <a:spcPct val="110000"/>
              </a:lnSpc>
            </a:pPr>
            <a:endParaRPr lang="en-US" altLang="zh-CN" sz="1900" dirty="0"/>
          </a:p>
          <a:p>
            <a:pPr lvl="1">
              <a:lnSpc>
                <a:spcPct val="110000"/>
              </a:lnSpc>
            </a:pPr>
            <a:endParaRPr lang="en-US" altLang="zh-CN" sz="1900" dirty="0"/>
          </a:p>
          <a:p>
            <a:pPr lvl="1">
              <a:lnSpc>
                <a:spcPct val="110000"/>
              </a:lnSpc>
            </a:pPr>
            <a:endParaRPr lang="en-US" altLang="zh-CN" sz="1900" dirty="0"/>
          </a:p>
        </p:txBody>
      </p:sp>
      <p:pic>
        <p:nvPicPr>
          <p:cNvPr id="9" name="Picture 8">
            <a:extLst>
              <a:ext uri="{FF2B5EF4-FFF2-40B4-BE49-F238E27FC236}">
                <a16:creationId xmlns:a16="http://schemas.microsoft.com/office/drawing/2014/main" id="{075EED62-5D8A-4F4E-A393-D6E4BD14E7A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996287" y="2327968"/>
            <a:ext cx="7337002" cy="2392665"/>
          </a:xfrm>
          <a:prstGeom prst="rect">
            <a:avLst/>
          </a:prstGeom>
        </p:spPr>
      </p:pic>
      <p:sp>
        <p:nvSpPr>
          <p:cNvPr id="10" name="TextBox 9">
            <a:extLst>
              <a:ext uri="{FF2B5EF4-FFF2-40B4-BE49-F238E27FC236}">
                <a16:creationId xmlns:a16="http://schemas.microsoft.com/office/drawing/2014/main" id="{E619A28B-2C43-4749-9715-D69D55C4719D}"/>
              </a:ext>
            </a:extLst>
          </p:cNvPr>
          <p:cNvSpPr txBox="1"/>
          <p:nvPr/>
        </p:nvSpPr>
        <p:spPr>
          <a:xfrm>
            <a:off x="767913" y="4720633"/>
            <a:ext cx="7608173" cy="461665"/>
          </a:xfrm>
          <a:prstGeom prst="rect">
            <a:avLst/>
          </a:prstGeom>
          <a:noFill/>
        </p:spPr>
        <p:txBody>
          <a:bodyPr wrap="none" rtlCol="0">
            <a:spAutoFit/>
          </a:bodyPr>
          <a:lstStyle/>
          <a:p>
            <a:r>
              <a:rPr lang="en-US" altLang="zh-CN" sz="2400" b="1" dirty="0">
                <a:solidFill>
                  <a:schemeClr val="tx1"/>
                </a:solidFill>
                <a:latin typeface="+mn-lt"/>
                <a:ea typeface="+mj-ea"/>
              </a:rPr>
              <a:t>Branch </a:t>
            </a:r>
            <a:r>
              <a:rPr lang="en-US" altLang="zh-CN" sz="2400" b="1" dirty="0" err="1">
                <a:solidFill>
                  <a:schemeClr val="tx1"/>
                </a:solidFill>
                <a:latin typeface="+mn-lt"/>
                <a:ea typeface="+mj-ea"/>
              </a:rPr>
              <a:t>PC_target</a:t>
            </a:r>
            <a:r>
              <a:rPr lang="en-US" altLang="zh-CN" sz="2400" b="1" dirty="0">
                <a:solidFill>
                  <a:schemeClr val="tx1"/>
                </a:solidFill>
                <a:latin typeface="+mn-lt"/>
                <a:ea typeface="+mj-ea"/>
              </a:rPr>
              <a:t> = </a:t>
            </a:r>
            <a:r>
              <a:rPr lang="en-US" altLang="zh-CN" sz="2400" b="1" dirty="0" err="1">
                <a:solidFill>
                  <a:schemeClr val="tx1"/>
                </a:solidFill>
                <a:latin typeface="+mn-lt"/>
                <a:ea typeface="+mj-ea"/>
              </a:rPr>
              <a:t>PC_now</a:t>
            </a:r>
            <a:r>
              <a:rPr lang="en-US" altLang="zh-CN" sz="2400" b="1" dirty="0">
                <a:solidFill>
                  <a:schemeClr val="tx1"/>
                </a:solidFill>
                <a:latin typeface="+mn-lt"/>
                <a:ea typeface="+mj-ea"/>
              </a:rPr>
              <a:t> + {Offset[15:0], 2’b00}</a:t>
            </a:r>
            <a:endParaRPr lang="zh-CN" altLang="en-US" sz="2400" b="1" dirty="0">
              <a:solidFill>
                <a:schemeClr val="tx1"/>
              </a:solidFill>
              <a:latin typeface="+mn-lt"/>
              <a:ea typeface="+mj-ea"/>
            </a:endParaRPr>
          </a:p>
        </p:txBody>
      </p:sp>
      <p:sp>
        <p:nvSpPr>
          <p:cNvPr id="2" name="Title 4">
            <a:extLst>
              <a:ext uri="{FF2B5EF4-FFF2-40B4-BE49-F238E27FC236}">
                <a16:creationId xmlns:a16="http://schemas.microsoft.com/office/drawing/2014/main" id="{2F8CB9B3-C650-A3A3-40C3-E6F5C20B2EEB}"/>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kumimoji="1" lang="zh-CN" altLang="en-US" dirty="0"/>
              <a:t>回顾：指令编码</a:t>
            </a:r>
            <a:endParaRPr lang="en-CN" kern="0" dirty="0"/>
          </a:p>
        </p:txBody>
      </p:sp>
    </p:spTree>
    <p:extLst>
      <p:ext uri="{BB962C8B-B14F-4D97-AF65-F5344CB8AC3E}">
        <p14:creationId xmlns:p14="http://schemas.microsoft.com/office/powerpoint/2010/main" val="4674673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E890C99-B700-124E-91F1-D0C706A42AAC}"/>
              </a:ext>
            </a:extLst>
          </p:cNvPr>
          <p:cNvSpPr>
            <a:spLocks noGrp="1"/>
          </p:cNvSpPr>
          <p:nvPr>
            <p:ph type="sldNum" sz="quarter" idx="12"/>
          </p:nvPr>
        </p:nvSpPr>
        <p:spPr/>
        <p:txBody>
          <a:bodyPr/>
          <a:lstStyle/>
          <a:p>
            <a:fld id="{176ACFD1-D213-4B9C-817B-45486DBF105A}" type="slidenum">
              <a:rPr lang="en-US" smtClean="0">
                <a:solidFill>
                  <a:prstClr val="black"/>
                </a:solidFill>
              </a:rPr>
              <a:pPr/>
              <a:t>43</a:t>
            </a:fld>
            <a:endParaRPr lang="en-US" dirty="0">
              <a:solidFill>
                <a:prstClr val="black"/>
              </a:solidFill>
            </a:endParaRPr>
          </a:p>
        </p:txBody>
      </p:sp>
      <p:sp>
        <p:nvSpPr>
          <p:cNvPr id="3" name="Content Placeholder 2">
            <a:extLst>
              <a:ext uri="{FF2B5EF4-FFF2-40B4-BE49-F238E27FC236}">
                <a16:creationId xmlns:a16="http://schemas.microsoft.com/office/drawing/2014/main" id="{23469B0A-DAD9-1645-92D9-8728E6FFEF19}"/>
              </a:ext>
            </a:extLst>
          </p:cNvPr>
          <p:cNvSpPr>
            <a:spLocks noGrp="1"/>
          </p:cNvSpPr>
          <p:nvPr>
            <p:ph idx="4294967295"/>
          </p:nvPr>
        </p:nvSpPr>
        <p:spPr>
          <a:xfrm>
            <a:off x="0" y="981075"/>
            <a:ext cx="9341708" cy="5256213"/>
          </a:xfrm>
        </p:spPr>
        <p:txBody>
          <a:bodyPr/>
          <a:lstStyle/>
          <a:p>
            <a:pPr>
              <a:lnSpc>
                <a:spcPct val="200000"/>
              </a:lnSpc>
            </a:pPr>
            <a:r>
              <a:rPr lang="zh-CN" altLang="en-US" dirty="0"/>
              <a:t>一些分支指令的例子</a:t>
            </a:r>
            <a:endParaRPr lang="en-US" altLang="zh-CN" dirty="0"/>
          </a:p>
          <a:p>
            <a:pPr lvl="1">
              <a:lnSpc>
                <a:spcPct val="200000"/>
              </a:lnSpc>
            </a:pPr>
            <a:r>
              <a:rPr lang="en-US" sz="2400" i="1" dirty="0">
                <a:latin typeface="Consolas" panose="020B0609020204030204" pitchFamily="49" charset="0"/>
              </a:rPr>
              <a:t>beq rs, rt, target # </a:t>
            </a:r>
            <a:r>
              <a:rPr lang="zh-CN" altLang="en-US" sz="2400" dirty="0">
                <a:latin typeface="Consolas" panose="020B0609020204030204" pitchFamily="49" charset="0"/>
              </a:rPr>
              <a:t>如果</a:t>
            </a:r>
            <a:r>
              <a:rPr lang="en-US" sz="2400" i="1" dirty="0">
                <a:latin typeface="Consolas" panose="020B0609020204030204" pitchFamily="49" charset="0"/>
              </a:rPr>
              <a:t>rs == rt</a:t>
            </a:r>
            <a:r>
              <a:rPr lang="zh-CN" altLang="en-US" sz="2400" dirty="0">
                <a:latin typeface="Consolas" panose="020B0609020204030204" pitchFamily="49" charset="0"/>
              </a:rPr>
              <a:t>则跳转到</a:t>
            </a:r>
            <a:r>
              <a:rPr lang="en-US" altLang="zh-CN" sz="2400" i="1" dirty="0">
                <a:latin typeface="Consolas" panose="020B0609020204030204" pitchFamily="49" charset="0"/>
              </a:rPr>
              <a:t>target</a:t>
            </a:r>
            <a:endParaRPr lang="en-US" sz="2400" i="1" dirty="0">
              <a:latin typeface="Consolas" panose="020B0609020204030204" pitchFamily="49" charset="0"/>
            </a:endParaRPr>
          </a:p>
          <a:p>
            <a:pPr lvl="1">
              <a:lnSpc>
                <a:spcPct val="200000"/>
              </a:lnSpc>
            </a:pPr>
            <a:r>
              <a:rPr lang="en-US" altLang="zh-CN" sz="2400" i="1" dirty="0">
                <a:latin typeface="Consolas" panose="020B0609020204030204" pitchFamily="49" charset="0"/>
              </a:rPr>
              <a:t>bne rs, rt, target # </a:t>
            </a:r>
            <a:r>
              <a:rPr lang="zh-CN" altLang="en-US" sz="2400" dirty="0">
                <a:latin typeface="Consolas" panose="020B0609020204030204" pitchFamily="49" charset="0"/>
              </a:rPr>
              <a:t>如果</a:t>
            </a:r>
            <a:r>
              <a:rPr lang="en-US" altLang="zh-CN" sz="2400" i="1" dirty="0">
                <a:latin typeface="Consolas" panose="020B0609020204030204" pitchFamily="49" charset="0"/>
              </a:rPr>
              <a:t>rs != rt</a:t>
            </a:r>
            <a:r>
              <a:rPr lang="zh-CN" altLang="en-US" sz="2400" dirty="0">
                <a:latin typeface="Consolas" panose="020B0609020204030204" pitchFamily="49" charset="0"/>
              </a:rPr>
              <a:t>则跳转到</a:t>
            </a:r>
            <a:r>
              <a:rPr lang="en-US" altLang="zh-CN" sz="2400" i="1" dirty="0">
                <a:latin typeface="Consolas" panose="020B0609020204030204" pitchFamily="49" charset="0"/>
              </a:rPr>
              <a:t>target</a:t>
            </a:r>
          </a:p>
          <a:p>
            <a:pPr lvl="1">
              <a:lnSpc>
                <a:spcPct val="200000"/>
              </a:lnSpc>
            </a:pPr>
            <a:r>
              <a:rPr lang="en-US" altLang="zh-CN" sz="2400" i="1" dirty="0" err="1">
                <a:latin typeface="Consolas" panose="020B0609020204030204" pitchFamily="49" charset="0"/>
              </a:rPr>
              <a:t>beqz</a:t>
            </a:r>
            <a:r>
              <a:rPr lang="en-US" altLang="zh-CN" sz="2400" i="1" dirty="0">
                <a:latin typeface="Consolas" panose="020B0609020204030204" pitchFamily="49" charset="0"/>
              </a:rPr>
              <a:t> rs, target # </a:t>
            </a:r>
            <a:r>
              <a:rPr lang="zh-CN" altLang="en-US" sz="2400" dirty="0">
                <a:latin typeface="Consolas" panose="020B0609020204030204" pitchFamily="49" charset="0"/>
              </a:rPr>
              <a:t>如果</a:t>
            </a:r>
            <a:r>
              <a:rPr lang="en-US" altLang="zh-CN" sz="2400" i="1" dirty="0">
                <a:latin typeface="Consolas" panose="020B0609020204030204" pitchFamily="49" charset="0"/>
              </a:rPr>
              <a:t>rs == 0</a:t>
            </a:r>
            <a:r>
              <a:rPr lang="zh-CN" altLang="en-US" sz="2400" dirty="0">
                <a:latin typeface="Consolas" panose="020B0609020204030204" pitchFamily="49" charset="0"/>
              </a:rPr>
              <a:t>则跳转到</a:t>
            </a:r>
            <a:r>
              <a:rPr lang="en-US" altLang="zh-CN" sz="2400" i="1" dirty="0">
                <a:latin typeface="Consolas" panose="020B0609020204030204" pitchFamily="49" charset="0"/>
              </a:rPr>
              <a:t>target</a:t>
            </a:r>
          </a:p>
          <a:p>
            <a:pPr lvl="1">
              <a:lnSpc>
                <a:spcPct val="200000"/>
              </a:lnSpc>
            </a:pPr>
            <a:r>
              <a:rPr lang="en-US" altLang="zh-CN" sz="2400" i="1" dirty="0">
                <a:latin typeface="Consolas" panose="020B0609020204030204" pitchFamily="49" charset="0"/>
              </a:rPr>
              <a:t>bltz rs, target # </a:t>
            </a:r>
            <a:r>
              <a:rPr lang="zh-CN" altLang="en-US" sz="2400" dirty="0">
                <a:latin typeface="Consolas" panose="020B0609020204030204" pitchFamily="49" charset="0"/>
              </a:rPr>
              <a:t>如果</a:t>
            </a:r>
            <a:r>
              <a:rPr lang="en-US" altLang="zh-CN" sz="2400" i="1" dirty="0">
                <a:latin typeface="Consolas" panose="020B0609020204030204" pitchFamily="49" charset="0"/>
              </a:rPr>
              <a:t>rs &lt; 0</a:t>
            </a:r>
            <a:r>
              <a:rPr lang="zh-CN" altLang="en-US" sz="2400" dirty="0">
                <a:latin typeface="Consolas" panose="020B0609020204030204" pitchFamily="49" charset="0"/>
              </a:rPr>
              <a:t>则跳转到</a:t>
            </a:r>
            <a:r>
              <a:rPr lang="en-US" altLang="zh-CN" sz="2400" i="1" dirty="0">
                <a:latin typeface="Consolas" panose="020B0609020204030204" pitchFamily="49" charset="0"/>
              </a:rPr>
              <a:t>target</a:t>
            </a:r>
          </a:p>
          <a:p>
            <a:pPr lvl="1"/>
            <a:endParaRPr lang="en-US" altLang="zh-CN" dirty="0"/>
          </a:p>
          <a:p>
            <a:pPr lvl="1"/>
            <a:endParaRPr lang="en-CN" dirty="0"/>
          </a:p>
        </p:txBody>
      </p:sp>
      <p:sp>
        <p:nvSpPr>
          <p:cNvPr id="5" name="文本框 4">
            <a:extLst>
              <a:ext uri="{FF2B5EF4-FFF2-40B4-BE49-F238E27FC236}">
                <a16:creationId xmlns:a16="http://schemas.microsoft.com/office/drawing/2014/main" id="{6552A605-5E49-BBF3-75BD-05541545D82C}"/>
              </a:ext>
            </a:extLst>
          </p:cNvPr>
          <p:cNvSpPr txBox="1"/>
          <p:nvPr/>
        </p:nvSpPr>
        <p:spPr>
          <a:xfrm>
            <a:off x="8078484" y="2641798"/>
            <a:ext cx="987770" cy="461665"/>
          </a:xfrm>
          <a:prstGeom prst="rect">
            <a:avLst/>
          </a:prstGeom>
          <a:noFill/>
        </p:spPr>
        <p:txBody>
          <a:bodyPr wrap="none" rtlCol="0">
            <a:spAutoFit/>
          </a:bodyPr>
          <a:lstStyle/>
          <a:p>
            <a:r>
              <a:rPr lang="en-US" altLang="zh-CN" sz="2400" b="1" dirty="0">
                <a:solidFill>
                  <a:srgbClr val="0432FF"/>
                </a:solidFill>
                <a:latin typeface="+mn-lt"/>
              </a:rPr>
              <a:t>equal</a:t>
            </a:r>
            <a:endParaRPr lang="zh-CN" altLang="en-US" sz="2400" b="1" dirty="0">
              <a:solidFill>
                <a:srgbClr val="0432FF"/>
              </a:solidFill>
              <a:latin typeface="+mn-lt"/>
            </a:endParaRPr>
          </a:p>
        </p:txBody>
      </p:sp>
      <p:sp>
        <p:nvSpPr>
          <p:cNvPr id="6" name="文本框 5">
            <a:extLst>
              <a:ext uri="{FF2B5EF4-FFF2-40B4-BE49-F238E27FC236}">
                <a16:creationId xmlns:a16="http://schemas.microsoft.com/office/drawing/2014/main" id="{494A9E04-03E9-8369-0717-91A8358B8C28}"/>
              </a:ext>
            </a:extLst>
          </p:cNvPr>
          <p:cNvSpPr txBox="1"/>
          <p:nvPr/>
        </p:nvSpPr>
        <p:spPr>
          <a:xfrm>
            <a:off x="7515830" y="3523705"/>
            <a:ext cx="1550424" cy="461665"/>
          </a:xfrm>
          <a:prstGeom prst="rect">
            <a:avLst/>
          </a:prstGeom>
          <a:noFill/>
        </p:spPr>
        <p:txBody>
          <a:bodyPr wrap="none" rtlCol="0">
            <a:spAutoFit/>
          </a:bodyPr>
          <a:lstStyle/>
          <a:p>
            <a:r>
              <a:rPr lang="en-US" altLang="zh-CN" sz="2400" b="1" dirty="0">
                <a:solidFill>
                  <a:srgbClr val="0432FF"/>
                </a:solidFill>
                <a:latin typeface="+mn-lt"/>
              </a:rPr>
              <a:t>not equal</a:t>
            </a:r>
            <a:endParaRPr lang="zh-CN" altLang="en-US" sz="2400" b="1" dirty="0">
              <a:solidFill>
                <a:srgbClr val="0432FF"/>
              </a:solidFill>
              <a:latin typeface="+mn-lt"/>
            </a:endParaRPr>
          </a:p>
        </p:txBody>
      </p:sp>
      <p:sp>
        <p:nvSpPr>
          <p:cNvPr id="7" name="文本框 6">
            <a:extLst>
              <a:ext uri="{FF2B5EF4-FFF2-40B4-BE49-F238E27FC236}">
                <a16:creationId xmlns:a16="http://schemas.microsoft.com/office/drawing/2014/main" id="{3A6BCD7B-55BD-C01C-524A-7CF0BFB2F5A7}"/>
              </a:ext>
            </a:extLst>
          </p:cNvPr>
          <p:cNvSpPr txBox="1"/>
          <p:nvPr/>
        </p:nvSpPr>
        <p:spPr>
          <a:xfrm>
            <a:off x="7446900" y="4396249"/>
            <a:ext cx="1619354" cy="461665"/>
          </a:xfrm>
          <a:prstGeom prst="rect">
            <a:avLst/>
          </a:prstGeom>
          <a:noFill/>
        </p:spPr>
        <p:txBody>
          <a:bodyPr wrap="none" rtlCol="0">
            <a:spAutoFit/>
          </a:bodyPr>
          <a:lstStyle/>
          <a:p>
            <a:pPr algn="r"/>
            <a:r>
              <a:rPr lang="en-US" altLang="zh-CN" sz="2400" b="1" dirty="0">
                <a:solidFill>
                  <a:srgbClr val="0432FF"/>
                </a:solidFill>
                <a:latin typeface="+mn-lt"/>
              </a:rPr>
              <a:t>equal to 0</a:t>
            </a:r>
            <a:endParaRPr lang="zh-CN" altLang="en-US" sz="2400" b="1" dirty="0">
              <a:solidFill>
                <a:srgbClr val="0432FF"/>
              </a:solidFill>
              <a:latin typeface="+mn-lt"/>
            </a:endParaRPr>
          </a:p>
        </p:txBody>
      </p:sp>
      <p:sp>
        <p:nvSpPr>
          <p:cNvPr id="8" name="文本框 7">
            <a:extLst>
              <a:ext uri="{FF2B5EF4-FFF2-40B4-BE49-F238E27FC236}">
                <a16:creationId xmlns:a16="http://schemas.microsoft.com/office/drawing/2014/main" id="{FBBFEB79-D863-C269-1047-4866AA5D4A26}"/>
              </a:ext>
            </a:extLst>
          </p:cNvPr>
          <p:cNvSpPr txBox="1"/>
          <p:nvPr/>
        </p:nvSpPr>
        <p:spPr>
          <a:xfrm>
            <a:off x="7291409" y="5143004"/>
            <a:ext cx="1774845" cy="461665"/>
          </a:xfrm>
          <a:prstGeom prst="rect">
            <a:avLst/>
          </a:prstGeom>
          <a:noFill/>
        </p:spPr>
        <p:txBody>
          <a:bodyPr wrap="none" rtlCol="0">
            <a:spAutoFit/>
          </a:bodyPr>
          <a:lstStyle/>
          <a:p>
            <a:r>
              <a:rPr lang="en-US" altLang="zh-CN" sz="2400" b="1" dirty="0">
                <a:solidFill>
                  <a:srgbClr val="0432FF"/>
                </a:solidFill>
                <a:latin typeface="+mn-lt"/>
              </a:rPr>
              <a:t>less than 0</a:t>
            </a:r>
            <a:endParaRPr lang="zh-CN" altLang="en-US" sz="2400" b="1" dirty="0">
              <a:solidFill>
                <a:srgbClr val="0432FF"/>
              </a:solidFill>
              <a:latin typeface="+mn-lt"/>
            </a:endParaRPr>
          </a:p>
        </p:txBody>
      </p:sp>
      <p:sp>
        <p:nvSpPr>
          <p:cNvPr id="9" name="Title 4">
            <a:extLst>
              <a:ext uri="{FF2B5EF4-FFF2-40B4-BE49-F238E27FC236}">
                <a16:creationId xmlns:a16="http://schemas.microsoft.com/office/drawing/2014/main" id="{2A8E6233-B571-AE06-64AA-16CD441FB879}"/>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kumimoji="1" lang="en-US" altLang="zh-CN" dirty="0"/>
              <a:t>MIPS</a:t>
            </a:r>
            <a:r>
              <a:rPr kumimoji="1" lang="zh-CN" altLang="en-US" dirty="0"/>
              <a:t>指令格式：</a:t>
            </a:r>
            <a:r>
              <a:rPr kumimoji="1" lang="en-US" altLang="zh-CN" dirty="0"/>
              <a:t>I</a:t>
            </a:r>
            <a:r>
              <a:rPr kumimoji="1" lang="zh-CN" altLang="en-US" dirty="0"/>
              <a:t>型指令</a:t>
            </a:r>
            <a:endParaRPr lang="en-CN" kern="0" dirty="0"/>
          </a:p>
        </p:txBody>
      </p:sp>
    </p:spTree>
    <p:extLst>
      <p:ext uri="{BB962C8B-B14F-4D97-AF65-F5344CB8AC3E}">
        <p14:creationId xmlns:p14="http://schemas.microsoft.com/office/powerpoint/2010/main" val="33742631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a:extLst>
              <a:ext uri="{FF2B5EF4-FFF2-40B4-BE49-F238E27FC236}">
                <a16:creationId xmlns:a16="http://schemas.microsoft.com/office/drawing/2014/main" id="{68F7FF1C-DC59-5F43-A383-991D51B72C86}"/>
              </a:ext>
            </a:extLst>
          </p:cNvPr>
          <p:cNvSpPr>
            <a:spLocks noGrp="1"/>
          </p:cNvSpPr>
          <p:nvPr>
            <p:ph type="sldNum" sz="quarter" idx="12"/>
          </p:nvPr>
        </p:nvSpPr>
        <p:spPr/>
        <p:txBody>
          <a:bodyPr/>
          <a:lstStyle/>
          <a:p>
            <a:fld id="{14659731-6BD7-46E7-8D3C-2F3AC07E20B1}" type="slidenum">
              <a:rPr lang="en-US" altLang="zh-CN" smtClean="0"/>
              <a:pPr/>
              <a:t>44</a:t>
            </a:fld>
            <a:endParaRPr lang="en-US" altLang="zh-CN"/>
          </a:p>
        </p:txBody>
      </p:sp>
      <p:sp>
        <p:nvSpPr>
          <p:cNvPr id="36" name="Rectangle 3">
            <a:extLst>
              <a:ext uri="{FF2B5EF4-FFF2-40B4-BE49-F238E27FC236}">
                <a16:creationId xmlns:a16="http://schemas.microsoft.com/office/drawing/2014/main" id="{1AF4C294-9B96-4AC7-A8CA-FB8884B6204B}"/>
              </a:ext>
            </a:extLst>
          </p:cNvPr>
          <p:cNvSpPr>
            <a:spLocks noGrp="1" noChangeArrowheads="1"/>
          </p:cNvSpPr>
          <p:nvPr>
            <p:ph idx="4294967295"/>
          </p:nvPr>
        </p:nvSpPr>
        <p:spPr>
          <a:xfrm>
            <a:off x="228600" y="1320800"/>
            <a:ext cx="8686800" cy="5400675"/>
          </a:xfrm>
        </p:spPr>
        <p:txBody>
          <a:bodyPr>
            <a:normAutofit/>
          </a:bodyPr>
          <a:lstStyle/>
          <a:p>
            <a:pPr>
              <a:lnSpc>
                <a:spcPct val="110000"/>
              </a:lnSpc>
            </a:pPr>
            <a:r>
              <a:rPr lang="zh-CN" altLang="en-US" b="1" dirty="0">
                <a:solidFill>
                  <a:srgbClr val="0432FF"/>
                </a:solidFill>
              </a:rPr>
              <a:t>问题</a:t>
            </a:r>
            <a:r>
              <a:rPr lang="en-US" altLang="zh-CN" b="1" dirty="0">
                <a:solidFill>
                  <a:srgbClr val="0432FF"/>
                </a:solidFill>
              </a:rPr>
              <a:t>3</a:t>
            </a:r>
            <a:r>
              <a:rPr lang="zh-CN" altLang="en-US" b="1" dirty="0"/>
              <a:t>：带立即数的分支指令立即数如何编码？</a:t>
            </a:r>
            <a:endParaRPr lang="en-US" altLang="zh-CN" b="1" dirty="0"/>
          </a:p>
          <a:p>
            <a:pPr>
              <a:lnSpc>
                <a:spcPct val="110000"/>
              </a:lnSpc>
            </a:pPr>
            <a:endParaRPr lang="en-US" altLang="zh-CN" sz="2300" dirty="0">
              <a:solidFill>
                <a:srgbClr val="0432FF"/>
              </a:solidFill>
            </a:endParaRPr>
          </a:p>
          <a:p>
            <a:pPr>
              <a:lnSpc>
                <a:spcPct val="110000"/>
              </a:lnSpc>
            </a:pPr>
            <a:endParaRPr lang="en-US" altLang="zh-CN" sz="2300" dirty="0">
              <a:solidFill>
                <a:srgbClr val="0432FF"/>
              </a:solidFill>
            </a:endParaRPr>
          </a:p>
          <a:p>
            <a:pPr>
              <a:lnSpc>
                <a:spcPct val="110000"/>
              </a:lnSpc>
            </a:pPr>
            <a:endParaRPr lang="en-US" altLang="zh-CN" sz="2300" dirty="0">
              <a:solidFill>
                <a:srgbClr val="0432FF"/>
              </a:solidFill>
            </a:endParaRPr>
          </a:p>
          <a:p>
            <a:pPr>
              <a:lnSpc>
                <a:spcPct val="110000"/>
              </a:lnSpc>
            </a:pPr>
            <a:endParaRPr lang="en-US" altLang="zh-CN" sz="2300" dirty="0">
              <a:solidFill>
                <a:srgbClr val="0432FF"/>
              </a:solidFill>
            </a:endParaRPr>
          </a:p>
          <a:p>
            <a:pPr>
              <a:lnSpc>
                <a:spcPct val="110000"/>
              </a:lnSpc>
            </a:pPr>
            <a:endParaRPr lang="en-US" altLang="zh-CN" dirty="0"/>
          </a:p>
          <a:p>
            <a:pPr>
              <a:lnSpc>
                <a:spcPct val="110000"/>
              </a:lnSpc>
            </a:pPr>
            <a:r>
              <a:rPr lang="en-US" altLang="zh-CN" dirty="0"/>
              <a:t>MIPS</a:t>
            </a:r>
            <a:r>
              <a:rPr lang="zh-CN" altLang="en-US" dirty="0"/>
              <a:t>没有带立即数的分支指令</a:t>
            </a:r>
            <a:endParaRPr lang="en-US" altLang="zh-CN" dirty="0"/>
          </a:p>
          <a:p>
            <a:pPr lvl="1">
              <a:lnSpc>
                <a:spcPct val="110000"/>
              </a:lnSpc>
            </a:pPr>
            <a:r>
              <a:rPr lang="zh-CN" altLang="en-US" dirty="0"/>
              <a:t>类似“</a:t>
            </a:r>
            <a:r>
              <a:rPr lang="en-US" altLang="zh-CN" dirty="0" err="1"/>
              <a:t>beq</a:t>
            </a:r>
            <a:r>
              <a:rPr lang="en-US" altLang="zh-CN" dirty="0"/>
              <a:t> </a:t>
            </a:r>
            <a:r>
              <a:rPr lang="en-US" altLang="zh-CN" dirty="0" err="1"/>
              <a:t>rs</a:t>
            </a:r>
            <a:r>
              <a:rPr lang="en-US" altLang="zh-CN" dirty="0"/>
              <a:t>, 5, target</a:t>
            </a:r>
            <a:r>
              <a:rPr lang="zh-CN" altLang="en-US" dirty="0"/>
              <a:t>”的指令不支持</a:t>
            </a:r>
            <a:endParaRPr lang="en-US" altLang="zh-CN" dirty="0"/>
          </a:p>
          <a:p>
            <a:pPr lvl="1">
              <a:lnSpc>
                <a:spcPct val="110000"/>
              </a:lnSpc>
            </a:pPr>
            <a:r>
              <a:rPr lang="zh-CN" altLang="en-US" dirty="0"/>
              <a:t>使用比较指令 </a:t>
            </a:r>
            <a:r>
              <a:rPr lang="en-US" altLang="zh-CN" dirty="0"/>
              <a:t>+ </a:t>
            </a:r>
            <a:r>
              <a:rPr lang="zh-CN" altLang="en-US" dirty="0"/>
              <a:t>分支指令组合实现</a:t>
            </a:r>
            <a:endParaRPr lang="en-US" altLang="zh-CN" dirty="0"/>
          </a:p>
          <a:p>
            <a:pPr lvl="1">
              <a:lnSpc>
                <a:spcPct val="110000"/>
              </a:lnSpc>
            </a:pPr>
            <a:endParaRPr lang="en-US" altLang="zh-CN" sz="1900" dirty="0"/>
          </a:p>
          <a:p>
            <a:pPr lvl="1">
              <a:lnSpc>
                <a:spcPct val="110000"/>
              </a:lnSpc>
            </a:pPr>
            <a:endParaRPr lang="en-US" altLang="zh-CN" sz="1900" dirty="0"/>
          </a:p>
          <a:p>
            <a:pPr lvl="1">
              <a:lnSpc>
                <a:spcPct val="110000"/>
              </a:lnSpc>
            </a:pPr>
            <a:endParaRPr lang="en-US" altLang="zh-CN" sz="1900" dirty="0"/>
          </a:p>
        </p:txBody>
      </p:sp>
      <p:sp>
        <p:nvSpPr>
          <p:cNvPr id="2" name="Title 4">
            <a:extLst>
              <a:ext uri="{FF2B5EF4-FFF2-40B4-BE49-F238E27FC236}">
                <a16:creationId xmlns:a16="http://schemas.microsoft.com/office/drawing/2014/main" id="{836629F0-D6A7-1A13-1AE9-6408D7CC0052}"/>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kumimoji="1" lang="zh-CN" altLang="en-US" dirty="0"/>
              <a:t>回顾：指令编码</a:t>
            </a:r>
            <a:endParaRPr lang="en-CN" kern="0" dirty="0"/>
          </a:p>
        </p:txBody>
      </p:sp>
      <p:grpSp>
        <p:nvGrpSpPr>
          <p:cNvPr id="4" name="Group 3">
            <a:extLst>
              <a:ext uri="{FF2B5EF4-FFF2-40B4-BE49-F238E27FC236}">
                <a16:creationId xmlns:a16="http://schemas.microsoft.com/office/drawing/2014/main" id="{9C1C380B-7C55-CE22-EEB2-CF2E98B30D03}"/>
              </a:ext>
            </a:extLst>
          </p:cNvPr>
          <p:cNvGrpSpPr/>
          <p:nvPr/>
        </p:nvGrpSpPr>
        <p:grpSpPr>
          <a:xfrm>
            <a:off x="457200" y="2080041"/>
            <a:ext cx="8300788" cy="2032804"/>
            <a:chOff x="596348" y="3239728"/>
            <a:chExt cx="8300788" cy="2032804"/>
          </a:xfrm>
        </p:grpSpPr>
        <p:grpSp>
          <p:nvGrpSpPr>
            <p:cNvPr id="6" name="Group 2">
              <a:extLst>
                <a:ext uri="{FF2B5EF4-FFF2-40B4-BE49-F238E27FC236}">
                  <a16:creationId xmlns:a16="http://schemas.microsoft.com/office/drawing/2014/main" id="{B5D33F42-F8BA-1609-5869-7F1EA561B010}"/>
                </a:ext>
              </a:extLst>
            </p:cNvPr>
            <p:cNvGrpSpPr/>
            <p:nvPr/>
          </p:nvGrpSpPr>
          <p:grpSpPr>
            <a:xfrm>
              <a:off x="596348" y="3795668"/>
              <a:ext cx="8300788" cy="1476864"/>
              <a:chOff x="596348" y="3795668"/>
              <a:chExt cx="8300788" cy="1476864"/>
            </a:xfrm>
          </p:grpSpPr>
          <p:sp>
            <p:nvSpPr>
              <p:cNvPr id="8" name="Rectangle 5">
                <a:extLst>
                  <a:ext uri="{FF2B5EF4-FFF2-40B4-BE49-F238E27FC236}">
                    <a16:creationId xmlns:a16="http://schemas.microsoft.com/office/drawing/2014/main" id="{A0ACB62B-2969-AC0C-8EDF-891904F8E90C}"/>
                  </a:ext>
                </a:extLst>
              </p:cNvPr>
              <p:cNvSpPr/>
              <p:nvPr/>
            </p:nvSpPr>
            <p:spPr>
              <a:xfrm>
                <a:off x="596348" y="3805608"/>
                <a:ext cx="7951304" cy="457200"/>
              </a:xfrm>
              <a:prstGeom prst="rect">
                <a:avLst/>
              </a:prstGeom>
              <a:noFill/>
            </p:spPr>
            <p:style>
              <a:lnRef idx="2">
                <a:schemeClr val="dk1"/>
              </a:lnRef>
              <a:fillRef idx="1">
                <a:schemeClr val="lt1"/>
              </a:fillRef>
              <a:effectRef idx="0">
                <a:schemeClr val="dk1"/>
              </a:effectRef>
              <a:fontRef idx="minor">
                <a:schemeClr val="dk1"/>
              </a:fontRef>
            </p:style>
            <p:txBody>
              <a:bodyPr wrap="square" rtlCol="0" anchor="ctr">
                <a:noAutofit/>
              </a:bodyPr>
              <a:lstStyle/>
              <a:p>
                <a:pPr algn="ctr"/>
                <a:endParaRPr lang="zh-CN" altLang="en-US" sz="1800" b="1">
                  <a:solidFill>
                    <a:schemeClr val="tx1"/>
                  </a:solidFill>
                  <a:latin typeface="Arial" panose="020B0604020202020204" pitchFamily="34" charset="0"/>
                  <a:cs typeface="Arial" panose="020B0604020202020204" pitchFamily="34" charset="0"/>
                </a:endParaRPr>
              </a:p>
            </p:txBody>
          </p:sp>
          <p:cxnSp>
            <p:nvCxnSpPr>
              <p:cNvPr id="10" name="Straight Connector 6">
                <a:extLst>
                  <a:ext uri="{FF2B5EF4-FFF2-40B4-BE49-F238E27FC236}">
                    <a16:creationId xmlns:a16="http://schemas.microsoft.com/office/drawing/2014/main" id="{06B7D8E1-5213-C1BF-EFBC-1F1A62D7B97C}"/>
                  </a:ext>
                </a:extLst>
              </p:cNvPr>
              <p:cNvCxnSpPr>
                <a:cxnSpLocks/>
              </p:cNvCxnSpPr>
              <p:nvPr/>
            </p:nvCxnSpPr>
            <p:spPr>
              <a:xfrm>
                <a:off x="2022150" y="3795668"/>
                <a:ext cx="0" cy="4671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8">
                <a:extLst>
                  <a:ext uri="{FF2B5EF4-FFF2-40B4-BE49-F238E27FC236}">
                    <a16:creationId xmlns:a16="http://schemas.microsoft.com/office/drawing/2014/main" id="{CC7263FF-BB4C-FC1F-7729-D50AEE4112CF}"/>
                  </a:ext>
                </a:extLst>
              </p:cNvPr>
              <p:cNvSpPr txBox="1"/>
              <p:nvPr/>
            </p:nvSpPr>
            <p:spPr>
              <a:xfrm>
                <a:off x="826172" y="4272748"/>
                <a:ext cx="968535" cy="400110"/>
              </a:xfrm>
              <a:prstGeom prst="rect">
                <a:avLst/>
              </a:prstGeom>
              <a:noFill/>
            </p:spPr>
            <p:txBody>
              <a:bodyPr wrap="none" rtlCol="0">
                <a:spAutoFit/>
              </a:bodyPr>
              <a:lstStyle/>
              <a:p>
                <a:pPr algn="ctr"/>
                <a:r>
                  <a:rPr lang="zh-CN" altLang="en-US" sz="2000" b="1" dirty="0">
                    <a:solidFill>
                      <a:schemeClr val="tx1"/>
                    </a:solidFill>
                    <a:latin typeface="+mj-ea"/>
                    <a:ea typeface="+mj-ea"/>
                  </a:rPr>
                  <a:t>操作码</a:t>
                </a:r>
              </a:p>
            </p:txBody>
          </p:sp>
          <p:sp>
            <p:nvSpPr>
              <p:cNvPr id="12" name="TextBox 10">
                <a:extLst>
                  <a:ext uri="{FF2B5EF4-FFF2-40B4-BE49-F238E27FC236}">
                    <a16:creationId xmlns:a16="http://schemas.microsoft.com/office/drawing/2014/main" id="{05A6F36D-CD54-A241-1D35-B4FA9A35E4C4}"/>
                  </a:ext>
                </a:extLst>
              </p:cNvPr>
              <p:cNvSpPr txBox="1"/>
              <p:nvPr/>
            </p:nvSpPr>
            <p:spPr>
              <a:xfrm>
                <a:off x="940624" y="3810577"/>
                <a:ext cx="805068" cy="461665"/>
              </a:xfrm>
              <a:prstGeom prst="rect">
                <a:avLst/>
              </a:prstGeom>
              <a:noFill/>
            </p:spPr>
            <p:txBody>
              <a:bodyPr wrap="square" rtlCol="0">
                <a:spAutoFit/>
              </a:bodyPr>
              <a:lstStyle/>
              <a:p>
                <a:pPr algn="ctr"/>
                <a:r>
                  <a:rPr lang="en-US" altLang="zh-CN" sz="2400" b="1" dirty="0">
                    <a:solidFill>
                      <a:srgbClr val="0432FF"/>
                    </a:solidFill>
                    <a:latin typeface="+mn-lt"/>
                  </a:rPr>
                  <a:t>6bit</a:t>
                </a:r>
                <a:endParaRPr lang="zh-CN" altLang="en-US" sz="2400" b="1" dirty="0">
                  <a:solidFill>
                    <a:srgbClr val="0432FF"/>
                  </a:solidFill>
                  <a:latin typeface="+mn-lt"/>
                </a:endParaRPr>
              </a:p>
            </p:txBody>
          </p:sp>
          <p:sp>
            <p:nvSpPr>
              <p:cNvPr id="13" name="TextBox 11">
                <a:extLst>
                  <a:ext uri="{FF2B5EF4-FFF2-40B4-BE49-F238E27FC236}">
                    <a16:creationId xmlns:a16="http://schemas.microsoft.com/office/drawing/2014/main" id="{F42E28BB-1779-B2F8-FB10-3E28C819DD99}"/>
                  </a:ext>
                </a:extLst>
              </p:cNvPr>
              <p:cNvSpPr txBox="1"/>
              <p:nvPr/>
            </p:nvSpPr>
            <p:spPr>
              <a:xfrm>
                <a:off x="2090110" y="4280617"/>
                <a:ext cx="1112804" cy="400110"/>
              </a:xfrm>
              <a:prstGeom prst="rect">
                <a:avLst/>
              </a:prstGeom>
              <a:noFill/>
            </p:spPr>
            <p:txBody>
              <a:bodyPr wrap="none" rtlCol="0">
                <a:spAutoFit/>
              </a:bodyPr>
              <a:lstStyle/>
              <a:p>
                <a:pPr algn="ctr"/>
                <a:r>
                  <a:rPr lang="zh-CN" altLang="en-US" sz="2000" b="1" dirty="0">
                    <a:solidFill>
                      <a:schemeClr val="tx1"/>
                    </a:solidFill>
                    <a:latin typeface="+mj-ea"/>
                    <a:ea typeface="+mj-ea"/>
                  </a:rPr>
                  <a:t>操作数</a:t>
                </a:r>
                <a:r>
                  <a:rPr lang="en-US" altLang="zh-CN" sz="2000" b="1" dirty="0">
                    <a:solidFill>
                      <a:schemeClr val="tx1"/>
                    </a:solidFill>
                    <a:latin typeface="+mj-ea"/>
                    <a:ea typeface="+mj-ea"/>
                  </a:rPr>
                  <a:t>0</a:t>
                </a:r>
                <a:endParaRPr lang="zh-CN" altLang="en-US" sz="2000" b="1" dirty="0">
                  <a:solidFill>
                    <a:schemeClr val="tx1"/>
                  </a:solidFill>
                  <a:latin typeface="+mj-ea"/>
                  <a:ea typeface="+mj-ea"/>
                </a:endParaRPr>
              </a:p>
            </p:txBody>
          </p:sp>
          <p:cxnSp>
            <p:nvCxnSpPr>
              <p:cNvPr id="14" name="Straight Connector 12">
                <a:extLst>
                  <a:ext uri="{FF2B5EF4-FFF2-40B4-BE49-F238E27FC236}">
                    <a16:creationId xmlns:a16="http://schemas.microsoft.com/office/drawing/2014/main" id="{638CE81E-69FA-FAAE-7FE6-6A50C065DF6E}"/>
                  </a:ext>
                </a:extLst>
              </p:cNvPr>
              <p:cNvCxnSpPr>
                <a:cxnSpLocks/>
              </p:cNvCxnSpPr>
              <p:nvPr/>
            </p:nvCxnSpPr>
            <p:spPr>
              <a:xfrm>
                <a:off x="3273100" y="3795668"/>
                <a:ext cx="0" cy="4671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51586DF7-26DF-37DE-231E-5703BA4BB81A}"/>
                  </a:ext>
                </a:extLst>
              </p:cNvPr>
              <p:cNvSpPr txBox="1"/>
              <p:nvPr/>
            </p:nvSpPr>
            <p:spPr>
              <a:xfrm>
                <a:off x="2204273" y="3818952"/>
                <a:ext cx="805068" cy="461665"/>
              </a:xfrm>
              <a:prstGeom prst="rect">
                <a:avLst/>
              </a:prstGeom>
              <a:noFill/>
            </p:spPr>
            <p:txBody>
              <a:bodyPr wrap="square" rtlCol="0">
                <a:spAutoFit/>
              </a:bodyPr>
              <a:lstStyle/>
              <a:p>
                <a:pPr algn="ctr"/>
                <a:r>
                  <a:rPr lang="en-US" altLang="zh-CN" sz="2400" b="1">
                    <a:solidFill>
                      <a:srgbClr val="0432FF"/>
                    </a:solidFill>
                    <a:latin typeface="+mn-lt"/>
                  </a:rPr>
                  <a:t>5bit</a:t>
                </a:r>
                <a:endParaRPr lang="zh-CN" altLang="en-US" sz="2400" b="1">
                  <a:solidFill>
                    <a:srgbClr val="0432FF"/>
                  </a:solidFill>
                  <a:latin typeface="+mn-lt"/>
                </a:endParaRPr>
              </a:p>
            </p:txBody>
          </p:sp>
          <p:sp>
            <p:nvSpPr>
              <p:cNvPr id="16" name="TextBox 15">
                <a:extLst>
                  <a:ext uri="{FF2B5EF4-FFF2-40B4-BE49-F238E27FC236}">
                    <a16:creationId xmlns:a16="http://schemas.microsoft.com/office/drawing/2014/main" id="{80D0390D-64C2-4ABB-F73D-3B1B7EB36EB4}"/>
                  </a:ext>
                </a:extLst>
              </p:cNvPr>
              <p:cNvSpPr txBox="1"/>
              <p:nvPr/>
            </p:nvSpPr>
            <p:spPr>
              <a:xfrm>
                <a:off x="4317932" y="3809518"/>
                <a:ext cx="1056939" cy="461665"/>
              </a:xfrm>
              <a:prstGeom prst="rect">
                <a:avLst/>
              </a:prstGeom>
              <a:noFill/>
            </p:spPr>
            <p:txBody>
              <a:bodyPr wrap="square" rtlCol="0">
                <a:spAutoFit/>
              </a:bodyPr>
              <a:lstStyle/>
              <a:p>
                <a:pPr algn="ctr"/>
                <a:r>
                  <a:rPr lang="en-US" altLang="zh-CN" sz="2400" b="1" dirty="0">
                    <a:solidFill>
                      <a:srgbClr val="0432FF"/>
                    </a:solidFill>
                    <a:latin typeface="+mn-lt"/>
                  </a:rPr>
                  <a:t>m</a:t>
                </a:r>
                <a:r>
                  <a:rPr lang="zh-CN" altLang="en-US" sz="2400" b="1" dirty="0">
                    <a:solidFill>
                      <a:srgbClr val="0432FF"/>
                    </a:solidFill>
                    <a:latin typeface="+mn-lt"/>
                  </a:rPr>
                  <a:t> </a:t>
                </a:r>
                <a:r>
                  <a:rPr lang="en-US" altLang="zh-CN" sz="2400" b="1" dirty="0">
                    <a:solidFill>
                      <a:srgbClr val="0432FF"/>
                    </a:solidFill>
                    <a:latin typeface="+mn-lt"/>
                  </a:rPr>
                  <a:t>bit</a:t>
                </a:r>
                <a:endParaRPr lang="zh-CN" altLang="en-US" sz="2400" b="1" dirty="0">
                  <a:solidFill>
                    <a:srgbClr val="0432FF"/>
                  </a:solidFill>
                  <a:latin typeface="+mn-lt"/>
                </a:endParaRPr>
              </a:p>
            </p:txBody>
          </p:sp>
          <p:sp>
            <p:nvSpPr>
              <p:cNvPr id="17" name="TextBox 16">
                <a:extLst>
                  <a:ext uri="{FF2B5EF4-FFF2-40B4-BE49-F238E27FC236}">
                    <a16:creationId xmlns:a16="http://schemas.microsoft.com/office/drawing/2014/main" id="{D5D6211B-2338-DC73-C29F-55925BC3E736}"/>
                  </a:ext>
                </a:extLst>
              </p:cNvPr>
              <p:cNvSpPr txBox="1"/>
              <p:nvPr/>
            </p:nvSpPr>
            <p:spPr>
              <a:xfrm>
                <a:off x="3676731" y="4271183"/>
                <a:ext cx="2395207" cy="400110"/>
              </a:xfrm>
              <a:prstGeom prst="rect">
                <a:avLst/>
              </a:prstGeom>
              <a:noFill/>
            </p:spPr>
            <p:txBody>
              <a:bodyPr wrap="none" rtlCol="0">
                <a:spAutoFit/>
              </a:bodyPr>
              <a:lstStyle/>
              <a:p>
                <a:pPr algn="ctr"/>
                <a:r>
                  <a:rPr lang="zh-CN" altLang="en-US" sz="2000" b="1" dirty="0">
                    <a:solidFill>
                      <a:schemeClr val="tx1"/>
                    </a:solidFill>
                    <a:latin typeface="+mj-ea"/>
                    <a:ea typeface="+mj-ea"/>
                  </a:rPr>
                  <a:t>操作数</a:t>
                </a:r>
                <a:r>
                  <a:rPr lang="en-US" altLang="zh-CN" sz="2000" b="1" dirty="0">
                    <a:solidFill>
                      <a:schemeClr val="tx1"/>
                    </a:solidFill>
                    <a:latin typeface="+mj-ea"/>
                    <a:ea typeface="+mj-ea"/>
                  </a:rPr>
                  <a:t>1</a:t>
                </a:r>
                <a:r>
                  <a:rPr lang="zh-CN" altLang="en-US" sz="2000" b="1" dirty="0">
                    <a:solidFill>
                      <a:schemeClr val="tx1"/>
                    </a:solidFill>
                    <a:latin typeface="+mj-ea"/>
                    <a:ea typeface="+mj-ea"/>
                  </a:rPr>
                  <a:t>（立即数）</a:t>
                </a:r>
              </a:p>
            </p:txBody>
          </p:sp>
          <p:sp>
            <p:nvSpPr>
              <p:cNvPr id="18" name="TextBox 17">
                <a:extLst>
                  <a:ext uri="{FF2B5EF4-FFF2-40B4-BE49-F238E27FC236}">
                    <a16:creationId xmlns:a16="http://schemas.microsoft.com/office/drawing/2014/main" id="{C44AA37B-25D8-4AF0-E8B3-B60BF691DCB9}"/>
                  </a:ext>
                </a:extLst>
              </p:cNvPr>
              <p:cNvSpPr txBox="1"/>
              <p:nvPr/>
            </p:nvSpPr>
            <p:spPr>
              <a:xfrm>
                <a:off x="6317584" y="4280617"/>
                <a:ext cx="2579552" cy="400110"/>
              </a:xfrm>
              <a:prstGeom prst="rect">
                <a:avLst/>
              </a:prstGeom>
              <a:noFill/>
            </p:spPr>
            <p:txBody>
              <a:bodyPr wrap="none" rtlCol="0">
                <a:spAutoFit/>
              </a:bodyPr>
              <a:lstStyle/>
              <a:p>
                <a:pPr algn="ctr"/>
                <a:r>
                  <a:rPr lang="zh-CN" altLang="en-US" sz="2000" b="1" dirty="0">
                    <a:solidFill>
                      <a:schemeClr val="tx1"/>
                    </a:solidFill>
                    <a:latin typeface="+mn-lt"/>
                    <a:ea typeface="+mj-ea"/>
                  </a:rPr>
                  <a:t>偏移地址 </a:t>
                </a:r>
                <a:r>
                  <a:rPr lang="en-US" altLang="zh-CN" sz="2000" b="1" dirty="0">
                    <a:solidFill>
                      <a:schemeClr val="tx1"/>
                    </a:solidFill>
                    <a:latin typeface="+mn-lt"/>
                    <a:ea typeface="+mj-ea"/>
                  </a:rPr>
                  <a:t>Offset[7:0]</a:t>
                </a:r>
                <a:endParaRPr lang="zh-CN" altLang="en-US" sz="2000" b="1" dirty="0">
                  <a:solidFill>
                    <a:schemeClr val="tx1"/>
                  </a:solidFill>
                  <a:latin typeface="+mn-lt"/>
                  <a:ea typeface="+mj-ea"/>
                </a:endParaRPr>
              </a:p>
            </p:txBody>
          </p:sp>
          <p:cxnSp>
            <p:nvCxnSpPr>
              <p:cNvPr id="19" name="Straight Connector 19">
                <a:extLst>
                  <a:ext uri="{FF2B5EF4-FFF2-40B4-BE49-F238E27FC236}">
                    <a16:creationId xmlns:a16="http://schemas.microsoft.com/office/drawing/2014/main" id="{58E80454-1604-3F94-5C81-9E7448F77D5B}"/>
                  </a:ext>
                </a:extLst>
              </p:cNvPr>
              <p:cNvCxnSpPr>
                <a:cxnSpLocks/>
              </p:cNvCxnSpPr>
              <p:nvPr/>
            </p:nvCxnSpPr>
            <p:spPr>
              <a:xfrm>
                <a:off x="6503115" y="3805608"/>
                <a:ext cx="0" cy="4671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TextBox 21">
                <a:extLst>
                  <a:ext uri="{FF2B5EF4-FFF2-40B4-BE49-F238E27FC236}">
                    <a16:creationId xmlns:a16="http://schemas.microsoft.com/office/drawing/2014/main" id="{8EDCB9B2-A1DC-E07B-4824-AFDE9AB39181}"/>
                  </a:ext>
                </a:extLst>
              </p:cNvPr>
              <p:cNvSpPr txBox="1"/>
              <p:nvPr/>
            </p:nvSpPr>
            <p:spPr>
              <a:xfrm>
                <a:off x="6713139" y="3818952"/>
                <a:ext cx="1771280" cy="461665"/>
              </a:xfrm>
              <a:prstGeom prst="rect">
                <a:avLst/>
              </a:prstGeom>
              <a:noFill/>
            </p:spPr>
            <p:txBody>
              <a:bodyPr wrap="square" rtlCol="0">
                <a:spAutoFit/>
              </a:bodyPr>
              <a:lstStyle/>
              <a:p>
                <a:pPr algn="ctr"/>
                <a:r>
                  <a:rPr lang="en-US" altLang="zh-CN" sz="2400" b="1" dirty="0">
                    <a:solidFill>
                      <a:srgbClr val="0432FF"/>
                    </a:solidFill>
                    <a:latin typeface="+mn-lt"/>
                  </a:rPr>
                  <a:t>(21-m) bit</a:t>
                </a:r>
                <a:endParaRPr lang="zh-CN" altLang="en-US" sz="2400" b="1" dirty="0">
                  <a:solidFill>
                    <a:srgbClr val="0432FF"/>
                  </a:solidFill>
                  <a:latin typeface="+mn-lt"/>
                </a:endParaRPr>
              </a:p>
            </p:txBody>
          </p:sp>
          <p:sp>
            <p:nvSpPr>
              <p:cNvPr id="21" name="TextBox 1">
                <a:extLst>
                  <a:ext uri="{FF2B5EF4-FFF2-40B4-BE49-F238E27FC236}">
                    <a16:creationId xmlns:a16="http://schemas.microsoft.com/office/drawing/2014/main" id="{FCA1425C-3085-5A41-784A-5C8C0C13C955}"/>
                  </a:ext>
                </a:extLst>
              </p:cNvPr>
              <p:cNvSpPr txBox="1"/>
              <p:nvPr/>
            </p:nvSpPr>
            <p:spPr>
              <a:xfrm>
                <a:off x="3049793" y="4749312"/>
                <a:ext cx="3108543" cy="523220"/>
              </a:xfrm>
              <a:prstGeom prst="rect">
                <a:avLst/>
              </a:prstGeom>
              <a:noFill/>
            </p:spPr>
            <p:txBody>
              <a:bodyPr wrap="none" rtlCol="0">
                <a:spAutoFit/>
              </a:bodyPr>
              <a:lstStyle/>
              <a:p>
                <a:pPr algn="ctr"/>
                <a:r>
                  <a:rPr lang="zh-CN" altLang="en-US" sz="2800" b="1" dirty="0">
                    <a:solidFill>
                      <a:srgbClr val="0432FF"/>
                    </a:solidFill>
                    <a:latin typeface="+mj-ea"/>
                    <a:ea typeface="+mj-ea"/>
                  </a:rPr>
                  <a:t>可表示的范围有限</a:t>
                </a:r>
              </a:p>
            </p:txBody>
          </p:sp>
        </p:grpSp>
        <p:sp>
          <p:nvSpPr>
            <p:cNvPr id="7" name="TextBox 71">
              <a:extLst>
                <a:ext uri="{FF2B5EF4-FFF2-40B4-BE49-F238E27FC236}">
                  <a16:creationId xmlns:a16="http://schemas.microsoft.com/office/drawing/2014/main" id="{00C2C538-1194-9CFE-74BA-DFA94B3D5994}"/>
                </a:ext>
              </a:extLst>
            </p:cNvPr>
            <p:cNvSpPr txBox="1"/>
            <p:nvPr/>
          </p:nvSpPr>
          <p:spPr>
            <a:xfrm>
              <a:off x="3094673" y="3239728"/>
              <a:ext cx="3012363" cy="461665"/>
            </a:xfrm>
            <a:prstGeom prst="rect">
              <a:avLst/>
            </a:prstGeom>
            <a:noFill/>
          </p:spPr>
          <p:txBody>
            <a:bodyPr wrap="none" rtlCol="0">
              <a:spAutoFit/>
            </a:bodyPr>
            <a:lstStyle/>
            <a:p>
              <a:pPr algn="ctr"/>
              <a:r>
                <a:rPr lang="zh-CN" altLang="en-US" sz="2400" b="1" dirty="0">
                  <a:solidFill>
                    <a:schemeClr val="tx1"/>
                  </a:solidFill>
                  <a:latin typeface="+mj-ea"/>
                  <a:ea typeface="+mj-ea"/>
                </a:rPr>
                <a:t>一种可能的编码方案</a:t>
              </a:r>
            </a:p>
          </p:txBody>
        </p:sp>
      </p:grpSp>
    </p:spTree>
    <p:extLst>
      <p:ext uri="{BB962C8B-B14F-4D97-AF65-F5344CB8AC3E}">
        <p14:creationId xmlns:p14="http://schemas.microsoft.com/office/powerpoint/2010/main" val="42598568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9B52569E-53AC-4A41-8430-F9FD330141FD}"/>
              </a:ext>
            </a:extLst>
          </p:cNvPr>
          <p:cNvSpPr>
            <a:spLocks noGrp="1"/>
          </p:cNvSpPr>
          <p:nvPr>
            <p:ph type="sldNum" sz="quarter" idx="12"/>
          </p:nvPr>
        </p:nvSpPr>
        <p:spPr/>
        <p:txBody>
          <a:bodyPr/>
          <a:lstStyle/>
          <a:p>
            <a:fld id="{14659731-6BD7-46E7-8D3C-2F3AC07E20B1}" type="slidenum">
              <a:rPr lang="en-US" altLang="zh-CN" smtClean="0"/>
              <a:pPr/>
              <a:t>45</a:t>
            </a:fld>
            <a:endParaRPr lang="en-US" altLang="zh-CN"/>
          </a:p>
        </p:txBody>
      </p:sp>
      <p:sp>
        <p:nvSpPr>
          <p:cNvPr id="3" name="内容占位符 2">
            <a:extLst>
              <a:ext uri="{FF2B5EF4-FFF2-40B4-BE49-F238E27FC236}">
                <a16:creationId xmlns:a16="http://schemas.microsoft.com/office/drawing/2014/main" id="{2C756905-E7EA-C34B-B6C7-DAD6E5D1D10C}"/>
              </a:ext>
            </a:extLst>
          </p:cNvPr>
          <p:cNvSpPr>
            <a:spLocks noGrp="1"/>
          </p:cNvSpPr>
          <p:nvPr>
            <p:ph idx="4294967295"/>
          </p:nvPr>
        </p:nvSpPr>
        <p:spPr>
          <a:xfrm>
            <a:off x="419143" y="1361300"/>
            <a:ext cx="7886700" cy="4351338"/>
          </a:xfrm>
        </p:spPr>
        <p:txBody>
          <a:bodyPr/>
          <a:lstStyle/>
          <a:p>
            <a:pPr>
              <a:spcAft>
                <a:spcPts val="600"/>
              </a:spcAft>
            </a:pPr>
            <a:r>
              <a:rPr kumimoji="1" lang="zh-CN" altLang="en-US" sz="2400" dirty="0"/>
              <a:t>例子</a:t>
            </a:r>
            <a:r>
              <a:rPr kumimoji="1" lang="en-US" altLang="zh-CN" sz="2400" dirty="0"/>
              <a:t>3</a:t>
            </a:r>
            <a:r>
              <a:rPr kumimoji="1" lang="zh-CN" altLang="en-US" sz="2400" dirty="0"/>
              <a:t>：装入</a:t>
            </a:r>
            <a:r>
              <a:rPr kumimoji="1" lang="en-US" altLang="zh-CN" sz="2400" dirty="0"/>
              <a:t>/</a:t>
            </a:r>
            <a:r>
              <a:rPr kumimoji="1" lang="zh-CN" altLang="en-US" sz="2400" dirty="0"/>
              <a:t>存储指令 </a:t>
            </a:r>
            <a:r>
              <a:rPr kumimoji="1" lang="en-US" altLang="zh-CN" sz="2400" dirty="0"/>
              <a:t>load</a:t>
            </a:r>
            <a:r>
              <a:rPr kumimoji="1" lang="zh-CN" altLang="en-US" sz="2400" dirty="0"/>
              <a:t> </a:t>
            </a:r>
            <a:r>
              <a:rPr kumimoji="1" lang="en-US" altLang="zh-CN" sz="2400" dirty="0"/>
              <a:t>word/store word</a:t>
            </a:r>
            <a:r>
              <a:rPr kumimoji="1" lang="zh-CN" altLang="en-US" sz="2400" dirty="0"/>
              <a:t>，如</a:t>
            </a:r>
            <a:r>
              <a:rPr kumimoji="1" lang="en-US" altLang="zh-CN" sz="2400" dirty="0"/>
              <a:t>A=B[</a:t>
            </a:r>
            <a:r>
              <a:rPr kumimoji="1" lang="en-US" altLang="zh-CN" sz="2400" dirty="0">
                <a:solidFill>
                  <a:srgbClr val="0432FF"/>
                </a:solidFill>
              </a:rPr>
              <a:t>25</a:t>
            </a:r>
            <a:r>
              <a:rPr kumimoji="1" lang="en-US" altLang="zh-CN" sz="2400" dirty="0"/>
              <a:t>]</a:t>
            </a:r>
          </a:p>
          <a:p>
            <a:pPr lvl="1">
              <a:spcAft>
                <a:spcPts val="600"/>
              </a:spcAft>
            </a:pPr>
            <a:r>
              <a:rPr lang="en-US" altLang="zh-CN" sz="2400" i="1" dirty="0">
                <a:latin typeface="Consolas" panose="020B0609020204030204" pitchFamily="49" charset="0"/>
              </a:rPr>
              <a:t>sw/</a:t>
            </a:r>
            <a:r>
              <a:rPr lang="en-US" altLang="zh-CN" sz="2400" i="1" kern="1200" dirty="0">
                <a:latin typeface="Consolas" panose="020B0609020204030204" pitchFamily="49" charset="0"/>
                <a:ea typeface="宋体" charset="-122"/>
              </a:rPr>
              <a:t>lw </a:t>
            </a:r>
            <a:r>
              <a:rPr lang="zh-CN" altLang="zh-CN" sz="2400" i="1" kern="1200" dirty="0">
                <a:latin typeface="Consolas" panose="020B0609020204030204" pitchFamily="49" charset="0"/>
                <a:ea typeface="宋体" charset="-122"/>
              </a:rPr>
              <a:t>rt, immediate(rs)</a:t>
            </a:r>
            <a:endParaRPr lang="zh-CN" altLang="en-US" sz="2400" i="1" dirty="0">
              <a:latin typeface="Consolas" panose="020B0609020204030204" pitchFamily="49" charset="0"/>
            </a:endParaRPr>
          </a:p>
          <a:p>
            <a:pPr lvl="1"/>
            <a:endParaRPr kumimoji="1" lang="en-US" altLang="zh-CN" sz="2400" dirty="0"/>
          </a:p>
        </p:txBody>
      </p:sp>
      <p:sp>
        <p:nvSpPr>
          <p:cNvPr id="39" name="矩形 38">
            <a:extLst>
              <a:ext uri="{FF2B5EF4-FFF2-40B4-BE49-F238E27FC236}">
                <a16:creationId xmlns:a16="http://schemas.microsoft.com/office/drawing/2014/main" id="{74BD766C-43DE-0A4E-9F45-F986F3FD2532}"/>
              </a:ext>
            </a:extLst>
          </p:cNvPr>
          <p:cNvSpPr/>
          <p:nvPr/>
        </p:nvSpPr>
        <p:spPr>
          <a:xfrm>
            <a:off x="545155" y="4397705"/>
            <a:ext cx="4411877" cy="461665"/>
          </a:xfrm>
          <a:prstGeom prst="rect">
            <a:avLst/>
          </a:prstGeom>
        </p:spPr>
        <p:txBody>
          <a:bodyPr wrap="square">
            <a:spAutoFit/>
          </a:bodyPr>
          <a:lstStyle/>
          <a:p>
            <a:pPr algn="l"/>
            <a:r>
              <a:rPr lang="en-US" altLang="zh-CN" sz="2400" b="1" i="1" dirty="0">
                <a:solidFill>
                  <a:srgbClr val="000000"/>
                </a:solidFill>
                <a:latin typeface="Consolas" panose="020B0609020204030204" pitchFamily="49" charset="0"/>
              </a:rPr>
              <a:t>lw $s1, </a:t>
            </a:r>
            <a:r>
              <a:rPr lang="en-US" altLang="zh-CN" sz="2400" b="1" i="1" dirty="0">
                <a:solidFill>
                  <a:srgbClr val="0432FF"/>
                </a:solidFill>
                <a:latin typeface="Consolas" panose="020B0609020204030204" pitchFamily="49" charset="0"/>
              </a:rPr>
              <a:t>100</a:t>
            </a:r>
            <a:r>
              <a:rPr lang="en-US" altLang="zh-CN" sz="2400" b="1" i="1" dirty="0">
                <a:solidFill>
                  <a:srgbClr val="000000"/>
                </a:solidFill>
                <a:latin typeface="Consolas" panose="020B0609020204030204" pitchFamily="49" charset="0"/>
              </a:rPr>
              <a:t>($s2)</a:t>
            </a:r>
            <a:endParaRPr lang="zh-CN" altLang="en-US" b="1" i="1" dirty="0">
              <a:latin typeface="Consolas" panose="020B0609020204030204" pitchFamily="49" charset="0"/>
            </a:endParaRPr>
          </a:p>
        </p:txBody>
      </p:sp>
      <p:grpSp>
        <p:nvGrpSpPr>
          <p:cNvPr id="40" name="组合 39">
            <a:extLst>
              <a:ext uri="{FF2B5EF4-FFF2-40B4-BE49-F238E27FC236}">
                <a16:creationId xmlns:a16="http://schemas.microsoft.com/office/drawing/2014/main" id="{3C081A16-7F53-E34E-9CBC-DA3D737B2C44}"/>
              </a:ext>
            </a:extLst>
          </p:cNvPr>
          <p:cNvGrpSpPr/>
          <p:nvPr/>
        </p:nvGrpSpPr>
        <p:grpSpPr>
          <a:xfrm>
            <a:off x="571457" y="4936659"/>
            <a:ext cx="8153400" cy="544790"/>
            <a:chOff x="342900" y="2813566"/>
            <a:chExt cx="8153400" cy="544790"/>
          </a:xfrm>
        </p:grpSpPr>
        <p:sp>
          <p:nvSpPr>
            <p:cNvPr id="111" name="Text Box 22">
              <a:extLst>
                <a:ext uri="{FF2B5EF4-FFF2-40B4-BE49-F238E27FC236}">
                  <a16:creationId xmlns:a16="http://schemas.microsoft.com/office/drawing/2014/main" id="{E75B73DF-EBD3-F544-B026-1783F44DFE45}"/>
                </a:ext>
              </a:extLst>
            </p:cNvPr>
            <p:cNvSpPr txBox="1">
              <a:spLocks noChangeArrowheads="1"/>
            </p:cNvSpPr>
            <p:nvPr/>
          </p:nvSpPr>
          <p:spPr bwMode="auto">
            <a:xfrm>
              <a:off x="465797" y="2835136"/>
              <a:ext cx="1367105"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a:r>
                <a:rPr lang="en-US" altLang="zh-CN" sz="2800">
                  <a:latin typeface="+mn-lt"/>
                </a:rPr>
                <a:t>1</a:t>
              </a:r>
              <a:r>
                <a:rPr lang="en-US" altLang="en-US" sz="2800">
                  <a:latin typeface="+mn-lt"/>
                </a:rPr>
                <a:t>000</a:t>
              </a:r>
              <a:r>
                <a:rPr lang="en-US" altLang="zh-CN" sz="2800">
                  <a:latin typeface="+mn-lt"/>
                </a:rPr>
                <a:t>11</a:t>
              </a:r>
              <a:endParaRPr lang="en-US" altLang="en-US" sz="2000" b="0">
                <a:solidFill>
                  <a:schemeClr val="accent1"/>
                </a:solidFill>
                <a:latin typeface="+mn-lt"/>
              </a:endParaRPr>
            </a:p>
          </p:txBody>
        </p:sp>
        <p:sp>
          <p:nvSpPr>
            <p:cNvPr id="112" name="Text Box 23">
              <a:extLst>
                <a:ext uri="{FF2B5EF4-FFF2-40B4-BE49-F238E27FC236}">
                  <a16:creationId xmlns:a16="http://schemas.microsoft.com/office/drawing/2014/main" id="{10782EC8-6026-3F4C-9A6A-552985D20201}"/>
                </a:ext>
              </a:extLst>
            </p:cNvPr>
            <p:cNvSpPr txBox="1">
              <a:spLocks noChangeArrowheads="1"/>
            </p:cNvSpPr>
            <p:nvPr/>
          </p:nvSpPr>
          <p:spPr bwMode="auto">
            <a:xfrm>
              <a:off x="1929266" y="2835136"/>
              <a:ext cx="1186543"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a:r>
                <a:rPr lang="en-US" altLang="en-US" sz="2800">
                  <a:latin typeface="+mn-lt"/>
                </a:rPr>
                <a:t>1001</a:t>
              </a:r>
              <a:r>
                <a:rPr lang="en-US" altLang="zh-CN" sz="2800">
                  <a:latin typeface="+mn-lt"/>
                </a:rPr>
                <a:t>0</a:t>
              </a:r>
              <a:endParaRPr lang="en-US" altLang="en-US" sz="2000" b="0">
                <a:solidFill>
                  <a:schemeClr val="accent1"/>
                </a:solidFill>
                <a:latin typeface="+mn-lt"/>
              </a:endParaRPr>
            </a:p>
          </p:txBody>
        </p:sp>
        <p:sp>
          <p:nvSpPr>
            <p:cNvPr id="113" name="Text Box 24">
              <a:extLst>
                <a:ext uri="{FF2B5EF4-FFF2-40B4-BE49-F238E27FC236}">
                  <a16:creationId xmlns:a16="http://schemas.microsoft.com/office/drawing/2014/main" id="{D0D94EE0-B2E9-E94F-8F80-683197510A9C}"/>
                </a:ext>
              </a:extLst>
            </p:cNvPr>
            <p:cNvSpPr txBox="1">
              <a:spLocks noChangeArrowheads="1"/>
            </p:cNvSpPr>
            <p:nvPr/>
          </p:nvSpPr>
          <p:spPr bwMode="auto">
            <a:xfrm>
              <a:off x="3197679" y="2835136"/>
              <a:ext cx="1186543"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a:r>
                <a:rPr lang="en-US" altLang="zh-CN" sz="2800">
                  <a:latin typeface="+mn-lt"/>
                </a:rPr>
                <a:t>10001</a:t>
              </a:r>
              <a:endParaRPr lang="en-US" altLang="zh-CN" sz="2000" b="0">
                <a:solidFill>
                  <a:schemeClr val="accent1"/>
                </a:solidFill>
                <a:latin typeface="+mn-lt"/>
              </a:endParaRPr>
            </a:p>
          </p:txBody>
        </p:sp>
        <p:sp>
          <p:nvSpPr>
            <p:cNvPr id="114" name="Text Box 25">
              <a:extLst>
                <a:ext uri="{FF2B5EF4-FFF2-40B4-BE49-F238E27FC236}">
                  <a16:creationId xmlns:a16="http://schemas.microsoft.com/office/drawing/2014/main" id="{E4AAF271-8D89-D449-B288-5425CFAB67A7}"/>
                </a:ext>
              </a:extLst>
            </p:cNvPr>
            <p:cNvSpPr txBox="1">
              <a:spLocks noChangeArrowheads="1"/>
            </p:cNvSpPr>
            <p:nvPr/>
          </p:nvSpPr>
          <p:spPr bwMode="auto">
            <a:xfrm>
              <a:off x="4604390" y="2813566"/>
              <a:ext cx="3669018"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a:r>
                <a:rPr lang="en-US" altLang="en-US" sz="2800">
                  <a:solidFill>
                    <a:srgbClr val="3333FF"/>
                  </a:solidFill>
                  <a:latin typeface="+mn-lt"/>
                </a:rPr>
                <a:t>0000</a:t>
              </a:r>
              <a:r>
                <a:rPr lang="en-US" altLang="zh-CN" sz="2800">
                  <a:solidFill>
                    <a:srgbClr val="3333FF"/>
                  </a:solidFill>
                  <a:latin typeface="+mn-lt"/>
                </a:rPr>
                <a:t> 0000 0110 0100</a:t>
              </a:r>
              <a:endParaRPr lang="en-US" altLang="en-US" sz="2000" b="0">
                <a:solidFill>
                  <a:srgbClr val="3333FF"/>
                </a:solidFill>
                <a:latin typeface="+mn-lt"/>
              </a:endParaRPr>
            </a:p>
          </p:txBody>
        </p:sp>
        <p:sp>
          <p:nvSpPr>
            <p:cNvPr id="115" name="Rectangle 28">
              <a:extLst>
                <a:ext uri="{FF2B5EF4-FFF2-40B4-BE49-F238E27FC236}">
                  <a16:creationId xmlns:a16="http://schemas.microsoft.com/office/drawing/2014/main" id="{9595D410-4D3A-0D47-9C29-190FED3441D0}"/>
                </a:ext>
              </a:extLst>
            </p:cNvPr>
            <p:cNvSpPr>
              <a:spLocks noChangeArrowheads="1"/>
            </p:cNvSpPr>
            <p:nvPr/>
          </p:nvSpPr>
          <p:spPr bwMode="auto">
            <a:xfrm>
              <a:off x="342900" y="2835136"/>
              <a:ext cx="8153400" cy="457200"/>
            </a:xfrm>
            <a:prstGeom prst="rect">
              <a:avLst/>
            </a:prstGeom>
            <a:noFill/>
            <a:ln w="381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16" name="Line 29">
              <a:extLst>
                <a:ext uri="{FF2B5EF4-FFF2-40B4-BE49-F238E27FC236}">
                  <a16:creationId xmlns:a16="http://schemas.microsoft.com/office/drawing/2014/main" id="{D4E48112-FE1D-1B47-AC19-67184ABC42A3}"/>
                </a:ext>
              </a:extLst>
            </p:cNvPr>
            <p:cNvSpPr>
              <a:spLocks noChangeShapeType="1"/>
            </p:cNvSpPr>
            <p:nvPr/>
          </p:nvSpPr>
          <p:spPr bwMode="auto">
            <a:xfrm>
              <a:off x="1866900" y="2835136"/>
              <a:ext cx="0" cy="45720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17" name="Line 30">
              <a:extLst>
                <a:ext uri="{FF2B5EF4-FFF2-40B4-BE49-F238E27FC236}">
                  <a16:creationId xmlns:a16="http://schemas.microsoft.com/office/drawing/2014/main" id="{F499FA94-36BB-F446-96EA-73D0CB337D6E}"/>
                </a:ext>
              </a:extLst>
            </p:cNvPr>
            <p:cNvSpPr>
              <a:spLocks noChangeShapeType="1"/>
            </p:cNvSpPr>
            <p:nvPr/>
          </p:nvSpPr>
          <p:spPr bwMode="auto">
            <a:xfrm>
              <a:off x="3162300" y="2835136"/>
              <a:ext cx="0" cy="45720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18" name="Line 31">
              <a:extLst>
                <a:ext uri="{FF2B5EF4-FFF2-40B4-BE49-F238E27FC236}">
                  <a16:creationId xmlns:a16="http://schemas.microsoft.com/office/drawing/2014/main" id="{53B4FC7F-5847-B743-AF32-3EF92EA2C8A5}"/>
                </a:ext>
              </a:extLst>
            </p:cNvPr>
            <p:cNvSpPr>
              <a:spLocks noChangeShapeType="1"/>
            </p:cNvSpPr>
            <p:nvPr/>
          </p:nvSpPr>
          <p:spPr bwMode="auto">
            <a:xfrm>
              <a:off x="4381500" y="2835136"/>
              <a:ext cx="0" cy="45720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grpSp>
      <p:sp>
        <p:nvSpPr>
          <p:cNvPr id="119" name="Rectangle 3">
            <a:extLst>
              <a:ext uri="{FF2B5EF4-FFF2-40B4-BE49-F238E27FC236}">
                <a16:creationId xmlns:a16="http://schemas.microsoft.com/office/drawing/2014/main" id="{3D4D76CD-ED8F-D349-B245-57559CA96651}"/>
              </a:ext>
            </a:extLst>
          </p:cNvPr>
          <p:cNvSpPr txBox="1">
            <a:spLocks noChangeArrowheads="1"/>
          </p:cNvSpPr>
          <p:nvPr/>
        </p:nvSpPr>
        <p:spPr bwMode="auto">
          <a:xfrm>
            <a:off x="0" y="5550530"/>
            <a:ext cx="7313613" cy="194073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b="0">
                <a:solidFill>
                  <a:schemeClr val="tx1"/>
                </a:solidFill>
                <a:latin typeface="+mn-lt"/>
                <a:ea typeface="+mn-ea"/>
                <a:cs typeface="+mn-cs"/>
              </a:defRPr>
            </a:lvl1pPr>
            <a:lvl2pPr marL="742950" indent="-285750" algn="l" rtl="0" fontAlgn="base">
              <a:spcBef>
                <a:spcPct val="20000"/>
              </a:spcBef>
              <a:spcAft>
                <a:spcPct val="0"/>
              </a:spcAft>
              <a:buChar char="–"/>
              <a:defRPr sz="2800" b="0">
                <a:solidFill>
                  <a:schemeClr val="tx1"/>
                </a:solidFill>
                <a:latin typeface="+mn-lt"/>
                <a:ea typeface="+mn-ea"/>
              </a:defRPr>
            </a:lvl2pPr>
            <a:lvl3pPr marL="1143000" indent="-228600" algn="l" rtl="0" fontAlgn="base">
              <a:spcBef>
                <a:spcPct val="20000"/>
              </a:spcBef>
              <a:spcAft>
                <a:spcPct val="0"/>
              </a:spcAft>
              <a:buChar char="•"/>
              <a:defRPr sz="2400" b="0">
                <a:solidFill>
                  <a:schemeClr val="tx1"/>
                </a:solidFill>
                <a:latin typeface="+mn-lt"/>
                <a:ea typeface="+mn-ea"/>
              </a:defRPr>
            </a:lvl3pPr>
            <a:lvl4pPr marL="1600200" indent="-228600" algn="l" rtl="0" fontAlgn="base">
              <a:spcBef>
                <a:spcPct val="20000"/>
              </a:spcBef>
              <a:spcAft>
                <a:spcPct val="0"/>
              </a:spcAft>
              <a:buChar char="–"/>
              <a:defRPr sz="2000" b="0">
                <a:solidFill>
                  <a:schemeClr val="tx1"/>
                </a:solidFill>
                <a:latin typeface="+mn-lt"/>
                <a:ea typeface="+mn-ea"/>
              </a:defRPr>
            </a:lvl4pPr>
            <a:lvl5pPr marL="2057400" indent="-228600" algn="l" rtl="0" fontAlgn="base">
              <a:spcBef>
                <a:spcPct val="20000"/>
              </a:spcBef>
              <a:spcAft>
                <a:spcPct val="0"/>
              </a:spcAft>
              <a:buChar char="»"/>
              <a:defRPr sz="2000" b="0">
                <a:solidFill>
                  <a:schemeClr val="tx1"/>
                </a:solidFill>
                <a:latin typeface="+mn-lt"/>
                <a:ea typeface="+mn-ea"/>
              </a:defRPr>
            </a:lvl5pPr>
            <a:lvl6pPr marL="2514600" indent="-228600" algn="l" rtl="0" fontAlgn="base">
              <a:spcBef>
                <a:spcPct val="20000"/>
              </a:spcBef>
              <a:spcAft>
                <a:spcPct val="0"/>
              </a:spcAft>
              <a:buChar char="»"/>
              <a:defRPr sz="2000" b="1">
                <a:solidFill>
                  <a:schemeClr val="tx1"/>
                </a:solidFill>
                <a:latin typeface="+mn-lt"/>
                <a:ea typeface="+mn-ea"/>
              </a:defRPr>
            </a:lvl6pPr>
            <a:lvl7pPr marL="2971800" indent="-228600" algn="l" rtl="0" fontAlgn="base">
              <a:spcBef>
                <a:spcPct val="20000"/>
              </a:spcBef>
              <a:spcAft>
                <a:spcPct val="0"/>
              </a:spcAft>
              <a:buChar char="»"/>
              <a:defRPr sz="2000" b="1">
                <a:solidFill>
                  <a:schemeClr val="tx1"/>
                </a:solidFill>
                <a:latin typeface="+mn-lt"/>
                <a:ea typeface="+mn-ea"/>
              </a:defRPr>
            </a:lvl7pPr>
            <a:lvl8pPr marL="3429000" indent="-228600" algn="l" rtl="0" fontAlgn="base">
              <a:spcBef>
                <a:spcPct val="20000"/>
              </a:spcBef>
              <a:spcAft>
                <a:spcPct val="0"/>
              </a:spcAft>
              <a:buChar char="»"/>
              <a:defRPr sz="2000" b="1">
                <a:solidFill>
                  <a:schemeClr val="tx1"/>
                </a:solidFill>
                <a:latin typeface="+mn-lt"/>
                <a:ea typeface="+mn-ea"/>
              </a:defRPr>
            </a:lvl8pPr>
            <a:lvl9pPr marL="3886200" indent="-228600" algn="l" rtl="0" fontAlgn="base">
              <a:spcBef>
                <a:spcPct val="20000"/>
              </a:spcBef>
              <a:spcAft>
                <a:spcPct val="0"/>
              </a:spcAft>
              <a:buChar char="»"/>
              <a:defRPr sz="2000" b="1">
                <a:solidFill>
                  <a:schemeClr val="tx1"/>
                </a:solidFill>
                <a:latin typeface="+mn-lt"/>
                <a:ea typeface="+mn-ea"/>
              </a:defRPr>
            </a:lvl9pPr>
          </a:lstStyle>
          <a:p>
            <a:pPr lvl="1">
              <a:spcBef>
                <a:spcPct val="50000"/>
              </a:spcBef>
            </a:pPr>
            <a:r>
              <a:rPr lang="zh-CN" altLang="en-US" sz="2400" kern="0" dirty="0">
                <a:ea typeface="+mj-ea"/>
              </a:rPr>
              <a:t>数据装入：</a:t>
            </a:r>
            <a:r>
              <a:rPr lang="en-US" altLang="zh-CN" sz="2400" kern="0" dirty="0">
                <a:ea typeface="+mj-ea"/>
              </a:rPr>
              <a:t>rt = Mem[rs + Address]</a:t>
            </a:r>
          </a:p>
          <a:p>
            <a:pPr lvl="1"/>
            <a:r>
              <a:rPr lang="zh-CN" altLang="en-US" sz="2400" kern="0" dirty="0">
                <a:ea typeface="+mj-ea"/>
              </a:rPr>
              <a:t>数据存储：</a:t>
            </a:r>
            <a:r>
              <a:rPr lang="en-US" altLang="zh-CN" sz="2400" kern="0" dirty="0">
                <a:ea typeface="+mj-ea"/>
              </a:rPr>
              <a:t>Mem[rs + Address] = rt</a:t>
            </a:r>
            <a:endParaRPr lang="zh-CN" altLang="en-US" sz="2400" kern="0" dirty="0">
              <a:ea typeface="+mj-ea"/>
            </a:endParaRPr>
          </a:p>
        </p:txBody>
      </p:sp>
      <p:pic>
        <p:nvPicPr>
          <p:cNvPr id="6" name="Picture 5">
            <a:extLst>
              <a:ext uri="{FF2B5EF4-FFF2-40B4-BE49-F238E27FC236}">
                <a16:creationId xmlns:a16="http://schemas.microsoft.com/office/drawing/2014/main" id="{A4E1DFAC-E3DE-4AE3-BFF7-BEDA5AFD0B5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571426" y="2626910"/>
            <a:ext cx="5618620" cy="1832284"/>
          </a:xfrm>
          <a:prstGeom prst="rect">
            <a:avLst/>
          </a:prstGeom>
        </p:spPr>
      </p:pic>
      <p:sp>
        <p:nvSpPr>
          <p:cNvPr id="19" name="矩形 119">
            <a:extLst>
              <a:ext uri="{FF2B5EF4-FFF2-40B4-BE49-F238E27FC236}">
                <a16:creationId xmlns:a16="http://schemas.microsoft.com/office/drawing/2014/main" id="{999AC241-7BC6-984F-8965-32B7A79C3C70}"/>
              </a:ext>
            </a:extLst>
          </p:cNvPr>
          <p:cNvSpPr/>
          <p:nvPr/>
        </p:nvSpPr>
        <p:spPr>
          <a:xfrm>
            <a:off x="6045960" y="5706449"/>
            <a:ext cx="2903088" cy="523875"/>
          </a:xfrm>
          <a:prstGeom prst="rect">
            <a:avLst/>
          </a:prstGeom>
          <a:solidFill>
            <a:schemeClr val="bg1">
              <a:lumMod val="95000"/>
            </a:schemeClr>
          </a:solidFill>
          <a:ln>
            <a:noFill/>
          </a:ln>
          <a:effectLst/>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2400" b="1" dirty="0">
                <a:solidFill>
                  <a:schemeClr val="tx1"/>
                </a:solidFill>
                <a:ea typeface="+mj-ea"/>
              </a:rPr>
              <a:t>只有</a:t>
            </a:r>
            <a:r>
              <a:rPr lang="en-US" altLang="zh-CN" sz="2400" b="1" dirty="0">
                <a:solidFill>
                  <a:schemeClr val="tx1"/>
                </a:solidFill>
                <a:ea typeface="+mj-ea"/>
              </a:rPr>
              <a:t>rs</a:t>
            </a:r>
            <a:r>
              <a:rPr lang="zh-CN" altLang="en-US" sz="2400" b="1" dirty="0">
                <a:solidFill>
                  <a:schemeClr val="tx1"/>
                </a:solidFill>
                <a:ea typeface="+mj-ea"/>
              </a:rPr>
              <a:t>为源寄存器</a:t>
            </a:r>
            <a:endParaRPr lang="en-US" altLang="zh-CN" sz="2400" b="1" dirty="0">
              <a:solidFill>
                <a:schemeClr val="tx1"/>
              </a:solidFill>
              <a:ea typeface="+mj-ea"/>
            </a:endParaRPr>
          </a:p>
        </p:txBody>
      </p:sp>
      <p:sp>
        <p:nvSpPr>
          <p:cNvPr id="7" name="文本框 6">
            <a:extLst>
              <a:ext uri="{FF2B5EF4-FFF2-40B4-BE49-F238E27FC236}">
                <a16:creationId xmlns:a16="http://schemas.microsoft.com/office/drawing/2014/main" id="{1BB19128-79C9-94A0-FF26-1F3274FADD85}"/>
              </a:ext>
            </a:extLst>
          </p:cNvPr>
          <p:cNvSpPr txBox="1"/>
          <p:nvPr/>
        </p:nvSpPr>
        <p:spPr>
          <a:xfrm>
            <a:off x="2157823" y="1807460"/>
            <a:ext cx="3729546" cy="400110"/>
          </a:xfrm>
          <a:prstGeom prst="rect">
            <a:avLst/>
          </a:prstGeom>
          <a:solidFill>
            <a:schemeClr val="tx1">
              <a:lumMod val="50000"/>
              <a:lumOff val="50000"/>
            </a:schemeClr>
          </a:solidFill>
        </p:spPr>
        <p:txBody>
          <a:bodyPr wrap="none" rtlCol="0">
            <a:spAutoFit/>
          </a:bodyPr>
          <a:lstStyle/>
          <a:p>
            <a:r>
              <a:rPr kumimoji="1" lang="zh-CN" altLang="en-US" sz="2000" dirty="0">
                <a:solidFill>
                  <a:schemeClr val="bg1"/>
                </a:solidFill>
                <a:latin typeface="+mn-lt"/>
                <a:ea typeface="+mj-ea"/>
              </a:rPr>
              <a:t>数组索引</a:t>
            </a:r>
            <a:r>
              <a:rPr kumimoji="1" lang="en-US" altLang="zh-CN" sz="2000" dirty="0">
                <a:solidFill>
                  <a:schemeClr val="bg1"/>
                </a:solidFill>
                <a:latin typeface="+mn-lt"/>
                <a:ea typeface="+mj-ea"/>
              </a:rPr>
              <a:t>25</a:t>
            </a:r>
            <a:r>
              <a:rPr kumimoji="1" lang="zh-CN" altLang="en-US" sz="2000" dirty="0">
                <a:solidFill>
                  <a:schemeClr val="bg1"/>
                </a:solidFill>
                <a:latin typeface="+mn-lt"/>
                <a:ea typeface="+mj-ea"/>
              </a:rPr>
              <a:t>（</a:t>
            </a:r>
            <a:r>
              <a:rPr kumimoji="1" lang="zh-CN" altLang="en-US" sz="2000" dirty="0">
                <a:solidFill>
                  <a:srgbClr val="FFFF00"/>
                </a:solidFill>
                <a:latin typeface="+mn-lt"/>
                <a:ea typeface="+mj-ea"/>
              </a:rPr>
              <a:t>单位：字</a:t>
            </a:r>
            <a:r>
              <a:rPr kumimoji="1" lang="en-US" altLang="zh-CN" sz="2000" dirty="0">
                <a:solidFill>
                  <a:srgbClr val="FFFF00"/>
                </a:solidFill>
                <a:latin typeface="+mn-lt"/>
                <a:ea typeface="+mj-ea"/>
              </a:rPr>
              <a:t>word</a:t>
            </a:r>
            <a:r>
              <a:rPr kumimoji="1" lang="zh-CN" altLang="en-US" sz="2000" dirty="0">
                <a:solidFill>
                  <a:schemeClr val="bg1"/>
                </a:solidFill>
                <a:latin typeface="+mn-lt"/>
                <a:ea typeface="+mj-ea"/>
              </a:rPr>
              <a:t>）</a:t>
            </a:r>
          </a:p>
        </p:txBody>
      </p:sp>
      <p:sp>
        <p:nvSpPr>
          <p:cNvPr id="8" name="文本框 7">
            <a:extLst>
              <a:ext uri="{FF2B5EF4-FFF2-40B4-BE49-F238E27FC236}">
                <a16:creationId xmlns:a16="http://schemas.microsoft.com/office/drawing/2014/main" id="{4B996030-D598-AC17-5171-D63E7B243619}"/>
              </a:ext>
            </a:extLst>
          </p:cNvPr>
          <p:cNvSpPr txBox="1"/>
          <p:nvPr/>
        </p:nvSpPr>
        <p:spPr>
          <a:xfrm>
            <a:off x="4496348" y="4428483"/>
            <a:ext cx="4136069" cy="400110"/>
          </a:xfrm>
          <a:prstGeom prst="rect">
            <a:avLst/>
          </a:prstGeom>
          <a:solidFill>
            <a:schemeClr val="tx1">
              <a:lumMod val="50000"/>
              <a:lumOff val="50000"/>
            </a:schemeClr>
          </a:solidFill>
        </p:spPr>
        <p:txBody>
          <a:bodyPr wrap="none" rtlCol="0">
            <a:spAutoFit/>
          </a:bodyPr>
          <a:lstStyle/>
          <a:p>
            <a:r>
              <a:rPr kumimoji="1" lang="zh-CN" altLang="en-US" sz="2000" dirty="0">
                <a:solidFill>
                  <a:schemeClr val="bg1"/>
                </a:solidFill>
                <a:latin typeface="+mn-lt"/>
                <a:ea typeface="+mj-ea"/>
              </a:rPr>
              <a:t>地址索引</a:t>
            </a:r>
            <a:r>
              <a:rPr kumimoji="1" lang="en-US" altLang="zh-CN" sz="2000" dirty="0">
                <a:solidFill>
                  <a:schemeClr val="bg1"/>
                </a:solidFill>
                <a:latin typeface="+mn-lt"/>
                <a:ea typeface="+mj-ea"/>
              </a:rPr>
              <a:t>100</a:t>
            </a:r>
            <a:r>
              <a:rPr kumimoji="1" lang="en-US" altLang="zh-CN" sz="2000" baseline="-25000" dirty="0">
                <a:solidFill>
                  <a:schemeClr val="bg1"/>
                </a:solidFill>
                <a:latin typeface="+mn-lt"/>
                <a:ea typeface="+mj-ea"/>
              </a:rPr>
              <a:t>10</a:t>
            </a:r>
            <a:r>
              <a:rPr kumimoji="1" lang="zh-CN" altLang="en-US" sz="2000" dirty="0">
                <a:solidFill>
                  <a:schemeClr val="bg1"/>
                </a:solidFill>
                <a:latin typeface="+mn-lt"/>
                <a:ea typeface="+mj-ea"/>
              </a:rPr>
              <a:t>（</a:t>
            </a:r>
            <a:r>
              <a:rPr kumimoji="1" lang="zh-CN" altLang="en-US" sz="2000" dirty="0">
                <a:solidFill>
                  <a:srgbClr val="FFFF00"/>
                </a:solidFill>
                <a:latin typeface="+mn-lt"/>
                <a:ea typeface="+mj-ea"/>
              </a:rPr>
              <a:t>单位：字节</a:t>
            </a:r>
            <a:r>
              <a:rPr kumimoji="1" lang="en-US" altLang="zh-CN" sz="2000" dirty="0">
                <a:solidFill>
                  <a:srgbClr val="FFFF00"/>
                </a:solidFill>
                <a:latin typeface="+mn-lt"/>
                <a:ea typeface="+mj-ea"/>
              </a:rPr>
              <a:t>Byte</a:t>
            </a:r>
            <a:r>
              <a:rPr kumimoji="1" lang="zh-CN" altLang="en-US" sz="2000" dirty="0">
                <a:solidFill>
                  <a:schemeClr val="bg1"/>
                </a:solidFill>
                <a:latin typeface="+mn-lt"/>
                <a:ea typeface="+mj-ea"/>
              </a:rPr>
              <a:t>）</a:t>
            </a:r>
          </a:p>
        </p:txBody>
      </p:sp>
      <p:sp>
        <p:nvSpPr>
          <p:cNvPr id="5" name="Title 4">
            <a:extLst>
              <a:ext uri="{FF2B5EF4-FFF2-40B4-BE49-F238E27FC236}">
                <a16:creationId xmlns:a16="http://schemas.microsoft.com/office/drawing/2014/main" id="{0E0F4BCE-861E-FF53-AE41-3E24B73AC9AF}"/>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kumimoji="1" lang="en-US" altLang="zh-CN" dirty="0"/>
              <a:t>MIPS</a:t>
            </a:r>
            <a:r>
              <a:rPr kumimoji="1" lang="zh-CN" altLang="en-US" dirty="0"/>
              <a:t>指令格式：</a:t>
            </a:r>
            <a:r>
              <a:rPr kumimoji="1" lang="en-US" altLang="zh-CN" dirty="0"/>
              <a:t>I</a:t>
            </a:r>
            <a:r>
              <a:rPr kumimoji="1" lang="zh-CN" altLang="en-US" dirty="0"/>
              <a:t>型指令</a:t>
            </a:r>
            <a:endParaRPr lang="en-CN" kern="0" dirty="0"/>
          </a:p>
        </p:txBody>
      </p:sp>
    </p:spTree>
    <p:extLst>
      <p:ext uri="{BB962C8B-B14F-4D97-AF65-F5344CB8AC3E}">
        <p14:creationId xmlns:p14="http://schemas.microsoft.com/office/powerpoint/2010/main" val="158215470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a:extLst>
              <a:ext uri="{FF2B5EF4-FFF2-40B4-BE49-F238E27FC236}">
                <a16:creationId xmlns:a16="http://schemas.microsoft.com/office/drawing/2014/main" id="{68F7FF1C-DC59-5F43-A383-991D51B72C86}"/>
              </a:ext>
            </a:extLst>
          </p:cNvPr>
          <p:cNvSpPr>
            <a:spLocks noGrp="1"/>
          </p:cNvSpPr>
          <p:nvPr>
            <p:ph type="sldNum" sz="quarter" idx="12"/>
          </p:nvPr>
        </p:nvSpPr>
        <p:spPr/>
        <p:txBody>
          <a:bodyPr/>
          <a:lstStyle/>
          <a:p>
            <a:fld id="{14659731-6BD7-46E7-8D3C-2F3AC07E20B1}" type="slidenum">
              <a:rPr lang="en-US" altLang="zh-CN" smtClean="0"/>
              <a:pPr/>
              <a:t>46</a:t>
            </a:fld>
            <a:endParaRPr lang="en-US" altLang="zh-CN"/>
          </a:p>
        </p:txBody>
      </p:sp>
      <p:sp>
        <p:nvSpPr>
          <p:cNvPr id="36" name="Rectangle 3">
            <a:extLst>
              <a:ext uri="{FF2B5EF4-FFF2-40B4-BE49-F238E27FC236}">
                <a16:creationId xmlns:a16="http://schemas.microsoft.com/office/drawing/2014/main" id="{1AF4C294-9B96-4AC7-A8CA-FB8884B6204B}"/>
              </a:ext>
            </a:extLst>
          </p:cNvPr>
          <p:cNvSpPr>
            <a:spLocks noGrp="1" noChangeArrowheads="1"/>
          </p:cNvSpPr>
          <p:nvPr>
            <p:ph idx="4294967295"/>
          </p:nvPr>
        </p:nvSpPr>
        <p:spPr>
          <a:xfrm>
            <a:off x="296562" y="1253331"/>
            <a:ext cx="8798011" cy="5400675"/>
          </a:xfrm>
        </p:spPr>
        <p:txBody>
          <a:bodyPr>
            <a:normAutofit/>
          </a:bodyPr>
          <a:lstStyle/>
          <a:p>
            <a:pPr>
              <a:lnSpc>
                <a:spcPct val="150000"/>
              </a:lnSpc>
            </a:pPr>
            <a:r>
              <a:rPr lang="zh-CN" altLang="en-US" sz="2800" b="1" dirty="0">
                <a:solidFill>
                  <a:srgbClr val="0432FF"/>
                </a:solidFill>
              </a:rPr>
              <a:t>问题</a:t>
            </a:r>
            <a:r>
              <a:rPr lang="en-US" altLang="zh-CN" sz="2800" b="1" dirty="0">
                <a:solidFill>
                  <a:srgbClr val="0432FF"/>
                </a:solidFill>
              </a:rPr>
              <a:t>4</a:t>
            </a:r>
            <a:r>
              <a:rPr lang="zh-CN" altLang="en-US" sz="2800" b="1" dirty="0"/>
              <a:t>：可能的访存地址有</a:t>
            </a:r>
            <a:r>
              <a:rPr lang="en-US" altLang="zh-CN" sz="2800" b="1" dirty="0"/>
              <a:t>32</a:t>
            </a:r>
            <a:r>
              <a:rPr lang="zh-CN" altLang="en-US" sz="2800" b="1" dirty="0"/>
              <a:t>位，如何用</a:t>
            </a:r>
            <a:r>
              <a:rPr lang="en-US" altLang="zh-CN" sz="2800" b="1" dirty="0"/>
              <a:t>21bit</a:t>
            </a:r>
            <a:r>
              <a:rPr lang="zh-CN" altLang="en-US" sz="2800" b="1" dirty="0"/>
              <a:t>表示？</a:t>
            </a:r>
            <a:endParaRPr lang="en-US" altLang="zh-CN" sz="2800" b="1" dirty="0"/>
          </a:p>
          <a:p>
            <a:pPr lvl="1">
              <a:spcBef>
                <a:spcPct val="50000"/>
              </a:spcBef>
            </a:pPr>
            <a:r>
              <a:rPr lang="zh-CN" altLang="en-US" sz="2400" kern="0" dirty="0">
                <a:ea typeface="+mj-ea"/>
              </a:rPr>
              <a:t>数据装入：</a:t>
            </a:r>
            <a:r>
              <a:rPr lang="en-US" altLang="zh-CN" sz="2400" kern="0" dirty="0">
                <a:ea typeface="+mj-ea"/>
              </a:rPr>
              <a:t>rt = Mem[rs + Address]</a:t>
            </a:r>
          </a:p>
          <a:p>
            <a:pPr lvl="1"/>
            <a:r>
              <a:rPr lang="zh-CN" altLang="en-US" sz="2400" kern="0" dirty="0">
                <a:ea typeface="+mj-ea"/>
              </a:rPr>
              <a:t>数据存储：</a:t>
            </a:r>
            <a:r>
              <a:rPr lang="en-US" altLang="zh-CN" sz="2400" kern="0" dirty="0">
                <a:ea typeface="+mj-ea"/>
              </a:rPr>
              <a:t>Mem[rs + Address] = rt</a:t>
            </a:r>
            <a:endParaRPr lang="zh-CN" altLang="en-US" sz="2400" kern="0" dirty="0">
              <a:ea typeface="+mj-ea"/>
            </a:endParaRPr>
          </a:p>
          <a:p>
            <a:pPr lvl="1">
              <a:lnSpc>
                <a:spcPct val="150000"/>
              </a:lnSpc>
            </a:pPr>
            <a:endParaRPr lang="en-US" altLang="zh-CN" b="1" dirty="0"/>
          </a:p>
          <a:p>
            <a:pPr>
              <a:lnSpc>
                <a:spcPct val="150000"/>
              </a:lnSpc>
            </a:pPr>
            <a:endParaRPr lang="en-US" altLang="zh-CN" sz="2300" dirty="0">
              <a:solidFill>
                <a:srgbClr val="0432FF"/>
              </a:solidFill>
            </a:endParaRPr>
          </a:p>
          <a:p>
            <a:pPr>
              <a:lnSpc>
                <a:spcPct val="150000"/>
              </a:lnSpc>
            </a:pPr>
            <a:endParaRPr lang="en-US" altLang="zh-CN" sz="2300" dirty="0">
              <a:solidFill>
                <a:srgbClr val="0432FF"/>
              </a:solidFill>
            </a:endParaRPr>
          </a:p>
          <a:p>
            <a:pPr>
              <a:lnSpc>
                <a:spcPct val="150000"/>
              </a:lnSpc>
            </a:pPr>
            <a:endParaRPr lang="en-US" altLang="zh-CN" sz="2300" dirty="0">
              <a:solidFill>
                <a:srgbClr val="0432FF"/>
              </a:solidFill>
            </a:endParaRPr>
          </a:p>
          <a:p>
            <a:pPr lvl="1">
              <a:lnSpc>
                <a:spcPct val="150000"/>
              </a:lnSpc>
            </a:pPr>
            <a:endParaRPr lang="en-US" altLang="zh-CN" sz="1900" dirty="0"/>
          </a:p>
          <a:p>
            <a:pPr lvl="1">
              <a:lnSpc>
                <a:spcPct val="150000"/>
              </a:lnSpc>
            </a:pPr>
            <a:endParaRPr lang="en-US" altLang="zh-CN" sz="1900" dirty="0"/>
          </a:p>
          <a:p>
            <a:pPr lvl="1">
              <a:lnSpc>
                <a:spcPct val="150000"/>
              </a:lnSpc>
            </a:pPr>
            <a:endParaRPr lang="en-US" altLang="zh-CN" sz="1900" dirty="0"/>
          </a:p>
        </p:txBody>
      </p:sp>
      <p:pic>
        <p:nvPicPr>
          <p:cNvPr id="9" name="Picture 8">
            <a:extLst>
              <a:ext uri="{FF2B5EF4-FFF2-40B4-BE49-F238E27FC236}">
                <a16:creationId xmlns:a16="http://schemas.microsoft.com/office/drawing/2014/main" id="{075EED62-5D8A-4F4E-A393-D6E4BD14E7A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779932" y="3176621"/>
            <a:ext cx="7337002" cy="2392665"/>
          </a:xfrm>
          <a:prstGeom prst="rect">
            <a:avLst/>
          </a:prstGeom>
        </p:spPr>
      </p:pic>
      <p:sp>
        <p:nvSpPr>
          <p:cNvPr id="2" name="文本框 1">
            <a:extLst>
              <a:ext uri="{FF2B5EF4-FFF2-40B4-BE49-F238E27FC236}">
                <a16:creationId xmlns:a16="http://schemas.microsoft.com/office/drawing/2014/main" id="{77884FD5-1581-0BE9-D1DD-DC4DE63D3604}"/>
              </a:ext>
            </a:extLst>
          </p:cNvPr>
          <p:cNvSpPr txBox="1"/>
          <p:nvPr/>
        </p:nvSpPr>
        <p:spPr>
          <a:xfrm>
            <a:off x="779932" y="5832625"/>
            <a:ext cx="6787935" cy="461665"/>
          </a:xfrm>
          <a:prstGeom prst="rect">
            <a:avLst/>
          </a:prstGeom>
          <a:solidFill>
            <a:schemeClr val="tx1">
              <a:lumMod val="50000"/>
              <a:lumOff val="50000"/>
            </a:schemeClr>
          </a:solidFill>
        </p:spPr>
        <p:txBody>
          <a:bodyPr wrap="square">
            <a:spAutoFit/>
          </a:bodyPr>
          <a:lstStyle/>
          <a:p>
            <a:pPr marR="0" lvl="0" algn="ctr" defTabSz="685800" rtl="0" eaLnBrk="1" fontAlgn="auto" latinLnBrk="0" hangingPunct="1">
              <a:lnSpc>
                <a:spcPct val="100000"/>
              </a:lnSpc>
              <a:spcBef>
                <a:spcPct val="20000"/>
              </a:spcBef>
              <a:spcAft>
                <a:spcPts val="0"/>
              </a:spcAft>
              <a:buClrTx/>
              <a:buSzTx/>
              <a:tabLst/>
              <a:defRPr/>
            </a:pPr>
            <a:r>
              <a:rPr kumimoji="0" lang="en-US" altLang="zh-CN" sz="2400" b="0" i="0" u="none" strike="noStrike" kern="1200" cap="none" spc="0" normalizeH="0" baseline="0" noProof="0" dirty="0">
                <a:ln>
                  <a:noFill/>
                </a:ln>
                <a:solidFill>
                  <a:schemeClr val="bg1"/>
                </a:solidFill>
                <a:effectLst/>
                <a:uLnTx/>
                <a:uFillTx/>
                <a:latin typeface="Microsoft YaHei" charset="0"/>
                <a:ea typeface="Microsoft YaHei" charset="0"/>
              </a:rPr>
              <a:t>MIPS</a:t>
            </a:r>
            <a:r>
              <a:rPr kumimoji="0" lang="zh-CN" altLang="en-US" sz="2400" b="0" i="0" u="none" strike="noStrike" kern="1200" cap="none" spc="0" normalizeH="0" baseline="0" noProof="0" dirty="0">
                <a:ln>
                  <a:noFill/>
                </a:ln>
                <a:solidFill>
                  <a:schemeClr val="bg1"/>
                </a:solidFill>
                <a:effectLst/>
                <a:uLnTx/>
                <a:uFillTx/>
                <a:latin typeface="Microsoft YaHei" charset="0"/>
                <a:ea typeface="Microsoft YaHei" charset="0"/>
              </a:rPr>
              <a:t>采用基址</a:t>
            </a:r>
            <a:r>
              <a:rPr kumimoji="0" lang="en-US" altLang="zh-CN" sz="2400" b="0" i="0" u="none" strike="noStrike" kern="1200" cap="none" spc="0" normalizeH="0" baseline="0" noProof="0" dirty="0">
                <a:ln>
                  <a:noFill/>
                </a:ln>
                <a:solidFill>
                  <a:schemeClr val="bg1"/>
                </a:solidFill>
                <a:effectLst/>
                <a:uLnTx/>
                <a:uFillTx/>
                <a:latin typeface="Microsoft YaHei" charset="0"/>
                <a:ea typeface="Microsoft YaHei" charset="0"/>
              </a:rPr>
              <a:t>+</a:t>
            </a:r>
            <a:r>
              <a:rPr kumimoji="0" lang="zh-CN" altLang="en-US" sz="2400" b="0" i="0" u="none" strike="noStrike" kern="1200" cap="none" spc="0" normalizeH="0" baseline="0" noProof="0" dirty="0">
                <a:ln>
                  <a:noFill/>
                </a:ln>
                <a:solidFill>
                  <a:schemeClr val="bg1"/>
                </a:solidFill>
                <a:effectLst/>
                <a:uLnTx/>
                <a:uFillTx/>
                <a:latin typeface="Microsoft YaHei" charset="0"/>
                <a:ea typeface="Microsoft YaHei" charset="0"/>
              </a:rPr>
              <a:t>偏移地址的寻址方式进行访存</a:t>
            </a:r>
          </a:p>
        </p:txBody>
      </p:sp>
      <p:sp>
        <p:nvSpPr>
          <p:cNvPr id="3" name="Title 4">
            <a:extLst>
              <a:ext uri="{FF2B5EF4-FFF2-40B4-BE49-F238E27FC236}">
                <a16:creationId xmlns:a16="http://schemas.microsoft.com/office/drawing/2014/main" id="{2F3D0941-99D0-F523-9827-AD4E5D89C545}"/>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kumimoji="1" lang="zh-CN" altLang="en-US" dirty="0"/>
              <a:t>回顾：指令编码</a:t>
            </a:r>
            <a:endParaRPr lang="en-CN" kern="0" dirty="0"/>
          </a:p>
        </p:txBody>
      </p:sp>
    </p:spTree>
    <p:extLst>
      <p:ext uri="{BB962C8B-B14F-4D97-AF65-F5344CB8AC3E}">
        <p14:creationId xmlns:p14="http://schemas.microsoft.com/office/powerpoint/2010/main" val="25676714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9B52569E-53AC-4A41-8430-F9FD330141FD}"/>
              </a:ext>
            </a:extLst>
          </p:cNvPr>
          <p:cNvSpPr>
            <a:spLocks noGrp="1"/>
          </p:cNvSpPr>
          <p:nvPr>
            <p:ph type="sldNum" sz="quarter" idx="12"/>
          </p:nvPr>
        </p:nvSpPr>
        <p:spPr/>
        <p:txBody>
          <a:bodyPr/>
          <a:lstStyle/>
          <a:p>
            <a:fld id="{14659731-6BD7-46E7-8D3C-2F3AC07E20B1}" type="slidenum">
              <a:rPr lang="en-US" altLang="zh-CN" smtClean="0"/>
              <a:pPr/>
              <a:t>47</a:t>
            </a:fld>
            <a:endParaRPr lang="en-US" altLang="zh-CN"/>
          </a:p>
        </p:txBody>
      </p:sp>
      <p:sp>
        <p:nvSpPr>
          <p:cNvPr id="3" name="内容占位符 2">
            <a:extLst>
              <a:ext uri="{FF2B5EF4-FFF2-40B4-BE49-F238E27FC236}">
                <a16:creationId xmlns:a16="http://schemas.microsoft.com/office/drawing/2014/main" id="{2C756905-E7EA-C34B-B6C7-DAD6E5D1D10C}"/>
              </a:ext>
            </a:extLst>
          </p:cNvPr>
          <p:cNvSpPr>
            <a:spLocks noGrp="1"/>
          </p:cNvSpPr>
          <p:nvPr>
            <p:ph idx="4294967295"/>
          </p:nvPr>
        </p:nvSpPr>
        <p:spPr>
          <a:xfrm>
            <a:off x="532113" y="1253331"/>
            <a:ext cx="7886700" cy="4351338"/>
          </a:xfrm>
        </p:spPr>
        <p:txBody>
          <a:bodyPr/>
          <a:lstStyle/>
          <a:p>
            <a:pPr>
              <a:lnSpc>
                <a:spcPct val="150000"/>
              </a:lnSpc>
            </a:pPr>
            <a:r>
              <a:rPr kumimoji="1" lang="en-US" altLang="zh-CN" dirty="0"/>
              <a:t>J</a:t>
            </a:r>
            <a:r>
              <a:rPr kumimoji="1" lang="zh-CN" altLang="en-US" dirty="0"/>
              <a:t>型指令的字段划分及具体含义如下</a:t>
            </a:r>
            <a:endParaRPr kumimoji="1" lang="en-US" altLang="zh-CN" dirty="0"/>
          </a:p>
          <a:p>
            <a:pPr lvl="1">
              <a:lnSpc>
                <a:spcPct val="150000"/>
              </a:lnSpc>
            </a:pPr>
            <a:r>
              <a:rPr kumimoji="1" lang="en-US" altLang="zh-CN" dirty="0"/>
              <a:t>26-bit</a:t>
            </a:r>
            <a:r>
              <a:rPr kumimoji="1" lang="zh-CN" altLang="en-US" dirty="0"/>
              <a:t>目标地址</a:t>
            </a:r>
          </a:p>
        </p:txBody>
      </p:sp>
      <p:grpSp>
        <p:nvGrpSpPr>
          <p:cNvPr id="6" name="组合 5">
            <a:extLst>
              <a:ext uri="{FF2B5EF4-FFF2-40B4-BE49-F238E27FC236}">
                <a16:creationId xmlns:a16="http://schemas.microsoft.com/office/drawing/2014/main" id="{6CC24A17-76D7-A6E2-8729-349778A54B2D}"/>
              </a:ext>
            </a:extLst>
          </p:cNvPr>
          <p:cNvGrpSpPr/>
          <p:nvPr/>
        </p:nvGrpSpPr>
        <p:grpSpPr>
          <a:xfrm>
            <a:off x="532113" y="3356175"/>
            <a:ext cx="8284695" cy="1712515"/>
            <a:chOff x="457200" y="2651612"/>
            <a:chExt cx="8284695" cy="1712515"/>
          </a:xfrm>
        </p:grpSpPr>
        <p:sp>
          <p:nvSpPr>
            <p:cNvPr id="20" name="Text Box 33">
              <a:extLst>
                <a:ext uri="{FF2B5EF4-FFF2-40B4-BE49-F238E27FC236}">
                  <a16:creationId xmlns:a16="http://schemas.microsoft.com/office/drawing/2014/main" id="{A8BD3AD9-F2C9-924C-AC88-F51808B87F13}"/>
                </a:ext>
              </a:extLst>
            </p:cNvPr>
            <p:cNvSpPr txBox="1">
              <a:spLocks noChangeArrowheads="1"/>
            </p:cNvSpPr>
            <p:nvPr/>
          </p:nvSpPr>
          <p:spPr bwMode="auto">
            <a:xfrm>
              <a:off x="704382" y="3901820"/>
              <a:ext cx="1296987" cy="462307"/>
            </a:xfrm>
            <a:prstGeom prst="rect">
              <a:avLst/>
            </a:prstGeom>
            <a:solidFill>
              <a:srgbClr val="FFCCFF"/>
            </a:solidFill>
            <a:ln>
              <a:noFill/>
            </a:ln>
            <a:effectLst/>
            <a:extLs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92075" tIns="46038" rIns="92075" bIns="46038">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eaLnBrk="1" hangingPunct="1">
                <a:spcBef>
                  <a:spcPct val="50000"/>
                </a:spcBef>
              </a:pPr>
              <a:r>
                <a:rPr lang="zh-CN" altLang="en-US" sz="2400">
                  <a:latin typeface="+mn-lt"/>
                  <a:ea typeface="+mj-ea"/>
                </a:rPr>
                <a:t>操作码</a:t>
              </a:r>
            </a:p>
          </p:txBody>
        </p:sp>
        <p:sp>
          <p:nvSpPr>
            <p:cNvPr id="23" name="Text Box 36">
              <a:extLst>
                <a:ext uri="{FF2B5EF4-FFF2-40B4-BE49-F238E27FC236}">
                  <a16:creationId xmlns:a16="http://schemas.microsoft.com/office/drawing/2014/main" id="{01FE6774-ED12-EA4F-8F86-40F8D22CC9EF}"/>
                </a:ext>
              </a:extLst>
            </p:cNvPr>
            <p:cNvSpPr txBox="1">
              <a:spLocks noChangeArrowheads="1"/>
            </p:cNvSpPr>
            <p:nvPr/>
          </p:nvSpPr>
          <p:spPr bwMode="auto">
            <a:xfrm>
              <a:off x="4091816" y="3901820"/>
              <a:ext cx="2297694" cy="462307"/>
            </a:xfrm>
            <a:prstGeom prst="rect">
              <a:avLst/>
            </a:prstGeom>
            <a:solidFill>
              <a:srgbClr val="99FF66"/>
            </a:solidFill>
            <a:ln>
              <a:noFill/>
            </a:ln>
            <a:effectLst/>
            <a:extLs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92075" tIns="46038" rIns="92075" bIns="46038">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eaLnBrk="1" hangingPunct="1">
                <a:spcBef>
                  <a:spcPct val="50000"/>
                </a:spcBef>
              </a:pPr>
              <a:r>
                <a:rPr lang="zh-CN" altLang="en-US" sz="2400">
                  <a:latin typeface="+mn-lt"/>
                  <a:ea typeface="+mj-ea"/>
                </a:rPr>
                <a:t>地址字段</a:t>
              </a:r>
            </a:p>
          </p:txBody>
        </p:sp>
        <p:sp>
          <p:nvSpPr>
            <p:cNvPr id="26" name="Line 39">
              <a:extLst>
                <a:ext uri="{FF2B5EF4-FFF2-40B4-BE49-F238E27FC236}">
                  <a16:creationId xmlns:a16="http://schemas.microsoft.com/office/drawing/2014/main" id="{3FCA2398-8253-CF42-82DA-F5F07781922E}"/>
                </a:ext>
              </a:extLst>
            </p:cNvPr>
            <p:cNvSpPr>
              <a:spLocks noChangeShapeType="1"/>
            </p:cNvSpPr>
            <p:nvPr/>
          </p:nvSpPr>
          <p:spPr bwMode="auto">
            <a:xfrm>
              <a:off x="1328821" y="3554157"/>
              <a:ext cx="0" cy="3048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endParaRPr lang="zh-CN" altLang="en-US" b="1">
                <a:latin typeface="+mn-lt"/>
              </a:endParaRPr>
            </a:p>
          </p:txBody>
        </p:sp>
        <p:sp>
          <p:nvSpPr>
            <p:cNvPr id="29" name="Line 42">
              <a:extLst>
                <a:ext uri="{FF2B5EF4-FFF2-40B4-BE49-F238E27FC236}">
                  <a16:creationId xmlns:a16="http://schemas.microsoft.com/office/drawing/2014/main" id="{01A1A9BE-7249-7E42-9A0B-8D6724340CCC}"/>
                </a:ext>
              </a:extLst>
            </p:cNvPr>
            <p:cNvSpPr>
              <a:spLocks noChangeShapeType="1"/>
            </p:cNvSpPr>
            <p:nvPr/>
          </p:nvSpPr>
          <p:spPr bwMode="auto">
            <a:xfrm>
              <a:off x="5251464" y="3554157"/>
              <a:ext cx="0" cy="3048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endParaRPr lang="zh-CN" altLang="en-US" b="1">
                <a:latin typeface="+mn-lt"/>
              </a:endParaRPr>
            </a:p>
          </p:txBody>
        </p:sp>
        <p:sp>
          <p:nvSpPr>
            <p:cNvPr id="33" name="文本框 32">
              <a:extLst>
                <a:ext uri="{FF2B5EF4-FFF2-40B4-BE49-F238E27FC236}">
                  <a16:creationId xmlns:a16="http://schemas.microsoft.com/office/drawing/2014/main" id="{14A85918-E6B2-6D43-988F-8EF760BE3C10}"/>
                </a:ext>
              </a:extLst>
            </p:cNvPr>
            <p:cNvSpPr txBox="1"/>
            <p:nvPr/>
          </p:nvSpPr>
          <p:spPr>
            <a:xfrm>
              <a:off x="457200" y="2651612"/>
              <a:ext cx="1711132" cy="461665"/>
            </a:xfrm>
            <a:prstGeom prst="rect">
              <a:avLst/>
            </a:prstGeom>
            <a:noFill/>
          </p:spPr>
          <p:txBody>
            <a:bodyPr wrap="square" rtlCol="0">
              <a:spAutoFit/>
            </a:bodyPr>
            <a:lstStyle/>
            <a:p>
              <a:pPr algn="ctr"/>
              <a:r>
                <a:rPr kumimoji="1" lang="en-US" altLang="zh-CN" sz="2400" b="1">
                  <a:solidFill>
                    <a:srgbClr val="0432FF"/>
                  </a:solidFill>
                  <a:latin typeface="+mn-lt"/>
                  <a:ea typeface="+mj-ea"/>
                </a:rPr>
                <a:t>6bit</a:t>
              </a:r>
              <a:endParaRPr kumimoji="1" lang="zh-CN" altLang="en-US" sz="2400" b="1">
                <a:solidFill>
                  <a:srgbClr val="0432FF"/>
                </a:solidFill>
                <a:latin typeface="+mn-lt"/>
                <a:ea typeface="+mj-ea"/>
              </a:endParaRPr>
            </a:p>
          </p:txBody>
        </p:sp>
        <p:sp>
          <p:nvSpPr>
            <p:cNvPr id="36" name="文本框 35">
              <a:extLst>
                <a:ext uri="{FF2B5EF4-FFF2-40B4-BE49-F238E27FC236}">
                  <a16:creationId xmlns:a16="http://schemas.microsoft.com/office/drawing/2014/main" id="{71A1F1C3-48D1-9740-9E00-FB34290BE95F}"/>
                </a:ext>
              </a:extLst>
            </p:cNvPr>
            <p:cNvSpPr txBox="1"/>
            <p:nvPr/>
          </p:nvSpPr>
          <p:spPr>
            <a:xfrm>
              <a:off x="4338266" y="2651612"/>
              <a:ext cx="1711132" cy="461665"/>
            </a:xfrm>
            <a:prstGeom prst="rect">
              <a:avLst/>
            </a:prstGeom>
            <a:noFill/>
          </p:spPr>
          <p:txBody>
            <a:bodyPr wrap="square" rtlCol="0">
              <a:spAutoFit/>
            </a:bodyPr>
            <a:lstStyle/>
            <a:p>
              <a:pPr algn="ctr"/>
              <a:r>
                <a:rPr kumimoji="1" lang="en-US" altLang="zh-CN" sz="2400" b="1">
                  <a:solidFill>
                    <a:srgbClr val="0432FF"/>
                  </a:solidFill>
                  <a:latin typeface="+mn-lt"/>
                  <a:ea typeface="+mj-ea"/>
                </a:rPr>
                <a:t>26bit</a:t>
              </a:r>
              <a:endParaRPr kumimoji="1" lang="zh-CN" altLang="en-US" sz="2400" b="1">
                <a:solidFill>
                  <a:srgbClr val="0432FF"/>
                </a:solidFill>
                <a:latin typeface="+mn-lt"/>
                <a:ea typeface="+mj-ea"/>
              </a:endParaRPr>
            </a:p>
          </p:txBody>
        </p:sp>
        <p:grpSp>
          <p:nvGrpSpPr>
            <p:cNvPr id="39" name="Group 9">
              <a:extLst>
                <a:ext uri="{FF2B5EF4-FFF2-40B4-BE49-F238E27FC236}">
                  <a16:creationId xmlns:a16="http://schemas.microsoft.com/office/drawing/2014/main" id="{5C4906CA-AF8E-DB40-B93C-A5AB9B2C54CC}"/>
                </a:ext>
              </a:extLst>
            </p:cNvPr>
            <p:cNvGrpSpPr>
              <a:grpSpLocks/>
            </p:cNvGrpSpPr>
            <p:nvPr/>
          </p:nvGrpSpPr>
          <p:grpSpPr bwMode="auto">
            <a:xfrm>
              <a:off x="588495" y="3046699"/>
              <a:ext cx="8153400" cy="523876"/>
              <a:chOff x="336" y="1455"/>
              <a:chExt cx="5136" cy="330"/>
            </a:xfrm>
          </p:grpSpPr>
          <p:sp>
            <p:nvSpPr>
              <p:cNvPr id="40" name="Text Box 10">
                <a:extLst>
                  <a:ext uri="{FF2B5EF4-FFF2-40B4-BE49-F238E27FC236}">
                    <a16:creationId xmlns:a16="http://schemas.microsoft.com/office/drawing/2014/main" id="{BF317B9A-ADFA-194D-966E-F450AC560BDB}"/>
                  </a:ext>
                </a:extLst>
              </p:cNvPr>
              <p:cNvSpPr txBox="1">
                <a:spLocks noChangeArrowheads="1"/>
              </p:cNvSpPr>
              <p:nvPr/>
            </p:nvSpPr>
            <p:spPr bwMode="auto">
              <a:xfrm>
                <a:off x="336" y="1455"/>
                <a:ext cx="920" cy="3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a:r>
                  <a:rPr lang="en-US" altLang="en-US" sz="2800" dirty="0">
                    <a:latin typeface="+mn-lt"/>
                    <a:ea typeface="+mj-ea"/>
                  </a:rPr>
                  <a:t>opcode</a:t>
                </a:r>
                <a:endParaRPr lang="en-US" altLang="en-US" sz="2000" dirty="0">
                  <a:solidFill>
                    <a:schemeClr val="accent1"/>
                  </a:solidFill>
                  <a:latin typeface="+mn-lt"/>
                  <a:ea typeface="+mj-ea"/>
                </a:endParaRPr>
              </a:p>
            </p:txBody>
          </p:sp>
          <p:sp>
            <p:nvSpPr>
              <p:cNvPr id="41" name="Text Box 11">
                <a:extLst>
                  <a:ext uri="{FF2B5EF4-FFF2-40B4-BE49-F238E27FC236}">
                    <a16:creationId xmlns:a16="http://schemas.microsoft.com/office/drawing/2014/main" id="{12DB6D0F-EE7A-4540-AA15-7B1E02B22BD6}"/>
                  </a:ext>
                </a:extLst>
              </p:cNvPr>
              <p:cNvSpPr txBox="1">
                <a:spLocks noChangeArrowheads="1"/>
              </p:cNvSpPr>
              <p:nvPr/>
            </p:nvSpPr>
            <p:spPr bwMode="auto">
              <a:xfrm>
                <a:off x="2468" y="1455"/>
                <a:ext cx="1678" cy="3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a:r>
                  <a:rPr lang="en-US" altLang="en-US" sz="2800" dirty="0">
                    <a:latin typeface="+mn-lt"/>
                    <a:ea typeface="+mj-ea"/>
                  </a:rPr>
                  <a:t>target address</a:t>
                </a:r>
                <a:endParaRPr lang="en-US" altLang="en-US" sz="2000" dirty="0">
                  <a:solidFill>
                    <a:schemeClr val="accent1"/>
                  </a:solidFill>
                  <a:latin typeface="+mn-lt"/>
                  <a:ea typeface="+mj-ea"/>
                </a:endParaRPr>
              </a:p>
            </p:txBody>
          </p:sp>
          <p:sp>
            <p:nvSpPr>
              <p:cNvPr id="42" name="Line 12">
                <a:extLst>
                  <a:ext uri="{FF2B5EF4-FFF2-40B4-BE49-F238E27FC236}">
                    <a16:creationId xmlns:a16="http://schemas.microsoft.com/office/drawing/2014/main" id="{9C74075F-DBE5-2E48-A30F-5B7191C75532}"/>
                  </a:ext>
                </a:extLst>
              </p:cNvPr>
              <p:cNvSpPr>
                <a:spLocks noChangeShapeType="1"/>
              </p:cNvSpPr>
              <p:nvPr/>
            </p:nvSpPr>
            <p:spPr bwMode="auto">
              <a:xfrm>
                <a:off x="1296" y="1488"/>
                <a:ext cx="0" cy="288"/>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endParaRPr lang="zh-CN" altLang="en-US" b="1">
                  <a:latin typeface="+mn-lt"/>
                </a:endParaRPr>
              </a:p>
            </p:txBody>
          </p:sp>
          <p:sp>
            <p:nvSpPr>
              <p:cNvPr id="43" name="Rectangle 13">
                <a:extLst>
                  <a:ext uri="{FF2B5EF4-FFF2-40B4-BE49-F238E27FC236}">
                    <a16:creationId xmlns:a16="http://schemas.microsoft.com/office/drawing/2014/main" id="{1734F25F-73AF-BD4C-A1BA-2BEBA4430AEA}"/>
                  </a:ext>
                </a:extLst>
              </p:cNvPr>
              <p:cNvSpPr>
                <a:spLocks noChangeArrowheads="1"/>
              </p:cNvSpPr>
              <p:nvPr/>
            </p:nvSpPr>
            <p:spPr bwMode="auto">
              <a:xfrm>
                <a:off x="336" y="1488"/>
                <a:ext cx="5136" cy="288"/>
              </a:xfrm>
              <a:prstGeom prst="rect">
                <a:avLst/>
              </a:prstGeom>
              <a:noFill/>
              <a:ln w="381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endParaRPr lang="zh-CN" altLang="en-US" b="1">
                  <a:latin typeface="+mn-lt"/>
                </a:endParaRPr>
              </a:p>
            </p:txBody>
          </p:sp>
        </p:grpSp>
      </p:grpSp>
      <p:sp>
        <p:nvSpPr>
          <p:cNvPr id="5" name="Title 4">
            <a:extLst>
              <a:ext uri="{FF2B5EF4-FFF2-40B4-BE49-F238E27FC236}">
                <a16:creationId xmlns:a16="http://schemas.microsoft.com/office/drawing/2014/main" id="{D0407E6A-D904-AE6C-C402-2E5C78E392A0}"/>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kumimoji="1" lang="en-US" altLang="zh-CN" dirty="0"/>
              <a:t>MIPS</a:t>
            </a:r>
            <a:r>
              <a:rPr kumimoji="1" lang="zh-CN" altLang="en-US" dirty="0"/>
              <a:t>指令格式：</a:t>
            </a:r>
            <a:r>
              <a:rPr kumimoji="1" lang="en-US" altLang="zh-CN" dirty="0"/>
              <a:t>J</a:t>
            </a:r>
            <a:r>
              <a:rPr kumimoji="1" lang="zh-CN" altLang="en-US" dirty="0"/>
              <a:t>型指令</a:t>
            </a:r>
            <a:endParaRPr lang="en-CN" kern="0" dirty="0"/>
          </a:p>
        </p:txBody>
      </p:sp>
    </p:spTree>
    <p:extLst>
      <p:ext uri="{BB962C8B-B14F-4D97-AF65-F5344CB8AC3E}">
        <p14:creationId xmlns:p14="http://schemas.microsoft.com/office/powerpoint/2010/main" val="14265158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9B52569E-53AC-4A41-8430-F9FD330141FD}"/>
              </a:ext>
            </a:extLst>
          </p:cNvPr>
          <p:cNvSpPr>
            <a:spLocks noGrp="1"/>
          </p:cNvSpPr>
          <p:nvPr>
            <p:ph type="sldNum" sz="quarter" idx="12"/>
          </p:nvPr>
        </p:nvSpPr>
        <p:spPr/>
        <p:txBody>
          <a:bodyPr/>
          <a:lstStyle/>
          <a:p>
            <a:fld id="{14659731-6BD7-46E7-8D3C-2F3AC07E20B1}" type="slidenum">
              <a:rPr lang="en-US" altLang="zh-CN" smtClean="0"/>
              <a:pPr/>
              <a:t>48</a:t>
            </a:fld>
            <a:endParaRPr lang="en-US" altLang="zh-CN"/>
          </a:p>
        </p:txBody>
      </p:sp>
      <p:sp>
        <p:nvSpPr>
          <p:cNvPr id="3" name="内容占位符 2">
            <a:extLst>
              <a:ext uri="{FF2B5EF4-FFF2-40B4-BE49-F238E27FC236}">
                <a16:creationId xmlns:a16="http://schemas.microsoft.com/office/drawing/2014/main" id="{2C756905-E7EA-C34B-B6C7-DAD6E5D1D10C}"/>
              </a:ext>
            </a:extLst>
          </p:cNvPr>
          <p:cNvSpPr>
            <a:spLocks noGrp="1"/>
          </p:cNvSpPr>
          <p:nvPr>
            <p:ph idx="4294967295"/>
          </p:nvPr>
        </p:nvSpPr>
        <p:spPr>
          <a:xfrm>
            <a:off x="446862" y="1312590"/>
            <a:ext cx="8239938" cy="4351338"/>
          </a:xfrm>
        </p:spPr>
        <p:txBody>
          <a:bodyPr/>
          <a:lstStyle/>
          <a:p>
            <a:r>
              <a:rPr kumimoji="1" lang="zh-CN" altLang="en-US" sz="2400" dirty="0"/>
              <a:t>例子：跳转指令，如</a:t>
            </a:r>
            <a:r>
              <a:rPr kumimoji="1" lang="en-US" altLang="zh-CN" sz="2400" dirty="0"/>
              <a:t>go</a:t>
            </a:r>
            <a:r>
              <a:rPr kumimoji="1" lang="zh-CN" altLang="en-US" sz="2400" dirty="0"/>
              <a:t> </a:t>
            </a:r>
            <a:r>
              <a:rPr kumimoji="1" lang="en-US" altLang="zh-CN" sz="2400" dirty="0"/>
              <a:t>to</a:t>
            </a:r>
            <a:r>
              <a:rPr kumimoji="1" lang="zh-CN" altLang="en-US" sz="2400" dirty="0"/>
              <a:t> </a:t>
            </a:r>
            <a:r>
              <a:rPr kumimoji="1" lang="en-US" altLang="zh-CN" sz="2400" dirty="0"/>
              <a:t>location</a:t>
            </a:r>
            <a:r>
              <a:rPr kumimoji="1" lang="zh-CN" altLang="en-US" sz="2400" dirty="0"/>
              <a:t> </a:t>
            </a:r>
            <a:r>
              <a:rPr kumimoji="1" lang="en-US" altLang="zh-CN" sz="2400" dirty="0"/>
              <a:t>10000</a:t>
            </a:r>
            <a:r>
              <a:rPr kumimoji="1" lang="en-US" altLang="zh-CN" sz="2400" baseline="-25000" dirty="0"/>
              <a:t>10</a:t>
            </a:r>
            <a:r>
              <a:rPr kumimoji="1" lang="en-US" altLang="zh-CN" sz="2400" dirty="0"/>
              <a:t> (</a:t>
            </a:r>
            <a:r>
              <a:rPr kumimoji="1" lang="zh-CN" altLang="en-US" sz="2400" dirty="0"/>
              <a:t>单位：字</a:t>
            </a:r>
            <a:r>
              <a:rPr kumimoji="1" lang="en-US" altLang="zh-CN" sz="2400" dirty="0"/>
              <a:t>)</a:t>
            </a:r>
          </a:p>
          <a:p>
            <a:pPr lvl="1"/>
            <a:r>
              <a:rPr kumimoji="1" lang="zh-CN" altLang="en-US" sz="2000" dirty="0"/>
              <a:t>伪直接寻址固定</a:t>
            </a:r>
            <a:r>
              <a:rPr kumimoji="1" lang="en-US" altLang="zh-CN" sz="2000" dirty="0"/>
              <a:t>PC</a:t>
            </a:r>
            <a:r>
              <a:rPr kumimoji="1" lang="zh-CN" altLang="en-US" sz="2000" dirty="0"/>
              <a:t>的高</a:t>
            </a:r>
            <a:r>
              <a:rPr kumimoji="1" lang="en-US" altLang="zh-CN" sz="2000" dirty="0"/>
              <a:t>4</a:t>
            </a:r>
            <a:r>
              <a:rPr kumimoji="1" lang="zh-CN" altLang="en-US" sz="2000" dirty="0"/>
              <a:t>位不变（</a:t>
            </a:r>
            <a:r>
              <a:rPr kumimoji="1" lang="en-US" altLang="zh-CN" sz="2000" dirty="0"/>
              <a:t>PC[31:28]</a:t>
            </a:r>
            <a:r>
              <a:rPr kumimoji="1" lang="zh-CN" altLang="en-US" sz="2000" dirty="0"/>
              <a:t>）</a:t>
            </a:r>
            <a:endParaRPr kumimoji="1" lang="en-US" altLang="zh-CN" sz="2000" dirty="0"/>
          </a:p>
          <a:p>
            <a:pPr lvl="2"/>
            <a:r>
              <a:rPr kumimoji="1" lang="en-US" altLang="zh-CN" sz="2000" dirty="0" err="1">
                <a:solidFill>
                  <a:srgbClr val="0432FF"/>
                </a:solidFill>
              </a:rPr>
              <a:t>PC_new</a:t>
            </a:r>
            <a:r>
              <a:rPr kumimoji="1" lang="zh-CN" altLang="en-US" sz="2000" dirty="0">
                <a:solidFill>
                  <a:srgbClr val="0432FF"/>
                </a:solidFill>
              </a:rPr>
              <a:t> </a:t>
            </a:r>
            <a:r>
              <a:rPr kumimoji="1" lang="en-US" altLang="zh-CN" sz="2000" dirty="0">
                <a:solidFill>
                  <a:srgbClr val="0432FF"/>
                </a:solidFill>
              </a:rPr>
              <a:t>=</a:t>
            </a:r>
            <a:r>
              <a:rPr kumimoji="1" lang="zh-CN" altLang="en-US" sz="2000" dirty="0">
                <a:solidFill>
                  <a:srgbClr val="0432FF"/>
                </a:solidFill>
              </a:rPr>
              <a:t> </a:t>
            </a:r>
            <a:r>
              <a:rPr kumimoji="1" lang="en-US" altLang="zh-CN" sz="2000" dirty="0">
                <a:solidFill>
                  <a:srgbClr val="0432FF"/>
                </a:solidFill>
              </a:rPr>
              <a:t>{PC[31:28],</a:t>
            </a:r>
            <a:r>
              <a:rPr kumimoji="1" lang="zh-CN" altLang="en-US" sz="2000" dirty="0">
                <a:solidFill>
                  <a:srgbClr val="0432FF"/>
                </a:solidFill>
              </a:rPr>
              <a:t> </a:t>
            </a:r>
            <a:r>
              <a:rPr kumimoji="1" lang="en-US" altLang="zh-CN" sz="2000" dirty="0" err="1">
                <a:solidFill>
                  <a:srgbClr val="0432FF"/>
                </a:solidFill>
              </a:rPr>
              <a:t>target_addr</a:t>
            </a:r>
            <a:r>
              <a:rPr kumimoji="1" lang="en-US" altLang="zh-CN" sz="2000" dirty="0">
                <a:solidFill>
                  <a:srgbClr val="0432FF"/>
                </a:solidFill>
              </a:rPr>
              <a:t>,</a:t>
            </a:r>
            <a:r>
              <a:rPr kumimoji="1" lang="zh-CN" altLang="en-US" sz="2000" dirty="0">
                <a:solidFill>
                  <a:srgbClr val="0432FF"/>
                </a:solidFill>
              </a:rPr>
              <a:t> </a:t>
            </a:r>
            <a:r>
              <a:rPr kumimoji="1" lang="en-US" altLang="zh-CN" sz="2000" dirty="0">
                <a:solidFill>
                  <a:srgbClr val="C00000"/>
                </a:solidFill>
              </a:rPr>
              <a:t>00</a:t>
            </a:r>
            <a:r>
              <a:rPr kumimoji="1" lang="en-US" altLang="zh-CN" sz="2000" dirty="0">
                <a:solidFill>
                  <a:srgbClr val="0432FF"/>
                </a:solidFill>
              </a:rPr>
              <a:t>},</a:t>
            </a:r>
            <a:r>
              <a:rPr kumimoji="1" lang="zh-CN" altLang="en-US" sz="2000" dirty="0">
                <a:solidFill>
                  <a:srgbClr val="0432FF"/>
                </a:solidFill>
              </a:rPr>
              <a:t> </a:t>
            </a:r>
            <a:r>
              <a:rPr kumimoji="1" lang="en-US" altLang="zh-CN" sz="2000" dirty="0">
                <a:solidFill>
                  <a:srgbClr val="0432FF"/>
                </a:solidFill>
              </a:rPr>
              <a:t>32bit</a:t>
            </a:r>
          </a:p>
          <a:p>
            <a:pPr lvl="1"/>
            <a:r>
              <a:rPr kumimoji="1" lang="en-US" altLang="zh-CN" sz="2000" dirty="0"/>
              <a:t>{</a:t>
            </a:r>
            <a:r>
              <a:rPr kumimoji="1" lang="en-US" altLang="zh-CN" sz="2000" dirty="0" err="1"/>
              <a:t>target_addr</a:t>
            </a:r>
            <a:r>
              <a:rPr kumimoji="1" lang="en-US" altLang="zh-CN" sz="2000" dirty="0"/>
              <a:t>,</a:t>
            </a:r>
            <a:r>
              <a:rPr kumimoji="1" lang="zh-CN" altLang="en-US" sz="2000" dirty="0"/>
              <a:t> </a:t>
            </a:r>
            <a:r>
              <a:rPr kumimoji="1" lang="en-US" altLang="zh-CN" sz="2000" dirty="0"/>
              <a:t>00}</a:t>
            </a:r>
            <a:r>
              <a:rPr kumimoji="1" lang="zh-CN" altLang="en-US" sz="2000" dirty="0"/>
              <a:t>作为低</a:t>
            </a:r>
            <a:r>
              <a:rPr kumimoji="1" lang="en-US" altLang="zh-CN" sz="2000" dirty="0"/>
              <a:t>28</a:t>
            </a:r>
            <a:r>
              <a:rPr kumimoji="1" lang="zh-CN" altLang="en-US" sz="2000" dirty="0"/>
              <a:t>位目标地址</a:t>
            </a:r>
            <a:endParaRPr kumimoji="1" lang="en-US" altLang="zh-CN" sz="2000" dirty="0"/>
          </a:p>
          <a:p>
            <a:pPr lvl="2"/>
            <a:r>
              <a:rPr kumimoji="1" lang="en-US" altLang="zh-CN" sz="2000" dirty="0"/>
              <a:t>{</a:t>
            </a:r>
            <a:r>
              <a:rPr kumimoji="1" lang="en-US" altLang="zh-CN" sz="2000" dirty="0" err="1"/>
              <a:t>target_addr</a:t>
            </a:r>
            <a:r>
              <a:rPr kumimoji="1" lang="en-US" altLang="zh-CN" sz="2000" dirty="0"/>
              <a:t>,</a:t>
            </a:r>
            <a:r>
              <a:rPr kumimoji="1" lang="zh-CN" altLang="en-US" sz="2000" dirty="0"/>
              <a:t> </a:t>
            </a:r>
            <a:r>
              <a:rPr kumimoji="1" lang="en-US" altLang="zh-CN" sz="2000" dirty="0"/>
              <a:t>00} = </a:t>
            </a:r>
            <a:r>
              <a:rPr kumimoji="1" lang="en-US" altLang="zh-CN" sz="2000" dirty="0" err="1"/>
              <a:t>target_addr</a:t>
            </a:r>
            <a:r>
              <a:rPr kumimoji="1" lang="en-US" altLang="zh-CN" sz="2000" dirty="0"/>
              <a:t> &lt;&lt; 2</a:t>
            </a:r>
            <a:endParaRPr kumimoji="1" lang="en-US" altLang="zh-CN" sz="2400" dirty="0"/>
          </a:p>
        </p:txBody>
      </p:sp>
      <p:grpSp>
        <p:nvGrpSpPr>
          <p:cNvPr id="5" name="Group 4">
            <a:extLst>
              <a:ext uri="{FF2B5EF4-FFF2-40B4-BE49-F238E27FC236}">
                <a16:creationId xmlns:a16="http://schemas.microsoft.com/office/drawing/2014/main" id="{6A8BAFAA-DB3F-40FE-9375-613DBCC935E7}"/>
              </a:ext>
            </a:extLst>
          </p:cNvPr>
          <p:cNvGrpSpPr/>
          <p:nvPr/>
        </p:nvGrpSpPr>
        <p:grpSpPr>
          <a:xfrm>
            <a:off x="472447" y="4877658"/>
            <a:ext cx="8265610" cy="1335503"/>
            <a:chOff x="589875" y="5334874"/>
            <a:chExt cx="8265610" cy="1335503"/>
          </a:xfrm>
        </p:grpSpPr>
        <p:sp>
          <p:nvSpPr>
            <p:cNvPr id="39" name="矩形 38">
              <a:extLst>
                <a:ext uri="{FF2B5EF4-FFF2-40B4-BE49-F238E27FC236}">
                  <a16:creationId xmlns:a16="http://schemas.microsoft.com/office/drawing/2014/main" id="{74BD766C-43DE-0A4E-9F45-F986F3FD2532}"/>
                </a:ext>
              </a:extLst>
            </p:cNvPr>
            <p:cNvSpPr/>
            <p:nvPr/>
          </p:nvSpPr>
          <p:spPr>
            <a:xfrm>
              <a:off x="589875" y="5336407"/>
              <a:ext cx="1598515" cy="461665"/>
            </a:xfrm>
            <a:prstGeom prst="rect">
              <a:avLst/>
            </a:prstGeom>
          </p:spPr>
          <p:txBody>
            <a:bodyPr wrap="none">
              <a:spAutoFit/>
            </a:bodyPr>
            <a:lstStyle/>
            <a:p>
              <a:r>
                <a:rPr lang="en-US" altLang="zh-CN" sz="2400" i="1" dirty="0">
                  <a:solidFill>
                    <a:srgbClr val="000000"/>
                  </a:solidFill>
                  <a:latin typeface="Consolas" panose="020B0609020204030204" pitchFamily="49" charset="0"/>
                </a:rPr>
                <a:t>j</a:t>
              </a:r>
              <a:r>
                <a:rPr lang="zh-CN" altLang="en-US" sz="2400" i="1" dirty="0">
                  <a:solidFill>
                    <a:srgbClr val="000000"/>
                  </a:solidFill>
                  <a:latin typeface="Consolas" panose="020B0609020204030204" pitchFamily="49" charset="0"/>
                </a:rPr>
                <a:t> </a:t>
              </a:r>
              <a:r>
                <a:rPr lang="en-US" altLang="zh-CN" sz="2400" i="1" dirty="0">
                  <a:solidFill>
                    <a:srgbClr val="000000"/>
                  </a:solidFill>
                  <a:latin typeface="Consolas" panose="020B0609020204030204" pitchFamily="49" charset="0"/>
                </a:rPr>
                <a:t>10000</a:t>
              </a:r>
              <a:r>
                <a:rPr lang="en-US" altLang="zh-CN" sz="2400" i="1" baseline="-25000" dirty="0">
                  <a:solidFill>
                    <a:srgbClr val="000000"/>
                  </a:solidFill>
                  <a:latin typeface="Consolas" panose="020B0609020204030204" pitchFamily="49" charset="0"/>
                </a:rPr>
                <a:t>10</a:t>
              </a:r>
              <a:endParaRPr lang="zh-CN" altLang="en-US" i="1" baseline="-25000" dirty="0">
                <a:latin typeface="Consolas" panose="020B0609020204030204" pitchFamily="49" charset="0"/>
              </a:endParaRPr>
            </a:p>
          </p:txBody>
        </p:sp>
        <p:sp>
          <p:nvSpPr>
            <p:cNvPr id="110" name="Rectangle 18">
              <a:extLst>
                <a:ext uri="{FF2B5EF4-FFF2-40B4-BE49-F238E27FC236}">
                  <a16:creationId xmlns:a16="http://schemas.microsoft.com/office/drawing/2014/main" id="{6B34C3C0-88B7-4945-878F-5681DAD7D666}"/>
                </a:ext>
              </a:extLst>
            </p:cNvPr>
            <p:cNvSpPr>
              <a:spLocks noChangeArrowheads="1"/>
            </p:cNvSpPr>
            <p:nvPr/>
          </p:nvSpPr>
          <p:spPr bwMode="auto">
            <a:xfrm>
              <a:off x="2538458" y="6311304"/>
              <a:ext cx="4133588" cy="3590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lIns="63500" tIns="25400" rIns="63500" bIns="25400">
              <a:spAutoFit/>
            </a:bodyPr>
            <a:lstStyle/>
            <a:p>
              <a:pPr marL="742950" lvl="1" indent="-285750">
                <a:spcBef>
                  <a:spcPct val="20000"/>
                </a:spcBef>
                <a:buClr>
                  <a:schemeClr val="accent2"/>
                </a:buClr>
                <a:buSzPct val="70000"/>
                <a:buFont typeface="Wingdings" pitchFamily="2" charset="2"/>
                <a:buNone/>
              </a:pPr>
              <a:r>
                <a:rPr lang="zh-CN" altLang="en-US" sz="2000" b="1" dirty="0">
                  <a:solidFill>
                    <a:srgbClr val="0432FF"/>
                  </a:solidFill>
                  <a:latin typeface="+mj-ea"/>
                  <a:ea typeface="+mj-ea"/>
                </a:rPr>
                <a:t>二进制表示（机器码）</a:t>
              </a:r>
              <a:endParaRPr lang="en-US" altLang="en-US" sz="2000" b="1" dirty="0">
                <a:solidFill>
                  <a:srgbClr val="0432FF"/>
                </a:solidFill>
                <a:latin typeface="+mj-ea"/>
                <a:ea typeface="+mj-ea"/>
              </a:endParaRPr>
            </a:p>
          </p:txBody>
        </p:sp>
        <p:grpSp>
          <p:nvGrpSpPr>
            <p:cNvPr id="40" name="组合 39">
              <a:extLst>
                <a:ext uri="{FF2B5EF4-FFF2-40B4-BE49-F238E27FC236}">
                  <a16:creationId xmlns:a16="http://schemas.microsoft.com/office/drawing/2014/main" id="{3C081A16-7F53-E34E-9CBC-DA3D737B2C44}"/>
                </a:ext>
              </a:extLst>
            </p:cNvPr>
            <p:cNvGrpSpPr/>
            <p:nvPr/>
          </p:nvGrpSpPr>
          <p:grpSpPr>
            <a:xfrm>
              <a:off x="702085" y="5788084"/>
              <a:ext cx="8153400" cy="531675"/>
              <a:chOff x="342900" y="2835136"/>
              <a:chExt cx="8153400" cy="531675"/>
            </a:xfrm>
          </p:grpSpPr>
          <p:sp>
            <p:nvSpPr>
              <p:cNvPr id="111" name="Text Box 22">
                <a:extLst>
                  <a:ext uri="{FF2B5EF4-FFF2-40B4-BE49-F238E27FC236}">
                    <a16:creationId xmlns:a16="http://schemas.microsoft.com/office/drawing/2014/main" id="{E75B73DF-EBD3-F544-B026-1783F44DFE45}"/>
                  </a:ext>
                </a:extLst>
              </p:cNvPr>
              <p:cNvSpPr txBox="1">
                <a:spLocks noChangeArrowheads="1"/>
              </p:cNvSpPr>
              <p:nvPr/>
            </p:nvSpPr>
            <p:spPr bwMode="auto">
              <a:xfrm>
                <a:off x="412611" y="2835136"/>
                <a:ext cx="1473481"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a:r>
                  <a:rPr lang="en-US" altLang="zh-CN" sz="2800" dirty="0">
                    <a:latin typeface="Courier New" pitchFamily="49" charset="0"/>
                  </a:rPr>
                  <a:t>000010</a:t>
                </a:r>
                <a:endParaRPr lang="en-US" altLang="en-US" sz="2000" b="0" dirty="0">
                  <a:solidFill>
                    <a:schemeClr val="accent1"/>
                  </a:solidFill>
                  <a:latin typeface="Helvetica" pitchFamily="34" charset="0"/>
                </a:endParaRPr>
              </a:p>
            </p:txBody>
          </p:sp>
          <p:sp>
            <p:nvSpPr>
              <p:cNvPr id="113" name="Text Box 24">
                <a:extLst>
                  <a:ext uri="{FF2B5EF4-FFF2-40B4-BE49-F238E27FC236}">
                    <a16:creationId xmlns:a16="http://schemas.microsoft.com/office/drawing/2014/main" id="{D0D94EE0-B2E9-E94F-8F80-683197510A9C}"/>
                  </a:ext>
                </a:extLst>
              </p:cNvPr>
              <p:cNvSpPr txBox="1">
                <a:spLocks noChangeArrowheads="1"/>
              </p:cNvSpPr>
              <p:nvPr/>
            </p:nvSpPr>
            <p:spPr bwMode="auto">
              <a:xfrm>
                <a:off x="2204849" y="2843591"/>
                <a:ext cx="5769528"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a:r>
                  <a:rPr lang="en-US" altLang="zh-CN" sz="2800" dirty="0">
                    <a:latin typeface="Courier New" pitchFamily="49" charset="0"/>
                  </a:rPr>
                  <a:t>00000000000010011100010000</a:t>
                </a:r>
                <a:endParaRPr lang="en-US" altLang="zh-CN" sz="2000" b="0" dirty="0">
                  <a:solidFill>
                    <a:schemeClr val="accent1"/>
                  </a:solidFill>
                  <a:latin typeface="Helvetica" pitchFamily="34" charset="0"/>
                </a:endParaRPr>
              </a:p>
            </p:txBody>
          </p:sp>
          <p:sp>
            <p:nvSpPr>
              <p:cNvPr id="115" name="Rectangle 28">
                <a:extLst>
                  <a:ext uri="{FF2B5EF4-FFF2-40B4-BE49-F238E27FC236}">
                    <a16:creationId xmlns:a16="http://schemas.microsoft.com/office/drawing/2014/main" id="{9595D410-4D3A-0D47-9C29-190FED3441D0}"/>
                  </a:ext>
                </a:extLst>
              </p:cNvPr>
              <p:cNvSpPr>
                <a:spLocks noChangeArrowheads="1"/>
              </p:cNvSpPr>
              <p:nvPr/>
            </p:nvSpPr>
            <p:spPr bwMode="auto">
              <a:xfrm>
                <a:off x="342900" y="2835136"/>
                <a:ext cx="8153400" cy="457200"/>
              </a:xfrm>
              <a:prstGeom prst="rect">
                <a:avLst/>
              </a:prstGeom>
              <a:noFill/>
              <a:ln w="381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16" name="Line 29">
                <a:extLst>
                  <a:ext uri="{FF2B5EF4-FFF2-40B4-BE49-F238E27FC236}">
                    <a16:creationId xmlns:a16="http://schemas.microsoft.com/office/drawing/2014/main" id="{D4E48112-FE1D-1B47-AC19-67184ABC42A3}"/>
                  </a:ext>
                </a:extLst>
              </p:cNvPr>
              <p:cNvSpPr>
                <a:spLocks noChangeShapeType="1"/>
              </p:cNvSpPr>
              <p:nvPr/>
            </p:nvSpPr>
            <p:spPr bwMode="auto">
              <a:xfrm>
                <a:off x="1866900" y="2835136"/>
                <a:ext cx="0" cy="45720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grpSp>
        <p:sp>
          <p:nvSpPr>
            <p:cNvPr id="41" name="文本框 40">
              <a:extLst>
                <a:ext uri="{FF2B5EF4-FFF2-40B4-BE49-F238E27FC236}">
                  <a16:creationId xmlns:a16="http://schemas.microsoft.com/office/drawing/2014/main" id="{1FA160CD-FBCB-D847-BAD1-A9D20D076943}"/>
                </a:ext>
              </a:extLst>
            </p:cNvPr>
            <p:cNvSpPr txBox="1"/>
            <p:nvPr/>
          </p:nvSpPr>
          <p:spPr>
            <a:xfrm>
              <a:off x="6960033" y="5334874"/>
              <a:ext cx="1269899" cy="461665"/>
            </a:xfrm>
            <a:prstGeom prst="rect">
              <a:avLst/>
            </a:prstGeom>
            <a:noFill/>
          </p:spPr>
          <p:txBody>
            <a:bodyPr wrap="none" rtlCol="0">
              <a:spAutoFit/>
            </a:bodyPr>
            <a:lstStyle/>
            <a:p>
              <a:r>
                <a:rPr kumimoji="1" lang="en-US" altLang="zh-CN" sz="2400" dirty="0">
                  <a:solidFill>
                    <a:srgbClr val="3333FF"/>
                  </a:solidFill>
                  <a:latin typeface="+mn-lt"/>
                  <a:ea typeface="+mj-ea"/>
                </a:rPr>
                <a:t>10000</a:t>
              </a:r>
              <a:r>
                <a:rPr kumimoji="1" lang="en-US" altLang="zh-CN" sz="2400" baseline="-25000" dirty="0">
                  <a:solidFill>
                    <a:srgbClr val="3333FF"/>
                  </a:solidFill>
                  <a:latin typeface="+mn-lt"/>
                  <a:ea typeface="+mj-ea"/>
                </a:rPr>
                <a:t>10</a:t>
              </a:r>
              <a:endParaRPr kumimoji="1" lang="zh-CN" altLang="en-US" sz="2400" baseline="-25000" dirty="0">
                <a:solidFill>
                  <a:srgbClr val="3333FF"/>
                </a:solidFill>
                <a:latin typeface="+mn-lt"/>
                <a:ea typeface="+mj-ea"/>
              </a:endParaRPr>
            </a:p>
          </p:txBody>
        </p:sp>
      </p:grpSp>
      <p:pic>
        <p:nvPicPr>
          <p:cNvPr id="7" name="Picture 6">
            <a:extLst>
              <a:ext uri="{FF2B5EF4-FFF2-40B4-BE49-F238E27FC236}">
                <a16:creationId xmlns:a16="http://schemas.microsoft.com/office/drawing/2014/main" id="{5ADA1B85-B240-4E66-A3B1-5E9509C7D35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492111" y="3386917"/>
            <a:ext cx="6159778" cy="1400234"/>
          </a:xfrm>
          <a:prstGeom prst="rect">
            <a:avLst/>
          </a:prstGeom>
        </p:spPr>
      </p:pic>
      <p:sp>
        <p:nvSpPr>
          <p:cNvPr id="6" name="Title 4">
            <a:extLst>
              <a:ext uri="{FF2B5EF4-FFF2-40B4-BE49-F238E27FC236}">
                <a16:creationId xmlns:a16="http://schemas.microsoft.com/office/drawing/2014/main" id="{4BC851EE-A892-DF72-B107-EDD855DE9913}"/>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kumimoji="1" lang="en-US" altLang="zh-CN" dirty="0"/>
              <a:t>MIPS</a:t>
            </a:r>
            <a:r>
              <a:rPr kumimoji="1" lang="zh-CN" altLang="en-US" dirty="0"/>
              <a:t>指令格式：</a:t>
            </a:r>
            <a:r>
              <a:rPr kumimoji="1" lang="en-US" altLang="zh-CN" dirty="0"/>
              <a:t>J</a:t>
            </a:r>
            <a:r>
              <a:rPr kumimoji="1" lang="zh-CN" altLang="en-US" dirty="0"/>
              <a:t>型指令</a:t>
            </a:r>
            <a:endParaRPr lang="en-CN" kern="0" dirty="0"/>
          </a:p>
        </p:txBody>
      </p:sp>
    </p:spTree>
    <p:extLst>
      <p:ext uri="{BB962C8B-B14F-4D97-AF65-F5344CB8AC3E}">
        <p14:creationId xmlns:p14="http://schemas.microsoft.com/office/powerpoint/2010/main" val="274190432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a:extLst>
              <a:ext uri="{FF2B5EF4-FFF2-40B4-BE49-F238E27FC236}">
                <a16:creationId xmlns:a16="http://schemas.microsoft.com/office/drawing/2014/main" id="{68F7FF1C-DC59-5F43-A383-991D51B72C86}"/>
              </a:ext>
            </a:extLst>
          </p:cNvPr>
          <p:cNvSpPr>
            <a:spLocks noGrp="1"/>
          </p:cNvSpPr>
          <p:nvPr>
            <p:ph type="sldNum" sz="quarter" idx="12"/>
          </p:nvPr>
        </p:nvSpPr>
        <p:spPr/>
        <p:txBody>
          <a:bodyPr/>
          <a:lstStyle/>
          <a:p>
            <a:fld id="{14659731-6BD7-46E7-8D3C-2F3AC07E20B1}" type="slidenum">
              <a:rPr lang="en-US" altLang="zh-CN" smtClean="0"/>
              <a:pPr/>
              <a:t>49</a:t>
            </a:fld>
            <a:endParaRPr lang="en-US" altLang="zh-CN"/>
          </a:p>
        </p:txBody>
      </p:sp>
      <p:sp>
        <p:nvSpPr>
          <p:cNvPr id="36" name="Rectangle 3">
            <a:extLst>
              <a:ext uri="{FF2B5EF4-FFF2-40B4-BE49-F238E27FC236}">
                <a16:creationId xmlns:a16="http://schemas.microsoft.com/office/drawing/2014/main" id="{1AF4C294-9B96-4AC7-A8CA-FB8884B6204B}"/>
              </a:ext>
            </a:extLst>
          </p:cNvPr>
          <p:cNvSpPr>
            <a:spLocks noGrp="1" noChangeArrowheads="1"/>
          </p:cNvSpPr>
          <p:nvPr>
            <p:ph idx="4294967295"/>
          </p:nvPr>
        </p:nvSpPr>
        <p:spPr>
          <a:xfrm>
            <a:off x="342132" y="1149350"/>
            <a:ext cx="8801868" cy="5708650"/>
          </a:xfrm>
        </p:spPr>
        <p:txBody>
          <a:bodyPr>
            <a:normAutofit/>
          </a:bodyPr>
          <a:lstStyle/>
          <a:p>
            <a:pPr>
              <a:lnSpc>
                <a:spcPct val="150000"/>
              </a:lnSpc>
            </a:pPr>
            <a:r>
              <a:rPr lang="zh-CN" altLang="en-US" sz="2400" b="1" dirty="0">
                <a:solidFill>
                  <a:srgbClr val="0432FF"/>
                </a:solidFill>
              </a:rPr>
              <a:t>问题</a:t>
            </a:r>
            <a:r>
              <a:rPr lang="en-US" altLang="zh-CN" sz="2400" b="1" dirty="0">
                <a:solidFill>
                  <a:srgbClr val="0432FF"/>
                </a:solidFill>
              </a:rPr>
              <a:t>5</a:t>
            </a:r>
            <a:r>
              <a:rPr lang="zh-CN" altLang="en-US" sz="2400" b="1" dirty="0"/>
              <a:t>：可能的跳转地址有</a:t>
            </a:r>
            <a:r>
              <a:rPr lang="en-US" altLang="zh-CN" sz="2400" b="1" dirty="0"/>
              <a:t>32</a:t>
            </a:r>
            <a:r>
              <a:rPr lang="zh-CN" altLang="en-US" sz="2400" b="1" dirty="0"/>
              <a:t>位，如何用</a:t>
            </a:r>
            <a:r>
              <a:rPr lang="en-US" altLang="zh-CN" sz="2400" b="1" dirty="0"/>
              <a:t>26bit</a:t>
            </a:r>
            <a:r>
              <a:rPr lang="zh-CN" altLang="en-US" sz="2400" b="1" dirty="0"/>
              <a:t>表示？</a:t>
            </a:r>
            <a:endParaRPr lang="en-US" altLang="zh-CN" sz="2400" b="1" dirty="0"/>
          </a:p>
          <a:p>
            <a:pPr lvl="1">
              <a:lnSpc>
                <a:spcPct val="150000"/>
              </a:lnSpc>
            </a:pPr>
            <a:endParaRPr lang="en-US" altLang="zh-CN" b="1" dirty="0"/>
          </a:p>
          <a:p>
            <a:pPr marL="0" indent="0">
              <a:lnSpc>
                <a:spcPct val="150000"/>
              </a:lnSpc>
              <a:buNone/>
            </a:pPr>
            <a:endParaRPr lang="en-US" altLang="zh-CN" sz="2300" dirty="0">
              <a:solidFill>
                <a:srgbClr val="0432FF"/>
              </a:solidFill>
            </a:endParaRPr>
          </a:p>
          <a:p>
            <a:pPr lvl="1"/>
            <a:endParaRPr lang="en-US" altLang="zh-CN" sz="2000" dirty="0"/>
          </a:p>
          <a:p>
            <a:r>
              <a:rPr lang="en-US" altLang="zh-CN" sz="2400" dirty="0"/>
              <a:t>MIPS</a:t>
            </a:r>
            <a:r>
              <a:rPr lang="zh-CN" altLang="en-US" sz="2400" dirty="0"/>
              <a:t>中，</a:t>
            </a:r>
            <a:r>
              <a:rPr lang="en-US" altLang="zh-CN" sz="2400" dirty="0"/>
              <a:t>jump</a:t>
            </a:r>
            <a:r>
              <a:rPr lang="zh-CN" altLang="en-US" sz="2400" dirty="0"/>
              <a:t>操作包括 </a:t>
            </a:r>
            <a:r>
              <a:rPr lang="en-US" altLang="zh-CN" sz="2400" i="1" dirty="0">
                <a:latin typeface="Consolas" panose="020B0609020204030204" pitchFamily="49" charset="0"/>
              </a:rPr>
              <a:t>j</a:t>
            </a:r>
            <a:r>
              <a:rPr lang="zh-CN" altLang="en-US" sz="2400" dirty="0">
                <a:latin typeface="Consolas" panose="020B0609020204030204" pitchFamily="49" charset="0"/>
              </a:rPr>
              <a:t>、</a:t>
            </a:r>
            <a:r>
              <a:rPr lang="en-US" altLang="zh-CN" sz="2400" i="1" dirty="0">
                <a:latin typeface="Consolas" panose="020B0609020204030204" pitchFamily="49" charset="0"/>
              </a:rPr>
              <a:t>jal</a:t>
            </a:r>
            <a:r>
              <a:rPr lang="en-US" altLang="zh-CN" sz="2400" dirty="0"/>
              <a:t> </a:t>
            </a:r>
            <a:r>
              <a:rPr lang="zh-CN" altLang="en-US" sz="2400" dirty="0">
                <a:latin typeface="Consolas" panose="020B0609020204030204" pitchFamily="49" charset="0"/>
              </a:rPr>
              <a:t>和</a:t>
            </a:r>
            <a:r>
              <a:rPr lang="zh-CN" altLang="en-US" sz="2400" dirty="0"/>
              <a:t> </a:t>
            </a:r>
            <a:r>
              <a:rPr lang="en-US" altLang="zh-CN" sz="2400" i="1" dirty="0">
                <a:latin typeface="Consolas" panose="020B0609020204030204" pitchFamily="49" charset="0"/>
              </a:rPr>
              <a:t>jr</a:t>
            </a:r>
            <a:endParaRPr lang="en-US" altLang="zh-CN" sz="2400" dirty="0"/>
          </a:p>
          <a:p>
            <a:pPr lvl="1"/>
            <a:r>
              <a:rPr lang="zh-CN" altLang="en-US" sz="2000" dirty="0"/>
              <a:t>使用 </a:t>
            </a:r>
            <a:r>
              <a:rPr lang="en-US" altLang="zh-CN" sz="2000" i="1" dirty="0">
                <a:latin typeface="Consolas" panose="020B0609020204030204" pitchFamily="49" charset="0"/>
              </a:rPr>
              <a:t>j</a:t>
            </a:r>
            <a:r>
              <a:rPr lang="en-US" altLang="zh-CN" sz="2000" dirty="0"/>
              <a:t> (</a:t>
            </a:r>
            <a:r>
              <a:rPr lang="zh-CN" altLang="en-US" sz="2000" dirty="0"/>
              <a:t>跳转</a:t>
            </a:r>
            <a:r>
              <a:rPr lang="en-US" altLang="zh-CN" sz="2000" dirty="0"/>
              <a:t>) </a:t>
            </a:r>
            <a:r>
              <a:rPr lang="zh-CN" altLang="en-US" sz="2000" dirty="0"/>
              <a:t>和 </a:t>
            </a:r>
            <a:r>
              <a:rPr lang="en-US" altLang="zh-CN" sz="2000" i="1" dirty="0">
                <a:latin typeface="Consolas" panose="020B0609020204030204" pitchFamily="49" charset="0"/>
              </a:rPr>
              <a:t>jal</a:t>
            </a:r>
            <a:r>
              <a:rPr lang="en-US" altLang="zh-CN" sz="2000" dirty="0"/>
              <a:t> (</a:t>
            </a:r>
            <a:r>
              <a:rPr lang="zh-CN" altLang="en-US" sz="2000" dirty="0"/>
              <a:t>跳转与链接</a:t>
            </a:r>
            <a:r>
              <a:rPr lang="en-US" altLang="zh-CN" sz="2000" dirty="0"/>
              <a:t>) </a:t>
            </a:r>
            <a:r>
              <a:rPr lang="zh-CN" altLang="en-US" sz="2000" dirty="0"/>
              <a:t>指令进行有限范围的跳转</a:t>
            </a:r>
            <a:endParaRPr lang="en-US" altLang="zh-CN" sz="2000" dirty="0"/>
          </a:p>
          <a:p>
            <a:pPr lvl="2"/>
            <a:r>
              <a:rPr lang="en-US" altLang="zh-CN" sz="2000" i="1" dirty="0">
                <a:latin typeface="Consolas" panose="020B0609020204030204" pitchFamily="49" charset="0"/>
              </a:rPr>
              <a:t>j</a:t>
            </a:r>
            <a:r>
              <a:rPr lang="en-US" altLang="zh-CN" sz="2000" dirty="0"/>
              <a:t> </a:t>
            </a:r>
            <a:r>
              <a:rPr lang="zh-CN" altLang="en-US" sz="2000" dirty="0"/>
              <a:t>指令直接跳转，</a:t>
            </a:r>
            <a:r>
              <a:rPr lang="en-US" altLang="zh-CN" sz="2000" i="1" dirty="0">
                <a:latin typeface="Consolas" panose="020B0609020204030204" pitchFamily="49" charset="0"/>
              </a:rPr>
              <a:t>jal</a:t>
            </a:r>
            <a:r>
              <a:rPr lang="en-US" altLang="zh-CN" sz="2000" dirty="0"/>
              <a:t> </a:t>
            </a:r>
            <a:r>
              <a:rPr lang="zh-CN" altLang="en-US" sz="2000" dirty="0"/>
              <a:t>指令跳转前会将的</a:t>
            </a:r>
            <a:r>
              <a:rPr lang="en-US" altLang="zh-CN" sz="2000" dirty="0"/>
              <a:t>PC+4</a:t>
            </a:r>
            <a:r>
              <a:rPr lang="zh-CN" altLang="en-US" sz="2000" dirty="0"/>
              <a:t>存储到</a:t>
            </a:r>
            <a:r>
              <a:rPr lang="en-US" altLang="zh-CN" sz="2000" dirty="0"/>
              <a:t>$</a:t>
            </a:r>
            <a:r>
              <a:rPr lang="en-US" altLang="zh-CN" sz="2000" dirty="0" err="1"/>
              <a:t>ra</a:t>
            </a:r>
            <a:r>
              <a:rPr lang="zh-CN" altLang="en-US" sz="2000" dirty="0"/>
              <a:t>寄存器</a:t>
            </a:r>
            <a:endParaRPr lang="en-US" altLang="zh-CN" sz="2000" dirty="0"/>
          </a:p>
          <a:p>
            <a:pPr lvl="1"/>
            <a:r>
              <a:rPr lang="zh-CN" altLang="en-US" sz="2000" dirty="0"/>
              <a:t>使用 </a:t>
            </a:r>
            <a:r>
              <a:rPr lang="en-US" altLang="zh-CN" sz="2000" i="1" dirty="0">
                <a:latin typeface="Consolas" panose="020B0609020204030204" pitchFamily="49" charset="0"/>
              </a:rPr>
              <a:t>jr</a:t>
            </a:r>
            <a:r>
              <a:rPr lang="en-US" altLang="zh-CN" sz="2000" dirty="0"/>
              <a:t> </a:t>
            </a:r>
            <a:r>
              <a:rPr lang="zh-CN" altLang="en-US" sz="2000" dirty="0"/>
              <a:t>指令 </a:t>
            </a:r>
            <a:r>
              <a:rPr lang="en-US" altLang="zh-CN" sz="2000" dirty="0"/>
              <a:t>(</a:t>
            </a:r>
            <a:r>
              <a:rPr lang="zh-CN" altLang="en-US" sz="2000" dirty="0"/>
              <a:t>跳转到寄存器存储的地址</a:t>
            </a:r>
            <a:r>
              <a:rPr lang="en-US" altLang="zh-CN" sz="2000" dirty="0"/>
              <a:t>) </a:t>
            </a:r>
            <a:r>
              <a:rPr lang="zh-CN" altLang="en-US" sz="2000" dirty="0"/>
              <a:t>进行大范围跳转</a:t>
            </a:r>
            <a:endParaRPr lang="en-US" altLang="zh-CN" sz="2000" dirty="0"/>
          </a:p>
          <a:p>
            <a:pPr lvl="2"/>
            <a:r>
              <a:rPr lang="en-US" altLang="zh-CN" sz="2000" i="1" dirty="0">
                <a:latin typeface="Consolas" panose="020B0609020204030204" pitchFamily="49" charset="0"/>
              </a:rPr>
              <a:t>jr</a:t>
            </a:r>
            <a:r>
              <a:rPr lang="en-US" altLang="zh-CN" sz="2000" dirty="0"/>
              <a:t> </a:t>
            </a:r>
            <a:r>
              <a:rPr lang="zh-CN" altLang="en-US" sz="2000" dirty="0"/>
              <a:t>指令是</a:t>
            </a:r>
            <a:r>
              <a:rPr lang="en-US" altLang="zh-CN" sz="2000" dirty="0"/>
              <a:t>R</a:t>
            </a:r>
            <a:r>
              <a:rPr lang="zh-CN" altLang="en-US" sz="2000" dirty="0"/>
              <a:t>型指令</a:t>
            </a:r>
            <a:endParaRPr lang="en-US" altLang="zh-CN" sz="2000" dirty="0"/>
          </a:p>
        </p:txBody>
      </p:sp>
      <p:pic>
        <p:nvPicPr>
          <p:cNvPr id="6" name="Picture 5">
            <a:extLst>
              <a:ext uri="{FF2B5EF4-FFF2-40B4-BE49-F238E27FC236}">
                <a16:creationId xmlns:a16="http://schemas.microsoft.com/office/drawing/2014/main" id="{42647B24-9653-490A-BB7D-4090A2330F8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848775" y="1610396"/>
            <a:ext cx="7446449" cy="1692719"/>
          </a:xfrm>
          <a:prstGeom prst="rect">
            <a:avLst/>
          </a:prstGeom>
        </p:spPr>
      </p:pic>
      <p:graphicFrame>
        <p:nvGraphicFramePr>
          <p:cNvPr id="2" name="Table 3">
            <a:extLst>
              <a:ext uri="{FF2B5EF4-FFF2-40B4-BE49-F238E27FC236}">
                <a16:creationId xmlns:a16="http://schemas.microsoft.com/office/drawing/2014/main" id="{1056FB65-D020-2ACF-31F6-A5EF3AA91098}"/>
              </a:ext>
            </a:extLst>
          </p:cNvPr>
          <p:cNvGraphicFramePr>
            <a:graphicFrameLocks noGrp="1"/>
          </p:cNvGraphicFramePr>
          <p:nvPr>
            <p:extLst>
              <p:ext uri="{D42A27DB-BD31-4B8C-83A1-F6EECF244321}">
                <p14:modId xmlns:p14="http://schemas.microsoft.com/office/powerpoint/2010/main" val="3557137302"/>
              </p:ext>
            </p:extLst>
          </p:nvPr>
        </p:nvGraphicFramePr>
        <p:xfrm>
          <a:off x="457200" y="5429329"/>
          <a:ext cx="8458200" cy="842400"/>
        </p:xfrm>
        <a:graphic>
          <a:graphicData uri="http://schemas.openxmlformats.org/drawingml/2006/table">
            <a:tbl>
              <a:tblPr firstRow="1" bandRow="1">
                <a:tableStyleId>{073A0DAA-6AF3-43AB-8588-CEC1D06C72B9}</a:tableStyleId>
              </a:tblPr>
              <a:tblGrid>
                <a:gridCol w="2114550">
                  <a:extLst>
                    <a:ext uri="{9D8B030D-6E8A-4147-A177-3AD203B41FA5}">
                      <a16:colId xmlns:a16="http://schemas.microsoft.com/office/drawing/2014/main" val="4168796790"/>
                    </a:ext>
                  </a:extLst>
                </a:gridCol>
                <a:gridCol w="2114550">
                  <a:extLst>
                    <a:ext uri="{9D8B030D-6E8A-4147-A177-3AD203B41FA5}">
                      <a16:colId xmlns:a16="http://schemas.microsoft.com/office/drawing/2014/main" val="4210389464"/>
                    </a:ext>
                  </a:extLst>
                </a:gridCol>
                <a:gridCol w="2114550">
                  <a:extLst>
                    <a:ext uri="{9D8B030D-6E8A-4147-A177-3AD203B41FA5}">
                      <a16:colId xmlns:a16="http://schemas.microsoft.com/office/drawing/2014/main" val="1825201686"/>
                    </a:ext>
                  </a:extLst>
                </a:gridCol>
                <a:gridCol w="2114550">
                  <a:extLst>
                    <a:ext uri="{9D8B030D-6E8A-4147-A177-3AD203B41FA5}">
                      <a16:colId xmlns:a16="http://schemas.microsoft.com/office/drawing/2014/main" val="759132673"/>
                    </a:ext>
                  </a:extLst>
                </a:gridCol>
              </a:tblGrid>
              <a:tr h="42120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zh-CN" altLang="en-US" sz="1800" dirty="0">
                          <a:solidFill>
                            <a:schemeClr val="tx1"/>
                          </a:solidFill>
                          <a:latin typeface="+mn-lt"/>
                          <a:ea typeface="+mn-ea"/>
                        </a:rPr>
                        <a:t>自定义指令</a:t>
                      </a:r>
                    </a:p>
                  </a:txBody>
                  <a:tcPr anchor="ctr">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ctr"/>
                      <a:r>
                        <a:rPr lang="zh-CN" altLang="en-US" sz="1800" dirty="0">
                          <a:solidFill>
                            <a:schemeClr val="tx1"/>
                          </a:solidFill>
                          <a:latin typeface="+mn-lt"/>
                          <a:ea typeface="+mn-ea"/>
                        </a:rPr>
                        <a:t>对应</a:t>
                      </a:r>
                      <a:r>
                        <a:rPr lang="en-US" altLang="zh-CN" sz="1800" dirty="0">
                          <a:solidFill>
                            <a:schemeClr val="tx1"/>
                          </a:solidFill>
                          <a:latin typeface="+mn-lt"/>
                          <a:ea typeface="+mn-ea"/>
                        </a:rPr>
                        <a:t>MIPS</a:t>
                      </a:r>
                      <a:r>
                        <a:rPr lang="zh-CN" altLang="en-US" sz="1800" dirty="0">
                          <a:solidFill>
                            <a:schemeClr val="tx1"/>
                          </a:solidFill>
                          <a:latin typeface="+mn-lt"/>
                          <a:ea typeface="+mn-ea"/>
                        </a:rPr>
                        <a:t>指令</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zh-CN" altLang="en-US" sz="1800" dirty="0">
                          <a:solidFill>
                            <a:schemeClr val="tx1"/>
                          </a:solidFill>
                          <a:latin typeface="+mn-lt"/>
                          <a:ea typeface="+mn-ea"/>
                        </a:rPr>
                        <a:t>自定义指令</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ctr"/>
                      <a:r>
                        <a:rPr lang="zh-CN" altLang="en-US" sz="1800" dirty="0">
                          <a:solidFill>
                            <a:schemeClr val="tx1"/>
                          </a:solidFill>
                          <a:latin typeface="+mn-lt"/>
                          <a:ea typeface="+mn-ea"/>
                        </a:rPr>
                        <a:t>对应</a:t>
                      </a:r>
                      <a:r>
                        <a:rPr lang="en-US" altLang="zh-CN" sz="1800" dirty="0">
                          <a:solidFill>
                            <a:schemeClr val="tx1"/>
                          </a:solidFill>
                          <a:latin typeface="+mn-lt"/>
                          <a:ea typeface="+mn-ea"/>
                        </a:rPr>
                        <a:t>MIPS</a:t>
                      </a:r>
                      <a:r>
                        <a:rPr lang="zh-CN" altLang="en-US" sz="1800" dirty="0">
                          <a:solidFill>
                            <a:schemeClr val="tx1"/>
                          </a:solidFill>
                          <a:latin typeface="+mn-lt"/>
                          <a:ea typeface="+mn-ea"/>
                        </a:rPr>
                        <a:t>指令</a:t>
                      </a:r>
                    </a:p>
                  </a:txBody>
                  <a:tcPr anchor="ctr">
                    <a:lnL w="1270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extLst>
                  <a:ext uri="{0D108BD9-81ED-4DB2-BD59-A6C34878D82A}">
                    <a16:rowId xmlns:a16="http://schemas.microsoft.com/office/drawing/2014/main" val="99758767"/>
                  </a:ext>
                </a:extLst>
              </a:tr>
              <a:tr h="42120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altLang="zh-CN" sz="1600" i="1" kern="1200" dirty="0">
                          <a:solidFill>
                            <a:schemeClr val="dk1"/>
                          </a:solidFill>
                          <a:latin typeface="Consolas" panose="020B0609020204030204" pitchFamily="49" charset="0"/>
                          <a:ea typeface="+mn-ea"/>
                          <a:cs typeface="Arial" panose="020B0604020202020204" pitchFamily="34" charset="0"/>
                        </a:rPr>
                        <a:t>call $</a:t>
                      </a:r>
                      <a:r>
                        <a:rPr lang="en-US" altLang="zh-CN" sz="1600" i="1" kern="1200" dirty="0" err="1">
                          <a:solidFill>
                            <a:schemeClr val="dk1"/>
                          </a:solidFill>
                          <a:latin typeface="Consolas" panose="020B0609020204030204" pitchFamily="49" charset="0"/>
                          <a:ea typeface="+mn-ea"/>
                          <a:cs typeface="Arial" panose="020B0604020202020204" pitchFamily="34" charset="0"/>
                        </a:rPr>
                        <a:t>ra</a:t>
                      </a:r>
                      <a:r>
                        <a:rPr lang="en-US" altLang="zh-CN" sz="1600" i="1" kern="1200" dirty="0">
                          <a:solidFill>
                            <a:schemeClr val="dk1"/>
                          </a:solidFill>
                          <a:latin typeface="Consolas" panose="020B0609020204030204" pitchFamily="49" charset="0"/>
                          <a:ea typeface="+mn-ea"/>
                          <a:cs typeface="Arial" panose="020B0604020202020204" pitchFamily="34" charset="0"/>
                        </a:rPr>
                        <a:t>, label;</a:t>
                      </a:r>
                      <a:endParaRPr lang="zh-CN" altLang="en-US" sz="1600" i="1" kern="1200" dirty="0">
                        <a:solidFill>
                          <a:schemeClr val="dk1"/>
                        </a:solidFill>
                        <a:latin typeface="Consolas" panose="020B0609020204030204" pitchFamily="49" charset="0"/>
                        <a:ea typeface="+mn-ea"/>
                        <a:cs typeface="Arial" panose="020B0604020202020204" pitchFamily="34" charset="0"/>
                      </a:endParaRPr>
                    </a:p>
                  </a:txBody>
                  <a:tcPr anchor="ctr">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685800" rtl="0" eaLnBrk="1" latinLnBrk="0" hangingPunct="1"/>
                      <a:r>
                        <a:rPr lang="en-US" altLang="zh-CN" sz="1600" i="1" kern="1200" dirty="0">
                          <a:solidFill>
                            <a:schemeClr val="dk1"/>
                          </a:solidFill>
                          <a:latin typeface="Consolas" panose="020B0609020204030204" pitchFamily="49" charset="0"/>
                          <a:ea typeface="+mn-ea"/>
                          <a:cs typeface="Arial" panose="020B0604020202020204" pitchFamily="34" charset="0"/>
                        </a:rPr>
                        <a:t>jal label</a:t>
                      </a:r>
                      <a:endParaRPr lang="zh-CN" altLang="en-US" sz="1600" i="1" kern="1200" dirty="0">
                        <a:solidFill>
                          <a:schemeClr val="dk1"/>
                        </a:solidFill>
                        <a:latin typeface="Consolas" panose="020B0609020204030204" pitchFamily="49" charset="0"/>
                        <a:ea typeface="+mn-ea"/>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altLang="zh-CN" sz="1600" i="1" kern="1200" dirty="0">
                          <a:solidFill>
                            <a:schemeClr val="dk1"/>
                          </a:solidFill>
                          <a:latin typeface="Consolas" panose="020B0609020204030204" pitchFamily="49" charset="0"/>
                          <a:ea typeface="+mn-ea"/>
                          <a:cs typeface="Arial" panose="020B0604020202020204" pitchFamily="34" charset="0"/>
                        </a:rPr>
                        <a:t>ret rs</a:t>
                      </a:r>
                      <a:r>
                        <a:rPr lang="en-US" altLang="zh-CN" sz="1600" i="1" kern="1200" noProof="0" dirty="0">
                          <a:solidFill>
                            <a:schemeClr val="dk1"/>
                          </a:solidFill>
                          <a:latin typeface="Consolas" panose="020B0609020204030204" pitchFamily="49" charset="0"/>
                          <a:ea typeface="+mn-ea"/>
                          <a:cs typeface="Arial" panose="020B0604020202020204" pitchFamily="34" charset="0"/>
                        </a:rPr>
                        <a:t>;</a:t>
                      </a:r>
                      <a:endParaRPr lang="zh-CN" altLang="en-US" sz="1600" i="1" kern="1200" dirty="0">
                        <a:solidFill>
                          <a:schemeClr val="dk1"/>
                        </a:solidFill>
                        <a:latin typeface="Consolas" panose="020B0609020204030204" pitchFamily="49" charset="0"/>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685800" rtl="0" eaLnBrk="1" latinLnBrk="0" hangingPunct="1"/>
                      <a:r>
                        <a:rPr lang="en-US" altLang="zh-CN" sz="1600" i="1" kern="1200" dirty="0">
                          <a:solidFill>
                            <a:schemeClr val="dk1"/>
                          </a:solidFill>
                          <a:latin typeface="Consolas" panose="020B0609020204030204" pitchFamily="49" charset="0"/>
                          <a:ea typeface="+mn-ea"/>
                          <a:cs typeface="Arial" panose="020B0604020202020204" pitchFamily="34" charset="0"/>
                        </a:rPr>
                        <a:t>jr rs</a:t>
                      </a:r>
                      <a:endParaRPr lang="zh-CN" altLang="en-US" sz="1600" i="1" kern="1200" dirty="0">
                        <a:solidFill>
                          <a:schemeClr val="dk1"/>
                        </a:solidFill>
                        <a:latin typeface="Consolas" panose="020B0609020204030204" pitchFamily="49" charset="0"/>
                        <a:ea typeface="+mn-ea"/>
                        <a:cs typeface="Arial" panose="020B0604020202020204" pitchFamily="34" charset="0"/>
                      </a:endParaRPr>
                    </a:p>
                  </a:txBody>
                  <a:tcPr anchor="ctr">
                    <a:lnL w="1270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59532006"/>
                  </a:ext>
                </a:extLst>
              </a:tr>
            </a:tbl>
          </a:graphicData>
        </a:graphic>
      </p:graphicFrame>
      <p:sp>
        <p:nvSpPr>
          <p:cNvPr id="3" name="Title 4">
            <a:extLst>
              <a:ext uri="{FF2B5EF4-FFF2-40B4-BE49-F238E27FC236}">
                <a16:creationId xmlns:a16="http://schemas.microsoft.com/office/drawing/2014/main" id="{4C9BE2BE-AA17-2DF6-F16E-9A1659CF78D6}"/>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kumimoji="1" lang="zh-CN" altLang="en-US" dirty="0"/>
              <a:t>回顾：指令编码</a:t>
            </a:r>
            <a:endParaRPr lang="en-CN" kern="0" dirty="0"/>
          </a:p>
        </p:txBody>
      </p:sp>
    </p:spTree>
    <p:extLst>
      <p:ext uri="{BB962C8B-B14F-4D97-AF65-F5344CB8AC3E}">
        <p14:creationId xmlns:p14="http://schemas.microsoft.com/office/powerpoint/2010/main" val="26040851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464390A9-4ED1-1445-A786-9ACE8FEE61B3}"/>
              </a:ext>
            </a:extLst>
          </p:cNvPr>
          <p:cNvSpPr>
            <a:spLocks noGrp="1"/>
          </p:cNvSpPr>
          <p:nvPr>
            <p:ph type="sldNum" sz="quarter" idx="12"/>
          </p:nvPr>
        </p:nvSpPr>
        <p:spPr/>
        <p:txBody>
          <a:bodyPr/>
          <a:lstStyle/>
          <a:p>
            <a:fld id="{14659731-6BD7-46E7-8D3C-2F3AC07E20B1}" type="slidenum">
              <a:rPr lang="en-US" altLang="zh-CN" smtClean="0"/>
              <a:pPr/>
              <a:t>50</a:t>
            </a:fld>
            <a:endParaRPr lang="en-US" altLang="zh-CN"/>
          </a:p>
        </p:txBody>
      </p:sp>
      <p:sp>
        <p:nvSpPr>
          <p:cNvPr id="3" name="内容占位符 2">
            <a:extLst>
              <a:ext uri="{FF2B5EF4-FFF2-40B4-BE49-F238E27FC236}">
                <a16:creationId xmlns:a16="http://schemas.microsoft.com/office/drawing/2014/main" id="{3AFC4F65-1FCA-804D-8269-063EA4B14306}"/>
              </a:ext>
            </a:extLst>
          </p:cNvPr>
          <p:cNvSpPr>
            <a:spLocks noGrp="1"/>
          </p:cNvSpPr>
          <p:nvPr>
            <p:ph idx="4294967295"/>
          </p:nvPr>
        </p:nvSpPr>
        <p:spPr>
          <a:xfrm>
            <a:off x="457200" y="1332534"/>
            <a:ext cx="8229600" cy="5416936"/>
          </a:xfrm>
        </p:spPr>
        <p:txBody>
          <a:bodyPr>
            <a:normAutofit fontScale="70000" lnSpcReduction="20000"/>
          </a:bodyPr>
          <a:lstStyle/>
          <a:p>
            <a:pPr>
              <a:lnSpc>
                <a:spcPct val="150000"/>
              </a:lnSpc>
            </a:pPr>
            <a:r>
              <a:rPr kumimoji="1" lang="en-US" altLang="zh-CN" sz="3400" dirty="0"/>
              <a:t>opcode/</a:t>
            </a:r>
            <a:r>
              <a:rPr kumimoji="1" lang="en-US" altLang="zh-CN" sz="3400" dirty="0" err="1"/>
              <a:t>funct</a:t>
            </a:r>
            <a:r>
              <a:rPr kumimoji="1" lang="zh-CN" altLang="en-US" sz="3400" dirty="0"/>
              <a:t>共同定义指令的操作</a:t>
            </a:r>
            <a:endParaRPr kumimoji="1" lang="en-US" altLang="zh-CN" sz="3400" dirty="0"/>
          </a:p>
          <a:p>
            <a:pPr>
              <a:lnSpc>
                <a:spcPct val="150000"/>
              </a:lnSpc>
            </a:pPr>
            <a:r>
              <a:rPr kumimoji="1" lang="en-US" altLang="zh-CN" sz="3400" dirty="0"/>
              <a:t>I</a:t>
            </a:r>
            <a:r>
              <a:rPr kumimoji="1" lang="zh-CN" altLang="en-US" sz="3400" dirty="0"/>
              <a:t>型指令（带立即数）：</a:t>
            </a:r>
            <a:r>
              <a:rPr kumimoji="1" lang="en-US" altLang="zh-CN" sz="3400" i="1" dirty="0">
                <a:latin typeface="Consolas" panose="020B0609020204030204" pitchFamily="49" charset="0"/>
              </a:rPr>
              <a:t>lw</a:t>
            </a:r>
            <a:r>
              <a:rPr kumimoji="1" lang="zh-CN" altLang="en-US" sz="3400" i="1" dirty="0">
                <a:latin typeface="Consolas" panose="020B0609020204030204" pitchFamily="49" charset="0"/>
              </a:rPr>
              <a:t> </a:t>
            </a:r>
            <a:r>
              <a:rPr kumimoji="1" lang="en-US" altLang="zh-CN" sz="3400" i="1" dirty="0" err="1">
                <a:latin typeface="Consolas" panose="020B0609020204030204" pitchFamily="49" charset="0"/>
              </a:rPr>
              <a:t>sw</a:t>
            </a:r>
            <a:r>
              <a:rPr kumimoji="1" lang="zh-CN" altLang="en-US" sz="3400" i="1" dirty="0">
                <a:latin typeface="Consolas" panose="020B0609020204030204" pitchFamily="49" charset="0"/>
              </a:rPr>
              <a:t> </a:t>
            </a:r>
            <a:r>
              <a:rPr kumimoji="1" lang="en-US" altLang="zh-CN" sz="3400" i="1" dirty="0" err="1">
                <a:latin typeface="Consolas" panose="020B0609020204030204" pitchFamily="49" charset="0"/>
              </a:rPr>
              <a:t>beq</a:t>
            </a:r>
            <a:r>
              <a:rPr kumimoji="1" lang="zh-CN" altLang="en-US" sz="3400" i="1" dirty="0">
                <a:latin typeface="Consolas" panose="020B0609020204030204" pitchFamily="49" charset="0"/>
              </a:rPr>
              <a:t> </a:t>
            </a:r>
            <a:r>
              <a:rPr kumimoji="1" lang="en-US" altLang="zh-CN" sz="3400" i="1" dirty="0" err="1">
                <a:latin typeface="Consolas" panose="020B0609020204030204" pitchFamily="49" charset="0"/>
              </a:rPr>
              <a:t>bne</a:t>
            </a:r>
            <a:endParaRPr kumimoji="1" lang="en-US" altLang="zh-CN" sz="3400" i="1" dirty="0">
              <a:latin typeface="Consolas" panose="020B0609020204030204" pitchFamily="49" charset="0"/>
            </a:endParaRPr>
          </a:p>
          <a:p>
            <a:pPr lvl="1">
              <a:lnSpc>
                <a:spcPct val="150000"/>
              </a:lnSpc>
            </a:pPr>
            <a:r>
              <a:rPr kumimoji="1" lang="en-US" altLang="zh-CN" sz="3200" i="1" dirty="0">
                <a:latin typeface="Consolas" panose="020B0609020204030204" pitchFamily="49" charset="0"/>
              </a:rPr>
              <a:t>lw/</a:t>
            </a:r>
            <a:r>
              <a:rPr kumimoji="1" lang="en-US" altLang="zh-CN" sz="3200" i="1" dirty="0" err="1">
                <a:latin typeface="Consolas" panose="020B0609020204030204" pitchFamily="49" charset="0"/>
              </a:rPr>
              <a:t>sw</a:t>
            </a:r>
            <a:r>
              <a:rPr kumimoji="1" lang="en-US" altLang="zh-CN" sz="3200" dirty="0"/>
              <a:t>:</a:t>
            </a:r>
            <a:r>
              <a:rPr kumimoji="1" lang="zh-CN" altLang="en-US" sz="3200" dirty="0"/>
              <a:t> </a:t>
            </a:r>
            <a:r>
              <a:rPr kumimoji="1" lang="en-US" altLang="zh-CN" sz="3200" dirty="0"/>
              <a:t>load</a:t>
            </a:r>
            <a:r>
              <a:rPr kumimoji="1" lang="zh-CN" altLang="en-US" sz="3200" dirty="0"/>
              <a:t> </a:t>
            </a:r>
            <a:r>
              <a:rPr kumimoji="1" lang="en-US" altLang="zh-CN" sz="3200" dirty="0"/>
              <a:t>word;</a:t>
            </a:r>
            <a:r>
              <a:rPr kumimoji="1" lang="zh-CN" altLang="en-US" sz="3200" dirty="0"/>
              <a:t> </a:t>
            </a:r>
            <a:r>
              <a:rPr kumimoji="1" lang="en-US" altLang="zh-CN" sz="3200" dirty="0"/>
              <a:t>store</a:t>
            </a:r>
            <a:r>
              <a:rPr kumimoji="1" lang="zh-CN" altLang="en-US" sz="3200" dirty="0"/>
              <a:t> </a:t>
            </a:r>
            <a:r>
              <a:rPr kumimoji="1" lang="en-US" altLang="zh-CN" sz="3200" dirty="0"/>
              <a:t>word</a:t>
            </a:r>
          </a:p>
          <a:p>
            <a:pPr lvl="1">
              <a:lnSpc>
                <a:spcPct val="150000"/>
              </a:lnSpc>
            </a:pPr>
            <a:r>
              <a:rPr kumimoji="1" lang="en-US" altLang="zh-CN" sz="3200" i="1" dirty="0" err="1">
                <a:latin typeface="Consolas" panose="020B0609020204030204" pitchFamily="49" charset="0"/>
              </a:rPr>
              <a:t>beq</a:t>
            </a:r>
            <a:r>
              <a:rPr kumimoji="1" lang="en-US" altLang="zh-CN" sz="3200" i="1" dirty="0">
                <a:latin typeface="Consolas" panose="020B0609020204030204" pitchFamily="49" charset="0"/>
              </a:rPr>
              <a:t>/</a:t>
            </a:r>
            <a:r>
              <a:rPr kumimoji="1" lang="en-US" altLang="zh-CN" sz="3200" i="1" dirty="0" err="1">
                <a:latin typeface="Consolas" panose="020B0609020204030204" pitchFamily="49" charset="0"/>
              </a:rPr>
              <a:t>bne</a:t>
            </a:r>
            <a:r>
              <a:rPr kumimoji="1" lang="en-US" altLang="zh-CN" sz="3200" dirty="0"/>
              <a:t>:</a:t>
            </a:r>
            <a:r>
              <a:rPr kumimoji="1" lang="zh-CN" altLang="en-US" sz="3200" dirty="0"/>
              <a:t> </a:t>
            </a:r>
            <a:r>
              <a:rPr kumimoji="1" lang="en-US" altLang="zh-CN" sz="3200" dirty="0"/>
              <a:t>branch</a:t>
            </a:r>
            <a:r>
              <a:rPr kumimoji="1" lang="zh-CN" altLang="en-US" sz="3200" dirty="0"/>
              <a:t> </a:t>
            </a:r>
            <a:r>
              <a:rPr kumimoji="1" lang="en-US" altLang="zh-CN" sz="3200" dirty="0"/>
              <a:t>on</a:t>
            </a:r>
            <a:r>
              <a:rPr kumimoji="1" lang="zh-CN" altLang="en-US" sz="3200" dirty="0"/>
              <a:t> </a:t>
            </a:r>
            <a:r>
              <a:rPr kumimoji="1" lang="en-US" altLang="zh-CN" sz="3200" dirty="0"/>
              <a:t>equal;</a:t>
            </a:r>
            <a:r>
              <a:rPr kumimoji="1" lang="zh-CN" altLang="en-US" sz="3200" dirty="0"/>
              <a:t> </a:t>
            </a:r>
            <a:r>
              <a:rPr kumimoji="1" lang="en-US" altLang="zh-CN" sz="3200" dirty="0"/>
              <a:t>branch</a:t>
            </a:r>
            <a:r>
              <a:rPr kumimoji="1" lang="zh-CN" altLang="en-US" sz="3200" dirty="0"/>
              <a:t> </a:t>
            </a:r>
            <a:r>
              <a:rPr kumimoji="1" lang="en-US" altLang="zh-CN" sz="3200" dirty="0"/>
              <a:t>on</a:t>
            </a:r>
            <a:r>
              <a:rPr kumimoji="1" lang="zh-CN" altLang="en-US" sz="3200" dirty="0"/>
              <a:t> </a:t>
            </a:r>
            <a:r>
              <a:rPr kumimoji="1" lang="en-US" altLang="zh-CN" sz="3200" dirty="0"/>
              <a:t>not</a:t>
            </a:r>
            <a:r>
              <a:rPr kumimoji="1" lang="zh-CN" altLang="en-US" sz="3200" dirty="0"/>
              <a:t> </a:t>
            </a:r>
            <a:r>
              <a:rPr kumimoji="1" lang="en-US" altLang="zh-CN" sz="3200" dirty="0"/>
              <a:t>equal</a:t>
            </a:r>
          </a:p>
          <a:p>
            <a:pPr lvl="1">
              <a:lnSpc>
                <a:spcPct val="150000"/>
              </a:lnSpc>
            </a:pPr>
            <a:r>
              <a:rPr kumimoji="1" lang="en-US" altLang="zh-CN" sz="3200" dirty="0"/>
              <a:t>opcode:</a:t>
            </a:r>
            <a:r>
              <a:rPr kumimoji="1" lang="zh-CN" altLang="en-US" sz="3200" dirty="0"/>
              <a:t> 除</a:t>
            </a:r>
            <a:r>
              <a:rPr kumimoji="1" lang="en-US" altLang="zh-CN" sz="3200" dirty="0"/>
              <a:t>000000,</a:t>
            </a:r>
            <a:r>
              <a:rPr kumimoji="1" lang="zh-CN" altLang="en-US" sz="3200" dirty="0"/>
              <a:t> </a:t>
            </a:r>
            <a:r>
              <a:rPr kumimoji="1" lang="en-US" altLang="zh-CN" sz="3200" dirty="0"/>
              <a:t>00001x,</a:t>
            </a:r>
            <a:r>
              <a:rPr kumimoji="1" lang="zh-CN" altLang="en-US" sz="3200" dirty="0"/>
              <a:t> </a:t>
            </a:r>
            <a:r>
              <a:rPr kumimoji="1" lang="en-US" altLang="zh-CN" sz="3200" dirty="0"/>
              <a:t>0100xx</a:t>
            </a:r>
            <a:r>
              <a:rPr kumimoji="1" lang="zh-CN" altLang="en-US" sz="3200" dirty="0"/>
              <a:t>外</a:t>
            </a:r>
            <a:endParaRPr kumimoji="1" lang="en-US" altLang="zh-CN" sz="3200" dirty="0"/>
          </a:p>
          <a:p>
            <a:pPr>
              <a:lnSpc>
                <a:spcPct val="150000"/>
              </a:lnSpc>
            </a:pPr>
            <a:r>
              <a:rPr kumimoji="1" lang="en-US" altLang="zh-CN" sz="3400" dirty="0"/>
              <a:t>J</a:t>
            </a:r>
            <a:r>
              <a:rPr kumimoji="1" lang="zh-CN" altLang="en-US" sz="3400" dirty="0"/>
              <a:t>型指令（用于跳转）：</a:t>
            </a:r>
            <a:r>
              <a:rPr kumimoji="1" lang="en-US" altLang="zh-CN" sz="3400" i="1" dirty="0">
                <a:latin typeface="Consolas" panose="020B0609020204030204" pitchFamily="49" charset="0"/>
              </a:rPr>
              <a:t>j </a:t>
            </a:r>
            <a:r>
              <a:rPr kumimoji="1" lang="en-US" altLang="zh-CN" sz="3400" i="1" dirty="0" err="1">
                <a:latin typeface="Consolas" panose="020B0609020204030204" pitchFamily="49" charset="0"/>
              </a:rPr>
              <a:t>jal</a:t>
            </a:r>
            <a:endParaRPr kumimoji="1" lang="en-US" altLang="zh-CN" sz="3400" i="1" dirty="0">
              <a:latin typeface="Consolas" panose="020B0609020204030204" pitchFamily="49" charset="0"/>
            </a:endParaRPr>
          </a:p>
          <a:p>
            <a:pPr lvl="1">
              <a:lnSpc>
                <a:spcPct val="150000"/>
              </a:lnSpc>
            </a:pPr>
            <a:r>
              <a:rPr kumimoji="1" lang="en-US" altLang="zh-CN" sz="3200" i="1" dirty="0">
                <a:latin typeface="Consolas" panose="020B0609020204030204" pitchFamily="49" charset="0"/>
              </a:rPr>
              <a:t>j</a:t>
            </a:r>
            <a:r>
              <a:rPr kumimoji="1" lang="en-US" altLang="zh-CN" sz="3200" dirty="0"/>
              <a:t>:</a:t>
            </a:r>
            <a:r>
              <a:rPr kumimoji="1" lang="zh-CN" altLang="en-US" sz="3200" dirty="0"/>
              <a:t> </a:t>
            </a:r>
            <a:r>
              <a:rPr kumimoji="1" lang="en-US" altLang="zh-CN" sz="3200" dirty="0"/>
              <a:t>jump;</a:t>
            </a:r>
            <a:r>
              <a:rPr kumimoji="1" lang="zh-CN" altLang="en-US" sz="3200" dirty="0"/>
              <a:t> </a:t>
            </a:r>
            <a:r>
              <a:rPr kumimoji="1" lang="en-US" altLang="zh-CN" sz="3200" i="1" dirty="0">
                <a:latin typeface="Consolas" panose="020B0609020204030204" pitchFamily="49" charset="0"/>
              </a:rPr>
              <a:t>jal</a:t>
            </a:r>
            <a:r>
              <a:rPr kumimoji="1" lang="en-US" altLang="zh-CN" sz="3200" dirty="0"/>
              <a:t>:</a:t>
            </a:r>
            <a:r>
              <a:rPr kumimoji="1" lang="zh-CN" altLang="en-US" sz="3200" dirty="0"/>
              <a:t> </a:t>
            </a:r>
            <a:r>
              <a:rPr kumimoji="1" lang="en-US" altLang="zh-CN" sz="3200" dirty="0"/>
              <a:t>jump</a:t>
            </a:r>
            <a:r>
              <a:rPr kumimoji="1" lang="zh-CN" altLang="en-US" sz="3200" dirty="0"/>
              <a:t> </a:t>
            </a:r>
            <a:r>
              <a:rPr kumimoji="1" lang="en-US" altLang="zh-CN" sz="3200" dirty="0"/>
              <a:t>and</a:t>
            </a:r>
            <a:r>
              <a:rPr kumimoji="1" lang="zh-CN" altLang="en-US" sz="3200" dirty="0"/>
              <a:t> </a:t>
            </a:r>
            <a:r>
              <a:rPr kumimoji="1" lang="en-US" altLang="zh-CN" sz="3200" dirty="0"/>
              <a:t>link</a:t>
            </a:r>
          </a:p>
          <a:p>
            <a:pPr lvl="1">
              <a:lnSpc>
                <a:spcPct val="150000"/>
              </a:lnSpc>
            </a:pPr>
            <a:r>
              <a:rPr kumimoji="1" lang="en-US" altLang="zh-CN" sz="3200" dirty="0"/>
              <a:t>opcode:</a:t>
            </a:r>
            <a:r>
              <a:rPr kumimoji="1" lang="zh-CN" altLang="en-US" sz="3200" dirty="0"/>
              <a:t> </a:t>
            </a:r>
            <a:r>
              <a:rPr kumimoji="1" lang="en-US" altLang="zh-CN" sz="3200" dirty="0"/>
              <a:t>000010,</a:t>
            </a:r>
            <a:r>
              <a:rPr kumimoji="1" lang="zh-CN" altLang="en-US" sz="3200" dirty="0"/>
              <a:t> </a:t>
            </a:r>
            <a:r>
              <a:rPr kumimoji="1" lang="en-US" altLang="zh-CN" sz="3200" dirty="0"/>
              <a:t>000011</a:t>
            </a:r>
          </a:p>
          <a:p>
            <a:pPr>
              <a:lnSpc>
                <a:spcPct val="150000"/>
              </a:lnSpc>
            </a:pPr>
            <a:r>
              <a:rPr kumimoji="1" lang="en-US" altLang="zh-CN" sz="3400" dirty="0"/>
              <a:t>R</a:t>
            </a:r>
            <a:r>
              <a:rPr kumimoji="1" lang="zh-CN" altLang="en-US" sz="3400" dirty="0"/>
              <a:t>型指令（所有其他指令，</a:t>
            </a:r>
            <a:r>
              <a:rPr kumimoji="1" lang="zh-CN" altLang="en-US" sz="3400" dirty="0">
                <a:solidFill>
                  <a:srgbClr val="0432FF"/>
                </a:solidFill>
              </a:rPr>
              <a:t>包括</a:t>
            </a:r>
            <a:r>
              <a:rPr kumimoji="1" lang="en-US" altLang="zh-CN" sz="3400" i="1" dirty="0" err="1">
                <a:solidFill>
                  <a:srgbClr val="0432FF"/>
                </a:solidFill>
                <a:latin typeface="Consolas" panose="020B0609020204030204" pitchFamily="49" charset="0"/>
              </a:rPr>
              <a:t>jr</a:t>
            </a:r>
            <a:r>
              <a:rPr kumimoji="1" lang="zh-CN" altLang="en-US" sz="3400" dirty="0"/>
              <a:t>）</a:t>
            </a:r>
            <a:endParaRPr kumimoji="1" lang="en-US" altLang="zh-CN" sz="3400" dirty="0"/>
          </a:p>
          <a:p>
            <a:pPr lvl="1">
              <a:lnSpc>
                <a:spcPct val="150000"/>
              </a:lnSpc>
            </a:pPr>
            <a:r>
              <a:rPr kumimoji="1" lang="en-US" altLang="zh-CN" sz="3200" dirty="0"/>
              <a:t>opcode:</a:t>
            </a:r>
            <a:r>
              <a:rPr kumimoji="1" lang="zh-CN" altLang="en-US" sz="3200" dirty="0"/>
              <a:t> </a:t>
            </a:r>
            <a:r>
              <a:rPr kumimoji="1" lang="en-US" altLang="zh-CN" sz="3200" dirty="0"/>
              <a:t>000000</a:t>
            </a:r>
          </a:p>
          <a:p>
            <a:endParaRPr kumimoji="1" lang="en-US" altLang="zh-CN" sz="2800" dirty="0"/>
          </a:p>
          <a:p>
            <a:endParaRPr kumimoji="1" lang="zh-CN" altLang="en-US" sz="2800" dirty="0"/>
          </a:p>
        </p:txBody>
      </p:sp>
      <p:sp>
        <p:nvSpPr>
          <p:cNvPr id="5" name="圆角矩形 4">
            <a:extLst>
              <a:ext uri="{FF2B5EF4-FFF2-40B4-BE49-F238E27FC236}">
                <a16:creationId xmlns:a16="http://schemas.microsoft.com/office/drawing/2014/main" id="{9D887F10-519F-924C-8821-06A9A4836CFC}"/>
              </a:ext>
            </a:extLst>
          </p:cNvPr>
          <p:cNvSpPr/>
          <p:nvPr/>
        </p:nvSpPr>
        <p:spPr>
          <a:xfrm>
            <a:off x="6158214" y="4308994"/>
            <a:ext cx="2528586" cy="777217"/>
          </a:xfrm>
          <a:prstGeom prst="roundRect">
            <a:avLst/>
          </a:prstGeom>
          <a:solidFill>
            <a:schemeClr val="tx1">
              <a:lumMod val="50000"/>
              <a:lumOff val="50000"/>
            </a:schemeClr>
          </a:solidFill>
          <a:ln>
            <a:noFill/>
          </a:ln>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kumimoji="1" lang="en-US" altLang="zh-CN" sz="2400" b="1" dirty="0">
                <a:solidFill>
                  <a:schemeClr val="bg1"/>
                </a:solidFill>
              </a:rPr>
              <a:t>opcode:</a:t>
            </a:r>
            <a:r>
              <a:rPr kumimoji="1" lang="zh-CN" altLang="en-US" sz="2400" b="1" dirty="0">
                <a:solidFill>
                  <a:schemeClr val="bg1"/>
                </a:solidFill>
              </a:rPr>
              <a:t> 区分不同指令的关键</a:t>
            </a:r>
          </a:p>
        </p:txBody>
      </p:sp>
      <p:sp>
        <p:nvSpPr>
          <p:cNvPr id="7" name="Title 4">
            <a:extLst>
              <a:ext uri="{FF2B5EF4-FFF2-40B4-BE49-F238E27FC236}">
                <a16:creationId xmlns:a16="http://schemas.microsoft.com/office/drawing/2014/main" id="{79728CBF-3893-28AD-5BD1-AF16147D170E}"/>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kumimoji="1" lang="zh-CN" altLang="en-US" dirty="0"/>
              <a:t>指令格式：总结</a:t>
            </a:r>
            <a:endParaRPr lang="en-CN" kern="0" dirty="0"/>
          </a:p>
        </p:txBody>
      </p:sp>
    </p:spTree>
    <p:extLst>
      <p:ext uri="{BB962C8B-B14F-4D97-AF65-F5344CB8AC3E}">
        <p14:creationId xmlns:p14="http://schemas.microsoft.com/office/powerpoint/2010/main" val="138189137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58C6A64-4532-734D-A003-17AB02EDCF0D}"/>
              </a:ext>
            </a:extLst>
          </p:cNvPr>
          <p:cNvSpPr>
            <a:spLocks noGrp="1"/>
          </p:cNvSpPr>
          <p:nvPr>
            <p:ph type="sldNum" sz="quarter" idx="12"/>
          </p:nvPr>
        </p:nvSpPr>
        <p:spPr/>
        <p:txBody>
          <a:bodyPr/>
          <a:lstStyle/>
          <a:p>
            <a:fld id="{176ACFD1-D213-4B9C-817B-45486DBF105A}" type="slidenum">
              <a:rPr lang="en-US" smtClean="0">
                <a:solidFill>
                  <a:prstClr val="black"/>
                </a:solidFill>
              </a:rPr>
              <a:pPr/>
              <a:t>51</a:t>
            </a:fld>
            <a:endParaRPr lang="en-US">
              <a:solidFill>
                <a:prstClr val="black"/>
              </a:solidFill>
            </a:endParaRPr>
          </a:p>
        </p:txBody>
      </p:sp>
      <p:sp>
        <p:nvSpPr>
          <p:cNvPr id="3" name="Content Placeholder 2">
            <a:extLst>
              <a:ext uri="{FF2B5EF4-FFF2-40B4-BE49-F238E27FC236}">
                <a16:creationId xmlns:a16="http://schemas.microsoft.com/office/drawing/2014/main" id="{FBC54065-A8EB-A646-8897-9BA089C94A03}"/>
              </a:ext>
            </a:extLst>
          </p:cNvPr>
          <p:cNvSpPr>
            <a:spLocks noGrp="1"/>
          </p:cNvSpPr>
          <p:nvPr>
            <p:ph idx="4294967295"/>
          </p:nvPr>
        </p:nvSpPr>
        <p:spPr>
          <a:xfrm>
            <a:off x="457200" y="1252537"/>
            <a:ext cx="8229600" cy="5230813"/>
          </a:xfrm>
        </p:spPr>
        <p:txBody>
          <a:bodyPr>
            <a:normAutofit fontScale="92500" lnSpcReduction="20000"/>
          </a:bodyPr>
          <a:lstStyle/>
          <a:p>
            <a:pPr>
              <a:lnSpc>
                <a:spcPct val="150000"/>
              </a:lnSpc>
            </a:pPr>
            <a:r>
              <a:rPr lang="zh-CN" altLang="en-US" dirty="0">
                <a:latin typeface="Arial" panose="020B0604020202020204" pitchFamily="34" charset="0"/>
                <a:cs typeface="Arial" panose="020B0604020202020204" pitchFamily="34" charset="0"/>
              </a:rPr>
              <a:t>指令设计思想与考虑</a:t>
            </a:r>
            <a:endParaRPr lang="en-US" altLang="zh-CN" dirty="0">
              <a:latin typeface="Arial" panose="020B0604020202020204" pitchFamily="34" charset="0"/>
              <a:cs typeface="Arial" panose="020B0604020202020204" pitchFamily="34" charset="0"/>
            </a:endParaRPr>
          </a:p>
          <a:p>
            <a:pPr>
              <a:lnSpc>
                <a:spcPct val="150000"/>
              </a:lnSpc>
            </a:pPr>
            <a:r>
              <a:rPr lang="en-US" dirty="0">
                <a:solidFill>
                  <a:srgbClr val="0432FF"/>
                </a:solidFill>
                <a:latin typeface="Arial" panose="020B0604020202020204" pitchFamily="34" charset="0"/>
                <a:cs typeface="Arial" panose="020B0604020202020204" pitchFamily="34" charset="0"/>
              </a:rPr>
              <a:t>MIPS</a:t>
            </a:r>
            <a:r>
              <a:rPr lang="zh-CN" altLang="en-US" dirty="0">
                <a:solidFill>
                  <a:srgbClr val="0432FF"/>
                </a:solidFill>
                <a:latin typeface="Arial" panose="020B0604020202020204" pitchFamily="34" charset="0"/>
                <a:cs typeface="Arial" panose="020B0604020202020204" pitchFamily="34" charset="0"/>
              </a:rPr>
              <a:t>指令集介绍</a:t>
            </a:r>
            <a:endParaRPr lang="en-US" altLang="zh-CN" dirty="0">
              <a:solidFill>
                <a:srgbClr val="0432FF"/>
              </a:solidFill>
              <a:latin typeface="Arial" panose="020B0604020202020204" pitchFamily="34" charset="0"/>
              <a:cs typeface="Arial" panose="020B0604020202020204" pitchFamily="34" charset="0"/>
            </a:endParaRPr>
          </a:p>
          <a:p>
            <a:pPr lvl="1">
              <a:lnSpc>
                <a:spcPct val="150000"/>
              </a:lnSpc>
            </a:pPr>
            <a:r>
              <a:rPr lang="zh-CN" altLang="en-US" dirty="0">
                <a:latin typeface="Arial" panose="020B0604020202020204" pitchFamily="34" charset="0"/>
                <a:cs typeface="Arial" panose="020B0604020202020204" pitchFamily="34" charset="0"/>
              </a:rPr>
              <a:t>指令存储与数据存储</a:t>
            </a:r>
            <a:endParaRPr lang="en-US" altLang="zh-CN" dirty="0">
              <a:latin typeface="Arial" panose="020B0604020202020204" pitchFamily="34" charset="0"/>
              <a:cs typeface="Arial" panose="020B0604020202020204" pitchFamily="34" charset="0"/>
            </a:endParaRPr>
          </a:p>
          <a:p>
            <a:pPr lvl="1">
              <a:lnSpc>
                <a:spcPct val="150000"/>
              </a:lnSpc>
            </a:pPr>
            <a:r>
              <a:rPr lang="zh-CN" altLang="en-US" dirty="0">
                <a:latin typeface="Arial" panose="020B0604020202020204" pitchFamily="34" charset="0"/>
                <a:cs typeface="Arial" panose="020B0604020202020204" pitchFamily="34" charset="0"/>
              </a:rPr>
              <a:t>指令分类与格式</a:t>
            </a:r>
            <a:endParaRPr lang="en-US" altLang="zh-CN" dirty="0">
              <a:latin typeface="Arial" panose="020B0604020202020204" pitchFamily="34" charset="0"/>
              <a:cs typeface="Arial" panose="020B0604020202020204" pitchFamily="34" charset="0"/>
            </a:endParaRPr>
          </a:p>
          <a:p>
            <a:pPr lvl="1">
              <a:lnSpc>
                <a:spcPct val="150000"/>
              </a:lnSpc>
            </a:pPr>
            <a:r>
              <a:rPr lang="zh-CN" altLang="en-US" dirty="0">
                <a:solidFill>
                  <a:srgbClr val="0432FF"/>
                </a:solidFill>
                <a:latin typeface="Arial" panose="020B0604020202020204" pitchFamily="34" charset="0"/>
                <a:cs typeface="Arial" panose="020B0604020202020204" pitchFamily="34" charset="0"/>
              </a:rPr>
              <a:t>寻址方式</a:t>
            </a:r>
            <a:endParaRPr lang="en-US" altLang="zh-CN" dirty="0">
              <a:solidFill>
                <a:srgbClr val="0432FF"/>
              </a:solidFill>
              <a:latin typeface="Arial" panose="020B0604020202020204" pitchFamily="34" charset="0"/>
              <a:cs typeface="Arial" panose="020B0604020202020204" pitchFamily="34" charset="0"/>
            </a:endParaRPr>
          </a:p>
          <a:p>
            <a:pPr lvl="1">
              <a:lnSpc>
                <a:spcPct val="150000"/>
              </a:lnSpc>
            </a:pPr>
            <a:r>
              <a:rPr lang="zh-CN" altLang="en-US" dirty="0">
                <a:latin typeface="Arial" panose="020B0604020202020204" pitchFamily="34" charset="0"/>
                <a:cs typeface="Arial" panose="020B0604020202020204" pitchFamily="34" charset="0"/>
              </a:rPr>
              <a:t>常见指令介绍</a:t>
            </a:r>
            <a:endParaRPr lang="en-US" altLang="zh-CN" dirty="0">
              <a:latin typeface="Arial" panose="020B0604020202020204" pitchFamily="34" charset="0"/>
              <a:cs typeface="Arial" panose="020B0604020202020204" pitchFamily="34" charset="0"/>
            </a:endParaRPr>
          </a:p>
          <a:p>
            <a:pPr lvl="1">
              <a:lnSpc>
                <a:spcPct val="150000"/>
              </a:lnSpc>
            </a:pPr>
            <a:r>
              <a:rPr lang="zh-CN" altLang="en-US" dirty="0">
                <a:latin typeface="Arial" panose="020B0604020202020204" pitchFamily="34" charset="0"/>
                <a:cs typeface="Arial" panose="020B0604020202020204" pitchFamily="34" charset="0"/>
              </a:rPr>
              <a:t>过程调用</a:t>
            </a:r>
            <a:endParaRPr lang="en-US" altLang="zh-CN" dirty="0">
              <a:latin typeface="Arial" panose="020B0604020202020204" pitchFamily="34" charset="0"/>
              <a:cs typeface="Arial" panose="020B0604020202020204" pitchFamily="34" charset="0"/>
            </a:endParaRPr>
          </a:p>
          <a:p>
            <a:pPr>
              <a:lnSpc>
                <a:spcPct val="150000"/>
              </a:lnSpc>
            </a:pPr>
            <a:r>
              <a:rPr lang="en-US" altLang="zh-CN" dirty="0">
                <a:latin typeface="Arial" panose="020B0604020202020204" pitchFamily="34" charset="0"/>
                <a:cs typeface="Arial" panose="020B0604020202020204" pitchFamily="34" charset="0"/>
              </a:rPr>
              <a:t>MIPS</a:t>
            </a:r>
            <a:r>
              <a:rPr lang="zh-CN" altLang="en-US" dirty="0">
                <a:latin typeface="Arial" panose="020B0604020202020204" pitchFamily="34" charset="0"/>
                <a:cs typeface="Arial" panose="020B0604020202020204" pitchFamily="34" charset="0"/>
              </a:rPr>
              <a:t>指令集程序</a:t>
            </a:r>
            <a:endParaRPr lang="en-US" altLang="zh-CN" dirty="0">
              <a:latin typeface="Arial" panose="020B0604020202020204" pitchFamily="34" charset="0"/>
              <a:cs typeface="Arial" panose="020B0604020202020204" pitchFamily="34" charset="0"/>
            </a:endParaRPr>
          </a:p>
          <a:p>
            <a:pPr marL="342900" lvl="1" indent="0">
              <a:lnSpc>
                <a:spcPct val="150000"/>
              </a:lnSpc>
              <a:buNone/>
            </a:pPr>
            <a:endParaRPr lang="en-US" altLang="zh-CN" sz="2800" dirty="0">
              <a:latin typeface="Arial" panose="020B0604020202020204" pitchFamily="34" charset="0"/>
              <a:cs typeface="Arial" panose="020B0604020202020204" pitchFamily="34" charset="0"/>
            </a:endParaRPr>
          </a:p>
        </p:txBody>
      </p:sp>
      <p:sp>
        <p:nvSpPr>
          <p:cNvPr id="2" name="Title 4">
            <a:extLst>
              <a:ext uri="{FF2B5EF4-FFF2-40B4-BE49-F238E27FC236}">
                <a16:creationId xmlns:a16="http://schemas.microsoft.com/office/drawing/2014/main" id="{B9B8EE4F-0660-71A7-DDD0-81A6FE5EED1C}"/>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kumimoji="1" lang="zh-CN" altLang="en-US" dirty="0"/>
              <a:t>本节课目录</a:t>
            </a:r>
            <a:endParaRPr lang="en-CN" kern="0" dirty="0"/>
          </a:p>
        </p:txBody>
      </p:sp>
    </p:spTree>
    <p:extLst>
      <p:ext uri="{BB962C8B-B14F-4D97-AF65-F5344CB8AC3E}">
        <p14:creationId xmlns:p14="http://schemas.microsoft.com/office/powerpoint/2010/main" val="200215848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013969FF-8B1A-FE4A-96DB-D4E935F1DB21}"/>
              </a:ext>
            </a:extLst>
          </p:cNvPr>
          <p:cNvSpPr>
            <a:spLocks noGrp="1"/>
          </p:cNvSpPr>
          <p:nvPr>
            <p:ph type="sldNum" sz="quarter" idx="12"/>
          </p:nvPr>
        </p:nvSpPr>
        <p:spPr/>
        <p:txBody>
          <a:bodyPr/>
          <a:lstStyle/>
          <a:p>
            <a:fld id="{14659731-6BD7-46E7-8D3C-2F3AC07E20B1}" type="slidenum">
              <a:rPr lang="en-US" altLang="zh-CN" smtClean="0"/>
              <a:pPr/>
              <a:t>52</a:t>
            </a:fld>
            <a:endParaRPr lang="en-US" altLang="zh-CN"/>
          </a:p>
        </p:txBody>
      </p:sp>
      <p:sp>
        <p:nvSpPr>
          <p:cNvPr id="3" name="内容占位符 2">
            <a:extLst>
              <a:ext uri="{FF2B5EF4-FFF2-40B4-BE49-F238E27FC236}">
                <a16:creationId xmlns:a16="http://schemas.microsoft.com/office/drawing/2014/main" id="{3CDA9606-767D-604E-A93F-3547D4A5D164}"/>
              </a:ext>
            </a:extLst>
          </p:cNvPr>
          <p:cNvSpPr>
            <a:spLocks noGrp="1"/>
          </p:cNvSpPr>
          <p:nvPr>
            <p:ph idx="4294967295"/>
          </p:nvPr>
        </p:nvSpPr>
        <p:spPr>
          <a:xfrm>
            <a:off x="457200" y="1368425"/>
            <a:ext cx="8229600" cy="4876800"/>
          </a:xfrm>
        </p:spPr>
        <p:txBody>
          <a:bodyPr/>
          <a:lstStyle/>
          <a:p>
            <a:r>
              <a:rPr kumimoji="1" lang="zh-CN" altLang="en-US" dirty="0"/>
              <a:t>如何找到需要的数据，如何计算指令地址？</a:t>
            </a:r>
            <a:endParaRPr kumimoji="1" lang="en-US" altLang="zh-CN" dirty="0"/>
          </a:p>
          <a:p>
            <a:r>
              <a:rPr kumimoji="1" lang="en-US" altLang="zh-CN" dirty="0"/>
              <a:t>MIPS</a:t>
            </a:r>
            <a:r>
              <a:rPr kumimoji="1" lang="zh-CN" altLang="en-US" dirty="0"/>
              <a:t>有</a:t>
            </a:r>
            <a:r>
              <a:rPr kumimoji="1" lang="en-US" altLang="zh-CN" dirty="0"/>
              <a:t>5</a:t>
            </a:r>
            <a:r>
              <a:rPr kumimoji="1" lang="zh-CN" altLang="en-US" dirty="0"/>
              <a:t>种寻址模式</a:t>
            </a:r>
            <a:endParaRPr kumimoji="1" lang="en-US" altLang="zh-CN" dirty="0"/>
          </a:p>
          <a:p>
            <a:pPr lvl="1"/>
            <a:r>
              <a:rPr kumimoji="1" lang="zh-CN" altLang="en-US" sz="2400" dirty="0"/>
              <a:t>寄存器寻址</a:t>
            </a:r>
            <a:endParaRPr kumimoji="1" lang="en-US" altLang="zh-CN" sz="2400" b="0" dirty="0"/>
          </a:p>
          <a:p>
            <a:pPr lvl="2"/>
            <a:r>
              <a:rPr kumimoji="1" lang="zh-CN" altLang="en-US" sz="2000" b="0" dirty="0"/>
              <a:t>常见：算术逻辑指令</a:t>
            </a:r>
            <a:endParaRPr kumimoji="1" lang="en-US" altLang="zh-CN" sz="2000" b="0" dirty="0"/>
          </a:p>
          <a:p>
            <a:pPr lvl="1"/>
            <a:r>
              <a:rPr kumimoji="1" lang="zh-CN" altLang="en-US" sz="2400" dirty="0"/>
              <a:t>立即数寻址</a:t>
            </a:r>
            <a:endParaRPr kumimoji="1" lang="en-US" altLang="zh-CN" sz="2400" b="0" dirty="0"/>
          </a:p>
          <a:p>
            <a:pPr lvl="2"/>
            <a:r>
              <a:rPr kumimoji="1" lang="zh-CN" altLang="en-US" sz="2000" b="0" dirty="0"/>
              <a:t>常见：立即数算术逻辑指令</a:t>
            </a:r>
            <a:endParaRPr kumimoji="1" lang="en-US" altLang="zh-CN" sz="2000" b="0" dirty="0"/>
          </a:p>
          <a:p>
            <a:pPr lvl="1"/>
            <a:r>
              <a:rPr kumimoji="1" lang="zh-CN" altLang="en-US" sz="2400" dirty="0"/>
              <a:t>基址（基址</a:t>
            </a:r>
            <a:r>
              <a:rPr kumimoji="1" lang="en-US" altLang="zh-CN" sz="2400" dirty="0"/>
              <a:t>-</a:t>
            </a:r>
            <a:r>
              <a:rPr kumimoji="1" lang="zh-CN" altLang="en-US" sz="2400" dirty="0"/>
              <a:t>偏移）寻址</a:t>
            </a:r>
            <a:endParaRPr kumimoji="1" lang="en-US" altLang="zh-CN" sz="2400" b="0" dirty="0"/>
          </a:p>
          <a:p>
            <a:pPr lvl="2"/>
            <a:r>
              <a:rPr kumimoji="1" lang="zh-CN" altLang="en-US" sz="2000" b="0" dirty="0"/>
              <a:t>常见：访存指令</a:t>
            </a:r>
            <a:endParaRPr kumimoji="1" lang="en-US" altLang="zh-CN" sz="2000" b="0" dirty="0"/>
          </a:p>
          <a:p>
            <a:pPr lvl="1"/>
            <a:r>
              <a:rPr kumimoji="1" lang="en-US" altLang="zh-CN" sz="2400" dirty="0"/>
              <a:t>PC</a:t>
            </a:r>
            <a:r>
              <a:rPr kumimoji="1" lang="zh-CN" altLang="en-US" sz="2400" dirty="0"/>
              <a:t>相对寻址</a:t>
            </a:r>
            <a:endParaRPr kumimoji="1" lang="en-US" altLang="zh-CN" sz="2400" b="0" dirty="0"/>
          </a:p>
          <a:p>
            <a:pPr lvl="2"/>
            <a:r>
              <a:rPr kumimoji="1" lang="zh-CN" altLang="en-US" sz="2000" b="0" dirty="0"/>
              <a:t>常见：</a:t>
            </a:r>
            <a:r>
              <a:rPr kumimoji="1" lang="en-US" altLang="zh-CN" sz="2000" b="0" dirty="0"/>
              <a:t>Branch</a:t>
            </a:r>
            <a:r>
              <a:rPr kumimoji="1" lang="zh-CN" altLang="en-US" sz="2000" b="0" dirty="0"/>
              <a:t>指令</a:t>
            </a:r>
            <a:endParaRPr kumimoji="1" lang="en-US" altLang="zh-CN" sz="2000" b="0" dirty="0"/>
          </a:p>
          <a:p>
            <a:pPr lvl="1"/>
            <a:r>
              <a:rPr kumimoji="1" lang="zh-CN" altLang="en-US" sz="2400" dirty="0"/>
              <a:t>伪直接寻址</a:t>
            </a:r>
            <a:endParaRPr kumimoji="1" lang="en-US" altLang="zh-CN" sz="2400" b="0" dirty="0"/>
          </a:p>
          <a:p>
            <a:pPr lvl="2"/>
            <a:r>
              <a:rPr kumimoji="1" lang="zh-CN" altLang="en-US" sz="2000" b="0" dirty="0"/>
              <a:t>常见：</a:t>
            </a:r>
            <a:r>
              <a:rPr kumimoji="1" lang="en-US" altLang="zh-CN" sz="2000" b="0" dirty="0"/>
              <a:t>J</a:t>
            </a:r>
            <a:r>
              <a:rPr kumimoji="1" lang="zh-CN" altLang="en-US" sz="2000" b="0" dirty="0"/>
              <a:t>跳转指令</a:t>
            </a:r>
            <a:endParaRPr kumimoji="1" lang="en-US" altLang="zh-CN" b="0" dirty="0"/>
          </a:p>
        </p:txBody>
      </p:sp>
      <p:sp>
        <p:nvSpPr>
          <p:cNvPr id="5" name="Title 4">
            <a:extLst>
              <a:ext uri="{FF2B5EF4-FFF2-40B4-BE49-F238E27FC236}">
                <a16:creationId xmlns:a16="http://schemas.microsoft.com/office/drawing/2014/main" id="{B61A56D2-6077-12CA-A662-D13A78821523}"/>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kumimoji="1" lang="zh-CN" altLang="en-US" dirty="0"/>
              <a:t>寻址方式</a:t>
            </a:r>
            <a:endParaRPr lang="en-CN" kern="0" dirty="0"/>
          </a:p>
        </p:txBody>
      </p:sp>
      <mc:AlternateContent xmlns:mc="http://schemas.openxmlformats.org/markup-compatibility/2006" xmlns:p14="http://schemas.microsoft.com/office/powerpoint/2010/main">
        <mc:Choice Requires="p14">
          <p:contentPart p14:bwMode="auto" r:id="rId2">
            <p14:nvContentPartPr>
              <p14:cNvPr id="2" name="墨迹 1">
                <a:extLst>
                  <a:ext uri="{FF2B5EF4-FFF2-40B4-BE49-F238E27FC236}">
                    <a16:creationId xmlns:a16="http://schemas.microsoft.com/office/drawing/2014/main" id="{D5573773-D850-4D50-DC13-6F50D9E2136C}"/>
                  </a:ext>
                </a:extLst>
              </p14:cNvPr>
              <p14:cNvContentPartPr/>
              <p14:nvPr/>
            </p14:nvContentPartPr>
            <p14:xfrm>
              <a:off x="2970051" y="1925366"/>
              <a:ext cx="829080" cy="660960"/>
            </p14:xfrm>
          </p:contentPart>
        </mc:Choice>
        <mc:Fallback xmlns="">
          <p:pic>
            <p:nvPicPr>
              <p:cNvPr id="2" name="墨迹 1">
                <a:extLst>
                  <a:ext uri="{FF2B5EF4-FFF2-40B4-BE49-F238E27FC236}">
                    <a16:creationId xmlns:a16="http://schemas.microsoft.com/office/drawing/2014/main" id="{D5573773-D850-4D50-DC13-6F50D9E2136C}"/>
                  </a:ext>
                </a:extLst>
              </p:cNvPr>
              <p:cNvPicPr/>
              <p:nvPr/>
            </p:nvPicPr>
            <p:blipFill>
              <a:blip r:embed="rId3"/>
              <a:stretch>
                <a:fillRect/>
              </a:stretch>
            </p:blipFill>
            <p:spPr>
              <a:xfrm>
                <a:off x="2960691" y="1916006"/>
                <a:ext cx="847800" cy="679680"/>
              </a:xfrm>
              <a:prstGeom prst="rect">
                <a:avLst/>
              </a:prstGeom>
            </p:spPr>
          </p:pic>
        </mc:Fallback>
      </mc:AlternateContent>
    </p:spTree>
    <p:extLst>
      <p:ext uri="{BB962C8B-B14F-4D97-AF65-F5344CB8AC3E}">
        <p14:creationId xmlns:p14="http://schemas.microsoft.com/office/powerpoint/2010/main" val="96045406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1771119E-678F-454A-8D6E-A9508C663463}"/>
              </a:ext>
            </a:extLst>
          </p:cNvPr>
          <p:cNvSpPr>
            <a:spLocks noGrp="1"/>
          </p:cNvSpPr>
          <p:nvPr>
            <p:ph type="sldNum" sz="quarter" idx="12"/>
          </p:nvPr>
        </p:nvSpPr>
        <p:spPr/>
        <p:txBody>
          <a:bodyPr/>
          <a:lstStyle/>
          <a:p>
            <a:fld id="{14659731-6BD7-46E7-8D3C-2F3AC07E20B1}" type="slidenum">
              <a:rPr lang="en-US" altLang="zh-CN" smtClean="0"/>
              <a:pPr/>
              <a:t>53</a:t>
            </a:fld>
            <a:endParaRPr lang="en-US" altLang="zh-CN"/>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255A5B7B-E0D7-6E44-8E20-DAB8735F55FC}"/>
                  </a:ext>
                </a:extLst>
              </p:cNvPr>
              <p:cNvSpPr>
                <a:spLocks noGrp="1"/>
              </p:cNvSpPr>
              <p:nvPr>
                <p:ph idx="4294967295"/>
              </p:nvPr>
            </p:nvSpPr>
            <p:spPr>
              <a:xfrm>
                <a:off x="457200" y="1426643"/>
                <a:ext cx="8686800" cy="4138788"/>
              </a:xfrm>
            </p:spPr>
            <p:txBody>
              <a:bodyPr/>
              <a:lstStyle/>
              <a:p>
                <a:r>
                  <a:rPr kumimoji="1" lang="zh-CN" altLang="en-US" sz="2800" dirty="0"/>
                  <a:t>找到对应的寄存器，从</a:t>
                </a:r>
                <a:r>
                  <a:rPr kumimoji="1" lang="zh-CN" altLang="en-US" sz="2800" dirty="0">
                    <a:solidFill>
                      <a:srgbClr val="0432FF"/>
                    </a:solidFill>
                  </a:rPr>
                  <a:t>寄存器</a:t>
                </a:r>
                <a:r>
                  <a:rPr kumimoji="1" lang="zh-CN" altLang="en-US" sz="2800" dirty="0"/>
                  <a:t>中取数</a:t>
                </a:r>
                <a:r>
                  <a:rPr kumimoji="1" lang="en-US" altLang="zh-CN" sz="2800" dirty="0"/>
                  <a:t>/</a:t>
                </a:r>
                <a:r>
                  <a:rPr kumimoji="1" lang="zh-CN" altLang="en-US" sz="2800" dirty="0"/>
                  <a:t>写数</a:t>
                </a:r>
                <a:endParaRPr kumimoji="1" lang="en-US" altLang="zh-CN" sz="2800" dirty="0"/>
              </a:p>
              <a:p>
                <a:pPr lvl="1"/>
                <a:r>
                  <a:rPr lang="en-US" altLang="zh-CN" sz="2400" dirty="0"/>
                  <a:t>MIPS</a:t>
                </a:r>
                <a:r>
                  <a:rPr lang="zh-CN" altLang="en-US" sz="2400" dirty="0"/>
                  <a:t>算术运算指令的操作数可从</a:t>
                </a:r>
                <a:r>
                  <a:rPr lang="en-US" altLang="zh-CN" sz="2400" dirty="0"/>
                  <a:t>32</a:t>
                </a:r>
                <a:r>
                  <a:rPr lang="zh-CN" altLang="en-US" sz="2400" dirty="0"/>
                  <a:t>个</a:t>
                </a:r>
                <a:r>
                  <a:rPr lang="en-US" altLang="zh-CN" sz="2400" dirty="0"/>
                  <a:t>32</a:t>
                </a:r>
                <a:r>
                  <a:rPr lang="zh-CN" altLang="en-US" sz="2400" dirty="0"/>
                  <a:t>位寄存器中选取</a:t>
                </a:r>
                <a:endParaRPr lang="en-US" altLang="zh-CN" sz="2400" dirty="0"/>
              </a:p>
              <a:p>
                <a:r>
                  <a:rPr kumimoji="1" lang="zh-CN" altLang="en-US" sz="2800" dirty="0"/>
                  <a:t>例：计算 </a:t>
                </a:r>
                <a14:m>
                  <m:oMath xmlns:m="http://schemas.openxmlformats.org/officeDocument/2006/math">
                    <m:r>
                      <m:rPr>
                        <m:nor/>
                      </m:rPr>
                      <a:rPr kumimoji="1" lang="en-US" altLang="zh-CN" sz="2800" i="0" dirty="0" smtClean="0"/>
                      <m:t>(</m:t>
                    </m:r>
                    <m:r>
                      <m:rPr>
                        <m:nor/>
                      </m:rPr>
                      <a:rPr kumimoji="1" lang="en-US" altLang="zh-CN" sz="2800" i="0" dirty="0" err="1" smtClean="0"/>
                      <m:t>g</m:t>
                    </m:r>
                    <m:r>
                      <m:rPr>
                        <m:nor/>
                      </m:rPr>
                      <a:rPr kumimoji="1" lang="en-US" altLang="zh-CN" sz="2800" b="0" i="0" dirty="0" smtClean="0"/>
                      <m:t> </m:t>
                    </m:r>
                    <m:r>
                      <m:rPr>
                        <m:nor/>
                      </m:rPr>
                      <a:rPr kumimoji="1" lang="en-US" altLang="zh-CN" sz="2800" i="0" dirty="0" err="1" smtClean="0"/>
                      <m:t>+</m:t>
                    </m:r>
                    <m:r>
                      <m:rPr>
                        <m:nor/>
                      </m:rPr>
                      <a:rPr kumimoji="1" lang="en-US" altLang="zh-CN" sz="2800" b="0" i="0" dirty="0" smtClean="0"/>
                      <m:t> </m:t>
                    </m:r>
                    <m:r>
                      <m:rPr>
                        <m:nor/>
                      </m:rPr>
                      <a:rPr kumimoji="1" lang="en-US" altLang="zh-CN" sz="2800" i="0" dirty="0" err="1" smtClean="0"/>
                      <m:t>h</m:t>
                    </m:r>
                    <m:r>
                      <m:rPr>
                        <m:nor/>
                      </m:rPr>
                      <a:rPr kumimoji="1" lang="en-US" altLang="zh-CN" sz="2800" i="0" dirty="0" smtClean="0"/>
                      <m:t>)</m:t>
                    </m:r>
                    <m:r>
                      <m:rPr>
                        <m:nor/>
                      </m:rPr>
                      <a:rPr kumimoji="1" lang="en-US" altLang="zh-CN" sz="2800" b="0" i="0" dirty="0" smtClean="0"/>
                      <m:t> </m:t>
                    </m:r>
                    <m:r>
                      <m:rPr>
                        <m:nor/>
                      </m:rPr>
                      <a:rPr kumimoji="1" lang="en-US" altLang="zh-CN" sz="2800" i="0" dirty="0" smtClean="0"/>
                      <m:t>−</m:t>
                    </m:r>
                    <m:r>
                      <m:rPr>
                        <m:nor/>
                      </m:rPr>
                      <a:rPr kumimoji="1" lang="en-US" altLang="zh-CN" sz="2800" b="0" i="0" dirty="0" smtClean="0"/>
                      <m:t> </m:t>
                    </m:r>
                    <m:r>
                      <m:rPr>
                        <m:nor/>
                      </m:rPr>
                      <a:rPr kumimoji="1" lang="en-US" altLang="zh-CN" sz="2800" i="0" dirty="0" smtClean="0"/>
                      <m:t>(</m:t>
                    </m:r>
                    <m:r>
                      <m:rPr>
                        <m:nor/>
                      </m:rPr>
                      <a:rPr kumimoji="1" lang="en-US" altLang="zh-CN" sz="2800" i="0" dirty="0" err="1" smtClean="0"/>
                      <m:t>i</m:t>
                    </m:r>
                    <m:r>
                      <m:rPr>
                        <m:nor/>
                      </m:rPr>
                      <a:rPr kumimoji="1" lang="en-US" altLang="zh-CN" sz="2800" b="0" i="0" dirty="0" smtClean="0"/>
                      <m:t> </m:t>
                    </m:r>
                    <m:r>
                      <m:rPr>
                        <m:nor/>
                      </m:rPr>
                      <a:rPr kumimoji="1" lang="en-US" altLang="zh-CN" sz="2800" i="0" dirty="0" err="1" smtClean="0"/>
                      <m:t>+</m:t>
                    </m:r>
                    <m:r>
                      <m:rPr>
                        <m:nor/>
                      </m:rPr>
                      <a:rPr kumimoji="1" lang="en-US" altLang="zh-CN" sz="2800" b="0" i="0" dirty="0" smtClean="0"/>
                      <m:t> </m:t>
                    </m:r>
                    <m:r>
                      <m:rPr>
                        <m:nor/>
                      </m:rPr>
                      <a:rPr kumimoji="1" lang="en-US" altLang="zh-CN" sz="2800" i="0" dirty="0" err="1" smtClean="0"/>
                      <m:t>j</m:t>
                    </m:r>
                    <m:r>
                      <m:rPr>
                        <m:nor/>
                      </m:rPr>
                      <a:rPr kumimoji="1" lang="en-US" altLang="zh-CN" sz="2800" i="0" dirty="0" smtClean="0"/>
                      <m:t>)</m:t>
                    </m:r>
                  </m:oMath>
                </a14:m>
                <a:endParaRPr kumimoji="1" lang="zh-CN" altLang="en-US" sz="2800" dirty="0"/>
              </a:p>
            </p:txBody>
          </p:sp>
        </mc:Choice>
        <mc:Fallback xmlns="">
          <p:sp>
            <p:nvSpPr>
              <p:cNvPr id="3" name="内容占位符 2">
                <a:extLst>
                  <a:ext uri="{FF2B5EF4-FFF2-40B4-BE49-F238E27FC236}">
                    <a16:creationId xmlns:a16="http://schemas.microsoft.com/office/drawing/2014/main" id="{255A5B7B-E0D7-6E44-8E20-DAB8735F55FC}"/>
                  </a:ext>
                </a:extLst>
              </p:cNvPr>
              <p:cNvSpPr>
                <a:spLocks noGrp="1" noRot="1" noChangeAspect="1" noMove="1" noResize="1" noEditPoints="1" noAdjustHandles="1" noChangeArrowheads="1" noChangeShapeType="1" noTextEdit="1"/>
              </p:cNvSpPr>
              <p:nvPr>
                <p:ph idx="4294967295"/>
              </p:nvPr>
            </p:nvSpPr>
            <p:spPr>
              <a:xfrm>
                <a:off x="457200" y="1426643"/>
                <a:ext cx="8686800" cy="4138788"/>
              </a:xfrm>
              <a:blipFill>
                <a:blip r:embed="rId3"/>
                <a:stretch>
                  <a:fillRect l="-1316" t="-1835"/>
                </a:stretch>
              </a:blipFill>
            </p:spPr>
            <p:txBody>
              <a:bodyPr/>
              <a:lstStyle/>
              <a:p>
                <a:r>
                  <a:rPr lang="zh-CN" altLang="en-US">
                    <a:noFill/>
                  </a:rPr>
                  <a:t> </a:t>
                </a:r>
              </a:p>
            </p:txBody>
          </p:sp>
        </mc:Fallback>
      </mc:AlternateContent>
      <p:sp>
        <p:nvSpPr>
          <p:cNvPr id="5" name="Text Box 9">
            <a:extLst>
              <a:ext uri="{FF2B5EF4-FFF2-40B4-BE49-F238E27FC236}">
                <a16:creationId xmlns:a16="http://schemas.microsoft.com/office/drawing/2014/main" id="{C5E23A58-BF8C-8E4C-AE0F-51CDA932D016}"/>
              </a:ext>
            </a:extLst>
          </p:cNvPr>
          <p:cNvSpPr txBox="1">
            <a:spLocks noChangeArrowheads="1"/>
          </p:cNvSpPr>
          <p:nvPr/>
        </p:nvSpPr>
        <p:spPr bwMode="auto">
          <a:xfrm>
            <a:off x="1102626" y="3109189"/>
            <a:ext cx="7837278" cy="184665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FF0000"/>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l" eaLnBrk="1" hangingPunct="1"/>
            <a:r>
              <a:rPr kumimoji="1" lang="en-US" altLang="zh-CN" sz="2200" b="0" i="1" dirty="0">
                <a:latin typeface="Consolas" panose="020B0609020204030204" pitchFamily="49" charset="0"/>
                <a:ea typeface="Microsoft YaHei" charset="0"/>
                <a:cs typeface="Consolas" panose="020B0609020204030204" pitchFamily="49" charset="0"/>
              </a:rPr>
              <a:t>add $t0, $s1, $s2   </a:t>
            </a:r>
            <a:r>
              <a:rPr lang="en-US" altLang="zh-CN" sz="2200" dirty="0">
                <a:solidFill>
                  <a:srgbClr val="0000FF"/>
                </a:solidFill>
                <a:latin typeface="Consolas" panose="020B0609020204030204" pitchFamily="49" charset="0"/>
                <a:ea typeface="+mj-ea"/>
                <a:cs typeface="Consolas" panose="020B0609020204030204" pitchFamily="49" charset="0"/>
              </a:rPr>
              <a:t># </a:t>
            </a:r>
            <a:r>
              <a:rPr lang="zh-CN" altLang="en-US" sz="2200" dirty="0">
                <a:solidFill>
                  <a:srgbClr val="0000FF"/>
                </a:solidFill>
                <a:latin typeface="Consolas" panose="020B0609020204030204" pitchFamily="49" charset="0"/>
                <a:ea typeface="+mj-ea"/>
                <a:cs typeface="Consolas" panose="020B0609020204030204" pitchFamily="49" charset="0"/>
              </a:rPr>
              <a:t>寄存器</a:t>
            </a:r>
            <a:r>
              <a:rPr lang="en-US" altLang="zh-CN" sz="2200" dirty="0">
                <a:solidFill>
                  <a:srgbClr val="0000FF"/>
                </a:solidFill>
                <a:latin typeface="Consolas" panose="020B0609020204030204" pitchFamily="49" charset="0"/>
                <a:ea typeface="+mj-ea"/>
                <a:cs typeface="Consolas" panose="020B0609020204030204" pitchFamily="49" charset="0"/>
              </a:rPr>
              <a:t>$t0</a:t>
            </a:r>
            <a:r>
              <a:rPr lang="zh-CN" altLang="en-US" sz="2200" dirty="0">
                <a:solidFill>
                  <a:srgbClr val="0000FF"/>
                </a:solidFill>
                <a:latin typeface="Consolas" panose="020B0609020204030204" pitchFamily="49" charset="0"/>
                <a:ea typeface="+mj-ea"/>
                <a:cs typeface="Consolas" panose="020B0609020204030204" pitchFamily="49" charset="0"/>
              </a:rPr>
              <a:t>的内容为</a:t>
            </a:r>
            <a:r>
              <a:rPr lang="zh-CN" altLang="en-US" sz="2200" dirty="0">
                <a:latin typeface="Consolas" panose="020B0609020204030204" pitchFamily="49" charset="0"/>
                <a:ea typeface="+mj-ea"/>
                <a:cs typeface="Consolas" panose="020B0609020204030204" pitchFamily="49" charset="0"/>
              </a:rPr>
              <a:t> </a:t>
            </a:r>
            <a:r>
              <a:rPr lang="en-US" altLang="zh-CN" sz="2200" dirty="0" err="1">
                <a:solidFill>
                  <a:srgbClr val="0000FF"/>
                </a:solidFill>
                <a:latin typeface="Consolas" panose="020B0609020204030204" pitchFamily="49" charset="0"/>
                <a:ea typeface="+mj-ea"/>
                <a:cs typeface="Consolas" panose="020B0609020204030204" pitchFamily="49" charset="0"/>
              </a:rPr>
              <a:t>g+h</a:t>
            </a:r>
            <a:endParaRPr lang="en-US" altLang="zh-CN" sz="2200" dirty="0">
              <a:solidFill>
                <a:srgbClr val="0000FF"/>
              </a:solidFill>
              <a:latin typeface="Consolas" panose="020B0609020204030204" pitchFamily="49" charset="0"/>
              <a:ea typeface="+mj-ea"/>
              <a:cs typeface="Consolas" panose="020B0609020204030204" pitchFamily="49" charset="0"/>
            </a:endParaRPr>
          </a:p>
          <a:p>
            <a:pPr algn="l" eaLnBrk="1" hangingPunct="1"/>
            <a:r>
              <a:rPr kumimoji="1" lang="en-US" altLang="zh-CN" sz="2200" b="0" i="1" dirty="0">
                <a:latin typeface="Consolas" panose="020B0609020204030204" pitchFamily="49" charset="0"/>
                <a:ea typeface="Microsoft YaHei" charset="0"/>
                <a:cs typeface="Consolas" panose="020B0609020204030204" pitchFamily="49" charset="0"/>
              </a:rPr>
              <a:t>add $t1, $s3, $s4   </a:t>
            </a:r>
            <a:r>
              <a:rPr lang="en-US" altLang="zh-CN" sz="2200" dirty="0">
                <a:solidFill>
                  <a:srgbClr val="0000FF"/>
                </a:solidFill>
                <a:latin typeface="Consolas" panose="020B0609020204030204" pitchFamily="49" charset="0"/>
                <a:ea typeface="+mj-ea"/>
                <a:cs typeface="Consolas" panose="020B0609020204030204" pitchFamily="49" charset="0"/>
              </a:rPr>
              <a:t># </a:t>
            </a:r>
            <a:r>
              <a:rPr lang="zh-CN" altLang="en-US" sz="2200" dirty="0">
                <a:solidFill>
                  <a:srgbClr val="0000FF"/>
                </a:solidFill>
                <a:latin typeface="Consolas" panose="020B0609020204030204" pitchFamily="49" charset="0"/>
                <a:ea typeface="+mj-ea"/>
                <a:cs typeface="Consolas" panose="020B0609020204030204" pitchFamily="49" charset="0"/>
              </a:rPr>
              <a:t>寄存器</a:t>
            </a:r>
            <a:r>
              <a:rPr lang="en-US" altLang="zh-CN" sz="2200" dirty="0">
                <a:solidFill>
                  <a:srgbClr val="0000FF"/>
                </a:solidFill>
                <a:latin typeface="Consolas" panose="020B0609020204030204" pitchFamily="49" charset="0"/>
                <a:ea typeface="+mj-ea"/>
                <a:cs typeface="Consolas" panose="020B0609020204030204" pitchFamily="49" charset="0"/>
              </a:rPr>
              <a:t>$t1</a:t>
            </a:r>
            <a:r>
              <a:rPr lang="zh-CN" altLang="en-US" sz="2200" dirty="0">
                <a:solidFill>
                  <a:srgbClr val="0000FF"/>
                </a:solidFill>
                <a:latin typeface="Consolas" panose="020B0609020204030204" pitchFamily="49" charset="0"/>
                <a:ea typeface="+mj-ea"/>
                <a:cs typeface="Consolas" panose="020B0609020204030204" pitchFamily="49" charset="0"/>
              </a:rPr>
              <a:t>的内容为</a:t>
            </a:r>
            <a:r>
              <a:rPr lang="zh-CN" altLang="en-US" sz="2200" dirty="0">
                <a:latin typeface="Consolas" panose="020B0609020204030204" pitchFamily="49" charset="0"/>
                <a:ea typeface="+mj-ea"/>
                <a:cs typeface="Consolas" panose="020B0609020204030204" pitchFamily="49" charset="0"/>
              </a:rPr>
              <a:t> </a:t>
            </a:r>
            <a:r>
              <a:rPr lang="en-US" altLang="zh-CN" sz="2200" dirty="0" err="1">
                <a:solidFill>
                  <a:srgbClr val="0000FF"/>
                </a:solidFill>
                <a:latin typeface="Consolas" panose="020B0609020204030204" pitchFamily="49" charset="0"/>
                <a:ea typeface="+mj-ea"/>
                <a:cs typeface="Consolas" panose="020B0609020204030204" pitchFamily="49" charset="0"/>
              </a:rPr>
              <a:t>i+j</a:t>
            </a:r>
            <a:endParaRPr lang="en-US" altLang="zh-CN" sz="2200" dirty="0">
              <a:solidFill>
                <a:srgbClr val="0000FF"/>
              </a:solidFill>
              <a:latin typeface="Consolas" panose="020B0609020204030204" pitchFamily="49" charset="0"/>
              <a:ea typeface="+mj-ea"/>
              <a:cs typeface="Consolas" panose="020B0609020204030204" pitchFamily="49" charset="0"/>
            </a:endParaRPr>
          </a:p>
          <a:p>
            <a:pPr algn="l" eaLnBrk="1" hangingPunct="1"/>
            <a:r>
              <a:rPr kumimoji="1" lang="en-US" altLang="zh-CN" sz="2200" b="0" i="1" dirty="0">
                <a:latin typeface="Consolas" panose="020B0609020204030204" pitchFamily="49" charset="0"/>
                <a:ea typeface="Microsoft YaHei" charset="0"/>
                <a:cs typeface="Consolas" panose="020B0609020204030204" pitchFamily="49" charset="0"/>
              </a:rPr>
              <a:t>sub $s0, $t0, $t1   </a:t>
            </a:r>
            <a:r>
              <a:rPr lang="en-US" altLang="zh-CN" sz="2200" dirty="0">
                <a:solidFill>
                  <a:srgbClr val="0000FF"/>
                </a:solidFill>
                <a:latin typeface="Consolas" panose="020B0609020204030204" pitchFamily="49" charset="0"/>
                <a:ea typeface="+mj-ea"/>
                <a:cs typeface="Consolas" panose="020B0609020204030204" pitchFamily="49" charset="0"/>
              </a:rPr>
              <a:t># </a:t>
            </a:r>
            <a:r>
              <a:rPr lang="zh-CN" altLang="en-US" sz="2200" dirty="0">
                <a:solidFill>
                  <a:srgbClr val="0000FF"/>
                </a:solidFill>
                <a:latin typeface="Consolas" panose="020B0609020204030204" pitchFamily="49" charset="0"/>
                <a:ea typeface="+mj-ea"/>
                <a:cs typeface="Consolas" panose="020B0609020204030204" pitchFamily="49" charset="0"/>
              </a:rPr>
              <a:t>寄存器</a:t>
            </a:r>
            <a:r>
              <a:rPr lang="en-US" altLang="zh-CN" sz="2200" dirty="0">
                <a:solidFill>
                  <a:srgbClr val="0000FF"/>
                </a:solidFill>
                <a:latin typeface="Consolas" panose="020B0609020204030204" pitchFamily="49" charset="0"/>
                <a:ea typeface="+mj-ea"/>
                <a:cs typeface="Consolas" panose="020B0609020204030204" pitchFamily="49" charset="0"/>
              </a:rPr>
              <a:t>$s0</a:t>
            </a:r>
            <a:r>
              <a:rPr lang="zh-CN" altLang="en-US" sz="2200" dirty="0">
                <a:solidFill>
                  <a:srgbClr val="0000FF"/>
                </a:solidFill>
                <a:latin typeface="Consolas" panose="020B0609020204030204" pitchFamily="49" charset="0"/>
                <a:ea typeface="+mj-ea"/>
                <a:cs typeface="Consolas" panose="020B0609020204030204" pitchFamily="49" charset="0"/>
              </a:rPr>
              <a:t>的内容为</a:t>
            </a:r>
            <a:r>
              <a:rPr lang="zh-CN" altLang="en-US" sz="2200" dirty="0">
                <a:latin typeface="Consolas" panose="020B0609020204030204" pitchFamily="49" charset="0"/>
                <a:ea typeface="+mj-ea"/>
                <a:cs typeface="Consolas" panose="020B0609020204030204" pitchFamily="49" charset="0"/>
              </a:rPr>
              <a:t> </a:t>
            </a:r>
            <a:r>
              <a:rPr lang="en-US" altLang="zh-CN" sz="2200" dirty="0">
                <a:solidFill>
                  <a:srgbClr val="0000FF"/>
                </a:solidFill>
                <a:latin typeface="Consolas" panose="020B0609020204030204" pitchFamily="49" charset="0"/>
                <a:ea typeface="+mj-ea"/>
                <a:cs typeface="Consolas" panose="020B0609020204030204" pitchFamily="49" charset="0"/>
              </a:rPr>
              <a:t>(</a:t>
            </a:r>
            <a:r>
              <a:rPr lang="en-US" altLang="zh-CN" sz="2200" dirty="0" err="1">
                <a:solidFill>
                  <a:srgbClr val="0000FF"/>
                </a:solidFill>
                <a:latin typeface="Consolas" panose="020B0609020204030204" pitchFamily="49" charset="0"/>
                <a:ea typeface="+mj-ea"/>
                <a:cs typeface="Consolas" panose="020B0609020204030204" pitchFamily="49" charset="0"/>
              </a:rPr>
              <a:t>g+h</a:t>
            </a:r>
            <a:r>
              <a:rPr lang="en-US" altLang="zh-CN" sz="2200" dirty="0">
                <a:solidFill>
                  <a:srgbClr val="0000FF"/>
                </a:solidFill>
                <a:latin typeface="Consolas" panose="020B0609020204030204" pitchFamily="49" charset="0"/>
                <a:ea typeface="+mj-ea"/>
                <a:cs typeface="Consolas" panose="020B0609020204030204" pitchFamily="49" charset="0"/>
              </a:rPr>
              <a:t>)-(</a:t>
            </a:r>
            <a:r>
              <a:rPr lang="en-US" altLang="zh-CN" sz="2200" dirty="0" err="1">
                <a:solidFill>
                  <a:srgbClr val="0000FF"/>
                </a:solidFill>
                <a:latin typeface="Consolas" panose="020B0609020204030204" pitchFamily="49" charset="0"/>
                <a:ea typeface="+mj-ea"/>
                <a:cs typeface="Consolas" panose="020B0609020204030204" pitchFamily="49" charset="0"/>
              </a:rPr>
              <a:t>i+j</a:t>
            </a:r>
            <a:r>
              <a:rPr lang="en-US" altLang="zh-CN" sz="2200" dirty="0">
                <a:solidFill>
                  <a:srgbClr val="0000FF"/>
                </a:solidFill>
                <a:latin typeface="Consolas" panose="020B0609020204030204" pitchFamily="49" charset="0"/>
                <a:ea typeface="+mj-ea"/>
                <a:cs typeface="Consolas" panose="020B0609020204030204" pitchFamily="49" charset="0"/>
              </a:rPr>
              <a:t>)</a:t>
            </a:r>
          </a:p>
          <a:p>
            <a:pPr algn="l" eaLnBrk="1" hangingPunct="1"/>
            <a:endParaRPr lang="en-US" altLang="zh-CN" sz="2400" dirty="0">
              <a:solidFill>
                <a:srgbClr val="0000FF"/>
              </a:solidFill>
              <a:latin typeface="Consolas" panose="020B0609020204030204" pitchFamily="49" charset="0"/>
              <a:cs typeface="Consolas" panose="020B0609020204030204" pitchFamily="49" charset="0"/>
            </a:endParaRPr>
          </a:p>
          <a:p>
            <a:pPr algn="l" eaLnBrk="1" hangingPunct="1"/>
            <a:endParaRPr lang="en-US" altLang="zh-CN" sz="2400" b="0" dirty="0">
              <a:solidFill>
                <a:srgbClr val="0000FF"/>
              </a:solidFill>
              <a:latin typeface="Consolas" panose="020B0609020204030204" pitchFamily="49" charset="0"/>
              <a:cs typeface="Consolas" panose="020B0609020204030204" pitchFamily="49" charset="0"/>
            </a:endParaRPr>
          </a:p>
        </p:txBody>
      </p:sp>
      <p:grpSp>
        <p:nvGrpSpPr>
          <p:cNvPr id="6" name="Group 5">
            <a:extLst>
              <a:ext uri="{FF2B5EF4-FFF2-40B4-BE49-F238E27FC236}">
                <a16:creationId xmlns:a16="http://schemas.microsoft.com/office/drawing/2014/main" id="{20546148-E66A-6C4E-A5EC-37DF59BBDC30}"/>
              </a:ext>
            </a:extLst>
          </p:cNvPr>
          <p:cNvGrpSpPr>
            <a:grpSpLocks/>
          </p:cNvGrpSpPr>
          <p:nvPr/>
        </p:nvGrpSpPr>
        <p:grpSpPr bwMode="auto">
          <a:xfrm>
            <a:off x="457200" y="4699608"/>
            <a:ext cx="8482704" cy="969688"/>
            <a:chOff x="0" y="1081"/>
            <a:chExt cx="5594" cy="677"/>
          </a:xfrm>
        </p:grpSpPr>
        <p:pic>
          <p:nvPicPr>
            <p:cNvPr id="7" name="Picture 3" descr="F0317">
              <a:extLst>
                <a:ext uri="{FF2B5EF4-FFF2-40B4-BE49-F238E27FC236}">
                  <a16:creationId xmlns:a16="http://schemas.microsoft.com/office/drawing/2014/main" id="{6D084B07-5024-3145-AE5D-8BB9F374F89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7173" r="52493" b="74168"/>
            <a:stretch/>
          </p:blipFill>
          <p:spPr bwMode="auto">
            <a:xfrm>
              <a:off x="0" y="1174"/>
              <a:ext cx="3408" cy="5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8" name="Picture 4" descr="F0317">
              <a:extLst>
                <a:ext uri="{FF2B5EF4-FFF2-40B4-BE49-F238E27FC236}">
                  <a16:creationId xmlns:a16="http://schemas.microsoft.com/office/drawing/2014/main" id="{258FF814-37EE-744C-A79C-9397830602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52493" t="13994" b="74168"/>
            <a:stretch>
              <a:fillRect/>
            </a:stretch>
          </p:blipFill>
          <p:spPr bwMode="auto">
            <a:xfrm>
              <a:off x="2858" y="1081"/>
              <a:ext cx="2736" cy="6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
        <p:nvSpPr>
          <p:cNvPr id="9" name="Title 4">
            <a:extLst>
              <a:ext uri="{FF2B5EF4-FFF2-40B4-BE49-F238E27FC236}">
                <a16:creationId xmlns:a16="http://schemas.microsoft.com/office/drawing/2014/main" id="{B8D018ED-DFA8-0405-55F5-5799AD05C03F}"/>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kumimoji="1" lang="zh-CN" altLang="en-US" dirty="0"/>
              <a:t>寄存器寻址</a:t>
            </a:r>
            <a:endParaRPr lang="en-CN" kern="0" dirty="0"/>
          </a:p>
        </p:txBody>
      </p:sp>
    </p:spTree>
    <p:extLst>
      <p:ext uri="{BB962C8B-B14F-4D97-AF65-F5344CB8AC3E}">
        <p14:creationId xmlns:p14="http://schemas.microsoft.com/office/powerpoint/2010/main" val="51778598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1771119E-678F-454A-8D6E-A9508C663463}"/>
              </a:ext>
            </a:extLst>
          </p:cNvPr>
          <p:cNvSpPr>
            <a:spLocks noGrp="1"/>
          </p:cNvSpPr>
          <p:nvPr>
            <p:ph type="sldNum" sz="quarter" idx="12"/>
          </p:nvPr>
        </p:nvSpPr>
        <p:spPr/>
        <p:txBody>
          <a:bodyPr/>
          <a:lstStyle/>
          <a:p>
            <a:fld id="{14659731-6BD7-46E7-8D3C-2F3AC07E20B1}" type="slidenum">
              <a:rPr lang="en-US" altLang="zh-CN" smtClean="0"/>
              <a:pPr/>
              <a:t>54</a:t>
            </a:fld>
            <a:endParaRPr lang="en-US" altLang="zh-CN"/>
          </a:p>
        </p:txBody>
      </p:sp>
      <p:sp>
        <p:nvSpPr>
          <p:cNvPr id="3" name="内容占位符 2">
            <a:extLst>
              <a:ext uri="{FF2B5EF4-FFF2-40B4-BE49-F238E27FC236}">
                <a16:creationId xmlns:a16="http://schemas.microsoft.com/office/drawing/2014/main" id="{255A5B7B-E0D7-6E44-8E20-DAB8735F55FC}"/>
              </a:ext>
            </a:extLst>
          </p:cNvPr>
          <p:cNvSpPr>
            <a:spLocks noGrp="1"/>
          </p:cNvSpPr>
          <p:nvPr>
            <p:ph idx="4294967295"/>
          </p:nvPr>
        </p:nvSpPr>
        <p:spPr>
          <a:xfrm>
            <a:off x="457200" y="1468786"/>
            <a:ext cx="7886700" cy="4351338"/>
          </a:xfrm>
        </p:spPr>
        <p:txBody>
          <a:bodyPr/>
          <a:lstStyle/>
          <a:p>
            <a:r>
              <a:rPr kumimoji="1" lang="zh-CN" altLang="en-US" sz="2800" dirty="0"/>
              <a:t>“访存”指令中的</a:t>
            </a:r>
            <a:r>
              <a:rPr kumimoji="1" lang="zh-CN" altLang="en-US" sz="2800" dirty="0">
                <a:solidFill>
                  <a:srgbClr val="0432FF"/>
                </a:solidFill>
              </a:rPr>
              <a:t>立即数</a:t>
            </a:r>
            <a:r>
              <a:rPr kumimoji="1" lang="zh-CN" altLang="en-US" sz="2800" dirty="0"/>
              <a:t>可以被直接使用</a:t>
            </a:r>
            <a:endParaRPr kumimoji="1" lang="en-US" altLang="zh-CN" sz="2800" dirty="0"/>
          </a:p>
          <a:p>
            <a:r>
              <a:rPr kumimoji="1" lang="zh-CN" altLang="en-US" sz="2800" dirty="0"/>
              <a:t>对于常数操作数，在指令中加入立即数字段，比存储器访问快得多</a:t>
            </a:r>
            <a:endParaRPr kumimoji="1" lang="en-US" altLang="zh-CN" sz="2800" dirty="0"/>
          </a:p>
        </p:txBody>
      </p:sp>
      <p:sp>
        <p:nvSpPr>
          <p:cNvPr id="9" name="矩形 8">
            <a:extLst>
              <a:ext uri="{FF2B5EF4-FFF2-40B4-BE49-F238E27FC236}">
                <a16:creationId xmlns:a16="http://schemas.microsoft.com/office/drawing/2014/main" id="{72774AE8-C941-7F42-98BD-E3F3B59EE975}"/>
              </a:ext>
            </a:extLst>
          </p:cNvPr>
          <p:cNvSpPr/>
          <p:nvPr/>
        </p:nvSpPr>
        <p:spPr>
          <a:xfrm>
            <a:off x="204787" y="5102225"/>
            <a:ext cx="175459" cy="2845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 Box 7">
            <a:extLst>
              <a:ext uri="{FF2B5EF4-FFF2-40B4-BE49-F238E27FC236}">
                <a16:creationId xmlns:a16="http://schemas.microsoft.com/office/drawing/2014/main" id="{DC46C492-F19B-C24A-878F-A6D34A80C465}"/>
              </a:ext>
            </a:extLst>
          </p:cNvPr>
          <p:cNvSpPr txBox="1">
            <a:spLocks noChangeArrowheads="1"/>
          </p:cNvSpPr>
          <p:nvPr/>
        </p:nvSpPr>
        <p:spPr bwMode="auto">
          <a:xfrm>
            <a:off x="532431" y="3596558"/>
            <a:ext cx="4442639" cy="1508105"/>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l" eaLnBrk="1" hangingPunct="1"/>
            <a:r>
              <a:rPr lang="en-US" altLang="zh-CN" sz="2400" i="1" dirty="0">
                <a:latin typeface="Consolas" panose="020B0609020204030204" pitchFamily="49" charset="0"/>
              </a:rPr>
              <a:t>lw $t0, addr($zero) </a:t>
            </a:r>
          </a:p>
          <a:p>
            <a:pPr algn="l" eaLnBrk="1" hangingPunct="1"/>
            <a:r>
              <a:rPr lang="en-US" altLang="zh-CN" sz="2400" dirty="0">
                <a:solidFill>
                  <a:srgbClr val="0000FF"/>
                </a:solidFill>
                <a:latin typeface="+mj-ea"/>
                <a:ea typeface="+mj-ea"/>
              </a:rPr>
              <a:t># </a:t>
            </a:r>
            <a:r>
              <a:rPr lang="zh-CN" altLang="en-US" sz="2400" dirty="0">
                <a:solidFill>
                  <a:srgbClr val="0000FF"/>
                </a:solidFill>
                <a:latin typeface="+mj-ea"/>
                <a:ea typeface="+mj-ea"/>
              </a:rPr>
              <a:t>假设地址</a:t>
            </a:r>
            <a:r>
              <a:rPr lang="en-US" altLang="zh-CN" sz="2400" i="1" dirty="0" err="1">
                <a:solidFill>
                  <a:srgbClr val="0000FF"/>
                </a:solidFill>
                <a:latin typeface="+mj-ea"/>
                <a:ea typeface="+mj-ea"/>
              </a:rPr>
              <a:t>addr</a:t>
            </a:r>
            <a:r>
              <a:rPr lang="zh-CN" altLang="en-US" sz="2400" dirty="0">
                <a:solidFill>
                  <a:srgbClr val="0000FF"/>
                </a:solidFill>
                <a:latin typeface="+mj-ea"/>
                <a:ea typeface="+mj-ea"/>
              </a:rPr>
              <a:t>存储了常数</a:t>
            </a:r>
            <a:r>
              <a:rPr lang="en-US" altLang="zh-CN" sz="2400" dirty="0">
                <a:solidFill>
                  <a:srgbClr val="0000FF"/>
                </a:solidFill>
                <a:latin typeface="+mj-ea"/>
                <a:ea typeface="+mj-ea"/>
              </a:rPr>
              <a:t>4</a:t>
            </a:r>
          </a:p>
          <a:p>
            <a:pPr algn="l" eaLnBrk="1" hangingPunct="1"/>
            <a:r>
              <a:rPr lang="en-US" altLang="zh-CN" sz="2200" i="1" dirty="0">
                <a:latin typeface="Consolas" panose="020B0609020204030204" pitchFamily="49" charset="0"/>
              </a:rPr>
              <a:t>add $ </a:t>
            </a:r>
            <a:r>
              <a:rPr lang="en-US" altLang="zh-CN" sz="2200" i="1" dirty="0" err="1">
                <a:latin typeface="Consolas" panose="020B0609020204030204" pitchFamily="49" charset="0"/>
              </a:rPr>
              <a:t>sp</a:t>
            </a:r>
            <a:r>
              <a:rPr lang="en-US" altLang="zh-CN" sz="2200" i="1" dirty="0">
                <a:latin typeface="Consolas" panose="020B0609020204030204" pitchFamily="49" charset="0"/>
              </a:rPr>
              <a:t>, $</a:t>
            </a:r>
            <a:r>
              <a:rPr lang="en-US" altLang="zh-CN" sz="2200" i="1" dirty="0" err="1">
                <a:latin typeface="Consolas" panose="020B0609020204030204" pitchFamily="49" charset="0"/>
              </a:rPr>
              <a:t>sp</a:t>
            </a:r>
            <a:r>
              <a:rPr lang="en-US" altLang="zh-CN" sz="2200" i="1" dirty="0">
                <a:latin typeface="Consolas" panose="020B0609020204030204" pitchFamily="49" charset="0"/>
              </a:rPr>
              <a:t>, $t0</a:t>
            </a:r>
          </a:p>
          <a:p>
            <a:pPr algn="l" eaLnBrk="1" hangingPunct="1"/>
            <a:r>
              <a:rPr lang="en-US" altLang="zh-CN" sz="2200" i="1" dirty="0">
                <a:solidFill>
                  <a:srgbClr val="0000FF"/>
                </a:solidFill>
                <a:latin typeface="Consolas" panose="020B0609020204030204" pitchFamily="49" charset="0"/>
              </a:rPr>
              <a:t># $</a:t>
            </a:r>
            <a:r>
              <a:rPr lang="en-US" altLang="zh-CN" sz="2200" i="1" dirty="0" err="1">
                <a:solidFill>
                  <a:srgbClr val="0000FF"/>
                </a:solidFill>
                <a:latin typeface="Consolas" panose="020B0609020204030204" pitchFamily="49" charset="0"/>
              </a:rPr>
              <a:t>sp</a:t>
            </a:r>
            <a:r>
              <a:rPr lang="en-US" altLang="zh-CN" sz="2200" i="1" dirty="0">
                <a:solidFill>
                  <a:srgbClr val="0000FF"/>
                </a:solidFill>
                <a:latin typeface="Consolas" panose="020B0609020204030204" pitchFamily="49" charset="0"/>
              </a:rPr>
              <a:t> = $</a:t>
            </a:r>
            <a:r>
              <a:rPr lang="en-US" altLang="zh-CN" sz="2200" i="1" dirty="0" err="1">
                <a:solidFill>
                  <a:srgbClr val="0000FF"/>
                </a:solidFill>
                <a:latin typeface="Consolas" panose="020B0609020204030204" pitchFamily="49" charset="0"/>
              </a:rPr>
              <a:t>sp</a:t>
            </a:r>
            <a:r>
              <a:rPr lang="en-US" altLang="zh-CN" sz="2200" i="1" dirty="0">
                <a:solidFill>
                  <a:srgbClr val="0000FF"/>
                </a:solidFill>
                <a:latin typeface="Consolas" panose="020B0609020204030204" pitchFamily="49" charset="0"/>
              </a:rPr>
              <a:t> + $t0 ($t0 == 4)</a:t>
            </a:r>
            <a:endParaRPr lang="zh-CN" altLang="en-US" sz="2200" i="1" dirty="0">
              <a:solidFill>
                <a:srgbClr val="0000FF"/>
              </a:solidFill>
              <a:latin typeface="Consolas" panose="020B0609020204030204" pitchFamily="49" charset="0"/>
            </a:endParaRPr>
          </a:p>
        </p:txBody>
      </p:sp>
      <p:sp>
        <p:nvSpPr>
          <p:cNvPr id="11" name="文本框 10">
            <a:extLst>
              <a:ext uri="{FF2B5EF4-FFF2-40B4-BE49-F238E27FC236}">
                <a16:creationId xmlns:a16="http://schemas.microsoft.com/office/drawing/2014/main" id="{2501D55E-2DC2-5C40-9AFB-3C96CA3587C9}"/>
              </a:ext>
            </a:extLst>
          </p:cNvPr>
          <p:cNvSpPr txBox="1"/>
          <p:nvPr/>
        </p:nvSpPr>
        <p:spPr>
          <a:xfrm>
            <a:off x="3888159" y="2894164"/>
            <a:ext cx="1205779" cy="523220"/>
          </a:xfrm>
          <a:prstGeom prst="rect">
            <a:avLst/>
          </a:prstGeom>
          <a:noFill/>
        </p:spPr>
        <p:txBody>
          <a:bodyPr wrap="none" rtlCol="0">
            <a:spAutoFit/>
          </a:bodyPr>
          <a:lstStyle/>
          <a:p>
            <a:r>
              <a:rPr kumimoji="1" lang="en-US" altLang="zh-CN" sz="2800" dirty="0">
                <a:solidFill>
                  <a:srgbClr val="0432FF"/>
                </a:solidFill>
                <a:latin typeface="Consolas" panose="020B0609020204030204" pitchFamily="49" charset="0"/>
                <a:ea typeface="+mj-ea"/>
                <a:cs typeface="Consolas" panose="020B0609020204030204" pitchFamily="49" charset="0"/>
              </a:rPr>
              <a:t>a=a+4</a:t>
            </a:r>
            <a:endParaRPr kumimoji="1" lang="zh-CN" altLang="en-US" sz="2800" dirty="0">
              <a:solidFill>
                <a:srgbClr val="0432FF"/>
              </a:solidFill>
              <a:latin typeface="Consolas" panose="020B0609020204030204" pitchFamily="49" charset="0"/>
              <a:ea typeface="+mj-ea"/>
              <a:cs typeface="Consolas" panose="020B0609020204030204" pitchFamily="49" charset="0"/>
            </a:endParaRPr>
          </a:p>
        </p:txBody>
      </p:sp>
      <p:sp>
        <p:nvSpPr>
          <p:cNvPr id="12" name="文本框 11">
            <a:extLst>
              <a:ext uri="{FF2B5EF4-FFF2-40B4-BE49-F238E27FC236}">
                <a16:creationId xmlns:a16="http://schemas.microsoft.com/office/drawing/2014/main" id="{3E27EA49-C7ED-E141-8BE7-CC0D9F86E857}"/>
              </a:ext>
            </a:extLst>
          </p:cNvPr>
          <p:cNvSpPr txBox="1"/>
          <p:nvPr/>
        </p:nvSpPr>
        <p:spPr>
          <a:xfrm>
            <a:off x="1398359" y="5608128"/>
            <a:ext cx="2560317" cy="954107"/>
          </a:xfrm>
          <a:prstGeom prst="rect">
            <a:avLst/>
          </a:prstGeom>
          <a:noFill/>
        </p:spPr>
        <p:txBody>
          <a:bodyPr wrap="none" rtlCol="0">
            <a:spAutoFit/>
          </a:bodyPr>
          <a:lstStyle/>
          <a:p>
            <a:pPr algn="ctr"/>
            <a:r>
              <a:rPr kumimoji="1" lang="zh-CN" altLang="en-US" sz="2800" dirty="0">
                <a:solidFill>
                  <a:srgbClr val="0432FF"/>
                </a:solidFill>
                <a:latin typeface="+mj-ea"/>
                <a:ea typeface="+mj-ea"/>
              </a:rPr>
              <a:t>从存储器读出</a:t>
            </a:r>
            <a:r>
              <a:rPr kumimoji="1" lang="en-US" altLang="zh-CN" sz="2800" dirty="0">
                <a:solidFill>
                  <a:srgbClr val="0432FF"/>
                </a:solidFill>
                <a:latin typeface="+mj-ea"/>
                <a:ea typeface="+mj-ea"/>
              </a:rPr>
              <a:t>4</a:t>
            </a:r>
          </a:p>
          <a:p>
            <a:pPr algn="ctr"/>
            <a:r>
              <a:rPr kumimoji="1" lang="zh-CN" altLang="en-US" sz="2800" dirty="0">
                <a:solidFill>
                  <a:srgbClr val="FF0000"/>
                </a:solidFill>
                <a:latin typeface="+mj-ea"/>
                <a:ea typeface="+mj-ea"/>
              </a:rPr>
              <a:t>慢</a:t>
            </a:r>
          </a:p>
        </p:txBody>
      </p:sp>
      <p:sp>
        <p:nvSpPr>
          <p:cNvPr id="13" name="Text Box 8">
            <a:extLst>
              <a:ext uri="{FF2B5EF4-FFF2-40B4-BE49-F238E27FC236}">
                <a16:creationId xmlns:a16="http://schemas.microsoft.com/office/drawing/2014/main" id="{F7877AC5-2B52-FC4C-B35D-8F6E41543FF1}"/>
              </a:ext>
            </a:extLst>
          </p:cNvPr>
          <p:cNvSpPr txBox="1">
            <a:spLocks noChangeArrowheads="1"/>
          </p:cNvSpPr>
          <p:nvPr/>
        </p:nvSpPr>
        <p:spPr bwMode="auto">
          <a:xfrm>
            <a:off x="5310809" y="3596558"/>
            <a:ext cx="3375991" cy="830997"/>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eaLnBrk="1" hangingPunct="1"/>
            <a:r>
              <a:rPr lang="en-US" altLang="zh-CN" sz="2400" i="1" dirty="0">
                <a:latin typeface="Consolas" panose="020B0609020204030204" pitchFamily="49" charset="0"/>
              </a:rPr>
              <a:t>addi $sp, $sp, 4          </a:t>
            </a:r>
            <a:r>
              <a:rPr lang="en-US" altLang="zh-CN" sz="2200" i="1" dirty="0">
                <a:solidFill>
                  <a:srgbClr val="0000FF"/>
                </a:solidFill>
                <a:latin typeface="Consolas" panose="020B0609020204030204" pitchFamily="49" charset="0"/>
              </a:rPr>
              <a:t># $sp = $sp + 4 </a:t>
            </a:r>
            <a:endParaRPr lang="zh-CN" altLang="en-US" sz="2200" i="1" dirty="0">
              <a:solidFill>
                <a:srgbClr val="0000FF"/>
              </a:solidFill>
              <a:latin typeface="Consolas" panose="020B0609020204030204" pitchFamily="49" charset="0"/>
            </a:endParaRPr>
          </a:p>
        </p:txBody>
      </p:sp>
      <p:sp>
        <p:nvSpPr>
          <p:cNvPr id="14" name="文本框 13">
            <a:extLst>
              <a:ext uri="{FF2B5EF4-FFF2-40B4-BE49-F238E27FC236}">
                <a16:creationId xmlns:a16="http://schemas.microsoft.com/office/drawing/2014/main" id="{E282E20E-361E-7846-B312-11C7D69ABFE5}"/>
              </a:ext>
            </a:extLst>
          </p:cNvPr>
          <p:cNvSpPr txBox="1"/>
          <p:nvPr/>
        </p:nvSpPr>
        <p:spPr>
          <a:xfrm>
            <a:off x="5919021" y="5550610"/>
            <a:ext cx="2159566" cy="954107"/>
          </a:xfrm>
          <a:prstGeom prst="rect">
            <a:avLst/>
          </a:prstGeom>
          <a:noFill/>
        </p:spPr>
        <p:txBody>
          <a:bodyPr wrap="none" rtlCol="0">
            <a:spAutoFit/>
          </a:bodyPr>
          <a:lstStyle/>
          <a:p>
            <a:pPr algn="ctr"/>
            <a:r>
              <a:rPr kumimoji="1" lang="zh-CN" altLang="en-US" sz="2800" dirty="0">
                <a:solidFill>
                  <a:srgbClr val="0432FF"/>
                </a:solidFill>
                <a:latin typeface="+mj-ea"/>
                <a:ea typeface="+mj-ea"/>
              </a:rPr>
              <a:t>使用</a:t>
            </a:r>
            <a:r>
              <a:rPr kumimoji="1" lang="en-US" altLang="zh-CN" sz="2800" dirty="0">
                <a:solidFill>
                  <a:srgbClr val="0432FF"/>
                </a:solidFill>
                <a:latin typeface="+mj-ea"/>
                <a:ea typeface="+mj-ea"/>
              </a:rPr>
              <a:t>I</a:t>
            </a:r>
            <a:r>
              <a:rPr kumimoji="1" lang="zh-CN" altLang="en-US" sz="2800" dirty="0">
                <a:solidFill>
                  <a:srgbClr val="0432FF"/>
                </a:solidFill>
                <a:latin typeface="+mj-ea"/>
                <a:ea typeface="+mj-ea"/>
              </a:rPr>
              <a:t>型指令</a:t>
            </a:r>
            <a:endParaRPr kumimoji="1" lang="en-US" altLang="zh-CN" sz="2800" dirty="0">
              <a:solidFill>
                <a:srgbClr val="0432FF"/>
              </a:solidFill>
              <a:latin typeface="+mj-ea"/>
              <a:ea typeface="+mj-ea"/>
            </a:endParaRPr>
          </a:p>
          <a:p>
            <a:pPr algn="ctr"/>
            <a:r>
              <a:rPr kumimoji="1" lang="zh-CN" altLang="en-US" sz="2800" dirty="0">
                <a:solidFill>
                  <a:srgbClr val="FF0000"/>
                </a:solidFill>
                <a:latin typeface="+mj-ea"/>
                <a:ea typeface="+mj-ea"/>
              </a:rPr>
              <a:t>快</a:t>
            </a:r>
          </a:p>
        </p:txBody>
      </p:sp>
      <p:sp>
        <p:nvSpPr>
          <p:cNvPr id="5" name="Title 4">
            <a:extLst>
              <a:ext uri="{FF2B5EF4-FFF2-40B4-BE49-F238E27FC236}">
                <a16:creationId xmlns:a16="http://schemas.microsoft.com/office/drawing/2014/main" id="{1737CF3E-1C9D-7F76-1F4C-BF1D19C635EC}"/>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kumimoji="1" lang="zh-CN" altLang="en-US" dirty="0"/>
              <a:t>立即数寻址</a:t>
            </a:r>
            <a:endParaRPr lang="en-CN" kern="0" dirty="0"/>
          </a:p>
        </p:txBody>
      </p:sp>
    </p:spTree>
    <p:extLst>
      <p:ext uri="{BB962C8B-B14F-4D97-AF65-F5344CB8AC3E}">
        <p14:creationId xmlns:p14="http://schemas.microsoft.com/office/powerpoint/2010/main" val="305818997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1771119E-678F-454A-8D6E-A9508C663463}"/>
              </a:ext>
            </a:extLst>
          </p:cNvPr>
          <p:cNvSpPr>
            <a:spLocks noGrp="1"/>
          </p:cNvSpPr>
          <p:nvPr>
            <p:ph type="sldNum" sz="quarter" idx="12"/>
          </p:nvPr>
        </p:nvSpPr>
        <p:spPr/>
        <p:txBody>
          <a:bodyPr/>
          <a:lstStyle/>
          <a:p>
            <a:fld id="{14659731-6BD7-46E7-8D3C-2F3AC07E20B1}" type="slidenum">
              <a:rPr lang="en-US" altLang="zh-CN" smtClean="0"/>
              <a:pPr/>
              <a:t>55</a:t>
            </a:fld>
            <a:endParaRPr lang="en-US" altLang="zh-CN"/>
          </a:p>
        </p:txBody>
      </p:sp>
      <p:sp>
        <p:nvSpPr>
          <p:cNvPr id="3" name="内容占位符 2">
            <a:extLst>
              <a:ext uri="{FF2B5EF4-FFF2-40B4-BE49-F238E27FC236}">
                <a16:creationId xmlns:a16="http://schemas.microsoft.com/office/drawing/2014/main" id="{255A5B7B-E0D7-6E44-8E20-DAB8735F55FC}"/>
              </a:ext>
            </a:extLst>
          </p:cNvPr>
          <p:cNvSpPr>
            <a:spLocks noGrp="1"/>
          </p:cNvSpPr>
          <p:nvPr>
            <p:ph idx="4294967295"/>
          </p:nvPr>
        </p:nvSpPr>
        <p:spPr>
          <a:xfrm>
            <a:off x="457199" y="1403837"/>
            <a:ext cx="8151541" cy="4351338"/>
          </a:xfrm>
        </p:spPr>
        <p:txBody>
          <a:bodyPr/>
          <a:lstStyle/>
          <a:p>
            <a:r>
              <a:rPr kumimoji="1" lang="en-US" altLang="zh-CN" dirty="0"/>
              <a:t>I</a:t>
            </a:r>
            <a:r>
              <a:rPr kumimoji="1" lang="zh-CN" altLang="en-US" dirty="0"/>
              <a:t>型指令中</a:t>
            </a:r>
            <a:r>
              <a:rPr kumimoji="1" lang="en-US" altLang="zh-CN" dirty="0" err="1"/>
              <a:t>Imm</a:t>
            </a:r>
            <a:r>
              <a:rPr kumimoji="1" lang="zh-CN" altLang="en-US" dirty="0"/>
              <a:t>字段只有</a:t>
            </a:r>
            <a:r>
              <a:rPr kumimoji="1" lang="en-US" altLang="zh-CN" dirty="0"/>
              <a:t>16bit</a:t>
            </a:r>
          </a:p>
          <a:p>
            <a:pPr lvl="1"/>
            <a:r>
              <a:rPr kumimoji="1" lang="zh-CN" altLang="en-US" dirty="0"/>
              <a:t>如何将一个</a:t>
            </a:r>
            <a:r>
              <a:rPr kumimoji="1" lang="en-US" altLang="zh-CN" dirty="0"/>
              <a:t>32bit</a:t>
            </a:r>
            <a:r>
              <a:rPr kumimoji="1" lang="zh-CN" altLang="en-US" dirty="0"/>
              <a:t>的常数装入到寄存器</a:t>
            </a:r>
            <a:r>
              <a:rPr kumimoji="1" lang="en-US" altLang="zh-CN" dirty="0"/>
              <a:t>$s0</a:t>
            </a:r>
            <a:r>
              <a:rPr kumimoji="1" lang="zh-CN" altLang="en-US" dirty="0"/>
              <a:t>中呢</a:t>
            </a:r>
            <a:r>
              <a:rPr kumimoji="1" lang="en-US" altLang="zh-CN" dirty="0"/>
              <a:t>?</a:t>
            </a:r>
          </a:p>
          <a:p>
            <a:endParaRPr kumimoji="1" lang="en-US" altLang="zh-CN" sz="2800" dirty="0"/>
          </a:p>
          <a:p>
            <a:endParaRPr kumimoji="1" lang="en-US" altLang="zh-CN" sz="2800" dirty="0"/>
          </a:p>
          <a:p>
            <a:endParaRPr kumimoji="1" lang="en-US" altLang="zh-CN" sz="2800" dirty="0"/>
          </a:p>
          <a:p>
            <a:r>
              <a:rPr kumimoji="1" lang="zh-CN" altLang="en-US" dirty="0"/>
              <a:t>例如</a:t>
            </a:r>
            <a:r>
              <a:rPr kumimoji="1" lang="en-US" altLang="zh-CN" dirty="0"/>
              <a:t>32bit</a:t>
            </a:r>
            <a:r>
              <a:rPr kumimoji="1" lang="zh-CN" altLang="en-US" dirty="0"/>
              <a:t>数：</a:t>
            </a:r>
            <a:endParaRPr kumimoji="1" lang="en-US" altLang="zh-CN" dirty="0"/>
          </a:p>
        </p:txBody>
      </p:sp>
      <p:sp>
        <p:nvSpPr>
          <p:cNvPr id="9" name="矩形 8">
            <a:extLst>
              <a:ext uri="{FF2B5EF4-FFF2-40B4-BE49-F238E27FC236}">
                <a16:creationId xmlns:a16="http://schemas.microsoft.com/office/drawing/2014/main" id="{72774AE8-C941-7F42-98BD-E3F3B59EE975}"/>
              </a:ext>
            </a:extLst>
          </p:cNvPr>
          <p:cNvSpPr/>
          <p:nvPr/>
        </p:nvSpPr>
        <p:spPr>
          <a:xfrm>
            <a:off x="204787" y="5102225"/>
            <a:ext cx="175459" cy="2845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Text Box 12">
            <a:extLst>
              <a:ext uri="{FF2B5EF4-FFF2-40B4-BE49-F238E27FC236}">
                <a16:creationId xmlns:a16="http://schemas.microsoft.com/office/drawing/2014/main" id="{DC67DCBF-8DA3-B74E-BBA7-07212F9AE7CC}"/>
              </a:ext>
            </a:extLst>
          </p:cNvPr>
          <p:cNvSpPr txBox="1">
            <a:spLocks noChangeArrowheads="1"/>
          </p:cNvSpPr>
          <p:nvPr/>
        </p:nvSpPr>
        <p:spPr bwMode="auto">
          <a:xfrm>
            <a:off x="1636770" y="4935625"/>
            <a:ext cx="6066183" cy="461665"/>
          </a:xfrm>
          <a:prstGeom prst="rect">
            <a:avLst/>
          </a:prstGeom>
          <a:noFill/>
          <a:ln w="1905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lIns="0" rIns="0">
            <a:spAutoFit/>
          </a:bodyPr>
          <a:lstStyle>
            <a:lvl1pPr marL="271463" indent="-271463"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eaLnBrk="1" hangingPunct="1">
              <a:spcBef>
                <a:spcPct val="25000"/>
              </a:spcBef>
              <a:buClr>
                <a:srgbClr val="339933"/>
              </a:buClr>
              <a:buFont typeface="Wingdings" pitchFamily="2" charset="2"/>
              <a:buNone/>
            </a:pPr>
            <a:r>
              <a:rPr lang="en-US" altLang="zh-CN" sz="2400"/>
              <a:t>0000 0000 0011 1101 0000 1001 0000 0000</a:t>
            </a:r>
          </a:p>
        </p:txBody>
      </p:sp>
      <p:sp>
        <p:nvSpPr>
          <p:cNvPr id="16" name="Text Box 14">
            <a:extLst>
              <a:ext uri="{FF2B5EF4-FFF2-40B4-BE49-F238E27FC236}">
                <a16:creationId xmlns:a16="http://schemas.microsoft.com/office/drawing/2014/main" id="{D7DDBB84-CB61-A14E-B9B4-4AB2BA0A4C3E}"/>
              </a:ext>
            </a:extLst>
          </p:cNvPr>
          <p:cNvSpPr txBox="1">
            <a:spLocks noChangeArrowheads="1"/>
          </p:cNvSpPr>
          <p:nvPr/>
        </p:nvSpPr>
        <p:spPr bwMode="auto">
          <a:xfrm>
            <a:off x="2735213" y="5755176"/>
            <a:ext cx="738344"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eaLnBrk="1" hangingPunct="1"/>
            <a:r>
              <a:rPr lang="en-US" altLang="zh-CN" sz="2400"/>
              <a:t>61</a:t>
            </a:r>
            <a:r>
              <a:rPr lang="en-US" altLang="zh-CN" sz="2400" baseline="-25000"/>
              <a:t>10</a:t>
            </a:r>
            <a:endParaRPr lang="en-US" altLang="zh-CN" sz="2400"/>
          </a:p>
        </p:txBody>
      </p:sp>
      <p:sp>
        <p:nvSpPr>
          <p:cNvPr id="17" name="Text Box 15">
            <a:extLst>
              <a:ext uri="{FF2B5EF4-FFF2-40B4-BE49-F238E27FC236}">
                <a16:creationId xmlns:a16="http://schemas.microsoft.com/office/drawing/2014/main" id="{F88E08E1-BCB5-DF45-B43B-814D4C660398}"/>
              </a:ext>
            </a:extLst>
          </p:cNvPr>
          <p:cNvSpPr txBox="1">
            <a:spLocks noChangeArrowheads="1"/>
          </p:cNvSpPr>
          <p:nvPr/>
        </p:nvSpPr>
        <p:spPr bwMode="auto">
          <a:xfrm>
            <a:off x="5751569" y="5755177"/>
            <a:ext cx="1098378"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eaLnBrk="1" hangingPunct="1"/>
            <a:r>
              <a:rPr lang="en-US" altLang="zh-CN" sz="2400"/>
              <a:t>2304</a:t>
            </a:r>
            <a:r>
              <a:rPr lang="en-US" altLang="zh-CN" sz="2400" baseline="-25000"/>
              <a:t>10</a:t>
            </a:r>
            <a:endParaRPr lang="en-US" altLang="zh-CN" sz="2400"/>
          </a:p>
        </p:txBody>
      </p:sp>
      <p:sp>
        <p:nvSpPr>
          <p:cNvPr id="5" name="右大括号 4">
            <a:extLst>
              <a:ext uri="{FF2B5EF4-FFF2-40B4-BE49-F238E27FC236}">
                <a16:creationId xmlns:a16="http://schemas.microsoft.com/office/drawing/2014/main" id="{525DD2F7-4F60-0340-BD15-0E55D9EA37AE}"/>
              </a:ext>
            </a:extLst>
          </p:cNvPr>
          <p:cNvSpPr/>
          <p:nvPr/>
        </p:nvSpPr>
        <p:spPr>
          <a:xfrm rot="5400000">
            <a:off x="2955284" y="4138461"/>
            <a:ext cx="298201" cy="2935230"/>
          </a:xfrm>
          <a:prstGeom prst="rightBrace">
            <a:avLst>
              <a:gd name="adj1" fmla="val 26282"/>
              <a:gd name="adj2" fmla="val 50000"/>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18" name="右大括号 17">
            <a:extLst>
              <a:ext uri="{FF2B5EF4-FFF2-40B4-BE49-F238E27FC236}">
                <a16:creationId xmlns:a16="http://schemas.microsoft.com/office/drawing/2014/main" id="{4E36A34F-FE8A-314E-A192-AB921C7096ED}"/>
              </a:ext>
            </a:extLst>
          </p:cNvPr>
          <p:cNvSpPr/>
          <p:nvPr/>
        </p:nvSpPr>
        <p:spPr>
          <a:xfrm rot="5400000">
            <a:off x="6061769" y="4143115"/>
            <a:ext cx="298201" cy="2935230"/>
          </a:xfrm>
          <a:prstGeom prst="rightBrace">
            <a:avLst>
              <a:gd name="adj1" fmla="val 26282"/>
              <a:gd name="adj2" fmla="val 50000"/>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grpSp>
        <p:nvGrpSpPr>
          <p:cNvPr id="22" name="Group 3">
            <a:extLst>
              <a:ext uri="{FF2B5EF4-FFF2-40B4-BE49-F238E27FC236}">
                <a16:creationId xmlns:a16="http://schemas.microsoft.com/office/drawing/2014/main" id="{E95C2FE2-4EE5-3B4C-A316-A0AF3800ADE5}"/>
              </a:ext>
            </a:extLst>
          </p:cNvPr>
          <p:cNvGrpSpPr>
            <a:grpSpLocks/>
          </p:cNvGrpSpPr>
          <p:nvPr/>
        </p:nvGrpSpPr>
        <p:grpSpPr bwMode="auto">
          <a:xfrm>
            <a:off x="1636769" y="2590027"/>
            <a:ext cx="6399542" cy="1300638"/>
            <a:chOff x="480" y="3168"/>
            <a:chExt cx="4752" cy="918"/>
          </a:xfrm>
        </p:grpSpPr>
        <p:pic>
          <p:nvPicPr>
            <p:cNvPr id="23" name="Picture 4" descr="F0317">
              <a:extLst>
                <a:ext uri="{FF2B5EF4-FFF2-40B4-BE49-F238E27FC236}">
                  <a16:creationId xmlns:a16="http://schemas.microsoft.com/office/drawing/2014/main" id="{D7AD44B8-10F4-2F4D-8BBE-66D4626863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56430" b="90962"/>
            <a:stretch>
              <a:fillRect/>
            </a:stretch>
          </p:blipFill>
          <p:spPr bwMode="auto">
            <a:xfrm>
              <a:off x="480" y="3168"/>
              <a:ext cx="4752" cy="91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4" name="Rectangle 5">
              <a:extLst>
                <a:ext uri="{FF2B5EF4-FFF2-40B4-BE49-F238E27FC236}">
                  <a16:creationId xmlns:a16="http://schemas.microsoft.com/office/drawing/2014/main" id="{AFB65D25-9CDC-B04B-B51C-C0510E7C3E00}"/>
                </a:ext>
              </a:extLst>
            </p:cNvPr>
            <p:cNvSpPr>
              <a:spLocks noChangeArrowheads="1"/>
            </p:cNvSpPr>
            <p:nvPr/>
          </p:nvSpPr>
          <p:spPr bwMode="auto">
            <a:xfrm>
              <a:off x="480" y="3216"/>
              <a:ext cx="168" cy="24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grpSp>
      <p:sp>
        <p:nvSpPr>
          <p:cNvPr id="25" name="Text Box 14">
            <a:extLst>
              <a:ext uri="{FF2B5EF4-FFF2-40B4-BE49-F238E27FC236}">
                <a16:creationId xmlns:a16="http://schemas.microsoft.com/office/drawing/2014/main" id="{CC85026E-AD0E-9344-9ADE-8479323D9711}"/>
              </a:ext>
            </a:extLst>
          </p:cNvPr>
          <p:cNvSpPr txBox="1">
            <a:spLocks noChangeArrowheads="1"/>
          </p:cNvSpPr>
          <p:nvPr/>
        </p:nvSpPr>
        <p:spPr bwMode="auto">
          <a:xfrm>
            <a:off x="5947136" y="3657505"/>
            <a:ext cx="902811"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eaLnBrk="1" hangingPunct="1"/>
            <a:r>
              <a:rPr lang="en-US" altLang="zh-CN" sz="2400" dirty="0"/>
              <a:t>16bit</a:t>
            </a:r>
          </a:p>
        </p:txBody>
      </p:sp>
      <p:sp>
        <p:nvSpPr>
          <p:cNvPr id="6" name="Title 4">
            <a:extLst>
              <a:ext uri="{FF2B5EF4-FFF2-40B4-BE49-F238E27FC236}">
                <a16:creationId xmlns:a16="http://schemas.microsoft.com/office/drawing/2014/main" id="{12C5E098-8FB8-BCC3-414E-FCF83AEA9BD0}"/>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kumimoji="1" lang="zh-CN" altLang="en-US" dirty="0"/>
              <a:t>立即数寻址</a:t>
            </a:r>
            <a:endParaRPr lang="en-CN" kern="0" dirty="0"/>
          </a:p>
        </p:txBody>
      </p:sp>
    </p:spTree>
    <p:extLst>
      <p:ext uri="{BB962C8B-B14F-4D97-AF65-F5344CB8AC3E}">
        <p14:creationId xmlns:p14="http://schemas.microsoft.com/office/powerpoint/2010/main" val="309009583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1771119E-678F-454A-8D6E-A9508C663463}"/>
              </a:ext>
            </a:extLst>
          </p:cNvPr>
          <p:cNvSpPr>
            <a:spLocks noGrp="1"/>
          </p:cNvSpPr>
          <p:nvPr>
            <p:ph type="sldNum" sz="quarter" idx="12"/>
          </p:nvPr>
        </p:nvSpPr>
        <p:spPr/>
        <p:txBody>
          <a:bodyPr/>
          <a:lstStyle/>
          <a:p>
            <a:fld id="{14659731-6BD7-46E7-8D3C-2F3AC07E20B1}" type="slidenum">
              <a:rPr lang="en-US" altLang="zh-CN" smtClean="0"/>
              <a:pPr/>
              <a:t>56</a:t>
            </a:fld>
            <a:endParaRPr lang="en-US" altLang="zh-CN"/>
          </a:p>
        </p:txBody>
      </p:sp>
      <p:sp>
        <p:nvSpPr>
          <p:cNvPr id="3" name="内容占位符 2">
            <a:extLst>
              <a:ext uri="{FF2B5EF4-FFF2-40B4-BE49-F238E27FC236}">
                <a16:creationId xmlns:a16="http://schemas.microsoft.com/office/drawing/2014/main" id="{255A5B7B-E0D7-6E44-8E20-DAB8735F55FC}"/>
              </a:ext>
            </a:extLst>
          </p:cNvPr>
          <p:cNvSpPr>
            <a:spLocks noGrp="1"/>
          </p:cNvSpPr>
          <p:nvPr>
            <p:ph idx="4294967295"/>
          </p:nvPr>
        </p:nvSpPr>
        <p:spPr>
          <a:xfrm>
            <a:off x="405261" y="1311671"/>
            <a:ext cx="7886700" cy="4351338"/>
          </a:xfrm>
        </p:spPr>
        <p:txBody>
          <a:bodyPr/>
          <a:lstStyle/>
          <a:p>
            <a:r>
              <a:rPr kumimoji="1" lang="en-US" altLang="zh-CN" sz="2800" dirty="0"/>
              <a:t>I</a:t>
            </a:r>
            <a:r>
              <a:rPr kumimoji="1" lang="zh-CN" altLang="en-US" sz="2800" dirty="0"/>
              <a:t>型指令中</a:t>
            </a:r>
            <a:r>
              <a:rPr kumimoji="1" lang="en-US" altLang="zh-CN" sz="2800" dirty="0" err="1"/>
              <a:t>Imm</a:t>
            </a:r>
            <a:r>
              <a:rPr kumimoji="1" lang="zh-CN" altLang="en-US" sz="2800" dirty="0"/>
              <a:t>字段只有</a:t>
            </a:r>
            <a:r>
              <a:rPr kumimoji="1" lang="en-US" altLang="zh-CN" sz="2800" dirty="0"/>
              <a:t>16bit</a:t>
            </a:r>
          </a:p>
          <a:p>
            <a:pPr lvl="1"/>
            <a:r>
              <a:rPr kumimoji="1" lang="zh-CN" altLang="en-US" sz="2400" dirty="0"/>
              <a:t>如何将一个</a:t>
            </a:r>
            <a:r>
              <a:rPr kumimoji="1" lang="en-US" altLang="zh-CN" sz="2400" dirty="0"/>
              <a:t>32bit</a:t>
            </a:r>
            <a:r>
              <a:rPr kumimoji="1" lang="zh-CN" altLang="en-US" sz="2400" dirty="0"/>
              <a:t>的常数装入到寄存器</a:t>
            </a:r>
            <a:r>
              <a:rPr kumimoji="1" lang="en-US" altLang="zh-CN" sz="2400" dirty="0"/>
              <a:t>$s0</a:t>
            </a:r>
            <a:r>
              <a:rPr kumimoji="1" lang="zh-CN" altLang="en-US" sz="2400" dirty="0"/>
              <a:t>中呢</a:t>
            </a:r>
            <a:r>
              <a:rPr kumimoji="1" lang="en-US" altLang="zh-CN" sz="2400" dirty="0"/>
              <a:t>?</a:t>
            </a:r>
          </a:p>
          <a:p>
            <a:r>
              <a:rPr kumimoji="1" lang="zh-CN" altLang="en-US" sz="2800" dirty="0"/>
              <a:t>例如</a:t>
            </a:r>
            <a:r>
              <a:rPr kumimoji="1" lang="en-US" altLang="zh-CN" sz="2800" dirty="0"/>
              <a:t>32bit</a:t>
            </a:r>
            <a:r>
              <a:rPr kumimoji="1" lang="zh-CN" altLang="en-US" sz="2800" dirty="0"/>
              <a:t>数：</a:t>
            </a:r>
            <a:endParaRPr kumimoji="1" lang="en-US" altLang="zh-CN" sz="2800" dirty="0"/>
          </a:p>
        </p:txBody>
      </p:sp>
      <p:sp>
        <p:nvSpPr>
          <p:cNvPr id="15" name="Text Box 12">
            <a:extLst>
              <a:ext uri="{FF2B5EF4-FFF2-40B4-BE49-F238E27FC236}">
                <a16:creationId xmlns:a16="http://schemas.microsoft.com/office/drawing/2014/main" id="{DC67DCBF-8DA3-B74E-BBA7-07212F9AE7CC}"/>
              </a:ext>
            </a:extLst>
          </p:cNvPr>
          <p:cNvSpPr txBox="1">
            <a:spLocks noChangeArrowheads="1"/>
          </p:cNvSpPr>
          <p:nvPr/>
        </p:nvSpPr>
        <p:spPr bwMode="auto">
          <a:xfrm>
            <a:off x="1696276" y="2824782"/>
            <a:ext cx="6066184" cy="461665"/>
          </a:xfrm>
          <a:prstGeom prst="rect">
            <a:avLst/>
          </a:prstGeom>
          <a:noFill/>
          <a:ln w="1905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lIns="0" rIns="0">
            <a:spAutoFit/>
          </a:bodyPr>
          <a:lstStyle>
            <a:lvl1pPr marL="271463" indent="-271463"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eaLnBrk="1" hangingPunct="1">
              <a:spcBef>
                <a:spcPct val="25000"/>
              </a:spcBef>
              <a:buClr>
                <a:srgbClr val="339933"/>
              </a:buClr>
              <a:buFont typeface="Wingdings" pitchFamily="2" charset="2"/>
              <a:buNone/>
            </a:pPr>
            <a:r>
              <a:rPr lang="en-US" altLang="zh-CN" sz="2400" dirty="0"/>
              <a:t>0000 0000 0011 1101 0000 1001 0000 0000</a:t>
            </a:r>
          </a:p>
        </p:txBody>
      </p:sp>
      <p:sp>
        <p:nvSpPr>
          <p:cNvPr id="16" name="Text Box 14">
            <a:extLst>
              <a:ext uri="{FF2B5EF4-FFF2-40B4-BE49-F238E27FC236}">
                <a16:creationId xmlns:a16="http://schemas.microsoft.com/office/drawing/2014/main" id="{D7DDBB84-CB61-A14E-B9B4-4AB2BA0A4C3E}"/>
              </a:ext>
            </a:extLst>
          </p:cNvPr>
          <p:cNvSpPr txBox="1">
            <a:spLocks noChangeArrowheads="1"/>
          </p:cNvSpPr>
          <p:nvPr/>
        </p:nvSpPr>
        <p:spPr bwMode="auto">
          <a:xfrm>
            <a:off x="2901952" y="3564221"/>
            <a:ext cx="738344"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eaLnBrk="1" hangingPunct="1"/>
            <a:r>
              <a:rPr lang="en-US" altLang="zh-CN" sz="2400"/>
              <a:t>61</a:t>
            </a:r>
            <a:r>
              <a:rPr lang="en-US" altLang="zh-CN" sz="2400" baseline="-25000"/>
              <a:t>10</a:t>
            </a:r>
            <a:endParaRPr lang="en-US" altLang="zh-CN" sz="2400"/>
          </a:p>
        </p:txBody>
      </p:sp>
      <p:sp>
        <p:nvSpPr>
          <p:cNvPr id="17" name="Text Box 15">
            <a:extLst>
              <a:ext uri="{FF2B5EF4-FFF2-40B4-BE49-F238E27FC236}">
                <a16:creationId xmlns:a16="http://schemas.microsoft.com/office/drawing/2014/main" id="{F88E08E1-BCB5-DF45-B43B-814D4C660398}"/>
              </a:ext>
            </a:extLst>
          </p:cNvPr>
          <p:cNvSpPr txBox="1">
            <a:spLocks noChangeArrowheads="1"/>
          </p:cNvSpPr>
          <p:nvPr/>
        </p:nvSpPr>
        <p:spPr bwMode="auto">
          <a:xfrm>
            <a:off x="5837183" y="3564221"/>
            <a:ext cx="1098378"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eaLnBrk="1" hangingPunct="1"/>
            <a:r>
              <a:rPr lang="en-US" altLang="zh-CN" sz="2400"/>
              <a:t>2304</a:t>
            </a:r>
            <a:r>
              <a:rPr lang="en-US" altLang="zh-CN" sz="2400" baseline="-25000"/>
              <a:t>10</a:t>
            </a:r>
            <a:endParaRPr lang="en-US" altLang="zh-CN" sz="2400"/>
          </a:p>
        </p:txBody>
      </p:sp>
      <p:sp>
        <p:nvSpPr>
          <p:cNvPr id="5" name="右大括号 4">
            <a:extLst>
              <a:ext uri="{FF2B5EF4-FFF2-40B4-BE49-F238E27FC236}">
                <a16:creationId xmlns:a16="http://schemas.microsoft.com/office/drawing/2014/main" id="{525DD2F7-4F60-0340-BD15-0E55D9EA37AE}"/>
              </a:ext>
            </a:extLst>
          </p:cNvPr>
          <p:cNvSpPr/>
          <p:nvPr/>
        </p:nvSpPr>
        <p:spPr>
          <a:xfrm rot="5400000">
            <a:off x="3014790" y="1995338"/>
            <a:ext cx="298201" cy="2935230"/>
          </a:xfrm>
          <a:prstGeom prst="rightBrace">
            <a:avLst>
              <a:gd name="adj1" fmla="val 26282"/>
              <a:gd name="adj2" fmla="val 50000"/>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18" name="右大括号 17">
            <a:extLst>
              <a:ext uri="{FF2B5EF4-FFF2-40B4-BE49-F238E27FC236}">
                <a16:creationId xmlns:a16="http://schemas.microsoft.com/office/drawing/2014/main" id="{4E36A34F-FE8A-314E-A192-AB921C7096ED}"/>
              </a:ext>
            </a:extLst>
          </p:cNvPr>
          <p:cNvSpPr/>
          <p:nvPr/>
        </p:nvSpPr>
        <p:spPr>
          <a:xfrm rot="5400000">
            <a:off x="6121275" y="1999992"/>
            <a:ext cx="298201" cy="2935230"/>
          </a:xfrm>
          <a:prstGeom prst="rightBrace">
            <a:avLst>
              <a:gd name="adj1" fmla="val 26282"/>
              <a:gd name="adj2" fmla="val 50000"/>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grpSp>
        <p:nvGrpSpPr>
          <p:cNvPr id="6" name="Group 5">
            <a:extLst>
              <a:ext uri="{FF2B5EF4-FFF2-40B4-BE49-F238E27FC236}">
                <a16:creationId xmlns:a16="http://schemas.microsoft.com/office/drawing/2014/main" id="{4AAC66EC-717F-4E38-8B65-69A9F9483114}"/>
              </a:ext>
            </a:extLst>
          </p:cNvPr>
          <p:cNvGrpSpPr/>
          <p:nvPr/>
        </p:nvGrpSpPr>
        <p:grpSpPr>
          <a:xfrm>
            <a:off x="2199861" y="5518934"/>
            <a:ext cx="6944139" cy="1202573"/>
            <a:chOff x="2350478" y="5518934"/>
            <a:chExt cx="6944139" cy="1202573"/>
          </a:xfrm>
        </p:grpSpPr>
        <p:sp>
          <p:nvSpPr>
            <p:cNvPr id="28" name="Rectangle 21">
              <a:extLst>
                <a:ext uri="{FF2B5EF4-FFF2-40B4-BE49-F238E27FC236}">
                  <a16:creationId xmlns:a16="http://schemas.microsoft.com/office/drawing/2014/main" id="{BCBD37A7-1AAB-2C4E-982C-FB8401263FF9}"/>
                </a:ext>
              </a:extLst>
            </p:cNvPr>
            <p:cNvSpPr>
              <a:spLocks noChangeArrowheads="1"/>
            </p:cNvSpPr>
            <p:nvPr/>
          </p:nvSpPr>
          <p:spPr bwMode="auto">
            <a:xfrm>
              <a:off x="2350478" y="6013621"/>
              <a:ext cx="6944139" cy="707886"/>
            </a:xfrm>
            <a:prstGeom prst="rect">
              <a:avLst/>
            </a:prstGeom>
            <a:solidFill>
              <a:schemeClr val="accent3">
                <a:lumMod val="20000"/>
                <a:lumOff val="80000"/>
              </a:schemeClr>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lgn="l"/>
              <a:r>
                <a:rPr lang="en-US" altLang="zh-CN" sz="2000" b="0" i="1" dirty="0">
                  <a:solidFill>
                    <a:schemeClr val="tx1"/>
                  </a:solidFill>
                  <a:highlight>
                    <a:srgbClr val="EBF1DE"/>
                  </a:highlight>
                  <a:latin typeface="Consolas" panose="020B0609020204030204" pitchFamily="49" charset="0"/>
                  <a:ea typeface="+mj-ea"/>
                  <a:cs typeface="Consolas" panose="020B0609020204030204" pitchFamily="49" charset="0"/>
                </a:rPr>
                <a:t>ori $s0,$zero,61</a:t>
              </a:r>
              <a:r>
                <a:rPr lang="zh-CN" altLang="en-US" sz="2000" b="0" i="1" dirty="0">
                  <a:solidFill>
                    <a:schemeClr val="tx1"/>
                  </a:solidFill>
                  <a:highlight>
                    <a:srgbClr val="EBF1DE"/>
                  </a:highlight>
                  <a:latin typeface="Consolas" panose="020B0609020204030204" pitchFamily="49" charset="0"/>
                  <a:ea typeface="+mj-ea"/>
                  <a:cs typeface="Consolas" panose="020B0609020204030204" pitchFamily="49" charset="0"/>
                </a:rPr>
                <a:t> </a:t>
              </a:r>
              <a:r>
                <a:rPr lang="en-US" altLang="zh-CN" sz="2000" b="0" i="1" dirty="0">
                  <a:solidFill>
                    <a:schemeClr val="tx1"/>
                  </a:solidFill>
                  <a:highlight>
                    <a:srgbClr val="EBF1DE"/>
                  </a:highlight>
                  <a:latin typeface="Consolas" panose="020B0609020204030204" pitchFamily="49" charset="0"/>
                  <a:ea typeface="+mj-ea"/>
                  <a:cs typeface="Consolas" panose="020B0609020204030204" pitchFamily="49" charset="0"/>
                </a:rPr>
                <a:t># </a:t>
              </a:r>
              <a:r>
                <a:rPr lang="en-US" altLang="zh-CN" sz="2000" b="0" dirty="0">
                  <a:solidFill>
                    <a:schemeClr val="tx1"/>
                  </a:solidFill>
                  <a:highlight>
                    <a:srgbClr val="EBF1DE"/>
                  </a:highlight>
                  <a:latin typeface="Consolas" panose="020B0609020204030204" pitchFamily="49" charset="0"/>
                  <a:ea typeface="+mj-ea"/>
                  <a:cs typeface="Consolas" panose="020B0609020204030204" pitchFamily="49" charset="0"/>
                </a:rPr>
                <a:t>or</a:t>
              </a:r>
              <a:r>
                <a:rPr lang="zh-CN" altLang="en-US" sz="2000" b="0" dirty="0">
                  <a:solidFill>
                    <a:schemeClr val="tx1"/>
                  </a:solidFill>
                  <a:highlight>
                    <a:srgbClr val="EBF1DE"/>
                  </a:highlight>
                  <a:latin typeface="Consolas" panose="020B0609020204030204" pitchFamily="49" charset="0"/>
                  <a:ea typeface="+mj-ea"/>
                  <a:cs typeface="Consolas" panose="020B0609020204030204" pitchFamily="49" charset="0"/>
                </a:rPr>
                <a:t> </a:t>
              </a:r>
              <a:r>
                <a:rPr lang="en-US" altLang="zh-CN" sz="2000" b="0" dirty="0">
                  <a:solidFill>
                    <a:schemeClr val="tx1"/>
                  </a:solidFill>
                  <a:highlight>
                    <a:srgbClr val="EBF1DE"/>
                  </a:highlight>
                  <a:latin typeface="Consolas" panose="020B0609020204030204" pitchFamily="49" charset="0"/>
                  <a:ea typeface="+mj-ea"/>
                  <a:cs typeface="Consolas" panose="020B0609020204030204" pitchFamily="49" charset="0"/>
                </a:rPr>
                <a:t>immediate</a:t>
              </a:r>
              <a:r>
                <a:rPr lang="zh-CN" altLang="en-US" sz="2000" b="0" dirty="0">
                  <a:solidFill>
                    <a:schemeClr val="tx1"/>
                  </a:solidFill>
                  <a:highlight>
                    <a:srgbClr val="EBF1DE"/>
                  </a:highlight>
                  <a:latin typeface="Consolas" panose="020B0609020204030204" pitchFamily="49" charset="0"/>
                  <a:ea typeface="+mj-ea"/>
                  <a:cs typeface="Consolas" panose="020B0609020204030204" pitchFamily="49" charset="0"/>
                </a:rPr>
                <a:t>，将高位放在低</a:t>
              </a:r>
              <a:r>
                <a:rPr lang="en-US" altLang="zh-CN" sz="2000" b="0" dirty="0">
                  <a:solidFill>
                    <a:schemeClr val="tx1"/>
                  </a:solidFill>
                  <a:highlight>
                    <a:srgbClr val="EBF1DE"/>
                  </a:highlight>
                  <a:latin typeface="Consolas" panose="020B0609020204030204" pitchFamily="49" charset="0"/>
                  <a:ea typeface="+mj-ea"/>
                  <a:cs typeface="Consolas" panose="020B0609020204030204" pitchFamily="49" charset="0"/>
                </a:rPr>
                <a:t>16</a:t>
              </a:r>
              <a:r>
                <a:rPr lang="zh-CN" altLang="en-US" sz="2000" b="0" dirty="0">
                  <a:solidFill>
                    <a:schemeClr val="tx1"/>
                  </a:solidFill>
                  <a:highlight>
                    <a:srgbClr val="EBF1DE"/>
                  </a:highlight>
                  <a:latin typeface="Consolas" panose="020B0609020204030204" pitchFamily="49" charset="0"/>
                  <a:ea typeface="+mj-ea"/>
                  <a:cs typeface="Consolas" panose="020B0609020204030204" pitchFamily="49" charset="0"/>
                </a:rPr>
                <a:t>位</a:t>
              </a:r>
              <a:endParaRPr lang="en-US" altLang="zh-CN" sz="2000" b="0" dirty="0">
                <a:solidFill>
                  <a:schemeClr val="tx1"/>
                </a:solidFill>
                <a:highlight>
                  <a:srgbClr val="EBF1DE"/>
                </a:highlight>
                <a:latin typeface="Consolas" panose="020B0609020204030204" pitchFamily="49" charset="0"/>
                <a:ea typeface="+mj-ea"/>
                <a:cs typeface="Consolas" panose="020B0609020204030204" pitchFamily="49" charset="0"/>
              </a:endParaRPr>
            </a:p>
            <a:p>
              <a:pPr algn="l"/>
              <a:r>
                <a:rPr lang="en-US" altLang="zh-CN" sz="2000" b="0" i="1" dirty="0">
                  <a:solidFill>
                    <a:schemeClr val="tx1"/>
                  </a:solidFill>
                  <a:highlight>
                    <a:srgbClr val="EBF1DE"/>
                  </a:highlight>
                  <a:latin typeface="Consolas" panose="020B0609020204030204" pitchFamily="49" charset="0"/>
                  <a:ea typeface="+mj-ea"/>
                  <a:cs typeface="Consolas" panose="020B0609020204030204" pitchFamily="49" charset="0"/>
                </a:rPr>
                <a:t>sll $s0,$s0,16   # </a:t>
              </a:r>
              <a:r>
                <a:rPr lang="en-US" altLang="zh-CN" sz="2000" b="0" dirty="0">
                  <a:solidFill>
                    <a:schemeClr val="tx1"/>
                  </a:solidFill>
                  <a:highlight>
                    <a:srgbClr val="EBF1DE"/>
                  </a:highlight>
                  <a:latin typeface="Consolas" panose="020B0609020204030204" pitchFamily="49" charset="0"/>
                  <a:ea typeface="+mj-ea"/>
                  <a:cs typeface="Consolas" panose="020B0609020204030204" pitchFamily="49" charset="0"/>
                </a:rPr>
                <a:t>shift</a:t>
              </a:r>
              <a:r>
                <a:rPr lang="zh-CN" altLang="en-US" sz="2000" b="0" dirty="0">
                  <a:solidFill>
                    <a:schemeClr val="tx1"/>
                  </a:solidFill>
                  <a:highlight>
                    <a:srgbClr val="EBF1DE"/>
                  </a:highlight>
                  <a:latin typeface="Consolas" panose="020B0609020204030204" pitchFamily="49" charset="0"/>
                  <a:ea typeface="+mj-ea"/>
                  <a:cs typeface="Consolas" panose="020B0609020204030204" pitchFamily="49" charset="0"/>
                </a:rPr>
                <a:t> </a:t>
              </a:r>
              <a:r>
                <a:rPr lang="en-US" altLang="zh-CN" sz="2000" b="0" dirty="0">
                  <a:solidFill>
                    <a:schemeClr val="tx1"/>
                  </a:solidFill>
                  <a:highlight>
                    <a:srgbClr val="EBF1DE"/>
                  </a:highlight>
                  <a:latin typeface="Consolas" panose="020B0609020204030204" pitchFamily="49" charset="0"/>
                  <a:ea typeface="+mj-ea"/>
                  <a:cs typeface="Consolas" panose="020B0609020204030204" pitchFamily="49" charset="0"/>
                </a:rPr>
                <a:t>logic</a:t>
              </a:r>
              <a:r>
                <a:rPr lang="zh-CN" altLang="en-US" sz="2000" b="0" dirty="0">
                  <a:solidFill>
                    <a:schemeClr val="tx1"/>
                  </a:solidFill>
                  <a:highlight>
                    <a:srgbClr val="EBF1DE"/>
                  </a:highlight>
                  <a:latin typeface="Consolas" panose="020B0609020204030204" pitchFamily="49" charset="0"/>
                  <a:ea typeface="+mj-ea"/>
                  <a:cs typeface="Consolas" panose="020B0609020204030204" pitchFamily="49" charset="0"/>
                </a:rPr>
                <a:t> </a:t>
              </a:r>
              <a:r>
                <a:rPr lang="en-US" altLang="zh-CN" sz="2000" b="0" dirty="0">
                  <a:solidFill>
                    <a:schemeClr val="tx1"/>
                  </a:solidFill>
                  <a:highlight>
                    <a:srgbClr val="EBF1DE"/>
                  </a:highlight>
                  <a:latin typeface="Consolas" panose="020B0609020204030204" pitchFamily="49" charset="0"/>
                  <a:ea typeface="+mj-ea"/>
                  <a:cs typeface="Consolas" panose="020B0609020204030204" pitchFamily="49" charset="0"/>
                </a:rPr>
                <a:t>left</a:t>
              </a:r>
              <a:r>
                <a:rPr lang="zh-CN" altLang="en-US" sz="2000" b="0" dirty="0">
                  <a:solidFill>
                    <a:schemeClr val="tx1"/>
                  </a:solidFill>
                  <a:highlight>
                    <a:srgbClr val="EBF1DE"/>
                  </a:highlight>
                  <a:latin typeface="Consolas" panose="020B0609020204030204" pitchFamily="49" charset="0"/>
                  <a:ea typeface="+mj-ea"/>
                  <a:cs typeface="Consolas" panose="020B0609020204030204" pitchFamily="49" charset="0"/>
                </a:rPr>
                <a:t>，左移到高</a:t>
              </a:r>
              <a:r>
                <a:rPr lang="en-US" altLang="zh-CN" sz="2000" b="0" dirty="0">
                  <a:solidFill>
                    <a:schemeClr val="tx1"/>
                  </a:solidFill>
                  <a:highlight>
                    <a:srgbClr val="EBF1DE"/>
                  </a:highlight>
                  <a:latin typeface="Consolas" panose="020B0609020204030204" pitchFamily="49" charset="0"/>
                  <a:ea typeface="+mj-ea"/>
                  <a:cs typeface="Consolas" panose="020B0609020204030204" pitchFamily="49" charset="0"/>
                </a:rPr>
                <a:t>16</a:t>
              </a:r>
              <a:r>
                <a:rPr lang="zh-CN" altLang="en-US" sz="2000" b="0" dirty="0">
                  <a:solidFill>
                    <a:schemeClr val="tx1"/>
                  </a:solidFill>
                  <a:highlight>
                    <a:srgbClr val="EBF1DE"/>
                  </a:highlight>
                  <a:latin typeface="Consolas" panose="020B0609020204030204" pitchFamily="49" charset="0"/>
                  <a:ea typeface="+mj-ea"/>
                  <a:cs typeface="Consolas" panose="020B0609020204030204" pitchFamily="49" charset="0"/>
                </a:rPr>
                <a:t>位</a:t>
              </a:r>
              <a:endParaRPr lang="en-US" altLang="zh-CN" sz="2000" b="0" dirty="0">
                <a:solidFill>
                  <a:schemeClr val="tx1"/>
                </a:solidFill>
                <a:highlight>
                  <a:srgbClr val="EBF1DE"/>
                </a:highlight>
                <a:latin typeface="Consolas" panose="020B0609020204030204" pitchFamily="49" charset="0"/>
                <a:ea typeface="+mj-ea"/>
                <a:cs typeface="Consolas" panose="020B0609020204030204" pitchFamily="49" charset="0"/>
              </a:endParaRPr>
            </a:p>
          </p:txBody>
        </p:sp>
        <p:sp>
          <p:nvSpPr>
            <p:cNvPr id="19" name="Text Box 17">
              <a:extLst>
                <a:ext uri="{FF2B5EF4-FFF2-40B4-BE49-F238E27FC236}">
                  <a16:creationId xmlns:a16="http://schemas.microsoft.com/office/drawing/2014/main" id="{84047E36-C9A4-44A1-BD42-F07BE8605994}"/>
                </a:ext>
              </a:extLst>
            </p:cNvPr>
            <p:cNvSpPr txBox="1">
              <a:spLocks noChangeArrowheads="1"/>
            </p:cNvSpPr>
            <p:nvPr/>
          </p:nvSpPr>
          <p:spPr bwMode="auto">
            <a:xfrm>
              <a:off x="2350479" y="5518934"/>
              <a:ext cx="3300411" cy="461665"/>
            </a:xfrm>
            <a:prstGeom prst="rect">
              <a:avLst/>
            </a:prstGeom>
            <a:ln>
              <a:noFill/>
              <a:headEnd/>
              <a:tailEn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wrap="squar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l" eaLnBrk="1" hangingPunct="1"/>
              <a:r>
                <a:rPr lang="zh-CN" altLang="en-US" sz="2400" b="0" dirty="0">
                  <a:solidFill>
                    <a:sysClr val="windowText" lastClr="000000"/>
                  </a:solidFill>
                  <a:latin typeface="+mj-ea"/>
                  <a:ea typeface="+mj-ea"/>
                </a:rPr>
                <a:t>加载高位的另外方法：</a:t>
              </a:r>
              <a:endParaRPr lang="en-US" altLang="zh-CN" sz="2400" b="0" dirty="0">
                <a:solidFill>
                  <a:sysClr val="windowText" lastClr="000000"/>
                </a:solidFill>
                <a:latin typeface="+mj-ea"/>
                <a:ea typeface="+mj-ea"/>
              </a:endParaRPr>
            </a:p>
          </p:txBody>
        </p:sp>
      </p:grpSp>
      <p:sp>
        <p:nvSpPr>
          <p:cNvPr id="22" name="Text Box 16">
            <a:extLst>
              <a:ext uri="{FF2B5EF4-FFF2-40B4-BE49-F238E27FC236}">
                <a16:creationId xmlns:a16="http://schemas.microsoft.com/office/drawing/2014/main" id="{0A18DBBC-35C4-4D89-84AA-C56DFB52FB4B}"/>
              </a:ext>
            </a:extLst>
          </p:cNvPr>
          <p:cNvSpPr txBox="1">
            <a:spLocks noChangeArrowheads="1"/>
          </p:cNvSpPr>
          <p:nvPr/>
        </p:nvSpPr>
        <p:spPr bwMode="auto">
          <a:xfrm>
            <a:off x="457200" y="4705489"/>
            <a:ext cx="8610548" cy="707886"/>
          </a:xfrm>
          <a:prstGeom prst="rect">
            <a:avLst/>
          </a:prstGeom>
          <a:solidFill>
            <a:schemeClr val="bg1">
              <a:lumMod val="95000"/>
            </a:schemeClr>
          </a:solid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FF0000"/>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l" eaLnBrk="1" hangingPunct="1"/>
            <a:r>
              <a:rPr lang="en-US" altLang="zh-CN" sz="2000" dirty="0"/>
              <a:t>lui  $s0, 61     </a:t>
            </a:r>
            <a:r>
              <a:rPr lang="en-US" altLang="zh-CN" sz="2000" dirty="0">
                <a:solidFill>
                  <a:srgbClr val="0000FF"/>
                </a:solidFill>
              </a:rPr>
              <a:t># $ s0= 0000 0000 0011 1101 0000 0000 0000 0000 </a:t>
            </a:r>
          </a:p>
          <a:p>
            <a:pPr algn="l" eaLnBrk="1" hangingPunct="1"/>
            <a:r>
              <a:rPr lang="en-US" altLang="zh-CN" sz="2000" dirty="0" err="1"/>
              <a:t>addi</a:t>
            </a:r>
            <a:r>
              <a:rPr lang="en-US" altLang="zh-CN" sz="2000" dirty="0"/>
              <a:t> $s0, $s0, 2304  </a:t>
            </a:r>
            <a:r>
              <a:rPr lang="en-US" altLang="zh-CN" sz="2000" dirty="0">
                <a:solidFill>
                  <a:srgbClr val="0000FF"/>
                </a:solidFill>
              </a:rPr>
              <a:t># $ s0= 0000 0000 0011 1101 0000 1001 0000 0000</a:t>
            </a:r>
            <a:endParaRPr lang="zh-CN" altLang="en-US" sz="2000" dirty="0">
              <a:solidFill>
                <a:srgbClr val="0000FF"/>
              </a:solidFill>
            </a:endParaRPr>
          </a:p>
        </p:txBody>
      </p:sp>
      <p:grpSp>
        <p:nvGrpSpPr>
          <p:cNvPr id="23" name="Group 22">
            <a:extLst>
              <a:ext uri="{FF2B5EF4-FFF2-40B4-BE49-F238E27FC236}">
                <a16:creationId xmlns:a16="http://schemas.microsoft.com/office/drawing/2014/main" id="{248798EF-FEA5-4451-9617-AB1FF6EAC9B9}"/>
              </a:ext>
            </a:extLst>
          </p:cNvPr>
          <p:cNvGrpSpPr/>
          <p:nvPr/>
        </p:nvGrpSpPr>
        <p:grpSpPr>
          <a:xfrm>
            <a:off x="116484" y="4097646"/>
            <a:ext cx="8773872" cy="829659"/>
            <a:chOff x="76199" y="3881966"/>
            <a:chExt cx="8773872" cy="829659"/>
          </a:xfrm>
        </p:grpSpPr>
        <p:sp>
          <p:nvSpPr>
            <p:cNvPr id="24" name="Rectangle 18">
              <a:extLst>
                <a:ext uri="{FF2B5EF4-FFF2-40B4-BE49-F238E27FC236}">
                  <a16:creationId xmlns:a16="http://schemas.microsoft.com/office/drawing/2014/main" id="{F961073A-8D09-4522-8C65-3FA4CFD6B4EF}"/>
                </a:ext>
              </a:extLst>
            </p:cNvPr>
            <p:cNvSpPr>
              <a:spLocks noChangeArrowheads="1"/>
            </p:cNvSpPr>
            <p:nvPr/>
          </p:nvSpPr>
          <p:spPr bwMode="auto">
            <a:xfrm>
              <a:off x="76199" y="3881966"/>
              <a:ext cx="8773872" cy="400110"/>
            </a:xfrm>
            <a:prstGeom prst="rect">
              <a:avLst/>
            </a:prstGeom>
            <a:solidFill>
              <a:schemeClr val="bg1">
                <a:lumMod val="95000"/>
              </a:schemeClr>
            </a:solidFill>
            <a:ln>
              <a:noFill/>
              <a:headEnd/>
              <a:tailEnd/>
            </a:ln>
            <a:extLst>
              <a:ext uri="{AF507438-7753-43e0-B8FC-AC1667EBCBE1}">
                <a14:hiddenEffects xmlns:a14="http://schemas.microsoft.com/office/drawing/2010/main" xmlns="">
                  <a:effectLst>
                    <a:outerShdw dist="35921" dir="2700000" algn="ctr" rotWithShape="0">
                      <a:schemeClr val="bg2"/>
                    </a:outerShdw>
                  </a:effectLst>
                </a14:hiddenEffects>
              </a:ext>
            </a:extLst>
          </p:spPr>
          <p:style>
            <a:lnRef idx="1">
              <a:schemeClr val="accent1"/>
            </a:lnRef>
            <a:fillRef idx="2">
              <a:schemeClr val="accent1"/>
            </a:fillRef>
            <a:effectRef idx="1">
              <a:schemeClr val="accent1"/>
            </a:effectRef>
            <a:fontRef idx="minor">
              <a:schemeClr val="dk1"/>
            </a:fontRef>
          </p:style>
          <p:txBody>
            <a:bodyPr wrap="square">
              <a:spAutoFit/>
            </a:bodyPr>
            <a:lstStyle/>
            <a:p>
              <a:r>
                <a:rPr lang="en-US" altLang="en-US" sz="2000" b="0" dirty="0"/>
                <a:t>Load Upper Immediate</a:t>
              </a:r>
              <a:r>
                <a:rPr lang="zh-CN" altLang="en-US" sz="2000" b="0" dirty="0"/>
                <a:t> 先加载常数的低</a:t>
              </a:r>
              <a:r>
                <a:rPr lang="en-US" altLang="zh-CN" sz="2000" b="0" dirty="0"/>
                <a:t>16</a:t>
              </a:r>
              <a:r>
                <a:rPr lang="zh-CN" altLang="en-US" sz="2000" dirty="0"/>
                <a:t>位</a:t>
              </a:r>
              <a:r>
                <a:rPr lang="zh-CN" altLang="en-US" sz="2000" b="0" dirty="0"/>
                <a:t>到寄存器的高</a:t>
              </a:r>
              <a:r>
                <a:rPr lang="en-US" altLang="zh-CN" sz="2000" b="0" dirty="0"/>
                <a:t>16</a:t>
              </a:r>
              <a:r>
                <a:rPr lang="zh-CN" altLang="en-US" sz="2000" b="0" dirty="0"/>
                <a:t>位，低</a:t>
              </a:r>
              <a:r>
                <a:rPr lang="en-US" altLang="zh-CN" sz="2000" b="0" dirty="0"/>
                <a:t>16</a:t>
              </a:r>
              <a:r>
                <a:rPr lang="zh-CN" altLang="en-US" sz="2000" b="0" dirty="0"/>
                <a:t>位置零</a:t>
              </a:r>
            </a:p>
          </p:txBody>
        </p:sp>
        <p:sp>
          <p:nvSpPr>
            <p:cNvPr id="25" name="Freeform 5">
              <a:extLst>
                <a:ext uri="{FF2B5EF4-FFF2-40B4-BE49-F238E27FC236}">
                  <a16:creationId xmlns:a16="http://schemas.microsoft.com/office/drawing/2014/main" id="{B3B39C9C-F7A5-450C-B8A6-F80326905D41}"/>
                </a:ext>
              </a:extLst>
            </p:cNvPr>
            <p:cNvSpPr/>
            <p:nvPr/>
          </p:nvSpPr>
          <p:spPr>
            <a:xfrm>
              <a:off x="213359" y="4334435"/>
              <a:ext cx="205740" cy="377190"/>
            </a:xfrm>
            <a:custGeom>
              <a:avLst/>
              <a:gdLst>
                <a:gd name="connsiteX0" fmla="*/ 205740 w 205740"/>
                <a:gd name="connsiteY0" fmla="*/ 377190 h 377190"/>
                <a:gd name="connsiteX1" fmla="*/ 0 w 205740"/>
                <a:gd name="connsiteY1" fmla="*/ 377190 h 377190"/>
                <a:gd name="connsiteX2" fmla="*/ 0 w 205740"/>
                <a:gd name="connsiteY2" fmla="*/ 0 h 377190"/>
              </a:gdLst>
              <a:ahLst/>
              <a:cxnLst>
                <a:cxn ang="0">
                  <a:pos x="connsiteX0" y="connsiteY0"/>
                </a:cxn>
                <a:cxn ang="0">
                  <a:pos x="connsiteX1" y="connsiteY1"/>
                </a:cxn>
                <a:cxn ang="0">
                  <a:pos x="connsiteX2" y="connsiteY2"/>
                </a:cxn>
              </a:cxnLst>
              <a:rect l="l" t="t" r="r" b="b"/>
              <a:pathLst>
                <a:path w="205740" h="377190">
                  <a:moveTo>
                    <a:pt x="205740" y="377190"/>
                  </a:moveTo>
                  <a:lnTo>
                    <a:pt x="0" y="377190"/>
                  </a:lnTo>
                  <a:lnTo>
                    <a:pt x="0" y="0"/>
                  </a:lnTo>
                </a:path>
              </a:pathLst>
            </a:custGeom>
            <a:noFill/>
            <a:ln>
              <a:tailEnd type="triangle"/>
            </a:ln>
          </p:spPr>
          <p:style>
            <a:lnRef idx="2">
              <a:schemeClr val="dk1"/>
            </a:lnRef>
            <a:fillRef idx="1">
              <a:schemeClr val="lt1"/>
            </a:fillRef>
            <a:effectRef idx="0">
              <a:schemeClr val="dk1"/>
            </a:effectRef>
            <a:fontRef idx="minor">
              <a:schemeClr val="dk1"/>
            </a:fontRef>
          </p:style>
          <p:txBody>
            <a:bodyPr rtlCol="0" anchor="ctr"/>
            <a:lstStyle/>
            <a:p>
              <a:pPr algn="ctr"/>
              <a:endParaRPr lang="en-CN"/>
            </a:p>
          </p:txBody>
        </p:sp>
      </p:grpSp>
      <p:grpSp>
        <p:nvGrpSpPr>
          <p:cNvPr id="29" name="Group 28">
            <a:extLst>
              <a:ext uri="{FF2B5EF4-FFF2-40B4-BE49-F238E27FC236}">
                <a16:creationId xmlns:a16="http://schemas.microsoft.com/office/drawing/2014/main" id="{D4CF405E-A92B-43FD-9108-3E506EC6D0F7}"/>
              </a:ext>
            </a:extLst>
          </p:cNvPr>
          <p:cNvGrpSpPr/>
          <p:nvPr/>
        </p:nvGrpSpPr>
        <p:grpSpPr>
          <a:xfrm>
            <a:off x="116484" y="5237404"/>
            <a:ext cx="2056873" cy="814077"/>
            <a:chOff x="76199" y="5021724"/>
            <a:chExt cx="2056873" cy="814077"/>
          </a:xfrm>
        </p:grpSpPr>
        <p:sp>
          <p:nvSpPr>
            <p:cNvPr id="33" name="Rectangle 18">
              <a:extLst>
                <a:ext uri="{FF2B5EF4-FFF2-40B4-BE49-F238E27FC236}">
                  <a16:creationId xmlns:a16="http://schemas.microsoft.com/office/drawing/2014/main" id="{0124A3CD-B0D6-4A7D-97A7-C7783BADB27F}"/>
                </a:ext>
              </a:extLst>
            </p:cNvPr>
            <p:cNvSpPr>
              <a:spLocks noChangeArrowheads="1"/>
            </p:cNvSpPr>
            <p:nvPr/>
          </p:nvSpPr>
          <p:spPr bwMode="auto">
            <a:xfrm>
              <a:off x="76199" y="5435691"/>
              <a:ext cx="2056873" cy="400110"/>
            </a:xfrm>
            <a:prstGeom prst="rect">
              <a:avLst/>
            </a:prstGeom>
            <a:solidFill>
              <a:schemeClr val="bg1">
                <a:lumMod val="95000"/>
              </a:schemeClr>
            </a:solidFill>
            <a:ln>
              <a:noFill/>
              <a:headEnd/>
              <a:tailEnd/>
            </a:ln>
            <a:extLst>
              <a:ext uri="{AF507438-7753-43e0-B8FC-AC1667EBCBE1}">
                <a14:hiddenEffects xmlns:a14="http://schemas.microsoft.com/office/drawing/2010/main" xmlns="">
                  <a:effectLst>
                    <a:outerShdw dist="35921" dir="2700000" algn="ctr" rotWithShape="0">
                      <a:schemeClr val="bg2"/>
                    </a:outerShdw>
                  </a:effectLst>
                </a14:hiddenEffects>
              </a:ext>
            </a:extLst>
          </p:spPr>
          <p:style>
            <a:lnRef idx="1">
              <a:schemeClr val="accent1"/>
            </a:lnRef>
            <a:fillRef idx="2">
              <a:schemeClr val="accent1"/>
            </a:fillRef>
            <a:effectRef idx="1">
              <a:schemeClr val="accent1"/>
            </a:effectRef>
            <a:fontRef idx="minor">
              <a:schemeClr val="dk1"/>
            </a:fontRef>
          </p:style>
          <p:txBody>
            <a:bodyPr wrap="square">
              <a:spAutoFit/>
            </a:bodyPr>
            <a:lstStyle/>
            <a:p>
              <a:r>
                <a:rPr lang="zh-CN" altLang="en-US" sz="2000" b="0" dirty="0"/>
                <a:t>再与低</a:t>
              </a:r>
              <a:r>
                <a:rPr lang="en-US" altLang="zh-CN" sz="2000" b="0" dirty="0"/>
                <a:t>16</a:t>
              </a:r>
              <a:r>
                <a:rPr lang="zh-CN" altLang="en-US" sz="2000" b="0" dirty="0"/>
                <a:t>位相加</a:t>
              </a:r>
            </a:p>
          </p:txBody>
        </p:sp>
        <p:sp>
          <p:nvSpPr>
            <p:cNvPr id="34" name="Freeform 18">
              <a:extLst>
                <a:ext uri="{FF2B5EF4-FFF2-40B4-BE49-F238E27FC236}">
                  <a16:creationId xmlns:a16="http://schemas.microsoft.com/office/drawing/2014/main" id="{D81B077F-4895-44F8-855C-745215EB3B4F}"/>
                </a:ext>
              </a:extLst>
            </p:cNvPr>
            <p:cNvSpPr/>
            <p:nvPr/>
          </p:nvSpPr>
          <p:spPr>
            <a:xfrm flipV="1">
              <a:off x="213359" y="5021724"/>
              <a:ext cx="205740" cy="377190"/>
            </a:xfrm>
            <a:custGeom>
              <a:avLst/>
              <a:gdLst>
                <a:gd name="connsiteX0" fmla="*/ 205740 w 205740"/>
                <a:gd name="connsiteY0" fmla="*/ 377190 h 377190"/>
                <a:gd name="connsiteX1" fmla="*/ 0 w 205740"/>
                <a:gd name="connsiteY1" fmla="*/ 377190 h 377190"/>
                <a:gd name="connsiteX2" fmla="*/ 0 w 205740"/>
                <a:gd name="connsiteY2" fmla="*/ 0 h 377190"/>
              </a:gdLst>
              <a:ahLst/>
              <a:cxnLst>
                <a:cxn ang="0">
                  <a:pos x="connsiteX0" y="connsiteY0"/>
                </a:cxn>
                <a:cxn ang="0">
                  <a:pos x="connsiteX1" y="connsiteY1"/>
                </a:cxn>
                <a:cxn ang="0">
                  <a:pos x="connsiteX2" y="connsiteY2"/>
                </a:cxn>
              </a:cxnLst>
              <a:rect l="l" t="t" r="r" b="b"/>
              <a:pathLst>
                <a:path w="205740" h="377190">
                  <a:moveTo>
                    <a:pt x="205740" y="377190"/>
                  </a:moveTo>
                  <a:lnTo>
                    <a:pt x="0" y="377190"/>
                  </a:lnTo>
                  <a:lnTo>
                    <a:pt x="0" y="0"/>
                  </a:lnTo>
                </a:path>
              </a:pathLst>
            </a:custGeom>
            <a:noFill/>
            <a:ln>
              <a:tailEnd type="triangle"/>
            </a:ln>
          </p:spPr>
          <p:style>
            <a:lnRef idx="2">
              <a:schemeClr val="dk1"/>
            </a:lnRef>
            <a:fillRef idx="1">
              <a:schemeClr val="lt1"/>
            </a:fillRef>
            <a:effectRef idx="0">
              <a:schemeClr val="dk1"/>
            </a:effectRef>
            <a:fontRef idx="minor">
              <a:schemeClr val="dk1"/>
            </a:fontRef>
          </p:style>
          <p:txBody>
            <a:bodyPr rtlCol="0" anchor="ctr"/>
            <a:lstStyle/>
            <a:p>
              <a:pPr algn="ctr"/>
              <a:endParaRPr lang="en-CN"/>
            </a:p>
          </p:txBody>
        </p:sp>
      </p:grpSp>
      <p:sp>
        <p:nvSpPr>
          <p:cNvPr id="7" name="Title 4">
            <a:extLst>
              <a:ext uri="{FF2B5EF4-FFF2-40B4-BE49-F238E27FC236}">
                <a16:creationId xmlns:a16="http://schemas.microsoft.com/office/drawing/2014/main" id="{6D16597A-066D-7820-C628-076AFBEBB4F4}"/>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kumimoji="1" lang="zh-CN" altLang="en-US" dirty="0"/>
              <a:t>立即数寻址</a:t>
            </a:r>
            <a:endParaRPr lang="en-CN" kern="0" dirty="0"/>
          </a:p>
        </p:txBody>
      </p:sp>
    </p:spTree>
    <p:extLst>
      <p:ext uri="{BB962C8B-B14F-4D97-AF65-F5344CB8AC3E}">
        <p14:creationId xmlns:p14="http://schemas.microsoft.com/office/powerpoint/2010/main" val="2475396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1771119E-678F-454A-8D6E-A9508C663463}"/>
              </a:ext>
            </a:extLst>
          </p:cNvPr>
          <p:cNvSpPr>
            <a:spLocks noGrp="1"/>
          </p:cNvSpPr>
          <p:nvPr>
            <p:ph type="sldNum" sz="quarter" idx="12"/>
          </p:nvPr>
        </p:nvSpPr>
        <p:spPr/>
        <p:txBody>
          <a:bodyPr/>
          <a:lstStyle/>
          <a:p>
            <a:fld id="{14659731-6BD7-46E7-8D3C-2F3AC07E20B1}" type="slidenum">
              <a:rPr lang="en-US" altLang="zh-CN" smtClean="0"/>
              <a:pPr/>
              <a:t>57</a:t>
            </a:fld>
            <a:endParaRPr lang="en-US" altLang="zh-CN"/>
          </a:p>
        </p:txBody>
      </p:sp>
      <p:sp>
        <p:nvSpPr>
          <p:cNvPr id="3" name="内容占位符 2">
            <a:extLst>
              <a:ext uri="{FF2B5EF4-FFF2-40B4-BE49-F238E27FC236}">
                <a16:creationId xmlns:a16="http://schemas.microsoft.com/office/drawing/2014/main" id="{255A5B7B-E0D7-6E44-8E20-DAB8735F55FC}"/>
              </a:ext>
            </a:extLst>
          </p:cNvPr>
          <p:cNvSpPr>
            <a:spLocks noGrp="1"/>
          </p:cNvSpPr>
          <p:nvPr>
            <p:ph idx="4294967295"/>
          </p:nvPr>
        </p:nvSpPr>
        <p:spPr>
          <a:xfrm>
            <a:off x="475508" y="1311822"/>
            <a:ext cx="7886700" cy="4351338"/>
          </a:xfrm>
        </p:spPr>
        <p:txBody>
          <a:bodyPr/>
          <a:lstStyle/>
          <a:p>
            <a:r>
              <a:rPr kumimoji="1" lang="zh-CN" altLang="en-US" sz="2800" dirty="0"/>
              <a:t>目标地址 </a:t>
            </a:r>
            <a:r>
              <a:rPr kumimoji="1" lang="en-US" altLang="zh-CN" sz="2800" dirty="0"/>
              <a:t>=</a:t>
            </a:r>
            <a:r>
              <a:rPr kumimoji="1" lang="zh-CN" altLang="en-US" sz="2800" dirty="0"/>
              <a:t> 基址（存储于寄存器中）</a:t>
            </a:r>
            <a:r>
              <a:rPr kumimoji="1" lang="en-US" altLang="zh-CN" sz="2800" dirty="0"/>
              <a:t>+ </a:t>
            </a:r>
            <a:r>
              <a:rPr kumimoji="1" lang="zh-CN" altLang="en-US" sz="2800" dirty="0"/>
              <a:t>立即数</a:t>
            </a:r>
            <a:endParaRPr kumimoji="1" lang="en-US" altLang="zh-CN" sz="2800" dirty="0"/>
          </a:p>
        </p:txBody>
      </p:sp>
      <p:pic>
        <p:nvPicPr>
          <p:cNvPr id="15" name="Picture 3" descr="F0317">
            <a:extLst>
              <a:ext uri="{FF2B5EF4-FFF2-40B4-BE49-F238E27FC236}">
                <a16:creationId xmlns:a16="http://schemas.microsoft.com/office/drawing/2014/main" id="{33117B6B-3F6C-D947-839F-1B72EED390C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1394" b="48979"/>
          <a:stretch/>
        </p:blipFill>
        <p:spPr bwMode="auto">
          <a:xfrm>
            <a:off x="76200" y="4293096"/>
            <a:ext cx="8991600" cy="16570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 name="矩形 8">
            <a:extLst>
              <a:ext uri="{FF2B5EF4-FFF2-40B4-BE49-F238E27FC236}">
                <a16:creationId xmlns:a16="http://schemas.microsoft.com/office/drawing/2014/main" id="{72774AE8-C941-7F42-98BD-E3F3B59EE975}"/>
              </a:ext>
            </a:extLst>
          </p:cNvPr>
          <p:cNvSpPr/>
          <p:nvPr/>
        </p:nvSpPr>
        <p:spPr>
          <a:xfrm>
            <a:off x="45720" y="3720887"/>
            <a:ext cx="175459" cy="2845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Text Box 24">
            <a:extLst>
              <a:ext uri="{FF2B5EF4-FFF2-40B4-BE49-F238E27FC236}">
                <a16:creationId xmlns:a16="http://schemas.microsoft.com/office/drawing/2014/main" id="{84401C47-91EC-B943-8D43-799081C036DC}"/>
              </a:ext>
            </a:extLst>
          </p:cNvPr>
          <p:cNvSpPr txBox="1">
            <a:spLocks noChangeArrowheads="1"/>
          </p:cNvSpPr>
          <p:nvPr/>
        </p:nvSpPr>
        <p:spPr bwMode="auto">
          <a:xfrm>
            <a:off x="1123208" y="3046363"/>
            <a:ext cx="723900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FF0000"/>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eaLnBrk="1" hangingPunct="1"/>
            <a:r>
              <a:rPr lang="en-US" altLang="zh-CN" sz="2400" b="0" i="1" dirty="0">
                <a:latin typeface="Consolas" panose="020B0609020204030204" pitchFamily="49" charset="0"/>
                <a:cs typeface="Consolas" panose="020B0609020204030204" pitchFamily="49" charset="0"/>
              </a:rPr>
              <a:t>lw $t0, 8($s0)</a:t>
            </a:r>
            <a:r>
              <a:rPr lang="en-US" altLang="zh-CN" sz="2400" b="0" dirty="0">
                <a:latin typeface="Consolas" panose="020B0609020204030204" pitchFamily="49" charset="0"/>
                <a:cs typeface="Consolas" panose="020B0609020204030204" pitchFamily="49" charset="0"/>
              </a:rPr>
              <a:t>   </a:t>
            </a:r>
            <a:r>
              <a:rPr lang="en-US" altLang="zh-CN" sz="2400" dirty="0">
                <a:solidFill>
                  <a:srgbClr val="0000FF"/>
                </a:solidFill>
                <a:latin typeface="Consolas" panose="020B0609020204030204" pitchFamily="49" charset="0"/>
                <a:ea typeface="+mj-ea"/>
                <a:cs typeface="Consolas" panose="020B0609020204030204" pitchFamily="49" charset="0"/>
              </a:rPr>
              <a:t>#$s0</a:t>
            </a:r>
            <a:r>
              <a:rPr lang="zh-CN" altLang="en-US" sz="2400" dirty="0">
                <a:solidFill>
                  <a:srgbClr val="0000FF"/>
                </a:solidFill>
                <a:latin typeface="Consolas" panose="020B0609020204030204" pitchFamily="49" charset="0"/>
                <a:ea typeface="+mj-ea"/>
                <a:cs typeface="Consolas" panose="020B0609020204030204" pitchFamily="49" charset="0"/>
              </a:rPr>
              <a:t>中装的是存储器中的地址</a:t>
            </a:r>
          </a:p>
        </p:txBody>
      </p:sp>
      <p:sp>
        <p:nvSpPr>
          <p:cNvPr id="17" name="文本框 16">
            <a:extLst>
              <a:ext uri="{FF2B5EF4-FFF2-40B4-BE49-F238E27FC236}">
                <a16:creationId xmlns:a16="http://schemas.microsoft.com/office/drawing/2014/main" id="{48819C21-CC21-2B49-8CED-03B76920FD1E}"/>
              </a:ext>
            </a:extLst>
          </p:cNvPr>
          <p:cNvSpPr txBox="1"/>
          <p:nvPr/>
        </p:nvSpPr>
        <p:spPr>
          <a:xfrm>
            <a:off x="2455931" y="2571627"/>
            <a:ext cx="1599233" cy="461665"/>
          </a:xfrm>
          <a:prstGeom prst="rect">
            <a:avLst/>
          </a:prstGeom>
          <a:noFill/>
        </p:spPr>
        <p:txBody>
          <a:bodyPr wrap="square" rtlCol="0">
            <a:spAutoFit/>
          </a:bodyPr>
          <a:lstStyle/>
          <a:p>
            <a:r>
              <a:rPr kumimoji="1" lang="en-US" altLang="zh-CN" sz="2400" b="1" dirty="0">
                <a:solidFill>
                  <a:srgbClr val="0432FF"/>
                </a:solidFill>
                <a:latin typeface="+mn-lt"/>
                <a:ea typeface="+mj-ea"/>
              </a:rPr>
              <a:t>$s0:</a:t>
            </a:r>
            <a:r>
              <a:rPr kumimoji="1" lang="zh-CN" altLang="en-US" sz="2400" b="1" dirty="0">
                <a:solidFill>
                  <a:srgbClr val="0432FF"/>
                </a:solidFill>
                <a:latin typeface="+mn-lt"/>
                <a:ea typeface="+mj-ea"/>
              </a:rPr>
              <a:t>基址</a:t>
            </a:r>
          </a:p>
        </p:txBody>
      </p:sp>
      <p:sp>
        <p:nvSpPr>
          <p:cNvPr id="18" name="文本框 17">
            <a:extLst>
              <a:ext uri="{FF2B5EF4-FFF2-40B4-BE49-F238E27FC236}">
                <a16:creationId xmlns:a16="http://schemas.microsoft.com/office/drawing/2014/main" id="{8C45088C-FCB4-F84B-AF89-13065AC4A478}"/>
              </a:ext>
            </a:extLst>
          </p:cNvPr>
          <p:cNvSpPr txBox="1"/>
          <p:nvPr/>
        </p:nvSpPr>
        <p:spPr>
          <a:xfrm>
            <a:off x="1040160" y="2571627"/>
            <a:ext cx="1415772" cy="461665"/>
          </a:xfrm>
          <a:prstGeom prst="rect">
            <a:avLst/>
          </a:prstGeom>
          <a:noFill/>
        </p:spPr>
        <p:txBody>
          <a:bodyPr wrap="square" rtlCol="0">
            <a:spAutoFit/>
          </a:bodyPr>
          <a:lstStyle/>
          <a:p>
            <a:r>
              <a:rPr kumimoji="1" lang="en-US" altLang="zh-CN" sz="2400" b="1" dirty="0">
                <a:solidFill>
                  <a:srgbClr val="0432FF"/>
                </a:solidFill>
                <a:latin typeface="+mn-lt"/>
                <a:ea typeface="+mj-ea"/>
              </a:rPr>
              <a:t>8:</a:t>
            </a:r>
            <a:r>
              <a:rPr kumimoji="1" lang="zh-CN" altLang="en-US" sz="2400" b="1" dirty="0">
                <a:solidFill>
                  <a:srgbClr val="0432FF"/>
                </a:solidFill>
                <a:latin typeface="+mn-lt"/>
                <a:ea typeface="+mj-ea"/>
              </a:rPr>
              <a:t>偏移量</a:t>
            </a:r>
          </a:p>
        </p:txBody>
      </p:sp>
      <p:sp>
        <p:nvSpPr>
          <p:cNvPr id="5" name="Title 4">
            <a:extLst>
              <a:ext uri="{FF2B5EF4-FFF2-40B4-BE49-F238E27FC236}">
                <a16:creationId xmlns:a16="http://schemas.microsoft.com/office/drawing/2014/main" id="{31AE26A1-2940-13A5-4CF6-960347450C93}"/>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kumimoji="1" lang="zh-CN" altLang="en-US" dirty="0"/>
              <a:t>基址</a:t>
            </a:r>
            <a:r>
              <a:rPr kumimoji="1" lang="en-US" altLang="zh-CN" dirty="0"/>
              <a:t>-</a:t>
            </a:r>
            <a:r>
              <a:rPr kumimoji="1" lang="zh-CN" altLang="en-US" dirty="0"/>
              <a:t>偏移寻址</a:t>
            </a:r>
            <a:endParaRPr lang="en-CN" kern="0" dirty="0"/>
          </a:p>
        </p:txBody>
      </p:sp>
    </p:spTree>
    <p:extLst>
      <p:ext uri="{BB962C8B-B14F-4D97-AF65-F5344CB8AC3E}">
        <p14:creationId xmlns:p14="http://schemas.microsoft.com/office/powerpoint/2010/main" val="24544424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1771119E-678F-454A-8D6E-A9508C663463}"/>
              </a:ext>
            </a:extLst>
          </p:cNvPr>
          <p:cNvSpPr>
            <a:spLocks noGrp="1"/>
          </p:cNvSpPr>
          <p:nvPr>
            <p:ph type="sldNum" sz="quarter" idx="12"/>
          </p:nvPr>
        </p:nvSpPr>
        <p:spPr/>
        <p:txBody>
          <a:bodyPr/>
          <a:lstStyle/>
          <a:p>
            <a:fld id="{14659731-6BD7-46E7-8D3C-2F3AC07E20B1}" type="slidenum">
              <a:rPr lang="en-US" altLang="zh-CN" smtClean="0"/>
              <a:pPr/>
              <a:t>58</a:t>
            </a:fld>
            <a:endParaRPr lang="en-US" altLang="zh-CN"/>
          </a:p>
        </p:txBody>
      </p:sp>
      <p:sp>
        <p:nvSpPr>
          <p:cNvPr id="3" name="内容占位符 2">
            <a:extLst>
              <a:ext uri="{FF2B5EF4-FFF2-40B4-BE49-F238E27FC236}">
                <a16:creationId xmlns:a16="http://schemas.microsoft.com/office/drawing/2014/main" id="{255A5B7B-E0D7-6E44-8E20-DAB8735F55FC}"/>
              </a:ext>
            </a:extLst>
          </p:cNvPr>
          <p:cNvSpPr>
            <a:spLocks noGrp="1"/>
          </p:cNvSpPr>
          <p:nvPr>
            <p:ph idx="4294967295"/>
          </p:nvPr>
        </p:nvSpPr>
        <p:spPr>
          <a:xfrm>
            <a:off x="457200" y="1335825"/>
            <a:ext cx="8388298" cy="2765774"/>
          </a:xfrm>
        </p:spPr>
        <p:txBody>
          <a:bodyPr/>
          <a:lstStyle/>
          <a:p>
            <a:r>
              <a:rPr kumimoji="1" lang="en-US" altLang="zh-CN" sz="2800" dirty="0"/>
              <a:t>PC</a:t>
            </a:r>
            <a:r>
              <a:rPr kumimoji="1" lang="zh-CN" altLang="en-US" sz="2800" dirty="0"/>
              <a:t> </a:t>
            </a:r>
            <a:r>
              <a:rPr kumimoji="1" lang="en-US" altLang="zh-CN" sz="2800" dirty="0"/>
              <a:t>+ </a:t>
            </a:r>
            <a:r>
              <a:rPr kumimoji="1" lang="zh-CN" altLang="en-US" sz="2800" dirty="0"/>
              <a:t>立即数</a:t>
            </a:r>
            <a:endParaRPr kumimoji="1" lang="en-US" altLang="zh-CN" sz="2800" dirty="0"/>
          </a:p>
          <a:p>
            <a:r>
              <a:rPr kumimoji="1" lang="zh-CN" altLang="en-US" sz="2800" dirty="0"/>
              <a:t>通常相对于</a:t>
            </a:r>
            <a:r>
              <a:rPr kumimoji="1" lang="en-US" altLang="zh-CN" sz="2800" dirty="0"/>
              <a:t>PC+4</a:t>
            </a:r>
            <a:r>
              <a:rPr kumimoji="1" lang="zh-CN" altLang="en-US" sz="2800" dirty="0"/>
              <a:t>（单位：</a:t>
            </a:r>
            <a:r>
              <a:rPr kumimoji="1" lang="zh-CN" altLang="en-US" sz="2800" b="1" dirty="0">
                <a:solidFill>
                  <a:srgbClr val="0432FF"/>
                </a:solidFill>
              </a:rPr>
              <a:t>字节</a:t>
            </a:r>
            <a:r>
              <a:rPr kumimoji="1" lang="zh-CN" altLang="en-US" sz="2800" dirty="0"/>
              <a:t>）</a:t>
            </a:r>
            <a:endParaRPr kumimoji="1" lang="en-US" altLang="zh-CN" sz="2800" dirty="0"/>
          </a:p>
          <a:p>
            <a:r>
              <a:rPr kumimoji="1" lang="zh-CN" altLang="en-US" sz="2800" dirty="0"/>
              <a:t>如分支指令的</a:t>
            </a:r>
            <a:r>
              <a:rPr kumimoji="1" lang="en-US" altLang="zh-CN" sz="2800" dirty="0"/>
              <a:t>16b</a:t>
            </a:r>
            <a:r>
              <a:rPr kumimoji="1" lang="zh-CN" altLang="en-US" sz="2800" dirty="0"/>
              <a:t>立即数字段可访问</a:t>
            </a:r>
            <a:r>
              <a:rPr lang="en-US" altLang="zh-CN" sz="2800" b="1" dirty="0">
                <a:solidFill>
                  <a:srgbClr val="0432FF"/>
                </a:solidFill>
              </a:rPr>
              <a:t>2</a:t>
            </a:r>
            <a:r>
              <a:rPr lang="en-US" altLang="zh-CN" sz="2800" b="1" baseline="30000" dirty="0">
                <a:solidFill>
                  <a:srgbClr val="0432FF"/>
                </a:solidFill>
              </a:rPr>
              <a:t>16</a:t>
            </a:r>
            <a:r>
              <a:rPr lang="zh-CN" altLang="en-US" sz="2800" dirty="0"/>
              <a:t>个不同地址的指令，</a:t>
            </a:r>
            <a:r>
              <a:rPr lang="zh-CN" altLang="en-US" sz="2800" u="sng" dirty="0"/>
              <a:t>对应</a:t>
            </a:r>
            <a:r>
              <a:rPr lang="en-US" altLang="zh-CN" sz="2800" u="sng" dirty="0">
                <a:solidFill>
                  <a:srgbClr val="0432FF"/>
                </a:solidFill>
              </a:rPr>
              <a:t>2</a:t>
            </a:r>
            <a:r>
              <a:rPr lang="en-US" altLang="zh-CN" sz="2800" u="sng" baseline="30000" dirty="0">
                <a:solidFill>
                  <a:srgbClr val="0432FF"/>
                </a:solidFill>
              </a:rPr>
              <a:t>18</a:t>
            </a:r>
            <a:r>
              <a:rPr lang="zh-CN" altLang="en-US" sz="2800" u="sng" dirty="0"/>
              <a:t>地址范围（单位：字节）</a:t>
            </a:r>
            <a:endParaRPr kumimoji="1" lang="en-US" altLang="zh-CN" sz="2800" u="sng" dirty="0"/>
          </a:p>
          <a:p>
            <a:r>
              <a:rPr kumimoji="1" lang="zh-CN" altLang="en-US" sz="2800" dirty="0"/>
              <a:t>分支的目标地址：</a:t>
            </a:r>
            <a:r>
              <a:rPr kumimoji="1" lang="en-US" altLang="zh-CN" sz="2800" dirty="0"/>
              <a:t>PC_new</a:t>
            </a:r>
            <a:r>
              <a:rPr kumimoji="1" lang="zh-CN" altLang="en-US" sz="2800" dirty="0"/>
              <a:t> </a:t>
            </a:r>
            <a:r>
              <a:rPr kumimoji="1" lang="en-US" altLang="zh-CN" sz="2800" dirty="0"/>
              <a:t>=</a:t>
            </a:r>
            <a:r>
              <a:rPr kumimoji="1" lang="zh-CN" altLang="en-US" sz="2800" dirty="0"/>
              <a:t> </a:t>
            </a:r>
            <a:r>
              <a:rPr kumimoji="1" lang="en-US" altLang="zh-CN" sz="2800" i="1" u="sng" dirty="0"/>
              <a:t>PC + 4</a:t>
            </a:r>
            <a:r>
              <a:rPr kumimoji="1" lang="zh-CN" altLang="en-US" sz="2800" i="1" u="sng" dirty="0"/>
              <a:t> </a:t>
            </a:r>
            <a:r>
              <a:rPr kumimoji="1" lang="en-US" altLang="zh-CN" sz="2800" dirty="0"/>
              <a:t>+</a:t>
            </a:r>
            <a:r>
              <a:rPr kumimoji="1" lang="zh-CN" altLang="en-US" sz="2800" dirty="0"/>
              <a:t> </a:t>
            </a:r>
            <a:r>
              <a:rPr kumimoji="1" lang="en-US" altLang="zh-CN" sz="2800" dirty="0"/>
              <a:t>(</a:t>
            </a:r>
            <a:r>
              <a:rPr kumimoji="1" lang="en-US" altLang="zh-CN" sz="2800" dirty="0">
                <a:solidFill>
                  <a:srgbClr val="0432FF"/>
                </a:solidFill>
              </a:rPr>
              <a:t>addr&lt;&lt;2</a:t>
            </a:r>
            <a:r>
              <a:rPr kumimoji="1" lang="en-US" altLang="zh-CN" sz="2800" dirty="0"/>
              <a:t>)</a:t>
            </a:r>
          </a:p>
        </p:txBody>
      </p:sp>
      <p:sp>
        <p:nvSpPr>
          <p:cNvPr id="9" name="矩形 8">
            <a:extLst>
              <a:ext uri="{FF2B5EF4-FFF2-40B4-BE49-F238E27FC236}">
                <a16:creationId xmlns:a16="http://schemas.microsoft.com/office/drawing/2014/main" id="{72774AE8-C941-7F42-98BD-E3F3B59EE975}"/>
              </a:ext>
            </a:extLst>
          </p:cNvPr>
          <p:cNvSpPr/>
          <p:nvPr/>
        </p:nvSpPr>
        <p:spPr>
          <a:xfrm>
            <a:off x="45720" y="3720887"/>
            <a:ext cx="175459" cy="2845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10" name="Picture 27" descr="F0317">
            <a:extLst>
              <a:ext uri="{FF2B5EF4-FFF2-40B4-BE49-F238E27FC236}">
                <a16:creationId xmlns:a16="http://schemas.microsoft.com/office/drawing/2014/main" id="{08854767-E814-A64E-BCA9-347FD09A084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8185" b="24490"/>
          <a:stretch/>
        </p:blipFill>
        <p:spPr bwMode="auto">
          <a:xfrm>
            <a:off x="615898" y="4812030"/>
            <a:ext cx="8229600" cy="13367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1" name="文本框 10">
            <a:extLst>
              <a:ext uri="{FF2B5EF4-FFF2-40B4-BE49-F238E27FC236}">
                <a16:creationId xmlns:a16="http://schemas.microsoft.com/office/drawing/2014/main" id="{27F518AA-2D64-5544-A65B-D7F78A77D8E5}"/>
              </a:ext>
            </a:extLst>
          </p:cNvPr>
          <p:cNvSpPr txBox="1"/>
          <p:nvPr/>
        </p:nvSpPr>
        <p:spPr>
          <a:xfrm>
            <a:off x="2174417" y="4309761"/>
            <a:ext cx="3188693" cy="461665"/>
          </a:xfrm>
          <a:prstGeom prst="rect">
            <a:avLst/>
          </a:prstGeom>
          <a:noFill/>
        </p:spPr>
        <p:txBody>
          <a:bodyPr wrap="none" rtlCol="0">
            <a:spAutoFit/>
          </a:bodyPr>
          <a:lstStyle/>
          <a:p>
            <a:r>
              <a:rPr kumimoji="1" lang="en-US" altLang="zh-CN" sz="2400" b="1" dirty="0">
                <a:solidFill>
                  <a:srgbClr val="0432FF"/>
                </a:solidFill>
                <a:latin typeface="+mn-lt"/>
                <a:ea typeface="+mj-ea"/>
              </a:rPr>
              <a:t>16</a:t>
            </a:r>
            <a:r>
              <a:rPr kumimoji="1" lang="zh-CN" altLang="en-US" sz="2400" b="1" dirty="0">
                <a:solidFill>
                  <a:srgbClr val="0432FF"/>
                </a:solidFill>
                <a:latin typeface="+mn-lt"/>
                <a:ea typeface="+mj-ea"/>
              </a:rPr>
              <a:t>位</a:t>
            </a:r>
            <a:r>
              <a:rPr kumimoji="1" lang="en-US" altLang="zh-CN" sz="2400" b="1" dirty="0">
                <a:solidFill>
                  <a:srgbClr val="0432FF"/>
                </a:solidFill>
                <a:latin typeface="+mn-lt"/>
                <a:ea typeface="+mj-ea"/>
              </a:rPr>
              <a:t>Address</a:t>
            </a:r>
            <a:r>
              <a:rPr kumimoji="1" lang="zh-CN" altLang="en-US" sz="2400" b="1" dirty="0">
                <a:solidFill>
                  <a:srgbClr val="0432FF"/>
                </a:solidFill>
                <a:latin typeface="+mn-lt"/>
                <a:ea typeface="+mj-ea"/>
              </a:rPr>
              <a:t>左移</a:t>
            </a:r>
            <a:r>
              <a:rPr kumimoji="1" lang="en-US" altLang="zh-CN" sz="2400" b="1" dirty="0">
                <a:solidFill>
                  <a:srgbClr val="0432FF"/>
                </a:solidFill>
                <a:latin typeface="+mn-lt"/>
                <a:ea typeface="+mj-ea"/>
              </a:rPr>
              <a:t>2</a:t>
            </a:r>
            <a:r>
              <a:rPr kumimoji="1" lang="zh-CN" altLang="en-US" sz="2400" b="1" dirty="0">
                <a:solidFill>
                  <a:srgbClr val="0432FF"/>
                </a:solidFill>
                <a:latin typeface="+mn-lt"/>
                <a:ea typeface="+mj-ea"/>
              </a:rPr>
              <a:t>位</a:t>
            </a:r>
          </a:p>
        </p:txBody>
      </p:sp>
      <p:sp>
        <p:nvSpPr>
          <p:cNvPr id="12" name="文本框 11">
            <a:extLst>
              <a:ext uri="{FF2B5EF4-FFF2-40B4-BE49-F238E27FC236}">
                <a16:creationId xmlns:a16="http://schemas.microsoft.com/office/drawing/2014/main" id="{C7767E52-A912-F240-84DC-B7A89CD94583}"/>
              </a:ext>
            </a:extLst>
          </p:cNvPr>
          <p:cNvSpPr txBox="1"/>
          <p:nvPr/>
        </p:nvSpPr>
        <p:spPr>
          <a:xfrm>
            <a:off x="133449" y="5902917"/>
            <a:ext cx="5476179" cy="461665"/>
          </a:xfrm>
          <a:prstGeom prst="rect">
            <a:avLst/>
          </a:prstGeom>
          <a:noFill/>
        </p:spPr>
        <p:txBody>
          <a:bodyPr wrap="none" rtlCol="0">
            <a:spAutoFit/>
          </a:bodyPr>
          <a:lstStyle/>
          <a:p>
            <a:r>
              <a:rPr kumimoji="1" lang="en-US" altLang="zh-CN" sz="2400" b="1" dirty="0">
                <a:solidFill>
                  <a:srgbClr val="0432FF"/>
                </a:solidFill>
                <a:latin typeface="+mn-lt"/>
                <a:ea typeface="+mj-ea"/>
              </a:rPr>
              <a:t>PC</a:t>
            </a:r>
            <a:r>
              <a:rPr kumimoji="1" lang="zh-CN" altLang="en-US" sz="2400" b="1" dirty="0">
                <a:solidFill>
                  <a:srgbClr val="0432FF"/>
                </a:solidFill>
                <a:latin typeface="+mn-lt"/>
                <a:ea typeface="+mj-ea"/>
              </a:rPr>
              <a:t>记录下一条指令的地址（即</a:t>
            </a:r>
            <a:r>
              <a:rPr kumimoji="1" lang="en-US" altLang="zh-CN" sz="2400" b="1" dirty="0">
                <a:solidFill>
                  <a:srgbClr val="0432FF"/>
                </a:solidFill>
                <a:latin typeface="+mn-lt"/>
                <a:ea typeface="+mj-ea"/>
              </a:rPr>
              <a:t>PC+4</a:t>
            </a:r>
            <a:r>
              <a:rPr kumimoji="1" lang="zh-CN" altLang="en-US" sz="2400" b="1" dirty="0">
                <a:solidFill>
                  <a:srgbClr val="0432FF"/>
                </a:solidFill>
                <a:latin typeface="+mn-lt"/>
                <a:ea typeface="+mj-ea"/>
              </a:rPr>
              <a:t>）</a:t>
            </a:r>
          </a:p>
        </p:txBody>
      </p:sp>
      <p:sp>
        <p:nvSpPr>
          <p:cNvPr id="5" name="Title 4">
            <a:extLst>
              <a:ext uri="{FF2B5EF4-FFF2-40B4-BE49-F238E27FC236}">
                <a16:creationId xmlns:a16="http://schemas.microsoft.com/office/drawing/2014/main" id="{CEDCC501-6F8B-68E4-89F0-C31EA06CF0EF}"/>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kumimoji="1" lang="en-US" altLang="zh-CN" dirty="0"/>
              <a:t>PC</a:t>
            </a:r>
            <a:r>
              <a:rPr kumimoji="1" lang="zh-CN" altLang="en-US" dirty="0"/>
              <a:t>相对寻址</a:t>
            </a:r>
            <a:endParaRPr lang="en-CN" kern="0" dirty="0"/>
          </a:p>
        </p:txBody>
      </p:sp>
    </p:spTree>
    <p:extLst>
      <p:ext uri="{BB962C8B-B14F-4D97-AF65-F5344CB8AC3E}">
        <p14:creationId xmlns:p14="http://schemas.microsoft.com/office/powerpoint/2010/main" val="259991417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1771119E-678F-454A-8D6E-A9508C663463}"/>
              </a:ext>
            </a:extLst>
          </p:cNvPr>
          <p:cNvSpPr>
            <a:spLocks noGrp="1"/>
          </p:cNvSpPr>
          <p:nvPr>
            <p:ph type="sldNum" sz="quarter" idx="12"/>
          </p:nvPr>
        </p:nvSpPr>
        <p:spPr/>
        <p:txBody>
          <a:bodyPr/>
          <a:lstStyle/>
          <a:p>
            <a:fld id="{14659731-6BD7-46E7-8D3C-2F3AC07E20B1}" type="slidenum">
              <a:rPr lang="en-US" altLang="zh-CN" smtClean="0"/>
              <a:pPr/>
              <a:t>59</a:t>
            </a:fld>
            <a:endParaRPr lang="en-US" altLang="zh-CN" dirty="0"/>
          </a:p>
        </p:txBody>
      </p:sp>
      <p:sp>
        <p:nvSpPr>
          <p:cNvPr id="3" name="内容占位符 2">
            <a:extLst>
              <a:ext uri="{FF2B5EF4-FFF2-40B4-BE49-F238E27FC236}">
                <a16:creationId xmlns:a16="http://schemas.microsoft.com/office/drawing/2014/main" id="{255A5B7B-E0D7-6E44-8E20-DAB8735F55FC}"/>
              </a:ext>
            </a:extLst>
          </p:cNvPr>
          <p:cNvSpPr>
            <a:spLocks noGrp="1"/>
          </p:cNvSpPr>
          <p:nvPr>
            <p:ph idx="4294967295"/>
          </p:nvPr>
        </p:nvSpPr>
        <p:spPr>
          <a:xfrm>
            <a:off x="457200" y="1161049"/>
            <a:ext cx="9110546" cy="4351338"/>
          </a:xfrm>
        </p:spPr>
        <p:txBody>
          <a:bodyPr/>
          <a:lstStyle/>
          <a:p>
            <a:pPr eaLnBrk="1" hangingPunct="1">
              <a:lnSpc>
                <a:spcPct val="150000"/>
              </a:lnSpc>
            </a:pPr>
            <a:r>
              <a:rPr lang="zh-CN" altLang="en-US" sz="2800" dirty="0">
                <a:solidFill>
                  <a:srgbClr val="0432FF"/>
                </a:solidFill>
                <a:ea typeface="+mj-ea"/>
              </a:rPr>
              <a:t>为什么选</a:t>
            </a:r>
            <a:r>
              <a:rPr lang="en-US" altLang="zh-CN" sz="2800" dirty="0">
                <a:solidFill>
                  <a:srgbClr val="0432FF"/>
                </a:solidFill>
                <a:ea typeface="+mj-ea"/>
              </a:rPr>
              <a:t>PC</a:t>
            </a:r>
            <a:r>
              <a:rPr lang="zh-CN" altLang="en-US" sz="2800" dirty="0">
                <a:solidFill>
                  <a:srgbClr val="0432FF"/>
                </a:solidFill>
                <a:ea typeface="+mj-ea"/>
              </a:rPr>
              <a:t>寄存器做相对寻址？</a:t>
            </a:r>
            <a:endParaRPr lang="en-US" altLang="zh-CN" sz="2800" dirty="0">
              <a:solidFill>
                <a:srgbClr val="0432FF"/>
              </a:solidFill>
              <a:ea typeface="+mj-ea"/>
            </a:endParaRPr>
          </a:p>
          <a:p>
            <a:pPr lvl="1">
              <a:lnSpc>
                <a:spcPct val="150000"/>
              </a:lnSpc>
            </a:pPr>
            <a:r>
              <a:rPr lang="zh-CN" altLang="en-US" sz="2400" dirty="0">
                <a:ea typeface="+mj-ea"/>
              </a:rPr>
              <a:t>目标地址通常位于当前指令地址附近（接近</a:t>
            </a:r>
            <a:r>
              <a:rPr lang="en-US" altLang="zh-CN" sz="2400" dirty="0">
                <a:ea typeface="+mj-ea"/>
              </a:rPr>
              <a:t>PC</a:t>
            </a:r>
            <a:r>
              <a:rPr lang="zh-CN" altLang="en-US" sz="2400" dirty="0">
                <a:ea typeface="+mj-ea"/>
              </a:rPr>
              <a:t>的值）</a:t>
            </a:r>
            <a:endParaRPr lang="en-US" altLang="zh-CN" sz="2400" dirty="0">
              <a:ea typeface="+mj-ea"/>
            </a:endParaRPr>
          </a:p>
          <a:p>
            <a:pPr>
              <a:lnSpc>
                <a:spcPct val="150000"/>
              </a:lnSpc>
            </a:pPr>
            <a:r>
              <a:rPr lang="zh-CN" altLang="en-US" sz="2800" dirty="0">
                <a:solidFill>
                  <a:srgbClr val="0432FF"/>
                </a:solidFill>
                <a:ea typeface="+mj-ea"/>
              </a:rPr>
              <a:t>如何处理长距离分支（</a:t>
            </a:r>
            <a:r>
              <a:rPr lang="en-US" altLang="zh-CN" sz="2800" dirty="0">
                <a:solidFill>
                  <a:srgbClr val="0432FF"/>
                </a:solidFill>
                <a:ea typeface="+mj-ea"/>
              </a:rPr>
              <a:t>&gt; 16bits</a:t>
            </a:r>
            <a:r>
              <a:rPr lang="zh-CN" altLang="en-US" sz="2800" dirty="0">
                <a:solidFill>
                  <a:srgbClr val="0432FF"/>
                </a:solidFill>
                <a:ea typeface="+mj-ea"/>
              </a:rPr>
              <a:t>）？</a:t>
            </a:r>
          </a:p>
          <a:p>
            <a:pPr lvl="1">
              <a:lnSpc>
                <a:spcPct val="150000"/>
              </a:lnSpc>
            </a:pPr>
            <a:r>
              <a:rPr lang="zh-CN" altLang="en-US" sz="2400" dirty="0">
                <a:ea typeface="+mj-ea"/>
              </a:rPr>
              <a:t>插入一条 </a:t>
            </a:r>
            <a:r>
              <a:rPr lang="en-US" altLang="zh-CN" sz="2400" i="1" dirty="0">
                <a:ea typeface="+mj-ea"/>
              </a:rPr>
              <a:t>j </a:t>
            </a:r>
            <a:r>
              <a:rPr lang="zh-CN" altLang="en-US" sz="2400" dirty="0">
                <a:ea typeface="+mj-ea"/>
              </a:rPr>
              <a:t>指令跳到分支目标地址</a:t>
            </a:r>
            <a:endParaRPr lang="en-US" altLang="zh-CN" sz="2400" dirty="0">
              <a:ea typeface="+mj-ea"/>
            </a:endParaRPr>
          </a:p>
        </p:txBody>
      </p:sp>
      <p:grpSp>
        <p:nvGrpSpPr>
          <p:cNvPr id="5" name="Group 4">
            <a:extLst>
              <a:ext uri="{FF2B5EF4-FFF2-40B4-BE49-F238E27FC236}">
                <a16:creationId xmlns:a16="http://schemas.microsoft.com/office/drawing/2014/main" id="{D730C27C-3856-4047-90BB-CC5C2B2927DF}"/>
              </a:ext>
            </a:extLst>
          </p:cNvPr>
          <p:cNvGrpSpPr/>
          <p:nvPr/>
        </p:nvGrpSpPr>
        <p:grpSpPr>
          <a:xfrm>
            <a:off x="204735" y="3939882"/>
            <a:ext cx="6803603" cy="2308324"/>
            <a:chOff x="33389" y="3407433"/>
            <a:chExt cx="6803603" cy="2308324"/>
          </a:xfrm>
        </p:grpSpPr>
        <p:sp>
          <p:nvSpPr>
            <p:cNvPr id="6" name="Text Box 31">
              <a:extLst>
                <a:ext uri="{FF2B5EF4-FFF2-40B4-BE49-F238E27FC236}">
                  <a16:creationId xmlns:a16="http://schemas.microsoft.com/office/drawing/2014/main" id="{8969F5AF-F443-4C4F-ACB2-57D082453188}"/>
                </a:ext>
              </a:extLst>
            </p:cNvPr>
            <p:cNvSpPr txBox="1">
              <a:spLocks noChangeArrowheads="1"/>
            </p:cNvSpPr>
            <p:nvPr/>
          </p:nvSpPr>
          <p:spPr bwMode="auto">
            <a:xfrm>
              <a:off x="178975" y="4065833"/>
              <a:ext cx="2718978" cy="430887"/>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eaLnBrk="1" hangingPunct="1"/>
              <a:r>
                <a:rPr lang="en-US" altLang="zh-CN" sz="2200" i="1" dirty="0" err="1">
                  <a:solidFill>
                    <a:srgbClr val="7030A0"/>
                  </a:solidFill>
                  <a:latin typeface="Consolas" panose="020B0609020204030204" pitchFamily="49" charset="0"/>
                </a:rPr>
                <a:t>bne</a:t>
              </a:r>
              <a:r>
                <a:rPr lang="en-US" altLang="zh-CN" sz="2200" i="1" dirty="0">
                  <a:solidFill>
                    <a:srgbClr val="7030A0"/>
                  </a:solidFill>
                  <a:latin typeface="Consolas" panose="020B0609020204030204" pitchFamily="49" charset="0"/>
                </a:rPr>
                <a:t> $s0, $s1, l2</a:t>
              </a:r>
            </a:p>
          </p:txBody>
        </p:sp>
        <p:sp>
          <p:nvSpPr>
            <p:cNvPr id="7" name="Text Box 32">
              <a:extLst>
                <a:ext uri="{FF2B5EF4-FFF2-40B4-BE49-F238E27FC236}">
                  <a16:creationId xmlns:a16="http://schemas.microsoft.com/office/drawing/2014/main" id="{B73B5056-09F3-4B39-B583-AED14A107805}"/>
                </a:ext>
              </a:extLst>
            </p:cNvPr>
            <p:cNvSpPr txBox="1">
              <a:spLocks noChangeArrowheads="1"/>
            </p:cNvSpPr>
            <p:nvPr/>
          </p:nvSpPr>
          <p:spPr bwMode="auto">
            <a:xfrm>
              <a:off x="3484192" y="3407433"/>
              <a:ext cx="3352800" cy="2308324"/>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l" eaLnBrk="1" hangingPunct="1"/>
              <a:r>
                <a:rPr lang="en-US" altLang="zh-CN" sz="2400" b="0" i="1" dirty="0">
                  <a:latin typeface="Consolas" panose="020B0609020204030204" pitchFamily="49" charset="0"/>
                </a:rPr>
                <a:t>  </a:t>
              </a:r>
              <a:r>
                <a:rPr lang="en-US" altLang="zh-CN" sz="2400" i="1" dirty="0" err="1">
                  <a:solidFill>
                    <a:srgbClr val="7030A0"/>
                  </a:solidFill>
                  <a:latin typeface="Consolas" panose="020B0609020204030204" pitchFamily="49" charset="0"/>
                </a:rPr>
                <a:t>beq</a:t>
              </a:r>
              <a:r>
                <a:rPr lang="en-US" altLang="zh-CN" sz="2400" i="1" dirty="0">
                  <a:solidFill>
                    <a:srgbClr val="7030A0"/>
                  </a:solidFill>
                  <a:latin typeface="Consolas" panose="020B0609020204030204" pitchFamily="49" charset="0"/>
                </a:rPr>
                <a:t> $s0, $s1, l1</a:t>
              </a:r>
            </a:p>
            <a:p>
              <a:pPr algn="l" eaLnBrk="1" hangingPunct="1"/>
              <a:r>
                <a:rPr lang="en-US" altLang="zh-CN" sz="2400" i="1" dirty="0">
                  <a:solidFill>
                    <a:srgbClr val="7030A0"/>
                  </a:solidFill>
                  <a:latin typeface="Consolas" panose="020B0609020204030204" pitchFamily="49" charset="0"/>
                </a:rPr>
                <a:t>  j   l2</a:t>
              </a:r>
            </a:p>
            <a:p>
              <a:pPr algn="l" eaLnBrk="1" hangingPunct="1"/>
              <a:r>
                <a:rPr lang="en-US" altLang="zh-CN" sz="2400" b="0" i="1" dirty="0">
                  <a:latin typeface="Consolas" panose="020B0609020204030204" pitchFamily="49" charset="0"/>
                </a:rPr>
                <a:t>l1: </a:t>
              </a:r>
            </a:p>
            <a:p>
              <a:pPr algn="l" eaLnBrk="1" hangingPunct="1"/>
              <a:r>
                <a:rPr lang="en-US" altLang="zh-CN" sz="2400" b="0" i="1" dirty="0">
                  <a:latin typeface="Consolas" panose="020B0609020204030204" pitchFamily="49" charset="0"/>
                </a:rPr>
                <a:t>       ……</a:t>
              </a:r>
            </a:p>
            <a:p>
              <a:pPr algn="l" eaLnBrk="1" hangingPunct="1"/>
              <a:r>
                <a:rPr lang="en-US" altLang="zh-CN" sz="2400" b="0" i="1" dirty="0">
                  <a:latin typeface="Consolas" panose="020B0609020204030204" pitchFamily="49" charset="0"/>
                </a:rPr>
                <a:t>l2: </a:t>
              </a:r>
            </a:p>
            <a:p>
              <a:pPr algn="l" eaLnBrk="1" hangingPunct="1"/>
              <a:r>
                <a:rPr lang="en-US" altLang="zh-CN" sz="2400" b="0" dirty="0">
                  <a:latin typeface="Consolas" panose="020B0609020204030204" pitchFamily="49" charset="0"/>
                </a:rPr>
                <a:t>       ……</a:t>
              </a:r>
            </a:p>
          </p:txBody>
        </p:sp>
        <p:sp>
          <p:nvSpPr>
            <p:cNvPr id="8" name="AutoShape 33">
              <a:extLst>
                <a:ext uri="{FF2B5EF4-FFF2-40B4-BE49-F238E27FC236}">
                  <a16:creationId xmlns:a16="http://schemas.microsoft.com/office/drawing/2014/main" id="{6C239FAD-01EA-47CC-8CB4-0F47D3758734}"/>
                </a:ext>
              </a:extLst>
            </p:cNvPr>
            <p:cNvSpPr>
              <a:spLocks noChangeArrowheads="1"/>
            </p:cNvSpPr>
            <p:nvPr/>
          </p:nvSpPr>
          <p:spPr bwMode="auto">
            <a:xfrm>
              <a:off x="3041713" y="4222996"/>
              <a:ext cx="361022" cy="152400"/>
            </a:xfrm>
            <a:prstGeom prst="rightArrow">
              <a:avLst>
                <a:gd name="adj1" fmla="val 50000"/>
                <a:gd name="adj2" fmla="val 875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9" name="文本框 15">
              <a:extLst>
                <a:ext uri="{FF2B5EF4-FFF2-40B4-BE49-F238E27FC236}">
                  <a16:creationId xmlns:a16="http://schemas.microsoft.com/office/drawing/2014/main" id="{8ECEC0D7-D69C-473B-9BE4-8EA8418D722F}"/>
                </a:ext>
              </a:extLst>
            </p:cNvPr>
            <p:cNvSpPr txBox="1"/>
            <p:nvPr/>
          </p:nvSpPr>
          <p:spPr>
            <a:xfrm>
              <a:off x="33389" y="4584449"/>
              <a:ext cx="3187539" cy="400110"/>
            </a:xfrm>
            <a:prstGeom prst="rect">
              <a:avLst/>
            </a:prstGeom>
            <a:noFill/>
          </p:spPr>
          <p:txBody>
            <a:bodyPr wrap="none" rtlCol="0">
              <a:spAutoFit/>
            </a:bodyPr>
            <a:lstStyle/>
            <a:p>
              <a:r>
                <a:rPr kumimoji="1" lang="en-US" altLang="zh-CN" sz="2000" dirty="0">
                  <a:solidFill>
                    <a:srgbClr val="0432FF"/>
                  </a:solidFill>
                  <a:latin typeface="+mj-ea"/>
                  <a:ea typeface="+mj-ea"/>
                </a:rPr>
                <a:t>If </a:t>
              </a:r>
              <a:r>
                <a:rPr lang="en-US" altLang="zh-CN" sz="2000" i="1" dirty="0">
                  <a:solidFill>
                    <a:srgbClr val="0432FF"/>
                  </a:solidFill>
                  <a:latin typeface="Consolas" panose="020B0609020204030204" pitchFamily="49" charset="0"/>
                </a:rPr>
                <a:t>$s0</a:t>
              </a:r>
              <a:r>
                <a:rPr lang="en-US" altLang="zh-CN" sz="2000" dirty="0">
                  <a:solidFill>
                    <a:srgbClr val="0432FF"/>
                  </a:solidFill>
                  <a:latin typeface="+mj-ea"/>
                  <a:ea typeface="+mj-ea"/>
                </a:rPr>
                <a:t>!= </a:t>
              </a:r>
              <a:r>
                <a:rPr lang="en-US" altLang="zh-CN" sz="2000" i="1" dirty="0">
                  <a:solidFill>
                    <a:srgbClr val="0432FF"/>
                  </a:solidFill>
                  <a:latin typeface="Consolas" panose="020B0609020204030204" pitchFamily="49" charset="0"/>
                </a:rPr>
                <a:t>$s1</a:t>
              </a:r>
              <a:r>
                <a:rPr lang="en-US" altLang="zh-CN" sz="2000" dirty="0">
                  <a:solidFill>
                    <a:srgbClr val="0432FF"/>
                  </a:solidFill>
                  <a:latin typeface="+mj-ea"/>
                  <a:ea typeface="+mj-ea"/>
                </a:rPr>
                <a:t>, jump to </a:t>
              </a:r>
              <a:r>
                <a:rPr lang="en-US" altLang="zh-CN" sz="2000" i="1" dirty="0">
                  <a:solidFill>
                    <a:srgbClr val="0432FF"/>
                  </a:solidFill>
                  <a:latin typeface="Consolas" panose="020B0609020204030204" pitchFamily="49" charset="0"/>
                </a:rPr>
                <a:t>l2</a:t>
              </a:r>
              <a:endParaRPr kumimoji="1" lang="zh-CN" altLang="en-US" sz="2000" dirty="0">
                <a:solidFill>
                  <a:srgbClr val="0432FF"/>
                </a:solidFill>
                <a:latin typeface="+mj-ea"/>
                <a:ea typeface="+mj-ea"/>
              </a:endParaRPr>
            </a:p>
          </p:txBody>
        </p:sp>
      </p:grpSp>
      <p:grpSp>
        <p:nvGrpSpPr>
          <p:cNvPr id="10" name="Group 9">
            <a:extLst>
              <a:ext uri="{FF2B5EF4-FFF2-40B4-BE49-F238E27FC236}">
                <a16:creationId xmlns:a16="http://schemas.microsoft.com/office/drawing/2014/main" id="{FE318A76-841A-4CCD-89FD-FC14A63C1231}"/>
              </a:ext>
            </a:extLst>
          </p:cNvPr>
          <p:cNvGrpSpPr/>
          <p:nvPr/>
        </p:nvGrpSpPr>
        <p:grpSpPr>
          <a:xfrm>
            <a:off x="7141404" y="4053731"/>
            <a:ext cx="2091806" cy="1950875"/>
            <a:chOff x="6918450" y="3224820"/>
            <a:chExt cx="2091806" cy="1950875"/>
          </a:xfrm>
        </p:grpSpPr>
        <p:sp>
          <p:nvSpPr>
            <p:cNvPr id="11" name="文本框 16">
              <a:extLst>
                <a:ext uri="{FF2B5EF4-FFF2-40B4-BE49-F238E27FC236}">
                  <a16:creationId xmlns:a16="http://schemas.microsoft.com/office/drawing/2014/main" id="{BDBDFF99-568C-469D-A732-FFC81A652E08}"/>
                </a:ext>
              </a:extLst>
            </p:cNvPr>
            <p:cNvSpPr txBox="1"/>
            <p:nvPr/>
          </p:nvSpPr>
          <p:spPr>
            <a:xfrm>
              <a:off x="6918450" y="3224820"/>
              <a:ext cx="2091806" cy="923330"/>
            </a:xfrm>
            <a:prstGeom prst="rect">
              <a:avLst/>
            </a:prstGeom>
            <a:noFill/>
          </p:spPr>
          <p:txBody>
            <a:bodyPr wrap="square" rtlCol="0">
              <a:spAutoFit/>
            </a:bodyPr>
            <a:lstStyle/>
            <a:p>
              <a:pPr algn="l"/>
              <a:r>
                <a:rPr kumimoji="1" lang="en-US" altLang="zh-CN" sz="1800" dirty="0">
                  <a:solidFill>
                    <a:schemeClr val="tx1"/>
                  </a:solidFill>
                  <a:latin typeface="+mj-ea"/>
                </a:rPr>
                <a:t>If </a:t>
              </a:r>
              <a:r>
                <a:rPr lang="en-US" altLang="zh-CN" sz="1800" i="1" dirty="0">
                  <a:solidFill>
                    <a:schemeClr val="tx1"/>
                  </a:solidFill>
                  <a:latin typeface="Consolas" panose="020B0609020204030204" pitchFamily="49" charset="0"/>
                </a:rPr>
                <a:t>$s0</a:t>
              </a:r>
              <a:r>
                <a:rPr lang="en-US" altLang="zh-CN" sz="1800" dirty="0">
                  <a:solidFill>
                    <a:schemeClr val="tx1"/>
                  </a:solidFill>
                  <a:latin typeface="+mj-ea"/>
                </a:rPr>
                <a:t>== </a:t>
              </a:r>
              <a:r>
                <a:rPr lang="en-US" altLang="zh-CN" sz="1800" i="1" dirty="0">
                  <a:solidFill>
                    <a:schemeClr val="tx1"/>
                  </a:solidFill>
                  <a:latin typeface="Consolas" panose="020B0609020204030204" pitchFamily="49" charset="0"/>
                </a:rPr>
                <a:t>$s1</a:t>
              </a:r>
              <a:r>
                <a:rPr lang="en-US" altLang="zh-CN" sz="1800" dirty="0">
                  <a:solidFill>
                    <a:schemeClr val="tx1"/>
                  </a:solidFill>
                  <a:latin typeface="+mj-ea"/>
                </a:rPr>
                <a:t>, jump to </a:t>
              </a:r>
              <a:r>
                <a:rPr lang="en-US" altLang="zh-CN" sz="1800" i="1" dirty="0">
                  <a:solidFill>
                    <a:schemeClr val="tx1"/>
                  </a:solidFill>
                  <a:latin typeface="Consolas" panose="020B0609020204030204" pitchFamily="49" charset="0"/>
                </a:rPr>
                <a:t>l1</a:t>
              </a:r>
              <a:endParaRPr kumimoji="1" lang="zh-CN" altLang="en-US" sz="1800" dirty="0">
                <a:solidFill>
                  <a:schemeClr val="tx1"/>
                </a:solidFill>
                <a:latin typeface="+mj-ea"/>
              </a:endParaRPr>
            </a:p>
            <a:p>
              <a:pPr algn="l"/>
              <a:r>
                <a:rPr kumimoji="1" lang="en-US" altLang="zh-CN" sz="1800" dirty="0">
                  <a:solidFill>
                    <a:srgbClr val="C00000"/>
                  </a:solidFill>
                  <a:latin typeface="+mj-ea"/>
                  <a:ea typeface="+mj-ea"/>
                </a:rPr>
                <a:t>(short distance)</a:t>
              </a:r>
            </a:p>
          </p:txBody>
        </p:sp>
        <p:sp>
          <p:nvSpPr>
            <p:cNvPr id="12" name="文本框 17">
              <a:extLst>
                <a:ext uri="{FF2B5EF4-FFF2-40B4-BE49-F238E27FC236}">
                  <a16:creationId xmlns:a16="http://schemas.microsoft.com/office/drawing/2014/main" id="{558150E2-2551-43B8-B08E-3D0F9D801ECE}"/>
                </a:ext>
              </a:extLst>
            </p:cNvPr>
            <p:cNvSpPr txBox="1"/>
            <p:nvPr/>
          </p:nvSpPr>
          <p:spPr>
            <a:xfrm>
              <a:off x="6918450" y="4252365"/>
              <a:ext cx="2091806" cy="923330"/>
            </a:xfrm>
            <a:prstGeom prst="rect">
              <a:avLst/>
            </a:prstGeom>
            <a:noFill/>
          </p:spPr>
          <p:txBody>
            <a:bodyPr wrap="square" rtlCol="0">
              <a:spAutoFit/>
            </a:bodyPr>
            <a:lstStyle/>
            <a:p>
              <a:pPr algn="l"/>
              <a:r>
                <a:rPr kumimoji="1" lang="en-US" altLang="zh-CN" sz="1800" dirty="0">
                  <a:solidFill>
                    <a:schemeClr val="tx1"/>
                  </a:solidFill>
                  <a:latin typeface="+mj-ea"/>
                </a:rPr>
                <a:t>If </a:t>
              </a:r>
              <a:r>
                <a:rPr lang="en-US" altLang="zh-CN" sz="1800" i="1" dirty="0">
                  <a:solidFill>
                    <a:schemeClr val="tx1"/>
                  </a:solidFill>
                  <a:latin typeface="Consolas" panose="020B0609020204030204" pitchFamily="49" charset="0"/>
                </a:rPr>
                <a:t>$s0</a:t>
              </a:r>
              <a:r>
                <a:rPr lang="en-US" altLang="zh-CN" sz="1800" dirty="0">
                  <a:solidFill>
                    <a:schemeClr val="tx1"/>
                  </a:solidFill>
                  <a:latin typeface="+mj-ea"/>
                </a:rPr>
                <a:t>!= </a:t>
              </a:r>
              <a:r>
                <a:rPr lang="en-US" altLang="zh-CN" sz="1800" i="1" dirty="0">
                  <a:solidFill>
                    <a:schemeClr val="tx1"/>
                  </a:solidFill>
                  <a:latin typeface="Consolas" panose="020B0609020204030204" pitchFamily="49" charset="0"/>
                </a:rPr>
                <a:t>$s1</a:t>
              </a:r>
              <a:r>
                <a:rPr lang="en-US" altLang="zh-CN" sz="1800" dirty="0">
                  <a:solidFill>
                    <a:schemeClr val="tx1"/>
                  </a:solidFill>
                  <a:latin typeface="+mj-ea"/>
                </a:rPr>
                <a:t>, </a:t>
              </a:r>
            </a:p>
            <a:p>
              <a:pPr algn="l"/>
              <a:r>
                <a:rPr lang="en-US" altLang="zh-CN" sz="1800" i="1" dirty="0">
                  <a:solidFill>
                    <a:schemeClr val="tx1"/>
                  </a:solidFill>
                  <a:latin typeface="Consolas" panose="020B0609020204030204" pitchFamily="49" charset="0"/>
                </a:rPr>
                <a:t>j l2</a:t>
              </a:r>
              <a:endParaRPr kumimoji="1" lang="zh-CN" altLang="en-US" sz="1800" dirty="0">
                <a:solidFill>
                  <a:schemeClr val="tx1"/>
                </a:solidFill>
                <a:latin typeface="+mj-ea"/>
              </a:endParaRPr>
            </a:p>
            <a:p>
              <a:pPr algn="l"/>
              <a:r>
                <a:rPr kumimoji="1" lang="en-US" altLang="zh-CN" sz="1800" dirty="0">
                  <a:solidFill>
                    <a:srgbClr val="C00000"/>
                  </a:solidFill>
                  <a:latin typeface="+mj-ea"/>
                </a:rPr>
                <a:t>(long distance)</a:t>
              </a:r>
            </a:p>
          </p:txBody>
        </p:sp>
      </p:grpSp>
      <p:sp>
        <p:nvSpPr>
          <p:cNvPr id="14" name="Title 4">
            <a:extLst>
              <a:ext uri="{FF2B5EF4-FFF2-40B4-BE49-F238E27FC236}">
                <a16:creationId xmlns:a16="http://schemas.microsoft.com/office/drawing/2014/main" id="{9A6C6784-DED6-4997-73F9-E61CFB9A18E4}"/>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kumimoji="1" lang="en-US" altLang="zh-CN" dirty="0"/>
              <a:t>PC</a:t>
            </a:r>
            <a:r>
              <a:rPr kumimoji="1" lang="zh-CN" altLang="en-US" dirty="0"/>
              <a:t>相对寻址</a:t>
            </a:r>
            <a:endParaRPr lang="en-CN" kern="0" dirty="0"/>
          </a:p>
        </p:txBody>
      </p:sp>
    </p:spTree>
    <p:extLst>
      <p:ext uri="{BB962C8B-B14F-4D97-AF65-F5344CB8AC3E}">
        <p14:creationId xmlns:p14="http://schemas.microsoft.com/office/powerpoint/2010/main" val="656147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4" descr="F0317">
            <a:extLst>
              <a:ext uri="{FF2B5EF4-FFF2-40B4-BE49-F238E27FC236}">
                <a16:creationId xmlns:a16="http://schemas.microsoft.com/office/drawing/2014/main" id="{E78C5455-0F7F-5343-8343-66BF20B4D56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84464"/>
          <a:stretch/>
        </p:blipFill>
        <p:spPr bwMode="auto">
          <a:xfrm>
            <a:off x="530148" y="4565532"/>
            <a:ext cx="8134350" cy="11846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4" name="灯片编号占位符 3">
            <a:extLst>
              <a:ext uri="{FF2B5EF4-FFF2-40B4-BE49-F238E27FC236}">
                <a16:creationId xmlns:a16="http://schemas.microsoft.com/office/drawing/2014/main" id="{1771119E-678F-454A-8D6E-A9508C663463}"/>
              </a:ext>
            </a:extLst>
          </p:cNvPr>
          <p:cNvSpPr>
            <a:spLocks noGrp="1"/>
          </p:cNvSpPr>
          <p:nvPr>
            <p:ph type="sldNum" sz="quarter" idx="12"/>
          </p:nvPr>
        </p:nvSpPr>
        <p:spPr/>
        <p:txBody>
          <a:bodyPr/>
          <a:lstStyle/>
          <a:p>
            <a:fld id="{14659731-6BD7-46E7-8D3C-2F3AC07E20B1}" type="slidenum">
              <a:rPr lang="en-US" altLang="zh-CN" smtClean="0"/>
              <a:pPr/>
              <a:t>60</a:t>
            </a:fld>
            <a:endParaRPr lang="en-US" altLang="zh-CN"/>
          </a:p>
        </p:txBody>
      </p:sp>
      <p:sp>
        <p:nvSpPr>
          <p:cNvPr id="3" name="内容占位符 2">
            <a:extLst>
              <a:ext uri="{FF2B5EF4-FFF2-40B4-BE49-F238E27FC236}">
                <a16:creationId xmlns:a16="http://schemas.microsoft.com/office/drawing/2014/main" id="{255A5B7B-E0D7-6E44-8E20-DAB8735F55FC}"/>
              </a:ext>
            </a:extLst>
          </p:cNvPr>
          <p:cNvSpPr>
            <a:spLocks noGrp="1"/>
          </p:cNvSpPr>
          <p:nvPr>
            <p:ph idx="4294967295"/>
          </p:nvPr>
        </p:nvSpPr>
        <p:spPr>
          <a:xfrm>
            <a:off x="479502" y="1227137"/>
            <a:ext cx="9088244" cy="5256213"/>
          </a:xfrm>
        </p:spPr>
        <p:txBody>
          <a:bodyPr/>
          <a:lstStyle/>
          <a:p>
            <a:pPr>
              <a:lnSpc>
                <a:spcPct val="150000"/>
              </a:lnSpc>
            </a:pPr>
            <a:r>
              <a:rPr kumimoji="1" lang="zh-CN" altLang="en-US" sz="2400" dirty="0"/>
              <a:t>伪直接寻址固定</a:t>
            </a:r>
            <a:r>
              <a:rPr kumimoji="1" lang="en-US" altLang="zh-CN" sz="2400" dirty="0"/>
              <a:t>PC</a:t>
            </a:r>
            <a:r>
              <a:rPr kumimoji="1" lang="zh-CN" altLang="en-US" sz="2400" dirty="0"/>
              <a:t>高</a:t>
            </a:r>
            <a:r>
              <a:rPr kumimoji="1" lang="en-US" altLang="zh-CN" sz="2400" dirty="0"/>
              <a:t>4</a:t>
            </a:r>
            <a:r>
              <a:rPr kumimoji="1" lang="zh-CN" altLang="en-US" sz="2400" dirty="0"/>
              <a:t>位不变（</a:t>
            </a:r>
            <a:r>
              <a:rPr kumimoji="1" lang="en-US" altLang="zh-CN" sz="2400" dirty="0"/>
              <a:t>PC[31:28]</a:t>
            </a:r>
            <a:r>
              <a:rPr kumimoji="1" lang="zh-CN" altLang="en-US" sz="2400" dirty="0"/>
              <a:t>或</a:t>
            </a:r>
            <a:r>
              <a:rPr kumimoji="1" lang="en-US" altLang="zh-CN" sz="2400" dirty="0"/>
              <a:t>(PC+4)[31:28]</a:t>
            </a:r>
            <a:r>
              <a:rPr kumimoji="1" lang="zh-CN" altLang="en-US" sz="2400" dirty="0"/>
              <a:t>）</a:t>
            </a:r>
            <a:endParaRPr kumimoji="1" lang="en-US" altLang="zh-CN" sz="2400" dirty="0"/>
          </a:p>
          <a:p>
            <a:pPr lvl="1">
              <a:lnSpc>
                <a:spcPct val="150000"/>
              </a:lnSpc>
            </a:pPr>
            <a:r>
              <a:rPr kumimoji="1" lang="en-US" altLang="zh-CN" sz="2400" dirty="0" err="1">
                <a:solidFill>
                  <a:srgbClr val="0432FF"/>
                </a:solidFill>
              </a:rPr>
              <a:t>PC_new</a:t>
            </a:r>
            <a:r>
              <a:rPr kumimoji="1" lang="zh-CN" altLang="en-US" sz="2400" dirty="0">
                <a:solidFill>
                  <a:srgbClr val="0432FF"/>
                </a:solidFill>
              </a:rPr>
              <a:t> </a:t>
            </a:r>
            <a:r>
              <a:rPr kumimoji="1" lang="en-US" altLang="zh-CN" sz="2400" dirty="0">
                <a:solidFill>
                  <a:srgbClr val="0432FF"/>
                </a:solidFill>
              </a:rPr>
              <a:t>=</a:t>
            </a:r>
            <a:r>
              <a:rPr kumimoji="1" lang="zh-CN" altLang="en-US" sz="2400" dirty="0">
                <a:solidFill>
                  <a:srgbClr val="0432FF"/>
                </a:solidFill>
              </a:rPr>
              <a:t> </a:t>
            </a:r>
            <a:r>
              <a:rPr kumimoji="1" lang="en-US" altLang="zh-CN" sz="2400" dirty="0">
                <a:solidFill>
                  <a:srgbClr val="0432FF"/>
                </a:solidFill>
              </a:rPr>
              <a:t>{PC[31:28],</a:t>
            </a:r>
            <a:r>
              <a:rPr kumimoji="1" lang="zh-CN" altLang="en-US" sz="2400" dirty="0">
                <a:solidFill>
                  <a:srgbClr val="0432FF"/>
                </a:solidFill>
              </a:rPr>
              <a:t> </a:t>
            </a:r>
            <a:r>
              <a:rPr kumimoji="1" lang="en-US" altLang="zh-CN" sz="2400" dirty="0" err="1">
                <a:solidFill>
                  <a:srgbClr val="0432FF"/>
                </a:solidFill>
              </a:rPr>
              <a:t>target_addr</a:t>
            </a:r>
            <a:r>
              <a:rPr kumimoji="1" lang="en-US" altLang="zh-CN" sz="2400" dirty="0">
                <a:solidFill>
                  <a:srgbClr val="0432FF"/>
                </a:solidFill>
              </a:rPr>
              <a:t>,</a:t>
            </a:r>
            <a:r>
              <a:rPr kumimoji="1" lang="zh-CN" altLang="en-US" sz="2400" dirty="0">
                <a:solidFill>
                  <a:srgbClr val="0432FF"/>
                </a:solidFill>
              </a:rPr>
              <a:t> </a:t>
            </a:r>
            <a:r>
              <a:rPr kumimoji="1" lang="en-US" altLang="zh-CN" sz="2400" dirty="0">
                <a:solidFill>
                  <a:srgbClr val="C00000"/>
                </a:solidFill>
              </a:rPr>
              <a:t>00</a:t>
            </a:r>
            <a:r>
              <a:rPr kumimoji="1" lang="en-US" altLang="zh-CN" sz="2400" dirty="0">
                <a:solidFill>
                  <a:srgbClr val="0432FF"/>
                </a:solidFill>
              </a:rPr>
              <a:t>},</a:t>
            </a:r>
            <a:r>
              <a:rPr kumimoji="1" lang="zh-CN" altLang="en-US" sz="2400" dirty="0">
                <a:solidFill>
                  <a:srgbClr val="0432FF"/>
                </a:solidFill>
              </a:rPr>
              <a:t> </a:t>
            </a:r>
            <a:r>
              <a:rPr kumimoji="1" lang="en-US" altLang="zh-CN" sz="2400" dirty="0">
                <a:solidFill>
                  <a:srgbClr val="0432FF"/>
                </a:solidFill>
              </a:rPr>
              <a:t>32bit</a:t>
            </a:r>
          </a:p>
          <a:p>
            <a:pPr>
              <a:lnSpc>
                <a:spcPct val="150000"/>
              </a:lnSpc>
            </a:pPr>
            <a:r>
              <a:rPr kumimoji="1" lang="en-US" altLang="zh-CN" sz="2400" dirty="0"/>
              <a:t>{</a:t>
            </a:r>
            <a:r>
              <a:rPr kumimoji="1" lang="en-US" altLang="zh-CN" sz="2400" dirty="0" err="1"/>
              <a:t>target_addr</a:t>
            </a:r>
            <a:r>
              <a:rPr kumimoji="1" lang="en-US" altLang="zh-CN" sz="2400" dirty="0"/>
              <a:t>,</a:t>
            </a:r>
            <a:r>
              <a:rPr kumimoji="1" lang="zh-CN" altLang="en-US" sz="2400" dirty="0"/>
              <a:t> </a:t>
            </a:r>
            <a:r>
              <a:rPr kumimoji="1" lang="en-US" altLang="zh-CN" sz="2400" dirty="0"/>
              <a:t>00}</a:t>
            </a:r>
            <a:r>
              <a:rPr kumimoji="1" lang="zh-CN" altLang="en-US" sz="2400" dirty="0"/>
              <a:t>作为低</a:t>
            </a:r>
            <a:r>
              <a:rPr kumimoji="1" lang="en-US" altLang="zh-CN" sz="2400" dirty="0"/>
              <a:t>28</a:t>
            </a:r>
            <a:r>
              <a:rPr kumimoji="1" lang="zh-CN" altLang="en-US" sz="2400" dirty="0"/>
              <a:t>位目标地址</a:t>
            </a:r>
            <a:endParaRPr kumimoji="1" lang="en-US" altLang="zh-CN" sz="2400" dirty="0"/>
          </a:p>
          <a:p>
            <a:pPr lvl="1">
              <a:lnSpc>
                <a:spcPct val="150000"/>
              </a:lnSpc>
            </a:pPr>
            <a:r>
              <a:rPr kumimoji="1" lang="en-US" altLang="zh-CN" sz="2400" dirty="0"/>
              <a:t>{</a:t>
            </a:r>
            <a:r>
              <a:rPr kumimoji="1" lang="en-US" altLang="zh-CN" sz="2400" dirty="0" err="1"/>
              <a:t>target_addr</a:t>
            </a:r>
            <a:r>
              <a:rPr kumimoji="1" lang="en-US" altLang="zh-CN" sz="2400" dirty="0"/>
              <a:t>,</a:t>
            </a:r>
            <a:r>
              <a:rPr kumimoji="1" lang="zh-CN" altLang="en-US" sz="2400" dirty="0"/>
              <a:t> </a:t>
            </a:r>
            <a:r>
              <a:rPr kumimoji="1" lang="en-US" altLang="zh-CN" sz="2400" dirty="0"/>
              <a:t>00} = </a:t>
            </a:r>
            <a:r>
              <a:rPr kumimoji="1" lang="en-US" altLang="zh-CN" sz="2400" dirty="0" err="1"/>
              <a:t>target_addr</a:t>
            </a:r>
            <a:r>
              <a:rPr kumimoji="1" lang="en-US" altLang="zh-CN" sz="2400" dirty="0"/>
              <a:t> &lt;&lt; 2</a:t>
            </a:r>
          </a:p>
          <a:p>
            <a:endParaRPr kumimoji="1" lang="en-US" altLang="zh-CN" sz="2400" dirty="0"/>
          </a:p>
        </p:txBody>
      </p:sp>
      <p:sp>
        <p:nvSpPr>
          <p:cNvPr id="9" name="矩形 8">
            <a:extLst>
              <a:ext uri="{FF2B5EF4-FFF2-40B4-BE49-F238E27FC236}">
                <a16:creationId xmlns:a16="http://schemas.microsoft.com/office/drawing/2014/main" id="{72774AE8-C941-7F42-98BD-E3F3B59EE975}"/>
              </a:ext>
            </a:extLst>
          </p:cNvPr>
          <p:cNvSpPr/>
          <p:nvPr/>
        </p:nvSpPr>
        <p:spPr>
          <a:xfrm>
            <a:off x="45720" y="3720887"/>
            <a:ext cx="175459" cy="2845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框 10">
            <a:extLst>
              <a:ext uri="{FF2B5EF4-FFF2-40B4-BE49-F238E27FC236}">
                <a16:creationId xmlns:a16="http://schemas.microsoft.com/office/drawing/2014/main" id="{27F518AA-2D64-5544-A65B-D7F78A77D8E5}"/>
              </a:ext>
            </a:extLst>
          </p:cNvPr>
          <p:cNvSpPr txBox="1"/>
          <p:nvPr/>
        </p:nvSpPr>
        <p:spPr>
          <a:xfrm>
            <a:off x="2294636" y="4103867"/>
            <a:ext cx="3188693" cy="461665"/>
          </a:xfrm>
          <a:prstGeom prst="rect">
            <a:avLst/>
          </a:prstGeom>
          <a:noFill/>
        </p:spPr>
        <p:txBody>
          <a:bodyPr wrap="none" rtlCol="0">
            <a:spAutoFit/>
          </a:bodyPr>
          <a:lstStyle/>
          <a:p>
            <a:r>
              <a:rPr kumimoji="1" lang="en-US" altLang="zh-CN" sz="2400" b="1" dirty="0">
                <a:solidFill>
                  <a:srgbClr val="0432FF"/>
                </a:solidFill>
                <a:latin typeface="+mn-lt"/>
                <a:ea typeface="+mj-ea"/>
              </a:rPr>
              <a:t>26</a:t>
            </a:r>
            <a:r>
              <a:rPr kumimoji="1" lang="zh-CN" altLang="en-US" sz="2400" b="1" dirty="0">
                <a:solidFill>
                  <a:srgbClr val="0432FF"/>
                </a:solidFill>
                <a:latin typeface="+mn-lt"/>
                <a:ea typeface="+mj-ea"/>
              </a:rPr>
              <a:t>位</a:t>
            </a:r>
            <a:r>
              <a:rPr kumimoji="1" lang="en-US" altLang="zh-CN" sz="2400" b="1" dirty="0">
                <a:solidFill>
                  <a:srgbClr val="0432FF"/>
                </a:solidFill>
                <a:latin typeface="+mn-lt"/>
                <a:ea typeface="+mj-ea"/>
              </a:rPr>
              <a:t>Address</a:t>
            </a:r>
            <a:r>
              <a:rPr kumimoji="1" lang="zh-CN" altLang="en-US" sz="2400" b="1" dirty="0">
                <a:solidFill>
                  <a:srgbClr val="0432FF"/>
                </a:solidFill>
                <a:latin typeface="+mn-lt"/>
                <a:ea typeface="+mj-ea"/>
              </a:rPr>
              <a:t>左移</a:t>
            </a:r>
            <a:r>
              <a:rPr kumimoji="1" lang="en-US" altLang="zh-CN" sz="2400" b="1" dirty="0">
                <a:solidFill>
                  <a:srgbClr val="0432FF"/>
                </a:solidFill>
                <a:latin typeface="+mn-lt"/>
                <a:ea typeface="+mj-ea"/>
              </a:rPr>
              <a:t>2</a:t>
            </a:r>
            <a:r>
              <a:rPr kumimoji="1" lang="zh-CN" altLang="en-US" sz="2400" b="1" dirty="0">
                <a:solidFill>
                  <a:srgbClr val="0432FF"/>
                </a:solidFill>
                <a:latin typeface="+mn-lt"/>
                <a:ea typeface="+mj-ea"/>
              </a:rPr>
              <a:t>位</a:t>
            </a:r>
          </a:p>
        </p:txBody>
      </p:sp>
      <p:sp>
        <p:nvSpPr>
          <p:cNvPr id="12" name="文本框 11">
            <a:extLst>
              <a:ext uri="{FF2B5EF4-FFF2-40B4-BE49-F238E27FC236}">
                <a16:creationId xmlns:a16="http://schemas.microsoft.com/office/drawing/2014/main" id="{C7767E52-A912-F240-84DC-B7A89CD94583}"/>
              </a:ext>
            </a:extLst>
          </p:cNvPr>
          <p:cNvSpPr txBox="1"/>
          <p:nvPr/>
        </p:nvSpPr>
        <p:spPr>
          <a:xfrm>
            <a:off x="1455690" y="5658226"/>
            <a:ext cx="2720617" cy="461665"/>
          </a:xfrm>
          <a:prstGeom prst="rect">
            <a:avLst/>
          </a:prstGeom>
          <a:noFill/>
        </p:spPr>
        <p:txBody>
          <a:bodyPr wrap="none" rtlCol="0">
            <a:spAutoFit/>
          </a:bodyPr>
          <a:lstStyle/>
          <a:p>
            <a:r>
              <a:rPr kumimoji="1" lang="zh-CN" altLang="en-US" sz="2400" b="1" dirty="0">
                <a:solidFill>
                  <a:srgbClr val="0432FF"/>
                </a:solidFill>
                <a:latin typeface="+mn-lt"/>
                <a:ea typeface="+mj-ea"/>
              </a:rPr>
              <a:t>取高</a:t>
            </a:r>
            <a:r>
              <a:rPr kumimoji="1" lang="en-US" altLang="zh-CN" sz="2400" b="1" dirty="0">
                <a:solidFill>
                  <a:srgbClr val="0432FF"/>
                </a:solidFill>
                <a:latin typeface="+mn-lt"/>
                <a:ea typeface="+mj-ea"/>
              </a:rPr>
              <a:t>4</a:t>
            </a:r>
            <a:r>
              <a:rPr kumimoji="1" lang="zh-CN" altLang="en-US" sz="2400" b="1" dirty="0">
                <a:solidFill>
                  <a:srgbClr val="0432FF"/>
                </a:solidFill>
                <a:latin typeface="+mn-lt"/>
                <a:ea typeface="+mj-ea"/>
              </a:rPr>
              <a:t>位</a:t>
            </a:r>
            <a:r>
              <a:rPr kumimoji="1" lang="en-US" altLang="zh-CN" sz="2400" b="1" dirty="0">
                <a:solidFill>
                  <a:srgbClr val="0432FF"/>
                </a:solidFill>
                <a:latin typeface="+mn-lt"/>
                <a:ea typeface="+mj-ea"/>
              </a:rPr>
              <a:t>PC[31:28]</a:t>
            </a:r>
            <a:endParaRPr kumimoji="1" lang="zh-CN" altLang="en-US" sz="2400" b="1" dirty="0">
              <a:solidFill>
                <a:srgbClr val="0432FF"/>
              </a:solidFill>
              <a:latin typeface="+mn-lt"/>
              <a:ea typeface="+mj-ea"/>
            </a:endParaRPr>
          </a:p>
        </p:txBody>
      </p:sp>
      <p:sp>
        <p:nvSpPr>
          <p:cNvPr id="14" name="文本框 13">
            <a:extLst>
              <a:ext uri="{FF2B5EF4-FFF2-40B4-BE49-F238E27FC236}">
                <a16:creationId xmlns:a16="http://schemas.microsoft.com/office/drawing/2014/main" id="{802C53E9-DAF3-A649-A84B-CE80937C3BA0}"/>
              </a:ext>
            </a:extLst>
          </p:cNvPr>
          <p:cNvSpPr txBox="1"/>
          <p:nvPr/>
        </p:nvSpPr>
        <p:spPr>
          <a:xfrm>
            <a:off x="4362849" y="5498593"/>
            <a:ext cx="800219" cy="461665"/>
          </a:xfrm>
          <a:prstGeom prst="rect">
            <a:avLst/>
          </a:prstGeom>
          <a:noFill/>
        </p:spPr>
        <p:txBody>
          <a:bodyPr wrap="none" rtlCol="0">
            <a:spAutoFit/>
          </a:bodyPr>
          <a:lstStyle/>
          <a:p>
            <a:r>
              <a:rPr kumimoji="1" lang="zh-CN" altLang="en-US" sz="2400" b="1" dirty="0">
                <a:solidFill>
                  <a:srgbClr val="0432FF"/>
                </a:solidFill>
                <a:latin typeface="+mj-ea"/>
                <a:ea typeface="+mj-ea"/>
              </a:rPr>
              <a:t>拼接</a:t>
            </a:r>
          </a:p>
        </p:txBody>
      </p:sp>
      <p:sp>
        <p:nvSpPr>
          <p:cNvPr id="5" name="Title 4">
            <a:extLst>
              <a:ext uri="{FF2B5EF4-FFF2-40B4-BE49-F238E27FC236}">
                <a16:creationId xmlns:a16="http://schemas.microsoft.com/office/drawing/2014/main" id="{63308A61-F53A-C220-209F-EF29F9E5CA5B}"/>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kumimoji="1" lang="zh-CN" altLang="en-US" dirty="0"/>
              <a:t>伪直接寻址</a:t>
            </a:r>
            <a:endParaRPr lang="en-CN" kern="0" dirty="0"/>
          </a:p>
        </p:txBody>
      </p:sp>
    </p:spTree>
    <p:extLst>
      <p:ext uri="{BB962C8B-B14F-4D97-AF65-F5344CB8AC3E}">
        <p14:creationId xmlns:p14="http://schemas.microsoft.com/office/powerpoint/2010/main" val="255891849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6AAA9BB5-71EF-8B4F-BCB7-D1223617A1D4}"/>
              </a:ext>
            </a:extLst>
          </p:cNvPr>
          <p:cNvSpPr>
            <a:spLocks noGrp="1"/>
          </p:cNvSpPr>
          <p:nvPr>
            <p:ph type="sldNum" sz="quarter" idx="12"/>
          </p:nvPr>
        </p:nvSpPr>
        <p:spPr/>
        <p:txBody>
          <a:bodyPr/>
          <a:lstStyle/>
          <a:p>
            <a:fld id="{14659731-6BD7-46E7-8D3C-2F3AC07E20B1}" type="slidenum">
              <a:rPr lang="en-US" altLang="zh-CN" smtClean="0"/>
              <a:pPr/>
              <a:t>61</a:t>
            </a:fld>
            <a:endParaRPr lang="en-US" altLang="zh-CN"/>
          </a:p>
        </p:txBody>
      </p:sp>
      <p:sp>
        <p:nvSpPr>
          <p:cNvPr id="3" name="内容占位符 2">
            <a:extLst>
              <a:ext uri="{FF2B5EF4-FFF2-40B4-BE49-F238E27FC236}">
                <a16:creationId xmlns:a16="http://schemas.microsoft.com/office/drawing/2014/main" id="{C1F4156F-38BD-264C-B7A9-FF57CBD0B236}"/>
              </a:ext>
            </a:extLst>
          </p:cNvPr>
          <p:cNvSpPr>
            <a:spLocks noGrp="1"/>
          </p:cNvSpPr>
          <p:nvPr>
            <p:ph idx="4294967295"/>
          </p:nvPr>
        </p:nvSpPr>
        <p:spPr>
          <a:xfrm>
            <a:off x="457200" y="1491087"/>
            <a:ext cx="8140390" cy="5043527"/>
          </a:xfrm>
        </p:spPr>
        <p:txBody>
          <a:bodyPr>
            <a:normAutofit/>
          </a:bodyPr>
          <a:lstStyle/>
          <a:p>
            <a:pPr>
              <a:spcAft>
                <a:spcPts val="600"/>
              </a:spcAft>
            </a:pPr>
            <a:r>
              <a:rPr kumimoji="1" lang="zh-CN" altLang="en-US" sz="2400" dirty="0"/>
              <a:t>寄存器寻址</a:t>
            </a:r>
            <a:endParaRPr kumimoji="1" lang="en-US" altLang="zh-CN" sz="2400" dirty="0"/>
          </a:p>
          <a:p>
            <a:pPr lvl="1">
              <a:spcAft>
                <a:spcPts val="600"/>
              </a:spcAft>
            </a:pPr>
            <a:r>
              <a:rPr kumimoji="1" lang="zh-CN" altLang="en-US" sz="2000" dirty="0"/>
              <a:t>找到对应的寄存器，从</a:t>
            </a:r>
            <a:r>
              <a:rPr kumimoji="1" lang="zh-CN" altLang="en-US" sz="2000" dirty="0">
                <a:solidFill>
                  <a:srgbClr val="0432FF"/>
                </a:solidFill>
              </a:rPr>
              <a:t>寄存器</a:t>
            </a:r>
            <a:r>
              <a:rPr kumimoji="1" lang="zh-CN" altLang="en-US" sz="2000" dirty="0"/>
              <a:t>中取数</a:t>
            </a:r>
            <a:r>
              <a:rPr kumimoji="1" lang="en-US" altLang="zh-CN" sz="2000" dirty="0"/>
              <a:t>/</a:t>
            </a:r>
            <a:r>
              <a:rPr kumimoji="1" lang="zh-CN" altLang="en-US" sz="2000" dirty="0"/>
              <a:t>写数</a:t>
            </a:r>
            <a:endParaRPr kumimoji="1" lang="en-US" altLang="zh-CN" sz="2000" dirty="0"/>
          </a:p>
          <a:p>
            <a:pPr>
              <a:spcAft>
                <a:spcPts val="600"/>
              </a:spcAft>
            </a:pPr>
            <a:r>
              <a:rPr kumimoji="1" lang="zh-CN" altLang="en-US" sz="2400" dirty="0"/>
              <a:t>立即数寻址 </a:t>
            </a:r>
            <a:endParaRPr kumimoji="1" lang="en-US" altLang="zh-CN" sz="2400" dirty="0"/>
          </a:p>
          <a:p>
            <a:pPr lvl="1">
              <a:spcAft>
                <a:spcPts val="600"/>
              </a:spcAft>
            </a:pPr>
            <a:r>
              <a:rPr kumimoji="1" lang="zh-CN" altLang="en-US" sz="2000" dirty="0"/>
              <a:t>指令中的立即数可以被直接使用</a:t>
            </a:r>
            <a:endParaRPr kumimoji="1" lang="en-US" altLang="zh-CN" sz="2000" dirty="0"/>
          </a:p>
          <a:p>
            <a:pPr lvl="1">
              <a:spcAft>
                <a:spcPts val="600"/>
              </a:spcAft>
            </a:pPr>
            <a:r>
              <a:rPr kumimoji="1" lang="zh-CN" altLang="en-US" sz="2000" dirty="0"/>
              <a:t>对于常量操作数，使用立即数字段比访存更加快速</a:t>
            </a:r>
            <a:endParaRPr kumimoji="1" lang="en-US" altLang="zh-CN" sz="2000" dirty="0"/>
          </a:p>
          <a:p>
            <a:pPr>
              <a:spcAft>
                <a:spcPts val="600"/>
              </a:spcAft>
            </a:pPr>
            <a:r>
              <a:rPr kumimoji="1" lang="zh-CN" altLang="en-US" sz="2400" dirty="0"/>
              <a:t>基址寻址</a:t>
            </a:r>
            <a:endParaRPr kumimoji="1" lang="en-US" altLang="zh-CN" sz="2400" dirty="0"/>
          </a:p>
          <a:p>
            <a:pPr lvl="1">
              <a:spcAft>
                <a:spcPts val="600"/>
              </a:spcAft>
            </a:pPr>
            <a:r>
              <a:rPr kumimoji="1" lang="zh-CN" altLang="en-US" sz="2000" dirty="0"/>
              <a:t>目标地址</a:t>
            </a:r>
            <a:r>
              <a:rPr kumimoji="1" lang="en-US" altLang="zh-CN" sz="2000" dirty="0"/>
              <a:t>=</a:t>
            </a:r>
            <a:r>
              <a:rPr kumimoji="1" lang="zh-CN" altLang="en-US" sz="2000" dirty="0"/>
              <a:t>基址（存储于寄存器中）</a:t>
            </a:r>
            <a:r>
              <a:rPr kumimoji="1" lang="en-US" altLang="zh-CN" sz="2000" dirty="0"/>
              <a:t>+ </a:t>
            </a:r>
            <a:r>
              <a:rPr kumimoji="1" lang="zh-CN" altLang="en-US" sz="2000" dirty="0"/>
              <a:t>立即数</a:t>
            </a:r>
            <a:endParaRPr kumimoji="1" lang="en-US" altLang="zh-CN" sz="2000" dirty="0"/>
          </a:p>
          <a:p>
            <a:pPr>
              <a:spcAft>
                <a:spcPts val="600"/>
              </a:spcAft>
            </a:pPr>
            <a:r>
              <a:rPr kumimoji="1" lang="en-US" altLang="zh-CN" sz="2400" dirty="0"/>
              <a:t>PC</a:t>
            </a:r>
            <a:r>
              <a:rPr kumimoji="1" lang="zh-CN" altLang="en-US" sz="2400" dirty="0"/>
              <a:t>相对寻址：</a:t>
            </a:r>
            <a:r>
              <a:rPr kumimoji="1" lang="en-US" altLang="zh-CN" sz="2400" dirty="0"/>
              <a:t> </a:t>
            </a:r>
            <a:r>
              <a:rPr kumimoji="1" lang="en-US" altLang="zh-CN" sz="2400" dirty="0" err="1"/>
              <a:t>PC_new</a:t>
            </a:r>
            <a:r>
              <a:rPr kumimoji="1" lang="zh-CN" altLang="en-US" sz="2400" dirty="0"/>
              <a:t> </a:t>
            </a:r>
            <a:r>
              <a:rPr kumimoji="1" lang="en-US" altLang="zh-CN" sz="2400" dirty="0"/>
              <a:t>=</a:t>
            </a:r>
            <a:r>
              <a:rPr kumimoji="1" lang="zh-CN" altLang="en-US" sz="2400" dirty="0"/>
              <a:t> </a:t>
            </a:r>
            <a:r>
              <a:rPr kumimoji="1" lang="en-US" altLang="zh-CN" sz="2400" dirty="0"/>
              <a:t>PC+4</a:t>
            </a:r>
            <a:r>
              <a:rPr kumimoji="1" lang="zh-CN" altLang="en-US" sz="2400" dirty="0"/>
              <a:t> </a:t>
            </a:r>
            <a:r>
              <a:rPr kumimoji="1" lang="en-US" altLang="zh-CN" sz="2400" dirty="0"/>
              <a:t>+</a:t>
            </a:r>
            <a:r>
              <a:rPr kumimoji="1" lang="zh-CN" altLang="en-US" sz="2400" dirty="0"/>
              <a:t> </a:t>
            </a:r>
            <a:r>
              <a:rPr kumimoji="1" lang="en-US" altLang="zh-CN" sz="2400" dirty="0"/>
              <a:t>(</a:t>
            </a:r>
            <a:r>
              <a:rPr kumimoji="1" lang="en-US" altLang="zh-CN" sz="2400" dirty="0" err="1">
                <a:solidFill>
                  <a:srgbClr val="0432FF"/>
                </a:solidFill>
              </a:rPr>
              <a:t>Addr</a:t>
            </a:r>
            <a:r>
              <a:rPr kumimoji="1" lang="en-US" altLang="zh-CN" sz="2400" dirty="0">
                <a:solidFill>
                  <a:srgbClr val="0432FF"/>
                </a:solidFill>
              </a:rPr>
              <a:t>&lt;&lt;2</a:t>
            </a:r>
            <a:r>
              <a:rPr kumimoji="1" lang="en-US" altLang="zh-CN" sz="2400" dirty="0"/>
              <a:t>)</a:t>
            </a:r>
          </a:p>
          <a:p>
            <a:pPr>
              <a:spcAft>
                <a:spcPts val="600"/>
              </a:spcAft>
            </a:pPr>
            <a:r>
              <a:rPr kumimoji="1" lang="zh-CN" altLang="en-US" sz="2400" dirty="0"/>
              <a:t>伪直接寻址：</a:t>
            </a:r>
            <a:r>
              <a:rPr kumimoji="1" lang="en-US" altLang="zh-CN" sz="2400" dirty="0"/>
              <a:t> </a:t>
            </a:r>
            <a:r>
              <a:rPr kumimoji="1" lang="en-US" altLang="zh-CN" sz="2400" dirty="0" err="1"/>
              <a:t>PC_new</a:t>
            </a:r>
            <a:r>
              <a:rPr kumimoji="1" lang="zh-CN" altLang="en-US" sz="2400" dirty="0"/>
              <a:t> </a:t>
            </a:r>
            <a:r>
              <a:rPr kumimoji="1" lang="en-US" altLang="zh-CN" sz="2400" dirty="0"/>
              <a:t>=</a:t>
            </a:r>
            <a:r>
              <a:rPr kumimoji="1" lang="zh-CN" altLang="en-US" sz="2400" dirty="0"/>
              <a:t> </a:t>
            </a:r>
            <a:r>
              <a:rPr kumimoji="1" lang="en-US" altLang="zh-CN" sz="2400" dirty="0"/>
              <a:t>{PC[31:28],</a:t>
            </a:r>
            <a:r>
              <a:rPr kumimoji="1" lang="zh-CN" altLang="en-US" sz="2400" dirty="0"/>
              <a:t> </a:t>
            </a:r>
            <a:r>
              <a:rPr kumimoji="1" lang="en-US" altLang="zh-CN" sz="2400" dirty="0" err="1"/>
              <a:t>target_addr</a:t>
            </a:r>
            <a:r>
              <a:rPr kumimoji="1" lang="en-US" altLang="zh-CN" sz="2400" dirty="0"/>
              <a:t>,</a:t>
            </a:r>
            <a:r>
              <a:rPr kumimoji="1" lang="zh-CN" altLang="en-US" sz="2400" dirty="0"/>
              <a:t> </a:t>
            </a:r>
            <a:r>
              <a:rPr kumimoji="1" lang="en-US" altLang="zh-CN" sz="2400" dirty="0">
                <a:solidFill>
                  <a:srgbClr val="0432FF"/>
                </a:solidFill>
              </a:rPr>
              <a:t>00}</a:t>
            </a:r>
          </a:p>
          <a:p>
            <a:endParaRPr kumimoji="1" lang="zh-CN" altLang="en-US" sz="2400" dirty="0"/>
          </a:p>
        </p:txBody>
      </p:sp>
      <p:sp>
        <p:nvSpPr>
          <p:cNvPr id="5" name="Title 4">
            <a:extLst>
              <a:ext uri="{FF2B5EF4-FFF2-40B4-BE49-F238E27FC236}">
                <a16:creationId xmlns:a16="http://schemas.microsoft.com/office/drawing/2014/main" id="{645C8B72-296E-BD91-9AD4-70C2ED7C8742}"/>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kumimoji="1" lang="en-US" altLang="zh-CN" dirty="0"/>
              <a:t>MIPS</a:t>
            </a:r>
            <a:r>
              <a:rPr kumimoji="1" lang="zh-CN" altLang="en-US" dirty="0"/>
              <a:t>寻址方式总结</a:t>
            </a:r>
            <a:endParaRPr lang="en-CN" kern="0" dirty="0"/>
          </a:p>
        </p:txBody>
      </p:sp>
    </p:spTree>
    <p:extLst>
      <p:ext uri="{BB962C8B-B14F-4D97-AF65-F5344CB8AC3E}">
        <p14:creationId xmlns:p14="http://schemas.microsoft.com/office/powerpoint/2010/main" val="357998352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58C6A64-4532-734D-A003-17AB02EDCF0D}"/>
              </a:ext>
            </a:extLst>
          </p:cNvPr>
          <p:cNvSpPr>
            <a:spLocks noGrp="1"/>
          </p:cNvSpPr>
          <p:nvPr>
            <p:ph type="sldNum" sz="quarter" idx="12"/>
          </p:nvPr>
        </p:nvSpPr>
        <p:spPr/>
        <p:txBody>
          <a:bodyPr/>
          <a:lstStyle/>
          <a:p>
            <a:fld id="{176ACFD1-D213-4B9C-817B-45486DBF105A}" type="slidenum">
              <a:rPr lang="en-US" smtClean="0">
                <a:solidFill>
                  <a:prstClr val="black"/>
                </a:solidFill>
              </a:rPr>
              <a:pPr/>
              <a:t>62</a:t>
            </a:fld>
            <a:endParaRPr lang="en-US">
              <a:solidFill>
                <a:prstClr val="black"/>
              </a:solidFill>
            </a:endParaRPr>
          </a:p>
        </p:txBody>
      </p:sp>
      <p:sp>
        <p:nvSpPr>
          <p:cNvPr id="3" name="Content Placeholder 2">
            <a:extLst>
              <a:ext uri="{FF2B5EF4-FFF2-40B4-BE49-F238E27FC236}">
                <a16:creationId xmlns:a16="http://schemas.microsoft.com/office/drawing/2014/main" id="{FBC54065-A8EB-A646-8897-9BA089C94A03}"/>
              </a:ext>
            </a:extLst>
          </p:cNvPr>
          <p:cNvSpPr>
            <a:spLocks noGrp="1"/>
          </p:cNvSpPr>
          <p:nvPr>
            <p:ph idx="4294967295"/>
          </p:nvPr>
        </p:nvSpPr>
        <p:spPr>
          <a:xfrm>
            <a:off x="457200" y="1253331"/>
            <a:ext cx="8229600" cy="5230813"/>
          </a:xfrm>
        </p:spPr>
        <p:txBody>
          <a:bodyPr>
            <a:normAutofit fontScale="92500" lnSpcReduction="20000"/>
          </a:bodyPr>
          <a:lstStyle/>
          <a:p>
            <a:pPr>
              <a:lnSpc>
                <a:spcPct val="150000"/>
              </a:lnSpc>
            </a:pPr>
            <a:r>
              <a:rPr lang="zh-CN" altLang="en-US" dirty="0">
                <a:latin typeface="Arial" panose="020B0604020202020204" pitchFamily="34" charset="0"/>
                <a:cs typeface="Arial" panose="020B0604020202020204" pitchFamily="34" charset="0"/>
              </a:rPr>
              <a:t>指令设计思想与考虑</a:t>
            </a:r>
            <a:endParaRPr lang="en-US" altLang="zh-CN" dirty="0">
              <a:latin typeface="Arial" panose="020B0604020202020204" pitchFamily="34" charset="0"/>
              <a:cs typeface="Arial" panose="020B0604020202020204" pitchFamily="34" charset="0"/>
            </a:endParaRPr>
          </a:p>
          <a:p>
            <a:pPr>
              <a:lnSpc>
                <a:spcPct val="150000"/>
              </a:lnSpc>
            </a:pPr>
            <a:r>
              <a:rPr lang="en-US" dirty="0">
                <a:solidFill>
                  <a:srgbClr val="0432FF"/>
                </a:solidFill>
                <a:latin typeface="Arial" panose="020B0604020202020204" pitchFamily="34" charset="0"/>
                <a:cs typeface="Arial" panose="020B0604020202020204" pitchFamily="34" charset="0"/>
              </a:rPr>
              <a:t>MIPS</a:t>
            </a:r>
            <a:r>
              <a:rPr lang="zh-CN" altLang="en-US" dirty="0">
                <a:solidFill>
                  <a:srgbClr val="0432FF"/>
                </a:solidFill>
                <a:latin typeface="Arial" panose="020B0604020202020204" pitchFamily="34" charset="0"/>
                <a:cs typeface="Arial" panose="020B0604020202020204" pitchFamily="34" charset="0"/>
              </a:rPr>
              <a:t>指令集介绍</a:t>
            </a:r>
            <a:endParaRPr lang="en-US" altLang="zh-CN" dirty="0">
              <a:solidFill>
                <a:srgbClr val="0432FF"/>
              </a:solidFill>
              <a:latin typeface="Arial" panose="020B0604020202020204" pitchFamily="34" charset="0"/>
              <a:cs typeface="Arial" panose="020B0604020202020204" pitchFamily="34" charset="0"/>
            </a:endParaRPr>
          </a:p>
          <a:p>
            <a:pPr lvl="1">
              <a:lnSpc>
                <a:spcPct val="150000"/>
              </a:lnSpc>
            </a:pPr>
            <a:r>
              <a:rPr lang="zh-CN" altLang="en-US" dirty="0">
                <a:latin typeface="Arial" panose="020B0604020202020204" pitchFamily="34" charset="0"/>
                <a:cs typeface="Arial" panose="020B0604020202020204" pitchFamily="34" charset="0"/>
              </a:rPr>
              <a:t>指令存储与数据存储</a:t>
            </a:r>
            <a:endParaRPr lang="en-US" altLang="zh-CN" dirty="0">
              <a:latin typeface="Arial" panose="020B0604020202020204" pitchFamily="34" charset="0"/>
              <a:cs typeface="Arial" panose="020B0604020202020204" pitchFamily="34" charset="0"/>
            </a:endParaRPr>
          </a:p>
          <a:p>
            <a:pPr lvl="1">
              <a:lnSpc>
                <a:spcPct val="150000"/>
              </a:lnSpc>
            </a:pPr>
            <a:r>
              <a:rPr lang="zh-CN" altLang="en-US" dirty="0">
                <a:latin typeface="Arial" panose="020B0604020202020204" pitchFamily="34" charset="0"/>
                <a:cs typeface="Arial" panose="020B0604020202020204" pitchFamily="34" charset="0"/>
              </a:rPr>
              <a:t>指令分类与格式</a:t>
            </a:r>
            <a:endParaRPr lang="en-US" altLang="zh-CN" dirty="0">
              <a:latin typeface="Arial" panose="020B0604020202020204" pitchFamily="34" charset="0"/>
              <a:cs typeface="Arial" panose="020B0604020202020204" pitchFamily="34" charset="0"/>
            </a:endParaRPr>
          </a:p>
          <a:p>
            <a:pPr lvl="1">
              <a:lnSpc>
                <a:spcPct val="150000"/>
              </a:lnSpc>
            </a:pPr>
            <a:r>
              <a:rPr lang="zh-CN" altLang="en-US" dirty="0">
                <a:latin typeface="Arial" panose="020B0604020202020204" pitchFamily="34" charset="0"/>
                <a:cs typeface="Arial" panose="020B0604020202020204" pitchFamily="34" charset="0"/>
              </a:rPr>
              <a:t>寻址方式</a:t>
            </a:r>
            <a:endParaRPr lang="en-US" altLang="zh-CN" dirty="0">
              <a:latin typeface="Arial" panose="020B0604020202020204" pitchFamily="34" charset="0"/>
              <a:cs typeface="Arial" panose="020B0604020202020204" pitchFamily="34" charset="0"/>
            </a:endParaRPr>
          </a:p>
          <a:p>
            <a:pPr lvl="1">
              <a:lnSpc>
                <a:spcPct val="150000"/>
              </a:lnSpc>
            </a:pPr>
            <a:r>
              <a:rPr lang="zh-CN" altLang="en-US" dirty="0">
                <a:solidFill>
                  <a:srgbClr val="0432FF"/>
                </a:solidFill>
                <a:latin typeface="Arial" panose="020B0604020202020204" pitchFamily="34" charset="0"/>
                <a:cs typeface="Arial" panose="020B0604020202020204" pitchFamily="34" charset="0"/>
              </a:rPr>
              <a:t>常见指令介绍</a:t>
            </a:r>
            <a:endParaRPr lang="en-US" altLang="zh-CN" dirty="0">
              <a:solidFill>
                <a:srgbClr val="0432FF"/>
              </a:solidFill>
              <a:latin typeface="Arial" panose="020B0604020202020204" pitchFamily="34" charset="0"/>
              <a:cs typeface="Arial" panose="020B0604020202020204" pitchFamily="34" charset="0"/>
            </a:endParaRPr>
          </a:p>
          <a:p>
            <a:pPr lvl="1">
              <a:lnSpc>
                <a:spcPct val="150000"/>
              </a:lnSpc>
            </a:pPr>
            <a:r>
              <a:rPr lang="zh-CN" altLang="en-US" dirty="0">
                <a:latin typeface="Arial" panose="020B0604020202020204" pitchFamily="34" charset="0"/>
                <a:cs typeface="Arial" panose="020B0604020202020204" pitchFamily="34" charset="0"/>
              </a:rPr>
              <a:t>过程调用</a:t>
            </a:r>
            <a:endParaRPr lang="en-US" altLang="zh-CN" dirty="0">
              <a:latin typeface="Arial" panose="020B0604020202020204" pitchFamily="34" charset="0"/>
              <a:cs typeface="Arial" panose="020B0604020202020204" pitchFamily="34" charset="0"/>
            </a:endParaRPr>
          </a:p>
          <a:p>
            <a:pPr>
              <a:lnSpc>
                <a:spcPct val="150000"/>
              </a:lnSpc>
            </a:pPr>
            <a:r>
              <a:rPr lang="en-US" altLang="zh-CN" dirty="0">
                <a:latin typeface="Arial" panose="020B0604020202020204" pitchFamily="34" charset="0"/>
                <a:cs typeface="Arial" panose="020B0604020202020204" pitchFamily="34" charset="0"/>
              </a:rPr>
              <a:t>MIPS</a:t>
            </a:r>
            <a:r>
              <a:rPr lang="zh-CN" altLang="en-US" dirty="0">
                <a:latin typeface="Arial" panose="020B0604020202020204" pitchFamily="34" charset="0"/>
                <a:cs typeface="Arial" panose="020B0604020202020204" pitchFamily="34" charset="0"/>
              </a:rPr>
              <a:t>指令集程序</a:t>
            </a:r>
            <a:endParaRPr lang="en-US" altLang="zh-CN" dirty="0">
              <a:latin typeface="Arial" panose="020B0604020202020204" pitchFamily="34" charset="0"/>
              <a:cs typeface="Arial" panose="020B0604020202020204" pitchFamily="34" charset="0"/>
            </a:endParaRPr>
          </a:p>
          <a:p>
            <a:pPr marL="342900" lvl="1" indent="0">
              <a:lnSpc>
                <a:spcPct val="150000"/>
              </a:lnSpc>
              <a:buNone/>
            </a:pPr>
            <a:endParaRPr lang="en-US" altLang="zh-CN" sz="2800" dirty="0">
              <a:latin typeface="Arial" panose="020B0604020202020204" pitchFamily="34" charset="0"/>
              <a:cs typeface="Arial" panose="020B0604020202020204" pitchFamily="34" charset="0"/>
            </a:endParaRPr>
          </a:p>
        </p:txBody>
      </p:sp>
      <p:sp>
        <p:nvSpPr>
          <p:cNvPr id="2" name="Title 4">
            <a:extLst>
              <a:ext uri="{FF2B5EF4-FFF2-40B4-BE49-F238E27FC236}">
                <a16:creationId xmlns:a16="http://schemas.microsoft.com/office/drawing/2014/main" id="{87B678F1-5B95-7947-FB13-ADF37D7D93AB}"/>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kumimoji="1" lang="zh-CN" altLang="en-US" dirty="0"/>
              <a:t>本节课目录</a:t>
            </a:r>
            <a:endParaRPr lang="en-CN" kern="0" dirty="0"/>
          </a:p>
        </p:txBody>
      </p:sp>
    </p:spTree>
    <p:extLst>
      <p:ext uri="{BB962C8B-B14F-4D97-AF65-F5344CB8AC3E}">
        <p14:creationId xmlns:p14="http://schemas.microsoft.com/office/powerpoint/2010/main" val="155061676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3">
            <a:extLst>
              <a:ext uri="{FF2B5EF4-FFF2-40B4-BE49-F238E27FC236}">
                <a16:creationId xmlns:a16="http://schemas.microsoft.com/office/drawing/2014/main" id="{BC177B54-99E2-3548-B436-765FDCCBF14A}"/>
              </a:ext>
            </a:extLst>
          </p:cNvPr>
          <p:cNvSpPr>
            <a:spLocks noGrp="1"/>
          </p:cNvSpPr>
          <p:nvPr>
            <p:ph type="sldNum" sz="quarter" idx="12"/>
          </p:nvPr>
        </p:nvSpPr>
        <p:spPr/>
        <p:txBody>
          <a:bodyPr/>
          <a:lstStyle/>
          <a:p>
            <a:fld id="{14659731-6BD7-46E7-8D3C-2F3AC07E20B1}" type="slidenum">
              <a:rPr lang="en-US" altLang="zh-CN" smtClean="0"/>
              <a:pPr/>
              <a:t>63</a:t>
            </a:fld>
            <a:endParaRPr lang="en-US" altLang="zh-CN"/>
          </a:p>
        </p:txBody>
      </p:sp>
      <p:sp>
        <p:nvSpPr>
          <p:cNvPr id="46083" name="Rectangle 3"/>
          <p:cNvSpPr>
            <a:spLocks noGrp="1" noChangeArrowheads="1"/>
          </p:cNvSpPr>
          <p:nvPr>
            <p:ph idx="4294967295"/>
          </p:nvPr>
        </p:nvSpPr>
        <p:spPr>
          <a:xfrm>
            <a:off x="457200" y="1422642"/>
            <a:ext cx="7886700" cy="4351338"/>
          </a:xfrm>
        </p:spPr>
        <p:txBody>
          <a:bodyPr/>
          <a:lstStyle/>
          <a:p>
            <a:pPr hangingPunct="1">
              <a:lnSpc>
                <a:spcPct val="90000"/>
              </a:lnSpc>
            </a:pPr>
            <a:r>
              <a:rPr lang="zh-CN" altLang="en-US" sz="2800" dirty="0">
                <a:solidFill>
                  <a:srgbClr val="0432FF"/>
                </a:solidFill>
              </a:rPr>
              <a:t>加法</a:t>
            </a:r>
          </a:p>
          <a:p>
            <a:pPr lvl="1" hangingPunct="1">
              <a:lnSpc>
                <a:spcPct val="90000"/>
              </a:lnSpc>
              <a:spcBef>
                <a:spcPts val="1200"/>
              </a:spcBef>
              <a:buFont typeface="Wingdings" pitchFamily="2" charset="2"/>
              <a:buNone/>
            </a:pPr>
            <a:r>
              <a:rPr lang="en-US" altLang="zh-CN" sz="2400" i="1" dirty="0">
                <a:latin typeface="Consolas" panose="020B0609020204030204" pitchFamily="49" charset="0"/>
              </a:rPr>
              <a:t>add $t0,$t1,$t2	# $t0 = $t1 + $t2</a:t>
            </a:r>
          </a:p>
          <a:p>
            <a:pPr lvl="1" hangingPunct="1">
              <a:lnSpc>
                <a:spcPct val="90000"/>
              </a:lnSpc>
              <a:buFont typeface="Wingdings" pitchFamily="2" charset="2"/>
              <a:buNone/>
            </a:pPr>
            <a:endParaRPr lang="en-US" altLang="zh-CN" sz="2200" dirty="0"/>
          </a:p>
          <a:p>
            <a:pPr hangingPunct="1">
              <a:lnSpc>
                <a:spcPct val="90000"/>
              </a:lnSpc>
            </a:pPr>
            <a:r>
              <a:rPr lang="zh-CN" altLang="en-US" sz="2800" dirty="0">
                <a:solidFill>
                  <a:srgbClr val="0432FF"/>
                </a:solidFill>
              </a:rPr>
              <a:t>减法</a:t>
            </a:r>
          </a:p>
          <a:p>
            <a:pPr lvl="1">
              <a:lnSpc>
                <a:spcPct val="90000"/>
              </a:lnSpc>
              <a:spcBef>
                <a:spcPts val="1200"/>
              </a:spcBef>
              <a:buNone/>
            </a:pPr>
            <a:r>
              <a:rPr lang="en-US" altLang="zh-CN" sz="2400" i="1" dirty="0">
                <a:latin typeface="Consolas" panose="020B0609020204030204" pitchFamily="49" charset="0"/>
              </a:rPr>
              <a:t>sub $t2,$t3,$t4	# $t2 = $t3 - $t4</a:t>
            </a:r>
          </a:p>
          <a:p>
            <a:pPr lvl="1" hangingPunct="1">
              <a:lnSpc>
                <a:spcPct val="90000"/>
              </a:lnSpc>
              <a:buFont typeface="Wingdings" pitchFamily="2" charset="2"/>
              <a:buNone/>
            </a:pPr>
            <a:endParaRPr lang="en-US" altLang="zh-CN" sz="2200" dirty="0"/>
          </a:p>
        </p:txBody>
      </p:sp>
      <p:sp>
        <p:nvSpPr>
          <p:cNvPr id="4" name="矩形 3"/>
          <p:cNvSpPr/>
          <p:nvPr/>
        </p:nvSpPr>
        <p:spPr>
          <a:xfrm>
            <a:off x="5876695" y="4569685"/>
            <a:ext cx="3051175" cy="1292225"/>
          </a:xfrm>
          <a:prstGeom prst="rect">
            <a:avLst/>
          </a:prstGeom>
        </p:spPr>
        <p:txBody>
          <a:bodyPr wrap="none">
            <a:spAutoFit/>
          </a:bodyPr>
          <a:lstStyle/>
          <a:p>
            <a:pPr>
              <a:defRPr/>
            </a:pPr>
            <a:r>
              <a:rPr lang="zh-CN" altLang="en-US" sz="2600" b="1" dirty="0">
                <a:solidFill>
                  <a:srgbClr val="0432FF"/>
                </a:solidFill>
                <a:latin typeface="+mn-lt"/>
                <a:ea typeface="+mn-ea"/>
              </a:rPr>
              <a:t>注释</a:t>
            </a:r>
            <a:endParaRPr lang="en-US" altLang="zh-CN" sz="2600" b="1" dirty="0">
              <a:solidFill>
                <a:srgbClr val="0432FF"/>
              </a:solidFill>
              <a:latin typeface="+mn-lt"/>
              <a:ea typeface="+mn-ea"/>
            </a:endParaRPr>
          </a:p>
          <a:p>
            <a:pPr>
              <a:defRPr/>
            </a:pPr>
            <a:endParaRPr lang="en-US" altLang="zh-CN" sz="2600" b="1" dirty="0">
              <a:solidFill>
                <a:srgbClr val="0432FF"/>
              </a:solidFill>
              <a:latin typeface="+mn-lt"/>
              <a:ea typeface="+mn-ea"/>
            </a:endParaRPr>
          </a:p>
          <a:p>
            <a:pPr>
              <a:defRPr/>
            </a:pPr>
            <a:r>
              <a:rPr lang="zh-CN" altLang="en-US" sz="2600" b="1" dirty="0">
                <a:solidFill>
                  <a:srgbClr val="0432FF"/>
                </a:solidFill>
                <a:latin typeface="+mn-lt"/>
                <a:ea typeface="+mn-ea"/>
              </a:rPr>
              <a:t>寄存器以</a:t>
            </a:r>
            <a:r>
              <a:rPr lang="en-US" altLang="zh-CN" sz="2600" b="1" dirty="0">
                <a:solidFill>
                  <a:srgbClr val="0432FF"/>
                </a:solidFill>
                <a:latin typeface="+mn-lt"/>
                <a:ea typeface="+mn-ea"/>
              </a:rPr>
              <a:t>$</a:t>
            </a:r>
            <a:r>
              <a:rPr lang="zh-CN" altLang="en-US" sz="2600" b="1" dirty="0">
                <a:solidFill>
                  <a:srgbClr val="0432FF"/>
                </a:solidFill>
                <a:latin typeface="+mn-lt"/>
                <a:ea typeface="+mn-ea"/>
              </a:rPr>
              <a:t>符号开始</a:t>
            </a:r>
          </a:p>
        </p:txBody>
      </p:sp>
      <p:grpSp>
        <p:nvGrpSpPr>
          <p:cNvPr id="46085" name="组合 20498"/>
          <p:cNvGrpSpPr>
            <a:grpSpLocks/>
          </p:cNvGrpSpPr>
          <p:nvPr/>
        </p:nvGrpSpPr>
        <p:grpSpPr bwMode="auto">
          <a:xfrm>
            <a:off x="4264442" y="3689446"/>
            <a:ext cx="1490394" cy="1107504"/>
            <a:chOff x="5431809" y="4954137"/>
            <a:chExt cx="1312072" cy="457200"/>
          </a:xfrm>
        </p:grpSpPr>
        <p:cxnSp>
          <p:nvCxnSpPr>
            <p:cNvPr id="6" name="直接连接符 5"/>
            <p:cNvCxnSpPr/>
            <p:nvPr/>
          </p:nvCxnSpPr>
          <p:spPr bwMode="auto">
            <a:xfrm>
              <a:off x="5431809" y="4954137"/>
              <a:ext cx="0" cy="457200"/>
            </a:xfrm>
            <a:prstGeom prst="line">
              <a:avLst/>
            </a:prstGeom>
            <a:ln w="28575" cap="rnd">
              <a:solidFill>
                <a:srgbClr val="0432FF"/>
              </a:solidFill>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7" name="直接箭头连接符 6"/>
            <p:cNvCxnSpPr/>
            <p:nvPr/>
          </p:nvCxnSpPr>
          <p:spPr bwMode="auto">
            <a:xfrm>
              <a:off x="5431809" y="5411337"/>
              <a:ext cx="1312072" cy="0"/>
            </a:xfrm>
            <a:prstGeom prst="straightConnector1">
              <a:avLst/>
            </a:prstGeom>
            <a:ln w="28575" cap="rnd">
              <a:solidFill>
                <a:srgbClr val="0432FF"/>
              </a:solidFill>
              <a:headEnd type="none" w="med" len="med"/>
              <a:tailEnd type="arrow"/>
            </a:ln>
          </p:spPr>
          <p:style>
            <a:lnRef idx="1">
              <a:schemeClr val="accent2"/>
            </a:lnRef>
            <a:fillRef idx="0">
              <a:schemeClr val="accent2"/>
            </a:fillRef>
            <a:effectRef idx="0">
              <a:schemeClr val="accent2"/>
            </a:effectRef>
            <a:fontRef idx="minor">
              <a:schemeClr val="tx1"/>
            </a:fontRef>
          </p:style>
        </p:cxnSp>
      </p:grpSp>
      <p:grpSp>
        <p:nvGrpSpPr>
          <p:cNvPr id="46086" name="组合 51"/>
          <p:cNvGrpSpPr>
            <a:grpSpLocks/>
          </p:cNvGrpSpPr>
          <p:nvPr/>
        </p:nvGrpSpPr>
        <p:grpSpPr bwMode="auto">
          <a:xfrm>
            <a:off x="1741717" y="3767969"/>
            <a:ext cx="4013101" cy="1807642"/>
            <a:chOff x="5431809" y="4954137"/>
            <a:chExt cx="1312072" cy="457200"/>
          </a:xfrm>
        </p:grpSpPr>
        <p:cxnSp>
          <p:nvCxnSpPr>
            <p:cNvPr id="9" name="直接连接符 8"/>
            <p:cNvCxnSpPr/>
            <p:nvPr/>
          </p:nvCxnSpPr>
          <p:spPr bwMode="auto">
            <a:xfrm>
              <a:off x="5431809" y="4954137"/>
              <a:ext cx="0" cy="457200"/>
            </a:xfrm>
            <a:prstGeom prst="line">
              <a:avLst/>
            </a:prstGeom>
            <a:ln w="28575" cap="rnd">
              <a:solidFill>
                <a:srgbClr val="0432FF"/>
              </a:solidFill>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10" name="直接箭头连接符 9"/>
            <p:cNvCxnSpPr/>
            <p:nvPr/>
          </p:nvCxnSpPr>
          <p:spPr bwMode="auto">
            <a:xfrm>
              <a:off x="5431809" y="5411337"/>
              <a:ext cx="1312072" cy="0"/>
            </a:xfrm>
            <a:prstGeom prst="straightConnector1">
              <a:avLst/>
            </a:prstGeom>
            <a:ln w="28575" cap="rnd">
              <a:solidFill>
                <a:srgbClr val="0432FF"/>
              </a:solidFill>
              <a:headEnd type="none" w="med" len="med"/>
              <a:tailEnd type="arrow"/>
            </a:ln>
          </p:spPr>
          <p:style>
            <a:lnRef idx="1">
              <a:schemeClr val="accent2"/>
            </a:lnRef>
            <a:fillRef idx="0">
              <a:schemeClr val="accent2"/>
            </a:fillRef>
            <a:effectRef idx="0">
              <a:schemeClr val="accent2"/>
            </a:effectRef>
            <a:fontRef idx="minor">
              <a:schemeClr val="tx1"/>
            </a:fontRef>
          </p:style>
        </p:cxnSp>
      </p:grpSp>
      <p:sp>
        <p:nvSpPr>
          <p:cNvPr id="2" name="Title 4">
            <a:extLst>
              <a:ext uri="{FF2B5EF4-FFF2-40B4-BE49-F238E27FC236}">
                <a16:creationId xmlns:a16="http://schemas.microsoft.com/office/drawing/2014/main" id="{99BE18B5-FB42-E0DB-1A64-16087E01CAF7}"/>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kern="1200" dirty="0">
                <a:cs typeface="+mn-cs"/>
              </a:rPr>
              <a:t>算术运算</a:t>
            </a:r>
            <a:endParaRPr lang="en-CN" kern="0" dirty="0"/>
          </a:p>
        </p:txBody>
      </p:sp>
    </p:spTree>
    <p:extLst>
      <p:ext uri="{BB962C8B-B14F-4D97-AF65-F5344CB8AC3E}">
        <p14:creationId xmlns:p14="http://schemas.microsoft.com/office/powerpoint/2010/main" val="9709218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a:extLst>
              <a:ext uri="{FF2B5EF4-FFF2-40B4-BE49-F238E27FC236}">
                <a16:creationId xmlns:a16="http://schemas.microsoft.com/office/drawing/2014/main" id="{111F7883-477D-DB40-9396-47B0BF5B3133}"/>
              </a:ext>
            </a:extLst>
          </p:cNvPr>
          <p:cNvSpPr>
            <a:spLocks noGrp="1"/>
          </p:cNvSpPr>
          <p:nvPr>
            <p:ph type="sldNum" sz="quarter" idx="12"/>
          </p:nvPr>
        </p:nvSpPr>
        <p:spPr/>
        <p:txBody>
          <a:bodyPr/>
          <a:lstStyle/>
          <a:p>
            <a:fld id="{14659731-6BD7-46E7-8D3C-2F3AC07E20B1}" type="slidenum">
              <a:rPr lang="en-US" altLang="zh-CN" smtClean="0"/>
              <a:pPr/>
              <a:t>64</a:t>
            </a:fld>
            <a:endParaRPr lang="en-US" altLang="zh-CN"/>
          </a:p>
        </p:txBody>
      </p:sp>
      <p:sp>
        <p:nvSpPr>
          <p:cNvPr id="47106" name="Rectangle 3"/>
          <p:cNvSpPr>
            <a:spLocks noGrp="1" noChangeArrowheads="1"/>
          </p:cNvSpPr>
          <p:nvPr>
            <p:ph idx="4294967295"/>
          </p:nvPr>
        </p:nvSpPr>
        <p:spPr>
          <a:xfrm>
            <a:off x="485775" y="1413030"/>
            <a:ext cx="7886700" cy="4351338"/>
          </a:xfrm>
        </p:spPr>
        <p:txBody>
          <a:bodyPr/>
          <a:lstStyle/>
          <a:p>
            <a:pPr hangingPunct="1">
              <a:lnSpc>
                <a:spcPct val="90000"/>
              </a:lnSpc>
            </a:pPr>
            <a:r>
              <a:rPr lang="zh-CN" altLang="en-US" sz="2800" dirty="0"/>
              <a:t>编译</a:t>
            </a:r>
            <a:r>
              <a:rPr lang="en-US" altLang="zh-CN" sz="2800" dirty="0"/>
              <a:t>C</a:t>
            </a:r>
            <a:r>
              <a:rPr lang="zh-CN" altLang="en-US" sz="2800" dirty="0"/>
              <a:t>语言的赋值语句</a:t>
            </a:r>
          </a:p>
          <a:p>
            <a:pPr lvl="1" hangingPunct="1">
              <a:lnSpc>
                <a:spcPct val="90000"/>
              </a:lnSpc>
              <a:spcBef>
                <a:spcPts val="1200"/>
              </a:spcBef>
              <a:buFont typeface="Wingdings" pitchFamily="2" charset="2"/>
              <a:buNone/>
            </a:pPr>
            <a:r>
              <a:rPr lang="en-US" altLang="zh-CN" sz="2800" i="1" dirty="0">
                <a:latin typeface="Consolas" panose="020B0609020204030204" pitchFamily="49" charset="0"/>
              </a:rPr>
              <a:t>f</a:t>
            </a:r>
            <a:r>
              <a:rPr lang="pt-BR" altLang="zh-CN" sz="2800" i="1" dirty="0">
                <a:latin typeface="Consolas" panose="020B0609020204030204" pitchFamily="49" charset="0"/>
              </a:rPr>
              <a:t> = (g + h) – (i + j)</a:t>
            </a:r>
          </a:p>
          <a:p>
            <a:pPr lvl="1" hangingPunct="1">
              <a:lnSpc>
                <a:spcPct val="90000"/>
              </a:lnSpc>
              <a:buFont typeface="Wingdings" pitchFamily="2" charset="2"/>
              <a:buNone/>
            </a:pPr>
            <a:endParaRPr lang="en-US" altLang="zh-CN" sz="2800" dirty="0"/>
          </a:p>
        </p:txBody>
      </p:sp>
      <p:sp>
        <p:nvSpPr>
          <p:cNvPr id="2" name="矩形 1"/>
          <p:cNvSpPr/>
          <p:nvPr/>
        </p:nvSpPr>
        <p:spPr>
          <a:xfrm>
            <a:off x="1005682" y="2988659"/>
            <a:ext cx="3814763" cy="1384995"/>
          </a:xfrm>
          <a:prstGeom prst="rect">
            <a:avLst/>
          </a:prstGeom>
          <a:ln>
            <a:solidFill>
              <a:schemeClr val="tx1"/>
            </a:solidFill>
          </a:ln>
        </p:spPr>
        <p:txBody>
          <a:bodyPr>
            <a:spAutoFit/>
          </a:bodyPr>
          <a:lstStyle/>
          <a:p>
            <a:pPr>
              <a:defRPr/>
            </a:pPr>
            <a:r>
              <a:rPr lang="en-US" altLang="zh-CN" sz="2800" b="0" i="1">
                <a:solidFill>
                  <a:schemeClr val="accent3">
                    <a:lumMod val="25000"/>
                  </a:schemeClr>
                </a:solidFill>
                <a:latin typeface="Consolas" panose="020B0609020204030204" pitchFamily="49" charset="0"/>
                <a:cs typeface="Courier New"/>
              </a:rPr>
              <a:t>add t1, g, h</a:t>
            </a:r>
          </a:p>
          <a:p>
            <a:pPr>
              <a:defRPr/>
            </a:pPr>
            <a:r>
              <a:rPr lang="en-US" altLang="zh-CN" sz="2800" b="0" i="1">
                <a:solidFill>
                  <a:schemeClr val="accent3">
                    <a:lumMod val="25000"/>
                  </a:schemeClr>
                </a:solidFill>
                <a:latin typeface="Consolas" panose="020B0609020204030204" pitchFamily="49" charset="0"/>
                <a:cs typeface="Courier New"/>
              </a:rPr>
              <a:t>add t2, i, j</a:t>
            </a:r>
          </a:p>
          <a:p>
            <a:pPr>
              <a:defRPr/>
            </a:pPr>
            <a:r>
              <a:rPr lang="en-US" altLang="zh-CN" sz="2800" b="0" i="1">
                <a:solidFill>
                  <a:schemeClr val="accent3">
                    <a:lumMod val="25000"/>
                  </a:schemeClr>
                </a:solidFill>
                <a:latin typeface="Consolas" panose="020B0609020204030204" pitchFamily="49" charset="0"/>
                <a:cs typeface="Courier New"/>
              </a:rPr>
              <a:t>sub f, t1, t2</a:t>
            </a:r>
          </a:p>
        </p:txBody>
      </p:sp>
      <p:sp>
        <p:nvSpPr>
          <p:cNvPr id="47109" name="矩形 12"/>
          <p:cNvSpPr>
            <a:spLocks noChangeArrowheads="1"/>
          </p:cNvSpPr>
          <p:nvPr/>
        </p:nvSpPr>
        <p:spPr bwMode="auto">
          <a:xfrm>
            <a:off x="3840163" y="4772842"/>
            <a:ext cx="4818062" cy="1384995"/>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square">
            <a:spAutoFit/>
          </a:bodyPr>
          <a:lstStyle/>
          <a:p>
            <a:r>
              <a:rPr lang="en-US" altLang="zh-CN" sz="2800" b="0" i="1">
                <a:solidFill>
                  <a:srgbClr val="0432FF"/>
                </a:solidFill>
                <a:latin typeface="Consolas" panose="020B0609020204030204" pitchFamily="49" charset="0"/>
                <a:cs typeface="Courier New" pitchFamily="49" charset="0"/>
              </a:rPr>
              <a:t>add $t1, $s1, $s2</a:t>
            </a:r>
          </a:p>
          <a:p>
            <a:r>
              <a:rPr lang="en-US" altLang="zh-CN" sz="2800" b="0" i="1">
                <a:solidFill>
                  <a:srgbClr val="0432FF"/>
                </a:solidFill>
                <a:latin typeface="Consolas" panose="020B0609020204030204" pitchFamily="49" charset="0"/>
                <a:cs typeface="Courier New" pitchFamily="49" charset="0"/>
              </a:rPr>
              <a:t>add $t2, $s3, $s4</a:t>
            </a:r>
          </a:p>
          <a:p>
            <a:r>
              <a:rPr lang="en-US" altLang="zh-CN" sz="2800" b="0" i="1">
                <a:solidFill>
                  <a:srgbClr val="0432FF"/>
                </a:solidFill>
                <a:latin typeface="Consolas" panose="020B0609020204030204" pitchFamily="49" charset="0"/>
                <a:cs typeface="Courier New" pitchFamily="49" charset="0"/>
              </a:rPr>
              <a:t>sub $s0, $t1, $t2</a:t>
            </a:r>
          </a:p>
        </p:txBody>
      </p:sp>
      <p:sp>
        <p:nvSpPr>
          <p:cNvPr id="47110" name="TextBox 13"/>
          <p:cNvSpPr txBox="1">
            <a:spLocks noChangeArrowheads="1"/>
          </p:cNvSpPr>
          <p:nvPr/>
        </p:nvSpPr>
        <p:spPr bwMode="auto">
          <a:xfrm>
            <a:off x="4945605" y="2883964"/>
            <a:ext cx="3946777" cy="15696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l" eaLnBrk="1" hangingPunct="1"/>
            <a:r>
              <a:rPr lang="zh-CN" altLang="en-US" sz="2400" dirty="0">
                <a:latin typeface="+mn-lt"/>
                <a:ea typeface="+mj-ea"/>
              </a:rPr>
              <a:t>假设变量 </a:t>
            </a:r>
            <a:r>
              <a:rPr lang="en-US" altLang="zh-CN" sz="2400" dirty="0">
                <a:latin typeface="+mn-lt"/>
                <a:ea typeface="+mj-ea"/>
              </a:rPr>
              <a:t>f</a:t>
            </a:r>
            <a:r>
              <a:rPr lang="zh-CN" altLang="en-US" sz="2400" dirty="0">
                <a:latin typeface="+mn-lt"/>
                <a:ea typeface="+mj-ea"/>
              </a:rPr>
              <a:t>、</a:t>
            </a:r>
            <a:r>
              <a:rPr lang="en-US" altLang="zh-CN" sz="2400" dirty="0">
                <a:latin typeface="+mn-lt"/>
                <a:ea typeface="+mj-ea"/>
              </a:rPr>
              <a:t>g</a:t>
            </a:r>
            <a:r>
              <a:rPr lang="zh-CN" altLang="en-US" sz="2400" dirty="0">
                <a:latin typeface="+mn-lt"/>
                <a:ea typeface="+mj-ea"/>
              </a:rPr>
              <a:t>、</a:t>
            </a:r>
            <a:r>
              <a:rPr lang="en-US" altLang="zh-CN" sz="2400" dirty="0">
                <a:latin typeface="+mn-lt"/>
                <a:ea typeface="+mj-ea"/>
              </a:rPr>
              <a:t>h</a:t>
            </a:r>
            <a:r>
              <a:rPr lang="zh-CN" altLang="en-US" sz="2400" dirty="0">
                <a:latin typeface="+mn-lt"/>
                <a:ea typeface="+mj-ea"/>
              </a:rPr>
              <a:t>、</a:t>
            </a:r>
            <a:r>
              <a:rPr lang="en-US" altLang="zh-CN" sz="2400" dirty="0" err="1">
                <a:latin typeface="+mn-lt"/>
                <a:ea typeface="+mj-ea"/>
              </a:rPr>
              <a:t>i</a:t>
            </a:r>
            <a:r>
              <a:rPr lang="zh-CN" altLang="en-US" sz="2400" dirty="0">
                <a:latin typeface="+mn-lt"/>
                <a:ea typeface="+mj-ea"/>
              </a:rPr>
              <a:t>、</a:t>
            </a:r>
            <a:r>
              <a:rPr lang="en-US" altLang="zh-CN" sz="2400" dirty="0">
                <a:latin typeface="+mn-lt"/>
                <a:ea typeface="+mj-ea"/>
              </a:rPr>
              <a:t>j </a:t>
            </a:r>
            <a:r>
              <a:rPr lang="zh-CN" altLang="en-US" sz="2400" dirty="0">
                <a:latin typeface="+mn-lt"/>
                <a:ea typeface="+mj-ea"/>
              </a:rPr>
              <a:t>分别分配给寄存器 </a:t>
            </a:r>
            <a:r>
              <a:rPr lang="en-US" altLang="zh-CN" sz="2400" dirty="0">
                <a:latin typeface="+mn-lt"/>
                <a:ea typeface="+mj-ea"/>
              </a:rPr>
              <a:t>$s0~$s4 </a:t>
            </a:r>
          </a:p>
          <a:p>
            <a:pPr algn="l" eaLnBrk="1" hangingPunct="1"/>
            <a:r>
              <a:rPr lang="zh-CN" altLang="en-US" sz="2400" dirty="0">
                <a:latin typeface="+mn-lt"/>
                <a:ea typeface="+mj-ea"/>
              </a:rPr>
              <a:t>临时变量 </a:t>
            </a:r>
            <a:r>
              <a:rPr lang="en-US" altLang="zh-CN" sz="2400" dirty="0">
                <a:latin typeface="+mn-lt"/>
                <a:ea typeface="+mj-ea"/>
              </a:rPr>
              <a:t>t1</a:t>
            </a:r>
            <a:r>
              <a:rPr lang="zh-CN" altLang="en-US" sz="2400" dirty="0">
                <a:latin typeface="+mn-lt"/>
                <a:ea typeface="+mj-ea"/>
              </a:rPr>
              <a:t>、</a:t>
            </a:r>
            <a:r>
              <a:rPr lang="en-US" altLang="zh-CN" sz="2400" dirty="0">
                <a:latin typeface="+mn-lt"/>
                <a:ea typeface="+mj-ea"/>
              </a:rPr>
              <a:t>t2 </a:t>
            </a:r>
            <a:r>
              <a:rPr lang="zh-CN" altLang="en-US" sz="2400" dirty="0">
                <a:latin typeface="+mn-lt"/>
                <a:ea typeface="+mj-ea"/>
              </a:rPr>
              <a:t>分别分配给寄存器 </a:t>
            </a:r>
            <a:r>
              <a:rPr lang="en-US" altLang="zh-CN" sz="2400" dirty="0">
                <a:latin typeface="+mn-lt"/>
                <a:ea typeface="+mj-ea"/>
              </a:rPr>
              <a:t>$t1</a:t>
            </a:r>
            <a:r>
              <a:rPr lang="zh-CN" altLang="en-US" sz="2400" dirty="0">
                <a:latin typeface="+mn-lt"/>
                <a:ea typeface="+mj-ea"/>
              </a:rPr>
              <a:t>、</a:t>
            </a:r>
            <a:r>
              <a:rPr lang="en-US" altLang="zh-CN" sz="2400" dirty="0">
                <a:latin typeface="+mn-lt"/>
                <a:ea typeface="+mj-ea"/>
              </a:rPr>
              <a:t>$t2 </a:t>
            </a:r>
            <a:endParaRPr lang="zh-CN" altLang="en-US" sz="2400" dirty="0">
              <a:latin typeface="+mn-lt"/>
              <a:ea typeface="+mj-ea"/>
            </a:endParaRPr>
          </a:p>
        </p:txBody>
      </p:sp>
      <p:sp>
        <p:nvSpPr>
          <p:cNvPr id="16" name="圆角右箭头 15"/>
          <p:cNvSpPr/>
          <p:nvPr/>
        </p:nvSpPr>
        <p:spPr bwMode="auto">
          <a:xfrm rot="10800000" flipH="1">
            <a:off x="2793750" y="4679157"/>
            <a:ext cx="914400" cy="973138"/>
          </a:xfrm>
          <a:prstGeom prst="bentArrow">
            <a:avLst>
              <a:gd name="adj1" fmla="val 25000"/>
              <a:gd name="adj2" fmla="val 25000"/>
              <a:gd name="adj3" fmla="val 25000"/>
              <a:gd name="adj4" fmla="val 51213"/>
            </a:avLst>
          </a:prstGeom>
          <a:solidFill>
            <a:srgbClr val="0070C0"/>
          </a:solidFill>
          <a:ln w="9525"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pPr>
              <a:defRPr/>
            </a:pPr>
            <a:endParaRPr lang="zh-CN" altLang="en-US">
              <a:ea typeface="宋体" charset="-122"/>
            </a:endParaRPr>
          </a:p>
        </p:txBody>
      </p:sp>
      <p:sp>
        <p:nvSpPr>
          <p:cNvPr id="3" name="Title 4">
            <a:extLst>
              <a:ext uri="{FF2B5EF4-FFF2-40B4-BE49-F238E27FC236}">
                <a16:creationId xmlns:a16="http://schemas.microsoft.com/office/drawing/2014/main" id="{E889387A-0337-E7CB-758A-BC4C2236E245}"/>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kern="1200" dirty="0">
                <a:cs typeface="+mn-cs"/>
              </a:rPr>
              <a:t>算术运算</a:t>
            </a:r>
            <a:endParaRPr lang="en-CN" kern="0" dirty="0"/>
          </a:p>
        </p:txBody>
      </p:sp>
    </p:spTree>
    <p:extLst>
      <p:ext uri="{BB962C8B-B14F-4D97-AF65-F5344CB8AC3E}">
        <p14:creationId xmlns:p14="http://schemas.microsoft.com/office/powerpoint/2010/main" val="16140602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14DB6223-EFB5-624E-9823-2DF88CBEBAA9}"/>
              </a:ext>
            </a:extLst>
          </p:cNvPr>
          <p:cNvSpPr>
            <a:spLocks noGrp="1"/>
          </p:cNvSpPr>
          <p:nvPr>
            <p:ph type="sldNum" sz="quarter" idx="12"/>
          </p:nvPr>
        </p:nvSpPr>
        <p:spPr/>
        <p:txBody>
          <a:bodyPr/>
          <a:lstStyle/>
          <a:p>
            <a:fld id="{14659731-6BD7-46E7-8D3C-2F3AC07E20B1}" type="slidenum">
              <a:rPr lang="en-US" altLang="zh-CN" smtClean="0"/>
              <a:pPr/>
              <a:t>65</a:t>
            </a:fld>
            <a:endParaRPr lang="en-US" altLang="zh-CN"/>
          </a:p>
        </p:txBody>
      </p:sp>
      <p:sp>
        <p:nvSpPr>
          <p:cNvPr id="48131" name="Rectangle 3"/>
          <p:cNvSpPr>
            <a:spLocks noGrp="1" noChangeArrowheads="1"/>
          </p:cNvSpPr>
          <p:nvPr>
            <p:ph idx="4294967295"/>
          </p:nvPr>
        </p:nvSpPr>
        <p:spPr>
          <a:xfrm>
            <a:off x="457200" y="1573609"/>
            <a:ext cx="7886700" cy="4351338"/>
          </a:xfrm>
        </p:spPr>
        <p:txBody>
          <a:bodyPr/>
          <a:lstStyle/>
          <a:p>
            <a:pPr hangingPunct="1">
              <a:lnSpc>
                <a:spcPct val="90000"/>
              </a:lnSpc>
            </a:pPr>
            <a:r>
              <a:rPr lang="zh-CN" altLang="en-US" dirty="0">
                <a:solidFill>
                  <a:srgbClr val="0432FF"/>
                </a:solidFill>
              </a:rPr>
              <a:t>加</a:t>
            </a:r>
            <a:r>
              <a:rPr lang="en-US" altLang="zh-CN" dirty="0">
                <a:solidFill>
                  <a:srgbClr val="0432FF"/>
                </a:solidFill>
              </a:rPr>
              <a:t>16</a:t>
            </a:r>
            <a:r>
              <a:rPr lang="zh-CN" altLang="en-US" dirty="0">
                <a:solidFill>
                  <a:srgbClr val="0432FF"/>
                </a:solidFill>
              </a:rPr>
              <a:t>位有符号立即数</a:t>
            </a:r>
          </a:p>
          <a:p>
            <a:pPr lvl="1" hangingPunct="1">
              <a:lnSpc>
                <a:spcPct val="90000"/>
              </a:lnSpc>
              <a:spcBef>
                <a:spcPts val="1200"/>
              </a:spcBef>
              <a:buFont typeface="Wingdings" pitchFamily="2" charset="2"/>
              <a:buNone/>
            </a:pPr>
            <a:r>
              <a:rPr lang="en-US" altLang="zh-CN" i="1" dirty="0">
                <a:latin typeface="Consolas" panose="020B0609020204030204" pitchFamily="49" charset="0"/>
              </a:rPr>
              <a:t>addi $t2, $t3, 5	# $t2 = $t3 + 5</a:t>
            </a:r>
          </a:p>
          <a:p>
            <a:pPr lvl="1" hangingPunct="1">
              <a:lnSpc>
                <a:spcPct val="90000"/>
              </a:lnSpc>
            </a:pPr>
            <a:endParaRPr lang="zh-CN" altLang="en-US" sz="2200" dirty="0"/>
          </a:p>
          <a:p>
            <a:pPr hangingPunct="1">
              <a:lnSpc>
                <a:spcPct val="150000"/>
              </a:lnSpc>
            </a:pPr>
            <a:r>
              <a:rPr lang="en-US" altLang="zh-CN" dirty="0"/>
              <a:t>MIPS</a:t>
            </a:r>
            <a:r>
              <a:rPr lang="zh-CN" altLang="en-US" dirty="0"/>
              <a:t>没有减立即数的指令</a:t>
            </a:r>
            <a:endParaRPr lang="en-US" altLang="zh-CN" dirty="0"/>
          </a:p>
          <a:p>
            <a:pPr lvl="1">
              <a:lnSpc>
                <a:spcPct val="150000"/>
              </a:lnSpc>
            </a:pPr>
            <a:r>
              <a:rPr lang="zh-CN" altLang="en-US" dirty="0"/>
              <a:t>如何实现？</a:t>
            </a:r>
          </a:p>
        </p:txBody>
      </p:sp>
      <p:sp>
        <p:nvSpPr>
          <p:cNvPr id="5" name="文本框 5">
            <a:extLst>
              <a:ext uri="{FF2B5EF4-FFF2-40B4-BE49-F238E27FC236}">
                <a16:creationId xmlns:a16="http://schemas.microsoft.com/office/drawing/2014/main" id="{B8CBCFF6-E757-4963-8F67-F3CA8B11883D}"/>
              </a:ext>
            </a:extLst>
          </p:cNvPr>
          <p:cNvSpPr txBox="1"/>
          <p:nvPr/>
        </p:nvSpPr>
        <p:spPr>
          <a:xfrm>
            <a:off x="2286000" y="5022781"/>
            <a:ext cx="4572000" cy="523220"/>
          </a:xfrm>
          <a:prstGeom prst="rect">
            <a:avLst/>
          </a:prstGeom>
          <a:noFill/>
        </p:spPr>
        <p:txBody>
          <a:bodyPr wrap="square">
            <a:spAutoFit/>
          </a:bodyPr>
          <a:lstStyle/>
          <a:p>
            <a:r>
              <a:rPr kumimoji="1" lang="zh-CN" altLang="en-US" sz="2800" b="1" dirty="0">
                <a:solidFill>
                  <a:srgbClr val="0432FF"/>
                </a:solidFill>
                <a:latin typeface="+mn-lt"/>
                <a:ea typeface="+mj-ea"/>
              </a:rPr>
              <a:t>使用</a:t>
            </a:r>
            <a:r>
              <a:rPr kumimoji="1" lang="en-US" altLang="zh-CN" sz="2800" b="1" dirty="0">
                <a:solidFill>
                  <a:srgbClr val="0432FF"/>
                </a:solidFill>
                <a:latin typeface="+mn-lt"/>
                <a:ea typeface="+mj-ea"/>
              </a:rPr>
              <a:t>2-</a:t>
            </a:r>
            <a:r>
              <a:rPr kumimoji="1" lang="zh-CN" altLang="en-US" sz="2800" b="1" dirty="0">
                <a:solidFill>
                  <a:srgbClr val="0432FF"/>
                </a:solidFill>
                <a:latin typeface="+mn-lt"/>
                <a:ea typeface="+mj-ea"/>
              </a:rPr>
              <a:t>补码实现立即数减</a:t>
            </a:r>
            <a:r>
              <a:rPr kumimoji="1" lang="en-US" altLang="zh-CN" sz="2800" b="1" dirty="0">
                <a:solidFill>
                  <a:srgbClr val="0432FF"/>
                </a:solidFill>
                <a:latin typeface="+mn-lt"/>
                <a:ea typeface="+mj-ea"/>
              </a:rPr>
              <a:t>!</a:t>
            </a:r>
          </a:p>
        </p:txBody>
      </p:sp>
      <p:sp>
        <p:nvSpPr>
          <p:cNvPr id="3" name="Title 4">
            <a:extLst>
              <a:ext uri="{FF2B5EF4-FFF2-40B4-BE49-F238E27FC236}">
                <a16:creationId xmlns:a16="http://schemas.microsoft.com/office/drawing/2014/main" id="{7170621B-8AA8-EF3C-C2F9-D4D1D9816EF3}"/>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kern="1200" dirty="0">
                <a:cs typeface="+mn-cs"/>
              </a:rPr>
              <a:t>算术运算</a:t>
            </a:r>
            <a:endParaRPr lang="en-CN" kern="0" dirty="0"/>
          </a:p>
        </p:txBody>
      </p:sp>
    </p:spTree>
    <p:extLst>
      <p:ext uri="{BB962C8B-B14F-4D97-AF65-F5344CB8AC3E}">
        <p14:creationId xmlns:p14="http://schemas.microsoft.com/office/powerpoint/2010/main" val="42073405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CB962237-FA8E-F149-B463-95DA6C7E879D}"/>
              </a:ext>
            </a:extLst>
          </p:cNvPr>
          <p:cNvSpPr>
            <a:spLocks noGrp="1"/>
          </p:cNvSpPr>
          <p:nvPr>
            <p:ph type="sldNum" sz="quarter" idx="12"/>
          </p:nvPr>
        </p:nvSpPr>
        <p:spPr/>
        <p:txBody>
          <a:bodyPr/>
          <a:lstStyle/>
          <a:p>
            <a:fld id="{14659731-6BD7-46E7-8D3C-2F3AC07E20B1}" type="slidenum">
              <a:rPr lang="en-US" altLang="zh-CN" smtClean="0"/>
              <a:pPr/>
              <a:t>66</a:t>
            </a:fld>
            <a:endParaRPr lang="en-US" altLang="zh-CN"/>
          </a:p>
        </p:txBody>
      </p:sp>
      <p:sp>
        <p:nvSpPr>
          <p:cNvPr id="49155" name="Rectangle 3"/>
          <p:cNvSpPr>
            <a:spLocks noGrp="1" noChangeArrowheads="1"/>
          </p:cNvSpPr>
          <p:nvPr>
            <p:ph idx="4294967295"/>
          </p:nvPr>
        </p:nvSpPr>
        <p:spPr>
          <a:xfrm>
            <a:off x="178418" y="1519184"/>
            <a:ext cx="8653347" cy="4351338"/>
          </a:xfrm>
        </p:spPr>
        <p:txBody>
          <a:bodyPr/>
          <a:lstStyle/>
          <a:p>
            <a:pPr lvl="1" hangingPunct="1">
              <a:lnSpc>
                <a:spcPct val="150000"/>
              </a:lnSpc>
              <a:buFont typeface="Wingdings" pitchFamily="2" charset="2"/>
              <a:buNone/>
            </a:pPr>
            <a:r>
              <a:rPr lang="en-US" altLang="zh-CN" sz="2400" i="1" dirty="0">
                <a:latin typeface="Consolas" panose="020B0609020204030204" pitchFamily="49" charset="0"/>
              </a:rPr>
              <a:t>and  $t0,$t1,$t2		# $t0 = $t1 &amp; $t2</a:t>
            </a:r>
          </a:p>
          <a:p>
            <a:pPr lvl="1" hangingPunct="1">
              <a:lnSpc>
                <a:spcPct val="150000"/>
              </a:lnSpc>
              <a:buFont typeface="Wingdings" pitchFamily="2" charset="2"/>
              <a:buNone/>
            </a:pPr>
            <a:r>
              <a:rPr lang="en-US" altLang="zh-CN" sz="2400" i="1" dirty="0">
                <a:latin typeface="Consolas" panose="020B0609020204030204" pitchFamily="49" charset="0"/>
              </a:rPr>
              <a:t>or   $t0,$t1,$t2 		# $t0 = $t1 | $t2</a:t>
            </a:r>
          </a:p>
          <a:p>
            <a:pPr lvl="1" hangingPunct="1">
              <a:lnSpc>
                <a:spcPct val="150000"/>
              </a:lnSpc>
              <a:buFont typeface="Wingdings" pitchFamily="2" charset="2"/>
              <a:buNone/>
            </a:pPr>
            <a:r>
              <a:rPr lang="en-US" altLang="zh-CN" sz="2400" i="1" dirty="0" err="1">
                <a:latin typeface="Consolas" panose="020B0609020204030204" pitchFamily="49" charset="0"/>
              </a:rPr>
              <a:t>xor</a:t>
            </a:r>
            <a:r>
              <a:rPr lang="en-US" altLang="zh-CN" sz="2400" i="1" dirty="0">
                <a:latin typeface="Consolas" panose="020B0609020204030204" pitchFamily="49" charset="0"/>
              </a:rPr>
              <a:t>  $t0,$t1,$t2		# $t0 = $t1 </a:t>
            </a:r>
            <a:r>
              <a:rPr lang="en-US" altLang="zh-CN" sz="2400" i="1" dirty="0">
                <a:latin typeface="Consolas" panose="020B0609020204030204" pitchFamily="49" charset="0"/>
                <a:sym typeface="Symbol" pitchFamily="18" charset="2"/>
              </a:rPr>
              <a:t> </a:t>
            </a:r>
            <a:r>
              <a:rPr lang="en-US" altLang="zh-CN" sz="2400" i="1" dirty="0">
                <a:latin typeface="Consolas" panose="020B0609020204030204" pitchFamily="49" charset="0"/>
              </a:rPr>
              <a:t>$t2</a:t>
            </a:r>
          </a:p>
          <a:p>
            <a:pPr lvl="1" hangingPunct="1">
              <a:lnSpc>
                <a:spcPct val="150000"/>
              </a:lnSpc>
              <a:buFont typeface="Wingdings" pitchFamily="2" charset="2"/>
              <a:buNone/>
            </a:pPr>
            <a:r>
              <a:rPr lang="en-US" altLang="zh-CN" sz="2400" i="1" dirty="0">
                <a:latin typeface="Consolas" panose="020B0609020204030204" pitchFamily="49" charset="0"/>
              </a:rPr>
              <a:t>nor  $t0,$t1,$t2 		# $t0 = ~($t1 | $t2)</a:t>
            </a:r>
          </a:p>
          <a:p>
            <a:pPr lvl="1" hangingPunct="1">
              <a:buFont typeface="Wingdings" pitchFamily="2" charset="2"/>
              <a:buNone/>
            </a:pPr>
            <a:endParaRPr lang="en-US" altLang="zh-CN" sz="2200" dirty="0"/>
          </a:p>
          <a:p>
            <a:pPr lvl="1" hangingPunct="1"/>
            <a:r>
              <a:rPr lang="zh-CN" altLang="en-US" sz="2800" dirty="0"/>
              <a:t>如何实现</a:t>
            </a:r>
            <a:r>
              <a:rPr lang="en-US" altLang="zh-CN" sz="2800" dirty="0"/>
              <a:t>NOT</a:t>
            </a:r>
            <a:r>
              <a:rPr lang="zh-CN" altLang="en-US" sz="2800" dirty="0"/>
              <a:t>运算？</a:t>
            </a:r>
          </a:p>
        </p:txBody>
      </p:sp>
      <p:sp>
        <p:nvSpPr>
          <p:cNvPr id="5" name="文本框 5">
            <a:extLst>
              <a:ext uri="{FF2B5EF4-FFF2-40B4-BE49-F238E27FC236}">
                <a16:creationId xmlns:a16="http://schemas.microsoft.com/office/drawing/2014/main" id="{B0E04383-D211-45BD-BC1D-6D3F6A8EED87}"/>
              </a:ext>
            </a:extLst>
          </p:cNvPr>
          <p:cNvSpPr txBox="1"/>
          <p:nvPr/>
        </p:nvSpPr>
        <p:spPr>
          <a:xfrm>
            <a:off x="1441977" y="5347302"/>
            <a:ext cx="6260045" cy="523220"/>
          </a:xfrm>
          <a:prstGeom prst="rect">
            <a:avLst/>
          </a:prstGeom>
          <a:noFill/>
        </p:spPr>
        <p:txBody>
          <a:bodyPr wrap="square">
            <a:spAutoFit/>
          </a:bodyPr>
          <a:lstStyle/>
          <a:p>
            <a:r>
              <a:rPr kumimoji="1" lang="zh-CN" altLang="en-US" sz="2800" b="1" dirty="0">
                <a:solidFill>
                  <a:srgbClr val="0432FF"/>
                </a:solidFill>
                <a:latin typeface="+mn-lt"/>
                <a:ea typeface="+mj-ea"/>
              </a:rPr>
              <a:t>使用</a:t>
            </a:r>
            <a:r>
              <a:rPr kumimoji="1" lang="en-US" altLang="zh-CN" sz="2800" b="1" dirty="0">
                <a:solidFill>
                  <a:srgbClr val="0432FF"/>
                </a:solidFill>
                <a:latin typeface="+mn-lt"/>
                <a:ea typeface="+mj-ea"/>
              </a:rPr>
              <a:t>NOR</a:t>
            </a:r>
            <a:r>
              <a:rPr kumimoji="1" lang="zh-CN" altLang="en-US" sz="2800" b="1" dirty="0">
                <a:solidFill>
                  <a:srgbClr val="0432FF"/>
                </a:solidFill>
                <a:latin typeface="+mn-lt"/>
                <a:ea typeface="+mj-ea"/>
              </a:rPr>
              <a:t>指令，其中一个寄存器值为</a:t>
            </a:r>
            <a:r>
              <a:rPr kumimoji="1" lang="en-US" altLang="zh-CN" sz="2800" b="1" dirty="0">
                <a:solidFill>
                  <a:srgbClr val="0432FF"/>
                </a:solidFill>
                <a:latin typeface="+mn-lt"/>
                <a:ea typeface="+mj-ea"/>
              </a:rPr>
              <a:t>0</a:t>
            </a:r>
            <a:endParaRPr lang="zh-CN" altLang="en-US" sz="2800" b="1" dirty="0">
              <a:solidFill>
                <a:srgbClr val="0432FF"/>
              </a:solidFill>
              <a:latin typeface="+mn-lt"/>
              <a:ea typeface="+mj-ea"/>
            </a:endParaRPr>
          </a:p>
        </p:txBody>
      </p:sp>
      <p:sp>
        <p:nvSpPr>
          <p:cNvPr id="2" name="Title 4">
            <a:extLst>
              <a:ext uri="{FF2B5EF4-FFF2-40B4-BE49-F238E27FC236}">
                <a16:creationId xmlns:a16="http://schemas.microsoft.com/office/drawing/2014/main" id="{A8094319-244A-C56C-DDA4-EC11B6DE36CA}"/>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kern="1200" dirty="0">
                <a:cs typeface="+mn-cs"/>
              </a:rPr>
              <a:t>逻辑运算</a:t>
            </a:r>
            <a:endParaRPr lang="en-CN" kern="0" dirty="0"/>
          </a:p>
        </p:txBody>
      </p:sp>
    </p:spTree>
    <p:extLst>
      <p:ext uri="{BB962C8B-B14F-4D97-AF65-F5344CB8AC3E}">
        <p14:creationId xmlns:p14="http://schemas.microsoft.com/office/powerpoint/2010/main" val="21140644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BDB257E6-DC2E-024F-A48F-6849CB61FC19}"/>
              </a:ext>
            </a:extLst>
          </p:cNvPr>
          <p:cNvSpPr>
            <a:spLocks noGrp="1"/>
          </p:cNvSpPr>
          <p:nvPr>
            <p:ph type="sldNum" sz="quarter" idx="12"/>
          </p:nvPr>
        </p:nvSpPr>
        <p:spPr/>
        <p:txBody>
          <a:bodyPr/>
          <a:lstStyle/>
          <a:p>
            <a:fld id="{14659731-6BD7-46E7-8D3C-2F3AC07E20B1}" type="slidenum">
              <a:rPr lang="en-US" altLang="zh-CN" smtClean="0"/>
              <a:pPr/>
              <a:t>67</a:t>
            </a:fld>
            <a:endParaRPr lang="en-US" altLang="zh-CN"/>
          </a:p>
        </p:txBody>
      </p:sp>
      <p:sp>
        <p:nvSpPr>
          <p:cNvPr id="1401859" name="Rectangle 3"/>
          <p:cNvSpPr>
            <a:spLocks noGrp="1" noChangeArrowheads="1"/>
          </p:cNvSpPr>
          <p:nvPr>
            <p:ph idx="4294967295"/>
          </p:nvPr>
        </p:nvSpPr>
        <p:spPr>
          <a:xfrm>
            <a:off x="546410" y="1457635"/>
            <a:ext cx="7886700" cy="4351338"/>
          </a:xfrm>
        </p:spPr>
        <p:txBody>
          <a:bodyPr/>
          <a:lstStyle/>
          <a:p>
            <a:pPr hangingPunct="1">
              <a:defRPr/>
            </a:pPr>
            <a:r>
              <a:rPr lang="zh-CN" altLang="en-US" dirty="0"/>
              <a:t>带立即数的逻辑运算</a:t>
            </a:r>
          </a:p>
          <a:p>
            <a:pPr lvl="1" hangingPunct="1">
              <a:lnSpc>
                <a:spcPct val="150000"/>
              </a:lnSpc>
              <a:buFont typeface="Wingdings" pitchFamily="2" charset="2"/>
              <a:buNone/>
              <a:defRPr/>
            </a:pPr>
            <a:endParaRPr lang="zh-CN" altLang="en-US" sz="2200" i="1" dirty="0">
              <a:latin typeface="Consolas" panose="020B0609020204030204" pitchFamily="49" charset="0"/>
            </a:endParaRPr>
          </a:p>
          <a:p>
            <a:pPr lvl="1" hangingPunct="1">
              <a:lnSpc>
                <a:spcPct val="150000"/>
              </a:lnSpc>
              <a:buFont typeface="Wingdings" pitchFamily="2" charset="2"/>
              <a:buNone/>
              <a:defRPr/>
            </a:pPr>
            <a:r>
              <a:rPr lang="en-US" altLang="zh-CN" i="1" dirty="0" err="1">
                <a:latin typeface="Consolas" panose="020B0609020204030204" pitchFamily="49" charset="0"/>
              </a:rPr>
              <a:t>andi</a:t>
            </a:r>
            <a:r>
              <a:rPr lang="en-US" altLang="zh-CN" i="1" dirty="0">
                <a:latin typeface="Consolas" panose="020B0609020204030204" pitchFamily="49" charset="0"/>
              </a:rPr>
              <a:t> $t0,$t1,10		</a:t>
            </a:r>
          </a:p>
          <a:p>
            <a:pPr lvl="1" hangingPunct="1">
              <a:lnSpc>
                <a:spcPct val="150000"/>
              </a:lnSpc>
              <a:buFont typeface="Wingdings" pitchFamily="2" charset="2"/>
              <a:buNone/>
              <a:defRPr/>
            </a:pPr>
            <a:r>
              <a:rPr lang="en-US" altLang="zh-CN" i="1" dirty="0" err="1">
                <a:latin typeface="Consolas" panose="020B0609020204030204" pitchFamily="49" charset="0"/>
              </a:rPr>
              <a:t>ori</a:t>
            </a:r>
            <a:r>
              <a:rPr lang="en-US" altLang="zh-CN" i="1" dirty="0">
                <a:latin typeface="Consolas" panose="020B0609020204030204" pitchFamily="49" charset="0"/>
              </a:rPr>
              <a:t> $t0,$t1,10		</a:t>
            </a:r>
          </a:p>
          <a:p>
            <a:pPr lvl="1" hangingPunct="1">
              <a:lnSpc>
                <a:spcPct val="150000"/>
              </a:lnSpc>
              <a:buFont typeface="Wingdings" pitchFamily="2" charset="2"/>
              <a:buNone/>
              <a:defRPr/>
            </a:pPr>
            <a:r>
              <a:rPr lang="en-US" altLang="zh-CN" i="1" dirty="0" err="1">
                <a:latin typeface="Consolas" panose="020B0609020204030204" pitchFamily="49" charset="0"/>
              </a:rPr>
              <a:t>xori</a:t>
            </a:r>
            <a:r>
              <a:rPr lang="en-US" altLang="zh-CN" i="1" dirty="0">
                <a:latin typeface="Consolas" panose="020B0609020204030204" pitchFamily="49" charset="0"/>
              </a:rPr>
              <a:t> $t0,$t1,10</a:t>
            </a:r>
          </a:p>
          <a:p>
            <a:pPr lvl="1" hangingPunct="1">
              <a:buFont typeface="Wingdings" pitchFamily="2" charset="2"/>
              <a:buNone/>
              <a:defRPr/>
            </a:pPr>
            <a:endParaRPr lang="en-US" altLang="zh-CN" sz="2200" dirty="0"/>
          </a:p>
          <a:p>
            <a:pPr lvl="1" hangingPunct="1">
              <a:buFont typeface="Wingdings" pitchFamily="2" charset="2"/>
              <a:buNone/>
              <a:defRPr/>
            </a:pPr>
            <a:endParaRPr lang="zh-CN" altLang="en-US" sz="2000" dirty="0"/>
          </a:p>
          <a:p>
            <a:pPr lvl="1" hangingPunct="1">
              <a:buFont typeface="Wingdings" pitchFamily="2" charset="2"/>
              <a:buNone/>
              <a:defRPr/>
            </a:pPr>
            <a:r>
              <a:rPr lang="en-US" altLang="zh-CN" sz="2200" dirty="0"/>
              <a:t>		</a:t>
            </a:r>
          </a:p>
          <a:p>
            <a:pPr lvl="1" hangingPunct="1">
              <a:buFont typeface="Wingdings" pitchFamily="2" charset="2"/>
              <a:buNone/>
              <a:defRPr/>
            </a:pPr>
            <a:endParaRPr lang="en-US" altLang="zh-CN" sz="2200" dirty="0"/>
          </a:p>
        </p:txBody>
      </p:sp>
      <p:sp>
        <p:nvSpPr>
          <p:cNvPr id="3" name="Title 4">
            <a:extLst>
              <a:ext uri="{FF2B5EF4-FFF2-40B4-BE49-F238E27FC236}">
                <a16:creationId xmlns:a16="http://schemas.microsoft.com/office/drawing/2014/main" id="{EA110890-3418-4B9D-26CE-D0ED815C4416}"/>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kern="1200" dirty="0">
                <a:cs typeface="+mn-cs"/>
              </a:rPr>
              <a:t>逻辑运算</a:t>
            </a:r>
            <a:endParaRPr lang="en-CN" kern="0" dirty="0"/>
          </a:p>
        </p:txBody>
      </p:sp>
    </p:spTree>
    <p:extLst>
      <p:ext uri="{BB962C8B-B14F-4D97-AF65-F5344CB8AC3E}">
        <p14:creationId xmlns:p14="http://schemas.microsoft.com/office/powerpoint/2010/main" val="3596177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8FAD06BA-BACB-A146-B3B5-905E3154C3C6}"/>
              </a:ext>
            </a:extLst>
          </p:cNvPr>
          <p:cNvSpPr>
            <a:spLocks noGrp="1"/>
          </p:cNvSpPr>
          <p:nvPr>
            <p:ph type="sldNum" sz="quarter" idx="12"/>
          </p:nvPr>
        </p:nvSpPr>
        <p:spPr/>
        <p:txBody>
          <a:bodyPr/>
          <a:lstStyle/>
          <a:p>
            <a:fld id="{14659731-6BD7-46E7-8D3C-2F3AC07E20B1}" type="slidenum">
              <a:rPr lang="en-US" altLang="zh-CN" smtClean="0"/>
              <a:pPr/>
              <a:t>68</a:t>
            </a:fld>
            <a:endParaRPr lang="en-US" altLang="zh-CN"/>
          </a:p>
        </p:txBody>
      </p:sp>
      <p:sp>
        <p:nvSpPr>
          <p:cNvPr id="1402883" name="Rectangle 3"/>
          <p:cNvSpPr>
            <a:spLocks noGrp="1" noChangeArrowheads="1"/>
          </p:cNvSpPr>
          <p:nvPr>
            <p:ph idx="4294967295"/>
          </p:nvPr>
        </p:nvSpPr>
        <p:spPr>
          <a:xfrm>
            <a:off x="457200" y="1334970"/>
            <a:ext cx="8591266" cy="5286144"/>
          </a:xfrm>
        </p:spPr>
        <p:txBody>
          <a:bodyPr>
            <a:normAutofit/>
          </a:bodyPr>
          <a:lstStyle/>
          <a:p>
            <a:pPr hangingPunct="1">
              <a:spcAft>
                <a:spcPts val="0"/>
              </a:spcAft>
              <a:defRPr/>
            </a:pPr>
            <a:r>
              <a:rPr lang="zh-CN" altLang="en-US" sz="2800" dirty="0">
                <a:latin typeface="+mj-ea"/>
                <a:ea typeface="+mj-ea"/>
              </a:rPr>
              <a:t>移位量为立即数</a:t>
            </a:r>
          </a:p>
          <a:p>
            <a:pPr lvl="1" hangingPunct="1">
              <a:spcAft>
                <a:spcPts val="0"/>
              </a:spcAft>
              <a:buFont typeface="Wingdings" pitchFamily="2" charset="2"/>
              <a:buNone/>
              <a:defRPr/>
            </a:pPr>
            <a:r>
              <a:rPr lang="zh-CN" altLang="en-US" sz="2200" dirty="0"/>
              <a:t>逻辑左移 </a:t>
            </a:r>
            <a:r>
              <a:rPr lang="en-US" altLang="zh-CN" sz="2200" dirty="0"/>
              <a:t>—— </a:t>
            </a:r>
            <a:r>
              <a:rPr lang="en-US" altLang="zh-CN" sz="2200" i="1" dirty="0" err="1">
                <a:latin typeface="Consolas" panose="020B0609020204030204" pitchFamily="49" charset="0"/>
              </a:rPr>
              <a:t>sll</a:t>
            </a:r>
            <a:r>
              <a:rPr lang="en-US" altLang="zh-CN" sz="2200" i="1" dirty="0">
                <a:latin typeface="Consolas" panose="020B0609020204030204" pitchFamily="49" charset="0"/>
              </a:rPr>
              <a:t> $t0, $t1, 10	</a:t>
            </a:r>
          </a:p>
          <a:p>
            <a:pPr lvl="1" hangingPunct="1">
              <a:spcAft>
                <a:spcPts val="0"/>
              </a:spcAft>
              <a:buFont typeface="Wingdings" pitchFamily="2" charset="2"/>
              <a:buNone/>
              <a:defRPr/>
            </a:pPr>
            <a:r>
              <a:rPr lang="en-US" altLang="zh-CN" sz="2200" b="0" i="1" dirty="0">
                <a:latin typeface="Consolas" panose="020B0609020204030204" pitchFamily="49" charset="0"/>
              </a:rPr>
              <a:t>			# $t0 = $t1 &lt;&lt; 10</a:t>
            </a:r>
            <a:r>
              <a:rPr lang="zh-CN" altLang="en-US" sz="2200" b="0" i="1" dirty="0">
                <a:latin typeface="Consolas" panose="020B0609020204030204" pitchFamily="49" charset="0"/>
              </a:rPr>
              <a:t>， </a:t>
            </a:r>
            <a:r>
              <a:rPr lang="en-US" sz="2200" b="0" i="1" dirty="0">
                <a:latin typeface="Consolas" panose="020B0609020204030204" pitchFamily="49" charset="0"/>
              </a:rPr>
              <a:t>shift left logical</a:t>
            </a:r>
            <a:r>
              <a:rPr lang="en-US" altLang="zh-CN" sz="2200" b="0" i="1" dirty="0">
                <a:latin typeface="Consolas" panose="020B0609020204030204" pitchFamily="49" charset="0"/>
              </a:rPr>
              <a:t> </a:t>
            </a:r>
          </a:p>
          <a:p>
            <a:pPr lvl="1">
              <a:spcAft>
                <a:spcPts val="0"/>
              </a:spcAft>
              <a:buNone/>
              <a:defRPr/>
            </a:pPr>
            <a:r>
              <a:rPr lang="zh-CN" altLang="en-US" sz="2200" dirty="0"/>
              <a:t>逻辑右移 </a:t>
            </a:r>
            <a:r>
              <a:rPr lang="en-US" altLang="zh-CN" sz="2200" dirty="0"/>
              <a:t>—— </a:t>
            </a:r>
            <a:r>
              <a:rPr lang="en-US" altLang="zh-CN" sz="2200" i="1" dirty="0" err="1">
                <a:latin typeface="Consolas" panose="020B0609020204030204" pitchFamily="49" charset="0"/>
              </a:rPr>
              <a:t>srl</a:t>
            </a:r>
            <a:r>
              <a:rPr lang="en-US" altLang="zh-CN" sz="2200" i="1" dirty="0">
                <a:latin typeface="Consolas" panose="020B0609020204030204" pitchFamily="49" charset="0"/>
              </a:rPr>
              <a:t> $t0, $t1, 10	</a:t>
            </a:r>
          </a:p>
          <a:p>
            <a:pPr lvl="1">
              <a:spcAft>
                <a:spcPts val="0"/>
              </a:spcAft>
              <a:buNone/>
              <a:defRPr/>
            </a:pPr>
            <a:r>
              <a:rPr lang="en-US" altLang="zh-CN" sz="2200" b="0" i="1" dirty="0">
                <a:latin typeface="Consolas" panose="020B0609020204030204" pitchFamily="49" charset="0"/>
              </a:rPr>
              <a:t>			# $t0 = $t1 &gt;&gt; 10</a:t>
            </a:r>
            <a:r>
              <a:rPr lang="zh-CN" altLang="en-US" sz="2200" b="0" i="1" dirty="0">
                <a:latin typeface="Consolas" panose="020B0609020204030204" pitchFamily="49" charset="0"/>
              </a:rPr>
              <a:t>， </a:t>
            </a:r>
            <a:r>
              <a:rPr lang="en-US" sz="2200" b="0" i="1" dirty="0">
                <a:latin typeface="Consolas" panose="020B0609020204030204" pitchFamily="49" charset="0"/>
              </a:rPr>
              <a:t>shift right logical</a:t>
            </a:r>
            <a:endParaRPr lang="en-US" altLang="zh-CN" sz="2200" b="0" i="1" dirty="0">
              <a:latin typeface="Consolas" panose="020B0609020204030204" pitchFamily="49" charset="0"/>
            </a:endParaRPr>
          </a:p>
          <a:p>
            <a:pPr lvl="1">
              <a:spcAft>
                <a:spcPts val="0"/>
              </a:spcAft>
              <a:buNone/>
              <a:defRPr/>
            </a:pPr>
            <a:r>
              <a:rPr lang="zh-CN" altLang="en-US" sz="2200" dirty="0"/>
              <a:t>算术右移 </a:t>
            </a:r>
            <a:r>
              <a:rPr lang="en-US" altLang="zh-CN" sz="2200" dirty="0"/>
              <a:t>—— </a:t>
            </a:r>
            <a:r>
              <a:rPr lang="en-US" altLang="zh-CN" sz="2200" i="1" dirty="0" err="1">
                <a:latin typeface="Consolas" panose="020B0609020204030204" pitchFamily="49" charset="0"/>
              </a:rPr>
              <a:t>sra</a:t>
            </a:r>
            <a:r>
              <a:rPr lang="en-US" altLang="zh-CN" sz="2200" i="1" dirty="0">
                <a:latin typeface="Consolas" panose="020B0609020204030204" pitchFamily="49" charset="0"/>
              </a:rPr>
              <a:t> $t0, $t1, 10	</a:t>
            </a:r>
          </a:p>
          <a:p>
            <a:pPr lvl="1">
              <a:spcAft>
                <a:spcPts val="0"/>
              </a:spcAft>
              <a:buNone/>
              <a:defRPr/>
            </a:pPr>
            <a:r>
              <a:rPr lang="en-US" altLang="zh-CN" sz="2200" b="0" i="1" dirty="0">
                <a:latin typeface="Consolas" panose="020B0609020204030204" pitchFamily="49" charset="0"/>
              </a:rPr>
              <a:t>			# $t0 = $t1 &gt;&gt; 10</a:t>
            </a:r>
            <a:r>
              <a:rPr lang="zh-CN" altLang="en-US" sz="2200" b="0" i="1" dirty="0">
                <a:latin typeface="Consolas" panose="020B0609020204030204" pitchFamily="49" charset="0"/>
              </a:rPr>
              <a:t>， </a:t>
            </a:r>
            <a:r>
              <a:rPr lang="en-US" sz="2200" b="0" i="1" dirty="0">
                <a:latin typeface="Consolas" panose="020B0609020204030204" pitchFamily="49" charset="0"/>
              </a:rPr>
              <a:t>shift right </a:t>
            </a:r>
            <a:r>
              <a:rPr lang="en-US" altLang="zh-CN" sz="2200" b="0" i="1" dirty="0">
                <a:latin typeface="Consolas" panose="020B0609020204030204" pitchFamily="49" charset="0"/>
              </a:rPr>
              <a:t>arithmetic </a:t>
            </a:r>
          </a:p>
          <a:p>
            <a:pPr hangingPunct="1">
              <a:spcAft>
                <a:spcPts val="0"/>
              </a:spcAft>
              <a:defRPr/>
            </a:pPr>
            <a:r>
              <a:rPr lang="zh-CN" altLang="en-US" sz="2800" dirty="0"/>
              <a:t>移位量在某个寄存器中</a:t>
            </a:r>
          </a:p>
          <a:p>
            <a:pPr lvl="1" hangingPunct="1">
              <a:spcAft>
                <a:spcPts val="0"/>
              </a:spcAft>
              <a:buFont typeface="Wingdings" pitchFamily="2" charset="2"/>
              <a:buNone/>
              <a:defRPr/>
            </a:pPr>
            <a:r>
              <a:rPr lang="en-US" altLang="zh-CN" sz="2200" i="1" dirty="0">
                <a:latin typeface="Consolas" panose="020B0609020204030204" pitchFamily="49" charset="0"/>
              </a:rPr>
              <a:t>  </a:t>
            </a:r>
            <a:r>
              <a:rPr lang="en-US" altLang="zh-CN" sz="2200" i="1" dirty="0" err="1">
                <a:latin typeface="Consolas" panose="020B0609020204030204" pitchFamily="49" charset="0"/>
              </a:rPr>
              <a:t>sllv</a:t>
            </a:r>
            <a:r>
              <a:rPr lang="en-US" altLang="zh-CN" sz="2200" i="1" dirty="0">
                <a:latin typeface="Consolas" panose="020B0609020204030204" pitchFamily="49" charset="0"/>
              </a:rPr>
              <a:t> $t0, $t1, $t3	    # $t0 = $t1 &lt;&lt; ($t3%32) </a:t>
            </a:r>
          </a:p>
          <a:p>
            <a:pPr lvl="1" hangingPunct="1">
              <a:spcAft>
                <a:spcPts val="0"/>
              </a:spcAft>
              <a:buFont typeface="Wingdings" pitchFamily="2" charset="2"/>
              <a:buNone/>
              <a:defRPr/>
            </a:pPr>
            <a:r>
              <a:rPr lang="en-US" altLang="zh-CN" sz="2200" i="1" dirty="0">
                <a:latin typeface="Consolas" panose="020B0609020204030204" pitchFamily="49" charset="0"/>
              </a:rPr>
              <a:t>  </a:t>
            </a:r>
            <a:r>
              <a:rPr lang="en-US" altLang="zh-CN" sz="2200" i="1" dirty="0" err="1">
                <a:latin typeface="Consolas" panose="020B0609020204030204" pitchFamily="49" charset="0"/>
              </a:rPr>
              <a:t>srlv</a:t>
            </a:r>
            <a:r>
              <a:rPr lang="en-US" altLang="zh-CN" sz="2200" i="1" dirty="0">
                <a:latin typeface="Consolas" panose="020B0609020204030204" pitchFamily="49" charset="0"/>
              </a:rPr>
              <a:t> $t0, $t1, $t3    # $t0 = $t1 &gt;&gt; ($t3%32)</a:t>
            </a:r>
          </a:p>
          <a:p>
            <a:pPr lvl="1" hangingPunct="1">
              <a:spcAft>
                <a:spcPts val="0"/>
              </a:spcAft>
              <a:buFont typeface="Wingdings" pitchFamily="2" charset="2"/>
              <a:buNone/>
              <a:defRPr/>
            </a:pPr>
            <a:r>
              <a:rPr lang="en-US" altLang="zh-CN" sz="2200" i="1" dirty="0">
                <a:latin typeface="Consolas" panose="020B0609020204030204" pitchFamily="49" charset="0"/>
              </a:rPr>
              <a:t>  </a:t>
            </a:r>
            <a:r>
              <a:rPr lang="en-US" altLang="zh-CN" sz="2200" i="1" dirty="0" err="1">
                <a:latin typeface="Consolas" panose="020B0609020204030204" pitchFamily="49" charset="0"/>
              </a:rPr>
              <a:t>srav</a:t>
            </a:r>
            <a:r>
              <a:rPr lang="en-US" altLang="zh-CN" sz="2200" i="1" dirty="0">
                <a:latin typeface="Consolas" panose="020B0609020204030204" pitchFamily="49" charset="0"/>
              </a:rPr>
              <a:t> $t0, $t1, $t3    # $t0 = $t1 &gt;&gt; ($t3%32)</a:t>
            </a:r>
          </a:p>
          <a:p>
            <a:pPr lvl="1" hangingPunct="1">
              <a:buFont typeface="Wingdings" pitchFamily="2" charset="2"/>
              <a:buNone/>
              <a:defRPr/>
            </a:pPr>
            <a:endParaRPr lang="en-US" altLang="zh-CN" sz="2200" dirty="0"/>
          </a:p>
        </p:txBody>
      </p:sp>
      <p:sp>
        <p:nvSpPr>
          <p:cNvPr id="3" name="Title 4">
            <a:extLst>
              <a:ext uri="{FF2B5EF4-FFF2-40B4-BE49-F238E27FC236}">
                <a16:creationId xmlns:a16="http://schemas.microsoft.com/office/drawing/2014/main" id="{912E4DD1-051C-F28D-BF96-A66FA6295A03}"/>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kern="1200" dirty="0">
                <a:cs typeface="+mn-cs"/>
              </a:rPr>
              <a:t>移位操作</a:t>
            </a:r>
            <a:endParaRPr lang="en-CN" kern="0" dirty="0"/>
          </a:p>
        </p:txBody>
      </p:sp>
    </p:spTree>
    <p:extLst>
      <p:ext uri="{BB962C8B-B14F-4D97-AF65-F5344CB8AC3E}">
        <p14:creationId xmlns:p14="http://schemas.microsoft.com/office/powerpoint/2010/main" val="22159470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9768A1BF-6640-6A4A-9585-6F1DC4D5D317}"/>
              </a:ext>
            </a:extLst>
          </p:cNvPr>
          <p:cNvSpPr>
            <a:spLocks noGrp="1"/>
          </p:cNvSpPr>
          <p:nvPr>
            <p:ph type="sldNum" sz="quarter" idx="12"/>
          </p:nvPr>
        </p:nvSpPr>
        <p:spPr/>
        <p:txBody>
          <a:bodyPr/>
          <a:lstStyle/>
          <a:p>
            <a:fld id="{14659731-6BD7-46E7-8D3C-2F3AC07E20B1}" type="slidenum">
              <a:rPr lang="en-US" altLang="zh-CN" smtClean="0"/>
              <a:pPr/>
              <a:t>69</a:t>
            </a:fld>
            <a:endParaRPr lang="en-US" altLang="zh-CN"/>
          </a:p>
        </p:txBody>
      </p:sp>
      <p:sp>
        <p:nvSpPr>
          <p:cNvPr id="53251" name="Rectangle 3"/>
          <p:cNvSpPr>
            <a:spLocks noGrp="1" noChangeArrowheads="1"/>
          </p:cNvSpPr>
          <p:nvPr>
            <p:ph idx="4294967295"/>
          </p:nvPr>
        </p:nvSpPr>
        <p:spPr>
          <a:xfrm>
            <a:off x="457200" y="1337914"/>
            <a:ext cx="8229600" cy="5618163"/>
          </a:xfrm>
        </p:spPr>
        <p:txBody>
          <a:bodyPr/>
          <a:lstStyle/>
          <a:p>
            <a:pPr hangingPunct="1">
              <a:lnSpc>
                <a:spcPct val="90000"/>
              </a:lnSpc>
            </a:pPr>
            <a:r>
              <a:rPr lang="zh-CN" altLang="en-US" sz="2800" dirty="0"/>
              <a:t>比较两个寄存器的内容，并根据比较的结果设置第三个寄存器</a:t>
            </a:r>
            <a:endParaRPr lang="en-US" altLang="zh-CN" sz="2800" dirty="0"/>
          </a:p>
          <a:p>
            <a:pPr marL="0" indent="0" hangingPunct="1">
              <a:lnSpc>
                <a:spcPct val="90000"/>
              </a:lnSpc>
              <a:buNone/>
            </a:pPr>
            <a:r>
              <a:rPr lang="en-US" altLang="zh-CN" sz="2400" i="1" dirty="0">
                <a:latin typeface="Consolas" panose="020B0609020204030204" pitchFamily="49" charset="0"/>
              </a:rPr>
              <a:t>	</a:t>
            </a:r>
            <a:r>
              <a:rPr lang="en-US" altLang="zh-CN" sz="2400" i="1" dirty="0" err="1">
                <a:latin typeface="Consolas" panose="020B0609020204030204" pitchFamily="49" charset="0"/>
              </a:rPr>
              <a:t>slt</a:t>
            </a:r>
            <a:r>
              <a:rPr lang="en-US" altLang="zh-CN" sz="2400" i="1" dirty="0">
                <a:latin typeface="Consolas" panose="020B0609020204030204" pitchFamily="49" charset="0"/>
              </a:rPr>
              <a:t> $t1,$t2,$t3		</a:t>
            </a:r>
          </a:p>
          <a:p>
            <a:pPr hangingPunct="1">
              <a:lnSpc>
                <a:spcPct val="90000"/>
              </a:lnSpc>
              <a:buFont typeface="Wingdings" pitchFamily="2" charset="2"/>
              <a:buNone/>
            </a:pPr>
            <a:r>
              <a:rPr lang="en-US" altLang="zh-CN" sz="2400" i="1" dirty="0">
                <a:latin typeface="Consolas" panose="020B0609020204030204" pitchFamily="49" charset="0"/>
              </a:rPr>
              <a:t>		# if ($t2 &lt; $t3) $t1=1; </a:t>
            </a:r>
          </a:p>
          <a:p>
            <a:pPr hangingPunct="1">
              <a:lnSpc>
                <a:spcPct val="90000"/>
              </a:lnSpc>
              <a:buFont typeface="Wingdings" pitchFamily="2" charset="2"/>
              <a:buNone/>
            </a:pPr>
            <a:r>
              <a:rPr lang="en-US" altLang="zh-CN" sz="2400" i="1" dirty="0">
                <a:latin typeface="Consolas" panose="020B0609020204030204" pitchFamily="49" charset="0"/>
              </a:rPr>
              <a:t>		# else $t1=0</a:t>
            </a:r>
          </a:p>
          <a:p>
            <a:pPr hangingPunct="1">
              <a:lnSpc>
                <a:spcPct val="90000"/>
              </a:lnSpc>
              <a:buFont typeface="Wingdings" pitchFamily="2" charset="2"/>
              <a:buNone/>
            </a:pPr>
            <a:endParaRPr lang="en-US" altLang="zh-CN" sz="2400" i="1" dirty="0">
              <a:latin typeface="Consolas" panose="020B0609020204030204" pitchFamily="49" charset="0"/>
            </a:endParaRPr>
          </a:p>
          <a:p>
            <a:pPr hangingPunct="1">
              <a:lnSpc>
                <a:spcPct val="90000"/>
              </a:lnSpc>
              <a:buFont typeface="Wingdings" pitchFamily="2" charset="2"/>
              <a:buNone/>
            </a:pPr>
            <a:r>
              <a:rPr lang="en-US" altLang="zh-CN" sz="2400" i="1" dirty="0">
                <a:latin typeface="Consolas" panose="020B0609020204030204" pitchFamily="49" charset="0"/>
              </a:rPr>
              <a:t>		</a:t>
            </a:r>
            <a:r>
              <a:rPr lang="en-US" altLang="zh-CN" sz="2400" i="1" dirty="0" err="1">
                <a:latin typeface="Consolas" panose="020B0609020204030204" pitchFamily="49" charset="0"/>
              </a:rPr>
              <a:t>sltu</a:t>
            </a:r>
            <a:r>
              <a:rPr lang="en-US" altLang="zh-CN" sz="2400" i="1" dirty="0">
                <a:latin typeface="Consolas" panose="020B0609020204030204" pitchFamily="49" charset="0"/>
              </a:rPr>
              <a:t> $t1,$t2,$t3 	</a:t>
            </a:r>
            <a:r>
              <a:rPr lang="en-US" altLang="zh-CN" sz="2400" dirty="0"/>
              <a:t># </a:t>
            </a:r>
            <a:r>
              <a:rPr lang="zh-CN" altLang="en-US" sz="2400" dirty="0"/>
              <a:t>无符号比较</a:t>
            </a:r>
            <a:endParaRPr lang="en-US" altLang="zh-CN" sz="2400" dirty="0"/>
          </a:p>
          <a:p>
            <a:pPr hangingPunct="1">
              <a:lnSpc>
                <a:spcPct val="90000"/>
              </a:lnSpc>
              <a:buFont typeface="Wingdings" pitchFamily="2" charset="2"/>
              <a:buNone/>
            </a:pPr>
            <a:endParaRPr lang="zh-CN" altLang="en-US" sz="2800" dirty="0"/>
          </a:p>
          <a:p>
            <a:pPr hangingPunct="1">
              <a:lnSpc>
                <a:spcPct val="90000"/>
              </a:lnSpc>
            </a:pPr>
            <a:r>
              <a:rPr lang="zh-CN" altLang="en-US" sz="2800" dirty="0"/>
              <a:t>寄存器与立即数比较	</a:t>
            </a:r>
          </a:p>
          <a:p>
            <a:pPr hangingPunct="1">
              <a:lnSpc>
                <a:spcPct val="90000"/>
              </a:lnSpc>
              <a:spcBef>
                <a:spcPts val="1200"/>
              </a:spcBef>
              <a:buFont typeface="Wingdings" pitchFamily="2" charset="2"/>
              <a:buNone/>
            </a:pPr>
            <a:r>
              <a:rPr lang="en-US" altLang="zh-CN" sz="2400" i="1" dirty="0">
                <a:latin typeface="Consolas" panose="020B0609020204030204" pitchFamily="49" charset="0"/>
              </a:rPr>
              <a:t>		</a:t>
            </a:r>
            <a:r>
              <a:rPr lang="en-US" altLang="zh-CN" sz="2400" i="1" dirty="0" err="1">
                <a:latin typeface="Consolas" panose="020B0609020204030204" pitchFamily="49" charset="0"/>
              </a:rPr>
              <a:t>slti</a:t>
            </a:r>
            <a:r>
              <a:rPr lang="en-US" altLang="zh-CN" sz="2400" i="1" dirty="0">
                <a:latin typeface="Consolas" panose="020B0609020204030204" pitchFamily="49" charset="0"/>
              </a:rPr>
              <a:t> $t1, $t2, 10    </a:t>
            </a:r>
            <a:r>
              <a:rPr lang="en-US" altLang="zh-CN" sz="2400" dirty="0"/>
              <a:t># </a:t>
            </a:r>
            <a:r>
              <a:rPr lang="zh-CN" altLang="en-US" sz="2400" dirty="0"/>
              <a:t>与立即数做有符号比较</a:t>
            </a:r>
          </a:p>
          <a:p>
            <a:pPr hangingPunct="1">
              <a:lnSpc>
                <a:spcPct val="90000"/>
              </a:lnSpc>
              <a:buFont typeface="Wingdings" pitchFamily="2" charset="2"/>
              <a:buNone/>
            </a:pPr>
            <a:r>
              <a:rPr lang="en-US" altLang="zh-CN" sz="2400" i="1" dirty="0">
                <a:latin typeface="Consolas" panose="020B0609020204030204" pitchFamily="49" charset="0"/>
              </a:rPr>
              <a:t>		sltiu $t1, $t2, 10</a:t>
            </a:r>
            <a:r>
              <a:rPr lang="en-US" altLang="zh-CN" sz="2400" dirty="0"/>
              <a:t>      # </a:t>
            </a:r>
            <a:r>
              <a:rPr lang="zh-CN" altLang="en-US" sz="2400" dirty="0"/>
              <a:t>与立即数做无符号比较</a:t>
            </a:r>
          </a:p>
          <a:p>
            <a:pPr hangingPunct="1">
              <a:lnSpc>
                <a:spcPct val="90000"/>
              </a:lnSpc>
              <a:buFont typeface="Wingdings" pitchFamily="2" charset="2"/>
              <a:buNone/>
            </a:pPr>
            <a:r>
              <a:rPr lang="zh-CN" altLang="en-US" dirty="0"/>
              <a:t>	</a:t>
            </a:r>
          </a:p>
        </p:txBody>
      </p:sp>
      <p:sp>
        <p:nvSpPr>
          <p:cNvPr id="2" name="Title 4">
            <a:extLst>
              <a:ext uri="{FF2B5EF4-FFF2-40B4-BE49-F238E27FC236}">
                <a16:creationId xmlns:a16="http://schemas.microsoft.com/office/drawing/2014/main" id="{B9A2A397-4B5B-4AC0-036A-D74709EAB485}"/>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kern="1200" dirty="0">
                <a:cs typeface="+mn-cs"/>
              </a:rPr>
              <a:t>比较指令</a:t>
            </a:r>
            <a:endParaRPr lang="en-CN" kern="0" dirty="0"/>
          </a:p>
        </p:txBody>
      </p:sp>
    </p:spTree>
    <p:extLst>
      <p:ext uri="{BB962C8B-B14F-4D97-AF65-F5344CB8AC3E}">
        <p14:creationId xmlns:p14="http://schemas.microsoft.com/office/powerpoint/2010/main" val="5420968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CF5EDEB4-A93F-784E-97CB-1FF8C45A58BD}"/>
              </a:ext>
            </a:extLst>
          </p:cNvPr>
          <p:cNvSpPr>
            <a:spLocks noGrp="1"/>
          </p:cNvSpPr>
          <p:nvPr>
            <p:ph type="sldNum" sz="quarter" idx="12"/>
          </p:nvPr>
        </p:nvSpPr>
        <p:spPr/>
        <p:txBody>
          <a:bodyPr/>
          <a:lstStyle/>
          <a:p>
            <a:fld id="{14659731-6BD7-46E7-8D3C-2F3AC07E20B1}" type="slidenum">
              <a:rPr lang="en-US" altLang="zh-CN" smtClean="0"/>
              <a:pPr/>
              <a:t>70</a:t>
            </a:fld>
            <a:endParaRPr lang="en-US" altLang="zh-CN"/>
          </a:p>
        </p:txBody>
      </p:sp>
      <p:sp>
        <p:nvSpPr>
          <p:cNvPr id="2" name="Title 4">
            <a:extLst>
              <a:ext uri="{FF2B5EF4-FFF2-40B4-BE49-F238E27FC236}">
                <a16:creationId xmlns:a16="http://schemas.microsoft.com/office/drawing/2014/main" id="{9D572DAE-EBCD-4A3D-9DD2-68290DDEE8D9}"/>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kern="1200" dirty="0">
                <a:cs typeface="+mn-cs"/>
              </a:rPr>
              <a:t>关于</a:t>
            </a:r>
            <a:r>
              <a:rPr lang="en-US" altLang="zh-CN" kern="1200" dirty="0">
                <a:cs typeface="+mn-cs"/>
              </a:rPr>
              <a:t>xxx/xxxi/</a:t>
            </a:r>
            <a:r>
              <a:rPr lang="en-US" altLang="zh-CN" kern="1200" dirty="0" err="1">
                <a:cs typeface="+mn-cs"/>
              </a:rPr>
              <a:t>xxxu</a:t>
            </a:r>
            <a:r>
              <a:rPr lang="en-US" altLang="zh-CN" kern="1200" dirty="0">
                <a:cs typeface="+mn-cs"/>
              </a:rPr>
              <a:t>/</a:t>
            </a:r>
            <a:r>
              <a:rPr lang="en-US" altLang="zh-CN" kern="1200" dirty="0" err="1">
                <a:cs typeface="+mn-cs"/>
              </a:rPr>
              <a:t>xxxiu</a:t>
            </a:r>
            <a:endParaRPr lang="en-CN" kern="0" dirty="0"/>
          </a:p>
        </p:txBody>
      </p:sp>
      <p:sp>
        <p:nvSpPr>
          <p:cNvPr id="3" name="Rectangle 3">
            <a:extLst>
              <a:ext uri="{FF2B5EF4-FFF2-40B4-BE49-F238E27FC236}">
                <a16:creationId xmlns:a16="http://schemas.microsoft.com/office/drawing/2014/main" id="{3C9CBD28-3FC1-ECD5-2F45-E1361E3CE2C2}"/>
              </a:ext>
            </a:extLst>
          </p:cNvPr>
          <p:cNvSpPr txBox="1">
            <a:spLocks noChangeArrowheads="1"/>
          </p:cNvSpPr>
          <p:nvPr/>
        </p:nvSpPr>
        <p:spPr bwMode="auto">
          <a:xfrm>
            <a:off x="457200" y="1342654"/>
            <a:ext cx="8374566" cy="268316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a:bodyPr>
          <a:lstStyle>
            <a:lvl1pPr marL="342900" indent="-342900" algn="l" rtl="0" eaLnBrk="1" fontAlgn="base" hangingPunct="1">
              <a:spcBef>
                <a:spcPct val="20000"/>
              </a:spcBef>
              <a:spcAft>
                <a:spcPct val="0"/>
              </a:spcAft>
              <a:buChar char="•"/>
              <a:defRPr sz="3200" b="1">
                <a:solidFill>
                  <a:schemeClr val="tx1"/>
                </a:solidFill>
                <a:latin typeface="+mn-lt"/>
                <a:ea typeface="黑体" panose="02010609060101010101" pitchFamily="49" charset="-122"/>
                <a:cs typeface="+mn-cs"/>
              </a:defRPr>
            </a:lvl1pPr>
            <a:lvl2pPr marL="742950" indent="-285750" algn="l" rtl="0" eaLnBrk="1" fontAlgn="base" hangingPunct="1">
              <a:spcBef>
                <a:spcPct val="20000"/>
              </a:spcBef>
              <a:spcAft>
                <a:spcPct val="0"/>
              </a:spcAft>
              <a:buChar char="–"/>
              <a:defRPr sz="2800" b="1">
                <a:solidFill>
                  <a:schemeClr val="tx1"/>
                </a:solidFill>
                <a:latin typeface="+mn-lt"/>
                <a:ea typeface="黑体" panose="02010609060101010101" pitchFamily="49" charset="-122"/>
              </a:defRPr>
            </a:lvl2pPr>
            <a:lvl3pPr marL="1143000" indent="-228600" algn="l" rtl="0" eaLnBrk="1" fontAlgn="base" hangingPunct="1">
              <a:spcBef>
                <a:spcPct val="20000"/>
              </a:spcBef>
              <a:spcAft>
                <a:spcPct val="0"/>
              </a:spcAft>
              <a:buChar char="•"/>
              <a:defRPr sz="2400" b="1">
                <a:solidFill>
                  <a:schemeClr val="tx1"/>
                </a:solidFill>
                <a:latin typeface="+mn-lt"/>
                <a:ea typeface="黑体" panose="02010609060101010101" pitchFamily="49" charset="-122"/>
              </a:defRPr>
            </a:lvl3pPr>
            <a:lvl4pPr marL="1600200" indent="-228600" algn="l" rtl="0" eaLnBrk="1" fontAlgn="base" hangingPunct="1">
              <a:spcBef>
                <a:spcPct val="20000"/>
              </a:spcBef>
              <a:spcAft>
                <a:spcPct val="0"/>
              </a:spcAft>
              <a:buChar char="–"/>
              <a:defRPr sz="2000" b="1">
                <a:solidFill>
                  <a:schemeClr val="tx1"/>
                </a:solidFill>
                <a:latin typeface="+mn-lt"/>
                <a:ea typeface="黑体" panose="02010609060101010101" pitchFamily="49" charset="-122"/>
              </a:defRPr>
            </a:lvl4pPr>
            <a:lvl5pPr marL="2057400" indent="-228600" algn="l" rtl="0" eaLnBrk="1" fontAlgn="base" hangingPunct="1">
              <a:spcBef>
                <a:spcPct val="20000"/>
              </a:spcBef>
              <a:spcAft>
                <a:spcPct val="0"/>
              </a:spcAft>
              <a:buChar char="»"/>
              <a:defRPr sz="2000" b="1">
                <a:solidFill>
                  <a:schemeClr val="tx1"/>
                </a:solidFill>
                <a:latin typeface="+mn-lt"/>
                <a:ea typeface="黑体" panose="02010609060101010101" pitchFamily="49" charset="-122"/>
              </a:defRPr>
            </a:lvl5pPr>
            <a:lvl6pPr marL="2514600" indent="-228600" algn="l" rtl="0" eaLnBrk="1" fontAlgn="base" hangingPunct="1">
              <a:spcBef>
                <a:spcPct val="20000"/>
              </a:spcBef>
              <a:spcAft>
                <a:spcPct val="0"/>
              </a:spcAft>
              <a:buChar char="»"/>
              <a:defRPr sz="2000" b="1">
                <a:solidFill>
                  <a:schemeClr val="tx1"/>
                </a:solidFill>
                <a:latin typeface="+mn-lt"/>
                <a:ea typeface="+mn-ea"/>
              </a:defRPr>
            </a:lvl6pPr>
            <a:lvl7pPr marL="2971800" indent="-228600" algn="l" rtl="0" eaLnBrk="1" fontAlgn="base" hangingPunct="1">
              <a:spcBef>
                <a:spcPct val="20000"/>
              </a:spcBef>
              <a:spcAft>
                <a:spcPct val="0"/>
              </a:spcAft>
              <a:buChar char="»"/>
              <a:defRPr sz="2000" b="1">
                <a:solidFill>
                  <a:schemeClr val="tx1"/>
                </a:solidFill>
                <a:latin typeface="+mn-lt"/>
                <a:ea typeface="+mn-ea"/>
              </a:defRPr>
            </a:lvl7pPr>
            <a:lvl8pPr marL="3429000" indent="-228600" algn="l" rtl="0" eaLnBrk="1" fontAlgn="base" hangingPunct="1">
              <a:spcBef>
                <a:spcPct val="20000"/>
              </a:spcBef>
              <a:spcAft>
                <a:spcPct val="0"/>
              </a:spcAft>
              <a:buChar char="»"/>
              <a:defRPr sz="2000" b="1">
                <a:solidFill>
                  <a:schemeClr val="tx1"/>
                </a:solidFill>
                <a:latin typeface="+mn-lt"/>
                <a:ea typeface="+mn-ea"/>
              </a:defRPr>
            </a:lvl8pPr>
            <a:lvl9pPr marL="3886200" indent="-228600" algn="l" rtl="0" eaLnBrk="1" fontAlgn="base" hangingPunct="1">
              <a:spcBef>
                <a:spcPct val="20000"/>
              </a:spcBef>
              <a:spcAft>
                <a:spcPct val="0"/>
              </a:spcAft>
              <a:buChar char="»"/>
              <a:defRPr sz="2000" b="1">
                <a:solidFill>
                  <a:schemeClr val="tx1"/>
                </a:solidFill>
                <a:latin typeface="+mn-lt"/>
                <a:ea typeface="+mn-ea"/>
              </a:defRPr>
            </a:lvl9pPr>
          </a:lstStyle>
          <a:p>
            <a:pPr>
              <a:lnSpc>
                <a:spcPct val="150000"/>
              </a:lnSpc>
            </a:pPr>
            <a:r>
              <a:rPr lang="en-US" altLang="zh-CN" sz="2400" kern="0">
                <a:latin typeface="Consolas" panose="020B0609020204030204" pitchFamily="49" charset="0"/>
              </a:rPr>
              <a:t>xxx</a:t>
            </a:r>
            <a:r>
              <a:rPr lang="zh-CN" altLang="en-US" sz="2400" kern="0"/>
              <a:t>表示原指令</a:t>
            </a:r>
            <a:endParaRPr lang="en-US" altLang="zh-CN" sz="2400" kern="0"/>
          </a:p>
          <a:p>
            <a:pPr>
              <a:lnSpc>
                <a:spcPct val="150000"/>
              </a:lnSpc>
            </a:pPr>
            <a:r>
              <a:rPr lang="en-US" altLang="zh-CN" sz="2400" kern="0">
                <a:latin typeface="Consolas" panose="020B0609020204030204" pitchFamily="49" charset="0"/>
              </a:rPr>
              <a:t>xxxi</a:t>
            </a:r>
            <a:r>
              <a:rPr lang="zh-CN" altLang="en-US" sz="2400" kern="0"/>
              <a:t>表示立即数指令</a:t>
            </a:r>
            <a:endParaRPr lang="en-US" altLang="zh-CN" sz="2400" kern="0"/>
          </a:p>
          <a:p>
            <a:pPr>
              <a:lnSpc>
                <a:spcPct val="150000"/>
              </a:lnSpc>
            </a:pPr>
            <a:r>
              <a:rPr lang="en-US" altLang="zh-CN" sz="2400" kern="0">
                <a:latin typeface="Consolas" panose="020B0609020204030204" pitchFamily="49" charset="0"/>
              </a:rPr>
              <a:t>xxxu</a:t>
            </a:r>
            <a:r>
              <a:rPr lang="zh-CN" altLang="en-US" sz="2400" kern="0"/>
              <a:t>表示无符号指令</a:t>
            </a:r>
            <a:endParaRPr lang="en-US" altLang="zh-CN" sz="2400" kern="0"/>
          </a:p>
          <a:p>
            <a:pPr>
              <a:lnSpc>
                <a:spcPct val="150000"/>
              </a:lnSpc>
            </a:pPr>
            <a:r>
              <a:rPr lang="en-US" altLang="zh-CN" sz="2400" kern="0">
                <a:latin typeface="Consolas" panose="020B0609020204030204" pitchFamily="49" charset="0"/>
              </a:rPr>
              <a:t>xxxiu</a:t>
            </a:r>
            <a:r>
              <a:rPr lang="zh-CN" altLang="en-US" sz="2400" kern="0"/>
              <a:t>表示无符号立即数指令</a:t>
            </a:r>
            <a:endParaRPr lang="en-US" altLang="zh-CN" sz="2400" kern="0" dirty="0"/>
          </a:p>
        </p:txBody>
      </p:sp>
      <p:sp>
        <p:nvSpPr>
          <p:cNvPr id="5" name="Rectangle 3">
            <a:extLst>
              <a:ext uri="{FF2B5EF4-FFF2-40B4-BE49-F238E27FC236}">
                <a16:creationId xmlns:a16="http://schemas.microsoft.com/office/drawing/2014/main" id="{DFA9624B-CB34-9F2D-6B8C-EC839AC2974A}"/>
              </a:ext>
            </a:extLst>
          </p:cNvPr>
          <p:cNvSpPr txBox="1">
            <a:spLocks noChangeArrowheads="1"/>
          </p:cNvSpPr>
          <p:nvPr/>
        </p:nvSpPr>
        <p:spPr bwMode="auto">
          <a:xfrm>
            <a:off x="457200" y="4179071"/>
            <a:ext cx="8374566" cy="206615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a:bodyPr>
          <a:lstStyle>
            <a:lvl1pPr marL="342900" indent="-342900" algn="l" rtl="0" eaLnBrk="1" fontAlgn="base" hangingPunct="1">
              <a:spcBef>
                <a:spcPct val="20000"/>
              </a:spcBef>
              <a:spcAft>
                <a:spcPct val="0"/>
              </a:spcAft>
              <a:buChar char="•"/>
              <a:defRPr sz="3200" b="1">
                <a:solidFill>
                  <a:schemeClr val="tx1"/>
                </a:solidFill>
                <a:latin typeface="+mn-lt"/>
                <a:ea typeface="黑体" panose="02010609060101010101" pitchFamily="49" charset="-122"/>
                <a:cs typeface="+mn-cs"/>
              </a:defRPr>
            </a:lvl1pPr>
            <a:lvl2pPr marL="742950" indent="-285750" algn="l" rtl="0" eaLnBrk="1" fontAlgn="base" hangingPunct="1">
              <a:spcBef>
                <a:spcPct val="20000"/>
              </a:spcBef>
              <a:spcAft>
                <a:spcPct val="0"/>
              </a:spcAft>
              <a:buChar char="–"/>
              <a:defRPr sz="2800" b="1">
                <a:solidFill>
                  <a:schemeClr val="tx1"/>
                </a:solidFill>
                <a:latin typeface="+mn-lt"/>
                <a:ea typeface="黑体" panose="02010609060101010101" pitchFamily="49" charset="-122"/>
              </a:defRPr>
            </a:lvl2pPr>
            <a:lvl3pPr marL="1143000" indent="-228600" algn="l" rtl="0" eaLnBrk="1" fontAlgn="base" hangingPunct="1">
              <a:spcBef>
                <a:spcPct val="20000"/>
              </a:spcBef>
              <a:spcAft>
                <a:spcPct val="0"/>
              </a:spcAft>
              <a:buChar char="•"/>
              <a:defRPr sz="2400" b="1">
                <a:solidFill>
                  <a:schemeClr val="tx1"/>
                </a:solidFill>
                <a:latin typeface="+mn-lt"/>
                <a:ea typeface="黑体" panose="02010609060101010101" pitchFamily="49" charset="-122"/>
              </a:defRPr>
            </a:lvl3pPr>
            <a:lvl4pPr marL="1600200" indent="-228600" algn="l" rtl="0" eaLnBrk="1" fontAlgn="base" hangingPunct="1">
              <a:spcBef>
                <a:spcPct val="20000"/>
              </a:spcBef>
              <a:spcAft>
                <a:spcPct val="0"/>
              </a:spcAft>
              <a:buChar char="–"/>
              <a:defRPr sz="2000" b="1">
                <a:solidFill>
                  <a:schemeClr val="tx1"/>
                </a:solidFill>
                <a:latin typeface="+mn-lt"/>
                <a:ea typeface="黑体" panose="02010609060101010101" pitchFamily="49" charset="-122"/>
              </a:defRPr>
            </a:lvl4pPr>
            <a:lvl5pPr marL="2057400" indent="-228600" algn="l" rtl="0" eaLnBrk="1" fontAlgn="base" hangingPunct="1">
              <a:spcBef>
                <a:spcPct val="20000"/>
              </a:spcBef>
              <a:spcAft>
                <a:spcPct val="0"/>
              </a:spcAft>
              <a:buChar char="»"/>
              <a:defRPr sz="2000" b="1">
                <a:solidFill>
                  <a:schemeClr val="tx1"/>
                </a:solidFill>
                <a:latin typeface="+mn-lt"/>
                <a:ea typeface="黑体" panose="02010609060101010101" pitchFamily="49" charset="-122"/>
              </a:defRPr>
            </a:lvl5pPr>
            <a:lvl6pPr marL="2514600" indent="-228600" algn="l" rtl="0" eaLnBrk="1" fontAlgn="base" hangingPunct="1">
              <a:spcBef>
                <a:spcPct val="20000"/>
              </a:spcBef>
              <a:spcAft>
                <a:spcPct val="0"/>
              </a:spcAft>
              <a:buChar char="»"/>
              <a:defRPr sz="2000" b="1">
                <a:solidFill>
                  <a:schemeClr val="tx1"/>
                </a:solidFill>
                <a:latin typeface="+mn-lt"/>
                <a:ea typeface="+mn-ea"/>
              </a:defRPr>
            </a:lvl6pPr>
            <a:lvl7pPr marL="2971800" indent="-228600" algn="l" rtl="0" eaLnBrk="1" fontAlgn="base" hangingPunct="1">
              <a:spcBef>
                <a:spcPct val="20000"/>
              </a:spcBef>
              <a:spcAft>
                <a:spcPct val="0"/>
              </a:spcAft>
              <a:buChar char="»"/>
              <a:defRPr sz="2000" b="1">
                <a:solidFill>
                  <a:schemeClr val="tx1"/>
                </a:solidFill>
                <a:latin typeface="+mn-lt"/>
                <a:ea typeface="+mn-ea"/>
              </a:defRPr>
            </a:lvl7pPr>
            <a:lvl8pPr marL="3429000" indent="-228600" algn="l" rtl="0" eaLnBrk="1" fontAlgn="base" hangingPunct="1">
              <a:spcBef>
                <a:spcPct val="20000"/>
              </a:spcBef>
              <a:spcAft>
                <a:spcPct val="0"/>
              </a:spcAft>
              <a:buChar char="»"/>
              <a:defRPr sz="2000" b="1">
                <a:solidFill>
                  <a:schemeClr val="tx1"/>
                </a:solidFill>
                <a:latin typeface="+mn-lt"/>
                <a:ea typeface="+mn-ea"/>
              </a:defRPr>
            </a:lvl8pPr>
            <a:lvl9pPr marL="3886200" indent="-228600" algn="l" rtl="0" eaLnBrk="1" fontAlgn="base" hangingPunct="1">
              <a:spcBef>
                <a:spcPct val="20000"/>
              </a:spcBef>
              <a:spcAft>
                <a:spcPct val="0"/>
              </a:spcAft>
              <a:buChar char="»"/>
              <a:defRPr sz="2000" b="1">
                <a:solidFill>
                  <a:schemeClr val="tx1"/>
                </a:solidFill>
                <a:latin typeface="+mn-lt"/>
                <a:ea typeface="+mn-ea"/>
              </a:defRPr>
            </a:lvl9pPr>
          </a:lstStyle>
          <a:p>
            <a:pPr hangingPunct="1">
              <a:lnSpc>
                <a:spcPct val="150000"/>
              </a:lnSpc>
            </a:pPr>
            <a:r>
              <a:rPr lang="zh-CN" altLang="en-US" sz="2000" b="0" kern="1200" dirty="0">
                <a:effectLst/>
                <a:latin typeface="+mj-ea"/>
                <a:ea typeface="+mj-ea"/>
                <a:cs typeface="+mn-cs"/>
              </a:rPr>
              <a:t>这类指令中的“无符号”均不表示“立即数的无符号扩展”（</a:t>
            </a:r>
            <a:r>
              <a:rPr lang="zh-CN" altLang="en-US" sz="2000" kern="1200" dirty="0">
                <a:solidFill>
                  <a:srgbClr val="0432FF"/>
                </a:solidFill>
                <a:effectLst/>
                <a:latin typeface="+mj-ea"/>
                <a:ea typeface="+mj-ea"/>
                <a:cs typeface="+mn-cs"/>
              </a:rPr>
              <a:t>不要求掌握</a:t>
            </a:r>
            <a:r>
              <a:rPr lang="zh-CN" altLang="en-US" sz="2000" b="0" kern="1200" dirty="0">
                <a:effectLst/>
                <a:latin typeface="+mj-ea"/>
                <a:ea typeface="+mj-ea"/>
                <a:cs typeface="+mn-cs"/>
              </a:rPr>
              <a:t>，事实上这些</a:t>
            </a:r>
            <a:r>
              <a:rPr lang="en-US" altLang="zh-CN" sz="2000" b="0" kern="1200" dirty="0" err="1">
                <a:effectLst/>
                <a:latin typeface="Consolas" panose="020B0609020204030204" pitchFamily="49" charset="0"/>
                <a:ea typeface="+mj-ea"/>
              </a:rPr>
              <a:t>xxxiu</a:t>
            </a:r>
            <a:r>
              <a:rPr lang="zh-CN" altLang="en-US" sz="2000" b="0" kern="1200" dirty="0">
                <a:effectLst/>
                <a:latin typeface="+mj-ea"/>
                <a:ea typeface="+mj-ea"/>
                <a:cs typeface="+mn-cs"/>
              </a:rPr>
              <a:t>指令均是符号扩展）</a:t>
            </a:r>
            <a:endParaRPr lang="en-US" altLang="zh-CN" sz="2000" b="0" dirty="0"/>
          </a:p>
          <a:p>
            <a:pPr hangingPunct="1">
              <a:lnSpc>
                <a:spcPct val="150000"/>
              </a:lnSpc>
            </a:pPr>
            <a:r>
              <a:rPr lang="zh-CN" altLang="en-US" sz="2000" b="0" dirty="0"/>
              <a:t>针对不同类型的指令，对应的细节不同</a:t>
            </a:r>
            <a:endParaRPr lang="en-US" altLang="zh-CN" sz="2000" b="0" dirty="0"/>
          </a:p>
          <a:p>
            <a:pPr>
              <a:lnSpc>
                <a:spcPct val="150000"/>
              </a:lnSpc>
            </a:pPr>
            <a:r>
              <a:rPr lang="zh-CN" altLang="en-US" sz="2000" b="0" dirty="0"/>
              <a:t>详见课程教材和附录中的描述</a:t>
            </a:r>
            <a:endParaRPr lang="en-US" altLang="zh-CN" sz="2000" b="0" kern="0" dirty="0"/>
          </a:p>
        </p:txBody>
      </p:sp>
    </p:spTree>
    <p:extLst>
      <p:ext uri="{BB962C8B-B14F-4D97-AF65-F5344CB8AC3E}">
        <p14:creationId xmlns:p14="http://schemas.microsoft.com/office/powerpoint/2010/main" val="29944086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443AB7DB-1479-DB4D-B8B8-862B5C171669}"/>
              </a:ext>
            </a:extLst>
          </p:cNvPr>
          <p:cNvSpPr>
            <a:spLocks noGrp="1"/>
          </p:cNvSpPr>
          <p:nvPr>
            <p:ph type="sldNum" sz="quarter" idx="12"/>
          </p:nvPr>
        </p:nvSpPr>
        <p:spPr/>
        <p:txBody>
          <a:bodyPr/>
          <a:lstStyle/>
          <a:p>
            <a:fld id="{14659731-6BD7-46E7-8D3C-2F3AC07E20B1}" type="slidenum">
              <a:rPr lang="en-US" altLang="zh-CN" smtClean="0"/>
              <a:pPr/>
              <a:t>71</a:t>
            </a:fld>
            <a:endParaRPr lang="en-US" altLang="zh-CN"/>
          </a:p>
        </p:txBody>
      </p:sp>
      <p:sp>
        <p:nvSpPr>
          <p:cNvPr id="30723" name="Rectangle 3"/>
          <p:cNvSpPr>
            <a:spLocks noGrp="1" noChangeArrowheads="1"/>
          </p:cNvSpPr>
          <p:nvPr>
            <p:ph idx="4294967295"/>
          </p:nvPr>
        </p:nvSpPr>
        <p:spPr>
          <a:xfrm>
            <a:off x="546410" y="1446484"/>
            <a:ext cx="7886700" cy="4351338"/>
          </a:xfrm>
        </p:spPr>
        <p:txBody>
          <a:bodyPr/>
          <a:lstStyle/>
          <a:p>
            <a:pPr hangingPunct="1">
              <a:defRPr/>
            </a:pPr>
            <a:r>
              <a:rPr lang="zh-CN" altLang="en-US" sz="2800" dirty="0"/>
              <a:t>实现内存与寄存器之间的数据传送</a:t>
            </a:r>
            <a:endParaRPr lang="en-US" altLang="zh-CN" sz="2800" dirty="0"/>
          </a:p>
          <a:p>
            <a:pPr lvl="1" hangingPunct="1">
              <a:spcBef>
                <a:spcPts val="1200"/>
              </a:spcBef>
              <a:buFont typeface="Wingdings" pitchFamily="2" charset="2"/>
              <a:buNone/>
              <a:defRPr/>
            </a:pPr>
            <a:r>
              <a:rPr lang="en-US" altLang="zh-CN" sz="2400" i="1" dirty="0">
                <a:latin typeface="Consolas" panose="020B0609020204030204" pitchFamily="49" charset="0"/>
              </a:rPr>
              <a:t>lw $t1, 32($t2)		#</a:t>
            </a:r>
            <a:r>
              <a:rPr lang="zh-CN" altLang="en-US" sz="2400" i="1" dirty="0">
                <a:latin typeface="Consolas" panose="020B0609020204030204" pitchFamily="49" charset="0"/>
              </a:rPr>
              <a:t> </a:t>
            </a:r>
            <a:r>
              <a:rPr lang="en-US" altLang="zh-CN" sz="2400" i="1" dirty="0">
                <a:latin typeface="Consolas" panose="020B0609020204030204" pitchFamily="49" charset="0"/>
              </a:rPr>
              <a:t>Load word</a:t>
            </a:r>
          </a:p>
          <a:p>
            <a:pPr lvl="1">
              <a:buNone/>
              <a:defRPr/>
            </a:pPr>
            <a:r>
              <a:rPr lang="en-US" altLang="zh-CN" sz="2400" i="1" dirty="0" err="1">
                <a:latin typeface="Consolas" panose="020B0609020204030204" pitchFamily="49" charset="0"/>
              </a:rPr>
              <a:t>sw</a:t>
            </a:r>
            <a:r>
              <a:rPr lang="en-US" altLang="zh-CN" sz="2400" i="1" dirty="0">
                <a:latin typeface="Consolas" panose="020B0609020204030204" pitchFamily="49" charset="0"/>
              </a:rPr>
              <a:t> $t3, 500($t4) 		#</a:t>
            </a:r>
            <a:r>
              <a:rPr lang="zh-CN" altLang="en-US" sz="2400" i="1" dirty="0">
                <a:latin typeface="Consolas" panose="020B0609020204030204" pitchFamily="49" charset="0"/>
              </a:rPr>
              <a:t> </a:t>
            </a:r>
            <a:r>
              <a:rPr lang="en-US" altLang="zh-CN" sz="2400" i="1" dirty="0">
                <a:latin typeface="Consolas" panose="020B0609020204030204" pitchFamily="49" charset="0"/>
              </a:rPr>
              <a:t>Store word</a:t>
            </a:r>
          </a:p>
          <a:p>
            <a:pPr lvl="1" hangingPunct="1">
              <a:buFont typeface="Wingdings" pitchFamily="2" charset="2"/>
              <a:buNone/>
              <a:defRPr/>
            </a:pPr>
            <a:endParaRPr lang="en-US" altLang="zh-CN" sz="2800" dirty="0"/>
          </a:p>
          <a:p>
            <a:pPr lvl="1" hangingPunct="1">
              <a:buFont typeface="Wingdings" pitchFamily="2" charset="2"/>
              <a:buNone/>
              <a:defRPr/>
            </a:pPr>
            <a:endParaRPr lang="en-US" altLang="zh-CN" sz="2800" dirty="0"/>
          </a:p>
          <a:p>
            <a:pPr marL="342900" lvl="1" indent="-342900" hangingPunct="1">
              <a:lnSpc>
                <a:spcPct val="150000"/>
              </a:lnSpc>
              <a:buClr>
                <a:schemeClr val="folHlink"/>
              </a:buClr>
              <a:defRPr/>
            </a:pPr>
            <a:r>
              <a:rPr lang="zh-CN" altLang="en-US" sz="2400" dirty="0"/>
              <a:t>基址</a:t>
            </a:r>
            <a:r>
              <a:rPr lang="en-US" altLang="zh-CN" sz="2400" dirty="0"/>
              <a:t>(</a:t>
            </a:r>
            <a:r>
              <a:rPr lang="zh-CN" altLang="en-US" sz="2400" dirty="0"/>
              <a:t>变址</a:t>
            </a:r>
            <a:r>
              <a:rPr lang="en-US" altLang="zh-CN" sz="2400" dirty="0"/>
              <a:t>)+</a:t>
            </a:r>
            <a:r>
              <a:rPr lang="zh-CN" altLang="en-US" sz="2400" dirty="0"/>
              <a:t>偏移量的内存寻址方式</a:t>
            </a:r>
            <a:endParaRPr lang="en-US" altLang="zh-CN" sz="2400" dirty="0"/>
          </a:p>
          <a:p>
            <a:pPr marL="342900" lvl="1" indent="-342900" hangingPunct="1">
              <a:lnSpc>
                <a:spcPct val="150000"/>
              </a:lnSpc>
              <a:buClr>
                <a:schemeClr val="folHlink"/>
              </a:buClr>
              <a:defRPr/>
            </a:pPr>
            <a:r>
              <a:rPr lang="zh-CN" altLang="en-US" sz="2400" dirty="0"/>
              <a:t>存放基址的寄存器称为基址寄存器</a:t>
            </a:r>
            <a:endParaRPr lang="en-US" altLang="zh-CN" sz="2400" dirty="0"/>
          </a:p>
          <a:p>
            <a:pPr marL="342900" lvl="1" indent="-342900" hangingPunct="1">
              <a:lnSpc>
                <a:spcPct val="150000"/>
              </a:lnSpc>
              <a:buClr>
                <a:schemeClr val="folHlink"/>
              </a:buClr>
              <a:defRPr/>
            </a:pPr>
            <a:r>
              <a:rPr lang="zh-CN" altLang="en-US" sz="2400" dirty="0"/>
              <a:t>指令中的常量称为偏移量</a:t>
            </a:r>
          </a:p>
          <a:p>
            <a:pPr hangingPunct="1">
              <a:defRPr/>
            </a:pPr>
            <a:endParaRPr lang="en-US" altLang="zh-CN" sz="3200" dirty="0"/>
          </a:p>
          <a:p>
            <a:pPr lvl="2" hangingPunct="1">
              <a:buFont typeface="Wingdings" pitchFamily="2" charset="2"/>
              <a:buNone/>
              <a:defRPr/>
            </a:pPr>
            <a:endParaRPr lang="en-US" altLang="zh-CN" sz="2800" dirty="0"/>
          </a:p>
        </p:txBody>
      </p:sp>
      <p:sp>
        <p:nvSpPr>
          <p:cNvPr id="2" name="Title 4">
            <a:extLst>
              <a:ext uri="{FF2B5EF4-FFF2-40B4-BE49-F238E27FC236}">
                <a16:creationId xmlns:a16="http://schemas.microsoft.com/office/drawing/2014/main" id="{8AE89981-440E-52B8-58B1-F2A215AC03D5}"/>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kern="1200" dirty="0">
                <a:cs typeface="+mn-cs"/>
              </a:rPr>
              <a:t>装入</a:t>
            </a:r>
            <a:r>
              <a:rPr lang="en-US" altLang="zh-CN" kern="1200" dirty="0">
                <a:cs typeface="+mn-cs"/>
              </a:rPr>
              <a:t>/</a:t>
            </a:r>
            <a:r>
              <a:rPr lang="zh-CN" altLang="en-US" kern="1200" dirty="0">
                <a:cs typeface="+mn-cs"/>
              </a:rPr>
              <a:t>存储指令</a:t>
            </a:r>
            <a:endParaRPr lang="en-CN" kern="0" dirty="0"/>
          </a:p>
        </p:txBody>
      </p:sp>
    </p:spTree>
    <p:extLst>
      <p:ext uri="{BB962C8B-B14F-4D97-AF65-F5344CB8AC3E}">
        <p14:creationId xmlns:p14="http://schemas.microsoft.com/office/powerpoint/2010/main" val="285295684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74EC335A-DE9E-A74F-A29F-A2CF250F466C}"/>
              </a:ext>
            </a:extLst>
          </p:cNvPr>
          <p:cNvSpPr>
            <a:spLocks noGrp="1"/>
          </p:cNvSpPr>
          <p:nvPr>
            <p:ph type="sldNum" sz="quarter" idx="12"/>
          </p:nvPr>
        </p:nvSpPr>
        <p:spPr/>
        <p:txBody>
          <a:bodyPr/>
          <a:lstStyle/>
          <a:p>
            <a:fld id="{14659731-6BD7-46E7-8D3C-2F3AC07E20B1}" type="slidenum">
              <a:rPr lang="en-US" altLang="zh-CN" smtClean="0"/>
              <a:pPr/>
              <a:t>72</a:t>
            </a:fld>
            <a:endParaRPr lang="en-US" altLang="zh-CN"/>
          </a:p>
        </p:txBody>
      </p:sp>
      <p:sp>
        <p:nvSpPr>
          <p:cNvPr id="64515" name="Rectangle 3"/>
          <p:cNvSpPr>
            <a:spLocks noGrp="1" noChangeArrowheads="1"/>
          </p:cNvSpPr>
          <p:nvPr>
            <p:ph idx="4294967295"/>
          </p:nvPr>
        </p:nvSpPr>
        <p:spPr>
          <a:xfrm>
            <a:off x="100360" y="1253331"/>
            <a:ext cx="8820615" cy="4351338"/>
          </a:xfrm>
        </p:spPr>
        <p:txBody>
          <a:bodyPr/>
          <a:lstStyle/>
          <a:p>
            <a:pPr hangingPunct="1"/>
            <a:endParaRPr lang="zh-CN" altLang="en-US" sz="2400" dirty="0">
              <a:solidFill>
                <a:srgbClr val="C00000"/>
              </a:solidFill>
            </a:endParaRPr>
          </a:p>
          <a:p>
            <a:pPr lvl="1" hangingPunct="1">
              <a:buFont typeface="Wingdings" pitchFamily="2" charset="2"/>
              <a:buNone/>
            </a:pPr>
            <a:r>
              <a:rPr lang="en-US" altLang="zh-CN" sz="2400" i="1" dirty="0" err="1">
                <a:latin typeface="Consolas" panose="020B0609020204030204" pitchFamily="49" charset="0"/>
              </a:rPr>
              <a:t>beq</a:t>
            </a:r>
            <a:r>
              <a:rPr lang="en-US" altLang="zh-CN" sz="2400" i="1" dirty="0">
                <a:latin typeface="Consolas" panose="020B0609020204030204" pitchFamily="49" charset="0"/>
              </a:rPr>
              <a:t> $t0, $t1, target</a:t>
            </a:r>
            <a:r>
              <a:rPr lang="en-US" altLang="zh-CN" sz="2400" dirty="0"/>
              <a:t>	#</a:t>
            </a:r>
            <a:r>
              <a:rPr lang="zh-CN" altLang="en-US" sz="2400" dirty="0"/>
              <a:t>如果 </a:t>
            </a:r>
            <a:r>
              <a:rPr lang="en-US" altLang="zh-CN" sz="2400" i="1" dirty="0">
                <a:latin typeface="Consolas" panose="020B0609020204030204" pitchFamily="49" charset="0"/>
              </a:rPr>
              <a:t>$t0=$t1</a:t>
            </a:r>
            <a:r>
              <a:rPr lang="zh-CN" altLang="en-US" sz="2400" dirty="0"/>
              <a:t>，则分支执</a:t>
            </a:r>
            <a:endParaRPr lang="en-US" altLang="zh-CN" sz="2400" dirty="0"/>
          </a:p>
          <a:p>
            <a:pPr lvl="1" hangingPunct="1">
              <a:buFont typeface="Wingdings" pitchFamily="2" charset="2"/>
              <a:buNone/>
            </a:pPr>
            <a:r>
              <a:rPr lang="zh-CN" altLang="en-US" sz="2400" dirty="0"/>
              <a:t>					        </a:t>
            </a:r>
            <a:r>
              <a:rPr lang="en-US" altLang="zh-CN" sz="2400" dirty="0"/>
              <a:t>	#</a:t>
            </a:r>
            <a:r>
              <a:rPr lang="zh-CN" altLang="en-US" sz="2400" dirty="0"/>
              <a:t>行标号为</a:t>
            </a:r>
            <a:r>
              <a:rPr lang="en-US" altLang="zh-CN" sz="2400" dirty="0"/>
              <a:t>target</a:t>
            </a:r>
            <a:r>
              <a:rPr lang="zh-CN" altLang="en-US" sz="2400" dirty="0"/>
              <a:t>的指令</a:t>
            </a:r>
            <a:endParaRPr lang="en-US" altLang="zh-CN" sz="2400" dirty="0"/>
          </a:p>
          <a:p>
            <a:pPr lvl="1" hangingPunct="1">
              <a:buFont typeface="Wingdings" pitchFamily="2" charset="2"/>
              <a:buNone/>
            </a:pPr>
            <a:endParaRPr lang="zh-CN" altLang="en-US" sz="2400" dirty="0"/>
          </a:p>
          <a:p>
            <a:pPr lvl="1" hangingPunct="1">
              <a:buFont typeface="Wingdings" pitchFamily="2" charset="2"/>
              <a:buNone/>
            </a:pPr>
            <a:r>
              <a:rPr lang="en-US" altLang="zh-CN" sz="2400" i="1" dirty="0" err="1">
                <a:latin typeface="Consolas" panose="020B0609020204030204" pitchFamily="49" charset="0"/>
              </a:rPr>
              <a:t>bne</a:t>
            </a:r>
            <a:r>
              <a:rPr lang="en-US" altLang="zh-CN" sz="2400" i="1" dirty="0">
                <a:latin typeface="Consolas" panose="020B0609020204030204" pitchFamily="49" charset="0"/>
              </a:rPr>
              <a:t> $t0, $t1, target</a:t>
            </a:r>
            <a:r>
              <a:rPr lang="en-US" altLang="zh-CN" sz="2400" dirty="0"/>
              <a:t>	#</a:t>
            </a:r>
            <a:r>
              <a:rPr lang="zh-CN" altLang="en-US" sz="2400" dirty="0"/>
              <a:t>如果 </a:t>
            </a:r>
            <a:r>
              <a:rPr lang="en-US" altLang="zh-CN" sz="2400" i="1" dirty="0">
                <a:latin typeface="Consolas" panose="020B0609020204030204" pitchFamily="49" charset="0"/>
              </a:rPr>
              <a:t>$t0!=$t1</a:t>
            </a:r>
            <a:r>
              <a:rPr lang="zh-CN" altLang="en-US" sz="2400" dirty="0"/>
              <a:t>，则分支执</a:t>
            </a:r>
            <a:endParaRPr lang="en-US" altLang="zh-CN" sz="2400" dirty="0"/>
          </a:p>
          <a:p>
            <a:pPr lvl="1" hangingPunct="1">
              <a:buFont typeface="Wingdings" pitchFamily="2" charset="2"/>
              <a:buNone/>
            </a:pPr>
            <a:r>
              <a:rPr lang="zh-CN" altLang="en-US" sz="2400" dirty="0"/>
              <a:t>					        </a:t>
            </a:r>
            <a:r>
              <a:rPr lang="en-US" altLang="zh-CN" sz="2400" dirty="0"/>
              <a:t>	#</a:t>
            </a:r>
            <a:r>
              <a:rPr lang="zh-CN" altLang="en-US" sz="2400" dirty="0"/>
              <a:t>行标号为</a:t>
            </a:r>
            <a:r>
              <a:rPr lang="en-US" altLang="zh-CN" sz="2400" dirty="0"/>
              <a:t>target</a:t>
            </a:r>
            <a:r>
              <a:rPr lang="zh-CN" altLang="en-US" sz="2400" dirty="0"/>
              <a:t>的指令</a:t>
            </a:r>
            <a:endParaRPr lang="en-US" altLang="zh-CN" sz="2400" dirty="0"/>
          </a:p>
          <a:p>
            <a:pPr lvl="1" hangingPunct="1">
              <a:buFont typeface="Wingdings" pitchFamily="2" charset="2"/>
              <a:buNone/>
            </a:pPr>
            <a:endParaRPr lang="en-US" altLang="zh-CN" sz="2400" dirty="0"/>
          </a:p>
          <a:p>
            <a:pPr hangingPunct="1"/>
            <a:r>
              <a:rPr lang="zh-CN" altLang="en-US" sz="2400" dirty="0"/>
              <a:t>分支指令与比较指令相结合，可以实现各种条件分支：相等、不等、小于、小于或等于、大于、大于或等于</a:t>
            </a:r>
            <a:endParaRPr lang="en-US" altLang="zh-CN" sz="2400" dirty="0"/>
          </a:p>
          <a:p>
            <a:pPr lvl="1"/>
            <a:r>
              <a:rPr lang="zh-CN" altLang="en-US" sz="2000" dirty="0"/>
              <a:t>课后思考：尝试写出这些指令</a:t>
            </a:r>
            <a:endParaRPr lang="en-US" altLang="zh-CN" sz="2000" dirty="0"/>
          </a:p>
          <a:p>
            <a:pPr lvl="1"/>
            <a:endParaRPr lang="en-US" altLang="zh-CN" dirty="0"/>
          </a:p>
          <a:p>
            <a:pPr lvl="1" hangingPunct="1"/>
            <a:endParaRPr lang="en-US" altLang="zh-CN" sz="2400" dirty="0"/>
          </a:p>
          <a:p>
            <a:pPr lvl="1" hangingPunct="1">
              <a:buFont typeface="Wingdings" pitchFamily="2" charset="2"/>
              <a:buNone/>
            </a:pPr>
            <a:endParaRPr lang="zh-CN" altLang="en-US" sz="2400" dirty="0"/>
          </a:p>
        </p:txBody>
      </p:sp>
      <p:sp>
        <p:nvSpPr>
          <p:cNvPr id="2" name="Title 4">
            <a:extLst>
              <a:ext uri="{FF2B5EF4-FFF2-40B4-BE49-F238E27FC236}">
                <a16:creationId xmlns:a16="http://schemas.microsoft.com/office/drawing/2014/main" id="{CE9C6B3F-660C-B13B-A79C-911B2EE4661A}"/>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kern="1200" dirty="0">
                <a:cs typeface="+mn-cs"/>
              </a:rPr>
              <a:t>分支</a:t>
            </a:r>
            <a:r>
              <a:rPr lang="en-US" altLang="zh-CN" kern="1200" dirty="0">
                <a:cs typeface="+mn-cs"/>
              </a:rPr>
              <a:t>(branch)</a:t>
            </a:r>
            <a:r>
              <a:rPr lang="zh-CN" altLang="en-US" kern="1200" dirty="0">
                <a:cs typeface="+mn-cs"/>
              </a:rPr>
              <a:t>指令</a:t>
            </a:r>
            <a:endParaRPr lang="en-CN" kern="0" dirty="0"/>
          </a:p>
        </p:txBody>
      </p:sp>
    </p:spTree>
    <p:extLst>
      <p:ext uri="{BB962C8B-B14F-4D97-AF65-F5344CB8AC3E}">
        <p14:creationId xmlns:p14="http://schemas.microsoft.com/office/powerpoint/2010/main" val="31409430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C30CA34E-8AEC-9F4B-A5C0-BCD2C4E869B2}"/>
              </a:ext>
            </a:extLst>
          </p:cNvPr>
          <p:cNvSpPr>
            <a:spLocks noGrp="1"/>
          </p:cNvSpPr>
          <p:nvPr>
            <p:ph type="sldNum" sz="quarter" idx="12"/>
          </p:nvPr>
        </p:nvSpPr>
        <p:spPr/>
        <p:txBody>
          <a:bodyPr/>
          <a:lstStyle/>
          <a:p>
            <a:fld id="{14659731-6BD7-46E7-8D3C-2F3AC07E20B1}" type="slidenum">
              <a:rPr lang="en-US" altLang="zh-CN" smtClean="0"/>
              <a:pPr/>
              <a:t>73</a:t>
            </a:fld>
            <a:endParaRPr lang="en-US" altLang="zh-CN"/>
          </a:p>
        </p:txBody>
      </p:sp>
      <p:sp>
        <p:nvSpPr>
          <p:cNvPr id="1386499" name="Rectangle 3"/>
          <p:cNvSpPr>
            <a:spLocks noGrp="1" noChangeArrowheads="1"/>
          </p:cNvSpPr>
          <p:nvPr>
            <p:ph idx="4294967295"/>
          </p:nvPr>
        </p:nvSpPr>
        <p:spPr>
          <a:xfrm>
            <a:off x="628650" y="1424181"/>
            <a:ext cx="7886700" cy="4351338"/>
          </a:xfrm>
        </p:spPr>
        <p:txBody>
          <a:bodyPr/>
          <a:lstStyle/>
          <a:p>
            <a:pPr hangingPunct="1">
              <a:defRPr/>
            </a:pPr>
            <a:r>
              <a:rPr lang="zh-CN" altLang="en-US" dirty="0">
                <a:solidFill>
                  <a:srgbClr val="0432FF"/>
                </a:solidFill>
              </a:rPr>
              <a:t>无条件跳转</a:t>
            </a:r>
          </a:p>
          <a:p>
            <a:pPr lvl="1" hangingPunct="1">
              <a:spcBef>
                <a:spcPts val="1200"/>
              </a:spcBef>
              <a:buFont typeface="Wingdings" pitchFamily="2" charset="2"/>
              <a:buNone/>
              <a:defRPr/>
            </a:pPr>
            <a:r>
              <a:rPr lang="en-US" altLang="zh-CN" i="1" dirty="0">
                <a:latin typeface="Consolas" panose="020B0609020204030204" pitchFamily="49" charset="0"/>
              </a:rPr>
              <a:t>j label </a:t>
            </a:r>
            <a:r>
              <a:rPr lang="en-US" altLang="zh-CN" dirty="0"/>
              <a:t>	#</a:t>
            </a:r>
            <a:r>
              <a:rPr lang="zh-CN" altLang="en-US" dirty="0"/>
              <a:t>无条件跳转到标号</a:t>
            </a:r>
            <a:r>
              <a:rPr lang="en-US" altLang="zh-CN" i="1" dirty="0">
                <a:latin typeface="Consolas" panose="020B0609020204030204" pitchFamily="49" charset="0"/>
              </a:rPr>
              <a:t>label</a:t>
            </a:r>
            <a:r>
              <a:rPr lang="zh-CN" altLang="en-US" dirty="0"/>
              <a:t>处</a:t>
            </a:r>
          </a:p>
        </p:txBody>
      </p:sp>
      <p:sp>
        <p:nvSpPr>
          <p:cNvPr id="2" name="Title 4">
            <a:extLst>
              <a:ext uri="{FF2B5EF4-FFF2-40B4-BE49-F238E27FC236}">
                <a16:creationId xmlns:a16="http://schemas.microsoft.com/office/drawing/2014/main" id="{53416577-7112-C992-2B59-70CFE916E4EE}"/>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kern="1200" dirty="0">
                <a:cs typeface="+mn-cs"/>
              </a:rPr>
              <a:t>跳转</a:t>
            </a:r>
            <a:r>
              <a:rPr lang="en-US" altLang="zh-CN" kern="1200" dirty="0">
                <a:cs typeface="+mn-cs"/>
              </a:rPr>
              <a:t>(jump)</a:t>
            </a:r>
            <a:r>
              <a:rPr lang="zh-CN" altLang="en-US" kern="1200" dirty="0">
                <a:cs typeface="+mn-cs"/>
              </a:rPr>
              <a:t>指令</a:t>
            </a:r>
            <a:endParaRPr lang="en-CN" kern="0" dirty="0"/>
          </a:p>
        </p:txBody>
      </p:sp>
    </p:spTree>
    <p:extLst>
      <p:ext uri="{BB962C8B-B14F-4D97-AF65-F5344CB8AC3E}">
        <p14:creationId xmlns:p14="http://schemas.microsoft.com/office/powerpoint/2010/main" val="4072181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58C6A64-4532-734D-A003-17AB02EDCF0D}"/>
              </a:ext>
            </a:extLst>
          </p:cNvPr>
          <p:cNvSpPr>
            <a:spLocks noGrp="1"/>
          </p:cNvSpPr>
          <p:nvPr>
            <p:ph type="sldNum" sz="quarter" idx="12"/>
          </p:nvPr>
        </p:nvSpPr>
        <p:spPr/>
        <p:txBody>
          <a:bodyPr/>
          <a:lstStyle/>
          <a:p>
            <a:fld id="{176ACFD1-D213-4B9C-817B-45486DBF105A}" type="slidenum">
              <a:rPr lang="en-US" smtClean="0">
                <a:solidFill>
                  <a:prstClr val="black"/>
                </a:solidFill>
              </a:rPr>
              <a:pPr/>
              <a:t>74</a:t>
            </a:fld>
            <a:endParaRPr lang="en-US">
              <a:solidFill>
                <a:prstClr val="black"/>
              </a:solidFill>
            </a:endParaRPr>
          </a:p>
        </p:txBody>
      </p:sp>
      <p:sp>
        <p:nvSpPr>
          <p:cNvPr id="3" name="Content Placeholder 2">
            <a:extLst>
              <a:ext uri="{FF2B5EF4-FFF2-40B4-BE49-F238E27FC236}">
                <a16:creationId xmlns:a16="http://schemas.microsoft.com/office/drawing/2014/main" id="{FBC54065-A8EB-A646-8897-9BA089C94A03}"/>
              </a:ext>
            </a:extLst>
          </p:cNvPr>
          <p:cNvSpPr>
            <a:spLocks noGrp="1"/>
          </p:cNvSpPr>
          <p:nvPr>
            <p:ph idx="4294967295"/>
          </p:nvPr>
        </p:nvSpPr>
        <p:spPr>
          <a:xfrm>
            <a:off x="457200" y="1253331"/>
            <a:ext cx="8229600" cy="5230813"/>
          </a:xfrm>
        </p:spPr>
        <p:txBody>
          <a:bodyPr>
            <a:normAutofit fontScale="92500" lnSpcReduction="20000"/>
          </a:bodyPr>
          <a:lstStyle/>
          <a:p>
            <a:pPr>
              <a:lnSpc>
                <a:spcPct val="150000"/>
              </a:lnSpc>
            </a:pPr>
            <a:r>
              <a:rPr lang="zh-CN" altLang="en-US" dirty="0">
                <a:latin typeface="Arial" panose="020B0604020202020204" pitchFamily="34" charset="0"/>
                <a:cs typeface="Arial" panose="020B0604020202020204" pitchFamily="34" charset="0"/>
              </a:rPr>
              <a:t>指令设计思想与考虑</a:t>
            </a:r>
            <a:endParaRPr lang="en-US" altLang="zh-CN" dirty="0">
              <a:latin typeface="Arial" panose="020B0604020202020204" pitchFamily="34" charset="0"/>
              <a:cs typeface="Arial" panose="020B0604020202020204" pitchFamily="34" charset="0"/>
            </a:endParaRPr>
          </a:p>
          <a:p>
            <a:pPr>
              <a:lnSpc>
                <a:spcPct val="150000"/>
              </a:lnSpc>
            </a:pPr>
            <a:r>
              <a:rPr lang="en-US" dirty="0">
                <a:solidFill>
                  <a:srgbClr val="0432FF"/>
                </a:solidFill>
                <a:latin typeface="Arial" panose="020B0604020202020204" pitchFamily="34" charset="0"/>
                <a:cs typeface="Arial" panose="020B0604020202020204" pitchFamily="34" charset="0"/>
              </a:rPr>
              <a:t>MIPS</a:t>
            </a:r>
            <a:r>
              <a:rPr lang="zh-CN" altLang="en-US" dirty="0">
                <a:solidFill>
                  <a:srgbClr val="0432FF"/>
                </a:solidFill>
                <a:latin typeface="Arial" panose="020B0604020202020204" pitchFamily="34" charset="0"/>
                <a:cs typeface="Arial" panose="020B0604020202020204" pitchFamily="34" charset="0"/>
              </a:rPr>
              <a:t>指令集介绍</a:t>
            </a:r>
            <a:endParaRPr lang="en-US" altLang="zh-CN" dirty="0">
              <a:solidFill>
                <a:srgbClr val="0432FF"/>
              </a:solidFill>
              <a:latin typeface="Arial" panose="020B0604020202020204" pitchFamily="34" charset="0"/>
              <a:cs typeface="Arial" panose="020B0604020202020204" pitchFamily="34" charset="0"/>
            </a:endParaRPr>
          </a:p>
          <a:p>
            <a:pPr lvl="1">
              <a:lnSpc>
                <a:spcPct val="150000"/>
              </a:lnSpc>
            </a:pPr>
            <a:r>
              <a:rPr lang="zh-CN" altLang="en-US" dirty="0">
                <a:latin typeface="Arial" panose="020B0604020202020204" pitchFamily="34" charset="0"/>
                <a:cs typeface="Arial" panose="020B0604020202020204" pitchFamily="34" charset="0"/>
              </a:rPr>
              <a:t>指令存储与数据存储</a:t>
            </a:r>
            <a:endParaRPr lang="en-US" altLang="zh-CN" dirty="0">
              <a:latin typeface="Arial" panose="020B0604020202020204" pitchFamily="34" charset="0"/>
              <a:cs typeface="Arial" panose="020B0604020202020204" pitchFamily="34" charset="0"/>
            </a:endParaRPr>
          </a:p>
          <a:p>
            <a:pPr lvl="1">
              <a:lnSpc>
                <a:spcPct val="150000"/>
              </a:lnSpc>
            </a:pPr>
            <a:r>
              <a:rPr lang="zh-CN" altLang="en-US" dirty="0">
                <a:latin typeface="Arial" panose="020B0604020202020204" pitchFamily="34" charset="0"/>
                <a:cs typeface="Arial" panose="020B0604020202020204" pitchFamily="34" charset="0"/>
              </a:rPr>
              <a:t>指令分类与格式</a:t>
            </a:r>
            <a:endParaRPr lang="en-US" altLang="zh-CN" dirty="0">
              <a:latin typeface="Arial" panose="020B0604020202020204" pitchFamily="34" charset="0"/>
              <a:cs typeface="Arial" panose="020B0604020202020204" pitchFamily="34" charset="0"/>
            </a:endParaRPr>
          </a:p>
          <a:p>
            <a:pPr lvl="1">
              <a:lnSpc>
                <a:spcPct val="150000"/>
              </a:lnSpc>
            </a:pPr>
            <a:r>
              <a:rPr lang="zh-CN" altLang="en-US" dirty="0">
                <a:latin typeface="Arial" panose="020B0604020202020204" pitchFamily="34" charset="0"/>
                <a:cs typeface="Arial" panose="020B0604020202020204" pitchFamily="34" charset="0"/>
              </a:rPr>
              <a:t>寻址方式</a:t>
            </a:r>
            <a:endParaRPr lang="en-US" altLang="zh-CN" dirty="0">
              <a:latin typeface="Arial" panose="020B0604020202020204" pitchFamily="34" charset="0"/>
              <a:cs typeface="Arial" panose="020B0604020202020204" pitchFamily="34" charset="0"/>
            </a:endParaRPr>
          </a:p>
          <a:p>
            <a:pPr lvl="1">
              <a:lnSpc>
                <a:spcPct val="150000"/>
              </a:lnSpc>
            </a:pPr>
            <a:r>
              <a:rPr lang="zh-CN" altLang="en-US" dirty="0">
                <a:latin typeface="Arial" panose="020B0604020202020204" pitchFamily="34" charset="0"/>
                <a:cs typeface="Arial" panose="020B0604020202020204" pitchFamily="34" charset="0"/>
              </a:rPr>
              <a:t>常见指令介绍</a:t>
            </a:r>
            <a:endParaRPr lang="en-US" altLang="zh-CN" dirty="0">
              <a:latin typeface="Arial" panose="020B0604020202020204" pitchFamily="34" charset="0"/>
              <a:cs typeface="Arial" panose="020B0604020202020204" pitchFamily="34" charset="0"/>
            </a:endParaRPr>
          </a:p>
          <a:p>
            <a:pPr lvl="1">
              <a:lnSpc>
                <a:spcPct val="150000"/>
              </a:lnSpc>
            </a:pPr>
            <a:r>
              <a:rPr lang="zh-CN" altLang="en-US" dirty="0">
                <a:solidFill>
                  <a:srgbClr val="0432FF"/>
                </a:solidFill>
                <a:latin typeface="Arial" panose="020B0604020202020204" pitchFamily="34" charset="0"/>
                <a:cs typeface="Arial" panose="020B0604020202020204" pitchFamily="34" charset="0"/>
              </a:rPr>
              <a:t>过程调用</a:t>
            </a:r>
            <a:endParaRPr lang="en-US" altLang="zh-CN" dirty="0">
              <a:solidFill>
                <a:srgbClr val="0432FF"/>
              </a:solidFill>
              <a:latin typeface="Arial" panose="020B0604020202020204" pitchFamily="34" charset="0"/>
              <a:cs typeface="Arial" panose="020B0604020202020204" pitchFamily="34" charset="0"/>
            </a:endParaRPr>
          </a:p>
          <a:p>
            <a:pPr>
              <a:lnSpc>
                <a:spcPct val="150000"/>
              </a:lnSpc>
            </a:pPr>
            <a:r>
              <a:rPr lang="en-US" altLang="zh-CN" dirty="0">
                <a:latin typeface="Arial" panose="020B0604020202020204" pitchFamily="34" charset="0"/>
                <a:cs typeface="Arial" panose="020B0604020202020204" pitchFamily="34" charset="0"/>
              </a:rPr>
              <a:t>MIPS</a:t>
            </a:r>
            <a:r>
              <a:rPr lang="zh-CN" altLang="en-US" dirty="0">
                <a:latin typeface="Arial" panose="020B0604020202020204" pitchFamily="34" charset="0"/>
                <a:cs typeface="Arial" panose="020B0604020202020204" pitchFamily="34" charset="0"/>
              </a:rPr>
              <a:t>指令集程序</a:t>
            </a:r>
            <a:endParaRPr lang="en-US" altLang="zh-CN" dirty="0">
              <a:latin typeface="Arial" panose="020B0604020202020204" pitchFamily="34" charset="0"/>
              <a:cs typeface="Arial" panose="020B0604020202020204" pitchFamily="34" charset="0"/>
            </a:endParaRPr>
          </a:p>
          <a:p>
            <a:pPr marL="342900" lvl="1" indent="0">
              <a:lnSpc>
                <a:spcPct val="150000"/>
              </a:lnSpc>
              <a:buNone/>
            </a:pPr>
            <a:endParaRPr lang="en-US" altLang="zh-CN" sz="2800" dirty="0">
              <a:latin typeface="Arial" panose="020B0604020202020204" pitchFamily="34" charset="0"/>
              <a:cs typeface="Arial" panose="020B0604020202020204" pitchFamily="34" charset="0"/>
            </a:endParaRPr>
          </a:p>
        </p:txBody>
      </p:sp>
      <p:sp>
        <p:nvSpPr>
          <p:cNvPr id="2" name="Title 4">
            <a:extLst>
              <a:ext uri="{FF2B5EF4-FFF2-40B4-BE49-F238E27FC236}">
                <a16:creationId xmlns:a16="http://schemas.microsoft.com/office/drawing/2014/main" id="{9351B01F-A37B-A28A-CA66-E954D9D6611F}"/>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kumimoji="1" lang="zh-CN" altLang="en-US" dirty="0"/>
              <a:t>本节课目录</a:t>
            </a:r>
            <a:endParaRPr lang="en-CN" kern="0" dirty="0"/>
          </a:p>
        </p:txBody>
      </p:sp>
    </p:spTree>
    <p:extLst>
      <p:ext uri="{BB962C8B-B14F-4D97-AF65-F5344CB8AC3E}">
        <p14:creationId xmlns:p14="http://schemas.microsoft.com/office/powerpoint/2010/main" val="181779019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5E3845A9-7E82-4657-B497-16CB36280F3B}"/>
              </a:ext>
            </a:extLst>
          </p:cNvPr>
          <p:cNvSpPr>
            <a:spLocks noGrp="1"/>
          </p:cNvSpPr>
          <p:nvPr>
            <p:ph type="sldNum" sz="quarter" idx="12"/>
          </p:nvPr>
        </p:nvSpPr>
        <p:spPr/>
        <p:txBody>
          <a:bodyPr/>
          <a:lstStyle/>
          <a:p>
            <a:fld id="{176ACFD1-D213-4B9C-817B-45486DBF105A}" type="slidenum">
              <a:rPr lang="en-US" smtClean="0">
                <a:solidFill>
                  <a:prstClr val="black"/>
                </a:solidFill>
              </a:rPr>
              <a:pPr/>
              <a:t>75</a:t>
            </a:fld>
            <a:endParaRPr lang="en-US">
              <a:solidFill>
                <a:prstClr val="black"/>
              </a:solidFill>
            </a:endParaRPr>
          </a:p>
        </p:txBody>
      </p:sp>
      <p:sp>
        <p:nvSpPr>
          <p:cNvPr id="6" name="Content Placeholder 2">
            <a:extLst>
              <a:ext uri="{FF2B5EF4-FFF2-40B4-BE49-F238E27FC236}">
                <a16:creationId xmlns:a16="http://schemas.microsoft.com/office/drawing/2014/main" id="{6191C6B5-9EC6-41CC-9B76-6DE8CEE88038}"/>
              </a:ext>
            </a:extLst>
          </p:cNvPr>
          <p:cNvSpPr>
            <a:spLocks noGrp="1"/>
          </p:cNvSpPr>
          <p:nvPr>
            <p:ph idx="4294967295"/>
          </p:nvPr>
        </p:nvSpPr>
        <p:spPr>
          <a:xfrm>
            <a:off x="287876" y="1316245"/>
            <a:ext cx="8633099" cy="4351338"/>
          </a:xfrm>
        </p:spPr>
        <p:txBody>
          <a:bodyPr/>
          <a:lstStyle/>
          <a:p>
            <a:pPr>
              <a:spcAft>
                <a:spcPts val="600"/>
              </a:spcAft>
            </a:pPr>
            <a:r>
              <a:rPr lang="zh-CN" altLang="en-US" sz="2400" dirty="0"/>
              <a:t>一个过程包括</a:t>
            </a:r>
            <a:r>
              <a:rPr lang="zh-CN" altLang="en-US" sz="2400" b="1" dirty="0"/>
              <a:t>入口</a:t>
            </a:r>
            <a:r>
              <a:rPr lang="zh-CN" altLang="en-US" sz="2400" dirty="0"/>
              <a:t>，</a:t>
            </a:r>
            <a:r>
              <a:rPr lang="zh-CN" altLang="en-US" sz="2400" b="1" dirty="0"/>
              <a:t>过程体</a:t>
            </a:r>
            <a:r>
              <a:rPr lang="zh-CN" altLang="en-US" sz="2400" dirty="0"/>
              <a:t>和</a:t>
            </a:r>
            <a:r>
              <a:rPr lang="zh-CN" altLang="en-US" sz="2400" b="1" dirty="0"/>
              <a:t>出口</a:t>
            </a:r>
            <a:endParaRPr lang="en-US" altLang="zh-CN" sz="2400" dirty="0"/>
          </a:p>
          <a:p>
            <a:pPr>
              <a:spcAft>
                <a:spcPts val="600"/>
              </a:spcAft>
            </a:pPr>
            <a:r>
              <a:rPr lang="zh-CN" altLang="en-US" sz="2400" dirty="0"/>
              <a:t>准备</a:t>
            </a:r>
            <a:r>
              <a:rPr lang="zh-CN" altLang="en-US" sz="2400" b="1" dirty="0">
                <a:solidFill>
                  <a:srgbClr val="0432FF"/>
                </a:solidFill>
              </a:rPr>
              <a:t>过程参数（如果有）</a:t>
            </a:r>
          </a:p>
          <a:p>
            <a:pPr lvl="1">
              <a:spcAft>
                <a:spcPts val="600"/>
              </a:spcAft>
            </a:pPr>
            <a:r>
              <a:rPr lang="zh-CN" altLang="en-US" sz="2000" dirty="0"/>
              <a:t>并</a:t>
            </a:r>
            <a:r>
              <a:rPr lang="zh-CN" altLang="en-US" sz="2000" b="1" dirty="0">
                <a:solidFill>
                  <a:srgbClr val="0432FF"/>
                </a:solidFill>
              </a:rPr>
              <a:t>跳转到过程入口</a:t>
            </a:r>
            <a:endParaRPr lang="en-US" altLang="zh-CN" sz="2000" b="1" dirty="0">
              <a:solidFill>
                <a:srgbClr val="0432FF"/>
              </a:solidFill>
            </a:endParaRPr>
          </a:p>
          <a:p>
            <a:pPr lvl="1">
              <a:spcAft>
                <a:spcPts val="600"/>
              </a:spcAft>
            </a:pPr>
            <a:r>
              <a:rPr lang="zh-CN" altLang="en-US" sz="2000" dirty="0"/>
              <a:t>在执行完过程体中的代码</a:t>
            </a:r>
            <a:endParaRPr lang="en-US" altLang="zh-CN" sz="2000" dirty="0"/>
          </a:p>
          <a:p>
            <a:pPr lvl="1">
              <a:spcAft>
                <a:spcPts val="600"/>
              </a:spcAft>
            </a:pPr>
            <a:r>
              <a:rPr lang="zh-CN" altLang="en-US" sz="2000" dirty="0"/>
              <a:t>从出口离开并回到主调过程同时获得该过程的</a:t>
            </a:r>
            <a:r>
              <a:rPr lang="zh-CN" altLang="en-US" sz="2000" b="1" dirty="0">
                <a:solidFill>
                  <a:srgbClr val="0432FF"/>
                </a:solidFill>
              </a:rPr>
              <a:t>返回值（如果有）</a:t>
            </a:r>
            <a:r>
              <a:rPr lang="en-US" altLang="zh-CN" sz="2000" dirty="0"/>
              <a:t> </a:t>
            </a:r>
            <a:endParaRPr lang="zh-CN" altLang="en-US" sz="2000" dirty="0"/>
          </a:p>
        </p:txBody>
      </p:sp>
      <p:sp>
        <p:nvSpPr>
          <p:cNvPr id="3" name="Title 4">
            <a:extLst>
              <a:ext uri="{FF2B5EF4-FFF2-40B4-BE49-F238E27FC236}">
                <a16:creationId xmlns:a16="http://schemas.microsoft.com/office/drawing/2014/main" id="{2C023230-661E-AD95-A118-3B8A1E2BCFAE}"/>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sz="4000" dirty="0"/>
              <a:t>过程调用</a:t>
            </a:r>
            <a:endParaRPr lang="en-CN" kern="0" dirty="0"/>
          </a:p>
        </p:txBody>
      </p:sp>
      <p:grpSp>
        <p:nvGrpSpPr>
          <p:cNvPr id="21" name="组合 20">
            <a:extLst>
              <a:ext uri="{FF2B5EF4-FFF2-40B4-BE49-F238E27FC236}">
                <a16:creationId xmlns:a16="http://schemas.microsoft.com/office/drawing/2014/main" id="{5C2A7D09-1DB3-1A0C-741D-6DFCE6F405B7}"/>
              </a:ext>
            </a:extLst>
          </p:cNvPr>
          <p:cNvGrpSpPr/>
          <p:nvPr/>
        </p:nvGrpSpPr>
        <p:grpSpPr>
          <a:xfrm>
            <a:off x="1213100" y="3727420"/>
            <a:ext cx="6288085" cy="2653907"/>
            <a:chOff x="1213100" y="3727420"/>
            <a:chExt cx="6288085" cy="2653907"/>
          </a:xfrm>
        </p:grpSpPr>
        <p:sp>
          <p:nvSpPr>
            <p:cNvPr id="2" name="矩形 13">
              <a:extLst>
                <a:ext uri="{FF2B5EF4-FFF2-40B4-BE49-F238E27FC236}">
                  <a16:creationId xmlns:a16="http://schemas.microsoft.com/office/drawing/2014/main" id="{FCC34A82-A14A-9F9B-2882-E7CFA68ADD73}"/>
                </a:ext>
              </a:extLst>
            </p:cNvPr>
            <p:cNvSpPr/>
            <p:nvPr/>
          </p:nvSpPr>
          <p:spPr>
            <a:xfrm>
              <a:off x="1213100" y="4329499"/>
              <a:ext cx="1955800" cy="1781175"/>
            </a:xfrm>
            <a:prstGeom prst="rect">
              <a:avLst/>
            </a:prstGeom>
            <a:solidFill>
              <a:srgbClr val="9BBB59">
                <a:lumMod val="20000"/>
                <a:lumOff val="8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srgbClr val="000000"/>
                  </a:solidFill>
                  <a:effectLst/>
                  <a:uLnTx/>
                  <a:uFillTx/>
                  <a:latin typeface="+mn-lt"/>
                  <a:ea typeface="+mn-ea"/>
                  <a:cs typeface="+mn-cs"/>
                </a:rPr>
                <a:t>程序</a:t>
              </a:r>
              <a:r>
                <a:rPr kumimoji="0" lang="en-US" altLang="zh-CN" sz="2400" b="1" i="0" u="none" strike="noStrike" kern="0" cap="none" spc="0" normalizeH="0" baseline="0" noProof="0" dirty="0">
                  <a:ln>
                    <a:noFill/>
                  </a:ln>
                  <a:solidFill>
                    <a:srgbClr val="000000"/>
                  </a:solidFill>
                  <a:effectLst/>
                  <a:uLnTx/>
                  <a:uFillTx/>
                  <a:latin typeface="+mn-lt"/>
                  <a:ea typeface="+mn-ea"/>
                  <a:cs typeface="+mn-cs"/>
                </a:rPr>
                <a:t> X</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srgbClr val="000000"/>
                  </a:solidFill>
                  <a:effectLst/>
                  <a:uLnTx/>
                  <a:uFillTx/>
                  <a:latin typeface="+mn-lt"/>
                  <a:ea typeface="+mn-ea"/>
                  <a:cs typeface="+mn-cs"/>
                </a:rPr>
                <a:t>      ……      </a:t>
              </a:r>
            </a:p>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srgbClr val="000000"/>
                  </a:solidFill>
                  <a:effectLst/>
                  <a:uLnTx/>
                  <a:uFillTx/>
                  <a:latin typeface="+mn-lt"/>
                  <a:ea typeface="+mn-ea"/>
                  <a:cs typeface="+mn-cs"/>
                </a:rPr>
                <a:t>程序</a:t>
              </a:r>
              <a:r>
                <a:rPr kumimoji="0" lang="en-US" altLang="zh-CN" sz="1800" b="1" i="0" u="none" strike="noStrike" kern="0" cap="none" spc="0" normalizeH="0" baseline="0" noProof="0" dirty="0">
                  <a:ln>
                    <a:noFill/>
                  </a:ln>
                  <a:solidFill>
                    <a:srgbClr val="000000"/>
                  </a:solidFill>
                  <a:effectLst/>
                  <a:uLnTx/>
                  <a:uFillTx/>
                  <a:latin typeface="+mn-lt"/>
                  <a:ea typeface="+mn-ea"/>
                  <a:cs typeface="+mn-cs"/>
                </a:rPr>
                <a:t> Y</a:t>
              </a:r>
              <a:endParaRPr kumimoji="0" lang="en-US" altLang="zh-CN" sz="2000" b="1" i="0" u="none" strike="noStrike" kern="0" cap="none" spc="0" normalizeH="0" baseline="0" noProof="0" dirty="0">
                <a:ln>
                  <a:noFill/>
                </a:ln>
                <a:solidFill>
                  <a:srgbClr val="000000"/>
                </a:solidFill>
                <a:effectLst/>
                <a:uLnTx/>
                <a:uFillTx/>
                <a:latin typeface="+mn-lt"/>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srgbClr val="000000"/>
                  </a:solidFill>
                  <a:effectLst/>
                  <a:uLnTx/>
                  <a:uFillTx/>
                  <a:latin typeface="+mn-lt"/>
                  <a:ea typeface="+mn-ea"/>
                  <a:cs typeface="+mn-cs"/>
                </a:rPr>
                <a:t>      ……</a:t>
              </a:r>
              <a:endParaRPr kumimoji="0" lang="zh-CN" altLang="en-US" sz="2800" b="1" i="0" u="none" strike="noStrike" kern="0" cap="none" spc="0" normalizeH="0" baseline="0" noProof="0" dirty="0">
                <a:ln>
                  <a:noFill/>
                </a:ln>
                <a:solidFill>
                  <a:srgbClr val="000000"/>
                </a:solidFill>
                <a:effectLst/>
                <a:uLnTx/>
                <a:uFillTx/>
                <a:latin typeface="+mn-lt"/>
                <a:ea typeface="+mn-ea"/>
                <a:cs typeface="+mn-cs"/>
              </a:endParaRPr>
            </a:p>
          </p:txBody>
        </p:sp>
        <p:sp>
          <p:nvSpPr>
            <p:cNvPr id="7" name="矩形 14">
              <a:extLst>
                <a:ext uri="{FF2B5EF4-FFF2-40B4-BE49-F238E27FC236}">
                  <a16:creationId xmlns:a16="http://schemas.microsoft.com/office/drawing/2014/main" id="{2E2A67BD-93A5-6C25-8D4B-E9B0670BB13D}"/>
                </a:ext>
              </a:extLst>
            </p:cNvPr>
            <p:cNvSpPr/>
            <p:nvPr/>
          </p:nvSpPr>
          <p:spPr>
            <a:xfrm>
              <a:off x="5545385" y="4329500"/>
              <a:ext cx="1955800" cy="1781175"/>
            </a:xfrm>
            <a:prstGeom prst="rect">
              <a:avLst/>
            </a:prstGeom>
            <a:solidFill>
              <a:srgbClr val="8064A2">
                <a:lumMod val="20000"/>
                <a:lumOff val="8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srgbClr val="000000"/>
                  </a:solidFill>
                  <a:effectLst/>
                  <a:uLnTx/>
                  <a:uFillTx/>
                  <a:latin typeface="+mn-lt"/>
                  <a:ea typeface="+mn-ea"/>
                  <a:cs typeface="+mn-cs"/>
                </a:rPr>
                <a:t>程序</a:t>
              </a:r>
              <a:r>
                <a:rPr kumimoji="0" lang="en-US" altLang="zh-CN" sz="2400" b="1" i="0" u="none" strike="noStrike" kern="0" cap="none" spc="0" normalizeH="0" baseline="0" noProof="0" dirty="0">
                  <a:ln>
                    <a:noFill/>
                  </a:ln>
                  <a:solidFill>
                    <a:srgbClr val="000000"/>
                  </a:solidFill>
                  <a:effectLst/>
                  <a:uLnTx/>
                  <a:uFillTx/>
                  <a:latin typeface="+mn-lt"/>
                  <a:ea typeface="+mn-ea"/>
                  <a:cs typeface="+mn-cs"/>
                </a:rPr>
                <a:t> Y</a:t>
              </a:r>
            </a:p>
            <a:p>
              <a:pPr marL="0" marR="0" lvl="0" indent="0" algn="r" defTabSz="91440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srgbClr val="000000"/>
                  </a:solidFill>
                  <a:effectLst/>
                  <a:uLnTx/>
                  <a:uFillTx/>
                  <a:latin typeface="+mn-lt"/>
                  <a:ea typeface="+mn-ea"/>
                  <a:cs typeface="+mn-cs"/>
                </a:rPr>
                <a:t>      ……</a:t>
              </a:r>
            </a:p>
            <a:p>
              <a:pPr marL="0" marR="0" lvl="0" indent="0" algn="r" defTabSz="91440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srgbClr val="000000"/>
                  </a:solidFill>
                  <a:effectLst/>
                  <a:uLnTx/>
                  <a:uFillTx/>
                  <a:latin typeface="+mn-lt"/>
                  <a:ea typeface="+mn-ea"/>
                  <a:cs typeface="+mn-cs"/>
                </a:rPr>
                <a:t>      …… ……</a:t>
              </a:r>
              <a:endParaRPr kumimoji="0" lang="zh-CN" altLang="en-US" sz="2800" b="1" i="0" u="none" strike="noStrike" kern="0" cap="none" spc="0" normalizeH="0" baseline="0" noProof="0" dirty="0">
                <a:ln>
                  <a:noFill/>
                </a:ln>
                <a:solidFill>
                  <a:srgbClr val="000000"/>
                </a:solidFill>
                <a:effectLst/>
                <a:uLnTx/>
                <a:uFillTx/>
                <a:latin typeface="+mn-lt"/>
                <a:ea typeface="+mn-ea"/>
                <a:cs typeface="+mn-cs"/>
              </a:endParaRPr>
            </a:p>
          </p:txBody>
        </p:sp>
        <p:sp>
          <p:nvSpPr>
            <p:cNvPr id="9" name="右箭头 3">
              <a:extLst>
                <a:ext uri="{FF2B5EF4-FFF2-40B4-BE49-F238E27FC236}">
                  <a16:creationId xmlns:a16="http://schemas.microsoft.com/office/drawing/2014/main" id="{99122099-D2EF-0C30-EE8A-2EB08FF86D94}"/>
                </a:ext>
              </a:extLst>
            </p:cNvPr>
            <p:cNvSpPr/>
            <p:nvPr/>
          </p:nvSpPr>
          <p:spPr>
            <a:xfrm rot="20867627">
              <a:off x="3245957" y="4763067"/>
              <a:ext cx="2204614" cy="431800"/>
            </a:xfrm>
            <a:prstGeom prst="rightArrow">
              <a:avLst/>
            </a:prstGeom>
            <a:solidFill>
              <a:srgbClr val="4F81BD">
                <a:lumMod val="20000"/>
                <a:lumOff val="80000"/>
              </a:srgbClr>
            </a:solidFill>
            <a:ln w="25400" cap="flat" cmpd="sng" algn="ctr">
              <a:solidFill>
                <a:srgbClr val="4F81BD"/>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FFFF"/>
                </a:solidFill>
                <a:effectLst/>
                <a:uLnTx/>
                <a:uFillTx/>
                <a:latin typeface="+mn-lt"/>
                <a:ea typeface="+mn-ea"/>
                <a:cs typeface="+mn-cs"/>
              </a:endParaRPr>
            </a:p>
          </p:txBody>
        </p:sp>
        <p:sp>
          <p:nvSpPr>
            <p:cNvPr id="12" name="文本框 18">
              <a:extLst>
                <a:ext uri="{FF2B5EF4-FFF2-40B4-BE49-F238E27FC236}">
                  <a16:creationId xmlns:a16="http://schemas.microsoft.com/office/drawing/2014/main" id="{C1BAA3CD-79AD-65FB-8D0B-26308EC49A95}"/>
                </a:ext>
              </a:extLst>
            </p:cNvPr>
            <p:cNvSpPr txBox="1"/>
            <p:nvPr/>
          </p:nvSpPr>
          <p:spPr>
            <a:xfrm>
              <a:off x="3350205" y="4419405"/>
              <a:ext cx="1955800" cy="369332"/>
            </a:xfrm>
            <a:prstGeom prst="rect">
              <a:avLst/>
            </a:prstGeom>
            <a:noFill/>
          </p:spPr>
          <p:txBody>
            <a:bodyPr wrap="square" rtlCol="0">
              <a:spAutoFit/>
            </a:bodyPr>
            <a:lstStyle/>
            <a:p>
              <a:pPr algn="ctr"/>
              <a:r>
                <a:rPr lang="zh-CN" altLang="en-US" b="1" dirty="0">
                  <a:solidFill>
                    <a:srgbClr val="0432FF"/>
                  </a:solidFill>
                  <a:latin typeface="+mn-lt"/>
                  <a:ea typeface="+mn-ea"/>
                </a:rPr>
                <a:t>过程调用</a:t>
              </a:r>
            </a:p>
          </p:txBody>
        </p:sp>
        <p:sp>
          <p:nvSpPr>
            <p:cNvPr id="14" name="TextBox 22">
              <a:extLst>
                <a:ext uri="{FF2B5EF4-FFF2-40B4-BE49-F238E27FC236}">
                  <a16:creationId xmlns:a16="http://schemas.microsoft.com/office/drawing/2014/main" id="{DB992DC9-1D32-B65E-6BC3-3A31D4048AA6}"/>
                </a:ext>
              </a:extLst>
            </p:cNvPr>
            <p:cNvSpPr txBox="1"/>
            <p:nvPr/>
          </p:nvSpPr>
          <p:spPr>
            <a:xfrm>
              <a:off x="1261899" y="3727420"/>
              <a:ext cx="1858201" cy="584775"/>
            </a:xfrm>
            <a:prstGeom prst="rect">
              <a:avLst/>
            </a:prstGeom>
            <a:noFill/>
          </p:spPr>
          <p:txBody>
            <a:bodyPr wrap="none" rtlCol="0">
              <a:spAutoFit/>
            </a:bodyPr>
            <a:lstStyle/>
            <a:p>
              <a:pPr algn="ctr"/>
              <a:r>
                <a:rPr lang="zh-CN" altLang="en-US" sz="3200" b="1" dirty="0">
                  <a:solidFill>
                    <a:srgbClr val="FF3300"/>
                  </a:solidFill>
                  <a:latin typeface="+mn-lt"/>
                  <a:ea typeface="+mn-ea"/>
                </a:rPr>
                <a:t>主调过程</a:t>
              </a:r>
              <a:endParaRPr lang="en-CN" sz="3200" b="1" dirty="0">
                <a:solidFill>
                  <a:srgbClr val="FF3300"/>
                </a:solidFill>
                <a:latin typeface="+mn-lt"/>
                <a:ea typeface="+mn-ea"/>
              </a:endParaRPr>
            </a:p>
          </p:txBody>
        </p:sp>
        <p:sp>
          <p:nvSpPr>
            <p:cNvPr id="15" name="TextBox 23">
              <a:extLst>
                <a:ext uri="{FF2B5EF4-FFF2-40B4-BE49-F238E27FC236}">
                  <a16:creationId xmlns:a16="http://schemas.microsoft.com/office/drawing/2014/main" id="{03DCD385-2CBC-7E89-D7A9-D4015EBB82CA}"/>
                </a:ext>
              </a:extLst>
            </p:cNvPr>
            <p:cNvSpPr txBox="1"/>
            <p:nvPr/>
          </p:nvSpPr>
          <p:spPr>
            <a:xfrm>
              <a:off x="5594184" y="3727420"/>
              <a:ext cx="1858201" cy="584775"/>
            </a:xfrm>
            <a:prstGeom prst="rect">
              <a:avLst/>
            </a:prstGeom>
            <a:noFill/>
          </p:spPr>
          <p:txBody>
            <a:bodyPr wrap="none" rtlCol="0">
              <a:spAutoFit/>
            </a:bodyPr>
            <a:lstStyle/>
            <a:p>
              <a:pPr algn="ctr"/>
              <a:r>
                <a:rPr lang="zh-CN" altLang="en-US" sz="3200" b="1" dirty="0">
                  <a:solidFill>
                    <a:srgbClr val="7030A0"/>
                  </a:solidFill>
                  <a:latin typeface="+mn-lt"/>
                  <a:ea typeface="+mn-ea"/>
                </a:rPr>
                <a:t>被调过程</a:t>
              </a:r>
              <a:endParaRPr lang="en-CN" sz="3200" b="1" dirty="0">
                <a:solidFill>
                  <a:srgbClr val="7030A0"/>
                </a:solidFill>
                <a:latin typeface="+mn-lt"/>
                <a:ea typeface="+mn-ea"/>
              </a:endParaRPr>
            </a:p>
          </p:txBody>
        </p:sp>
        <p:cxnSp>
          <p:nvCxnSpPr>
            <p:cNvPr id="16" name="Straight Connector 24">
              <a:extLst>
                <a:ext uri="{FF2B5EF4-FFF2-40B4-BE49-F238E27FC236}">
                  <a16:creationId xmlns:a16="http://schemas.microsoft.com/office/drawing/2014/main" id="{1A1C7751-F789-7B84-C749-745EC2E7049B}"/>
                </a:ext>
              </a:extLst>
            </p:cNvPr>
            <p:cNvCxnSpPr>
              <a:cxnSpLocks/>
            </p:cNvCxnSpPr>
            <p:nvPr/>
          </p:nvCxnSpPr>
          <p:spPr>
            <a:xfrm>
              <a:off x="1796325" y="5605595"/>
              <a:ext cx="1242466" cy="0"/>
            </a:xfrm>
            <a:prstGeom prst="line">
              <a:avLst/>
            </a:prstGeom>
            <a:noFill/>
            <a:ln w="25400" cap="flat" cmpd="sng" algn="ctr">
              <a:solidFill>
                <a:srgbClr val="FF0000"/>
              </a:solidFill>
              <a:prstDash val="solid"/>
            </a:ln>
            <a:effectLst>
              <a:outerShdw blurRad="40000" dist="20000" dir="5400000" rotWithShape="0">
                <a:srgbClr val="000000">
                  <a:alpha val="38000"/>
                </a:srgbClr>
              </a:outerShdw>
            </a:effectLst>
          </p:spPr>
        </p:cxnSp>
        <p:cxnSp>
          <p:nvCxnSpPr>
            <p:cNvPr id="17" name="Straight Connector 25">
              <a:extLst>
                <a:ext uri="{FF2B5EF4-FFF2-40B4-BE49-F238E27FC236}">
                  <a16:creationId xmlns:a16="http://schemas.microsoft.com/office/drawing/2014/main" id="{CC531008-2907-4033-C8E5-3DE8C11F076A}"/>
                </a:ext>
              </a:extLst>
            </p:cNvPr>
            <p:cNvCxnSpPr/>
            <p:nvPr/>
          </p:nvCxnSpPr>
          <p:spPr>
            <a:xfrm>
              <a:off x="5742003" y="4813117"/>
              <a:ext cx="1702854" cy="0"/>
            </a:xfrm>
            <a:prstGeom prst="line">
              <a:avLst/>
            </a:prstGeom>
            <a:noFill/>
            <a:ln w="25400" cap="flat" cmpd="sng" algn="ctr">
              <a:solidFill>
                <a:srgbClr val="8064A2"/>
              </a:solidFill>
              <a:prstDash val="solid"/>
            </a:ln>
            <a:effectLst>
              <a:outerShdw blurRad="40000" dist="20000" dir="5400000" rotWithShape="0">
                <a:srgbClr val="000000">
                  <a:alpha val="38000"/>
                </a:srgbClr>
              </a:outerShdw>
            </a:effectLst>
          </p:spPr>
        </p:cxnSp>
        <p:sp>
          <p:nvSpPr>
            <p:cNvPr id="19" name="右箭头 3">
              <a:extLst>
                <a:ext uri="{FF2B5EF4-FFF2-40B4-BE49-F238E27FC236}">
                  <a16:creationId xmlns:a16="http://schemas.microsoft.com/office/drawing/2014/main" id="{B16C219A-7495-C164-AE16-DA1E76DBBD78}"/>
                </a:ext>
              </a:extLst>
            </p:cNvPr>
            <p:cNvSpPr/>
            <p:nvPr/>
          </p:nvSpPr>
          <p:spPr>
            <a:xfrm rot="11053447">
              <a:off x="3261892" y="5576280"/>
              <a:ext cx="2204614" cy="431800"/>
            </a:xfrm>
            <a:prstGeom prst="rightArrow">
              <a:avLst/>
            </a:prstGeom>
            <a:solidFill>
              <a:srgbClr val="FFFFFF">
                <a:lumMod val="95000"/>
              </a:srgbClr>
            </a:solidFill>
            <a:ln w="25400" cap="flat" cmpd="sng" algn="ctr">
              <a:solidFill>
                <a:srgbClr val="000000">
                  <a:lumMod val="50000"/>
                  <a:lumOff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FFFF"/>
                </a:solidFill>
                <a:effectLst/>
                <a:uLnTx/>
                <a:uFillTx/>
                <a:latin typeface="+mn-lt"/>
                <a:ea typeface="+mn-ea"/>
                <a:cs typeface="+mn-cs"/>
              </a:endParaRPr>
            </a:p>
          </p:txBody>
        </p:sp>
        <p:sp>
          <p:nvSpPr>
            <p:cNvPr id="20" name="文本框 18">
              <a:extLst>
                <a:ext uri="{FF2B5EF4-FFF2-40B4-BE49-F238E27FC236}">
                  <a16:creationId xmlns:a16="http://schemas.microsoft.com/office/drawing/2014/main" id="{0C57F8D6-B96D-DBA1-4F20-97D0D24525AF}"/>
                </a:ext>
              </a:extLst>
            </p:cNvPr>
            <p:cNvSpPr txBox="1"/>
            <p:nvPr/>
          </p:nvSpPr>
          <p:spPr>
            <a:xfrm>
              <a:off x="3350205" y="6011995"/>
              <a:ext cx="1955800" cy="369332"/>
            </a:xfrm>
            <a:prstGeom prst="rect">
              <a:avLst/>
            </a:prstGeom>
            <a:noFill/>
          </p:spPr>
          <p:txBody>
            <a:bodyPr wrap="square" rtlCol="0">
              <a:spAutoFit/>
            </a:bodyPr>
            <a:lstStyle/>
            <a:p>
              <a:pPr algn="ctr"/>
              <a:r>
                <a:rPr lang="zh-CN" altLang="en-US" b="1" dirty="0">
                  <a:solidFill>
                    <a:srgbClr val="000000">
                      <a:lumMod val="50000"/>
                      <a:lumOff val="50000"/>
                    </a:srgbClr>
                  </a:solidFill>
                  <a:latin typeface="+mn-lt"/>
                  <a:ea typeface="+mn-ea"/>
                </a:rPr>
                <a:t>返回</a:t>
              </a:r>
            </a:p>
          </p:txBody>
        </p:sp>
      </p:grpSp>
      <mc:AlternateContent xmlns:mc="http://schemas.openxmlformats.org/markup-compatibility/2006" xmlns:p14="http://schemas.microsoft.com/office/powerpoint/2010/main">
        <mc:Choice Requires="p14">
          <p:contentPart p14:bwMode="auto" r:id="rId2">
            <p14:nvContentPartPr>
              <p14:cNvPr id="5" name="墨迹 4">
                <a:extLst>
                  <a:ext uri="{FF2B5EF4-FFF2-40B4-BE49-F238E27FC236}">
                    <a16:creationId xmlns:a16="http://schemas.microsoft.com/office/drawing/2014/main" id="{7250A659-F753-9CFC-1064-447B673C321C}"/>
                  </a:ext>
                </a:extLst>
              </p14:cNvPr>
              <p14:cNvContentPartPr/>
              <p14:nvPr/>
            </p14:nvContentPartPr>
            <p14:xfrm>
              <a:off x="6994080" y="2246040"/>
              <a:ext cx="360" cy="360"/>
            </p14:xfrm>
          </p:contentPart>
        </mc:Choice>
        <mc:Fallback xmlns="">
          <p:pic>
            <p:nvPicPr>
              <p:cNvPr id="5" name="墨迹 4">
                <a:extLst>
                  <a:ext uri="{FF2B5EF4-FFF2-40B4-BE49-F238E27FC236}">
                    <a16:creationId xmlns:a16="http://schemas.microsoft.com/office/drawing/2014/main" id="{7250A659-F753-9CFC-1064-447B673C321C}"/>
                  </a:ext>
                </a:extLst>
              </p:cNvPr>
              <p:cNvPicPr/>
              <p:nvPr/>
            </p:nvPicPr>
            <p:blipFill>
              <a:blip r:embed="rId3"/>
              <a:stretch>
                <a:fillRect/>
              </a:stretch>
            </p:blipFill>
            <p:spPr>
              <a:xfrm>
                <a:off x="6984720" y="2236680"/>
                <a:ext cx="19080" cy="19080"/>
              </a:xfrm>
              <a:prstGeom prst="rect">
                <a:avLst/>
              </a:prstGeom>
            </p:spPr>
          </p:pic>
        </mc:Fallback>
      </mc:AlternateContent>
    </p:spTree>
    <p:extLst>
      <p:ext uri="{BB962C8B-B14F-4D97-AF65-F5344CB8AC3E}">
        <p14:creationId xmlns:p14="http://schemas.microsoft.com/office/powerpoint/2010/main" val="264018203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5E3845A9-7E82-4657-B497-16CB36280F3B}"/>
              </a:ext>
            </a:extLst>
          </p:cNvPr>
          <p:cNvSpPr>
            <a:spLocks noGrp="1"/>
          </p:cNvSpPr>
          <p:nvPr>
            <p:ph type="sldNum" sz="quarter" idx="12"/>
          </p:nvPr>
        </p:nvSpPr>
        <p:spPr/>
        <p:txBody>
          <a:bodyPr/>
          <a:lstStyle/>
          <a:p>
            <a:fld id="{176ACFD1-D213-4B9C-817B-45486DBF105A}" type="slidenum">
              <a:rPr lang="en-US" smtClean="0">
                <a:solidFill>
                  <a:prstClr val="black"/>
                </a:solidFill>
              </a:rPr>
              <a:pPr/>
              <a:t>76</a:t>
            </a:fld>
            <a:endParaRPr lang="en-US">
              <a:solidFill>
                <a:prstClr val="black"/>
              </a:solidFill>
            </a:endParaRPr>
          </a:p>
        </p:txBody>
      </p:sp>
      <p:sp>
        <p:nvSpPr>
          <p:cNvPr id="6" name="Content Placeholder 2">
            <a:extLst>
              <a:ext uri="{FF2B5EF4-FFF2-40B4-BE49-F238E27FC236}">
                <a16:creationId xmlns:a16="http://schemas.microsoft.com/office/drawing/2014/main" id="{6191C6B5-9EC6-41CC-9B76-6DE8CEE88038}"/>
              </a:ext>
            </a:extLst>
          </p:cNvPr>
          <p:cNvSpPr>
            <a:spLocks noGrp="1"/>
          </p:cNvSpPr>
          <p:nvPr>
            <p:ph idx="4294967295"/>
          </p:nvPr>
        </p:nvSpPr>
        <p:spPr>
          <a:xfrm>
            <a:off x="416589" y="1325954"/>
            <a:ext cx="8649351" cy="4169153"/>
          </a:xfrm>
        </p:spPr>
        <p:txBody>
          <a:bodyPr/>
          <a:lstStyle/>
          <a:p>
            <a:r>
              <a:rPr lang="en-US" altLang="zh-CN" sz="2800" b="1" dirty="0"/>
              <a:t>MIPS</a:t>
            </a:r>
            <a:r>
              <a:rPr lang="zh-CN" altLang="en-US" sz="2800" b="1" dirty="0"/>
              <a:t>使用寄存器存储参数和返回的数据</a:t>
            </a:r>
            <a:r>
              <a:rPr lang="en-US" altLang="zh-CN" sz="2800" b="1" dirty="0"/>
              <a:t>/</a:t>
            </a:r>
            <a:r>
              <a:rPr lang="zh-CN" altLang="en-US" sz="2800" b="1" dirty="0"/>
              <a:t>地址</a:t>
            </a:r>
            <a:r>
              <a:rPr lang="zh-CN" altLang="en-US" sz="2800" dirty="0"/>
              <a:t>：</a:t>
            </a:r>
          </a:p>
          <a:p>
            <a:pPr lvl="1"/>
            <a:r>
              <a:rPr lang="zh-CN" altLang="en-US" sz="2400" dirty="0"/>
              <a:t>参数寄存器：</a:t>
            </a:r>
            <a:r>
              <a:rPr lang="en-US" altLang="zh-CN" sz="2400" b="1" dirty="0"/>
              <a:t>$a0</a:t>
            </a:r>
            <a:r>
              <a:rPr lang="zh-CN" altLang="en-US" sz="2400" b="1" dirty="0"/>
              <a:t> </a:t>
            </a:r>
            <a:r>
              <a:rPr lang="en-US" altLang="zh-CN" sz="2400" b="1" dirty="0"/>
              <a:t>-</a:t>
            </a:r>
            <a:r>
              <a:rPr lang="zh-CN" altLang="en-US" sz="2400" b="1" dirty="0"/>
              <a:t> </a:t>
            </a:r>
            <a:r>
              <a:rPr lang="en-US" altLang="zh-CN" sz="2400" b="1" dirty="0"/>
              <a:t>$a3</a:t>
            </a:r>
          </a:p>
          <a:p>
            <a:pPr lvl="1"/>
            <a:r>
              <a:rPr lang="zh-CN" altLang="en-US" sz="2400" dirty="0"/>
              <a:t>返回值寄存器：</a:t>
            </a:r>
            <a:r>
              <a:rPr lang="en-US" altLang="zh-CN" sz="2400" b="1" dirty="0"/>
              <a:t>$v0</a:t>
            </a:r>
            <a:r>
              <a:rPr lang="zh-CN" altLang="en-US" sz="2400" b="1" dirty="0"/>
              <a:t> </a:t>
            </a:r>
            <a:r>
              <a:rPr lang="en-US" altLang="zh-CN" sz="2400" b="1" dirty="0"/>
              <a:t>-</a:t>
            </a:r>
            <a:r>
              <a:rPr lang="zh-CN" altLang="en-US" sz="2400" b="1" dirty="0"/>
              <a:t> </a:t>
            </a:r>
            <a:r>
              <a:rPr lang="en-US" altLang="zh-CN" sz="2400" b="1" dirty="0"/>
              <a:t>$v1</a:t>
            </a:r>
          </a:p>
          <a:p>
            <a:pPr lvl="1"/>
            <a:r>
              <a:rPr lang="zh-CN" altLang="en-US" sz="2400" dirty="0"/>
              <a:t>返回地址寄存器：</a:t>
            </a:r>
            <a:r>
              <a:rPr lang="en-US" altLang="zh-CN" sz="2400" b="1" dirty="0"/>
              <a:t>$</a:t>
            </a:r>
            <a:r>
              <a:rPr lang="en-US" altLang="zh-CN" sz="2400" b="1" dirty="0" err="1"/>
              <a:t>ra</a:t>
            </a:r>
            <a:endParaRPr lang="zh-CN" altLang="en-US" sz="2400" dirty="0"/>
          </a:p>
        </p:txBody>
      </p:sp>
      <p:sp>
        <p:nvSpPr>
          <p:cNvPr id="30" name="Title 4">
            <a:extLst>
              <a:ext uri="{FF2B5EF4-FFF2-40B4-BE49-F238E27FC236}">
                <a16:creationId xmlns:a16="http://schemas.microsoft.com/office/drawing/2014/main" id="{F9C69989-CACD-4BA5-A7A8-8FD9A25217B3}"/>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sz="4000" dirty="0"/>
              <a:t>过程调用</a:t>
            </a:r>
            <a:endParaRPr lang="en-CN" kern="0" dirty="0"/>
          </a:p>
        </p:txBody>
      </p:sp>
      <p:grpSp>
        <p:nvGrpSpPr>
          <p:cNvPr id="2" name="组合 1">
            <a:extLst>
              <a:ext uri="{FF2B5EF4-FFF2-40B4-BE49-F238E27FC236}">
                <a16:creationId xmlns:a16="http://schemas.microsoft.com/office/drawing/2014/main" id="{B046E8D5-1CE0-4F4F-F4EA-783EE7EA1B0D}"/>
              </a:ext>
            </a:extLst>
          </p:cNvPr>
          <p:cNvGrpSpPr/>
          <p:nvPr/>
        </p:nvGrpSpPr>
        <p:grpSpPr>
          <a:xfrm>
            <a:off x="1213100" y="3727420"/>
            <a:ext cx="6288085" cy="2653907"/>
            <a:chOff x="1213100" y="3727420"/>
            <a:chExt cx="6288085" cy="2653907"/>
          </a:xfrm>
        </p:grpSpPr>
        <p:sp>
          <p:nvSpPr>
            <p:cNvPr id="3" name="矩形 13">
              <a:extLst>
                <a:ext uri="{FF2B5EF4-FFF2-40B4-BE49-F238E27FC236}">
                  <a16:creationId xmlns:a16="http://schemas.microsoft.com/office/drawing/2014/main" id="{59AD3875-2E49-D980-9999-C0C31C974D7B}"/>
                </a:ext>
              </a:extLst>
            </p:cNvPr>
            <p:cNvSpPr/>
            <p:nvPr/>
          </p:nvSpPr>
          <p:spPr>
            <a:xfrm>
              <a:off x="1213100" y="4329499"/>
              <a:ext cx="1955800" cy="1781175"/>
            </a:xfrm>
            <a:prstGeom prst="rect">
              <a:avLst/>
            </a:prstGeom>
            <a:solidFill>
              <a:srgbClr val="9BBB59">
                <a:lumMod val="20000"/>
                <a:lumOff val="8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srgbClr val="000000"/>
                  </a:solidFill>
                  <a:effectLst/>
                  <a:uLnTx/>
                  <a:uFillTx/>
                  <a:latin typeface="+mn-lt"/>
                  <a:ea typeface="+mn-ea"/>
                  <a:cs typeface="+mn-cs"/>
                </a:rPr>
                <a:t>程序</a:t>
              </a:r>
              <a:r>
                <a:rPr kumimoji="0" lang="en-US" altLang="zh-CN" sz="2400" b="1" i="0" u="none" strike="noStrike" kern="0" cap="none" spc="0" normalizeH="0" baseline="0" noProof="0" dirty="0">
                  <a:ln>
                    <a:noFill/>
                  </a:ln>
                  <a:solidFill>
                    <a:srgbClr val="000000"/>
                  </a:solidFill>
                  <a:effectLst/>
                  <a:uLnTx/>
                  <a:uFillTx/>
                  <a:latin typeface="+mn-lt"/>
                  <a:ea typeface="+mn-ea"/>
                  <a:cs typeface="+mn-cs"/>
                </a:rPr>
                <a:t> X</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srgbClr val="000000"/>
                  </a:solidFill>
                  <a:effectLst/>
                  <a:uLnTx/>
                  <a:uFillTx/>
                  <a:latin typeface="+mn-lt"/>
                  <a:ea typeface="+mn-ea"/>
                  <a:cs typeface="+mn-cs"/>
                </a:rPr>
                <a:t>      ……      </a:t>
              </a:r>
            </a:p>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srgbClr val="000000"/>
                  </a:solidFill>
                  <a:effectLst/>
                  <a:uLnTx/>
                  <a:uFillTx/>
                  <a:latin typeface="+mn-lt"/>
                  <a:ea typeface="+mn-ea"/>
                  <a:cs typeface="+mn-cs"/>
                </a:rPr>
                <a:t>程序</a:t>
              </a:r>
              <a:r>
                <a:rPr kumimoji="0" lang="en-US" altLang="zh-CN" sz="1800" b="1" i="0" u="none" strike="noStrike" kern="0" cap="none" spc="0" normalizeH="0" baseline="0" noProof="0" dirty="0">
                  <a:ln>
                    <a:noFill/>
                  </a:ln>
                  <a:solidFill>
                    <a:srgbClr val="000000"/>
                  </a:solidFill>
                  <a:effectLst/>
                  <a:uLnTx/>
                  <a:uFillTx/>
                  <a:latin typeface="+mn-lt"/>
                  <a:ea typeface="+mn-ea"/>
                  <a:cs typeface="+mn-cs"/>
                </a:rPr>
                <a:t> Y</a:t>
              </a:r>
              <a:endParaRPr kumimoji="0" lang="en-US" altLang="zh-CN" sz="2000" b="1" i="0" u="none" strike="noStrike" kern="0" cap="none" spc="0" normalizeH="0" baseline="0" noProof="0" dirty="0">
                <a:ln>
                  <a:noFill/>
                </a:ln>
                <a:solidFill>
                  <a:srgbClr val="000000"/>
                </a:solidFill>
                <a:effectLst/>
                <a:uLnTx/>
                <a:uFillTx/>
                <a:latin typeface="+mn-lt"/>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srgbClr val="000000"/>
                  </a:solidFill>
                  <a:effectLst/>
                  <a:uLnTx/>
                  <a:uFillTx/>
                  <a:latin typeface="+mn-lt"/>
                  <a:ea typeface="+mn-ea"/>
                  <a:cs typeface="+mn-cs"/>
                </a:rPr>
                <a:t>      ……</a:t>
              </a:r>
              <a:endParaRPr kumimoji="0" lang="zh-CN" altLang="en-US" sz="2800" b="1" i="0" u="none" strike="noStrike" kern="0" cap="none" spc="0" normalizeH="0" baseline="0" noProof="0" dirty="0">
                <a:ln>
                  <a:noFill/>
                </a:ln>
                <a:solidFill>
                  <a:srgbClr val="000000"/>
                </a:solidFill>
                <a:effectLst/>
                <a:uLnTx/>
                <a:uFillTx/>
                <a:latin typeface="+mn-lt"/>
                <a:ea typeface="+mn-ea"/>
                <a:cs typeface="+mn-cs"/>
              </a:endParaRPr>
            </a:p>
          </p:txBody>
        </p:sp>
        <p:sp>
          <p:nvSpPr>
            <p:cNvPr id="5" name="矩形 14">
              <a:extLst>
                <a:ext uri="{FF2B5EF4-FFF2-40B4-BE49-F238E27FC236}">
                  <a16:creationId xmlns:a16="http://schemas.microsoft.com/office/drawing/2014/main" id="{550845A6-90E4-DEA1-A5DE-F18D1E4F2A5B}"/>
                </a:ext>
              </a:extLst>
            </p:cNvPr>
            <p:cNvSpPr/>
            <p:nvPr/>
          </p:nvSpPr>
          <p:spPr>
            <a:xfrm>
              <a:off x="5545385" y="4329500"/>
              <a:ext cx="1955800" cy="1781175"/>
            </a:xfrm>
            <a:prstGeom prst="rect">
              <a:avLst/>
            </a:prstGeom>
            <a:solidFill>
              <a:srgbClr val="8064A2">
                <a:lumMod val="20000"/>
                <a:lumOff val="8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srgbClr val="000000"/>
                  </a:solidFill>
                  <a:effectLst/>
                  <a:uLnTx/>
                  <a:uFillTx/>
                  <a:latin typeface="+mn-lt"/>
                  <a:ea typeface="+mn-ea"/>
                  <a:cs typeface="+mn-cs"/>
                </a:rPr>
                <a:t>程序</a:t>
              </a:r>
              <a:r>
                <a:rPr kumimoji="0" lang="en-US" altLang="zh-CN" sz="2400" b="1" i="0" u="none" strike="noStrike" kern="0" cap="none" spc="0" normalizeH="0" baseline="0" noProof="0" dirty="0">
                  <a:ln>
                    <a:noFill/>
                  </a:ln>
                  <a:solidFill>
                    <a:srgbClr val="000000"/>
                  </a:solidFill>
                  <a:effectLst/>
                  <a:uLnTx/>
                  <a:uFillTx/>
                  <a:latin typeface="+mn-lt"/>
                  <a:ea typeface="+mn-ea"/>
                  <a:cs typeface="+mn-cs"/>
                </a:rPr>
                <a:t> Y</a:t>
              </a:r>
            </a:p>
            <a:p>
              <a:pPr marL="0" marR="0" lvl="0" indent="0" algn="r" defTabSz="91440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srgbClr val="000000"/>
                  </a:solidFill>
                  <a:effectLst/>
                  <a:uLnTx/>
                  <a:uFillTx/>
                  <a:latin typeface="+mn-lt"/>
                  <a:ea typeface="+mn-ea"/>
                  <a:cs typeface="+mn-cs"/>
                </a:rPr>
                <a:t>      ……</a:t>
              </a:r>
            </a:p>
            <a:p>
              <a:pPr marL="0" marR="0" lvl="0" indent="0" algn="r" defTabSz="91440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srgbClr val="000000"/>
                  </a:solidFill>
                  <a:effectLst/>
                  <a:uLnTx/>
                  <a:uFillTx/>
                  <a:latin typeface="+mn-lt"/>
                  <a:ea typeface="+mn-ea"/>
                  <a:cs typeface="+mn-cs"/>
                </a:rPr>
                <a:t>      …… ……</a:t>
              </a:r>
              <a:endParaRPr kumimoji="0" lang="zh-CN" altLang="en-US" sz="2800" b="1" i="0" u="none" strike="noStrike" kern="0" cap="none" spc="0" normalizeH="0" baseline="0" noProof="0" dirty="0">
                <a:ln>
                  <a:noFill/>
                </a:ln>
                <a:solidFill>
                  <a:srgbClr val="000000"/>
                </a:solidFill>
                <a:effectLst/>
                <a:uLnTx/>
                <a:uFillTx/>
                <a:latin typeface="+mn-lt"/>
                <a:ea typeface="+mn-ea"/>
                <a:cs typeface="+mn-cs"/>
              </a:endParaRPr>
            </a:p>
          </p:txBody>
        </p:sp>
        <p:sp>
          <p:nvSpPr>
            <p:cNvPr id="12" name="右箭头 3">
              <a:extLst>
                <a:ext uri="{FF2B5EF4-FFF2-40B4-BE49-F238E27FC236}">
                  <a16:creationId xmlns:a16="http://schemas.microsoft.com/office/drawing/2014/main" id="{E69CA861-38D5-25C5-A348-956CD77E11D4}"/>
                </a:ext>
              </a:extLst>
            </p:cNvPr>
            <p:cNvSpPr/>
            <p:nvPr/>
          </p:nvSpPr>
          <p:spPr>
            <a:xfrm rot="20867627">
              <a:off x="3245957" y="4763067"/>
              <a:ext cx="2204614" cy="431800"/>
            </a:xfrm>
            <a:prstGeom prst="rightArrow">
              <a:avLst/>
            </a:prstGeom>
            <a:solidFill>
              <a:srgbClr val="4F81BD">
                <a:lumMod val="20000"/>
                <a:lumOff val="80000"/>
              </a:srgbClr>
            </a:solidFill>
            <a:ln w="25400" cap="flat" cmpd="sng" algn="ctr">
              <a:solidFill>
                <a:srgbClr val="4F81BD"/>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FFFF"/>
                </a:solidFill>
                <a:effectLst/>
                <a:uLnTx/>
                <a:uFillTx/>
                <a:latin typeface="+mn-lt"/>
                <a:ea typeface="+mn-ea"/>
                <a:cs typeface="+mn-cs"/>
              </a:endParaRPr>
            </a:p>
          </p:txBody>
        </p:sp>
        <p:sp>
          <p:nvSpPr>
            <p:cNvPr id="13" name="文本框 18">
              <a:extLst>
                <a:ext uri="{FF2B5EF4-FFF2-40B4-BE49-F238E27FC236}">
                  <a16:creationId xmlns:a16="http://schemas.microsoft.com/office/drawing/2014/main" id="{E2846BFF-5FB0-7DE9-DC06-AF95955F0422}"/>
                </a:ext>
              </a:extLst>
            </p:cNvPr>
            <p:cNvSpPr txBox="1"/>
            <p:nvPr/>
          </p:nvSpPr>
          <p:spPr>
            <a:xfrm>
              <a:off x="3350205" y="4419405"/>
              <a:ext cx="1955800" cy="369332"/>
            </a:xfrm>
            <a:prstGeom prst="rect">
              <a:avLst/>
            </a:prstGeom>
            <a:noFill/>
          </p:spPr>
          <p:txBody>
            <a:bodyPr wrap="square" rtlCol="0">
              <a:spAutoFit/>
            </a:bodyPr>
            <a:lstStyle/>
            <a:p>
              <a:pPr algn="ctr"/>
              <a:r>
                <a:rPr lang="zh-CN" altLang="en-US" b="1" dirty="0">
                  <a:solidFill>
                    <a:srgbClr val="0432FF"/>
                  </a:solidFill>
                  <a:latin typeface="+mn-lt"/>
                  <a:ea typeface="+mn-ea"/>
                </a:rPr>
                <a:t>过程调用</a:t>
              </a:r>
            </a:p>
          </p:txBody>
        </p:sp>
        <p:sp>
          <p:nvSpPr>
            <p:cNvPr id="18" name="TextBox 22">
              <a:extLst>
                <a:ext uri="{FF2B5EF4-FFF2-40B4-BE49-F238E27FC236}">
                  <a16:creationId xmlns:a16="http://schemas.microsoft.com/office/drawing/2014/main" id="{E812DDBE-D862-0E46-4F07-BA30EBB35A3F}"/>
                </a:ext>
              </a:extLst>
            </p:cNvPr>
            <p:cNvSpPr txBox="1"/>
            <p:nvPr/>
          </p:nvSpPr>
          <p:spPr>
            <a:xfrm>
              <a:off x="1261899" y="3727420"/>
              <a:ext cx="1858201" cy="584775"/>
            </a:xfrm>
            <a:prstGeom prst="rect">
              <a:avLst/>
            </a:prstGeom>
            <a:noFill/>
          </p:spPr>
          <p:txBody>
            <a:bodyPr wrap="none" rtlCol="0">
              <a:spAutoFit/>
            </a:bodyPr>
            <a:lstStyle/>
            <a:p>
              <a:pPr algn="ctr"/>
              <a:r>
                <a:rPr lang="zh-CN" altLang="en-US" sz="3200" b="1" dirty="0">
                  <a:solidFill>
                    <a:srgbClr val="FF3300"/>
                  </a:solidFill>
                  <a:latin typeface="+mn-lt"/>
                  <a:ea typeface="+mn-ea"/>
                </a:rPr>
                <a:t>主调过程</a:t>
              </a:r>
              <a:endParaRPr lang="en-CN" sz="3200" b="1" dirty="0">
                <a:solidFill>
                  <a:srgbClr val="FF3300"/>
                </a:solidFill>
                <a:latin typeface="+mn-lt"/>
                <a:ea typeface="+mn-ea"/>
              </a:endParaRPr>
            </a:p>
          </p:txBody>
        </p:sp>
        <p:sp>
          <p:nvSpPr>
            <p:cNvPr id="22" name="TextBox 23">
              <a:extLst>
                <a:ext uri="{FF2B5EF4-FFF2-40B4-BE49-F238E27FC236}">
                  <a16:creationId xmlns:a16="http://schemas.microsoft.com/office/drawing/2014/main" id="{6B181E83-6BFF-9E56-5F1E-19D54E20072E}"/>
                </a:ext>
              </a:extLst>
            </p:cNvPr>
            <p:cNvSpPr txBox="1"/>
            <p:nvPr/>
          </p:nvSpPr>
          <p:spPr>
            <a:xfrm>
              <a:off x="5594184" y="3727420"/>
              <a:ext cx="1858201" cy="584775"/>
            </a:xfrm>
            <a:prstGeom prst="rect">
              <a:avLst/>
            </a:prstGeom>
            <a:noFill/>
          </p:spPr>
          <p:txBody>
            <a:bodyPr wrap="none" rtlCol="0">
              <a:spAutoFit/>
            </a:bodyPr>
            <a:lstStyle/>
            <a:p>
              <a:pPr algn="ctr"/>
              <a:r>
                <a:rPr lang="zh-CN" altLang="en-US" sz="3200" b="1" dirty="0">
                  <a:solidFill>
                    <a:srgbClr val="7030A0"/>
                  </a:solidFill>
                  <a:latin typeface="+mn-lt"/>
                  <a:ea typeface="+mn-ea"/>
                </a:rPr>
                <a:t>被调过程</a:t>
              </a:r>
              <a:endParaRPr lang="en-CN" sz="3200" b="1" dirty="0">
                <a:solidFill>
                  <a:srgbClr val="7030A0"/>
                </a:solidFill>
                <a:latin typeface="+mn-lt"/>
                <a:ea typeface="+mn-ea"/>
              </a:endParaRPr>
            </a:p>
          </p:txBody>
        </p:sp>
        <p:cxnSp>
          <p:nvCxnSpPr>
            <p:cNvPr id="23" name="Straight Connector 24">
              <a:extLst>
                <a:ext uri="{FF2B5EF4-FFF2-40B4-BE49-F238E27FC236}">
                  <a16:creationId xmlns:a16="http://schemas.microsoft.com/office/drawing/2014/main" id="{DE29ECCE-4C47-E751-8DCF-A1D58EB9DCC8}"/>
                </a:ext>
              </a:extLst>
            </p:cNvPr>
            <p:cNvCxnSpPr>
              <a:cxnSpLocks/>
            </p:cNvCxnSpPr>
            <p:nvPr/>
          </p:nvCxnSpPr>
          <p:spPr>
            <a:xfrm>
              <a:off x="1796325" y="5605595"/>
              <a:ext cx="1242466" cy="0"/>
            </a:xfrm>
            <a:prstGeom prst="line">
              <a:avLst/>
            </a:prstGeom>
            <a:noFill/>
            <a:ln w="25400" cap="flat" cmpd="sng" algn="ctr">
              <a:solidFill>
                <a:srgbClr val="FF0000"/>
              </a:solidFill>
              <a:prstDash val="solid"/>
            </a:ln>
            <a:effectLst>
              <a:outerShdw blurRad="40000" dist="20000" dir="5400000" rotWithShape="0">
                <a:srgbClr val="000000">
                  <a:alpha val="38000"/>
                </a:srgbClr>
              </a:outerShdw>
            </a:effectLst>
          </p:spPr>
        </p:cxnSp>
        <p:cxnSp>
          <p:nvCxnSpPr>
            <p:cNvPr id="24" name="Straight Connector 25">
              <a:extLst>
                <a:ext uri="{FF2B5EF4-FFF2-40B4-BE49-F238E27FC236}">
                  <a16:creationId xmlns:a16="http://schemas.microsoft.com/office/drawing/2014/main" id="{097D8826-6E19-1A65-C4B5-9BC942EEDFFD}"/>
                </a:ext>
              </a:extLst>
            </p:cNvPr>
            <p:cNvCxnSpPr/>
            <p:nvPr/>
          </p:nvCxnSpPr>
          <p:spPr>
            <a:xfrm>
              <a:off x="5742003" y="4813117"/>
              <a:ext cx="1702854" cy="0"/>
            </a:xfrm>
            <a:prstGeom prst="line">
              <a:avLst/>
            </a:prstGeom>
            <a:noFill/>
            <a:ln w="25400" cap="flat" cmpd="sng" algn="ctr">
              <a:solidFill>
                <a:srgbClr val="8064A2"/>
              </a:solidFill>
              <a:prstDash val="solid"/>
            </a:ln>
            <a:effectLst>
              <a:outerShdw blurRad="40000" dist="20000" dir="5400000" rotWithShape="0">
                <a:srgbClr val="000000">
                  <a:alpha val="38000"/>
                </a:srgbClr>
              </a:outerShdw>
            </a:effectLst>
          </p:spPr>
        </p:cxnSp>
        <p:sp>
          <p:nvSpPr>
            <p:cNvPr id="25" name="右箭头 3">
              <a:extLst>
                <a:ext uri="{FF2B5EF4-FFF2-40B4-BE49-F238E27FC236}">
                  <a16:creationId xmlns:a16="http://schemas.microsoft.com/office/drawing/2014/main" id="{C0322D30-1FE7-936C-318F-C3D344A427D6}"/>
                </a:ext>
              </a:extLst>
            </p:cNvPr>
            <p:cNvSpPr/>
            <p:nvPr/>
          </p:nvSpPr>
          <p:spPr>
            <a:xfrm rot="11053447">
              <a:off x="3261892" y="5576280"/>
              <a:ext cx="2204614" cy="431800"/>
            </a:xfrm>
            <a:prstGeom prst="rightArrow">
              <a:avLst/>
            </a:prstGeom>
            <a:solidFill>
              <a:srgbClr val="FFFFFF">
                <a:lumMod val="95000"/>
              </a:srgbClr>
            </a:solidFill>
            <a:ln w="25400" cap="flat" cmpd="sng" algn="ctr">
              <a:solidFill>
                <a:srgbClr val="000000">
                  <a:lumMod val="50000"/>
                  <a:lumOff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FFFF"/>
                </a:solidFill>
                <a:effectLst/>
                <a:uLnTx/>
                <a:uFillTx/>
                <a:latin typeface="+mn-lt"/>
                <a:ea typeface="+mn-ea"/>
                <a:cs typeface="+mn-cs"/>
              </a:endParaRPr>
            </a:p>
          </p:txBody>
        </p:sp>
        <p:sp>
          <p:nvSpPr>
            <p:cNvPr id="26" name="文本框 18">
              <a:extLst>
                <a:ext uri="{FF2B5EF4-FFF2-40B4-BE49-F238E27FC236}">
                  <a16:creationId xmlns:a16="http://schemas.microsoft.com/office/drawing/2014/main" id="{C77A666C-934A-1B35-4115-C9A7CE38BF0E}"/>
                </a:ext>
              </a:extLst>
            </p:cNvPr>
            <p:cNvSpPr txBox="1"/>
            <p:nvPr/>
          </p:nvSpPr>
          <p:spPr>
            <a:xfrm>
              <a:off x="3350205" y="6011995"/>
              <a:ext cx="1955800" cy="369332"/>
            </a:xfrm>
            <a:prstGeom prst="rect">
              <a:avLst/>
            </a:prstGeom>
            <a:noFill/>
          </p:spPr>
          <p:txBody>
            <a:bodyPr wrap="square" rtlCol="0">
              <a:spAutoFit/>
            </a:bodyPr>
            <a:lstStyle/>
            <a:p>
              <a:pPr algn="ctr"/>
              <a:r>
                <a:rPr lang="zh-CN" altLang="en-US" b="1" dirty="0">
                  <a:solidFill>
                    <a:srgbClr val="000000">
                      <a:lumMod val="50000"/>
                      <a:lumOff val="50000"/>
                    </a:srgbClr>
                  </a:solidFill>
                  <a:latin typeface="+mn-lt"/>
                  <a:ea typeface="+mn-ea"/>
                </a:rPr>
                <a:t>返回</a:t>
              </a:r>
            </a:p>
          </p:txBody>
        </p:sp>
      </p:grpSp>
      <p:sp>
        <p:nvSpPr>
          <p:cNvPr id="7" name="矩形 6">
            <a:extLst>
              <a:ext uri="{FF2B5EF4-FFF2-40B4-BE49-F238E27FC236}">
                <a16:creationId xmlns:a16="http://schemas.microsoft.com/office/drawing/2014/main" id="{51792492-0C78-50E3-F3FB-5473AEA32F67}"/>
              </a:ext>
            </a:extLst>
          </p:cNvPr>
          <p:cNvSpPr/>
          <p:nvPr/>
        </p:nvSpPr>
        <p:spPr>
          <a:xfrm>
            <a:off x="3241414" y="4719383"/>
            <a:ext cx="1159292" cy="369332"/>
          </a:xfrm>
          <a:prstGeom prst="rect">
            <a:avLst/>
          </a:prstGeom>
        </p:spPr>
        <p:txBody>
          <a:bodyPr wrap="none">
            <a:spAutoFit/>
          </a:bodyPr>
          <a:lstStyle/>
          <a:p>
            <a:r>
              <a:rPr lang="en-US" altLang="zh-CN" b="1" dirty="0"/>
              <a:t>$a0 - $a3</a:t>
            </a:r>
            <a:endParaRPr lang="zh-CN" altLang="en-US" b="1" dirty="0"/>
          </a:p>
        </p:txBody>
      </p:sp>
      <p:sp>
        <p:nvSpPr>
          <p:cNvPr id="8" name="矩形 7">
            <a:extLst>
              <a:ext uri="{FF2B5EF4-FFF2-40B4-BE49-F238E27FC236}">
                <a16:creationId xmlns:a16="http://schemas.microsoft.com/office/drawing/2014/main" id="{B1FFC22D-2744-39DA-1161-1D9E9D21400F}"/>
              </a:ext>
            </a:extLst>
          </p:cNvPr>
          <p:cNvSpPr/>
          <p:nvPr/>
        </p:nvSpPr>
        <p:spPr>
          <a:xfrm>
            <a:off x="3770927" y="6343709"/>
            <a:ext cx="1159292" cy="369332"/>
          </a:xfrm>
          <a:prstGeom prst="rect">
            <a:avLst/>
          </a:prstGeom>
        </p:spPr>
        <p:txBody>
          <a:bodyPr wrap="none">
            <a:spAutoFit/>
          </a:bodyPr>
          <a:lstStyle/>
          <a:p>
            <a:r>
              <a:rPr lang="en-US" altLang="zh-CN" b="1" dirty="0"/>
              <a:t>$v0 - $v1</a:t>
            </a:r>
            <a:endParaRPr lang="zh-CN" altLang="en-US" b="1" dirty="0"/>
          </a:p>
        </p:txBody>
      </p:sp>
    </p:spTree>
    <p:extLst>
      <p:ext uri="{BB962C8B-B14F-4D97-AF65-F5344CB8AC3E}">
        <p14:creationId xmlns:p14="http://schemas.microsoft.com/office/powerpoint/2010/main" val="239412957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5E3845A9-7E82-4657-B497-16CB36280F3B}"/>
              </a:ext>
            </a:extLst>
          </p:cNvPr>
          <p:cNvSpPr>
            <a:spLocks noGrp="1"/>
          </p:cNvSpPr>
          <p:nvPr>
            <p:ph type="sldNum" sz="quarter" idx="12"/>
          </p:nvPr>
        </p:nvSpPr>
        <p:spPr/>
        <p:txBody>
          <a:bodyPr/>
          <a:lstStyle/>
          <a:p>
            <a:fld id="{176ACFD1-D213-4B9C-817B-45486DBF105A}" type="slidenum">
              <a:rPr lang="en-US" smtClean="0">
                <a:solidFill>
                  <a:prstClr val="black"/>
                </a:solidFill>
              </a:rPr>
              <a:pPr/>
              <a:t>77</a:t>
            </a:fld>
            <a:endParaRPr lang="en-US" dirty="0">
              <a:solidFill>
                <a:prstClr val="black"/>
              </a:solidFill>
            </a:endParaRPr>
          </a:p>
        </p:txBody>
      </p:sp>
      <p:sp>
        <p:nvSpPr>
          <p:cNvPr id="6" name="Content Placeholder 2">
            <a:extLst>
              <a:ext uri="{FF2B5EF4-FFF2-40B4-BE49-F238E27FC236}">
                <a16:creationId xmlns:a16="http://schemas.microsoft.com/office/drawing/2014/main" id="{6191C6B5-9EC6-41CC-9B76-6DE8CEE88038}"/>
              </a:ext>
            </a:extLst>
          </p:cNvPr>
          <p:cNvSpPr>
            <a:spLocks noGrp="1"/>
          </p:cNvSpPr>
          <p:nvPr>
            <p:ph idx="4294967295"/>
          </p:nvPr>
        </p:nvSpPr>
        <p:spPr>
          <a:xfrm>
            <a:off x="457199" y="1407966"/>
            <a:ext cx="8352263" cy="4351338"/>
          </a:xfrm>
        </p:spPr>
        <p:txBody>
          <a:bodyPr/>
          <a:lstStyle/>
          <a:p>
            <a:r>
              <a:rPr lang="zh-CN" altLang="en-US" sz="2800" dirty="0"/>
              <a:t>被调过程调用通过</a:t>
            </a:r>
            <a:r>
              <a:rPr lang="zh-CN" altLang="en-US" sz="2800" b="1" dirty="0">
                <a:solidFill>
                  <a:srgbClr val="0432FF"/>
                </a:solidFill>
              </a:rPr>
              <a:t>跳转与链接指令 </a:t>
            </a:r>
            <a:r>
              <a:rPr lang="en-US" altLang="zh-CN" sz="2800" i="1" dirty="0" err="1">
                <a:latin typeface="Consolas" panose="020B0609020204030204" pitchFamily="49" charset="0"/>
              </a:rPr>
              <a:t>jal</a:t>
            </a:r>
            <a:r>
              <a:rPr lang="en-US" altLang="zh-CN" sz="2800" dirty="0"/>
              <a:t> </a:t>
            </a:r>
            <a:r>
              <a:rPr lang="zh-CN" altLang="en-US" sz="2800" dirty="0"/>
              <a:t>进行</a:t>
            </a:r>
          </a:p>
          <a:p>
            <a:pPr lvl="1">
              <a:buNone/>
            </a:pPr>
            <a:r>
              <a:rPr lang="en-US" altLang="zh-CN" sz="2200" i="1" dirty="0" err="1">
                <a:latin typeface="Consolas" panose="020B0609020204030204" pitchFamily="49" charset="0"/>
              </a:rPr>
              <a:t>jal</a:t>
            </a:r>
            <a:r>
              <a:rPr lang="en-US" altLang="zh-CN" sz="2200" i="1" dirty="0">
                <a:latin typeface="Consolas" panose="020B0609020204030204" pitchFamily="49" charset="0"/>
              </a:rPr>
              <a:t> Procedure</a:t>
            </a:r>
            <a:r>
              <a:rPr lang="zh-CN" altLang="en-US" sz="2200" i="1" dirty="0">
                <a:latin typeface="Consolas" panose="020B0609020204030204" pitchFamily="49" charset="0"/>
              </a:rPr>
              <a:t> </a:t>
            </a:r>
            <a:r>
              <a:rPr lang="en-US" altLang="zh-CN" sz="2200" dirty="0"/>
              <a:t># </a:t>
            </a:r>
            <a:r>
              <a:rPr lang="zh-CN" altLang="en-US" sz="2200" dirty="0"/>
              <a:t>将返回地址</a:t>
            </a:r>
            <a:r>
              <a:rPr lang="en-US" altLang="zh-CN" sz="2200" dirty="0"/>
              <a:t>(PC+4)</a:t>
            </a:r>
            <a:r>
              <a:rPr lang="zh-CN" altLang="en-US" sz="2200" dirty="0"/>
              <a:t>保存在</a:t>
            </a:r>
            <a:r>
              <a:rPr lang="en-US" altLang="zh-CN" sz="2200" dirty="0"/>
              <a:t>$</a:t>
            </a:r>
            <a:r>
              <a:rPr lang="en-US" altLang="zh-CN" sz="2200" dirty="0" err="1"/>
              <a:t>ra</a:t>
            </a:r>
            <a:r>
              <a:rPr lang="zh-CN" altLang="en-US" sz="2200" dirty="0"/>
              <a:t>寄存器中</a:t>
            </a:r>
            <a:endParaRPr lang="en-US" altLang="zh-CN" sz="2200" dirty="0"/>
          </a:p>
          <a:p>
            <a:pPr lvl="1">
              <a:buNone/>
            </a:pPr>
            <a:r>
              <a:rPr lang="zh-CN" altLang="en-US" sz="2200" dirty="0"/>
              <a:t>                            </a:t>
            </a:r>
            <a:r>
              <a:rPr lang="en-US" altLang="zh-CN" sz="2200" dirty="0"/>
              <a:t>#</a:t>
            </a:r>
            <a:r>
              <a:rPr lang="zh-CN" altLang="en-US" sz="2200" dirty="0"/>
              <a:t> 程序跳转到过程</a:t>
            </a:r>
            <a:r>
              <a:rPr lang="en-US" altLang="zh-CN" sz="2200" dirty="0"/>
              <a:t>Procedure</a:t>
            </a:r>
            <a:r>
              <a:rPr lang="zh-CN" altLang="en-US" sz="2200" dirty="0"/>
              <a:t>处执行</a:t>
            </a:r>
            <a:endParaRPr lang="en-US" altLang="zh-CN" sz="2200" dirty="0"/>
          </a:p>
          <a:p>
            <a:pPr lvl="1">
              <a:buNone/>
            </a:pPr>
            <a:r>
              <a:rPr lang="zh-CN" altLang="en-US" sz="2200" dirty="0"/>
              <a:t>	</a:t>
            </a:r>
            <a:endParaRPr lang="en-US" altLang="zh-CN" sz="2200" dirty="0"/>
          </a:p>
          <a:p>
            <a:r>
              <a:rPr lang="zh-CN" altLang="en-US" sz="2800" dirty="0"/>
              <a:t>被调过程返回通过</a:t>
            </a:r>
            <a:r>
              <a:rPr lang="zh-CN" altLang="en-US" sz="2800" b="1" dirty="0">
                <a:solidFill>
                  <a:srgbClr val="0432FF"/>
                </a:solidFill>
              </a:rPr>
              <a:t>寄存器跳转指令 </a:t>
            </a:r>
            <a:r>
              <a:rPr lang="en-US" altLang="zh-CN" sz="2800" i="1" dirty="0" err="1">
                <a:latin typeface="Consolas" panose="020B0609020204030204" pitchFamily="49" charset="0"/>
              </a:rPr>
              <a:t>jr</a:t>
            </a:r>
            <a:r>
              <a:rPr lang="en-US" altLang="zh-CN" sz="2800" dirty="0"/>
              <a:t> </a:t>
            </a:r>
            <a:r>
              <a:rPr lang="zh-CN" altLang="en-US" sz="2800" dirty="0"/>
              <a:t>进行</a:t>
            </a:r>
          </a:p>
          <a:p>
            <a:pPr lvl="1">
              <a:buNone/>
            </a:pPr>
            <a:r>
              <a:rPr lang="en-US" altLang="zh-CN" sz="2200" i="1" dirty="0" err="1">
                <a:latin typeface="Consolas" panose="020B0609020204030204" pitchFamily="49" charset="0"/>
              </a:rPr>
              <a:t>jr</a:t>
            </a:r>
            <a:r>
              <a:rPr lang="en-US" altLang="zh-CN" sz="2200" i="1" dirty="0">
                <a:latin typeface="Consolas" panose="020B0609020204030204" pitchFamily="49" charset="0"/>
              </a:rPr>
              <a:t> $</a:t>
            </a:r>
            <a:r>
              <a:rPr lang="en-US" altLang="zh-CN" sz="2200" i="1" dirty="0" err="1">
                <a:latin typeface="Consolas" panose="020B0609020204030204" pitchFamily="49" charset="0"/>
              </a:rPr>
              <a:t>ra</a:t>
            </a:r>
            <a:r>
              <a:rPr lang="en-US" altLang="zh-CN" sz="2200" i="1" dirty="0">
                <a:latin typeface="Consolas" panose="020B0609020204030204" pitchFamily="49" charset="0"/>
              </a:rPr>
              <a:t>	</a:t>
            </a:r>
            <a:r>
              <a:rPr lang="en-US" altLang="zh-CN" sz="2200" dirty="0"/>
              <a:t>	       # </a:t>
            </a:r>
            <a:r>
              <a:rPr lang="zh-CN" altLang="en-US" sz="2200" dirty="0"/>
              <a:t>跳转到寄存器指定的地址</a:t>
            </a:r>
          </a:p>
        </p:txBody>
      </p:sp>
      <p:sp>
        <p:nvSpPr>
          <p:cNvPr id="5" name="Rectangle 4">
            <a:extLst>
              <a:ext uri="{FF2B5EF4-FFF2-40B4-BE49-F238E27FC236}">
                <a16:creationId xmlns:a16="http://schemas.microsoft.com/office/drawing/2014/main" id="{6BFB082A-E1AE-4334-AD6E-AD541CDB007A}"/>
              </a:ext>
            </a:extLst>
          </p:cNvPr>
          <p:cNvSpPr/>
          <p:nvPr/>
        </p:nvSpPr>
        <p:spPr>
          <a:xfrm>
            <a:off x="1875636" y="4424009"/>
            <a:ext cx="6725920" cy="461665"/>
          </a:xfrm>
          <a:prstGeom prst="rect">
            <a:avLst/>
          </a:prstGeom>
        </p:spPr>
        <p:txBody>
          <a:bodyPr wrap="square">
            <a:spAutoFit/>
          </a:bodyPr>
          <a:lstStyle/>
          <a:p>
            <a:pPr lvl="1">
              <a:buNone/>
            </a:pPr>
            <a:r>
              <a:rPr lang="zh-CN" altLang="en-US" sz="2200" b="1" dirty="0">
                <a:solidFill>
                  <a:srgbClr val="0432FF"/>
                </a:solidFill>
                <a:latin typeface="+mj-ea"/>
                <a:ea typeface="+mj-ea"/>
                <a:cs typeface="Arial" panose="020B0604020202020204" pitchFamily="34" charset="0"/>
              </a:rPr>
              <a:t>问题：</a:t>
            </a:r>
            <a:r>
              <a:rPr lang="en-US" altLang="zh-CN" sz="2200" b="1" dirty="0" err="1">
                <a:solidFill>
                  <a:srgbClr val="0432FF"/>
                </a:solidFill>
                <a:latin typeface="+mj-ea"/>
                <a:ea typeface="+mj-ea"/>
                <a:cs typeface="Arial" panose="020B0604020202020204" pitchFamily="34" charset="0"/>
              </a:rPr>
              <a:t>jal</a:t>
            </a:r>
            <a:r>
              <a:rPr lang="en-US" altLang="zh-CN" sz="2200" b="1" dirty="0">
                <a:solidFill>
                  <a:srgbClr val="0432FF"/>
                </a:solidFill>
                <a:latin typeface="+mj-ea"/>
                <a:ea typeface="+mj-ea"/>
                <a:cs typeface="Arial" panose="020B0604020202020204" pitchFamily="34" charset="0"/>
              </a:rPr>
              <a:t>/</a:t>
            </a:r>
            <a:r>
              <a:rPr lang="en-US" altLang="zh-CN" sz="2200" b="1" dirty="0" err="1">
                <a:solidFill>
                  <a:srgbClr val="0432FF"/>
                </a:solidFill>
                <a:latin typeface="+mj-ea"/>
                <a:ea typeface="+mj-ea"/>
                <a:cs typeface="Arial" panose="020B0604020202020204" pitchFamily="34" charset="0"/>
              </a:rPr>
              <a:t>jr</a:t>
            </a:r>
            <a:r>
              <a:rPr lang="zh-CN" altLang="en-US" sz="2200" b="1" dirty="0">
                <a:solidFill>
                  <a:srgbClr val="0432FF"/>
                </a:solidFill>
                <a:latin typeface="+mj-ea"/>
                <a:ea typeface="+mj-ea"/>
                <a:cs typeface="Arial" panose="020B0604020202020204" pitchFamily="34" charset="0"/>
              </a:rPr>
              <a:t>为什么不使用跳转指令</a:t>
            </a:r>
            <a:r>
              <a:rPr lang="en-US" altLang="zh-CN" sz="2400" b="1" i="1" dirty="0">
                <a:solidFill>
                  <a:srgbClr val="0432FF"/>
                </a:solidFill>
                <a:latin typeface="Consolas" panose="020B0609020204030204" pitchFamily="49" charset="0"/>
                <a:ea typeface="+mj-ea"/>
              </a:rPr>
              <a:t>j</a:t>
            </a:r>
            <a:r>
              <a:rPr lang="zh-CN" altLang="en-US" sz="2400" b="1" dirty="0">
                <a:solidFill>
                  <a:srgbClr val="0432FF"/>
                </a:solidFill>
                <a:latin typeface="+mj-ea"/>
                <a:ea typeface="+mj-ea"/>
              </a:rPr>
              <a:t>？</a:t>
            </a:r>
            <a:endParaRPr lang="en-US" altLang="zh-CN" sz="2400" b="1" dirty="0">
              <a:solidFill>
                <a:srgbClr val="0432FF"/>
              </a:solidFill>
              <a:latin typeface="+mj-ea"/>
              <a:ea typeface="+mj-ea"/>
            </a:endParaRPr>
          </a:p>
        </p:txBody>
      </p:sp>
      <p:sp>
        <p:nvSpPr>
          <p:cNvPr id="7" name="Rectangle 6">
            <a:extLst>
              <a:ext uri="{FF2B5EF4-FFF2-40B4-BE49-F238E27FC236}">
                <a16:creationId xmlns:a16="http://schemas.microsoft.com/office/drawing/2014/main" id="{935FA371-19C4-4898-B0D3-1B0E7A34E73C}"/>
              </a:ext>
            </a:extLst>
          </p:cNvPr>
          <p:cNvSpPr/>
          <p:nvPr/>
        </p:nvSpPr>
        <p:spPr>
          <a:xfrm>
            <a:off x="2537830" y="5034535"/>
            <a:ext cx="4191000" cy="830997"/>
          </a:xfrm>
          <a:prstGeom prst="rect">
            <a:avLst/>
          </a:prstGeom>
        </p:spPr>
        <p:txBody>
          <a:bodyPr wrap="square">
            <a:spAutoFit/>
          </a:bodyPr>
          <a:lstStyle/>
          <a:p>
            <a:pPr marL="800100" lvl="1" indent="-342900" algn="l">
              <a:buFont typeface="Arial" panose="020B0604020202020204" pitchFamily="34" charset="0"/>
              <a:buChar char="•"/>
            </a:pPr>
            <a:r>
              <a:rPr lang="en-US" altLang="zh-CN" sz="2400" b="1" i="1" dirty="0">
                <a:solidFill>
                  <a:srgbClr val="7030A0"/>
                </a:solidFill>
                <a:latin typeface="Consolas" panose="020B0609020204030204" pitchFamily="49" charset="0"/>
                <a:ea typeface="+mj-ea"/>
              </a:rPr>
              <a:t>j</a:t>
            </a:r>
            <a:r>
              <a:rPr kumimoji="1" lang="en-US" altLang="zh-CN" sz="2400" b="1" dirty="0">
                <a:solidFill>
                  <a:srgbClr val="7030A0"/>
                </a:solidFill>
                <a:latin typeface="Arial" panose="020B0604020202020204" pitchFamily="34" charset="0"/>
                <a:cs typeface="Arial" panose="020B0604020202020204" pitchFamily="34" charset="0"/>
              </a:rPr>
              <a:t> </a:t>
            </a:r>
            <a:r>
              <a:rPr kumimoji="1" lang="zh-CN" altLang="en-US" sz="2400" b="1" dirty="0">
                <a:solidFill>
                  <a:srgbClr val="7030A0"/>
                </a:solidFill>
                <a:latin typeface="+mj-ea"/>
                <a:ea typeface="+mj-ea"/>
                <a:cs typeface="Arial" panose="020B0604020202020204" pitchFamily="34" charset="0"/>
              </a:rPr>
              <a:t>不保存返回地址；</a:t>
            </a:r>
            <a:endParaRPr kumimoji="1" lang="en-US" altLang="zh-CN" sz="2400" b="1" dirty="0">
              <a:solidFill>
                <a:srgbClr val="7030A0"/>
              </a:solidFill>
              <a:latin typeface="+mj-ea"/>
              <a:ea typeface="+mj-ea"/>
              <a:cs typeface="Arial" panose="020B0604020202020204" pitchFamily="34" charset="0"/>
            </a:endParaRPr>
          </a:p>
          <a:p>
            <a:pPr marL="800100" lvl="1" indent="-342900" algn="l">
              <a:buFont typeface="Arial" panose="020B0604020202020204" pitchFamily="34" charset="0"/>
              <a:buChar char="•"/>
            </a:pPr>
            <a:r>
              <a:rPr lang="en-US" altLang="zh-CN" sz="2400" b="1" i="1" dirty="0">
                <a:solidFill>
                  <a:srgbClr val="7030A0"/>
                </a:solidFill>
                <a:latin typeface="Consolas" panose="020B0609020204030204" pitchFamily="49" charset="0"/>
                <a:ea typeface="+mj-ea"/>
              </a:rPr>
              <a:t>j</a:t>
            </a:r>
            <a:r>
              <a:rPr kumimoji="1" lang="en-US" altLang="zh-CN" sz="2400" b="1" dirty="0">
                <a:solidFill>
                  <a:srgbClr val="7030A0"/>
                </a:solidFill>
                <a:latin typeface="+mj-ea"/>
                <a:ea typeface="+mj-ea"/>
                <a:cs typeface="Arial" panose="020B0604020202020204" pitchFamily="34" charset="0"/>
              </a:rPr>
              <a:t> </a:t>
            </a:r>
            <a:r>
              <a:rPr kumimoji="1" lang="zh-CN" altLang="en-US" sz="2400" b="1" dirty="0">
                <a:solidFill>
                  <a:srgbClr val="7030A0"/>
                </a:solidFill>
                <a:latin typeface="+mj-ea"/>
                <a:ea typeface="+mj-ea"/>
                <a:cs typeface="Arial" panose="020B0604020202020204" pitchFamily="34" charset="0"/>
              </a:rPr>
              <a:t>跳转范围不如</a:t>
            </a:r>
            <a:r>
              <a:rPr lang="en-US" altLang="zh-CN" sz="2400" b="1" i="1" dirty="0" err="1">
                <a:solidFill>
                  <a:srgbClr val="7030A0"/>
                </a:solidFill>
                <a:latin typeface="Consolas" panose="020B0609020204030204" pitchFamily="49" charset="0"/>
                <a:ea typeface="+mj-ea"/>
              </a:rPr>
              <a:t>jr</a:t>
            </a:r>
            <a:endParaRPr kumimoji="1" lang="en-US" altLang="zh-CN" sz="2400" b="1" dirty="0">
              <a:solidFill>
                <a:srgbClr val="7030A0"/>
              </a:solidFill>
              <a:latin typeface="+mj-ea"/>
              <a:ea typeface="+mj-ea"/>
              <a:cs typeface="Arial" panose="020B0604020202020204" pitchFamily="34" charset="0"/>
            </a:endParaRP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E4B46CAA-ECC1-2E4F-9569-AA81C74F4560}"/>
                  </a:ext>
                </a:extLst>
              </p14:cNvPr>
              <p14:cNvContentPartPr/>
              <p14:nvPr/>
            </p14:nvContentPartPr>
            <p14:xfrm>
              <a:off x="8394480" y="4064040"/>
              <a:ext cx="360" cy="360"/>
            </p14:xfrm>
          </p:contentPart>
        </mc:Choice>
        <mc:Fallback xmlns="">
          <p:pic>
            <p:nvPicPr>
              <p:cNvPr id="3" name="Ink 2">
                <a:extLst>
                  <a:ext uri="{FF2B5EF4-FFF2-40B4-BE49-F238E27FC236}">
                    <a16:creationId xmlns:a16="http://schemas.microsoft.com/office/drawing/2014/main" id="{E4B46CAA-ECC1-2E4F-9569-AA81C74F4560}"/>
                  </a:ext>
                </a:extLst>
              </p:cNvPr>
              <p:cNvPicPr/>
              <p:nvPr/>
            </p:nvPicPr>
            <p:blipFill>
              <a:blip r:embed="rId3"/>
              <a:stretch>
                <a:fillRect/>
              </a:stretch>
            </p:blipFill>
            <p:spPr>
              <a:xfrm>
                <a:off x="8385120" y="4054680"/>
                <a:ext cx="19080" cy="19080"/>
              </a:xfrm>
              <a:prstGeom prst="rect">
                <a:avLst/>
              </a:prstGeom>
            </p:spPr>
          </p:pic>
        </mc:Fallback>
      </mc:AlternateContent>
      <p:sp>
        <p:nvSpPr>
          <p:cNvPr id="8" name="Title 4">
            <a:extLst>
              <a:ext uri="{FF2B5EF4-FFF2-40B4-BE49-F238E27FC236}">
                <a16:creationId xmlns:a16="http://schemas.microsoft.com/office/drawing/2014/main" id="{53132C2C-D634-8102-113B-A623B77D282C}"/>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sz="4000" dirty="0"/>
              <a:t>过程调用</a:t>
            </a:r>
            <a:endParaRPr lang="en-CN" kern="0" dirty="0"/>
          </a:p>
        </p:txBody>
      </p:sp>
    </p:spTree>
    <p:extLst>
      <p:ext uri="{BB962C8B-B14F-4D97-AF65-F5344CB8AC3E}">
        <p14:creationId xmlns:p14="http://schemas.microsoft.com/office/powerpoint/2010/main" val="4252606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5E3845A9-7E82-4657-B497-16CB36280F3B}"/>
              </a:ext>
            </a:extLst>
          </p:cNvPr>
          <p:cNvSpPr>
            <a:spLocks noGrp="1"/>
          </p:cNvSpPr>
          <p:nvPr>
            <p:ph type="sldNum" sz="quarter" idx="12"/>
          </p:nvPr>
        </p:nvSpPr>
        <p:spPr/>
        <p:txBody>
          <a:bodyPr/>
          <a:lstStyle/>
          <a:p>
            <a:fld id="{176ACFD1-D213-4B9C-817B-45486DBF105A}" type="slidenum">
              <a:rPr lang="en-US" smtClean="0">
                <a:solidFill>
                  <a:prstClr val="black"/>
                </a:solidFill>
                <a:latin typeface="+mj-ea"/>
                <a:ea typeface="+mj-ea"/>
              </a:rPr>
              <a:pPr/>
              <a:t>78</a:t>
            </a:fld>
            <a:endParaRPr lang="en-US">
              <a:solidFill>
                <a:prstClr val="black"/>
              </a:solidFill>
              <a:latin typeface="+mj-ea"/>
              <a:ea typeface="+mj-ea"/>
            </a:endParaRPr>
          </a:p>
        </p:txBody>
      </p:sp>
      <p:sp>
        <p:nvSpPr>
          <p:cNvPr id="13" name="Content Placeholder 2">
            <a:extLst>
              <a:ext uri="{FF2B5EF4-FFF2-40B4-BE49-F238E27FC236}">
                <a16:creationId xmlns:a16="http://schemas.microsoft.com/office/drawing/2014/main" id="{03BDA437-0958-4393-B2F3-B41F337F661A}"/>
              </a:ext>
            </a:extLst>
          </p:cNvPr>
          <p:cNvSpPr>
            <a:spLocks noGrp="1"/>
          </p:cNvSpPr>
          <p:nvPr>
            <p:ph idx="4294967295"/>
          </p:nvPr>
        </p:nvSpPr>
        <p:spPr>
          <a:xfrm>
            <a:off x="457200" y="1357274"/>
            <a:ext cx="8140390" cy="4351338"/>
          </a:xfrm>
        </p:spPr>
        <p:txBody>
          <a:bodyPr/>
          <a:lstStyle/>
          <a:p>
            <a:r>
              <a:rPr kumimoji="1" lang="en-US" altLang="zh-CN" sz="2800" i="1" dirty="0" err="1">
                <a:latin typeface="Consolas" panose="020B0609020204030204" pitchFamily="49" charset="0"/>
              </a:rPr>
              <a:t>jal</a:t>
            </a:r>
            <a:r>
              <a:rPr kumimoji="1" lang="en-US" altLang="zh-CN" sz="2800" dirty="0"/>
              <a:t> </a:t>
            </a:r>
            <a:r>
              <a:rPr kumimoji="1" lang="zh-CN" altLang="en-US" sz="2800" dirty="0"/>
              <a:t>和 </a:t>
            </a:r>
            <a:r>
              <a:rPr kumimoji="1" lang="en-US" altLang="zh-CN" sz="2800" i="1" dirty="0">
                <a:latin typeface="Consolas" panose="020B0609020204030204" pitchFamily="49" charset="0"/>
              </a:rPr>
              <a:t>j</a:t>
            </a:r>
            <a:r>
              <a:rPr kumimoji="1" lang="zh-CN" altLang="en-US" sz="2800" dirty="0"/>
              <a:t>：</a:t>
            </a:r>
            <a:endParaRPr kumimoji="1" lang="en-US" altLang="zh-CN" sz="2800" dirty="0"/>
          </a:p>
          <a:p>
            <a:pPr lvl="1"/>
            <a:r>
              <a:rPr kumimoji="1" lang="en-US" altLang="zh-CN" sz="2400" i="1" dirty="0">
                <a:latin typeface="Consolas" panose="020B0609020204030204" pitchFamily="49" charset="0"/>
              </a:rPr>
              <a:t>j</a:t>
            </a:r>
            <a:r>
              <a:rPr kumimoji="1" lang="zh-CN" altLang="en-US" sz="2400" dirty="0"/>
              <a:t>只跳转，不保存目标地址</a:t>
            </a:r>
            <a:endParaRPr kumimoji="1" lang="en-US" altLang="zh-CN" sz="2400" dirty="0"/>
          </a:p>
          <a:p>
            <a:pPr lvl="1"/>
            <a:r>
              <a:rPr kumimoji="1" lang="zh-CN" altLang="en-US" sz="2400" dirty="0"/>
              <a:t>两者都属于</a:t>
            </a:r>
            <a:r>
              <a:rPr kumimoji="1" lang="en-US" altLang="zh-CN" sz="2400" dirty="0"/>
              <a:t>J</a:t>
            </a:r>
            <a:r>
              <a:rPr kumimoji="1" lang="zh-CN" altLang="en-US" sz="2400" dirty="0"/>
              <a:t>型指令</a:t>
            </a:r>
            <a:endParaRPr kumimoji="1" lang="en-US" altLang="zh-CN" sz="2400" dirty="0"/>
          </a:p>
          <a:p>
            <a:pPr lvl="1"/>
            <a:endParaRPr kumimoji="1" lang="en-US" altLang="zh-CN" sz="2400" dirty="0"/>
          </a:p>
          <a:p>
            <a:r>
              <a:rPr kumimoji="1" lang="en-US" altLang="zh-CN" sz="2800" i="1" dirty="0">
                <a:latin typeface="Consolas" panose="020B0609020204030204" pitchFamily="49" charset="0"/>
              </a:rPr>
              <a:t>jr</a:t>
            </a:r>
            <a:r>
              <a:rPr kumimoji="1" lang="zh-CN" altLang="en-US" sz="2800" dirty="0"/>
              <a:t>属于</a:t>
            </a:r>
            <a:r>
              <a:rPr kumimoji="1" lang="en-US" altLang="zh-CN" sz="2800" dirty="0"/>
              <a:t>R</a:t>
            </a:r>
            <a:r>
              <a:rPr kumimoji="1" lang="zh-CN" altLang="en-US" sz="2800" dirty="0"/>
              <a:t>型指令，跳转到</a:t>
            </a:r>
            <a:r>
              <a:rPr kumimoji="1" lang="zh-CN" altLang="en-US" sz="2800" b="1" dirty="0">
                <a:solidFill>
                  <a:srgbClr val="0432FF"/>
                </a:solidFill>
              </a:rPr>
              <a:t>寄存器中保存</a:t>
            </a:r>
            <a:r>
              <a:rPr kumimoji="1" lang="zh-CN" altLang="en-US" sz="2800" dirty="0"/>
              <a:t>的地址</a:t>
            </a:r>
            <a:endParaRPr kumimoji="1" lang="en-US" altLang="zh-CN" sz="2800" dirty="0"/>
          </a:p>
          <a:p>
            <a:r>
              <a:rPr kumimoji="1" lang="en-US" altLang="zh-CN" sz="2800" i="1" dirty="0">
                <a:latin typeface="Consolas" panose="020B0609020204030204" pitchFamily="49" charset="0"/>
              </a:rPr>
              <a:t>j</a:t>
            </a:r>
            <a:r>
              <a:rPr kumimoji="1" lang="zh-CN" altLang="en-US" sz="2800" dirty="0"/>
              <a:t>属于</a:t>
            </a:r>
            <a:r>
              <a:rPr kumimoji="1" lang="en-US" altLang="zh-CN" sz="2800" dirty="0"/>
              <a:t>J</a:t>
            </a:r>
            <a:r>
              <a:rPr kumimoji="1" lang="zh-CN" altLang="en-US" sz="2800" dirty="0"/>
              <a:t>型指令，跳转到一定范围内的目标地址</a:t>
            </a:r>
          </a:p>
        </p:txBody>
      </p:sp>
      <p:sp>
        <p:nvSpPr>
          <p:cNvPr id="3" name="Title 4">
            <a:extLst>
              <a:ext uri="{FF2B5EF4-FFF2-40B4-BE49-F238E27FC236}">
                <a16:creationId xmlns:a16="http://schemas.microsoft.com/office/drawing/2014/main" id="{3D57E347-874D-D1B4-1C41-C963A8CF4D2C}"/>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en-US" altLang="zh-CN" sz="4000" dirty="0"/>
              <a:t>j</a:t>
            </a:r>
            <a:r>
              <a:rPr lang="zh-CN" altLang="en-US" sz="4000" dirty="0"/>
              <a:t>、</a:t>
            </a:r>
            <a:r>
              <a:rPr lang="en-US" altLang="zh-CN" sz="4000" dirty="0" err="1"/>
              <a:t>jr</a:t>
            </a:r>
            <a:r>
              <a:rPr lang="zh-CN" altLang="en-US" sz="4000" dirty="0"/>
              <a:t>、</a:t>
            </a:r>
            <a:r>
              <a:rPr lang="en-US" altLang="zh-CN" sz="4000" dirty="0" err="1"/>
              <a:t>jal</a:t>
            </a:r>
            <a:r>
              <a:rPr lang="zh-CN" altLang="en-US" sz="4000" dirty="0"/>
              <a:t>指令（细节）</a:t>
            </a:r>
            <a:endParaRPr lang="en-CN" kern="0" dirty="0"/>
          </a:p>
        </p:txBody>
      </p:sp>
    </p:spTree>
    <p:extLst>
      <p:ext uri="{BB962C8B-B14F-4D97-AF65-F5344CB8AC3E}">
        <p14:creationId xmlns:p14="http://schemas.microsoft.com/office/powerpoint/2010/main" val="279486876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5E3845A9-7E82-4657-B497-16CB36280F3B}"/>
              </a:ext>
            </a:extLst>
          </p:cNvPr>
          <p:cNvSpPr>
            <a:spLocks noGrp="1"/>
          </p:cNvSpPr>
          <p:nvPr>
            <p:ph type="sldNum" sz="quarter" idx="12"/>
          </p:nvPr>
        </p:nvSpPr>
        <p:spPr/>
        <p:txBody>
          <a:bodyPr/>
          <a:lstStyle/>
          <a:p>
            <a:fld id="{176ACFD1-D213-4B9C-817B-45486DBF105A}" type="slidenum">
              <a:rPr lang="en-US" smtClean="0">
                <a:solidFill>
                  <a:prstClr val="black"/>
                </a:solidFill>
                <a:latin typeface="+mj-ea"/>
                <a:ea typeface="+mj-ea"/>
              </a:rPr>
              <a:pPr/>
              <a:t>79</a:t>
            </a:fld>
            <a:endParaRPr lang="en-US" dirty="0">
              <a:solidFill>
                <a:prstClr val="black"/>
              </a:solidFill>
              <a:latin typeface="+mj-ea"/>
              <a:ea typeface="+mj-ea"/>
            </a:endParaRPr>
          </a:p>
        </p:txBody>
      </p:sp>
      <p:grpSp>
        <p:nvGrpSpPr>
          <p:cNvPr id="6" name="Group 5">
            <a:extLst>
              <a:ext uri="{FF2B5EF4-FFF2-40B4-BE49-F238E27FC236}">
                <a16:creationId xmlns:a16="http://schemas.microsoft.com/office/drawing/2014/main" id="{FCFB051B-0697-9E45-8D77-3914F71A6119}"/>
              </a:ext>
            </a:extLst>
          </p:cNvPr>
          <p:cNvGrpSpPr/>
          <p:nvPr/>
        </p:nvGrpSpPr>
        <p:grpSpPr>
          <a:xfrm>
            <a:off x="200082" y="1777774"/>
            <a:ext cx="8743836" cy="1985397"/>
            <a:chOff x="228600" y="1380315"/>
            <a:chExt cx="8743836" cy="1985397"/>
          </a:xfrm>
        </p:grpSpPr>
        <p:pic>
          <p:nvPicPr>
            <p:cNvPr id="1026" name="Picture 2" descr="Image result for table books icon">
              <a:extLst>
                <a:ext uri="{FF2B5EF4-FFF2-40B4-BE49-F238E27FC236}">
                  <a16:creationId xmlns:a16="http://schemas.microsoft.com/office/drawing/2014/main" id="{C83E4A19-91A2-3143-B99A-2041AC6B1DB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3104" b="13595"/>
            <a:stretch/>
          </p:blipFill>
          <p:spPr bwMode="auto">
            <a:xfrm>
              <a:off x="228600" y="1380315"/>
              <a:ext cx="2641600" cy="193632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mage result for table dinner icon">
              <a:extLst>
                <a:ext uri="{FF2B5EF4-FFF2-40B4-BE49-F238E27FC236}">
                  <a16:creationId xmlns:a16="http://schemas.microsoft.com/office/drawing/2014/main" id="{7C2578CB-9AAF-DF4D-A846-5D0C76832F7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9798" b="10911"/>
            <a:stretch/>
          </p:blipFill>
          <p:spPr bwMode="auto">
            <a:xfrm>
              <a:off x="3470602" y="1429384"/>
              <a:ext cx="2350712" cy="1863893"/>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Image result for table books icon">
              <a:extLst>
                <a:ext uri="{FF2B5EF4-FFF2-40B4-BE49-F238E27FC236}">
                  <a16:creationId xmlns:a16="http://schemas.microsoft.com/office/drawing/2014/main" id="{0936890D-BCDC-A244-8001-1C2ACD1C951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3104" b="13595"/>
            <a:stretch/>
          </p:blipFill>
          <p:spPr bwMode="auto">
            <a:xfrm>
              <a:off x="6330836" y="1429384"/>
              <a:ext cx="2641600" cy="1936328"/>
            </a:xfrm>
            <a:prstGeom prst="rect">
              <a:avLst/>
            </a:prstGeom>
            <a:noFill/>
            <a:extLst>
              <a:ext uri="{909E8E84-426E-40DD-AFC4-6F175D3DCCD1}">
                <a14:hiddenFill xmlns:a14="http://schemas.microsoft.com/office/drawing/2010/main">
                  <a:solidFill>
                    <a:srgbClr val="FFFFFF"/>
                  </a:solidFill>
                </a14:hiddenFill>
              </a:ext>
            </a:extLst>
          </p:spPr>
        </p:pic>
        <p:sp>
          <p:nvSpPr>
            <p:cNvPr id="3" name="Right Arrow 2">
              <a:extLst>
                <a:ext uri="{FF2B5EF4-FFF2-40B4-BE49-F238E27FC236}">
                  <a16:creationId xmlns:a16="http://schemas.microsoft.com/office/drawing/2014/main" id="{D529B755-9708-8545-B8EF-4F7C0469733B}"/>
                </a:ext>
              </a:extLst>
            </p:cNvPr>
            <p:cNvSpPr/>
            <p:nvPr/>
          </p:nvSpPr>
          <p:spPr>
            <a:xfrm>
              <a:off x="5846397" y="2164276"/>
              <a:ext cx="475364" cy="417263"/>
            </a:xfrm>
            <a:prstGeom prst="rightArrow">
              <a:avLst/>
            </a:prstGeom>
            <a:noFill/>
          </p:spPr>
          <p:style>
            <a:lnRef idx="2">
              <a:schemeClr val="dk1"/>
            </a:lnRef>
            <a:fillRef idx="1">
              <a:schemeClr val="lt1"/>
            </a:fillRef>
            <a:effectRef idx="0">
              <a:schemeClr val="dk1"/>
            </a:effectRef>
            <a:fontRef idx="minor">
              <a:schemeClr val="dk1"/>
            </a:fontRef>
          </p:style>
          <p:txBody>
            <a:bodyPr wrap="square" rtlCol="0" anchor="ctr">
              <a:noAutofit/>
            </a:bodyPr>
            <a:lstStyle/>
            <a:p>
              <a:pPr algn="l"/>
              <a:endParaRPr lang="en-CN" sz="1800" dirty="0">
                <a:solidFill>
                  <a:schemeClr val="tx1"/>
                </a:solidFill>
                <a:latin typeface="Arial" panose="020B0604020202020204" pitchFamily="34" charset="0"/>
                <a:cs typeface="Arial" panose="020B0604020202020204" pitchFamily="34" charset="0"/>
              </a:endParaRPr>
            </a:p>
          </p:txBody>
        </p:sp>
        <p:sp>
          <p:nvSpPr>
            <p:cNvPr id="16" name="Right Arrow 15">
              <a:extLst>
                <a:ext uri="{FF2B5EF4-FFF2-40B4-BE49-F238E27FC236}">
                  <a16:creationId xmlns:a16="http://schemas.microsoft.com/office/drawing/2014/main" id="{B70109E9-2724-8746-9652-44000A53D7C0}"/>
                </a:ext>
              </a:extLst>
            </p:cNvPr>
            <p:cNvSpPr/>
            <p:nvPr/>
          </p:nvSpPr>
          <p:spPr>
            <a:xfrm>
              <a:off x="2941283" y="2164275"/>
              <a:ext cx="475364" cy="417263"/>
            </a:xfrm>
            <a:prstGeom prst="rightArrow">
              <a:avLst/>
            </a:prstGeom>
            <a:noFill/>
          </p:spPr>
          <p:style>
            <a:lnRef idx="2">
              <a:schemeClr val="dk1"/>
            </a:lnRef>
            <a:fillRef idx="1">
              <a:schemeClr val="lt1"/>
            </a:fillRef>
            <a:effectRef idx="0">
              <a:schemeClr val="dk1"/>
            </a:effectRef>
            <a:fontRef idx="minor">
              <a:schemeClr val="dk1"/>
            </a:fontRef>
          </p:style>
          <p:txBody>
            <a:bodyPr wrap="square" rtlCol="0" anchor="ctr">
              <a:noAutofit/>
            </a:bodyPr>
            <a:lstStyle/>
            <a:p>
              <a:pPr algn="l"/>
              <a:endParaRPr lang="en-CN" sz="1800" dirty="0">
                <a:solidFill>
                  <a:schemeClr val="tx1"/>
                </a:solidFill>
                <a:latin typeface="Arial" panose="020B0604020202020204" pitchFamily="34" charset="0"/>
                <a:cs typeface="Arial" panose="020B0604020202020204" pitchFamily="34" charset="0"/>
              </a:endParaRPr>
            </a:p>
          </p:txBody>
        </p:sp>
      </p:grpSp>
      <p:sp>
        <p:nvSpPr>
          <p:cNvPr id="15" name="TextBox 14">
            <a:extLst>
              <a:ext uri="{FF2B5EF4-FFF2-40B4-BE49-F238E27FC236}">
                <a16:creationId xmlns:a16="http://schemas.microsoft.com/office/drawing/2014/main" id="{1D6F1134-BE0F-BA4A-8640-EEF2C7FCC5C2}"/>
              </a:ext>
            </a:extLst>
          </p:cNvPr>
          <p:cNvSpPr txBox="1"/>
          <p:nvPr/>
        </p:nvSpPr>
        <p:spPr>
          <a:xfrm>
            <a:off x="922392" y="4454881"/>
            <a:ext cx="7879080" cy="707886"/>
          </a:xfrm>
          <a:prstGeom prst="rect">
            <a:avLst/>
          </a:prstGeom>
          <a:noFill/>
        </p:spPr>
        <p:txBody>
          <a:bodyPr wrap="none" rtlCol="0">
            <a:spAutoFit/>
          </a:bodyPr>
          <a:lstStyle/>
          <a:p>
            <a:r>
              <a:rPr lang="zh-CN" altLang="en-US" sz="4000" b="1" dirty="0">
                <a:solidFill>
                  <a:srgbClr val="0432FF"/>
                </a:solidFill>
                <a:latin typeface="+mj-ea"/>
                <a:ea typeface="+mj-ea"/>
              </a:rPr>
              <a:t>我们需要保存未完成的任务进度！</a:t>
            </a:r>
            <a:endParaRPr lang="en-CN" sz="4000" b="1" dirty="0">
              <a:solidFill>
                <a:srgbClr val="0432FF"/>
              </a:solidFill>
              <a:latin typeface="+mj-ea"/>
              <a:ea typeface="+mj-ea"/>
            </a:endParaRPr>
          </a:p>
        </p:txBody>
      </p:sp>
      <p:sp>
        <p:nvSpPr>
          <p:cNvPr id="5" name="Title 4">
            <a:extLst>
              <a:ext uri="{FF2B5EF4-FFF2-40B4-BE49-F238E27FC236}">
                <a16:creationId xmlns:a16="http://schemas.microsoft.com/office/drawing/2014/main" id="{A6CDD51E-3F9F-4F9A-5123-3AA50EE7F92F}"/>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sz="4000" dirty="0">
                <a:latin typeface="+mj-ea"/>
                <a:ea typeface="+mj-ea"/>
              </a:rPr>
              <a:t>保存其他寄存器数据？</a:t>
            </a:r>
            <a:endParaRPr lang="en-CN" kern="0" dirty="0"/>
          </a:p>
        </p:txBody>
      </p:sp>
    </p:spTree>
    <p:extLst>
      <p:ext uri="{BB962C8B-B14F-4D97-AF65-F5344CB8AC3E}">
        <p14:creationId xmlns:p14="http://schemas.microsoft.com/office/powerpoint/2010/main" val="3042389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5E3845A9-7E82-4657-B497-16CB36280F3B}"/>
              </a:ext>
            </a:extLst>
          </p:cNvPr>
          <p:cNvSpPr>
            <a:spLocks noGrp="1"/>
          </p:cNvSpPr>
          <p:nvPr>
            <p:ph type="sldNum" sz="quarter" idx="12"/>
          </p:nvPr>
        </p:nvSpPr>
        <p:spPr/>
        <p:txBody>
          <a:bodyPr/>
          <a:lstStyle/>
          <a:p>
            <a:fld id="{176ACFD1-D213-4B9C-817B-45486DBF105A}" type="slidenum">
              <a:rPr lang="en-US" smtClean="0">
                <a:solidFill>
                  <a:prstClr val="black"/>
                </a:solidFill>
              </a:rPr>
              <a:pPr/>
              <a:t>80</a:t>
            </a:fld>
            <a:endParaRPr lang="en-US" dirty="0">
              <a:solidFill>
                <a:prstClr val="black"/>
              </a:solidFill>
            </a:endParaRPr>
          </a:p>
        </p:txBody>
      </p:sp>
      <p:sp>
        <p:nvSpPr>
          <p:cNvPr id="7" name="Content Placeholder 6">
            <a:extLst>
              <a:ext uri="{FF2B5EF4-FFF2-40B4-BE49-F238E27FC236}">
                <a16:creationId xmlns:a16="http://schemas.microsoft.com/office/drawing/2014/main" id="{77572DCF-23D8-B34E-8E4D-9577CC90334A}"/>
              </a:ext>
            </a:extLst>
          </p:cNvPr>
          <p:cNvSpPr>
            <a:spLocks noGrp="1"/>
          </p:cNvSpPr>
          <p:nvPr>
            <p:ph idx="4294967295"/>
          </p:nvPr>
        </p:nvSpPr>
        <p:spPr>
          <a:xfrm>
            <a:off x="457200" y="1302427"/>
            <a:ext cx="8229600" cy="1643063"/>
          </a:xfrm>
        </p:spPr>
        <p:txBody>
          <a:bodyPr>
            <a:normAutofit/>
          </a:bodyPr>
          <a:lstStyle/>
          <a:p>
            <a:r>
              <a:rPr lang="zh-CN" altLang="en-US" sz="2400" b="1" dirty="0">
                <a:solidFill>
                  <a:srgbClr val="0432FF"/>
                </a:solidFill>
              </a:rPr>
              <a:t>不同的过程</a:t>
            </a:r>
            <a:r>
              <a:rPr lang="zh-CN" altLang="en-US" sz="2400" b="1" dirty="0"/>
              <a:t>维护</a:t>
            </a:r>
            <a:r>
              <a:rPr lang="zh-CN" altLang="en-US" sz="2400" b="1" dirty="0">
                <a:solidFill>
                  <a:srgbClr val="0432FF"/>
                </a:solidFill>
              </a:rPr>
              <a:t>不同的数据类型</a:t>
            </a:r>
            <a:endParaRPr lang="en-CN" sz="2400" b="1" dirty="0">
              <a:solidFill>
                <a:srgbClr val="0432FF"/>
              </a:solidFill>
            </a:endParaRPr>
          </a:p>
          <a:p>
            <a:pPr lvl="1"/>
            <a:r>
              <a:rPr lang="zh-CN" altLang="en-US" sz="2000" dirty="0">
                <a:solidFill>
                  <a:srgbClr val="0432FF"/>
                </a:solidFill>
              </a:rPr>
              <a:t>临时寄存器</a:t>
            </a:r>
            <a:r>
              <a:rPr lang="en-US" altLang="zh-CN" sz="2000" dirty="0">
                <a:solidFill>
                  <a:srgbClr val="0432FF"/>
                </a:solidFill>
              </a:rPr>
              <a:t>(</a:t>
            </a:r>
            <a:r>
              <a:rPr lang="en-US" altLang="zh-CN" sz="2000" i="1" dirty="0">
                <a:solidFill>
                  <a:srgbClr val="0432FF"/>
                </a:solidFill>
                <a:latin typeface="Consolas" panose="020B0609020204030204" pitchFamily="49" charset="0"/>
              </a:rPr>
              <a:t>$t0-$t9</a:t>
            </a:r>
            <a:r>
              <a:rPr lang="en-US" altLang="zh-CN" sz="2000" dirty="0">
                <a:solidFill>
                  <a:srgbClr val="0432FF"/>
                </a:solidFill>
              </a:rPr>
              <a:t>)</a:t>
            </a:r>
            <a:r>
              <a:rPr lang="zh-CN" altLang="en-US" sz="2000" dirty="0"/>
              <a:t>只被临时使用</a:t>
            </a:r>
            <a:endParaRPr lang="en-US" altLang="zh-CN" sz="2000" dirty="0"/>
          </a:p>
          <a:p>
            <a:pPr lvl="1"/>
            <a:r>
              <a:rPr lang="zh-CN" altLang="en-US" sz="2000" dirty="0">
                <a:solidFill>
                  <a:srgbClr val="0432FF"/>
                </a:solidFill>
              </a:rPr>
              <a:t>保存寄存器</a:t>
            </a:r>
            <a:r>
              <a:rPr lang="en-US" altLang="zh-CN" sz="2000" dirty="0">
                <a:solidFill>
                  <a:srgbClr val="0432FF"/>
                </a:solidFill>
              </a:rPr>
              <a:t>(</a:t>
            </a:r>
            <a:r>
              <a:rPr lang="en-US" altLang="zh-CN" sz="2000" i="1" dirty="0">
                <a:solidFill>
                  <a:srgbClr val="0432FF"/>
                </a:solidFill>
                <a:latin typeface="Consolas" panose="020B0609020204030204" pitchFamily="49" charset="0"/>
              </a:rPr>
              <a:t>$s0-$s7</a:t>
            </a:r>
            <a:r>
              <a:rPr lang="en-US" altLang="zh-CN" sz="2000" dirty="0">
                <a:solidFill>
                  <a:srgbClr val="0432FF"/>
                </a:solidFill>
              </a:rPr>
              <a:t>)</a:t>
            </a:r>
            <a:r>
              <a:rPr lang="zh-CN" altLang="en-US" sz="2000" dirty="0"/>
              <a:t>直到释放前一直被占用</a:t>
            </a:r>
            <a:endParaRPr lang="en-CN" sz="2000" dirty="0"/>
          </a:p>
        </p:txBody>
      </p:sp>
      <p:sp>
        <p:nvSpPr>
          <p:cNvPr id="3" name="Title 4">
            <a:extLst>
              <a:ext uri="{FF2B5EF4-FFF2-40B4-BE49-F238E27FC236}">
                <a16:creationId xmlns:a16="http://schemas.microsoft.com/office/drawing/2014/main" id="{E4BF24DE-1DC2-2A61-1EA4-D73BC6C614A5}"/>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sz="4000" dirty="0"/>
              <a:t>寄存器中保存什么数据</a:t>
            </a:r>
            <a:r>
              <a:rPr lang="en-US" altLang="zh-CN" sz="4000" dirty="0"/>
              <a:t>?</a:t>
            </a:r>
            <a:endParaRPr lang="en-CN" kern="0" dirty="0"/>
          </a:p>
        </p:txBody>
      </p:sp>
      <p:graphicFrame>
        <p:nvGraphicFramePr>
          <p:cNvPr id="5" name="Group 66">
            <a:extLst>
              <a:ext uri="{FF2B5EF4-FFF2-40B4-BE49-F238E27FC236}">
                <a16:creationId xmlns:a16="http://schemas.microsoft.com/office/drawing/2014/main" id="{87572DAC-1967-C984-A2FC-3A40EDAE0A37}"/>
              </a:ext>
            </a:extLst>
          </p:cNvPr>
          <p:cNvGraphicFramePr>
            <a:graphicFrameLocks noGrp="1"/>
          </p:cNvGraphicFramePr>
          <p:nvPr>
            <p:extLst>
              <p:ext uri="{D42A27DB-BD31-4B8C-83A1-F6EECF244321}">
                <p14:modId xmlns:p14="http://schemas.microsoft.com/office/powerpoint/2010/main" val="3944634544"/>
              </p:ext>
            </p:extLst>
          </p:nvPr>
        </p:nvGraphicFramePr>
        <p:xfrm>
          <a:off x="915194" y="2644838"/>
          <a:ext cx="7313612" cy="3901440"/>
        </p:xfrm>
        <a:graphic>
          <a:graphicData uri="http://schemas.openxmlformats.org/drawingml/2006/table">
            <a:tbl>
              <a:tblPr/>
              <a:tblGrid>
                <a:gridCol w="1174951">
                  <a:extLst>
                    <a:ext uri="{9D8B030D-6E8A-4147-A177-3AD203B41FA5}">
                      <a16:colId xmlns:a16="http://schemas.microsoft.com/office/drawing/2014/main" val="20000"/>
                    </a:ext>
                  </a:extLst>
                </a:gridCol>
                <a:gridCol w="959797">
                  <a:extLst>
                    <a:ext uri="{9D8B030D-6E8A-4147-A177-3AD203B41FA5}">
                      <a16:colId xmlns:a16="http://schemas.microsoft.com/office/drawing/2014/main" val="20001"/>
                    </a:ext>
                  </a:extLst>
                </a:gridCol>
                <a:gridCol w="5178864">
                  <a:extLst>
                    <a:ext uri="{9D8B030D-6E8A-4147-A177-3AD203B41FA5}">
                      <a16:colId xmlns:a16="http://schemas.microsoft.com/office/drawing/2014/main" val="20002"/>
                    </a:ext>
                  </a:extLst>
                </a:gridCol>
              </a:tblGrid>
              <a:tr h="24178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dirty="0">
                          <a:ln>
                            <a:noFill/>
                          </a:ln>
                          <a:solidFill>
                            <a:schemeClr val="tx1"/>
                          </a:solidFill>
                          <a:effectLst/>
                          <a:latin typeface="+mj-ea"/>
                          <a:ea typeface="+mj-ea"/>
                          <a:cs typeface="Times New Roman" pitchFamily="18" charset="0"/>
                        </a:rPr>
                        <a:t>寄存器编号</a:t>
                      </a:r>
                      <a:endParaRPr kumimoji="0" lang="zh-CN" altLang="en-US" sz="2800" b="0" i="0" u="none" strike="noStrike" cap="none" normalizeH="0" baseline="0" dirty="0">
                        <a:ln>
                          <a:noFill/>
                        </a:ln>
                        <a:solidFill>
                          <a:schemeClr val="tx1"/>
                        </a:solidFill>
                        <a:effectLst/>
                        <a:latin typeface="+mj-ea"/>
                        <a:ea typeface="+mj-ea"/>
                      </a:endParaRPr>
                    </a:p>
                  </a:txBody>
                  <a:tcPr marL="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mj-ea"/>
                          <a:ea typeface="+mj-ea"/>
                          <a:cs typeface="Times New Roman" pitchFamily="18" charset="0"/>
                        </a:rPr>
                        <a:t>助记符</a:t>
                      </a:r>
                      <a:endParaRPr kumimoji="0" lang="zh-CN" altLang="en-US" sz="2800" b="0" i="0" u="none" strike="noStrike" cap="none" normalizeH="0" baseline="0">
                        <a:ln>
                          <a:noFill/>
                        </a:ln>
                        <a:solidFill>
                          <a:schemeClr val="tx1"/>
                        </a:solidFill>
                        <a:effectLst/>
                        <a:latin typeface="+mj-ea"/>
                        <a:ea typeface="+mj-ea"/>
                      </a:endParaRPr>
                    </a:p>
                  </a:txBody>
                  <a:tcPr marL="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dirty="0">
                          <a:ln>
                            <a:noFill/>
                          </a:ln>
                          <a:solidFill>
                            <a:schemeClr val="tx1"/>
                          </a:solidFill>
                          <a:effectLst/>
                          <a:latin typeface="+mj-ea"/>
                          <a:ea typeface="+mj-ea"/>
                          <a:cs typeface="Times New Roman" pitchFamily="18" charset="0"/>
                        </a:rPr>
                        <a:t>用法</a:t>
                      </a:r>
                      <a:endParaRPr kumimoji="0" lang="zh-CN" altLang="en-US" sz="2800" b="0" i="0" u="none" strike="noStrike" cap="none" normalizeH="0" baseline="0" dirty="0">
                        <a:ln>
                          <a:noFill/>
                        </a:ln>
                        <a:solidFill>
                          <a:schemeClr val="tx1"/>
                        </a:solidFill>
                        <a:effectLst/>
                        <a:latin typeface="+mj-ea"/>
                        <a:ea typeface="+mj-ea"/>
                      </a:endParaRPr>
                    </a:p>
                  </a:txBody>
                  <a:tcPr marL="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4178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mn-lt"/>
                          <a:ea typeface="STKaiti" panose="02010600040101010101" pitchFamily="2" charset="-122"/>
                          <a:cs typeface="Times New Roman" pitchFamily="18" charset="0"/>
                        </a:rPr>
                        <a:t>0</a:t>
                      </a:r>
                      <a:endParaRPr kumimoji="0" lang="en-US" altLang="zh-CN" sz="2800" b="0" i="0" u="none" strike="noStrike" cap="none" normalizeH="0" baseline="0">
                        <a:ln>
                          <a:noFill/>
                        </a:ln>
                        <a:solidFill>
                          <a:schemeClr val="tx1"/>
                        </a:solidFill>
                        <a:effectLst/>
                        <a:latin typeface="+mn-lt"/>
                        <a:ea typeface="STKaiti" panose="02010600040101010101" pitchFamily="2" charset="-122"/>
                      </a:endParaRPr>
                    </a:p>
                  </a:txBody>
                  <a:tcPr marL="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dirty="0">
                          <a:ln>
                            <a:noFill/>
                          </a:ln>
                          <a:solidFill>
                            <a:schemeClr val="tx1"/>
                          </a:solidFill>
                          <a:effectLst/>
                          <a:latin typeface="Consolas" panose="020B0609020204030204" pitchFamily="49" charset="0"/>
                          <a:ea typeface="STKaiti" panose="02010600040101010101" pitchFamily="2" charset="-122"/>
                          <a:cs typeface="Times New Roman" pitchFamily="18" charset="0"/>
                        </a:rPr>
                        <a:t>$zero</a:t>
                      </a:r>
                      <a:endParaRPr kumimoji="0" lang="en-US" altLang="zh-CN" sz="2800" b="0" i="1" u="none" strike="noStrike" cap="none" normalizeH="0" baseline="0" dirty="0">
                        <a:ln>
                          <a:noFill/>
                        </a:ln>
                        <a:solidFill>
                          <a:schemeClr val="tx1"/>
                        </a:solidFill>
                        <a:effectLst/>
                        <a:latin typeface="Consolas" panose="020B0609020204030204" pitchFamily="49" charset="0"/>
                        <a:ea typeface="STKaiti" panose="02010600040101010101" pitchFamily="2" charset="-122"/>
                      </a:endParaRPr>
                    </a:p>
                  </a:txBody>
                  <a:tcPr marL="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dirty="0">
                          <a:ln>
                            <a:noFill/>
                          </a:ln>
                          <a:solidFill>
                            <a:schemeClr val="tx1"/>
                          </a:solidFill>
                          <a:effectLst/>
                          <a:latin typeface="+mj-ea"/>
                          <a:ea typeface="+mj-ea"/>
                          <a:cs typeface="Times New Roman" pitchFamily="18" charset="0"/>
                        </a:rPr>
                        <a:t>永远为</a:t>
                      </a:r>
                      <a:r>
                        <a:rPr kumimoji="0" lang="en-US" altLang="zh-CN" sz="1600" b="1" i="0" u="none" strike="noStrike" cap="none" normalizeH="0" baseline="0" dirty="0">
                          <a:ln>
                            <a:noFill/>
                          </a:ln>
                          <a:solidFill>
                            <a:schemeClr val="tx1"/>
                          </a:solidFill>
                          <a:effectLst/>
                          <a:latin typeface="+mj-ea"/>
                          <a:ea typeface="+mj-ea"/>
                          <a:cs typeface="Times New Roman" pitchFamily="18" charset="0"/>
                        </a:rPr>
                        <a:t>0</a:t>
                      </a:r>
                      <a:endParaRPr kumimoji="0" lang="en-US" altLang="zh-CN" sz="2800" b="0" i="0" u="none" strike="noStrike" cap="none" normalizeH="0" baseline="0" dirty="0">
                        <a:ln>
                          <a:noFill/>
                        </a:ln>
                        <a:solidFill>
                          <a:schemeClr val="tx1"/>
                        </a:solidFill>
                        <a:effectLst/>
                        <a:latin typeface="+mj-ea"/>
                        <a:ea typeface="+mj-ea"/>
                      </a:endParaRPr>
                    </a:p>
                  </a:txBody>
                  <a:tcPr marL="3600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24178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mn-lt"/>
                          <a:ea typeface="STKaiti" panose="02010600040101010101" pitchFamily="2" charset="-122"/>
                          <a:cs typeface="Times New Roman" pitchFamily="18" charset="0"/>
                        </a:rPr>
                        <a:t>1</a:t>
                      </a:r>
                      <a:endParaRPr kumimoji="0" lang="en-US" altLang="zh-CN" sz="2800" b="0" i="0" u="none" strike="noStrike" cap="none" normalizeH="0" baseline="0">
                        <a:ln>
                          <a:noFill/>
                        </a:ln>
                        <a:solidFill>
                          <a:schemeClr val="tx1"/>
                        </a:solidFill>
                        <a:effectLst/>
                        <a:latin typeface="+mn-lt"/>
                        <a:ea typeface="STKaiti" panose="02010600040101010101" pitchFamily="2" charset="-122"/>
                      </a:endParaRPr>
                    </a:p>
                  </a:txBody>
                  <a:tcPr marL="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dirty="0">
                          <a:ln>
                            <a:noFill/>
                          </a:ln>
                          <a:solidFill>
                            <a:schemeClr val="tx1"/>
                          </a:solidFill>
                          <a:effectLst/>
                          <a:latin typeface="Consolas" panose="020B0609020204030204" pitchFamily="49" charset="0"/>
                          <a:ea typeface="STKaiti" panose="02010600040101010101" pitchFamily="2" charset="-122"/>
                          <a:cs typeface="Times New Roman" pitchFamily="18" charset="0"/>
                        </a:rPr>
                        <a:t>$at</a:t>
                      </a:r>
                      <a:endParaRPr kumimoji="0" lang="en-US" altLang="zh-CN" sz="2800" b="0" i="1" u="none" strike="noStrike" cap="none" normalizeH="0" baseline="0" dirty="0">
                        <a:ln>
                          <a:noFill/>
                        </a:ln>
                        <a:solidFill>
                          <a:schemeClr val="tx1"/>
                        </a:solidFill>
                        <a:effectLst/>
                        <a:latin typeface="Consolas" panose="020B0609020204030204" pitchFamily="49" charset="0"/>
                        <a:ea typeface="STKaiti" panose="02010600040101010101" pitchFamily="2" charset="-122"/>
                      </a:endParaRPr>
                    </a:p>
                  </a:txBody>
                  <a:tcPr marL="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dirty="0">
                          <a:ln>
                            <a:noFill/>
                          </a:ln>
                          <a:solidFill>
                            <a:schemeClr val="tx1"/>
                          </a:solidFill>
                          <a:effectLst/>
                          <a:latin typeface="+mj-ea"/>
                          <a:ea typeface="+mj-ea"/>
                          <a:cs typeface="Times New Roman" pitchFamily="18" charset="0"/>
                        </a:rPr>
                        <a:t>用做汇编器的临时变量</a:t>
                      </a:r>
                      <a:endParaRPr kumimoji="0" lang="zh-CN" altLang="en-US" sz="2800" b="0" i="0" u="none" strike="noStrike" cap="none" normalizeH="0" baseline="0" dirty="0">
                        <a:ln>
                          <a:noFill/>
                        </a:ln>
                        <a:solidFill>
                          <a:schemeClr val="tx1"/>
                        </a:solidFill>
                        <a:effectLst/>
                        <a:latin typeface="+mj-ea"/>
                        <a:ea typeface="+mj-ea"/>
                      </a:endParaRPr>
                    </a:p>
                  </a:txBody>
                  <a:tcPr marL="3600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24178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mn-lt"/>
                          <a:ea typeface="STKaiti" panose="02010600040101010101" pitchFamily="2" charset="-122"/>
                          <a:cs typeface="Times New Roman" pitchFamily="18" charset="0"/>
                        </a:rPr>
                        <a:t>2-3</a:t>
                      </a:r>
                      <a:endParaRPr kumimoji="0" lang="en-US" altLang="zh-CN" sz="2800" b="0" i="0" u="none" strike="noStrike" cap="none" normalizeH="0" baseline="0">
                        <a:ln>
                          <a:noFill/>
                        </a:ln>
                        <a:solidFill>
                          <a:schemeClr val="tx1"/>
                        </a:solidFill>
                        <a:effectLst/>
                        <a:latin typeface="+mn-lt"/>
                        <a:ea typeface="STKaiti" panose="02010600040101010101" pitchFamily="2" charset="-122"/>
                      </a:endParaRPr>
                    </a:p>
                  </a:txBody>
                  <a:tcPr marL="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dirty="0">
                          <a:ln>
                            <a:noFill/>
                          </a:ln>
                          <a:solidFill>
                            <a:schemeClr val="tx1"/>
                          </a:solidFill>
                          <a:effectLst/>
                          <a:latin typeface="Consolas" panose="020B0609020204030204" pitchFamily="49" charset="0"/>
                          <a:ea typeface="STKaiti" panose="02010600040101010101" pitchFamily="2" charset="-122"/>
                          <a:cs typeface="Times New Roman" pitchFamily="18" charset="0"/>
                        </a:rPr>
                        <a:t>$v0,$v1</a:t>
                      </a:r>
                      <a:endParaRPr kumimoji="0" lang="en-US" altLang="zh-CN" sz="2800" b="0" i="1" u="none" strike="noStrike" cap="none" normalizeH="0" baseline="0" dirty="0">
                        <a:ln>
                          <a:noFill/>
                        </a:ln>
                        <a:solidFill>
                          <a:schemeClr val="tx1"/>
                        </a:solidFill>
                        <a:effectLst/>
                        <a:latin typeface="Consolas" panose="020B0609020204030204" pitchFamily="49" charset="0"/>
                        <a:ea typeface="STKaiti" panose="02010600040101010101" pitchFamily="2" charset="-122"/>
                      </a:endParaRPr>
                    </a:p>
                  </a:txBody>
                  <a:tcPr marL="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dirty="0">
                          <a:ln>
                            <a:noFill/>
                          </a:ln>
                          <a:solidFill>
                            <a:schemeClr val="tx1"/>
                          </a:solidFill>
                          <a:effectLst/>
                          <a:latin typeface="+mj-ea"/>
                          <a:ea typeface="+mj-ea"/>
                          <a:cs typeface="Times New Roman" pitchFamily="18" charset="0"/>
                        </a:rPr>
                        <a:t>用于过程调用时返回结果</a:t>
                      </a:r>
                      <a:endParaRPr kumimoji="0" lang="zh-CN" altLang="en-US" sz="2800" b="0" i="0" u="none" strike="noStrike" cap="none" normalizeH="0" baseline="0" dirty="0">
                        <a:ln>
                          <a:noFill/>
                        </a:ln>
                        <a:solidFill>
                          <a:schemeClr val="tx1"/>
                        </a:solidFill>
                        <a:effectLst/>
                        <a:latin typeface="+mj-ea"/>
                        <a:ea typeface="+mj-ea"/>
                      </a:endParaRPr>
                    </a:p>
                  </a:txBody>
                  <a:tcPr marL="3600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24178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mn-lt"/>
                          <a:ea typeface="STKaiti" panose="02010600040101010101" pitchFamily="2" charset="-122"/>
                          <a:cs typeface="Times New Roman" pitchFamily="18" charset="0"/>
                        </a:rPr>
                        <a:t>4-7</a:t>
                      </a:r>
                      <a:endParaRPr kumimoji="0" lang="en-US" altLang="zh-CN" sz="2800" b="0" i="0" u="none" strike="noStrike" cap="none" normalizeH="0" baseline="0">
                        <a:ln>
                          <a:noFill/>
                        </a:ln>
                        <a:solidFill>
                          <a:schemeClr val="tx1"/>
                        </a:solidFill>
                        <a:effectLst/>
                        <a:latin typeface="+mn-lt"/>
                        <a:ea typeface="STKaiti" panose="02010600040101010101" pitchFamily="2" charset="-122"/>
                      </a:endParaRPr>
                    </a:p>
                  </a:txBody>
                  <a:tcPr marL="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dirty="0">
                          <a:ln>
                            <a:noFill/>
                          </a:ln>
                          <a:solidFill>
                            <a:schemeClr val="tx1"/>
                          </a:solidFill>
                          <a:effectLst/>
                          <a:latin typeface="Consolas" panose="020B0609020204030204" pitchFamily="49" charset="0"/>
                          <a:ea typeface="STKaiti" panose="02010600040101010101" pitchFamily="2" charset="-122"/>
                          <a:cs typeface="Times New Roman" pitchFamily="18" charset="0"/>
                        </a:rPr>
                        <a:t>$a0-$a3</a:t>
                      </a:r>
                      <a:endParaRPr kumimoji="0" lang="en-US" altLang="zh-CN" sz="2800" b="0" i="1" u="none" strike="noStrike" cap="none" normalizeH="0" baseline="0" dirty="0">
                        <a:ln>
                          <a:noFill/>
                        </a:ln>
                        <a:solidFill>
                          <a:schemeClr val="tx1"/>
                        </a:solidFill>
                        <a:effectLst/>
                        <a:latin typeface="Consolas" panose="020B0609020204030204" pitchFamily="49" charset="0"/>
                        <a:ea typeface="STKaiti" panose="02010600040101010101" pitchFamily="2" charset="-122"/>
                      </a:endParaRPr>
                    </a:p>
                  </a:txBody>
                  <a:tcPr marL="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dirty="0">
                          <a:ln>
                            <a:noFill/>
                          </a:ln>
                          <a:solidFill>
                            <a:schemeClr val="tx1"/>
                          </a:solidFill>
                          <a:effectLst/>
                          <a:latin typeface="+mj-ea"/>
                          <a:ea typeface="+mj-ea"/>
                          <a:cs typeface="Times New Roman" pitchFamily="18" charset="0"/>
                        </a:rPr>
                        <a:t>用于过程调用时传递参数</a:t>
                      </a:r>
                      <a:endParaRPr kumimoji="0" lang="zh-CN" altLang="en-US" sz="2800" b="0" i="0" u="none" strike="noStrike" cap="none" normalizeH="0" baseline="0" dirty="0">
                        <a:ln>
                          <a:noFill/>
                        </a:ln>
                        <a:solidFill>
                          <a:schemeClr val="tx1"/>
                        </a:solidFill>
                        <a:effectLst/>
                        <a:latin typeface="+mj-ea"/>
                        <a:ea typeface="+mj-ea"/>
                      </a:endParaRPr>
                    </a:p>
                  </a:txBody>
                  <a:tcPr marL="3600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24178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mn-lt"/>
                          <a:ea typeface="STKaiti" panose="02010600040101010101" pitchFamily="2" charset="-122"/>
                          <a:cs typeface="Times New Roman" pitchFamily="18" charset="0"/>
                        </a:rPr>
                        <a:t>8-15</a:t>
                      </a:r>
                      <a:endParaRPr kumimoji="0" lang="en-US" altLang="zh-CN" sz="2800" b="0" i="0" u="none" strike="noStrike" cap="none" normalizeH="0" baseline="0">
                        <a:ln>
                          <a:noFill/>
                        </a:ln>
                        <a:solidFill>
                          <a:schemeClr val="tx1"/>
                        </a:solidFill>
                        <a:effectLst/>
                        <a:latin typeface="+mn-lt"/>
                        <a:ea typeface="STKaiti" panose="02010600040101010101" pitchFamily="2" charset="-122"/>
                      </a:endParaRPr>
                    </a:p>
                  </a:txBody>
                  <a:tcPr marL="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dirty="0">
                          <a:ln>
                            <a:noFill/>
                          </a:ln>
                          <a:solidFill>
                            <a:schemeClr val="tx1"/>
                          </a:solidFill>
                          <a:effectLst/>
                          <a:latin typeface="Consolas" panose="020B0609020204030204" pitchFamily="49" charset="0"/>
                          <a:ea typeface="STKaiti" panose="02010600040101010101" pitchFamily="2" charset="-122"/>
                          <a:cs typeface="Times New Roman" pitchFamily="18" charset="0"/>
                        </a:rPr>
                        <a:t>$t0-$t7</a:t>
                      </a:r>
                      <a:endParaRPr kumimoji="0" lang="en-US" altLang="zh-CN" sz="2800" b="0" i="1" u="none" strike="noStrike" cap="none" normalizeH="0" baseline="0" dirty="0">
                        <a:ln>
                          <a:noFill/>
                        </a:ln>
                        <a:solidFill>
                          <a:schemeClr val="tx1"/>
                        </a:solidFill>
                        <a:effectLst/>
                        <a:latin typeface="Consolas" panose="020B0609020204030204" pitchFamily="49" charset="0"/>
                        <a:ea typeface="STKaiti" panose="02010600040101010101" pitchFamily="2" charset="-122"/>
                      </a:endParaRPr>
                    </a:p>
                  </a:txBody>
                  <a:tcPr marL="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rowSpan="2">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dirty="0">
                          <a:ln>
                            <a:noFill/>
                          </a:ln>
                          <a:solidFill>
                            <a:srgbClr val="0432FF"/>
                          </a:solidFill>
                          <a:effectLst/>
                          <a:latin typeface="+mj-ea"/>
                          <a:ea typeface="+mj-ea"/>
                          <a:cs typeface="Times New Roman" pitchFamily="18" charset="0"/>
                        </a:rPr>
                        <a:t>临时寄存器</a:t>
                      </a:r>
                      <a:r>
                        <a:rPr kumimoji="0" lang="zh-CN" altLang="en-US" sz="1600" b="1" i="0" u="none" strike="noStrike" cap="none" normalizeH="0" baseline="0" dirty="0">
                          <a:ln>
                            <a:noFill/>
                          </a:ln>
                          <a:solidFill>
                            <a:schemeClr val="tx1"/>
                          </a:solidFill>
                          <a:effectLst/>
                          <a:latin typeface="+mj-ea"/>
                          <a:ea typeface="+mj-ea"/>
                          <a:cs typeface="Times New Roman" pitchFamily="18" charset="0"/>
                        </a:rPr>
                        <a:t>。在过程调用中被调用者不需要保存与恢复</a:t>
                      </a:r>
                      <a:endParaRPr kumimoji="0" lang="zh-CN" altLang="en-US" sz="2800" b="0" i="0" u="none" strike="noStrike" cap="none" normalizeH="0" baseline="0" dirty="0">
                        <a:ln>
                          <a:noFill/>
                        </a:ln>
                        <a:solidFill>
                          <a:schemeClr val="tx1"/>
                        </a:solidFill>
                        <a:effectLst/>
                        <a:latin typeface="+mj-ea"/>
                        <a:ea typeface="+mj-ea"/>
                      </a:endParaRPr>
                    </a:p>
                  </a:txBody>
                  <a:tcPr marL="3600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24178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mn-lt"/>
                          <a:ea typeface="STKaiti" panose="02010600040101010101" pitchFamily="2" charset="-122"/>
                          <a:cs typeface="Times New Roman" pitchFamily="18" charset="0"/>
                        </a:rPr>
                        <a:t>24-25</a:t>
                      </a:r>
                      <a:endParaRPr kumimoji="0" lang="en-US" altLang="zh-CN" sz="2800" b="0" i="0" u="none" strike="noStrike" cap="none" normalizeH="0" baseline="0">
                        <a:ln>
                          <a:noFill/>
                        </a:ln>
                        <a:solidFill>
                          <a:schemeClr val="tx1"/>
                        </a:solidFill>
                        <a:effectLst/>
                        <a:latin typeface="+mn-lt"/>
                        <a:ea typeface="STKaiti" panose="02010600040101010101" pitchFamily="2" charset="-122"/>
                      </a:endParaRPr>
                    </a:p>
                  </a:txBody>
                  <a:tcPr marL="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dirty="0">
                          <a:ln>
                            <a:noFill/>
                          </a:ln>
                          <a:solidFill>
                            <a:schemeClr val="tx1"/>
                          </a:solidFill>
                          <a:effectLst/>
                          <a:latin typeface="Consolas" panose="020B0609020204030204" pitchFamily="49" charset="0"/>
                          <a:ea typeface="STKaiti" panose="02010600040101010101" pitchFamily="2" charset="-122"/>
                          <a:cs typeface="Times New Roman" pitchFamily="18" charset="0"/>
                        </a:rPr>
                        <a:t>$t8-$t9</a:t>
                      </a:r>
                      <a:endParaRPr kumimoji="0" lang="en-US" altLang="zh-CN" sz="2800" b="0" i="1" u="none" strike="noStrike" cap="none" normalizeH="0" baseline="0" dirty="0">
                        <a:ln>
                          <a:noFill/>
                        </a:ln>
                        <a:solidFill>
                          <a:schemeClr val="tx1"/>
                        </a:solidFill>
                        <a:effectLst/>
                        <a:latin typeface="Consolas" panose="020B0609020204030204" pitchFamily="49" charset="0"/>
                        <a:ea typeface="STKaiti" panose="02010600040101010101" pitchFamily="2" charset="-122"/>
                      </a:endParaRPr>
                    </a:p>
                  </a:txBody>
                  <a:tcPr marL="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0006"/>
                  </a:ext>
                </a:extLst>
              </a:tr>
              <a:tr h="45207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mn-lt"/>
                          <a:ea typeface="STKaiti" panose="02010600040101010101" pitchFamily="2" charset="-122"/>
                          <a:cs typeface="Times New Roman" pitchFamily="18" charset="0"/>
                        </a:rPr>
                        <a:t>16-23</a:t>
                      </a:r>
                      <a:endParaRPr kumimoji="0" lang="en-US" altLang="zh-CN" sz="2800" b="0" i="0" u="none" strike="noStrike" cap="none" normalizeH="0" baseline="0">
                        <a:ln>
                          <a:noFill/>
                        </a:ln>
                        <a:solidFill>
                          <a:schemeClr val="tx1"/>
                        </a:solidFill>
                        <a:effectLst/>
                        <a:latin typeface="+mn-lt"/>
                        <a:ea typeface="STKaiti" panose="02010600040101010101" pitchFamily="2" charset="-122"/>
                      </a:endParaRPr>
                    </a:p>
                  </a:txBody>
                  <a:tcPr marL="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dirty="0">
                          <a:ln>
                            <a:noFill/>
                          </a:ln>
                          <a:solidFill>
                            <a:schemeClr val="tx1"/>
                          </a:solidFill>
                          <a:effectLst/>
                          <a:latin typeface="Consolas" panose="020B0609020204030204" pitchFamily="49" charset="0"/>
                          <a:ea typeface="STKaiti" panose="02010600040101010101" pitchFamily="2" charset="-122"/>
                          <a:cs typeface="Times New Roman" pitchFamily="18" charset="0"/>
                        </a:rPr>
                        <a:t>$s0-$s7</a:t>
                      </a:r>
                      <a:endParaRPr kumimoji="0" lang="en-US" altLang="zh-CN" sz="2800" b="0" i="1" u="none" strike="noStrike" cap="none" normalizeH="0" baseline="0" dirty="0">
                        <a:ln>
                          <a:noFill/>
                        </a:ln>
                        <a:solidFill>
                          <a:schemeClr val="tx1"/>
                        </a:solidFill>
                        <a:effectLst/>
                        <a:latin typeface="Consolas" panose="020B0609020204030204" pitchFamily="49" charset="0"/>
                        <a:ea typeface="STKaiti" panose="02010600040101010101" pitchFamily="2" charset="-122"/>
                      </a:endParaRPr>
                    </a:p>
                  </a:txBody>
                  <a:tcPr marL="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dirty="0">
                          <a:ln>
                            <a:noFill/>
                          </a:ln>
                          <a:solidFill>
                            <a:srgbClr val="0432FF"/>
                          </a:solidFill>
                          <a:effectLst/>
                          <a:latin typeface="+mj-ea"/>
                          <a:ea typeface="+mj-ea"/>
                          <a:cs typeface="Times New Roman" pitchFamily="18" charset="0"/>
                        </a:rPr>
                        <a:t>保存寄存器</a:t>
                      </a:r>
                      <a:r>
                        <a:rPr kumimoji="0" lang="zh-CN" altLang="en-US" sz="1600" b="1" i="0" u="none" strike="noStrike" cap="none" normalizeH="0" baseline="0" dirty="0">
                          <a:ln>
                            <a:noFill/>
                          </a:ln>
                          <a:solidFill>
                            <a:schemeClr val="tx1"/>
                          </a:solidFill>
                          <a:effectLst/>
                          <a:latin typeface="+mj-ea"/>
                          <a:ea typeface="+mj-ea"/>
                          <a:cs typeface="Times New Roman" pitchFamily="18" charset="0"/>
                        </a:rPr>
                        <a:t>。在过程调用中被调用者一旦使用这些寄存器时，必须负责保存和恢复这些寄存器的原值</a:t>
                      </a:r>
                    </a:p>
                  </a:txBody>
                  <a:tcPr marL="3600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7"/>
                  </a:ext>
                </a:extLst>
              </a:tr>
              <a:tr h="24178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mn-lt"/>
                          <a:ea typeface="STKaiti" panose="02010600040101010101" pitchFamily="2" charset="-122"/>
                          <a:cs typeface="Times New Roman" pitchFamily="18" charset="0"/>
                        </a:rPr>
                        <a:t>26,27</a:t>
                      </a:r>
                      <a:endParaRPr kumimoji="0" lang="en-US" altLang="zh-CN" sz="2800" b="0" i="0" u="none" strike="noStrike" cap="none" normalizeH="0" baseline="0">
                        <a:ln>
                          <a:noFill/>
                        </a:ln>
                        <a:solidFill>
                          <a:schemeClr val="tx1"/>
                        </a:solidFill>
                        <a:effectLst/>
                        <a:latin typeface="+mn-lt"/>
                        <a:ea typeface="STKaiti" panose="02010600040101010101" pitchFamily="2" charset="-122"/>
                      </a:endParaRPr>
                    </a:p>
                  </a:txBody>
                  <a:tcPr marL="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dirty="0">
                          <a:ln>
                            <a:noFill/>
                          </a:ln>
                          <a:solidFill>
                            <a:schemeClr val="tx1"/>
                          </a:solidFill>
                          <a:effectLst/>
                          <a:latin typeface="Consolas" panose="020B0609020204030204" pitchFamily="49" charset="0"/>
                          <a:ea typeface="STKaiti" panose="02010600040101010101" pitchFamily="2" charset="-122"/>
                          <a:cs typeface="Times New Roman" pitchFamily="18" charset="0"/>
                        </a:rPr>
                        <a:t>$k0,$k1</a:t>
                      </a:r>
                      <a:endParaRPr kumimoji="0" lang="en-US" altLang="zh-CN" sz="2800" b="0" i="1" u="none" strike="noStrike" cap="none" normalizeH="0" baseline="0" dirty="0">
                        <a:ln>
                          <a:noFill/>
                        </a:ln>
                        <a:solidFill>
                          <a:schemeClr val="tx1"/>
                        </a:solidFill>
                        <a:effectLst/>
                        <a:latin typeface="Consolas" panose="020B0609020204030204" pitchFamily="49" charset="0"/>
                        <a:ea typeface="STKaiti" panose="02010600040101010101" pitchFamily="2" charset="-122"/>
                      </a:endParaRPr>
                    </a:p>
                  </a:txBody>
                  <a:tcPr marL="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dirty="0">
                          <a:ln>
                            <a:noFill/>
                          </a:ln>
                          <a:solidFill>
                            <a:schemeClr val="tx1"/>
                          </a:solidFill>
                          <a:effectLst/>
                          <a:latin typeface="+mj-ea"/>
                          <a:ea typeface="+mj-ea"/>
                          <a:cs typeface="Times New Roman" pitchFamily="18" charset="0"/>
                        </a:rPr>
                        <a:t>通常被中断或异常处理程序使用，用来保存一些系统参数</a:t>
                      </a:r>
                      <a:endParaRPr kumimoji="0" lang="zh-CN" altLang="en-US" sz="2800" b="0" i="0" u="none" strike="noStrike" cap="none" normalizeH="0" baseline="0" dirty="0">
                        <a:ln>
                          <a:noFill/>
                        </a:ln>
                        <a:solidFill>
                          <a:schemeClr val="tx1"/>
                        </a:solidFill>
                        <a:effectLst/>
                        <a:latin typeface="+mj-ea"/>
                        <a:ea typeface="+mj-ea"/>
                      </a:endParaRPr>
                    </a:p>
                  </a:txBody>
                  <a:tcPr marL="3600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8"/>
                  </a:ext>
                </a:extLst>
              </a:tr>
              <a:tr h="45207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mn-lt"/>
                          <a:ea typeface="STKaiti" panose="02010600040101010101" pitchFamily="2" charset="-122"/>
                          <a:cs typeface="Times New Roman" pitchFamily="18" charset="0"/>
                        </a:rPr>
                        <a:t>28</a:t>
                      </a:r>
                      <a:endParaRPr kumimoji="0" lang="en-US" altLang="zh-CN" sz="2800" b="0" i="0" u="none" strike="noStrike" cap="none" normalizeH="0" baseline="0">
                        <a:ln>
                          <a:noFill/>
                        </a:ln>
                        <a:solidFill>
                          <a:schemeClr val="tx1"/>
                        </a:solidFill>
                        <a:effectLst/>
                        <a:latin typeface="+mn-lt"/>
                        <a:ea typeface="STKaiti" panose="02010600040101010101" pitchFamily="2" charset="-122"/>
                      </a:endParaRPr>
                    </a:p>
                  </a:txBody>
                  <a:tcPr marL="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dirty="0">
                          <a:ln>
                            <a:noFill/>
                          </a:ln>
                          <a:solidFill>
                            <a:schemeClr val="tx1"/>
                          </a:solidFill>
                          <a:effectLst/>
                          <a:latin typeface="Consolas" panose="020B0609020204030204" pitchFamily="49" charset="0"/>
                          <a:ea typeface="STKaiti" panose="02010600040101010101" pitchFamily="2" charset="-122"/>
                          <a:cs typeface="Times New Roman" pitchFamily="18" charset="0"/>
                        </a:rPr>
                        <a:t>$</a:t>
                      </a:r>
                      <a:r>
                        <a:rPr kumimoji="0" lang="en-US" altLang="zh-CN" sz="1600" b="1" i="1" u="none" strike="noStrike" cap="none" normalizeH="0" baseline="0" dirty="0" err="1">
                          <a:ln>
                            <a:noFill/>
                          </a:ln>
                          <a:solidFill>
                            <a:schemeClr val="tx1"/>
                          </a:solidFill>
                          <a:effectLst/>
                          <a:latin typeface="Consolas" panose="020B0609020204030204" pitchFamily="49" charset="0"/>
                          <a:ea typeface="STKaiti" panose="02010600040101010101" pitchFamily="2" charset="-122"/>
                          <a:cs typeface="Times New Roman" pitchFamily="18" charset="0"/>
                        </a:rPr>
                        <a:t>gp</a:t>
                      </a:r>
                      <a:endParaRPr kumimoji="0" lang="en-US" altLang="zh-CN" sz="2800" b="0" i="1" u="none" strike="noStrike" cap="none" normalizeH="0" baseline="0" dirty="0">
                        <a:ln>
                          <a:noFill/>
                        </a:ln>
                        <a:solidFill>
                          <a:schemeClr val="tx1"/>
                        </a:solidFill>
                        <a:effectLst/>
                        <a:latin typeface="Consolas" panose="020B0609020204030204" pitchFamily="49" charset="0"/>
                        <a:ea typeface="STKaiti" panose="02010600040101010101" pitchFamily="2" charset="-122"/>
                      </a:endParaRPr>
                    </a:p>
                  </a:txBody>
                  <a:tcPr marL="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dirty="0">
                          <a:ln>
                            <a:noFill/>
                          </a:ln>
                          <a:solidFill>
                            <a:schemeClr val="tx1"/>
                          </a:solidFill>
                          <a:effectLst/>
                          <a:latin typeface="+mj-ea"/>
                          <a:ea typeface="+mj-ea"/>
                          <a:cs typeface="Times New Roman" pitchFamily="18" charset="0"/>
                        </a:rPr>
                        <a:t>全局指针。一些运行系统维护这个指针来更方便的存取</a:t>
                      </a:r>
                      <a:r>
                        <a:rPr kumimoji="0" lang="en-US" altLang="zh-CN" sz="1600" b="1" i="0" u="none" strike="noStrike" cap="none" normalizeH="0" baseline="0" dirty="0">
                          <a:ln>
                            <a:noFill/>
                          </a:ln>
                          <a:solidFill>
                            <a:schemeClr val="tx1"/>
                          </a:solidFill>
                          <a:effectLst/>
                          <a:latin typeface="+mj-ea"/>
                          <a:ea typeface="+mj-ea"/>
                          <a:cs typeface="Times New Roman" pitchFamily="18" charset="0"/>
                        </a:rPr>
                        <a:t>static</a:t>
                      </a:r>
                      <a:r>
                        <a:rPr kumimoji="0" lang="zh-CN" altLang="en-US" sz="1600" b="1" i="0" u="none" strike="noStrike" cap="none" normalizeH="0" baseline="0" dirty="0">
                          <a:ln>
                            <a:noFill/>
                          </a:ln>
                          <a:solidFill>
                            <a:schemeClr val="tx1"/>
                          </a:solidFill>
                          <a:effectLst/>
                          <a:latin typeface="+mj-ea"/>
                          <a:ea typeface="+mj-ea"/>
                          <a:cs typeface="Times New Roman" pitchFamily="18" charset="0"/>
                        </a:rPr>
                        <a:t>和</a:t>
                      </a:r>
                      <a:r>
                        <a:rPr kumimoji="0" lang="en-US" altLang="zh-CN" sz="1600" b="1" i="0" u="none" strike="noStrike" cap="none" normalizeH="0" baseline="0" dirty="0">
                          <a:ln>
                            <a:noFill/>
                          </a:ln>
                          <a:solidFill>
                            <a:schemeClr val="tx1"/>
                          </a:solidFill>
                          <a:effectLst/>
                          <a:latin typeface="+mj-ea"/>
                          <a:ea typeface="+mj-ea"/>
                          <a:cs typeface="Times New Roman" pitchFamily="18" charset="0"/>
                        </a:rPr>
                        <a:t>extern</a:t>
                      </a:r>
                      <a:r>
                        <a:rPr kumimoji="0" lang="zh-CN" altLang="en-US" sz="1600" b="1" i="0" u="none" strike="noStrike" cap="none" normalizeH="0" baseline="0" dirty="0">
                          <a:ln>
                            <a:noFill/>
                          </a:ln>
                          <a:solidFill>
                            <a:schemeClr val="tx1"/>
                          </a:solidFill>
                          <a:effectLst/>
                          <a:latin typeface="+mj-ea"/>
                          <a:ea typeface="+mj-ea"/>
                          <a:cs typeface="Times New Roman" pitchFamily="18" charset="0"/>
                        </a:rPr>
                        <a:t>变量</a:t>
                      </a:r>
                      <a:endParaRPr kumimoji="0" lang="zh-CN" altLang="en-US" sz="2800" b="0" i="0" u="none" strike="noStrike" cap="none" normalizeH="0" baseline="0" dirty="0">
                        <a:ln>
                          <a:noFill/>
                        </a:ln>
                        <a:solidFill>
                          <a:schemeClr val="tx1"/>
                        </a:solidFill>
                        <a:effectLst/>
                        <a:latin typeface="+mj-ea"/>
                        <a:ea typeface="+mj-ea"/>
                      </a:endParaRPr>
                    </a:p>
                  </a:txBody>
                  <a:tcPr marL="3600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9"/>
                  </a:ext>
                </a:extLst>
              </a:tr>
              <a:tr h="24178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mn-lt"/>
                          <a:ea typeface="STKaiti" panose="02010600040101010101" pitchFamily="2" charset="-122"/>
                          <a:cs typeface="Times New Roman" pitchFamily="18" charset="0"/>
                        </a:rPr>
                        <a:t>29</a:t>
                      </a:r>
                      <a:endParaRPr kumimoji="0" lang="en-US" altLang="zh-CN" sz="2800" b="0" i="0" u="none" strike="noStrike" cap="none" normalizeH="0" baseline="0">
                        <a:ln>
                          <a:noFill/>
                        </a:ln>
                        <a:solidFill>
                          <a:schemeClr val="tx1"/>
                        </a:solidFill>
                        <a:effectLst/>
                        <a:latin typeface="+mn-lt"/>
                        <a:ea typeface="STKaiti" panose="02010600040101010101" pitchFamily="2" charset="-122"/>
                      </a:endParaRPr>
                    </a:p>
                  </a:txBody>
                  <a:tcPr marL="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dirty="0">
                          <a:ln>
                            <a:noFill/>
                          </a:ln>
                          <a:solidFill>
                            <a:schemeClr val="tx1"/>
                          </a:solidFill>
                          <a:effectLst/>
                          <a:latin typeface="Consolas" panose="020B0609020204030204" pitchFamily="49" charset="0"/>
                          <a:ea typeface="STKaiti" panose="02010600040101010101" pitchFamily="2" charset="-122"/>
                          <a:cs typeface="Times New Roman" pitchFamily="18" charset="0"/>
                        </a:rPr>
                        <a:t>$sp</a:t>
                      </a:r>
                      <a:endParaRPr kumimoji="0" lang="en-US" altLang="zh-CN" sz="2800" b="0" i="1" u="none" strike="noStrike" cap="none" normalizeH="0" baseline="0" dirty="0">
                        <a:ln>
                          <a:noFill/>
                        </a:ln>
                        <a:solidFill>
                          <a:schemeClr val="tx1"/>
                        </a:solidFill>
                        <a:effectLst/>
                        <a:latin typeface="Consolas" panose="020B0609020204030204" pitchFamily="49" charset="0"/>
                        <a:ea typeface="STKaiti" panose="02010600040101010101" pitchFamily="2" charset="-122"/>
                      </a:endParaRPr>
                    </a:p>
                  </a:txBody>
                  <a:tcPr marL="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dirty="0">
                          <a:ln>
                            <a:noFill/>
                          </a:ln>
                          <a:solidFill>
                            <a:schemeClr val="tx1"/>
                          </a:solidFill>
                          <a:effectLst/>
                          <a:latin typeface="+mj-ea"/>
                          <a:ea typeface="+mj-ea"/>
                          <a:cs typeface="Times New Roman" pitchFamily="18" charset="0"/>
                        </a:rPr>
                        <a:t>堆栈指针</a:t>
                      </a:r>
                      <a:endParaRPr kumimoji="0" lang="zh-CN" altLang="en-US" sz="2800" b="0" i="0" u="none" strike="noStrike" cap="none" normalizeH="0" baseline="0" dirty="0">
                        <a:ln>
                          <a:noFill/>
                        </a:ln>
                        <a:solidFill>
                          <a:schemeClr val="tx1"/>
                        </a:solidFill>
                        <a:effectLst/>
                        <a:latin typeface="+mj-ea"/>
                        <a:ea typeface="+mj-ea"/>
                      </a:endParaRPr>
                    </a:p>
                  </a:txBody>
                  <a:tcPr marL="3600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0"/>
                  </a:ext>
                </a:extLst>
              </a:tr>
              <a:tr h="24178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mn-lt"/>
                          <a:ea typeface="STKaiti" panose="02010600040101010101" pitchFamily="2" charset="-122"/>
                          <a:cs typeface="Times New Roman" pitchFamily="18" charset="0"/>
                        </a:rPr>
                        <a:t>30</a:t>
                      </a:r>
                      <a:endParaRPr kumimoji="0" lang="en-US" altLang="zh-CN" sz="2800" b="0" i="0" u="none" strike="noStrike" cap="none" normalizeH="0" baseline="0">
                        <a:ln>
                          <a:noFill/>
                        </a:ln>
                        <a:solidFill>
                          <a:schemeClr val="tx1"/>
                        </a:solidFill>
                        <a:effectLst/>
                        <a:latin typeface="+mn-lt"/>
                        <a:ea typeface="STKaiti" panose="02010600040101010101" pitchFamily="2" charset="-122"/>
                      </a:endParaRPr>
                    </a:p>
                  </a:txBody>
                  <a:tcPr marL="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dirty="0">
                          <a:ln>
                            <a:noFill/>
                          </a:ln>
                          <a:solidFill>
                            <a:schemeClr val="tx1"/>
                          </a:solidFill>
                          <a:effectLst/>
                          <a:latin typeface="Consolas" panose="020B0609020204030204" pitchFamily="49" charset="0"/>
                          <a:ea typeface="STKaiti" panose="02010600040101010101" pitchFamily="2" charset="-122"/>
                          <a:cs typeface="Times New Roman" pitchFamily="18" charset="0"/>
                        </a:rPr>
                        <a:t>$</a:t>
                      </a:r>
                      <a:r>
                        <a:rPr kumimoji="0" lang="en-US" altLang="zh-CN" sz="1600" b="1" i="1" u="none" strike="noStrike" cap="none" normalizeH="0" baseline="0" dirty="0" err="1">
                          <a:ln>
                            <a:noFill/>
                          </a:ln>
                          <a:solidFill>
                            <a:schemeClr val="tx1"/>
                          </a:solidFill>
                          <a:effectLst/>
                          <a:latin typeface="Consolas" panose="020B0609020204030204" pitchFamily="49" charset="0"/>
                          <a:ea typeface="STKaiti" panose="02010600040101010101" pitchFamily="2" charset="-122"/>
                          <a:cs typeface="Times New Roman" pitchFamily="18" charset="0"/>
                        </a:rPr>
                        <a:t>fp</a:t>
                      </a:r>
                      <a:endParaRPr kumimoji="0" lang="en-US" altLang="zh-CN" sz="2800" b="0" i="1" u="none" strike="noStrike" cap="none" normalizeH="0" baseline="0" dirty="0">
                        <a:ln>
                          <a:noFill/>
                        </a:ln>
                        <a:solidFill>
                          <a:schemeClr val="tx1"/>
                        </a:solidFill>
                        <a:effectLst/>
                        <a:latin typeface="Consolas" panose="020B0609020204030204" pitchFamily="49" charset="0"/>
                        <a:ea typeface="STKaiti" panose="02010600040101010101" pitchFamily="2" charset="-122"/>
                      </a:endParaRPr>
                    </a:p>
                  </a:txBody>
                  <a:tcPr marL="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dirty="0">
                          <a:ln>
                            <a:noFill/>
                          </a:ln>
                          <a:solidFill>
                            <a:schemeClr val="tx1"/>
                          </a:solidFill>
                          <a:effectLst/>
                          <a:latin typeface="+mj-ea"/>
                          <a:ea typeface="+mj-ea"/>
                          <a:cs typeface="Times New Roman" pitchFamily="18" charset="0"/>
                        </a:rPr>
                        <a:t>帧指针</a:t>
                      </a:r>
                    </a:p>
                  </a:txBody>
                  <a:tcPr marL="3600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1"/>
                  </a:ext>
                </a:extLst>
              </a:tr>
              <a:tr h="12046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mn-lt"/>
                          <a:ea typeface="STKaiti" panose="02010600040101010101" pitchFamily="2" charset="-122"/>
                          <a:cs typeface="Times New Roman" pitchFamily="18" charset="0"/>
                        </a:rPr>
                        <a:t>31</a:t>
                      </a:r>
                      <a:endParaRPr kumimoji="0" lang="en-US" altLang="zh-CN" sz="2800" b="0" i="0" u="none" strike="noStrike" cap="none" normalizeH="0" baseline="0">
                        <a:ln>
                          <a:noFill/>
                        </a:ln>
                        <a:solidFill>
                          <a:schemeClr val="tx1"/>
                        </a:solidFill>
                        <a:effectLst/>
                        <a:latin typeface="+mn-lt"/>
                        <a:ea typeface="STKaiti" panose="02010600040101010101" pitchFamily="2" charset="-122"/>
                      </a:endParaRPr>
                    </a:p>
                  </a:txBody>
                  <a:tcPr marL="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dirty="0">
                          <a:ln>
                            <a:noFill/>
                          </a:ln>
                          <a:solidFill>
                            <a:schemeClr val="tx1"/>
                          </a:solidFill>
                          <a:effectLst/>
                          <a:latin typeface="Consolas" panose="020B0609020204030204" pitchFamily="49" charset="0"/>
                          <a:ea typeface="STKaiti" panose="02010600040101010101" pitchFamily="2" charset="-122"/>
                          <a:cs typeface="Times New Roman" pitchFamily="18" charset="0"/>
                        </a:rPr>
                        <a:t>$</a:t>
                      </a:r>
                      <a:r>
                        <a:rPr kumimoji="0" lang="en-US" altLang="zh-CN" sz="1600" b="1" i="1" u="none" strike="noStrike" cap="none" normalizeH="0" baseline="0" dirty="0" err="1">
                          <a:ln>
                            <a:noFill/>
                          </a:ln>
                          <a:solidFill>
                            <a:schemeClr val="tx1"/>
                          </a:solidFill>
                          <a:effectLst/>
                          <a:latin typeface="Consolas" panose="020B0609020204030204" pitchFamily="49" charset="0"/>
                          <a:ea typeface="STKaiti" panose="02010600040101010101" pitchFamily="2" charset="-122"/>
                          <a:cs typeface="Times New Roman" pitchFamily="18" charset="0"/>
                        </a:rPr>
                        <a:t>ra</a:t>
                      </a:r>
                      <a:endParaRPr kumimoji="0" lang="en-US" altLang="zh-CN" sz="2800" b="0" i="1" u="none" strike="noStrike" cap="none" normalizeH="0" baseline="0" dirty="0">
                        <a:ln>
                          <a:noFill/>
                        </a:ln>
                        <a:solidFill>
                          <a:schemeClr val="tx1"/>
                        </a:solidFill>
                        <a:effectLst/>
                        <a:latin typeface="Consolas" panose="020B0609020204030204" pitchFamily="49" charset="0"/>
                        <a:ea typeface="STKaiti" panose="02010600040101010101" pitchFamily="2" charset="-122"/>
                      </a:endParaRPr>
                    </a:p>
                  </a:txBody>
                  <a:tcPr marL="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dirty="0">
                          <a:ln>
                            <a:noFill/>
                          </a:ln>
                          <a:solidFill>
                            <a:schemeClr val="tx1"/>
                          </a:solidFill>
                          <a:effectLst/>
                          <a:latin typeface="+mj-ea"/>
                          <a:ea typeface="+mj-ea"/>
                          <a:cs typeface="Times New Roman" pitchFamily="18" charset="0"/>
                        </a:rPr>
                        <a:t>返回地址</a:t>
                      </a:r>
                      <a:endParaRPr kumimoji="0" lang="zh-CN" altLang="en-US" sz="2800" b="0" i="0" u="none" strike="noStrike" cap="none" normalizeH="0" baseline="0" dirty="0">
                        <a:ln>
                          <a:noFill/>
                        </a:ln>
                        <a:solidFill>
                          <a:schemeClr val="tx1"/>
                        </a:solidFill>
                        <a:effectLst/>
                        <a:latin typeface="+mj-ea"/>
                        <a:ea typeface="+mj-ea"/>
                      </a:endParaRPr>
                    </a:p>
                  </a:txBody>
                  <a:tcPr marL="3600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76414800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5E3845A9-7E82-4657-B497-16CB36280F3B}"/>
              </a:ext>
            </a:extLst>
          </p:cNvPr>
          <p:cNvSpPr>
            <a:spLocks noGrp="1"/>
          </p:cNvSpPr>
          <p:nvPr>
            <p:ph type="sldNum" sz="quarter" idx="12"/>
          </p:nvPr>
        </p:nvSpPr>
        <p:spPr/>
        <p:txBody>
          <a:bodyPr/>
          <a:lstStyle/>
          <a:p>
            <a:fld id="{176ACFD1-D213-4B9C-817B-45486DBF105A}" type="slidenum">
              <a:rPr lang="en-US" smtClean="0">
                <a:solidFill>
                  <a:prstClr val="black"/>
                </a:solidFill>
              </a:rPr>
              <a:pPr/>
              <a:t>81</a:t>
            </a:fld>
            <a:endParaRPr lang="en-US">
              <a:solidFill>
                <a:prstClr val="black"/>
              </a:solidFill>
            </a:endParaRPr>
          </a:p>
        </p:txBody>
      </p:sp>
      <p:sp>
        <p:nvSpPr>
          <p:cNvPr id="11" name="内容占位符 4">
            <a:extLst>
              <a:ext uri="{FF2B5EF4-FFF2-40B4-BE49-F238E27FC236}">
                <a16:creationId xmlns:a16="http://schemas.microsoft.com/office/drawing/2014/main" id="{7449AFF7-0085-40AE-8C2A-30000B95BF8E}"/>
              </a:ext>
            </a:extLst>
          </p:cNvPr>
          <p:cNvSpPr>
            <a:spLocks noGrp="1"/>
          </p:cNvSpPr>
          <p:nvPr>
            <p:ph idx="4294967295"/>
          </p:nvPr>
        </p:nvSpPr>
        <p:spPr>
          <a:xfrm>
            <a:off x="522007" y="1253331"/>
            <a:ext cx="7886700" cy="4351338"/>
          </a:xfrm>
        </p:spPr>
        <p:txBody>
          <a:bodyPr/>
          <a:lstStyle/>
          <a:p>
            <a:r>
              <a:rPr lang="zh-CN" altLang="en-US" kern="0" dirty="0"/>
              <a:t>过程调用保持情况（从主调过程的视角）</a:t>
            </a:r>
          </a:p>
          <a:p>
            <a:pPr lvl="1"/>
            <a:r>
              <a:rPr lang="zh-CN" altLang="en-US" dirty="0">
                <a:latin typeface="黑体" panose="02010609060101010101" pitchFamily="49" charset="-122"/>
              </a:rPr>
              <a:t>主调过程和被调过程都需要维护一些数据</a:t>
            </a:r>
          </a:p>
          <a:p>
            <a:pPr lvl="1"/>
            <a:endParaRPr lang="en-US" altLang="zh-CN" dirty="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p:txBody>
      </p:sp>
      <p:sp>
        <p:nvSpPr>
          <p:cNvPr id="13" name="TextBox 2">
            <a:extLst>
              <a:ext uri="{FF2B5EF4-FFF2-40B4-BE49-F238E27FC236}">
                <a16:creationId xmlns:a16="http://schemas.microsoft.com/office/drawing/2014/main" id="{71D0DD46-69B3-4A10-B4E2-8D4703E6DF3F}"/>
              </a:ext>
            </a:extLst>
          </p:cNvPr>
          <p:cNvSpPr txBox="1"/>
          <p:nvPr/>
        </p:nvSpPr>
        <p:spPr>
          <a:xfrm>
            <a:off x="281331" y="4415548"/>
            <a:ext cx="4032919" cy="1092607"/>
          </a:xfrm>
          <a:prstGeom prst="rect">
            <a:avLst/>
          </a:prstGeom>
          <a:noFill/>
        </p:spPr>
        <p:txBody>
          <a:bodyPr wrap="square" rtlCol="0">
            <a:spAutoFit/>
          </a:bodyPr>
          <a:lstStyle/>
          <a:p>
            <a:pPr marL="285750" indent="-285750" algn="l">
              <a:spcBef>
                <a:spcPts val="0"/>
              </a:spcBef>
              <a:spcAft>
                <a:spcPts val="600"/>
              </a:spcAft>
              <a:buFont typeface="Arial" panose="020B0604020202020204" pitchFamily="34" charset="0"/>
              <a:buChar char="•"/>
            </a:pPr>
            <a:r>
              <a:rPr lang="zh-CN" altLang="en-US" sz="2000" dirty="0">
                <a:solidFill>
                  <a:srgbClr val="0432FF"/>
                </a:solidFill>
                <a:latin typeface="黑体" panose="02010609060101010101" pitchFamily="49" charset="-122"/>
                <a:ea typeface="黑体" panose="02010609060101010101" pitchFamily="49" charset="-122"/>
              </a:rPr>
              <a:t>被调过程</a:t>
            </a:r>
            <a:r>
              <a:rPr lang="en-CN" sz="2000" dirty="0">
                <a:solidFill>
                  <a:srgbClr val="0432FF"/>
                </a:solidFill>
                <a:latin typeface="黑体" panose="02010609060101010101" pitchFamily="49" charset="-122"/>
                <a:ea typeface="黑体" panose="02010609060101010101" pitchFamily="49" charset="-122"/>
              </a:rPr>
              <a:t>不改变这些寄存器数据</a:t>
            </a:r>
          </a:p>
          <a:p>
            <a:pPr marL="285750" indent="-285750" algn="l">
              <a:spcBef>
                <a:spcPts val="0"/>
              </a:spcBef>
              <a:spcAft>
                <a:spcPts val="600"/>
              </a:spcAft>
              <a:buFont typeface="Arial" panose="020B0604020202020204" pitchFamily="34" charset="0"/>
              <a:buChar char="•"/>
            </a:pPr>
            <a:r>
              <a:rPr lang="zh-CN" altLang="en-CN" sz="2000" dirty="0">
                <a:solidFill>
                  <a:srgbClr val="0432FF"/>
                </a:solidFill>
                <a:latin typeface="黑体" panose="02010609060101010101" pitchFamily="49" charset="-122"/>
                <a:ea typeface="黑体" panose="02010609060101010101" pitchFamily="49" charset="-122"/>
              </a:rPr>
              <a:t>如果</a:t>
            </a:r>
            <a:r>
              <a:rPr lang="zh-CN" altLang="en-US" sz="2000" dirty="0">
                <a:solidFill>
                  <a:srgbClr val="0432FF"/>
                </a:solidFill>
                <a:latin typeface="黑体" panose="02010609060101010101" pitchFamily="49" charset="-122"/>
                <a:ea typeface="黑体" panose="02010609060101010101" pitchFamily="49" charset="-122"/>
              </a:rPr>
              <a:t>被调过程要用，需要被调过程维护好</a:t>
            </a:r>
            <a:endParaRPr lang="en-US" altLang="zh-CN" sz="2000" dirty="0">
              <a:solidFill>
                <a:srgbClr val="0432FF"/>
              </a:solidFill>
              <a:latin typeface="黑体" panose="02010609060101010101" pitchFamily="49" charset="-122"/>
              <a:ea typeface="黑体" panose="02010609060101010101" pitchFamily="49" charset="-122"/>
            </a:endParaRPr>
          </a:p>
        </p:txBody>
      </p:sp>
      <p:sp>
        <p:nvSpPr>
          <p:cNvPr id="14" name="TextBox 8">
            <a:extLst>
              <a:ext uri="{FF2B5EF4-FFF2-40B4-BE49-F238E27FC236}">
                <a16:creationId xmlns:a16="http://schemas.microsoft.com/office/drawing/2014/main" id="{75CDE3EB-053E-426F-8416-0D870F7BE132}"/>
              </a:ext>
            </a:extLst>
          </p:cNvPr>
          <p:cNvSpPr txBox="1"/>
          <p:nvPr/>
        </p:nvSpPr>
        <p:spPr>
          <a:xfrm>
            <a:off x="4519140" y="4415548"/>
            <a:ext cx="4336424" cy="1092607"/>
          </a:xfrm>
          <a:prstGeom prst="rect">
            <a:avLst/>
          </a:prstGeom>
          <a:noFill/>
        </p:spPr>
        <p:txBody>
          <a:bodyPr wrap="square" rtlCol="0">
            <a:spAutoFit/>
          </a:bodyPr>
          <a:lstStyle/>
          <a:p>
            <a:pPr marL="285750" indent="-285750" algn="l">
              <a:spcBef>
                <a:spcPts val="0"/>
              </a:spcBef>
              <a:spcAft>
                <a:spcPts val="600"/>
              </a:spcAft>
              <a:buFont typeface="Arial" panose="020B0604020202020204" pitchFamily="34" charset="0"/>
              <a:buChar char="•"/>
            </a:pPr>
            <a:r>
              <a:rPr lang="zh-CN" altLang="en-US" sz="2000" dirty="0">
                <a:solidFill>
                  <a:srgbClr val="0432FF"/>
                </a:solidFill>
                <a:latin typeface="黑体" panose="02010609060101010101" pitchFamily="49" charset="-122"/>
                <a:ea typeface="黑体" panose="02010609060101010101" pitchFamily="49" charset="-122"/>
              </a:rPr>
              <a:t>被调过程</a:t>
            </a:r>
            <a:r>
              <a:rPr lang="en-CN" sz="2000" dirty="0">
                <a:solidFill>
                  <a:srgbClr val="0432FF"/>
                </a:solidFill>
                <a:latin typeface="黑体" panose="02010609060101010101" pitchFamily="49" charset="-122"/>
                <a:ea typeface="黑体" panose="02010609060101010101" pitchFamily="49" charset="-122"/>
              </a:rPr>
              <a:t>可以改变这些寄存器数据</a:t>
            </a:r>
          </a:p>
          <a:p>
            <a:pPr marL="285750" indent="-285750" algn="l">
              <a:spcBef>
                <a:spcPts val="0"/>
              </a:spcBef>
              <a:spcAft>
                <a:spcPts val="600"/>
              </a:spcAft>
              <a:buFont typeface="Arial" panose="020B0604020202020204" pitchFamily="34" charset="0"/>
              <a:buChar char="•"/>
            </a:pPr>
            <a:r>
              <a:rPr lang="zh-CN" altLang="en-CN" sz="2000" dirty="0">
                <a:solidFill>
                  <a:srgbClr val="0432FF"/>
                </a:solidFill>
                <a:latin typeface="黑体" panose="02010609060101010101" pitchFamily="49" charset="-122"/>
                <a:ea typeface="黑体" panose="02010609060101010101" pitchFamily="49" charset="-122"/>
              </a:rPr>
              <a:t>如果</a:t>
            </a:r>
            <a:r>
              <a:rPr lang="zh-CN" altLang="en-US" sz="2000" dirty="0">
                <a:solidFill>
                  <a:srgbClr val="0432FF"/>
                </a:solidFill>
                <a:latin typeface="黑体" panose="02010609060101010101" pitchFamily="49" charset="-122"/>
                <a:ea typeface="黑体" panose="02010609060101010101" pitchFamily="49" charset="-122"/>
              </a:rPr>
              <a:t>主调过程需要调用结束后继续使用，需主调过程提前备份好</a:t>
            </a:r>
            <a:endParaRPr lang="en-US" altLang="zh-CN" sz="2000" dirty="0">
              <a:solidFill>
                <a:srgbClr val="0432FF"/>
              </a:solidFill>
              <a:latin typeface="黑体" panose="02010609060101010101" pitchFamily="49" charset="-122"/>
              <a:ea typeface="黑体" panose="02010609060101010101" pitchFamily="49" charset="-122"/>
            </a:endParaRPr>
          </a:p>
        </p:txBody>
      </p:sp>
      <p:sp>
        <p:nvSpPr>
          <p:cNvPr id="3" name="Title 4">
            <a:extLst>
              <a:ext uri="{FF2B5EF4-FFF2-40B4-BE49-F238E27FC236}">
                <a16:creationId xmlns:a16="http://schemas.microsoft.com/office/drawing/2014/main" id="{FAF104C0-C301-B345-1F2E-87FB73067A55}"/>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sz="4000" dirty="0"/>
              <a:t>谁来保存寄存器数据？</a:t>
            </a:r>
            <a:endParaRPr lang="en-CN" kern="0" dirty="0"/>
          </a:p>
        </p:txBody>
      </p:sp>
      <p:graphicFrame>
        <p:nvGraphicFramePr>
          <p:cNvPr id="2" name="Group 66">
            <a:extLst>
              <a:ext uri="{FF2B5EF4-FFF2-40B4-BE49-F238E27FC236}">
                <a16:creationId xmlns:a16="http://schemas.microsoft.com/office/drawing/2014/main" id="{6DC4ACBE-FF25-6180-CC33-FADEA3C533AD}"/>
              </a:ext>
            </a:extLst>
          </p:cNvPr>
          <p:cNvGraphicFramePr>
            <a:graphicFrameLocks noGrp="1"/>
          </p:cNvGraphicFramePr>
          <p:nvPr>
            <p:extLst>
              <p:ext uri="{D42A27DB-BD31-4B8C-83A1-F6EECF244321}">
                <p14:modId xmlns:p14="http://schemas.microsoft.com/office/powerpoint/2010/main" val="3103408018"/>
              </p:ext>
            </p:extLst>
          </p:nvPr>
        </p:nvGraphicFramePr>
        <p:xfrm>
          <a:off x="318153" y="2544608"/>
          <a:ext cx="8507694" cy="1753300"/>
        </p:xfrm>
        <a:graphic>
          <a:graphicData uri="http://schemas.openxmlformats.org/drawingml/2006/table">
            <a:tbl>
              <a:tblPr/>
              <a:tblGrid>
                <a:gridCol w="4103722">
                  <a:extLst>
                    <a:ext uri="{9D8B030D-6E8A-4147-A177-3AD203B41FA5}">
                      <a16:colId xmlns:a16="http://schemas.microsoft.com/office/drawing/2014/main" val="20002"/>
                    </a:ext>
                  </a:extLst>
                </a:gridCol>
                <a:gridCol w="4403972">
                  <a:extLst>
                    <a:ext uri="{9D8B030D-6E8A-4147-A177-3AD203B41FA5}">
                      <a16:colId xmlns:a16="http://schemas.microsoft.com/office/drawing/2014/main" val="4088910558"/>
                    </a:ext>
                  </a:extLst>
                </a:gridCol>
              </a:tblGrid>
              <a:tr h="46754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mj-ea"/>
                          <a:ea typeface="+mj-ea"/>
                          <a:cs typeface="Times New Roman" pitchFamily="18" charset="0"/>
                        </a:rPr>
                        <a:t>被保持（主调过程无需维护）</a:t>
                      </a:r>
                      <a:endParaRPr kumimoji="0" lang="zh-CN" altLang="en-US" sz="4000" b="1" i="0" u="none" strike="noStrike" cap="none" normalizeH="0" baseline="0" dirty="0">
                        <a:ln>
                          <a:noFill/>
                        </a:ln>
                        <a:solidFill>
                          <a:schemeClr val="tx1"/>
                        </a:solidFill>
                        <a:effectLst/>
                        <a:latin typeface="+mj-ea"/>
                        <a:ea typeface="+mj-ea"/>
                      </a:endParaRPr>
                    </a:p>
                  </a:txBody>
                  <a:tcPr marL="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mj-ea"/>
                          <a:ea typeface="+mj-ea"/>
                        </a:rPr>
                        <a:t>不被保持（主调过程负责维护）</a:t>
                      </a:r>
                    </a:p>
                  </a:txBody>
                  <a:tcPr marL="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40910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dirty="0">
                          <a:ln>
                            <a:noFill/>
                          </a:ln>
                          <a:solidFill>
                            <a:schemeClr val="tx1"/>
                          </a:solidFill>
                          <a:effectLst/>
                          <a:latin typeface="+mn-ea"/>
                          <a:ea typeface="+mn-ea"/>
                          <a:cs typeface="Times New Roman" pitchFamily="18" charset="0"/>
                        </a:rPr>
                        <a:t>保存寄存器：</a:t>
                      </a:r>
                      <a:r>
                        <a:rPr kumimoji="0" lang="en-US" altLang="zh-CN" sz="2000" b="0" i="1" u="none" strike="noStrike" kern="1200" cap="none" normalizeH="0" baseline="0" dirty="0">
                          <a:ln>
                            <a:noFill/>
                          </a:ln>
                          <a:solidFill>
                            <a:schemeClr val="tx1"/>
                          </a:solidFill>
                          <a:effectLst/>
                          <a:latin typeface="Consolas" panose="020B0609020204030204" pitchFamily="49" charset="0"/>
                          <a:ea typeface="+mn-ea"/>
                          <a:cs typeface="Times New Roman" pitchFamily="18" charset="0"/>
                        </a:rPr>
                        <a:t>$</a:t>
                      </a:r>
                      <a:r>
                        <a:rPr kumimoji="0" lang="en-US" altLang="zh-CN" sz="2000" b="0" i="1" u="none" strike="noStrike" cap="none" normalizeH="0" baseline="0" dirty="0">
                          <a:ln>
                            <a:noFill/>
                          </a:ln>
                          <a:solidFill>
                            <a:schemeClr val="tx1"/>
                          </a:solidFill>
                          <a:effectLst/>
                          <a:latin typeface="Consolas" panose="020B0609020204030204" pitchFamily="49" charset="0"/>
                          <a:ea typeface="+mn-ea"/>
                          <a:cs typeface="Times New Roman" pitchFamily="18" charset="0"/>
                        </a:rPr>
                        <a:t>s0-$s7</a:t>
                      </a:r>
                      <a:endParaRPr kumimoji="0" lang="en-US" altLang="zh-CN" sz="3600" b="0" i="1" u="none" strike="noStrike" cap="none" normalizeH="0" baseline="0" dirty="0">
                        <a:ln>
                          <a:noFill/>
                        </a:ln>
                        <a:solidFill>
                          <a:schemeClr val="tx1"/>
                        </a:solidFill>
                        <a:effectLst/>
                        <a:latin typeface="Consolas" panose="020B0609020204030204" pitchFamily="49" charset="0"/>
                        <a:ea typeface="+mn-ea"/>
                      </a:endParaRPr>
                    </a:p>
                  </a:txBody>
                  <a:tcPr marL="3600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dirty="0">
                          <a:ln>
                            <a:noFill/>
                          </a:ln>
                          <a:solidFill>
                            <a:schemeClr val="tx1"/>
                          </a:solidFill>
                          <a:effectLst/>
                          <a:latin typeface="+mn-ea"/>
                          <a:ea typeface="+mn-ea"/>
                        </a:rPr>
                        <a:t>临时寄存器：</a:t>
                      </a:r>
                      <a:r>
                        <a:rPr kumimoji="0" lang="en-US" altLang="zh-CN" sz="2000" b="0" i="1" u="none" strike="noStrike" kern="1200" cap="none" normalizeH="0" baseline="0" dirty="0">
                          <a:ln>
                            <a:noFill/>
                          </a:ln>
                          <a:solidFill>
                            <a:schemeClr val="tx1"/>
                          </a:solidFill>
                          <a:effectLst/>
                          <a:latin typeface="Consolas" panose="020B0609020204030204" pitchFamily="49" charset="0"/>
                          <a:ea typeface="+mn-ea"/>
                          <a:cs typeface="Times New Roman" pitchFamily="18" charset="0"/>
                        </a:rPr>
                        <a:t>$t0-$</a:t>
                      </a:r>
                      <a:r>
                        <a:rPr kumimoji="0" lang="en-US" altLang="zh-CN" sz="2000" b="0" i="1" u="none" strike="noStrike" cap="none" normalizeH="0" baseline="0" dirty="0">
                          <a:ln>
                            <a:noFill/>
                          </a:ln>
                          <a:solidFill>
                            <a:schemeClr val="tx1"/>
                          </a:solidFill>
                          <a:effectLst/>
                          <a:latin typeface="Consolas" panose="020B0609020204030204" pitchFamily="49" charset="0"/>
                          <a:ea typeface="+mn-ea"/>
                        </a:rPr>
                        <a:t>t9</a:t>
                      </a:r>
                    </a:p>
                  </a:txBody>
                  <a:tcPr marL="3600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40910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dirty="0">
                          <a:ln>
                            <a:noFill/>
                          </a:ln>
                          <a:solidFill>
                            <a:schemeClr val="tx1"/>
                          </a:solidFill>
                          <a:effectLst/>
                          <a:latin typeface="+mn-ea"/>
                          <a:ea typeface="+mn-ea"/>
                          <a:cs typeface="Times New Roman" pitchFamily="18" charset="0"/>
                        </a:rPr>
                        <a:t>栈指针：</a:t>
                      </a:r>
                      <a:r>
                        <a:rPr kumimoji="0" lang="en-US" altLang="zh-CN" sz="2000" b="0" i="1" u="none" strike="noStrike" kern="1200" cap="none" normalizeH="0" baseline="0" dirty="0">
                          <a:ln>
                            <a:noFill/>
                          </a:ln>
                          <a:solidFill>
                            <a:schemeClr val="tx1"/>
                          </a:solidFill>
                          <a:effectLst/>
                          <a:latin typeface="Consolas" panose="020B0609020204030204" pitchFamily="49" charset="0"/>
                          <a:ea typeface="+mn-ea"/>
                          <a:cs typeface="Times New Roman" pitchFamily="18" charset="0"/>
                        </a:rPr>
                        <a:t>$s</a:t>
                      </a:r>
                      <a:r>
                        <a:rPr kumimoji="0" lang="en-US" altLang="zh-CN" sz="2000" b="0" i="1" u="none" strike="noStrike" cap="none" normalizeH="0" baseline="0" dirty="0">
                          <a:ln>
                            <a:noFill/>
                          </a:ln>
                          <a:solidFill>
                            <a:schemeClr val="tx1"/>
                          </a:solidFill>
                          <a:effectLst/>
                          <a:latin typeface="Consolas" panose="020B0609020204030204" pitchFamily="49" charset="0"/>
                          <a:ea typeface="+mn-ea"/>
                          <a:cs typeface="Times New Roman" pitchFamily="18" charset="0"/>
                        </a:rPr>
                        <a:t>p</a:t>
                      </a:r>
                      <a:endParaRPr kumimoji="0" lang="zh-CN" altLang="en-US" sz="3600" b="0" i="1" u="none" strike="noStrike" cap="none" normalizeH="0" baseline="0" dirty="0">
                        <a:ln>
                          <a:noFill/>
                        </a:ln>
                        <a:solidFill>
                          <a:schemeClr val="tx1"/>
                        </a:solidFill>
                        <a:effectLst/>
                        <a:latin typeface="Consolas" panose="020B0609020204030204" pitchFamily="49" charset="0"/>
                        <a:ea typeface="+mn-ea"/>
                      </a:endParaRPr>
                    </a:p>
                  </a:txBody>
                  <a:tcPr marL="3600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dirty="0">
                          <a:ln>
                            <a:noFill/>
                          </a:ln>
                          <a:solidFill>
                            <a:schemeClr val="tx1"/>
                          </a:solidFill>
                          <a:effectLst/>
                          <a:latin typeface="+mn-ea"/>
                          <a:ea typeface="+mn-ea"/>
                        </a:rPr>
                        <a:t>参数寄存器：</a:t>
                      </a:r>
                      <a:r>
                        <a:rPr kumimoji="0" lang="en-US" altLang="zh-CN" sz="2000" b="0" i="1" u="none" strike="noStrike" kern="1200" cap="none" normalizeH="0" baseline="0" dirty="0">
                          <a:ln>
                            <a:noFill/>
                          </a:ln>
                          <a:solidFill>
                            <a:schemeClr val="tx1"/>
                          </a:solidFill>
                          <a:effectLst/>
                          <a:latin typeface="Consolas" panose="020B0609020204030204" pitchFamily="49" charset="0"/>
                          <a:ea typeface="+mn-ea"/>
                          <a:cs typeface="Times New Roman" pitchFamily="18" charset="0"/>
                        </a:rPr>
                        <a:t>$a0-$</a:t>
                      </a:r>
                      <a:r>
                        <a:rPr kumimoji="0" lang="en-US" altLang="zh-CN" sz="2000" b="0" i="1" u="none" strike="noStrike" cap="none" normalizeH="0" baseline="0" dirty="0">
                          <a:ln>
                            <a:noFill/>
                          </a:ln>
                          <a:solidFill>
                            <a:schemeClr val="tx1"/>
                          </a:solidFill>
                          <a:effectLst/>
                          <a:latin typeface="Consolas" panose="020B0609020204030204" pitchFamily="49" charset="0"/>
                          <a:ea typeface="+mn-ea"/>
                        </a:rPr>
                        <a:t>a3</a:t>
                      </a:r>
                      <a:endParaRPr kumimoji="0" lang="zh-CN" altLang="en-US" sz="2000" b="0" i="1" u="none" strike="noStrike" cap="none" normalizeH="0" baseline="0" dirty="0">
                        <a:ln>
                          <a:noFill/>
                        </a:ln>
                        <a:solidFill>
                          <a:schemeClr val="tx1"/>
                        </a:solidFill>
                        <a:effectLst/>
                        <a:latin typeface="Consolas" panose="020B0609020204030204" pitchFamily="49" charset="0"/>
                        <a:ea typeface="+mn-ea"/>
                      </a:endParaRPr>
                    </a:p>
                  </a:txBody>
                  <a:tcPr marL="3600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6754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dirty="0">
                          <a:ln>
                            <a:noFill/>
                          </a:ln>
                          <a:solidFill>
                            <a:schemeClr val="tx1"/>
                          </a:solidFill>
                          <a:effectLst/>
                          <a:latin typeface="+mn-ea"/>
                          <a:ea typeface="+mn-ea"/>
                          <a:cs typeface="Times New Roman" pitchFamily="18" charset="0"/>
                        </a:rPr>
                        <a:t>返回地址寄存器：</a:t>
                      </a:r>
                      <a:r>
                        <a:rPr kumimoji="0" lang="en-US" altLang="zh-CN" sz="2000" b="0" i="1" u="none" strike="noStrike" kern="1200" cap="none" normalizeH="0" baseline="0" dirty="0">
                          <a:ln>
                            <a:noFill/>
                          </a:ln>
                          <a:solidFill>
                            <a:schemeClr val="tx1"/>
                          </a:solidFill>
                          <a:effectLst/>
                          <a:latin typeface="Consolas" panose="020B0609020204030204" pitchFamily="49" charset="0"/>
                          <a:ea typeface="+mn-ea"/>
                          <a:cs typeface="Times New Roman" pitchFamily="18" charset="0"/>
                        </a:rPr>
                        <a:t>$</a:t>
                      </a:r>
                      <a:r>
                        <a:rPr kumimoji="0" lang="en-US" altLang="zh-CN" sz="2000" b="0" i="1" u="none" strike="noStrike" kern="1200" cap="none" normalizeH="0" baseline="0" dirty="0" err="1">
                          <a:ln>
                            <a:noFill/>
                          </a:ln>
                          <a:solidFill>
                            <a:schemeClr val="tx1"/>
                          </a:solidFill>
                          <a:effectLst/>
                          <a:latin typeface="Consolas" panose="020B0609020204030204" pitchFamily="49" charset="0"/>
                          <a:ea typeface="+mn-ea"/>
                          <a:cs typeface="Times New Roman" pitchFamily="18" charset="0"/>
                        </a:rPr>
                        <a:t>r</a:t>
                      </a:r>
                      <a:r>
                        <a:rPr kumimoji="0" lang="en-US" altLang="zh-CN" sz="2000" b="0" i="1" u="none" strike="noStrike" cap="none" normalizeH="0" baseline="0" dirty="0" err="1">
                          <a:ln>
                            <a:noFill/>
                          </a:ln>
                          <a:solidFill>
                            <a:schemeClr val="tx1"/>
                          </a:solidFill>
                          <a:effectLst/>
                          <a:latin typeface="Consolas" panose="020B0609020204030204" pitchFamily="49" charset="0"/>
                          <a:ea typeface="+mn-ea"/>
                          <a:cs typeface="Times New Roman" pitchFamily="18" charset="0"/>
                        </a:rPr>
                        <a:t>a</a:t>
                      </a:r>
                      <a:endParaRPr kumimoji="0" lang="zh-CN" altLang="en-US" sz="3600" b="0" i="1" u="none" strike="noStrike" cap="none" normalizeH="0" baseline="0" dirty="0">
                        <a:ln>
                          <a:noFill/>
                        </a:ln>
                        <a:solidFill>
                          <a:schemeClr val="tx1"/>
                        </a:solidFill>
                        <a:effectLst/>
                        <a:latin typeface="Consolas" panose="020B0609020204030204" pitchFamily="49" charset="0"/>
                        <a:ea typeface="+mn-ea"/>
                      </a:endParaRPr>
                    </a:p>
                  </a:txBody>
                  <a:tcPr marL="3600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dirty="0">
                          <a:ln>
                            <a:noFill/>
                          </a:ln>
                          <a:solidFill>
                            <a:schemeClr val="tx1"/>
                          </a:solidFill>
                          <a:effectLst/>
                          <a:latin typeface="+mn-ea"/>
                          <a:ea typeface="+mn-ea"/>
                        </a:rPr>
                        <a:t>返回值寄存器：</a:t>
                      </a:r>
                      <a:r>
                        <a:rPr kumimoji="0" lang="en-US" altLang="zh-CN" sz="2000" b="0" i="1" u="none" strike="noStrike" kern="1200" cap="none" normalizeH="0" baseline="0" dirty="0">
                          <a:ln>
                            <a:noFill/>
                          </a:ln>
                          <a:solidFill>
                            <a:schemeClr val="tx1"/>
                          </a:solidFill>
                          <a:effectLst/>
                          <a:latin typeface="Consolas" panose="020B0609020204030204" pitchFamily="49" charset="0"/>
                          <a:ea typeface="+mn-ea"/>
                          <a:cs typeface="Times New Roman" pitchFamily="18" charset="0"/>
                        </a:rPr>
                        <a:t>$v0-$</a:t>
                      </a:r>
                      <a:r>
                        <a:rPr kumimoji="0" lang="en-US" altLang="zh-CN" sz="2000" b="0" i="1" u="none" strike="noStrike" cap="none" normalizeH="0" baseline="0" dirty="0">
                          <a:ln>
                            <a:noFill/>
                          </a:ln>
                          <a:solidFill>
                            <a:schemeClr val="tx1"/>
                          </a:solidFill>
                          <a:effectLst/>
                          <a:latin typeface="Consolas" panose="020B0609020204030204" pitchFamily="49" charset="0"/>
                          <a:ea typeface="+mn-ea"/>
                        </a:rPr>
                        <a:t>v1</a:t>
                      </a:r>
                      <a:endParaRPr kumimoji="0" lang="zh-CN" altLang="en-US" sz="2000" b="0" i="1" u="none" strike="noStrike" cap="none" normalizeH="0" baseline="0" dirty="0">
                        <a:ln>
                          <a:noFill/>
                        </a:ln>
                        <a:solidFill>
                          <a:schemeClr val="tx1"/>
                        </a:solidFill>
                        <a:effectLst/>
                        <a:latin typeface="Consolas" panose="020B0609020204030204" pitchFamily="49" charset="0"/>
                        <a:ea typeface="+mn-ea"/>
                      </a:endParaRPr>
                    </a:p>
                  </a:txBody>
                  <a:tcPr marL="36000" marR="0" marT="0" marB="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bl>
          </a:graphicData>
        </a:graphic>
      </p:graphicFrame>
      <p:sp>
        <p:nvSpPr>
          <p:cNvPr id="6" name="文本框 5">
            <a:extLst>
              <a:ext uri="{FF2B5EF4-FFF2-40B4-BE49-F238E27FC236}">
                <a16:creationId xmlns:a16="http://schemas.microsoft.com/office/drawing/2014/main" id="{D32582AE-29CC-7B10-5B09-E886B5FA9899}"/>
              </a:ext>
            </a:extLst>
          </p:cNvPr>
          <p:cNvSpPr txBox="1"/>
          <p:nvPr/>
        </p:nvSpPr>
        <p:spPr>
          <a:xfrm>
            <a:off x="1897040" y="5856323"/>
            <a:ext cx="6005014" cy="523220"/>
          </a:xfrm>
          <a:prstGeom prst="rect">
            <a:avLst/>
          </a:prstGeom>
          <a:noFill/>
        </p:spPr>
        <p:txBody>
          <a:bodyPr wrap="square">
            <a:spAutoFit/>
          </a:bodyPr>
          <a:lstStyle/>
          <a:p>
            <a:pPr algn="ctr"/>
            <a:r>
              <a:rPr kumimoji="0" lang="zh-CN" altLang="en-US" sz="28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问题：什么时候维护？怎么维护？</a:t>
            </a:r>
            <a:endParaRPr lang="zh-CN" altLang="en-US" sz="1600" dirty="0"/>
          </a:p>
        </p:txBody>
      </p:sp>
    </p:spTree>
    <p:extLst>
      <p:ext uri="{BB962C8B-B14F-4D97-AF65-F5344CB8AC3E}">
        <p14:creationId xmlns:p14="http://schemas.microsoft.com/office/powerpoint/2010/main" val="1040979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5E3845A9-7E82-4657-B497-16CB36280F3B}"/>
              </a:ext>
            </a:extLst>
          </p:cNvPr>
          <p:cNvSpPr>
            <a:spLocks noGrp="1"/>
          </p:cNvSpPr>
          <p:nvPr>
            <p:ph type="sldNum" sz="quarter" idx="12"/>
          </p:nvPr>
        </p:nvSpPr>
        <p:spPr/>
        <p:txBody>
          <a:bodyPr/>
          <a:lstStyle/>
          <a:p>
            <a:fld id="{176ACFD1-D213-4B9C-817B-45486DBF105A}" type="slidenum">
              <a:rPr lang="en-US" smtClean="0">
                <a:solidFill>
                  <a:prstClr val="black"/>
                </a:solidFill>
                <a:latin typeface="+mj-ea"/>
                <a:ea typeface="+mj-ea"/>
              </a:rPr>
              <a:pPr/>
              <a:t>82</a:t>
            </a:fld>
            <a:endParaRPr lang="en-US" dirty="0">
              <a:solidFill>
                <a:prstClr val="black"/>
              </a:solidFill>
              <a:latin typeface="+mj-ea"/>
              <a:ea typeface="+mj-ea"/>
            </a:endParaRPr>
          </a:p>
        </p:txBody>
      </p:sp>
      <p:sp>
        <p:nvSpPr>
          <p:cNvPr id="17" name="TextBox 25">
            <a:extLst>
              <a:ext uri="{FF2B5EF4-FFF2-40B4-BE49-F238E27FC236}">
                <a16:creationId xmlns:a16="http://schemas.microsoft.com/office/drawing/2014/main" id="{2677F3B9-9F87-40AD-B54B-6A07A15656D4}"/>
              </a:ext>
            </a:extLst>
          </p:cNvPr>
          <p:cNvSpPr txBox="1"/>
          <p:nvPr/>
        </p:nvSpPr>
        <p:spPr>
          <a:xfrm>
            <a:off x="457200" y="1675063"/>
            <a:ext cx="822960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eaLnBrk="1" hangingPunct="1">
              <a:defRPr sz="3200" b="1">
                <a:solidFill>
                  <a:srgbClr val="FF3300"/>
                </a:solidFill>
                <a:latin typeface="黑体" pitchFamily="49" charset="-122"/>
                <a:ea typeface="黑体" pitchFamily="49" charset="-122"/>
              </a:defRPr>
            </a:lvl1pPr>
            <a:lvl2pPr marL="742950" indent="-285750" eaLnBrk="0" hangingPunct="0">
              <a:defRPr sz="4600" b="1">
                <a:solidFill>
                  <a:srgbClr val="FF3300"/>
                </a:solidFill>
                <a:latin typeface="Garamond" pitchFamily="18" charset="0"/>
                <a:ea typeface="宋体" charset="-122"/>
              </a:defRPr>
            </a:lvl2pPr>
            <a:lvl3pPr marL="1143000" indent="-228600" eaLnBrk="0" hangingPunct="0">
              <a:defRPr sz="4600" b="1">
                <a:solidFill>
                  <a:srgbClr val="FF3300"/>
                </a:solidFill>
                <a:latin typeface="Garamond" pitchFamily="18" charset="0"/>
                <a:ea typeface="宋体" charset="-122"/>
              </a:defRPr>
            </a:lvl3pPr>
            <a:lvl4pPr marL="1600200" indent="-228600" eaLnBrk="0" hangingPunct="0">
              <a:defRPr sz="4600" b="1">
                <a:solidFill>
                  <a:srgbClr val="FF3300"/>
                </a:solidFill>
                <a:latin typeface="Garamond" pitchFamily="18" charset="0"/>
                <a:ea typeface="宋体" charset="-122"/>
              </a:defRPr>
            </a:lvl4pPr>
            <a:lvl5pPr marL="2057400" indent="-228600" eaLnBrk="0" hangingPunct="0">
              <a:defRPr sz="4600" b="1">
                <a:solidFill>
                  <a:srgbClr val="FF3300"/>
                </a:solidFill>
                <a:latin typeface="Garamond" pitchFamily="18" charset="0"/>
                <a:ea typeface="宋体"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charset="-122"/>
              </a:defRPr>
            </a:lvl9pPr>
          </a:lstStyle>
          <a:p>
            <a:pPr algn="ctr"/>
            <a:r>
              <a:rPr kumimoji="1" lang="zh-CN" altLang="en-US" sz="2800" dirty="0">
                <a:solidFill>
                  <a:schemeClr val="tx1"/>
                </a:solidFill>
                <a:latin typeface="+mj-ea"/>
                <a:ea typeface="+mj-ea"/>
              </a:rPr>
              <a:t>问题</a:t>
            </a:r>
            <a:r>
              <a:rPr kumimoji="1" lang="en-US" altLang="zh-CN" sz="2800" dirty="0">
                <a:solidFill>
                  <a:schemeClr val="tx1"/>
                </a:solidFill>
                <a:latin typeface="+mj-ea"/>
                <a:ea typeface="+mj-ea"/>
              </a:rPr>
              <a:t>: </a:t>
            </a:r>
            <a:r>
              <a:rPr kumimoji="1" lang="zh-CN" altLang="en-US" sz="2800" dirty="0">
                <a:solidFill>
                  <a:schemeClr val="tx1"/>
                </a:solidFill>
                <a:latin typeface="+mj-ea"/>
                <a:ea typeface="+mj-ea"/>
              </a:rPr>
              <a:t>我们现在知道谁来维护寄存器数据</a:t>
            </a:r>
            <a:r>
              <a:rPr kumimoji="1" lang="en-US" altLang="zh-CN" sz="2800" dirty="0">
                <a:solidFill>
                  <a:schemeClr val="tx1"/>
                </a:solidFill>
                <a:latin typeface="+mj-ea"/>
                <a:ea typeface="+mj-ea"/>
              </a:rPr>
              <a:t> </a:t>
            </a:r>
          </a:p>
          <a:p>
            <a:pPr algn="ctr"/>
            <a:r>
              <a:rPr kumimoji="1" lang="zh-CN" altLang="en-US" sz="2800" dirty="0">
                <a:solidFill>
                  <a:srgbClr val="0432FF"/>
                </a:solidFill>
                <a:latin typeface="+mj-ea"/>
                <a:ea typeface="+mj-ea"/>
              </a:rPr>
              <a:t>如何维护这些数据</a:t>
            </a:r>
            <a:r>
              <a:rPr kumimoji="1" lang="en-US" altLang="zh-CN" sz="2800" dirty="0">
                <a:solidFill>
                  <a:srgbClr val="0432FF"/>
                </a:solidFill>
                <a:latin typeface="+mj-ea"/>
                <a:ea typeface="+mj-ea"/>
              </a:rPr>
              <a:t>?</a:t>
            </a:r>
            <a:endParaRPr kumimoji="1" lang="zh-CN" altLang="en-US" sz="2800" dirty="0">
              <a:solidFill>
                <a:srgbClr val="0432FF"/>
              </a:solidFill>
              <a:latin typeface="+mj-ea"/>
              <a:ea typeface="+mj-ea"/>
            </a:endParaRPr>
          </a:p>
        </p:txBody>
      </p:sp>
      <p:sp>
        <p:nvSpPr>
          <p:cNvPr id="5" name="Title 4">
            <a:extLst>
              <a:ext uri="{FF2B5EF4-FFF2-40B4-BE49-F238E27FC236}">
                <a16:creationId xmlns:a16="http://schemas.microsoft.com/office/drawing/2014/main" id="{DF8B65C6-3C88-6045-2B48-66578ED8D939}"/>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sz="4000" dirty="0"/>
              <a:t>嵌套过程调用</a:t>
            </a:r>
            <a:endParaRPr lang="en-CN" kern="0" dirty="0"/>
          </a:p>
        </p:txBody>
      </p:sp>
      <p:sp>
        <p:nvSpPr>
          <p:cNvPr id="24" name="矩形 23">
            <a:extLst>
              <a:ext uri="{FF2B5EF4-FFF2-40B4-BE49-F238E27FC236}">
                <a16:creationId xmlns:a16="http://schemas.microsoft.com/office/drawing/2014/main" id="{3B4DC4DB-F5F7-0379-B00E-F6BC1D4DD9E2}"/>
              </a:ext>
            </a:extLst>
          </p:cNvPr>
          <p:cNvSpPr/>
          <p:nvPr/>
        </p:nvSpPr>
        <p:spPr>
          <a:xfrm>
            <a:off x="283890" y="3434355"/>
            <a:ext cx="2129110" cy="1781175"/>
          </a:xfrm>
          <a:prstGeom prst="rect">
            <a:avLst/>
          </a:prstGeom>
          <a:solidFill>
            <a:srgbClr val="9BBB59">
              <a:lumMod val="20000"/>
              <a:lumOff val="8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6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程序</a:t>
            </a:r>
            <a:r>
              <a:rPr kumimoji="0" lang="en-US" altLang="zh-CN" sz="26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X</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6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6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      </a:t>
            </a:r>
            <a:r>
              <a:rPr kumimoji="0" lang="zh-CN" altLang="en-US" sz="26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程序</a:t>
            </a:r>
            <a:r>
              <a:rPr kumimoji="0" lang="en-US" altLang="zh-CN" sz="26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Y</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6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      ……</a:t>
            </a:r>
            <a:endParaRPr kumimoji="0" lang="zh-CN" altLang="en-US" sz="26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endParaRPr>
          </a:p>
        </p:txBody>
      </p:sp>
      <p:sp>
        <p:nvSpPr>
          <p:cNvPr id="25" name="矩形 24">
            <a:extLst>
              <a:ext uri="{FF2B5EF4-FFF2-40B4-BE49-F238E27FC236}">
                <a16:creationId xmlns:a16="http://schemas.microsoft.com/office/drawing/2014/main" id="{FE93FF78-0B05-5EBB-8B74-F1C4B3FC760E}"/>
              </a:ext>
            </a:extLst>
          </p:cNvPr>
          <p:cNvSpPr/>
          <p:nvPr/>
        </p:nvSpPr>
        <p:spPr>
          <a:xfrm>
            <a:off x="3395566" y="3434353"/>
            <a:ext cx="2074249" cy="1781175"/>
          </a:xfrm>
          <a:prstGeom prst="rect">
            <a:avLst/>
          </a:prstGeom>
          <a:solidFill>
            <a:srgbClr val="9BBB59">
              <a:lumMod val="20000"/>
              <a:lumOff val="8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6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程序</a:t>
            </a:r>
            <a:r>
              <a:rPr kumimoji="0" lang="en-US" altLang="zh-CN" sz="26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Y</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6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6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      </a:t>
            </a:r>
            <a:r>
              <a:rPr kumimoji="0" lang="zh-CN" altLang="en-US" sz="26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程序</a:t>
            </a:r>
            <a:r>
              <a:rPr kumimoji="0" lang="en-US" altLang="zh-CN" sz="26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Z</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6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      ……</a:t>
            </a:r>
            <a:endParaRPr kumimoji="0" lang="zh-CN" altLang="en-US" sz="26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endParaRPr>
          </a:p>
        </p:txBody>
      </p:sp>
      <p:sp>
        <p:nvSpPr>
          <p:cNvPr id="26" name="矩形 25">
            <a:extLst>
              <a:ext uri="{FF2B5EF4-FFF2-40B4-BE49-F238E27FC236}">
                <a16:creationId xmlns:a16="http://schemas.microsoft.com/office/drawing/2014/main" id="{7EC190C0-3DAB-1CDD-6EA8-780A9ED21973}"/>
              </a:ext>
            </a:extLst>
          </p:cNvPr>
          <p:cNvSpPr/>
          <p:nvPr/>
        </p:nvSpPr>
        <p:spPr>
          <a:xfrm>
            <a:off x="6578600" y="3434353"/>
            <a:ext cx="1955800" cy="1781175"/>
          </a:xfrm>
          <a:prstGeom prst="rect">
            <a:avLst/>
          </a:prstGeom>
          <a:solidFill>
            <a:srgbClr val="9BBB59">
              <a:lumMod val="20000"/>
              <a:lumOff val="8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6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程序</a:t>
            </a:r>
            <a:r>
              <a:rPr kumimoji="0" lang="en-US" altLang="zh-CN" sz="26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Z</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6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6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6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      ……</a:t>
            </a:r>
            <a:endParaRPr kumimoji="0" lang="zh-CN" altLang="en-US" sz="26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endParaRPr>
          </a:p>
        </p:txBody>
      </p:sp>
      <p:sp>
        <p:nvSpPr>
          <p:cNvPr id="27" name="右箭头 3">
            <a:extLst>
              <a:ext uri="{FF2B5EF4-FFF2-40B4-BE49-F238E27FC236}">
                <a16:creationId xmlns:a16="http://schemas.microsoft.com/office/drawing/2014/main" id="{397B6F70-8AA3-6E0C-5002-B5E1A006C96D}"/>
              </a:ext>
            </a:extLst>
          </p:cNvPr>
          <p:cNvSpPr/>
          <p:nvPr/>
        </p:nvSpPr>
        <p:spPr>
          <a:xfrm rot="20015048">
            <a:off x="2239075" y="3905868"/>
            <a:ext cx="1777204" cy="431800"/>
          </a:xfrm>
          <a:prstGeom prst="rightArrow">
            <a:avLst/>
          </a:prstGeom>
          <a:solidFill>
            <a:srgbClr val="4BACC6">
              <a:lumMod val="20000"/>
              <a:lumOff val="80000"/>
            </a:srgbClr>
          </a:solidFill>
          <a:ln w="25400" cap="flat" cmpd="sng" algn="ctr">
            <a:solidFill>
              <a:srgbClr val="4BACC6"/>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28" name="文本框 27">
            <a:extLst>
              <a:ext uri="{FF2B5EF4-FFF2-40B4-BE49-F238E27FC236}">
                <a16:creationId xmlns:a16="http://schemas.microsoft.com/office/drawing/2014/main" id="{464D2A81-9815-E610-2D87-D795ADE29228}"/>
              </a:ext>
            </a:extLst>
          </p:cNvPr>
          <p:cNvSpPr txBox="1"/>
          <p:nvPr/>
        </p:nvSpPr>
        <p:spPr>
          <a:xfrm>
            <a:off x="2353097" y="4562879"/>
            <a:ext cx="1250773" cy="400110"/>
          </a:xfrm>
          <a:prstGeom prst="rect">
            <a:avLst/>
          </a:prstGeom>
          <a:noFill/>
        </p:spPr>
        <p:txBody>
          <a:bodyPr wrap="square" rtlCol="0">
            <a:spAutoFit/>
          </a:bodyPr>
          <a:lstStyle/>
          <a:p>
            <a:pPr algn="ctr"/>
            <a:r>
              <a:rPr lang="zh-CN" altLang="en-US" sz="2000" b="1" dirty="0">
                <a:solidFill>
                  <a:srgbClr val="0432FF"/>
                </a:solidFill>
                <a:latin typeface="黑体" panose="02010609060101010101" pitchFamily="49" charset="-122"/>
                <a:ea typeface="黑体" panose="02010609060101010101" pitchFamily="49" charset="-122"/>
              </a:rPr>
              <a:t>过程调用</a:t>
            </a:r>
          </a:p>
        </p:txBody>
      </p:sp>
      <p:sp>
        <p:nvSpPr>
          <p:cNvPr id="29" name="文本框 28">
            <a:extLst>
              <a:ext uri="{FF2B5EF4-FFF2-40B4-BE49-F238E27FC236}">
                <a16:creationId xmlns:a16="http://schemas.microsoft.com/office/drawing/2014/main" id="{0F488D3D-A598-4875-00E5-01F742C9813D}"/>
              </a:ext>
            </a:extLst>
          </p:cNvPr>
          <p:cNvSpPr txBox="1"/>
          <p:nvPr/>
        </p:nvSpPr>
        <p:spPr>
          <a:xfrm>
            <a:off x="5383730" y="4562879"/>
            <a:ext cx="1250773" cy="400110"/>
          </a:xfrm>
          <a:prstGeom prst="rect">
            <a:avLst/>
          </a:prstGeom>
          <a:noFill/>
        </p:spPr>
        <p:txBody>
          <a:bodyPr wrap="square" rtlCol="0">
            <a:spAutoFit/>
          </a:bodyPr>
          <a:lstStyle/>
          <a:p>
            <a:pPr algn="ctr"/>
            <a:r>
              <a:rPr lang="zh-CN" altLang="en-US" sz="2000" b="1" dirty="0">
                <a:solidFill>
                  <a:srgbClr val="0432FF"/>
                </a:solidFill>
                <a:latin typeface="黑体" panose="02010609060101010101" pitchFamily="49" charset="-122"/>
                <a:ea typeface="黑体" panose="02010609060101010101" pitchFamily="49" charset="-122"/>
              </a:rPr>
              <a:t>过程调用</a:t>
            </a:r>
          </a:p>
        </p:txBody>
      </p:sp>
      <p:sp>
        <p:nvSpPr>
          <p:cNvPr id="30" name="右箭头 3">
            <a:extLst>
              <a:ext uri="{FF2B5EF4-FFF2-40B4-BE49-F238E27FC236}">
                <a16:creationId xmlns:a16="http://schemas.microsoft.com/office/drawing/2014/main" id="{741FEDFF-D65D-A53F-1DEB-FD644CE5208A}"/>
              </a:ext>
            </a:extLst>
          </p:cNvPr>
          <p:cNvSpPr/>
          <p:nvPr/>
        </p:nvSpPr>
        <p:spPr>
          <a:xfrm rot="20015048">
            <a:off x="5299776" y="3905868"/>
            <a:ext cx="1777204" cy="431800"/>
          </a:xfrm>
          <a:prstGeom prst="rightArrow">
            <a:avLst/>
          </a:prstGeom>
          <a:solidFill>
            <a:srgbClr val="4BACC6">
              <a:lumMod val="20000"/>
              <a:lumOff val="80000"/>
            </a:srgbClr>
          </a:solidFill>
          <a:ln w="25400" cap="flat" cmpd="sng" algn="ctr">
            <a:solidFill>
              <a:srgbClr val="4BACC6"/>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33" name="TextBox 15">
            <a:extLst>
              <a:ext uri="{FF2B5EF4-FFF2-40B4-BE49-F238E27FC236}">
                <a16:creationId xmlns:a16="http://schemas.microsoft.com/office/drawing/2014/main" id="{271D61CE-2507-1EC4-2696-A8E430C3404A}"/>
              </a:ext>
            </a:extLst>
          </p:cNvPr>
          <p:cNvSpPr txBox="1"/>
          <p:nvPr/>
        </p:nvSpPr>
        <p:spPr>
          <a:xfrm>
            <a:off x="2628944" y="5415479"/>
            <a:ext cx="3733715" cy="800219"/>
          </a:xfrm>
          <a:prstGeom prst="rect">
            <a:avLst/>
          </a:prstGeom>
          <a:noFill/>
        </p:spPr>
        <p:txBody>
          <a:bodyPr wrap="none" rtlCol="0">
            <a:spAutoFit/>
          </a:bodyPr>
          <a:lstStyle/>
          <a:p>
            <a:pPr algn="ctr"/>
            <a:r>
              <a:rPr lang="zh-CN" altLang="en-US" sz="4600" b="1" dirty="0">
                <a:solidFill>
                  <a:srgbClr val="FF3300"/>
                </a:solidFill>
                <a:latin typeface="黑体" panose="02010609060101010101" pitchFamily="49" charset="-122"/>
                <a:ea typeface="黑体" panose="02010609060101010101" pitchFamily="49" charset="-122"/>
              </a:rPr>
              <a:t>使用栈存储！</a:t>
            </a:r>
            <a:endParaRPr lang="en-CN" sz="4600" b="1" dirty="0">
              <a:solidFill>
                <a:srgbClr val="FF3300"/>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03958317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5E3845A9-7E82-4657-B497-16CB36280F3B}"/>
              </a:ext>
            </a:extLst>
          </p:cNvPr>
          <p:cNvSpPr>
            <a:spLocks noGrp="1"/>
          </p:cNvSpPr>
          <p:nvPr>
            <p:ph type="sldNum" sz="quarter" idx="12"/>
          </p:nvPr>
        </p:nvSpPr>
        <p:spPr/>
        <p:txBody>
          <a:bodyPr/>
          <a:lstStyle/>
          <a:p>
            <a:fld id="{176ACFD1-D213-4B9C-817B-45486DBF105A}" type="slidenum">
              <a:rPr lang="en-US" smtClean="0">
                <a:solidFill>
                  <a:prstClr val="black"/>
                </a:solidFill>
                <a:latin typeface="+mn-lt"/>
                <a:ea typeface="+mj-ea"/>
              </a:rPr>
              <a:pPr/>
              <a:t>83</a:t>
            </a:fld>
            <a:endParaRPr lang="en-US">
              <a:solidFill>
                <a:prstClr val="black"/>
              </a:solidFill>
              <a:latin typeface="+mn-lt"/>
              <a:ea typeface="+mj-ea"/>
            </a:endParaRPr>
          </a:p>
        </p:txBody>
      </p:sp>
      <p:sp>
        <p:nvSpPr>
          <p:cNvPr id="13" name="Content Placeholder 2">
            <a:extLst>
              <a:ext uri="{FF2B5EF4-FFF2-40B4-BE49-F238E27FC236}">
                <a16:creationId xmlns:a16="http://schemas.microsoft.com/office/drawing/2014/main" id="{03BDA437-0958-4393-B2F3-B41F337F661A}"/>
              </a:ext>
            </a:extLst>
          </p:cNvPr>
          <p:cNvSpPr>
            <a:spLocks noGrp="1"/>
          </p:cNvSpPr>
          <p:nvPr>
            <p:ph idx="4294967295"/>
          </p:nvPr>
        </p:nvSpPr>
        <p:spPr>
          <a:xfrm>
            <a:off x="280587" y="1226557"/>
            <a:ext cx="8820150" cy="1001712"/>
          </a:xfrm>
          <a:ln>
            <a:noFill/>
          </a:ln>
        </p:spPr>
        <p:txBody>
          <a:bodyPr>
            <a:normAutofit/>
          </a:bodyPr>
          <a:lstStyle/>
          <a:p>
            <a:r>
              <a:rPr lang="zh-CN" altLang="en-US" sz="2800" b="1" kern="0" dirty="0">
                <a:latin typeface="+mj-ea"/>
                <a:ea typeface="+mj-ea"/>
              </a:rPr>
              <a:t>使用主存储栈来保存数据</a:t>
            </a:r>
            <a:r>
              <a:rPr lang="en-US" altLang="zh-CN" sz="2800" b="1" kern="0" dirty="0">
                <a:latin typeface="+mj-ea"/>
                <a:ea typeface="+mj-ea"/>
              </a:rPr>
              <a:t>!</a:t>
            </a:r>
          </a:p>
        </p:txBody>
      </p:sp>
      <p:sp>
        <p:nvSpPr>
          <p:cNvPr id="3" name="Title 4">
            <a:extLst>
              <a:ext uri="{FF2B5EF4-FFF2-40B4-BE49-F238E27FC236}">
                <a16:creationId xmlns:a16="http://schemas.microsoft.com/office/drawing/2014/main" id="{8BB30DB2-E7E0-BDD9-F73E-155C4132D500}"/>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sz="4000" dirty="0"/>
              <a:t>嵌套过程调用</a:t>
            </a:r>
            <a:endParaRPr lang="en-CN" kern="0" dirty="0"/>
          </a:p>
        </p:txBody>
      </p:sp>
      <p:grpSp>
        <p:nvGrpSpPr>
          <p:cNvPr id="72" name="组合 71">
            <a:extLst>
              <a:ext uri="{FF2B5EF4-FFF2-40B4-BE49-F238E27FC236}">
                <a16:creationId xmlns:a16="http://schemas.microsoft.com/office/drawing/2014/main" id="{062A6701-60DF-6B1A-7536-74B872265BB8}"/>
              </a:ext>
            </a:extLst>
          </p:cNvPr>
          <p:cNvGrpSpPr/>
          <p:nvPr/>
        </p:nvGrpSpPr>
        <p:grpSpPr>
          <a:xfrm>
            <a:off x="279232" y="1749342"/>
            <a:ext cx="8407568" cy="5008252"/>
            <a:chOff x="279232" y="1602651"/>
            <a:chExt cx="8407568" cy="5008252"/>
          </a:xfrm>
        </p:grpSpPr>
        <p:sp>
          <p:nvSpPr>
            <p:cNvPr id="50" name="Text Box 14">
              <a:extLst>
                <a:ext uri="{FF2B5EF4-FFF2-40B4-BE49-F238E27FC236}">
                  <a16:creationId xmlns:a16="http://schemas.microsoft.com/office/drawing/2014/main" id="{E4921786-181D-F0BC-8224-FD26B4746FC7}"/>
                </a:ext>
              </a:extLst>
            </p:cNvPr>
            <p:cNvSpPr txBox="1">
              <a:spLocks noChangeArrowheads="1"/>
            </p:cNvSpPr>
            <p:nvPr/>
          </p:nvSpPr>
          <p:spPr bwMode="auto">
            <a:xfrm>
              <a:off x="279232" y="3460069"/>
              <a:ext cx="3517919" cy="2807885"/>
            </a:xfrm>
            <a:prstGeom prst="rect">
              <a:avLst/>
            </a:prstGeom>
            <a:solidFill>
              <a:srgbClr val="9BBB59">
                <a:lumMod val="20000"/>
                <a:lumOff val="80000"/>
              </a:srgbClr>
            </a:solidFill>
            <a:ln w="9525">
              <a:solidFill>
                <a:srgbClr val="9BBB59"/>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marL="0" marR="0" lvl="0" indent="0" defTabSz="914400" eaLnBrk="1" fontAlgn="auto" latinLnBrk="0" hangingPunct="1">
                <a:lnSpc>
                  <a:spcPct val="150000"/>
                </a:lnSpc>
                <a:spcBef>
                  <a:spcPts val="0"/>
                </a:spcBef>
                <a:spcAft>
                  <a:spcPts val="0"/>
                </a:spcAft>
                <a:buClrTx/>
                <a:buSzTx/>
                <a:buFontTx/>
                <a:buNone/>
                <a:tabLst/>
                <a:defRPr/>
              </a:pPr>
              <a:r>
                <a:rPr kumimoji="0" lang="en-US" altLang="zh-CN" sz="2000" b="1" i="0" u="none" strike="noStrike" kern="0" cap="none" spc="0" normalizeH="0" baseline="0" noProof="0" dirty="0">
                  <a:ln>
                    <a:noFill/>
                  </a:ln>
                  <a:solidFill>
                    <a:srgbClr val="000000"/>
                  </a:solidFill>
                  <a:effectLst/>
                  <a:uLnTx/>
                  <a:uFillTx/>
                  <a:latin typeface="+mn-lt"/>
                  <a:ea typeface="黑体" panose="02010609060101010101" pitchFamily="49" charset="-122"/>
                </a:rPr>
                <a:t>X</a:t>
              </a:r>
            </a:p>
            <a:p>
              <a:pPr marL="0" marR="0" lvl="0" indent="0" defTabSz="914400" eaLnBrk="1" fontAlgn="auto" latinLnBrk="0" hangingPunct="1">
                <a:lnSpc>
                  <a:spcPct val="150000"/>
                </a:lnSpc>
                <a:spcBef>
                  <a:spcPts val="0"/>
                </a:spcBef>
                <a:spcAft>
                  <a:spcPts val="0"/>
                </a:spcAft>
                <a:buClrTx/>
                <a:buSzTx/>
                <a:buFontTx/>
                <a:buNone/>
                <a:tabLst/>
                <a:defRPr/>
              </a:pPr>
              <a:r>
                <a:rPr kumimoji="0" lang="en-US" altLang="zh-CN" sz="2000" b="1" i="0" u="none" strike="noStrike" kern="0" cap="none" spc="0" normalizeH="0" baseline="0" noProof="0" dirty="0">
                  <a:ln>
                    <a:noFill/>
                  </a:ln>
                  <a:solidFill>
                    <a:srgbClr val="000000"/>
                  </a:solidFill>
                  <a:effectLst/>
                  <a:uLnTx/>
                  <a:uFillTx/>
                  <a:latin typeface="+mn-lt"/>
                  <a:ea typeface="黑体" panose="02010609060101010101" pitchFamily="49" charset="-122"/>
                </a:rPr>
                <a:t>           </a:t>
              </a:r>
            </a:p>
            <a:p>
              <a:pPr marL="0" marR="0" lvl="0" indent="0" defTabSz="914400" eaLnBrk="1" fontAlgn="auto" latinLnBrk="0" hangingPunct="1">
                <a:lnSpc>
                  <a:spcPct val="150000"/>
                </a:lnSpc>
                <a:spcBef>
                  <a:spcPts val="0"/>
                </a:spcBef>
                <a:spcAft>
                  <a:spcPts val="0"/>
                </a:spcAft>
                <a:buClrTx/>
                <a:buSzTx/>
                <a:buFontTx/>
                <a:buNone/>
                <a:tabLst/>
                <a:defRPr/>
              </a:pPr>
              <a:endParaRPr kumimoji="0" lang="en-US" altLang="zh-CN" sz="2000" b="1" i="0" u="none" strike="noStrike" kern="0" cap="none" spc="0" normalizeH="0" baseline="0" noProof="0" dirty="0">
                <a:ln>
                  <a:noFill/>
                </a:ln>
                <a:solidFill>
                  <a:srgbClr val="000000"/>
                </a:solidFill>
                <a:effectLst/>
                <a:uLnTx/>
                <a:uFillTx/>
                <a:latin typeface="+mn-lt"/>
                <a:ea typeface="黑体" panose="02010609060101010101" pitchFamily="49" charset="-122"/>
              </a:endParaRPr>
            </a:p>
            <a:p>
              <a:pPr marL="0" marR="0" lvl="0" indent="0" defTabSz="914400" eaLnBrk="1" fontAlgn="auto" latinLnBrk="0" hangingPunct="1">
                <a:lnSpc>
                  <a:spcPct val="150000"/>
                </a:lnSpc>
                <a:spcBef>
                  <a:spcPts val="0"/>
                </a:spcBef>
                <a:spcAft>
                  <a:spcPts val="0"/>
                </a:spcAft>
                <a:buClrTx/>
                <a:buSzTx/>
                <a:buFontTx/>
                <a:buNone/>
                <a:tabLst/>
                <a:defRPr/>
              </a:pPr>
              <a:endParaRPr kumimoji="0" lang="en-US" altLang="zh-CN" sz="2000" b="1" i="0" u="none" strike="noStrike" kern="0" cap="none" spc="0" normalizeH="0" baseline="0" noProof="0" dirty="0">
                <a:ln>
                  <a:noFill/>
                </a:ln>
                <a:solidFill>
                  <a:srgbClr val="000000"/>
                </a:solidFill>
                <a:effectLst/>
                <a:uLnTx/>
                <a:uFillTx/>
                <a:latin typeface="+mn-lt"/>
                <a:ea typeface="黑体" panose="02010609060101010101" pitchFamily="49" charset="-122"/>
              </a:endParaRPr>
            </a:p>
            <a:p>
              <a:pPr marL="0" marR="0" lvl="0" indent="0" defTabSz="914400" eaLnBrk="1" fontAlgn="auto" latinLnBrk="0" hangingPunct="1">
                <a:lnSpc>
                  <a:spcPct val="150000"/>
                </a:lnSpc>
                <a:spcBef>
                  <a:spcPts val="0"/>
                </a:spcBef>
                <a:spcAft>
                  <a:spcPts val="0"/>
                </a:spcAft>
                <a:buClrTx/>
                <a:buSzTx/>
                <a:buFontTx/>
                <a:buNone/>
                <a:tabLst/>
                <a:defRPr/>
              </a:pPr>
              <a:endParaRPr kumimoji="0" lang="en-US" altLang="zh-CN" sz="2000" b="1" i="0" u="none" strike="noStrike" kern="0" cap="none" spc="0" normalizeH="0" baseline="0" noProof="0" dirty="0">
                <a:ln>
                  <a:noFill/>
                </a:ln>
                <a:solidFill>
                  <a:srgbClr val="000000"/>
                </a:solidFill>
                <a:effectLst/>
                <a:uLnTx/>
                <a:uFillTx/>
                <a:latin typeface="+mn-lt"/>
                <a:ea typeface="黑体" panose="02010609060101010101" pitchFamily="49" charset="-122"/>
              </a:endParaRPr>
            </a:p>
            <a:p>
              <a:pPr marL="0" marR="0" lvl="0" indent="0" defTabSz="914400" eaLnBrk="1" fontAlgn="auto" latinLnBrk="0" hangingPunct="1">
                <a:lnSpc>
                  <a:spcPct val="150000"/>
                </a:lnSpc>
                <a:spcBef>
                  <a:spcPts val="0"/>
                </a:spcBef>
                <a:spcAft>
                  <a:spcPts val="0"/>
                </a:spcAft>
                <a:buClrTx/>
                <a:buSzTx/>
                <a:buFontTx/>
                <a:buNone/>
                <a:tabLst/>
                <a:defRPr/>
              </a:pPr>
              <a:r>
                <a:rPr kumimoji="0" lang="en-US" altLang="zh-CN" sz="2000" b="1" i="0" u="none" strike="noStrike" kern="0" cap="none" spc="0" normalizeH="0" baseline="0" noProof="0" dirty="0">
                  <a:ln>
                    <a:noFill/>
                  </a:ln>
                  <a:solidFill>
                    <a:srgbClr val="000000"/>
                  </a:solidFill>
                  <a:effectLst/>
                  <a:uLnTx/>
                  <a:uFillTx/>
                  <a:latin typeface="+mn-lt"/>
                  <a:ea typeface="黑体" panose="02010609060101010101" pitchFamily="49" charset="-122"/>
                </a:rPr>
                <a:t>(</a:t>
              </a:r>
              <a:r>
                <a:rPr kumimoji="0" lang="zh-CN" altLang="en-US" sz="2000" b="1" i="0" u="none" strike="noStrike" kern="0" cap="none" spc="0" normalizeH="0" baseline="0" noProof="0" dirty="0">
                  <a:ln>
                    <a:noFill/>
                  </a:ln>
                  <a:solidFill>
                    <a:srgbClr val="000000"/>
                  </a:solidFill>
                  <a:effectLst/>
                  <a:uLnTx/>
                  <a:uFillTx/>
                  <a:latin typeface="+mn-lt"/>
                  <a:ea typeface="黑体" panose="02010609060101010101" pitchFamily="49" charset="-122"/>
                </a:rPr>
                <a:t>从</a:t>
              </a:r>
              <a:r>
                <a:rPr kumimoji="0" lang="en-US" altLang="zh-CN" sz="2000" b="1" i="0" u="none" strike="noStrike" kern="0" cap="none" spc="0" normalizeH="0" baseline="0" noProof="0" dirty="0">
                  <a:ln>
                    <a:noFill/>
                  </a:ln>
                  <a:solidFill>
                    <a:srgbClr val="000000"/>
                  </a:solidFill>
                  <a:effectLst/>
                  <a:uLnTx/>
                  <a:uFillTx/>
                  <a:latin typeface="+mn-lt"/>
                  <a:ea typeface="黑体" panose="02010609060101010101" pitchFamily="49" charset="-122"/>
                </a:rPr>
                <a:t>X</a:t>
              </a:r>
              <a:r>
                <a:rPr kumimoji="0" lang="zh-CN" altLang="en-US" sz="2000" b="1" i="0" u="none" strike="noStrike" kern="0" cap="none" spc="0" normalizeH="0" baseline="0" noProof="0" dirty="0">
                  <a:ln>
                    <a:noFill/>
                  </a:ln>
                  <a:solidFill>
                    <a:srgbClr val="000000"/>
                  </a:solidFill>
                  <a:effectLst/>
                  <a:uLnTx/>
                  <a:uFillTx/>
                  <a:latin typeface="+mn-lt"/>
                  <a:ea typeface="黑体" panose="02010609060101010101" pitchFamily="49" charset="-122"/>
                </a:rPr>
                <a:t>返回</a:t>
              </a:r>
              <a:r>
                <a:rPr kumimoji="0" lang="en-US" altLang="zh-CN" sz="2000" b="1" i="0" u="none" strike="noStrike" kern="0" cap="none" spc="0" normalizeH="0" baseline="0" noProof="0" dirty="0">
                  <a:ln>
                    <a:noFill/>
                  </a:ln>
                  <a:solidFill>
                    <a:srgbClr val="000000"/>
                  </a:solidFill>
                  <a:effectLst/>
                  <a:uLnTx/>
                  <a:uFillTx/>
                  <a:latin typeface="+mn-lt"/>
                  <a:ea typeface="黑体" panose="02010609060101010101" pitchFamily="49" charset="-122"/>
                </a:rPr>
                <a:t>)</a:t>
              </a:r>
            </a:p>
          </p:txBody>
        </p:sp>
        <p:sp>
          <p:nvSpPr>
            <p:cNvPr id="51" name="Rectangle 5">
              <a:extLst>
                <a:ext uri="{FF2B5EF4-FFF2-40B4-BE49-F238E27FC236}">
                  <a16:creationId xmlns:a16="http://schemas.microsoft.com/office/drawing/2014/main" id="{13EF751A-CCC0-43EE-D35D-78792137F659}"/>
                </a:ext>
              </a:extLst>
            </p:cNvPr>
            <p:cNvSpPr>
              <a:spLocks noChangeArrowheads="1"/>
            </p:cNvSpPr>
            <p:nvPr/>
          </p:nvSpPr>
          <p:spPr bwMode="auto">
            <a:xfrm>
              <a:off x="4690662" y="4279455"/>
              <a:ext cx="2721184" cy="609600"/>
            </a:xfrm>
            <a:prstGeom prst="rect">
              <a:avLst/>
            </a:prstGeom>
            <a:solidFill>
              <a:srgbClr val="9BBB59">
                <a:lumMod val="20000"/>
                <a:lumOff val="80000"/>
              </a:srgbClr>
            </a:solidFill>
            <a:ln w="9525">
              <a:solidFill>
                <a:srgbClr val="000000"/>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srgbClr val="0432FF"/>
                  </a:solidFill>
                  <a:effectLst/>
                  <a:uLnTx/>
                  <a:uFillTx/>
                  <a:latin typeface="+mn-lt"/>
                  <a:ea typeface="黑体" panose="02010609060101010101" pitchFamily="49" charset="-122"/>
                </a:rPr>
                <a:t>程序</a:t>
              </a:r>
              <a:r>
                <a:rPr kumimoji="0" lang="en-US" altLang="zh-CN" sz="1800" b="1" i="0" u="none" strike="noStrike" kern="0" cap="none" spc="0" normalizeH="0" baseline="0" noProof="0" dirty="0">
                  <a:ln>
                    <a:noFill/>
                  </a:ln>
                  <a:solidFill>
                    <a:srgbClr val="0432FF"/>
                  </a:solidFill>
                  <a:effectLst/>
                  <a:uLnTx/>
                  <a:uFillTx/>
                  <a:latin typeface="+mn-lt"/>
                  <a:ea typeface="黑体" panose="02010609060101010101" pitchFamily="49" charset="-122"/>
                </a:rPr>
                <a:t> X </a:t>
              </a:r>
              <a:r>
                <a:rPr kumimoji="0" lang="zh-CN" altLang="en-US" sz="1800" b="1" i="0" u="none" strike="noStrike" kern="0" cap="none" spc="0" normalizeH="0" baseline="0" noProof="0" dirty="0">
                  <a:ln>
                    <a:noFill/>
                  </a:ln>
                  <a:solidFill>
                    <a:srgbClr val="0432FF"/>
                  </a:solidFill>
                  <a:effectLst/>
                  <a:uLnTx/>
                  <a:uFillTx/>
                  <a:latin typeface="+mn-lt"/>
                  <a:ea typeface="黑体" panose="02010609060101010101" pitchFamily="49" charset="-122"/>
                </a:rPr>
                <a:t>栈空间</a:t>
              </a:r>
              <a:endParaRPr kumimoji="0" lang="en-US" altLang="zh-CN" sz="1800" b="1" i="0" u="none" strike="noStrike" kern="0" cap="none" spc="0" normalizeH="0" baseline="0" noProof="0" dirty="0">
                <a:ln>
                  <a:noFill/>
                </a:ln>
                <a:solidFill>
                  <a:srgbClr val="0432FF"/>
                </a:solidFill>
                <a:effectLst/>
                <a:uLnTx/>
                <a:uFillTx/>
                <a:latin typeface="+mn-lt"/>
                <a:ea typeface="黑体" panose="02010609060101010101" pitchFamily="49"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srgbClr val="0432FF"/>
                  </a:solidFill>
                  <a:effectLst/>
                  <a:uLnTx/>
                  <a:uFillTx/>
                  <a:latin typeface="+mn-lt"/>
                  <a:ea typeface="黑体" panose="02010609060101010101" pitchFamily="49" charset="-122"/>
                </a:rPr>
                <a:t>数据</a:t>
              </a:r>
              <a:r>
                <a:rPr kumimoji="0" lang="en-US" altLang="zh-CN" sz="1800" b="1" i="0" u="none" strike="noStrike" kern="0" cap="none" spc="0" normalizeH="0" baseline="0" noProof="0" dirty="0">
                  <a:ln>
                    <a:noFill/>
                  </a:ln>
                  <a:solidFill>
                    <a:srgbClr val="0432FF"/>
                  </a:solidFill>
                  <a:effectLst/>
                  <a:uLnTx/>
                  <a:uFillTx/>
                  <a:latin typeface="+mn-lt"/>
                  <a:ea typeface="黑体" panose="02010609060101010101" pitchFamily="49" charset="-122"/>
                </a:rPr>
                <a:t> a, b, c, …</a:t>
              </a:r>
            </a:p>
          </p:txBody>
        </p:sp>
        <p:sp>
          <p:nvSpPr>
            <p:cNvPr id="52" name="Rectangle 7">
              <a:extLst>
                <a:ext uri="{FF2B5EF4-FFF2-40B4-BE49-F238E27FC236}">
                  <a16:creationId xmlns:a16="http://schemas.microsoft.com/office/drawing/2014/main" id="{D52EC838-5340-1005-67E9-075867D6DB55}"/>
                </a:ext>
              </a:extLst>
            </p:cNvPr>
            <p:cNvSpPr>
              <a:spLocks noChangeArrowheads="1"/>
            </p:cNvSpPr>
            <p:nvPr/>
          </p:nvSpPr>
          <p:spPr bwMode="auto">
            <a:xfrm>
              <a:off x="4690662" y="4889055"/>
              <a:ext cx="2721184" cy="914400"/>
            </a:xfrm>
            <a:prstGeom prst="rect">
              <a:avLst/>
            </a:prstGeom>
            <a:solidFill>
              <a:srgbClr val="8064A2">
                <a:lumMod val="20000"/>
                <a:lumOff val="80000"/>
              </a:srgbClr>
            </a:solidFill>
            <a:ln w="9525">
              <a:solidFill>
                <a:srgbClr val="000000"/>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srgbClr val="0432FF"/>
                  </a:solidFill>
                  <a:effectLst/>
                  <a:uLnTx/>
                  <a:uFillTx/>
                  <a:latin typeface="+mn-lt"/>
                  <a:ea typeface="黑体" panose="02010609060101010101" pitchFamily="49" charset="-122"/>
                </a:rPr>
                <a:t>程序</a:t>
              </a:r>
              <a:r>
                <a:rPr kumimoji="0" lang="en-US" altLang="zh-CN" sz="1800" b="1" i="0" u="none" strike="noStrike" kern="0" cap="none" spc="0" normalizeH="0" baseline="0" noProof="0" dirty="0">
                  <a:ln>
                    <a:noFill/>
                  </a:ln>
                  <a:solidFill>
                    <a:srgbClr val="0432FF"/>
                  </a:solidFill>
                  <a:effectLst/>
                  <a:uLnTx/>
                  <a:uFillTx/>
                  <a:latin typeface="+mn-lt"/>
                  <a:ea typeface="黑体" panose="02010609060101010101" pitchFamily="49" charset="-122"/>
                </a:rPr>
                <a:t> Y </a:t>
              </a:r>
              <a:r>
                <a:rPr kumimoji="0" lang="zh-CN" altLang="en-US" sz="1800" b="1" i="0" u="none" strike="noStrike" kern="0" cap="none" spc="0" normalizeH="0" baseline="0" noProof="0" dirty="0">
                  <a:ln>
                    <a:noFill/>
                  </a:ln>
                  <a:solidFill>
                    <a:srgbClr val="0432FF"/>
                  </a:solidFill>
                  <a:effectLst/>
                  <a:uLnTx/>
                  <a:uFillTx/>
                  <a:latin typeface="+mn-lt"/>
                  <a:ea typeface="黑体" panose="02010609060101010101" pitchFamily="49" charset="-122"/>
                </a:rPr>
                <a:t>栈空间</a:t>
              </a:r>
              <a:endParaRPr kumimoji="0" lang="en-US" altLang="zh-CN" sz="1800" b="1" i="0" u="none" strike="noStrike" kern="0" cap="none" spc="0" normalizeH="0" baseline="0" noProof="0" dirty="0">
                <a:ln>
                  <a:noFill/>
                </a:ln>
                <a:solidFill>
                  <a:srgbClr val="0432FF"/>
                </a:solidFill>
                <a:effectLst/>
                <a:uLnTx/>
                <a:uFillTx/>
                <a:latin typeface="+mn-lt"/>
                <a:ea typeface="黑体" panose="02010609060101010101" pitchFamily="49"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srgbClr val="0432FF"/>
                  </a:solidFill>
                  <a:effectLst/>
                  <a:uLnTx/>
                  <a:uFillTx/>
                  <a:latin typeface="+mn-lt"/>
                  <a:ea typeface="黑体" panose="02010609060101010101" pitchFamily="49" charset="-122"/>
                </a:rPr>
                <a:t>数据</a:t>
              </a:r>
              <a:r>
                <a:rPr kumimoji="0" lang="en-US" altLang="zh-CN" sz="1800" b="1" i="0" u="none" strike="noStrike" kern="0" cap="none" spc="0" normalizeH="0" baseline="0" noProof="0" dirty="0">
                  <a:ln>
                    <a:noFill/>
                  </a:ln>
                  <a:solidFill>
                    <a:srgbClr val="0432FF"/>
                  </a:solidFill>
                  <a:effectLst/>
                  <a:uLnTx/>
                  <a:uFillTx/>
                  <a:latin typeface="+mn-lt"/>
                  <a:ea typeface="黑体" panose="02010609060101010101" pitchFamily="49" charset="-122"/>
                </a:rPr>
                <a:t> d, e, f, …</a:t>
              </a:r>
            </a:p>
          </p:txBody>
        </p:sp>
        <p:sp>
          <p:nvSpPr>
            <p:cNvPr id="53" name="Text Box 9">
              <a:extLst>
                <a:ext uri="{FF2B5EF4-FFF2-40B4-BE49-F238E27FC236}">
                  <a16:creationId xmlns:a16="http://schemas.microsoft.com/office/drawing/2014/main" id="{0A708178-C198-9D08-AEDF-FB22294DEB13}"/>
                </a:ext>
              </a:extLst>
            </p:cNvPr>
            <p:cNvSpPr txBox="1">
              <a:spLocks noChangeArrowheads="1"/>
            </p:cNvSpPr>
            <p:nvPr/>
          </p:nvSpPr>
          <p:spPr bwMode="auto">
            <a:xfrm rot="5400000">
              <a:off x="5944645" y="5883965"/>
              <a:ext cx="647934" cy="6463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eaLnBrk="1" hangingPunct="1"/>
              <a:r>
                <a:rPr lang="en-US" altLang="zh-CN" sz="3600" dirty="0">
                  <a:solidFill>
                    <a:srgbClr val="000000"/>
                  </a:solidFill>
                  <a:latin typeface="+mn-lt"/>
                  <a:ea typeface="黑体" panose="02010609060101010101" pitchFamily="49" charset="-122"/>
                </a:rPr>
                <a:t>…</a:t>
              </a:r>
            </a:p>
          </p:txBody>
        </p:sp>
        <p:sp>
          <p:nvSpPr>
            <p:cNvPr id="54" name="Text Box 10">
              <a:extLst>
                <a:ext uri="{FF2B5EF4-FFF2-40B4-BE49-F238E27FC236}">
                  <a16:creationId xmlns:a16="http://schemas.microsoft.com/office/drawing/2014/main" id="{37353096-1A72-3234-FCE2-9D4396603FB5}"/>
                </a:ext>
              </a:extLst>
            </p:cNvPr>
            <p:cNvSpPr txBox="1">
              <a:spLocks noChangeArrowheads="1"/>
            </p:cNvSpPr>
            <p:nvPr/>
          </p:nvSpPr>
          <p:spPr bwMode="auto">
            <a:xfrm>
              <a:off x="7417803" y="3086554"/>
              <a:ext cx="814647"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eaLnBrk="1" hangingPunct="1"/>
              <a:r>
                <a:rPr lang="zh-CN" altLang="en-US" sz="1600" dirty="0">
                  <a:solidFill>
                    <a:srgbClr val="000000">
                      <a:lumMod val="50000"/>
                      <a:lumOff val="50000"/>
                    </a:srgbClr>
                  </a:solidFill>
                  <a:latin typeface="+mn-lt"/>
                  <a:ea typeface="黑体" panose="02010609060101010101" pitchFamily="49" charset="-122"/>
                </a:rPr>
                <a:t>高地址</a:t>
              </a:r>
              <a:endParaRPr lang="en-US" altLang="zh-CN" sz="1600" dirty="0">
                <a:solidFill>
                  <a:srgbClr val="000000">
                    <a:lumMod val="50000"/>
                    <a:lumOff val="50000"/>
                  </a:srgbClr>
                </a:solidFill>
                <a:latin typeface="+mn-lt"/>
                <a:ea typeface="黑体" panose="02010609060101010101" pitchFamily="49" charset="-122"/>
              </a:endParaRPr>
            </a:p>
          </p:txBody>
        </p:sp>
        <p:sp>
          <p:nvSpPr>
            <p:cNvPr id="55" name="Text Box 12">
              <a:extLst>
                <a:ext uri="{FF2B5EF4-FFF2-40B4-BE49-F238E27FC236}">
                  <a16:creationId xmlns:a16="http://schemas.microsoft.com/office/drawing/2014/main" id="{D58138BF-0F6D-C326-B8A6-6B211AD2906E}"/>
                </a:ext>
              </a:extLst>
            </p:cNvPr>
            <p:cNvSpPr txBox="1">
              <a:spLocks noChangeArrowheads="1"/>
            </p:cNvSpPr>
            <p:nvPr/>
          </p:nvSpPr>
          <p:spPr bwMode="auto">
            <a:xfrm>
              <a:off x="4064743" y="6210793"/>
              <a:ext cx="1491114"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eaLnBrk="1" hangingPunct="1"/>
              <a:r>
                <a:rPr lang="zh-CN" altLang="en-US" sz="2000" dirty="0">
                  <a:solidFill>
                    <a:srgbClr val="000000">
                      <a:lumMod val="50000"/>
                      <a:lumOff val="50000"/>
                    </a:srgbClr>
                  </a:solidFill>
                  <a:latin typeface="+mn-lt"/>
                  <a:ea typeface="黑体" panose="02010609060101010101" pitchFamily="49" charset="-122"/>
                </a:rPr>
                <a:t>栈生长方向</a:t>
              </a:r>
              <a:endParaRPr lang="en-US" altLang="zh-CN" sz="2000" dirty="0">
                <a:solidFill>
                  <a:srgbClr val="000000">
                    <a:lumMod val="50000"/>
                    <a:lumOff val="50000"/>
                  </a:srgbClr>
                </a:solidFill>
                <a:latin typeface="+mn-lt"/>
                <a:ea typeface="黑体" panose="02010609060101010101" pitchFamily="49" charset="-122"/>
              </a:endParaRPr>
            </a:p>
          </p:txBody>
        </p:sp>
        <p:sp>
          <p:nvSpPr>
            <p:cNvPr id="56" name="Line 13">
              <a:extLst>
                <a:ext uri="{FF2B5EF4-FFF2-40B4-BE49-F238E27FC236}">
                  <a16:creationId xmlns:a16="http://schemas.microsoft.com/office/drawing/2014/main" id="{41AA5BC7-2992-A224-C4CF-DC0279A39078}"/>
                </a:ext>
              </a:extLst>
            </p:cNvPr>
            <p:cNvSpPr>
              <a:spLocks noChangeShapeType="1"/>
            </p:cNvSpPr>
            <p:nvPr/>
          </p:nvSpPr>
          <p:spPr bwMode="auto">
            <a:xfrm>
              <a:off x="4487671" y="5305522"/>
              <a:ext cx="0" cy="609600"/>
            </a:xfrm>
            <a:prstGeom prst="line">
              <a:avLst/>
            </a:prstGeom>
            <a:noFill/>
            <a:ln w="57150">
              <a:solidFill>
                <a:srgbClr val="000000">
                  <a:lumMod val="50000"/>
                  <a:lumOff val="50000"/>
                </a:srgbClr>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mn-lt"/>
                <a:ea typeface="黑体" panose="02010609060101010101" pitchFamily="49" charset="-122"/>
              </a:endParaRPr>
            </a:p>
          </p:txBody>
        </p:sp>
        <p:sp>
          <p:nvSpPr>
            <p:cNvPr id="57" name="Text Box 10">
              <a:extLst>
                <a:ext uri="{FF2B5EF4-FFF2-40B4-BE49-F238E27FC236}">
                  <a16:creationId xmlns:a16="http://schemas.microsoft.com/office/drawing/2014/main" id="{8E0FE973-EF4A-FC64-01A9-0B119B9FE984}"/>
                </a:ext>
              </a:extLst>
            </p:cNvPr>
            <p:cNvSpPr txBox="1">
              <a:spLocks noChangeArrowheads="1"/>
            </p:cNvSpPr>
            <p:nvPr/>
          </p:nvSpPr>
          <p:spPr bwMode="auto">
            <a:xfrm>
              <a:off x="7415275" y="6030840"/>
              <a:ext cx="814647"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eaLnBrk="1" hangingPunct="1"/>
              <a:r>
                <a:rPr lang="zh-CN" altLang="en-US" sz="1600" dirty="0">
                  <a:solidFill>
                    <a:srgbClr val="000000">
                      <a:lumMod val="50000"/>
                      <a:lumOff val="50000"/>
                    </a:srgbClr>
                  </a:solidFill>
                  <a:latin typeface="+mn-lt"/>
                  <a:ea typeface="黑体" panose="02010609060101010101" pitchFamily="49" charset="-122"/>
                </a:rPr>
                <a:t>低地址</a:t>
              </a:r>
              <a:endParaRPr lang="en-US" altLang="zh-CN" sz="1600" dirty="0">
                <a:solidFill>
                  <a:srgbClr val="000000">
                    <a:lumMod val="50000"/>
                    <a:lumOff val="50000"/>
                  </a:srgbClr>
                </a:solidFill>
                <a:latin typeface="+mn-lt"/>
                <a:ea typeface="黑体" panose="02010609060101010101" pitchFamily="49" charset="-122"/>
              </a:endParaRPr>
            </a:p>
          </p:txBody>
        </p:sp>
        <p:cxnSp>
          <p:nvCxnSpPr>
            <p:cNvPr id="58" name="Straight Connector 6">
              <a:extLst>
                <a:ext uri="{FF2B5EF4-FFF2-40B4-BE49-F238E27FC236}">
                  <a16:creationId xmlns:a16="http://schemas.microsoft.com/office/drawing/2014/main" id="{80659867-35B5-D3A6-0D65-EF795200E0F3}"/>
                </a:ext>
              </a:extLst>
            </p:cNvPr>
            <p:cNvCxnSpPr>
              <a:cxnSpLocks/>
            </p:cNvCxnSpPr>
            <p:nvPr/>
          </p:nvCxnSpPr>
          <p:spPr>
            <a:xfrm flipV="1">
              <a:off x="4690662" y="3304239"/>
              <a:ext cx="0" cy="2864975"/>
            </a:xfrm>
            <a:prstGeom prst="line">
              <a:avLst/>
            </a:prstGeom>
            <a:noFill/>
            <a:ln w="57150" cap="flat" cmpd="sng" algn="ctr">
              <a:solidFill>
                <a:srgbClr val="000000">
                  <a:lumMod val="50000"/>
                  <a:lumOff val="50000"/>
                </a:srgbClr>
              </a:solidFill>
              <a:prstDash val="solid"/>
            </a:ln>
            <a:effectLst/>
          </p:spPr>
        </p:cxnSp>
        <p:cxnSp>
          <p:nvCxnSpPr>
            <p:cNvPr id="59" name="Straight Connector 20">
              <a:extLst>
                <a:ext uri="{FF2B5EF4-FFF2-40B4-BE49-F238E27FC236}">
                  <a16:creationId xmlns:a16="http://schemas.microsoft.com/office/drawing/2014/main" id="{3CE30DF0-CBED-B968-2C69-C835F233C5C2}"/>
                </a:ext>
              </a:extLst>
            </p:cNvPr>
            <p:cNvCxnSpPr>
              <a:cxnSpLocks/>
            </p:cNvCxnSpPr>
            <p:nvPr/>
          </p:nvCxnSpPr>
          <p:spPr>
            <a:xfrm flipV="1">
              <a:off x="7403668" y="3264580"/>
              <a:ext cx="0" cy="2864975"/>
            </a:xfrm>
            <a:prstGeom prst="line">
              <a:avLst/>
            </a:prstGeom>
            <a:noFill/>
            <a:ln w="57150" cap="flat" cmpd="sng" algn="ctr">
              <a:solidFill>
                <a:srgbClr val="000000">
                  <a:lumMod val="50000"/>
                  <a:lumOff val="50000"/>
                </a:srgbClr>
              </a:solidFill>
              <a:prstDash val="solid"/>
            </a:ln>
            <a:effectLst/>
          </p:spPr>
        </p:cxnSp>
        <p:sp>
          <p:nvSpPr>
            <p:cNvPr id="60" name="Text Box 9">
              <a:extLst>
                <a:ext uri="{FF2B5EF4-FFF2-40B4-BE49-F238E27FC236}">
                  <a16:creationId xmlns:a16="http://schemas.microsoft.com/office/drawing/2014/main" id="{631AE289-05E9-FA09-0BE6-5654424D1F00}"/>
                </a:ext>
              </a:extLst>
            </p:cNvPr>
            <p:cNvSpPr txBox="1">
              <a:spLocks noChangeArrowheads="1"/>
            </p:cNvSpPr>
            <p:nvPr/>
          </p:nvSpPr>
          <p:spPr bwMode="auto">
            <a:xfrm rot="5400000">
              <a:off x="5863023" y="3315841"/>
              <a:ext cx="647934" cy="6463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eaLnBrk="1" hangingPunct="1"/>
              <a:r>
                <a:rPr lang="en-US" altLang="zh-CN" sz="3600" dirty="0">
                  <a:solidFill>
                    <a:srgbClr val="000000"/>
                  </a:solidFill>
                  <a:latin typeface="+mn-lt"/>
                  <a:ea typeface="黑体" panose="02010609060101010101" pitchFamily="49" charset="-122"/>
                </a:rPr>
                <a:t>…</a:t>
              </a:r>
            </a:p>
          </p:txBody>
        </p:sp>
        <p:sp>
          <p:nvSpPr>
            <p:cNvPr id="61" name="Rectangle 9">
              <a:extLst>
                <a:ext uri="{FF2B5EF4-FFF2-40B4-BE49-F238E27FC236}">
                  <a16:creationId xmlns:a16="http://schemas.microsoft.com/office/drawing/2014/main" id="{1F20081D-C81E-6232-A759-348E271F4508}"/>
                </a:ext>
              </a:extLst>
            </p:cNvPr>
            <p:cNvSpPr/>
            <p:nvPr/>
          </p:nvSpPr>
          <p:spPr>
            <a:xfrm>
              <a:off x="858657" y="3959511"/>
              <a:ext cx="2938494" cy="1884555"/>
            </a:xfrm>
            <a:prstGeom prst="rect">
              <a:avLst/>
            </a:prstGeom>
            <a:solidFill>
              <a:srgbClr val="8064A2">
                <a:lumMod val="20000"/>
                <a:lumOff val="80000"/>
              </a:srgbClr>
            </a:solidFill>
            <a:ln w="9525">
              <a:solidFill>
                <a:srgbClr val="8064A2"/>
              </a:solidFill>
              <a:miter lim="800000"/>
              <a:headEnd/>
              <a:tailEnd/>
            </a:ln>
            <a:effectLst/>
          </p:spPr>
          <p:txBody>
            <a:bodyPr wrap="square">
              <a:spAutoFit/>
            </a:bodyPr>
            <a:lstStyle/>
            <a:p>
              <a:pPr marL="0" marR="0" lvl="0" indent="0" defTabSz="914400" eaLnBrk="1" fontAlgn="auto" latinLnBrk="0" hangingPunct="1">
                <a:lnSpc>
                  <a:spcPct val="150000"/>
                </a:lnSpc>
                <a:spcBef>
                  <a:spcPts val="0"/>
                </a:spcBef>
                <a:spcAft>
                  <a:spcPts val="0"/>
                </a:spcAft>
                <a:buClrTx/>
                <a:buSzTx/>
                <a:buFontTx/>
                <a:buNone/>
                <a:tabLst/>
                <a:defRPr/>
              </a:pPr>
              <a:r>
                <a:rPr kumimoji="0" lang="zh-CN" altLang="en-US" sz="2000" b="1" i="0" u="none" strike="noStrike" kern="0" cap="none" spc="0" normalizeH="0" baseline="0" noProof="0" dirty="0">
                  <a:ln>
                    <a:noFill/>
                  </a:ln>
                  <a:solidFill>
                    <a:srgbClr val="000000"/>
                  </a:solidFill>
                  <a:effectLst/>
                  <a:uLnTx/>
                  <a:uFillTx/>
                  <a:latin typeface="+mn-lt"/>
                  <a:ea typeface="黑体" panose="02010609060101010101" pitchFamily="49" charset="-122"/>
                </a:rPr>
                <a:t>调用 </a:t>
              </a:r>
              <a:r>
                <a:rPr kumimoji="0" lang="en-US" altLang="zh-CN" sz="2000" b="1" i="0" u="none" strike="noStrike" kern="0" cap="none" spc="0" normalizeH="0" baseline="0" noProof="0" dirty="0">
                  <a:ln>
                    <a:noFill/>
                  </a:ln>
                  <a:solidFill>
                    <a:srgbClr val="000000"/>
                  </a:solidFill>
                  <a:effectLst/>
                  <a:uLnTx/>
                  <a:uFillTx/>
                  <a:latin typeface="+mn-lt"/>
                  <a:ea typeface="黑体" panose="02010609060101010101" pitchFamily="49" charset="-122"/>
                </a:rPr>
                <a:t>Y                 </a:t>
              </a:r>
            </a:p>
            <a:p>
              <a:pPr marL="0" marR="0" lvl="0" indent="0" defTabSz="914400" eaLnBrk="1" fontAlgn="auto" latinLnBrk="0" hangingPunct="1">
                <a:lnSpc>
                  <a:spcPct val="150000"/>
                </a:lnSpc>
                <a:spcBef>
                  <a:spcPts val="0"/>
                </a:spcBef>
                <a:spcAft>
                  <a:spcPts val="0"/>
                </a:spcAft>
                <a:buClrTx/>
                <a:buSzTx/>
                <a:buFontTx/>
                <a:buNone/>
                <a:tabLst/>
                <a:defRPr/>
              </a:pPr>
              <a:r>
                <a:rPr kumimoji="0" lang="en-US" altLang="zh-CN" sz="2000" b="1" i="0" u="none" strike="noStrike" kern="0" cap="none" spc="0" normalizeH="0" baseline="0" noProof="0" dirty="0">
                  <a:ln>
                    <a:noFill/>
                  </a:ln>
                  <a:solidFill>
                    <a:srgbClr val="000000"/>
                  </a:solidFill>
                  <a:effectLst/>
                  <a:uLnTx/>
                  <a:uFillTx/>
                  <a:latin typeface="+mn-lt"/>
                  <a:ea typeface="黑体" panose="02010609060101010101" pitchFamily="49" charset="-122"/>
                </a:rPr>
                <a:t>	 </a:t>
              </a:r>
            </a:p>
            <a:p>
              <a:pPr marL="0" marR="0" lvl="0" indent="0" defTabSz="914400" eaLnBrk="1" fontAlgn="auto" latinLnBrk="0" hangingPunct="1">
                <a:lnSpc>
                  <a:spcPct val="150000"/>
                </a:lnSpc>
                <a:spcBef>
                  <a:spcPts val="0"/>
                </a:spcBef>
                <a:spcAft>
                  <a:spcPts val="0"/>
                </a:spcAft>
                <a:buClrTx/>
                <a:buSzTx/>
                <a:buFontTx/>
                <a:buNone/>
                <a:tabLst/>
                <a:defRPr/>
              </a:pPr>
              <a:endParaRPr kumimoji="0" lang="en-US" altLang="zh-CN" sz="2000" b="1" i="0" u="none" strike="noStrike" kern="0" cap="none" spc="0" normalizeH="0" baseline="0" noProof="0" dirty="0">
                <a:ln>
                  <a:noFill/>
                </a:ln>
                <a:solidFill>
                  <a:srgbClr val="000000"/>
                </a:solidFill>
                <a:effectLst/>
                <a:uLnTx/>
                <a:uFillTx/>
                <a:latin typeface="+mn-lt"/>
                <a:ea typeface="黑体" panose="02010609060101010101" pitchFamily="49" charset="-122"/>
              </a:endParaRPr>
            </a:p>
            <a:p>
              <a:pPr marL="0" marR="0" lvl="0" indent="0" defTabSz="914400" eaLnBrk="1" fontAlgn="auto" latinLnBrk="0" hangingPunct="1">
                <a:lnSpc>
                  <a:spcPct val="150000"/>
                </a:lnSpc>
                <a:spcBef>
                  <a:spcPts val="0"/>
                </a:spcBef>
                <a:spcAft>
                  <a:spcPts val="0"/>
                </a:spcAft>
                <a:buClrTx/>
                <a:buSzTx/>
                <a:buFontTx/>
                <a:buNone/>
                <a:tabLst/>
                <a:defRPr/>
              </a:pPr>
              <a:r>
                <a:rPr kumimoji="0" lang="en-US" altLang="zh-CN" sz="2000" b="1" i="0" u="none" strike="noStrike" kern="0" cap="none" spc="0" normalizeH="0" baseline="0" noProof="0" dirty="0">
                  <a:ln>
                    <a:noFill/>
                  </a:ln>
                  <a:solidFill>
                    <a:srgbClr val="000000"/>
                  </a:solidFill>
                  <a:effectLst/>
                  <a:uLnTx/>
                  <a:uFillTx/>
                  <a:latin typeface="+mn-lt"/>
                  <a:ea typeface="黑体" panose="02010609060101010101" pitchFamily="49" charset="-122"/>
                </a:rPr>
                <a:t>(</a:t>
              </a:r>
              <a:r>
                <a:rPr kumimoji="0" lang="zh-CN" altLang="en-US" sz="2000" b="1" i="0" u="none" strike="noStrike" kern="0" cap="none" spc="0" normalizeH="0" baseline="0" noProof="0" dirty="0">
                  <a:ln>
                    <a:noFill/>
                  </a:ln>
                  <a:solidFill>
                    <a:srgbClr val="000000"/>
                  </a:solidFill>
                  <a:effectLst/>
                  <a:uLnTx/>
                  <a:uFillTx/>
                  <a:latin typeface="+mn-lt"/>
                  <a:ea typeface="黑体" panose="02010609060101010101" pitchFamily="49" charset="-122"/>
                </a:rPr>
                <a:t>从</a:t>
              </a:r>
              <a:r>
                <a:rPr kumimoji="0" lang="en-US" altLang="zh-CN" sz="2000" b="1" i="0" u="none" strike="noStrike" kern="0" cap="none" spc="0" normalizeH="0" baseline="0" noProof="0" dirty="0">
                  <a:ln>
                    <a:noFill/>
                  </a:ln>
                  <a:solidFill>
                    <a:srgbClr val="000000"/>
                  </a:solidFill>
                  <a:effectLst/>
                  <a:uLnTx/>
                  <a:uFillTx/>
                  <a:latin typeface="+mn-lt"/>
                  <a:ea typeface="黑体" panose="02010609060101010101" pitchFamily="49" charset="-122"/>
                </a:rPr>
                <a:t>Y</a:t>
              </a:r>
              <a:r>
                <a:rPr kumimoji="0" lang="zh-CN" altLang="en-US" sz="2000" b="1" i="0" u="none" strike="noStrike" kern="0" cap="none" spc="0" normalizeH="0" baseline="0" noProof="0" dirty="0">
                  <a:ln>
                    <a:noFill/>
                  </a:ln>
                  <a:solidFill>
                    <a:srgbClr val="000000"/>
                  </a:solidFill>
                  <a:effectLst/>
                  <a:uLnTx/>
                  <a:uFillTx/>
                  <a:latin typeface="+mn-lt"/>
                  <a:ea typeface="黑体" panose="02010609060101010101" pitchFamily="49" charset="-122"/>
                </a:rPr>
                <a:t>返回</a:t>
              </a:r>
              <a:r>
                <a:rPr kumimoji="0" lang="en-US" altLang="zh-CN" sz="2000" b="1" i="0" u="none" strike="noStrike" kern="0" cap="none" spc="0" normalizeH="0" baseline="0" noProof="0" dirty="0">
                  <a:ln>
                    <a:noFill/>
                  </a:ln>
                  <a:solidFill>
                    <a:srgbClr val="000000"/>
                  </a:solidFill>
                  <a:effectLst/>
                  <a:uLnTx/>
                  <a:uFillTx/>
                  <a:latin typeface="+mn-lt"/>
                  <a:ea typeface="黑体" panose="02010609060101010101" pitchFamily="49" charset="-122"/>
                </a:rPr>
                <a:t>)</a:t>
              </a:r>
            </a:p>
          </p:txBody>
        </p:sp>
        <p:sp>
          <p:nvSpPr>
            <p:cNvPr id="62" name="Rectangle 10">
              <a:extLst>
                <a:ext uri="{FF2B5EF4-FFF2-40B4-BE49-F238E27FC236}">
                  <a16:creationId xmlns:a16="http://schemas.microsoft.com/office/drawing/2014/main" id="{9AC308CC-906F-5DE1-6E8D-3BD795049D2B}"/>
                </a:ext>
              </a:extLst>
            </p:cNvPr>
            <p:cNvSpPr/>
            <p:nvPr/>
          </p:nvSpPr>
          <p:spPr>
            <a:xfrm>
              <a:off x="1394271" y="4444589"/>
              <a:ext cx="2402880" cy="961225"/>
            </a:xfrm>
            <a:prstGeom prst="rect">
              <a:avLst/>
            </a:prstGeom>
            <a:solidFill>
              <a:srgbClr val="1F497D">
                <a:lumMod val="20000"/>
                <a:lumOff val="80000"/>
              </a:srgbClr>
            </a:solidFill>
            <a:ln>
              <a:solidFill>
                <a:srgbClr val="1F497D"/>
              </a:solidFill>
            </a:ln>
          </p:spPr>
          <p:txBody>
            <a:bodyPr wrap="square">
              <a:spAutoFit/>
            </a:bodyPr>
            <a:lstStyle/>
            <a:p>
              <a:pPr marL="0" marR="0" lvl="0" indent="0" defTabSz="914400" eaLnBrk="1" fontAlgn="auto" latinLnBrk="0" hangingPunct="1">
                <a:lnSpc>
                  <a:spcPct val="150000"/>
                </a:lnSpc>
                <a:spcBef>
                  <a:spcPts val="0"/>
                </a:spcBef>
                <a:spcAft>
                  <a:spcPts val="0"/>
                </a:spcAft>
                <a:buClrTx/>
                <a:buSzTx/>
                <a:buFontTx/>
                <a:buNone/>
                <a:tabLst/>
                <a:defRPr/>
              </a:pPr>
              <a:r>
                <a:rPr kumimoji="0" lang="zh-CN" altLang="en-US" sz="2000" b="1" i="0" u="none" strike="noStrike" kern="0" cap="none" spc="0" normalizeH="0" baseline="0" noProof="0" dirty="0">
                  <a:ln>
                    <a:noFill/>
                  </a:ln>
                  <a:solidFill>
                    <a:srgbClr val="000000"/>
                  </a:solidFill>
                  <a:effectLst/>
                  <a:uLnTx/>
                  <a:uFillTx/>
                  <a:latin typeface="+mn-lt"/>
                  <a:ea typeface="黑体" panose="02010609060101010101" pitchFamily="49" charset="-122"/>
                </a:rPr>
                <a:t>调用 </a:t>
              </a:r>
              <a:r>
                <a:rPr kumimoji="0" lang="en-US" altLang="zh-CN" sz="2000" b="1" i="0" u="none" strike="noStrike" kern="0" cap="none" spc="0" normalizeH="0" baseline="0" noProof="0" dirty="0">
                  <a:ln>
                    <a:noFill/>
                  </a:ln>
                  <a:solidFill>
                    <a:srgbClr val="000000"/>
                  </a:solidFill>
                  <a:effectLst/>
                  <a:uLnTx/>
                  <a:uFillTx/>
                  <a:latin typeface="+mn-lt"/>
                  <a:ea typeface="黑体" panose="02010609060101010101" pitchFamily="49" charset="-122"/>
                </a:rPr>
                <a:t>Z  </a:t>
              </a:r>
            </a:p>
            <a:p>
              <a:pPr marL="0" marR="0" lvl="0" indent="0" defTabSz="914400" eaLnBrk="1" fontAlgn="auto" latinLnBrk="0" hangingPunct="1">
                <a:lnSpc>
                  <a:spcPct val="150000"/>
                </a:lnSpc>
                <a:spcBef>
                  <a:spcPts val="0"/>
                </a:spcBef>
                <a:spcAft>
                  <a:spcPts val="0"/>
                </a:spcAft>
                <a:buClrTx/>
                <a:buSzTx/>
                <a:buFontTx/>
                <a:buNone/>
                <a:tabLst/>
                <a:defRPr/>
              </a:pPr>
              <a:r>
                <a:rPr kumimoji="0" lang="en-US" altLang="zh-CN" sz="2000" b="1" i="0" u="none" strike="noStrike" kern="0" cap="none" spc="0" normalizeH="0" baseline="0" noProof="0" dirty="0">
                  <a:ln>
                    <a:noFill/>
                  </a:ln>
                  <a:solidFill>
                    <a:srgbClr val="000000"/>
                  </a:solidFill>
                  <a:effectLst/>
                  <a:uLnTx/>
                  <a:uFillTx/>
                  <a:latin typeface="+mn-lt"/>
                  <a:ea typeface="黑体" panose="02010609060101010101" pitchFamily="49" charset="-122"/>
                </a:rPr>
                <a:t>(</a:t>
              </a:r>
              <a:r>
                <a:rPr kumimoji="0" lang="zh-CN" altLang="en-US" sz="2000" b="1" i="0" u="none" strike="noStrike" kern="0" cap="none" spc="0" normalizeH="0" baseline="0" noProof="0" dirty="0">
                  <a:ln>
                    <a:noFill/>
                  </a:ln>
                  <a:solidFill>
                    <a:srgbClr val="000000"/>
                  </a:solidFill>
                  <a:effectLst/>
                  <a:uLnTx/>
                  <a:uFillTx/>
                  <a:latin typeface="+mn-lt"/>
                  <a:ea typeface="黑体" panose="02010609060101010101" pitchFamily="49" charset="-122"/>
                </a:rPr>
                <a:t>从</a:t>
              </a:r>
              <a:r>
                <a:rPr kumimoji="0" lang="en-US" altLang="zh-CN" sz="2000" b="1" i="0" u="none" strike="noStrike" kern="0" cap="none" spc="0" normalizeH="0" baseline="0" noProof="0" dirty="0">
                  <a:ln>
                    <a:noFill/>
                  </a:ln>
                  <a:solidFill>
                    <a:srgbClr val="000000"/>
                  </a:solidFill>
                  <a:effectLst/>
                  <a:uLnTx/>
                  <a:uFillTx/>
                  <a:latin typeface="+mn-lt"/>
                  <a:ea typeface="黑体" panose="02010609060101010101" pitchFamily="49" charset="-122"/>
                </a:rPr>
                <a:t>Z</a:t>
              </a:r>
              <a:r>
                <a:rPr kumimoji="0" lang="zh-CN" altLang="en-US" sz="2000" b="1" i="0" u="none" strike="noStrike" kern="0" cap="none" spc="0" normalizeH="0" baseline="0" noProof="0" dirty="0">
                  <a:ln>
                    <a:noFill/>
                  </a:ln>
                  <a:solidFill>
                    <a:srgbClr val="000000"/>
                  </a:solidFill>
                  <a:effectLst/>
                  <a:uLnTx/>
                  <a:uFillTx/>
                  <a:latin typeface="+mn-lt"/>
                  <a:ea typeface="黑体" panose="02010609060101010101" pitchFamily="49" charset="-122"/>
                </a:rPr>
                <a:t>返回</a:t>
              </a:r>
              <a:r>
                <a:rPr kumimoji="0" lang="en-US" altLang="zh-CN" sz="2000" b="1" i="0" u="none" strike="noStrike" kern="0" cap="none" spc="0" normalizeH="0" baseline="0" noProof="0" dirty="0">
                  <a:ln>
                    <a:noFill/>
                  </a:ln>
                  <a:solidFill>
                    <a:srgbClr val="000000"/>
                  </a:solidFill>
                  <a:effectLst/>
                  <a:uLnTx/>
                  <a:uFillTx/>
                  <a:latin typeface="+mn-lt"/>
                  <a:ea typeface="黑体" panose="02010609060101010101" pitchFamily="49" charset="-122"/>
                </a:rPr>
                <a:t>)</a:t>
              </a:r>
            </a:p>
          </p:txBody>
        </p:sp>
        <p:sp>
          <p:nvSpPr>
            <p:cNvPr id="63" name="Text Box 12">
              <a:extLst>
                <a:ext uri="{FF2B5EF4-FFF2-40B4-BE49-F238E27FC236}">
                  <a16:creationId xmlns:a16="http://schemas.microsoft.com/office/drawing/2014/main" id="{C075C293-EBBB-C859-B43B-49C023A61DE8}"/>
                </a:ext>
              </a:extLst>
            </p:cNvPr>
            <p:cNvSpPr txBox="1">
              <a:spLocks noChangeArrowheads="1"/>
            </p:cNvSpPr>
            <p:nvPr/>
          </p:nvSpPr>
          <p:spPr bwMode="auto">
            <a:xfrm>
              <a:off x="7403668" y="5148633"/>
              <a:ext cx="891591" cy="6463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r>
                <a:rPr lang="zh-CN" altLang="en-US" dirty="0">
                  <a:solidFill>
                    <a:srgbClr val="000000"/>
                  </a:solidFill>
                  <a:latin typeface="+mn-lt"/>
                  <a:ea typeface="黑体" panose="02010609060101010101" pitchFamily="49" charset="-122"/>
                </a:rPr>
                <a:t>栈指针</a:t>
              </a:r>
              <a:endParaRPr lang="en-US" altLang="zh-CN" dirty="0">
                <a:solidFill>
                  <a:srgbClr val="000000"/>
                </a:solidFill>
                <a:latin typeface="+mn-lt"/>
                <a:ea typeface="黑体" panose="02010609060101010101" pitchFamily="49" charset="-122"/>
              </a:endParaRPr>
            </a:p>
            <a:p>
              <a:pPr eaLnBrk="1" hangingPunct="1"/>
              <a:r>
                <a:rPr lang="en-US" altLang="zh-CN" dirty="0">
                  <a:solidFill>
                    <a:srgbClr val="000000"/>
                  </a:solidFill>
                  <a:latin typeface="Consolas" panose="020B0609020204030204" pitchFamily="49" charset="0"/>
                  <a:ea typeface="黑体" panose="02010609060101010101" pitchFamily="49" charset="-122"/>
                  <a:cs typeface="Consolas" panose="020B0609020204030204" pitchFamily="49" charset="0"/>
                </a:rPr>
                <a:t>$</a:t>
              </a:r>
              <a:r>
                <a:rPr lang="en-US" altLang="zh-CN" dirty="0" err="1">
                  <a:solidFill>
                    <a:srgbClr val="000000"/>
                  </a:solidFill>
                  <a:latin typeface="Consolas" panose="020B0609020204030204" pitchFamily="49" charset="0"/>
                  <a:ea typeface="黑体" panose="02010609060101010101" pitchFamily="49" charset="-122"/>
                  <a:cs typeface="Consolas" panose="020B0609020204030204" pitchFamily="49" charset="0"/>
                </a:rPr>
                <a:t>sp</a:t>
              </a:r>
              <a:endParaRPr lang="en-US" altLang="zh-CN" dirty="0">
                <a:solidFill>
                  <a:srgbClr val="000000"/>
                </a:solidFill>
                <a:latin typeface="Consolas" panose="020B0609020204030204" pitchFamily="49" charset="0"/>
                <a:ea typeface="黑体" panose="02010609060101010101" pitchFamily="49" charset="-122"/>
                <a:cs typeface="Consolas" panose="020B0609020204030204" pitchFamily="49" charset="0"/>
              </a:endParaRPr>
            </a:p>
          </p:txBody>
        </p:sp>
        <p:cxnSp>
          <p:nvCxnSpPr>
            <p:cNvPr id="64" name="Straight Arrow Connector 13">
              <a:extLst>
                <a:ext uri="{FF2B5EF4-FFF2-40B4-BE49-F238E27FC236}">
                  <a16:creationId xmlns:a16="http://schemas.microsoft.com/office/drawing/2014/main" id="{F955CA36-2E3D-9E53-5A6B-349F29E3AEB9}"/>
                </a:ext>
              </a:extLst>
            </p:cNvPr>
            <p:cNvCxnSpPr/>
            <p:nvPr/>
          </p:nvCxnSpPr>
          <p:spPr>
            <a:xfrm flipH="1">
              <a:off x="7443521" y="5844066"/>
              <a:ext cx="1243279" cy="0"/>
            </a:xfrm>
            <a:prstGeom prst="straightConnector1">
              <a:avLst/>
            </a:prstGeom>
            <a:noFill/>
            <a:ln w="76200" cap="flat" cmpd="sng" algn="ctr">
              <a:solidFill>
                <a:srgbClr val="000000">
                  <a:shade val="95000"/>
                  <a:satMod val="105000"/>
                </a:srgbClr>
              </a:solidFill>
              <a:prstDash val="solid"/>
              <a:tailEnd type="triangle"/>
            </a:ln>
            <a:effectLst/>
          </p:spPr>
        </p:cxnSp>
        <p:sp>
          <p:nvSpPr>
            <p:cNvPr id="65" name="矩形 64">
              <a:extLst>
                <a:ext uri="{FF2B5EF4-FFF2-40B4-BE49-F238E27FC236}">
                  <a16:creationId xmlns:a16="http://schemas.microsoft.com/office/drawing/2014/main" id="{2DEF7028-E38C-C570-4121-A47F39870FE7}"/>
                </a:ext>
              </a:extLst>
            </p:cNvPr>
            <p:cNvSpPr/>
            <p:nvPr/>
          </p:nvSpPr>
          <p:spPr>
            <a:xfrm>
              <a:off x="1446792" y="1602651"/>
              <a:ext cx="1442175" cy="1410340"/>
            </a:xfrm>
            <a:prstGeom prst="rect">
              <a:avLst/>
            </a:prstGeom>
            <a:solidFill>
              <a:srgbClr val="9BBB59">
                <a:lumMod val="20000"/>
                <a:lumOff val="80000"/>
              </a:srgbClr>
            </a:solidFill>
            <a:ln w="25400" cap="flat" cmpd="sng" algn="ctr">
              <a:noFill/>
              <a:prstDash val="solid"/>
            </a:ln>
            <a:effectLst/>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dirty="0">
                  <a:ln>
                    <a:noFill/>
                  </a:ln>
                  <a:solidFill>
                    <a:srgbClr val="000000"/>
                  </a:solidFill>
                  <a:effectLst/>
                  <a:uLnTx/>
                  <a:uFillTx/>
                  <a:latin typeface="+mn-lt"/>
                  <a:ea typeface="黑体" panose="02010609060101010101" pitchFamily="49" charset="-122"/>
                  <a:cs typeface="Arial" panose="020B0604020202020204" pitchFamily="34" charset="0"/>
                </a:rPr>
                <a:t>程序</a:t>
              </a:r>
              <a:r>
                <a:rPr kumimoji="0" lang="en-US" altLang="zh-CN" sz="2000" b="1" i="0" u="none" strike="noStrike" kern="0" cap="none" spc="0" normalizeH="0" baseline="0" noProof="0" dirty="0">
                  <a:ln>
                    <a:noFill/>
                  </a:ln>
                  <a:solidFill>
                    <a:srgbClr val="000000"/>
                  </a:solidFill>
                  <a:effectLst/>
                  <a:uLnTx/>
                  <a:uFillTx/>
                  <a:latin typeface="+mn-lt"/>
                  <a:ea typeface="黑体" panose="02010609060101010101" pitchFamily="49" charset="-122"/>
                  <a:cs typeface="Arial" panose="020B0604020202020204" pitchFamily="34" charset="0"/>
                </a:rPr>
                <a:t>X:</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dirty="0">
                  <a:ln>
                    <a:noFill/>
                  </a:ln>
                  <a:solidFill>
                    <a:srgbClr val="000000"/>
                  </a:solidFill>
                  <a:effectLst/>
                  <a:uLnTx/>
                  <a:uFillTx/>
                  <a:latin typeface="+mn-lt"/>
                  <a:ea typeface="黑体" panose="02010609060101010101" pitchFamily="49" charset="-122"/>
                  <a:cs typeface="Arial" panose="020B0604020202020204" pitchFamily="34" charset="0"/>
                </a:rPr>
                <a:t>    ……</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dirty="0">
                  <a:ln>
                    <a:noFill/>
                  </a:ln>
                  <a:solidFill>
                    <a:srgbClr val="000000"/>
                  </a:solidFill>
                  <a:effectLst/>
                  <a:uLnTx/>
                  <a:uFillTx/>
                  <a:latin typeface="+mn-lt"/>
                  <a:ea typeface="黑体" panose="02010609060101010101" pitchFamily="49" charset="-122"/>
                  <a:cs typeface="Arial" panose="020B0604020202020204" pitchFamily="34" charset="0"/>
                </a:rPr>
                <a:t>    </a:t>
              </a:r>
              <a:r>
                <a:rPr kumimoji="0" lang="zh-CN" altLang="en-US" sz="2000" b="1" i="0" u="none" strike="noStrike" kern="0" cap="none" spc="0" normalizeH="0" baseline="0" noProof="0" dirty="0">
                  <a:ln>
                    <a:noFill/>
                  </a:ln>
                  <a:solidFill>
                    <a:srgbClr val="000000"/>
                  </a:solidFill>
                  <a:effectLst/>
                  <a:uLnTx/>
                  <a:uFillTx/>
                  <a:latin typeface="+mn-lt"/>
                  <a:ea typeface="黑体" panose="02010609060101010101" pitchFamily="49" charset="-122"/>
                  <a:cs typeface="Arial" panose="020B0604020202020204" pitchFamily="34" charset="0"/>
                </a:rPr>
                <a:t>程序</a:t>
              </a:r>
              <a:r>
                <a:rPr kumimoji="0" lang="en-US" altLang="zh-CN" sz="2000" b="1" i="0" u="none" strike="noStrike" kern="0" cap="none" spc="0" normalizeH="0" baseline="0" noProof="0" dirty="0">
                  <a:ln>
                    <a:noFill/>
                  </a:ln>
                  <a:solidFill>
                    <a:srgbClr val="000000"/>
                  </a:solidFill>
                  <a:effectLst/>
                  <a:uLnTx/>
                  <a:uFillTx/>
                  <a:latin typeface="+mn-lt"/>
                  <a:ea typeface="黑体" panose="02010609060101010101" pitchFamily="49" charset="-122"/>
                  <a:cs typeface="Arial" panose="020B0604020202020204" pitchFamily="34" charset="0"/>
                </a:rPr>
                <a:t>Y</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dirty="0">
                  <a:ln>
                    <a:noFill/>
                  </a:ln>
                  <a:solidFill>
                    <a:srgbClr val="000000"/>
                  </a:solidFill>
                  <a:effectLst/>
                  <a:uLnTx/>
                  <a:uFillTx/>
                  <a:latin typeface="+mn-lt"/>
                  <a:ea typeface="黑体" panose="02010609060101010101" pitchFamily="49" charset="-122"/>
                  <a:cs typeface="Arial" panose="020B0604020202020204" pitchFamily="34" charset="0"/>
                </a:rPr>
                <a:t>    ……</a:t>
              </a:r>
              <a:endParaRPr kumimoji="0" lang="zh-CN" altLang="en-US" sz="2000" b="1" i="0" u="none" strike="noStrike" kern="0" cap="none" spc="0" normalizeH="0" baseline="0" noProof="0" dirty="0">
                <a:ln>
                  <a:noFill/>
                </a:ln>
                <a:solidFill>
                  <a:srgbClr val="000000"/>
                </a:solidFill>
                <a:effectLst/>
                <a:uLnTx/>
                <a:uFillTx/>
                <a:latin typeface="+mn-lt"/>
                <a:ea typeface="黑体" panose="02010609060101010101" pitchFamily="49" charset="-122"/>
                <a:cs typeface="Arial" panose="020B0604020202020204" pitchFamily="34" charset="0"/>
              </a:endParaRPr>
            </a:p>
          </p:txBody>
        </p:sp>
        <p:sp>
          <p:nvSpPr>
            <p:cNvPr id="66" name="矩形 65">
              <a:extLst>
                <a:ext uri="{FF2B5EF4-FFF2-40B4-BE49-F238E27FC236}">
                  <a16:creationId xmlns:a16="http://schemas.microsoft.com/office/drawing/2014/main" id="{4184A8B0-EC46-5C8B-D068-6C25F27161FD}"/>
                </a:ext>
              </a:extLst>
            </p:cNvPr>
            <p:cNvSpPr/>
            <p:nvPr/>
          </p:nvSpPr>
          <p:spPr>
            <a:xfrm>
              <a:off x="3850912" y="1602651"/>
              <a:ext cx="1442175" cy="1410340"/>
            </a:xfrm>
            <a:prstGeom prst="rect">
              <a:avLst/>
            </a:prstGeom>
            <a:solidFill>
              <a:srgbClr val="9BBB59">
                <a:lumMod val="20000"/>
                <a:lumOff val="80000"/>
              </a:srgbClr>
            </a:solidFill>
            <a:ln w="25400" cap="flat" cmpd="sng" algn="ctr">
              <a:noFill/>
              <a:prstDash val="solid"/>
            </a:ln>
            <a:effectLst/>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dirty="0">
                  <a:ln>
                    <a:noFill/>
                  </a:ln>
                  <a:solidFill>
                    <a:srgbClr val="000000"/>
                  </a:solidFill>
                  <a:effectLst/>
                  <a:uLnTx/>
                  <a:uFillTx/>
                  <a:latin typeface="+mn-lt"/>
                  <a:ea typeface="黑体" panose="02010609060101010101" pitchFamily="49" charset="-122"/>
                  <a:cs typeface="Arial" panose="020B0604020202020204" pitchFamily="34" charset="0"/>
                </a:rPr>
                <a:t>程序</a:t>
              </a:r>
              <a:r>
                <a:rPr kumimoji="0" lang="en-US" altLang="zh-CN" sz="2000" b="1" i="0" u="none" strike="noStrike" kern="0" cap="none" spc="0" normalizeH="0" baseline="0" noProof="0" dirty="0">
                  <a:ln>
                    <a:noFill/>
                  </a:ln>
                  <a:solidFill>
                    <a:srgbClr val="000000"/>
                  </a:solidFill>
                  <a:effectLst/>
                  <a:uLnTx/>
                  <a:uFillTx/>
                  <a:latin typeface="+mn-lt"/>
                  <a:ea typeface="黑体" panose="02010609060101010101" pitchFamily="49" charset="-122"/>
                  <a:cs typeface="Arial" panose="020B0604020202020204" pitchFamily="34" charset="0"/>
                </a:rPr>
                <a:t>Y:</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dirty="0">
                  <a:ln>
                    <a:noFill/>
                  </a:ln>
                  <a:solidFill>
                    <a:srgbClr val="000000"/>
                  </a:solidFill>
                  <a:effectLst/>
                  <a:uLnTx/>
                  <a:uFillTx/>
                  <a:latin typeface="+mn-lt"/>
                  <a:ea typeface="黑体" panose="02010609060101010101" pitchFamily="49" charset="-122"/>
                  <a:cs typeface="Arial" panose="020B0604020202020204" pitchFamily="34" charset="0"/>
                </a:rPr>
                <a:t>    ……</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dirty="0">
                  <a:ln>
                    <a:noFill/>
                  </a:ln>
                  <a:solidFill>
                    <a:srgbClr val="000000"/>
                  </a:solidFill>
                  <a:effectLst/>
                  <a:uLnTx/>
                  <a:uFillTx/>
                  <a:latin typeface="+mn-lt"/>
                  <a:ea typeface="黑体" panose="02010609060101010101" pitchFamily="49" charset="-122"/>
                  <a:cs typeface="Arial" panose="020B0604020202020204" pitchFamily="34" charset="0"/>
                </a:rPr>
                <a:t>    </a:t>
              </a:r>
              <a:r>
                <a:rPr kumimoji="0" lang="zh-CN" altLang="en-US" sz="2000" b="1" i="0" u="none" strike="noStrike" kern="0" cap="none" spc="0" normalizeH="0" baseline="0" noProof="0" dirty="0">
                  <a:ln>
                    <a:noFill/>
                  </a:ln>
                  <a:solidFill>
                    <a:srgbClr val="000000"/>
                  </a:solidFill>
                  <a:effectLst/>
                  <a:uLnTx/>
                  <a:uFillTx/>
                  <a:latin typeface="+mn-lt"/>
                  <a:ea typeface="黑体" panose="02010609060101010101" pitchFamily="49" charset="-122"/>
                  <a:cs typeface="Arial" panose="020B0604020202020204" pitchFamily="34" charset="0"/>
                </a:rPr>
                <a:t>程序</a:t>
              </a:r>
              <a:r>
                <a:rPr kumimoji="0" lang="en-US" altLang="zh-CN" sz="2000" b="1" i="0" u="none" strike="noStrike" kern="0" cap="none" spc="0" normalizeH="0" baseline="0" noProof="0" dirty="0">
                  <a:ln>
                    <a:noFill/>
                  </a:ln>
                  <a:solidFill>
                    <a:srgbClr val="000000"/>
                  </a:solidFill>
                  <a:effectLst/>
                  <a:uLnTx/>
                  <a:uFillTx/>
                  <a:latin typeface="+mn-lt"/>
                  <a:ea typeface="黑体" panose="02010609060101010101" pitchFamily="49" charset="-122"/>
                  <a:cs typeface="Arial" panose="020B0604020202020204" pitchFamily="34" charset="0"/>
                </a:rPr>
                <a:t>Z</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dirty="0">
                  <a:ln>
                    <a:noFill/>
                  </a:ln>
                  <a:solidFill>
                    <a:srgbClr val="000000"/>
                  </a:solidFill>
                  <a:effectLst/>
                  <a:uLnTx/>
                  <a:uFillTx/>
                  <a:latin typeface="+mn-lt"/>
                  <a:ea typeface="黑体" panose="02010609060101010101" pitchFamily="49" charset="-122"/>
                  <a:cs typeface="Arial" panose="020B0604020202020204" pitchFamily="34" charset="0"/>
                </a:rPr>
                <a:t>    ……</a:t>
              </a:r>
              <a:endParaRPr kumimoji="0" lang="zh-CN" altLang="en-US" sz="2000" b="1" i="0" u="none" strike="noStrike" kern="0" cap="none" spc="0" normalizeH="0" baseline="0" noProof="0" dirty="0">
                <a:ln>
                  <a:noFill/>
                </a:ln>
                <a:solidFill>
                  <a:srgbClr val="000000"/>
                </a:solidFill>
                <a:effectLst/>
                <a:uLnTx/>
                <a:uFillTx/>
                <a:latin typeface="+mn-lt"/>
                <a:ea typeface="黑体" panose="02010609060101010101" pitchFamily="49" charset="-122"/>
                <a:cs typeface="Arial" panose="020B0604020202020204" pitchFamily="34" charset="0"/>
              </a:endParaRPr>
            </a:p>
          </p:txBody>
        </p:sp>
        <p:sp>
          <p:nvSpPr>
            <p:cNvPr id="67" name="矩形 66">
              <a:extLst>
                <a:ext uri="{FF2B5EF4-FFF2-40B4-BE49-F238E27FC236}">
                  <a16:creationId xmlns:a16="http://schemas.microsoft.com/office/drawing/2014/main" id="{20121463-67C2-C371-2C27-97D8C22B6188}"/>
                </a:ext>
              </a:extLst>
            </p:cNvPr>
            <p:cNvSpPr/>
            <p:nvPr/>
          </p:nvSpPr>
          <p:spPr>
            <a:xfrm>
              <a:off x="6255033" y="1602651"/>
              <a:ext cx="1442175" cy="1410340"/>
            </a:xfrm>
            <a:prstGeom prst="rect">
              <a:avLst/>
            </a:prstGeom>
            <a:solidFill>
              <a:srgbClr val="9BBB59">
                <a:lumMod val="20000"/>
                <a:lumOff val="80000"/>
              </a:srgbClr>
            </a:solidFill>
            <a:ln w="25400" cap="flat" cmpd="sng" algn="ctr">
              <a:noFill/>
              <a:prstDash val="solid"/>
            </a:ln>
            <a:effectLst/>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dirty="0">
                  <a:ln>
                    <a:noFill/>
                  </a:ln>
                  <a:solidFill>
                    <a:srgbClr val="000000"/>
                  </a:solidFill>
                  <a:effectLst/>
                  <a:uLnTx/>
                  <a:uFillTx/>
                  <a:latin typeface="+mn-lt"/>
                  <a:ea typeface="黑体" panose="02010609060101010101" pitchFamily="49" charset="-122"/>
                  <a:cs typeface="Arial" panose="020B0604020202020204" pitchFamily="34" charset="0"/>
                </a:rPr>
                <a:t>程序</a:t>
              </a:r>
              <a:r>
                <a:rPr kumimoji="0" lang="en-US" altLang="zh-CN" sz="2000" b="1" i="0" u="none" strike="noStrike" kern="0" cap="none" spc="0" normalizeH="0" baseline="0" noProof="0" dirty="0">
                  <a:ln>
                    <a:noFill/>
                  </a:ln>
                  <a:solidFill>
                    <a:srgbClr val="000000"/>
                  </a:solidFill>
                  <a:effectLst/>
                  <a:uLnTx/>
                  <a:uFillTx/>
                  <a:latin typeface="+mn-lt"/>
                  <a:ea typeface="黑体" panose="02010609060101010101" pitchFamily="49" charset="-122"/>
                  <a:cs typeface="Arial" panose="020B0604020202020204" pitchFamily="34" charset="0"/>
                </a:rPr>
                <a:t>Z:</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dirty="0">
                  <a:ln>
                    <a:noFill/>
                  </a:ln>
                  <a:solidFill>
                    <a:srgbClr val="000000"/>
                  </a:solidFill>
                  <a:effectLst/>
                  <a:uLnTx/>
                  <a:uFillTx/>
                  <a:latin typeface="+mn-lt"/>
                  <a:ea typeface="黑体" panose="02010609060101010101" pitchFamily="49" charset="-122"/>
                  <a:cs typeface="Arial" panose="020B0604020202020204" pitchFamily="34" charset="0"/>
                </a:rPr>
                <a:t>    ……</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dirty="0">
                  <a:ln>
                    <a:noFill/>
                  </a:ln>
                  <a:solidFill>
                    <a:srgbClr val="000000"/>
                  </a:solidFill>
                  <a:effectLst/>
                  <a:uLnTx/>
                  <a:uFillTx/>
                  <a:latin typeface="+mn-lt"/>
                  <a:ea typeface="黑体" panose="02010609060101010101" pitchFamily="49" charset="-122"/>
                  <a:cs typeface="Arial" panose="020B0604020202020204" pitchFamily="34" charset="0"/>
                </a:rPr>
                <a:t>    ……</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dirty="0">
                  <a:ln>
                    <a:noFill/>
                  </a:ln>
                  <a:solidFill>
                    <a:srgbClr val="000000"/>
                  </a:solidFill>
                  <a:effectLst/>
                  <a:uLnTx/>
                  <a:uFillTx/>
                  <a:latin typeface="+mn-lt"/>
                  <a:ea typeface="黑体" panose="02010609060101010101" pitchFamily="49" charset="-122"/>
                  <a:cs typeface="Arial" panose="020B0604020202020204" pitchFamily="34" charset="0"/>
                </a:rPr>
                <a:t>    ……</a:t>
              </a:r>
              <a:endParaRPr kumimoji="0" lang="zh-CN" altLang="en-US" sz="2000" b="1" i="0" u="none" strike="noStrike" kern="0" cap="none" spc="0" normalizeH="0" baseline="0" noProof="0" dirty="0">
                <a:ln>
                  <a:noFill/>
                </a:ln>
                <a:solidFill>
                  <a:srgbClr val="000000"/>
                </a:solidFill>
                <a:effectLst/>
                <a:uLnTx/>
                <a:uFillTx/>
                <a:latin typeface="+mn-lt"/>
                <a:ea typeface="黑体" panose="02010609060101010101" pitchFamily="49" charset="-122"/>
                <a:cs typeface="Arial" panose="020B0604020202020204" pitchFamily="34" charset="0"/>
              </a:endParaRPr>
            </a:p>
          </p:txBody>
        </p:sp>
        <p:sp>
          <p:nvSpPr>
            <p:cNvPr id="68" name="箭头: 下 67">
              <a:extLst>
                <a:ext uri="{FF2B5EF4-FFF2-40B4-BE49-F238E27FC236}">
                  <a16:creationId xmlns:a16="http://schemas.microsoft.com/office/drawing/2014/main" id="{B8265878-77F4-0149-945C-CAF9086D7497}"/>
                </a:ext>
              </a:extLst>
            </p:cNvPr>
            <p:cNvSpPr/>
            <p:nvPr/>
          </p:nvSpPr>
          <p:spPr>
            <a:xfrm rot="14653450">
              <a:off x="3152453" y="1443524"/>
              <a:ext cx="337530" cy="1327523"/>
            </a:xfrm>
            <a:prstGeom prst="downArrow">
              <a:avLst>
                <a:gd name="adj1" fmla="val 50000"/>
                <a:gd name="adj2" fmla="val 81751"/>
              </a:avLst>
            </a:prstGeom>
            <a:solidFill>
              <a:srgbClr val="1F497D">
                <a:lumMod val="20000"/>
                <a:lumOff val="80000"/>
              </a:srgbClr>
            </a:solidFill>
            <a:ln w="25400" cap="flat" cmpd="sng" algn="ctr">
              <a:solidFill>
                <a:srgbClr val="1F497D">
                  <a:lumMod val="60000"/>
                  <a:lumOff val="40000"/>
                </a:srgbClr>
              </a:solidFill>
              <a:prstDash val="solid"/>
            </a:ln>
            <a:effectLst/>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dirty="0">
                <a:ln>
                  <a:noFill/>
                </a:ln>
                <a:solidFill>
                  <a:srgbClr val="000000"/>
                </a:solidFill>
                <a:effectLst/>
                <a:uLnTx/>
                <a:uFillTx/>
                <a:latin typeface="+mn-lt"/>
                <a:ea typeface="黑体" panose="02010609060101010101" pitchFamily="49" charset="-122"/>
                <a:cs typeface="Arial" panose="020B0604020202020204" pitchFamily="34" charset="0"/>
              </a:endParaRPr>
            </a:p>
          </p:txBody>
        </p:sp>
        <p:sp>
          <p:nvSpPr>
            <p:cNvPr id="69" name="箭头: 下 68">
              <a:extLst>
                <a:ext uri="{FF2B5EF4-FFF2-40B4-BE49-F238E27FC236}">
                  <a16:creationId xmlns:a16="http://schemas.microsoft.com/office/drawing/2014/main" id="{5FD73940-3902-757C-6552-065DDDE32D42}"/>
                </a:ext>
              </a:extLst>
            </p:cNvPr>
            <p:cNvSpPr/>
            <p:nvPr/>
          </p:nvSpPr>
          <p:spPr>
            <a:xfrm rot="14653450">
              <a:off x="5569344" y="1465257"/>
              <a:ext cx="337530" cy="1327523"/>
            </a:xfrm>
            <a:prstGeom prst="downArrow">
              <a:avLst>
                <a:gd name="adj1" fmla="val 50000"/>
                <a:gd name="adj2" fmla="val 81751"/>
              </a:avLst>
            </a:prstGeom>
            <a:solidFill>
              <a:srgbClr val="1F497D">
                <a:lumMod val="20000"/>
                <a:lumOff val="80000"/>
              </a:srgbClr>
            </a:solidFill>
            <a:ln w="25400" cap="flat" cmpd="sng" algn="ctr">
              <a:solidFill>
                <a:srgbClr val="1F497D">
                  <a:lumMod val="60000"/>
                  <a:lumOff val="40000"/>
                </a:srgbClr>
              </a:solidFill>
              <a:prstDash val="solid"/>
            </a:ln>
            <a:effectLst/>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dirty="0">
                <a:ln>
                  <a:noFill/>
                </a:ln>
                <a:solidFill>
                  <a:srgbClr val="000000"/>
                </a:solidFill>
                <a:effectLst/>
                <a:uLnTx/>
                <a:uFillTx/>
                <a:latin typeface="+mn-lt"/>
                <a:ea typeface="黑体" panose="02010609060101010101" pitchFamily="49" charset="-122"/>
                <a:cs typeface="Arial" panose="020B0604020202020204" pitchFamily="34" charset="0"/>
              </a:endParaRPr>
            </a:p>
          </p:txBody>
        </p:sp>
        <p:sp>
          <p:nvSpPr>
            <p:cNvPr id="70" name="文本框 69">
              <a:extLst>
                <a:ext uri="{FF2B5EF4-FFF2-40B4-BE49-F238E27FC236}">
                  <a16:creationId xmlns:a16="http://schemas.microsoft.com/office/drawing/2014/main" id="{8B18F3FC-6FC5-0A3F-7338-18A8AE5ED11C}"/>
                </a:ext>
              </a:extLst>
            </p:cNvPr>
            <p:cNvSpPr txBox="1"/>
            <p:nvPr/>
          </p:nvSpPr>
          <p:spPr>
            <a:xfrm>
              <a:off x="2730667" y="2470894"/>
              <a:ext cx="1229824" cy="400110"/>
            </a:xfrm>
            <a:prstGeom prst="rect">
              <a:avLst/>
            </a:prstGeom>
            <a:noFill/>
          </p:spPr>
          <p:txBody>
            <a:bodyPr wrap="none" rtlCol="0">
              <a:spAutoFit/>
            </a:bodyPr>
            <a:lstStyle/>
            <a:p>
              <a:pPr algn="ctr"/>
              <a:r>
                <a:rPr lang="zh-CN" altLang="en-US" sz="2000" b="1" dirty="0">
                  <a:solidFill>
                    <a:srgbClr val="0432FF"/>
                  </a:solidFill>
                  <a:latin typeface="+mn-lt"/>
                  <a:ea typeface="黑体" panose="02010609060101010101" pitchFamily="49" charset="-122"/>
                </a:rPr>
                <a:t>过程调用</a:t>
              </a:r>
            </a:p>
          </p:txBody>
        </p:sp>
        <p:sp>
          <p:nvSpPr>
            <p:cNvPr id="71" name="文本框 70">
              <a:extLst>
                <a:ext uri="{FF2B5EF4-FFF2-40B4-BE49-F238E27FC236}">
                  <a16:creationId xmlns:a16="http://schemas.microsoft.com/office/drawing/2014/main" id="{69682FFE-5E95-1683-4045-79F1666B4211}"/>
                </a:ext>
              </a:extLst>
            </p:cNvPr>
            <p:cNvSpPr txBox="1"/>
            <p:nvPr/>
          </p:nvSpPr>
          <p:spPr>
            <a:xfrm>
              <a:off x="5134787" y="2470894"/>
              <a:ext cx="1229824" cy="400110"/>
            </a:xfrm>
            <a:prstGeom prst="rect">
              <a:avLst/>
            </a:prstGeom>
            <a:noFill/>
          </p:spPr>
          <p:txBody>
            <a:bodyPr wrap="none" rtlCol="0">
              <a:spAutoFit/>
            </a:bodyPr>
            <a:lstStyle/>
            <a:p>
              <a:pPr algn="ctr"/>
              <a:r>
                <a:rPr lang="zh-CN" altLang="en-US" sz="2000" b="1" dirty="0">
                  <a:solidFill>
                    <a:srgbClr val="0432FF"/>
                  </a:solidFill>
                  <a:latin typeface="+mn-lt"/>
                  <a:ea typeface="黑体" panose="02010609060101010101" pitchFamily="49" charset="-122"/>
                </a:rPr>
                <a:t>过程调用</a:t>
              </a:r>
            </a:p>
          </p:txBody>
        </p:sp>
      </p:grpSp>
    </p:spTree>
    <p:extLst>
      <p:ext uri="{BB962C8B-B14F-4D97-AF65-F5344CB8AC3E}">
        <p14:creationId xmlns:p14="http://schemas.microsoft.com/office/powerpoint/2010/main" val="402467040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灯片编号占位符 3">
            <a:extLst>
              <a:ext uri="{FF2B5EF4-FFF2-40B4-BE49-F238E27FC236}">
                <a16:creationId xmlns:a16="http://schemas.microsoft.com/office/drawing/2014/main" id="{E000966D-D660-5A49-BF0A-3CFEF16792FD}"/>
              </a:ext>
            </a:extLst>
          </p:cNvPr>
          <p:cNvSpPr>
            <a:spLocks noGrp="1"/>
          </p:cNvSpPr>
          <p:nvPr>
            <p:ph type="sldNum" sz="quarter" idx="12"/>
          </p:nvPr>
        </p:nvSpPr>
        <p:spPr/>
        <p:txBody>
          <a:bodyPr/>
          <a:lstStyle/>
          <a:p>
            <a:fld id="{14659731-6BD7-46E7-8D3C-2F3AC07E20B1}" type="slidenum">
              <a:rPr lang="en-US" altLang="zh-CN" smtClean="0"/>
              <a:pPr/>
              <a:t>84</a:t>
            </a:fld>
            <a:endParaRPr lang="en-US" altLang="zh-CN"/>
          </a:p>
        </p:txBody>
      </p:sp>
      <p:sp>
        <p:nvSpPr>
          <p:cNvPr id="60419" name="Rectangle 3"/>
          <p:cNvSpPr>
            <a:spLocks noGrp="1" noChangeArrowheads="1"/>
          </p:cNvSpPr>
          <p:nvPr>
            <p:ph idx="4294967295"/>
          </p:nvPr>
        </p:nvSpPr>
        <p:spPr>
          <a:xfrm>
            <a:off x="376300" y="1253003"/>
            <a:ext cx="8229595" cy="3857311"/>
          </a:xfrm>
        </p:spPr>
        <p:txBody>
          <a:bodyPr/>
          <a:lstStyle/>
          <a:p>
            <a:pPr hangingPunct="1">
              <a:spcBef>
                <a:spcPts val="600"/>
              </a:spcBef>
            </a:pPr>
            <a:r>
              <a:rPr lang="zh-CN" altLang="en-US" sz="2800" dirty="0"/>
              <a:t>例：将 </a:t>
            </a:r>
            <a:r>
              <a:rPr lang="en-US" altLang="zh-CN" sz="2800" i="1" dirty="0">
                <a:latin typeface="Consolas" panose="020B0609020204030204" pitchFamily="49" charset="0"/>
              </a:rPr>
              <a:t>$s1</a:t>
            </a:r>
            <a:r>
              <a:rPr lang="zh-CN" altLang="en-US" sz="2800" dirty="0"/>
              <a:t>、</a:t>
            </a:r>
            <a:r>
              <a:rPr lang="en-US" altLang="zh-CN" sz="2800" i="1" dirty="0">
                <a:latin typeface="Consolas" panose="020B0609020204030204" pitchFamily="49" charset="0"/>
              </a:rPr>
              <a:t>$s2</a:t>
            </a:r>
            <a:r>
              <a:rPr lang="zh-CN" altLang="en-US" sz="2800" dirty="0"/>
              <a:t>、</a:t>
            </a:r>
            <a:r>
              <a:rPr lang="en-US" altLang="zh-CN" sz="2800" i="1" dirty="0">
                <a:latin typeface="Consolas" panose="020B0609020204030204" pitchFamily="49" charset="0"/>
              </a:rPr>
              <a:t>$s3 </a:t>
            </a:r>
            <a:r>
              <a:rPr lang="zh-CN" altLang="en-US" sz="2800" dirty="0"/>
              <a:t>寄存器的内容压入栈</a:t>
            </a:r>
            <a:endParaRPr lang="en-US" altLang="zh-CN" sz="2800" dirty="0"/>
          </a:p>
          <a:p>
            <a:pPr lvl="1" hangingPunct="1">
              <a:spcBef>
                <a:spcPts val="600"/>
              </a:spcBef>
              <a:buFont typeface="Wingdings" pitchFamily="2" charset="2"/>
              <a:buNone/>
            </a:pPr>
            <a:r>
              <a:rPr lang="en-US" altLang="zh-CN" sz="2400" i="1" dirty="0">
                <a:latin typeface="Consolas" panose="020B0609020204030204" pitchFamily="49" charset="0"/>
              </a:rPr>
              <a:t>	0. </a:t>
            </a:r>
            <a:r>
              <a:rPr lang="en-US" altLang="zh-CN" sz="2400" i="1" dirty="0" err="1">
                <a:latin typeface="Consolas" panose="020B0609020204030204" pitchFamily="49" charset="0"/>
              </a:rPr>
              <a:t>addi</a:t>
            </a:r>
            <a:r>
              <a:rPr lang="en-US" altLang="zh-CN" sz="2400" i="1" dirty="0">
                <a:latin typeface="Consolas" panose="020B0609020204030204" pitchFamily="49" charset="0"/>
              </a:rPr>
              <a:t> $</a:t>
            </a:r>
            <a:r>
              <a:rPr lang="en-US" altLang="zh-CN" sz="2400" i="1" dirty="0" err="1">
                <a:latin typeface="Consolas" panose="020B0609020204030204" pitchFamily="49" charset="0"/>
              </a:rPr>
              <a:t>sp</a:t>
            </a:r>
            <a:r>
              <a:rPr lang="en-US" altLang="zh-CN" sz="2400" i="1" dirty="0">
                <a:latin typeface="Consolas" panose="020B0609020204030204" pitchFamily="49" charset="0"/>
              </a:rPr>
              <a:t>, $</a:t>
            </a:r>
            <a:r>
              <a:rPr lang="en-US" altLang="zh-CN" sz="2400" i="1" dirty="0" err="1">
                <a:latin typeface="Consolas" panose="020B0609020204030204" pitchFamily="49" charset="0"/>
              </a:rPr>
              <a:t>sp</a:t>
            </a:r>
            <a:r>
              <a:rPr lang="en-US" altLang="zh-CN" sz="2400" i="1" dirty="0">
                <a:latin typeface="Consolas" panose="020B0609020204030204" pitchFamily="49" charset="0"/>
              </a:rPr>
              <a:t>, -12</a:t>
            </a:r>
          </a:p>
          <a:p>
            <a:pPr lvl="1" hangingPunct="1">
              <a:spcBef>
                <a:spcPts val="600"/>
              </a:spcBef>
              <a:buFont typeface="Wingdings" pitchFamily="2" charset="2"/>
              <a:buNone/>
            </a:pPr>
            <a:r>
              <a:rPr lang="en-US" altLang="zh-CN" sz="2400" i="1" dirty="0">
                <a:latin typeface="Consolas" panose="020B0609020204030204" pitchFamily="49" charset="0"/>
              </a:rPr>
              <a:t>	1. </a:t>
            </a:r>
            <a:r>
              <a:rPr lang="en-US" altLang="zh-CN" sz="2400" i="1" dirty="0" err="1">
                <a:latin typeface="Consolas" panose="020B0609020204030204" pitchFamily="49" charset="0"/>
              </a:rPr>
              <a:t>sw</a:t>
            </a:r>
            <a:r>
              <a:rPr lang="en-US" altLang="zh-CN" sz="2400" i="1" dirty="0">
                <a:latin typeface="Consolas" panose="020B0609020204030204" pitchFamily="49" charset="0"/>
              </a:rPr>
              <a:t>   $s1, 8($</a:t>
            </a:r>
            <a:r>
              <a:rPr lang="en-US" altLang="zh-CN" sz="2400" i="1" dirty="0" err="1">
                <a:latin typeface="Consolas" panose="020B0609020204030204" pitchFamily="49" charset="0"/>
              </a:rPr>
              <a:t>sp</a:t>
            </a:r>
            <a:r>
              <a:rPr lang="en-US" altLang="zh-CN" sz="2400" i="1" dirty="0">
                <a:latin typeface="Consolas" panose="020B0609020204030204" pitchFamily="49" charset="0"/>
              </a:rPr>
              <a:t>)</a:t>
            </a:r>
          </a:p>
          <a:p>
            <a:pPr lvl="1" hangingPunct="1">
              <a:spcBef>
                <a:spcPts val="600"/>
              </a:spcBef>
              <a:buFont typeface="Wingdings" pitchFamily="2" charset="2"/>
              <a:buNone/>
            </a:pPr>
            <a:r>
              <a:rPr lang="en-US" altLang="zh-CN" sz="2400" i="1" dirty="0">
                <a:latin typeface="Consolas" panose="020B0609020204030204" pitchFamily="49" charset="0"/>
              </a:rPr>
              <a:t>	2. </a:t>
            </a:r>
            <a:r>
              <a:rPr lang="en-US" altLang="zh-CN" sz="2400" i="1" dirty="0" err="1">
                <a:latin typeface="Consolas" panose="020B0609020204030204" pitchFamily="49" charset="0"/>
              </a:rPr>
              <a:t>sw</a:t>
            </a:r>
            <a:r>
              <a:rPr lang="en-US" altLang="zh-CN" sz="2400" i="1" dirty="0">
                <a:latin typeface="Consolas" panose="020B0609020204030204" pitchFamily="49" charset="0"/>
              </a:rPr>
              <a:t>   $s2, 4($</a:t>
            </a:r>
            <a:r>
              <a:rPr lang="en-US" altLang="zh-CN" sz="2400" i="1" dirty="0" err="1">
                <a:latin typeface="Consolas" panose="020B0609020204030204" pitchFamily="49" charset="0"/>
              </a:rPr>
              <a:t>sp</a:t>
            </a:r>
            <a:r>
              <a:rPr lang="en-US" altLang="zh-CN" sz="2400" i="1" dirty="0">
                <a:latin typeface="Consolas" panose="020B0609020204030204" pitchFamily="49" charset="0"/>
              </a:rPr>
              <a:t>)</a:t>
            </a:r>
          </a:p>
          <a:p>
            <a:pPr lvl="1" hangingPunct="1">
              <a:spcBef>
                <a:spcPts val="600"/>
              </a:spcBef>
              <a:buFont typeface="Wingdings" pitchFamily="2" charset="2"/>
              <a:buNone/>
            </a:pPr>
            <a:r>
              <a:rPr lang="en-US" altLang="zh-CN" sz="2400" i="1" dirty="0">
                <a:latin typeface="Consolas" panose="020B0609020204030204" pitchFamily="49" charset="0"/>
              </a:rPr>
              <a:t>	3. </a:t>
            </a:r>
            <a:r>
              <a:rPr lang="en-US" altLang="zh-CN" sz="2400" i="1" dirty="0" err="1">
                <a:latin typeface="Consolas" panose="020B0609020204030204" pitchFamily="49" charset="0"/>
              </a:rPr>
              <a:t>sw</a:t>
            </a:r>
            <a:r>
              <a:rPr lang="en-US" altLang="zh-CN" sz="2400" i="1" dirty="0">
                <a:latin typeface="Consolas" panose="020B0609020204030204" pitchFamily="49" charset="0"/>
              </a:rPr>
              <a:t>   $s3, 0($</a:t>
            </a:r>
            <a:r>
              <a:rPr lang="en-US" altLang="zh-CN" sz="2400" i="1" dirty="0" err="1">
                <a:latin typeface="Consolas" panose="020B0609020204030204" pitchFamily="49" charset="0"/>
              </a:rPr>
              <a:t>sp</a:t>
            </a:r>
            <a:r>
              <a:rPr lang="en-US" altLang="zh-CN" sz="2400" i="1" dirty="0">
                <a:latin typeface="Consolas" panose="020B0609020204030204" pitchFamily="49" charset="0"/>
              </a:rPr>
              <a:t>)</a:t>
            </a:r>
          </a:p>
          <a:p>
            <a:pPr hangingPunct="1"/>
            <a:endParaRPr lang="en-US" altLang="zh-CN" dirty="0"/>
          </a:p>
          <a:p>
            <a:pPr hangingPunct="1"/>
            <a:endParaRPr lang="en-US" altLang="zh-CN" dirty="0"/>
          </a:p>
        </p:txBody>
      </p:sp>
      <p:sp>
        <p:nvSpPr>
          <p:cNvPr id="60442" name="TextBox 1"/>
          <p:cNvSpPr txBox="1">
            <a:spLocks noChangeArrowheads="1"/>
          </p:cNvSpPr>
          <p:nvPr/>
        </p:nvSpPr>
        <p:spPr bwMode="auto">
          <a:xfrm>
            <a:off x="880999" y="4178352"/>
            <a:ext cx="2393573" cy="1200329"/>
          </a:xfrm>
          <a:prstGeom prst="rect">
            <a:avLst/>
          </a:prstGeom>
          <a:solidFill>
            <a:schemeClr val="bg1">
              <a:lumMod val="85000"/>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r>
              <a:rPr lang="zh-CN" altLang="en-US" sz="2400" dirty="0">
                <a:latin typeface="+mj-ea"/>
                <a:ea typeface="+mj-ea"/>
              </a:rPr>
              <a:t>习惯上，栈按照</a:t>
            </a:r>
            <a:r>
              <a:rPr lang="zh-CN" altLang="en-US" sz="2400" dirty="0">
                <a:solidFill>
                  <a:srgbClr val="0432FF"/>
                </a:solidFill>
                <a:latin typeface="+mj-ea"/>
                <a:ea typeface="+mj-ea"/>
              </a:rPr>
              <a:t>从高到低</a:t>
            </a:r>
            <a:r>
              <a:rPr lang="zh-CN" altLang="en-US" sz="2400" dirty="0">
                <a:latin typeface="+mj-ea"/>
                <a:ea typeface="+mj-ea"/>
              </a:rPr>
              <a:t>的地址顺序增长</a:t>
            </a:r>
          </a:p>
        </p:txBody>
      </p:sp>
      <p:grpSp>
        <p:nvGrpSpPr>
          <p:cNvPr id="4" name="组合 3">
            <a:extLst>
              <a:ext uri="{FF2B5EF4-FFF2-40B4-BE49-F238E27FC236}">
                <a16:creationId xmlns:a16="http://schemas.microsoft.com/office/drawing/2014/main" id="{1C58DB9E-FF86-1537-1F7F-49C4940FAB40}"/>
              </a:ext>
            </a:extLst>
          </p:cNvPr>
          <p:cNvGrpSpPr/>
          <p:nvPr/>
        </p:nvGrpSpPr>
        <p:grpSpPr>
          <a:xfrm>
            <a:off x="3979620" y="2560746"/>
            <a:ext cx="4916972" cy="4080183"/>
            <a:chOff x="3877245" y="2576442"/>
            <a:chExt cx="5037012" cy="4179794"/>
          </a:xfrm>
        </p:grpSpPr>
        <p:sp>
          <p:nvSpPr>
            <p:cNvPr id="60427" name="Text Box 12"/>
            <p:cNvSpPr txBox="1">
              <a:spLocks noChangeArrowheads="1"/>
            </p:cNvSpPr>
            <p:nvPr/>
          </p:nvSpPr>
          <p:spPr bwMode="auto">
            <a:xfrm>
              <a:off x="4093289" y="6345700"/>
              <a:ext cx="983641" cy="410536"/>
            </a:xfrm>
            <a:prstGeom prst="rect">
              <a:avLst/>
            </a:prstGeom>
            <a:solidFill>
              <a:schemeClr val="bg1">
                <a:lumMod val="85000"/>
              </a:schemeClr>
            </a:solidFill>
            <a:ln>
              <a:noFill/>
            </a:ln>
            <a:effectLst/>
            <a:extLs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r>
                <a:rPr lang="zh-CN" altLang="en-US" sz="2000" dirty="0">
                  <a:latin typeface="+mj-ea"/>
                  <a:ea typeface="+mj-ea"/>
                </a:rPr>
                <a:t>压栈前</a:t>
              </a:r>
            </a:p>
          </p:txBody>
        </p:sp>
        <p:sp>
          <p:nvSpPr>
            <p:cNvPr id="60420" name="Line 5"/>
            <p:cNvSpPr>
              <a:spLocks noChangeShapeType="1"/>
            </p:cNvSpPr>
            <p:nvPr/>
          </p:nvSpPr>
          <p:spPr bwMode="auto">
            <a:xfrm>
              <a:off x="3880420" y="3527074"/>
              <a:ext cx="0" cy="2678113"/>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21" name="Line 6"/>
            <p:cNvSpPr>
              <a:spLocks noChangeShapeType="1"/>
            </p:cNvSpPr>
            <p:nvPr/>
          </p:nvSpPr>
          <p:spPr bwMode="auto">
            <a:xfrm>
              <a:off x="5201220" y="3523899"/>
              <a:ext cx="0" cy="2678113"/>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22" name="Text Box 7"/>
            <p:cNvSpPr txBox="1">
              <a:spLocks noChangeArrowheads="1"/>
            </p:cNvSpPr>
            <p:nvPr/>
          </p:nvSpPr>
          <p:spPr bwMode="auto">
            <a:xfrm>
              <a:off x="5213920" y="3297446"/>
              <a:ext cx="1141287" cy="47359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r>
                <a:rPr lang="zh-CN" altLang="en-US" sz="2400" dirty="0">
                  <a:latin typeface="+mj-ea"/>
                  <a:ea typeface="+mj-ea"/>
                </a:rPr>
                <a:t>高地址</a:t>
              </a:r>
            </a:p>
          </p:txBody>
        </p:sp>
        <p:sp>
          <p:nvSpPr>
            <p:cNvPr id="60423" name="Text Box 8"/>
            <p:cNvSpPr txBox="1">
              <a:spLocks noChangeArrowheads="1"/>
            </p:cNvSpPr>
            <p:nvPr/>
          </p:nvSpPr>
          <p:spPr bwMode="auto">
            <a:xfrm>
              <a:off x="5198045" y="5939754"/>
              <a:ext cx="1141287" cy="47359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r>
                <a:rPr lang="zh-CN" altLang="en-US" sz="2400" dirty="0">
                  <a:latin typeface="+mj-ea"/>
                  <a:ea typeface="+mj-ea"/>
                </a:rPr>
                <a:t>低地址</a:t>
              </a:r>
            </a:p>
          </p:txBody>
        </p:sp>
        <p:sp>
          <p:nvSpPr>
            <p:cNvPr id="60424" name="Line 9"/>
            <p:cNvSpPr>
              <a:spLocks noChangeShapeType="1"/>
            </p:cNvSpPr>
            <p:nvPr/>
          </p:nvSpPr>
          <p:spPr bwMode="auto">
            <a:xfrm>
              <a:off x="3877245" y="4166837"/>
              <a:ext cx="1320800"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25" name="Rectangle 10"/>
            <p:cNvSpPr>
              <a:spLocks noChangeArrowheads="1"/>
            </p:cNvSpPr>
            <p:nvPr/>
          </p:nvSpPr>
          <p:spPr bwMode="auto">
            <a:xfrm>
              <a:off x="5446904" y="3773769"/>
              <a:ext cx="712688" cy="47359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p>
              <a:r>
                <a:rPr lang="en-US" altLang="zh-CN" sz="2400" b="1" i="1">
                  <a:solidFill>
                    <a:srgbClr val="0432FF"/>
                  </a:solidFill>
                  <a:latin typeface="Consolas" panose="020B0609020204030204" pitchFamily="49" charset="0"/>
                </a:rPr>
                <a:t>$</a:t>
              </a:r>
              <a:r>
                <a:rPr lang="en-US" altLang="zh-CN" sz="2400" b="1" i="1" err="1">
                  <a:solidFill>
                    <a:srgbClr val="0432FF"/>
                  </a:solidFill>
                  <a:latin typeface="Consolas" panose="020B0609020204030204" pitchFamily="49" charset="0"/>
                </a:rPr>
                <a:t>sp</a:t>
              </a:r>
              <a:endParaRPr lang="en-US" altLang="zh-CN" sz="2400" b="1" i="1">
                <a:solidFill>
                  <a:srgbClr val="0432FF"/>
                </a:solidFill>
                <a:latin typeface="Consolas" panose="020B0609020204030204" pitchFamily="49" charset="0"/>
              </a:endParaRPr>
            </a:p>
          </p:txBody>
        </p:sp>
        <p:sp>
          <p:nvSpPr>
            <p:cNvPr id="60426" name="Line 11"/>
            <p:cNvSpPr>
              <a:spLocks noChangeShapeType="1"/>
            </p:cNvSpPr>
            <p:nvPr/>
          </p:nvSpPr>
          <p:spPr bwMode="auto">
            <a:xfrm flipH="1">
              <a:off x="5198045" y="4016024"/>
              <a:ext cx="287338" cy="0"/>
            </a:xfrm>
            <a:prstGeom prst="line">
              <a:avLst/>
            </a:prstGeom>
            <a:noFill/>
            <a:ln w="28575">
              <a:solidFill>
                <a:schemeClr val="tx1"/>
              </a:solidFill>
              <a:round/>
              <a:headEnd type="none" w="sm" len="sm"/>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28" name="Line 13"/>
            <p:cNvSpPr>
              <a:spLocks noChangeShapeType="1"/>
            </p:cNvSpPr>
            <p:nvPr/>
          </p:nvSpPr>
          <p:spPr bwMode="auto">
            <a:xfrm>
              <a:off x="6439470" y="3523899"/>
              <a:ext cx="0" cy="2678113"/>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29" name="Line 14"/>
            <p:cNvSpPr>
              <a:spLocks noChangeShapeType="1"/>
            </p:cNvSpPr>
            <p:nvPr/>
          </p:nvSpPr>
          <p:spPr bwMode="auto">
            <a:xfrm>
              <a:off x="7760270" y="3520724"/>
              <a:ext cx="0" cy="2678113"/>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30" name="Text Box 15"/>
            <p:cNvSpPr txBox="1">
              <a:spLocks noChangeArrowheads="1"/>
            </p:cNvSpPr>
            <p:nvPr/>
          </p:nvSpPr>
          <p:spPr bwMode="auto">
            <a:xfrm>
              <a:off x="7772970" y="3294271"/>
              <a:ext cx="1141287" cy="47359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r>
                <a:rPr lang="zh-CN" altLang="en-US" sz="2400">
                  <a:latin typeface="+mj-ea"/>
                  <a:ea typeface="+mj-ea"/>
                </a:rPr>
                <a:t>高地址</a:t>
              </a:r>
            </a:p>
          </p:txBody>
        </p:sp>
        <p:sp>
          <p:nvSpPr>
            <p:cNvPr id="60431" name="Text Box 16"/>
            <p:cNvSpPr txBox="1">
              <a:spLocks noChangeArrowheads="1"/>
            </p:cNvSpPr>
            <p:nvPr/>
          </p:nvSpPr>
          <p:spPr bwMode="auto">
            <a:xfrm>
              <a:off x="7757095" y="5936579"/>
              <a:ext cx="1141287" cy="47359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r>
                <a:rPr lang="zh-CN" altLang="en-US" sz="2400">
                  <a:latin typeface="+mj-ea"/>
                  <a:ea typeface="+mj-ea"/>
                </a:rPr>
                <a:t>低地址</a:t>
              </a:r>
            </a:p>
          </p:txBody>
        </p:sp>
        <p:sp>
          <p:nvSpPr>
            <p:cNvPr id="60432" name="Line 17"/>
            <p:cNvSpPr>
              <a:spLocks noChangeShapeType="1"/>
            </p:cNvSpPr>
            <p:nvPr/>
          </p:nvSpPr>
          <p:spPr bwMode="auto">
            <a:xfrm>
              <a:off x="6436295" y="4163662"/>
              <a:ext cx="1320800"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33" name="Rectangle 18"/>
            <p:cNvSpPr>
              <a:spLocks noChangeArrowheads="1"/>
            </p:cNvSpPr>
            <p:nvPr/>
          </p:nvSpPr>
          <p:spPr bwMode="auto">
            <a:xfrm>
              <a:off x="8071996" y="4737370"/>
              <a:ext cx="712688" cy="47359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p>
              <a:r>
                <a:rPr lang="en-US" altLang="zh-CN" sz="2400" b="1" i="1">
                  <a:solidFill>
                    <a:srgbClr val="0432FF"/>
                  </a:solidFill>
                  <a:latin typeface="Consolas" panose="020B0609020204030204" pitchFamily="49" charset="0"/>
                </a:rPr>
                <a:t>$</a:t>
              </a:r>
              <a:r>
                <a:rPr lang="en-US" altLang="zh-CN" sz="2400" b="1" i="1" err="1">
                  <a:solidFill>
                    <a:srgbClr val="0432FF"/>
                  </a:solidFill>
                  <a:latin typeface="Consolas" panose="020B0609020204030204" pitchFamily="49" charset="0"/>
                </a:rPr>
                <a:t>sp</a:t>
              </a:r>
              <a:endParaRPr lang="en-US" altLang="zh-CN" sz="2400" b="1" i="1">
                <a:solidFill>
                  <a:srgbClr val="0432FF"/>
                </a:solidFill>
                <a:latin typeface="Consolas" panose="020B0609020204030204" pitchFamily="49" charset="0"/>
              </a:endParaRPr>
            </a:p>
          </p:txBody>
        </p:sp>
        <p:sp>
          <p:nvSpPr>
            <p:cNvPr id="60434" name="Line 19"/>
            <p:cNvSpPr>
              <a:spLocks noChangeShapeType="1"/>
            </p:cNvSpPr>
            <p:nvPr/>
          </p:nvSpPr>
          <p:spPr bwMode="auto">
            <a:xfrm flipH="1">
              <a:off x="7787258" y="4968524"/>
              <a:ext cx="287338" cy="0"/>
            </a:xfrm>
            <a:prstGeom prst="line">
              <a:avLst/>
            </a:prstGeom>
            <a:noFill/>
            <a:ln w="28575">
              <a:solidFill>
                <a:schemeClr val="tx1"/>
              </a:solidFill>
              <a:round/>
              <a:headEnd type="none" w="sm" len="sm"/>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35" name="Text Box 20"/>
            <p:cNvSpPr txBox="1">
              <a:spLocks noChangeArrowheads="1"/>
            </p:cNvSpPr>
            <p:nvPr/>
          </p:nvSpPr>
          <p:spPr bwMode="auto">
            <a:xfrm>
              <a:off x="6642019" y="6342079"/>
              <a:ext cx="983641" cy="410536"/>
            </a:xfrm>
            <a:prstGeom prst="rect">
              <a:avLst/>
            </a:prstGeom>
            <a:solidFill>
              <a:schemeClr val="bg1">
                <a:lumMod val="85000"/>
              </a:schemeClr>
            </a:solidFill>
            <a:ln>
              <a:noFill/>
            </a:ln>
            <a:effectLst/>
            <a:extLs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defPPr>
                <a:defRPr lang="zh-CN"/>
              </a:defPPr>
              <a:lvl1pPr eaLnBrk="1" hangingPunct="1">
                <a:defRPr sz="2000">
                  <a:solidFill>
                    <a:srgbClr val="0432FF"/>
                  </a:solidFill>
                  <a:latin typeface="+mj-ea"/>
                  <a:ea typeface="+mj-ea"/>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zh-CN" altLang="en-US" b="1" dirty="0">
                  <a:solidFill>
                    <a:schemeClr val="tx1"/>
                  </a:solidFill>
                </a:rPr>
                <a:t>压栈后</a:t>
              </a:r>
            </a:p>
          </p:txBody>
        </p:sp>
        <p:sp>
          <p:nvSpPr>
            <p:cNvPr id="60436" name="Line 21"/>
            <p:cNvSpPr>
              <a:spLocks noChangeShapeType="1"/>
            </p:cNvSpPr>
            <p:nvPr/>
          </p:nvSpPr>
          <p:spPr bwMode="auto">
            <a:xfrm>
              <a:off x="6429945" y="4477987"/>
              <a:ext cx="1320800"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37" name="Line 22"/>
            <p:cNvSpPr>
              <a:spLocks noChangeShapeType="1"/>
            </p:cNvSpPr>
            <p:nvPr/>
          </p:nvSpPr>
          <p:spPr bwMode="auto">
            <a:xfrm>
              <a:off x="6436295" y="4789137"/>
              <a:ext cx="1320800"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38" name="Line 23"/>
            <p:cNvSpPr>
              <a:spLocks noChangeShapeType="1"/>
            </p:cNvSpPr>
            <p:nvPr/>
          </p:nvSpPr>
          <p:spPr bwMode="auto">
            <a:xfrm>
              <a:off x="6433120" y="5119337"/>
              <a:ext cx="1320800"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2" name="文本框 1">
              <a:extLst>
                <a:ext uri="{FF2B5EF4-FFF2-40B4-BE49-F238E27FC236}">
                  <a16:creationId xmlns:a16="http://schemas.microsoft.com/office/drawing/2014/main" id="{2477966D-81D0-5349-934E-EF90AC643152}"/>
                </a:ext>
              </a:extLst>
            </p:cNvPr>
            <p:cNvSpPr txBox="1"/>
            <p:nvPr/>
          </p:nvSpPr>
          <p:spPr>
            <a:xfrm>
              <a:off x="6675214" y="2576442"/>
              <a:ext cx="1801096" cy="409878"/>
            </a:xfrm>
            <a:prstGeom prst="rect">
              <a:avLst/>
            </a:prstGeom>
            <a:noFill/>
          </p:spPr>
          <p:txBody>
            <a:bodyPr wrap="square" rtlCol="0">
              <a:spAutoFit/>
            </a:bodyPr>
            <a:lstStyle/>
            <a:p>
              <a:r>
                <a:rPr kumimoji="1" lang="zh-CN" altLang="en-US" sz="2000" b="1" dirty="0">
                  <a:solidFill>
                    <a:srgbClr val="FF0000"/>
                  </a:solidFill>
                  <a:latin typeface="+mj-ea"/>
                  <a:ea typeface="+mj-ea"/>
                </a:rPr>
                <a:t>执行指令</a:t>
              </a:r>
              <a:r>
                <a:rPr kumimoji="1" lang="en-US" altLang="zh-CN" sz="2000" b="1" dirty="0">
                  <a:solidFill>
                    <a:srgbClr val="FF0000"/>
                  </a:solidFill>
                  <a:latin typeface="+mj-ea"/>
                  <a:ea typeface="+mj-ea"/>
                </a:rPr>
                <a:t>0</a:t>
              </a:r>
              <a:r>
                <a:rPr kumimoji="1" lang="zh-CN" altLang="en-US" sz="2000" b="1" dirty="0">
                  <a:solidFill>
                    <a:srgbClr val="FF0000"/>
                  </a:solidFill>
                  <a:latin typeface="+mj-ea"/>
                  <a:ea typeface="+mj-ea"/>
                </a:rPr>
                <a:t>后：</a:t>
              </a:r>
            </a:p>
          </p:txBody>
        </p:sp>
      </p:grpSp>
      <p:sp>
        <p:nvSpPr>
          <p:cNvPr id="3" name="Title 4">
            <a:extLst>
              <a:ext uri="{FF2B5EF4-FFF2-40B4-BE49-F238E27FC236}">
                <a16:creationId xmlns:a16="http://schemas.microsoft.com/office/drawing/2014/main" id="{74B8D014-F141-E326-66FB-DD00BF371DB9}"/>
              </a:ext>
            </a:extLst>
          </p:cNvPr>
          <p:cNvSpPr txBox="1">
            <a:spLocks/>
          </p:cNvSpPr>
          <p:nvPr/>
        </p:nvSpPr>
        <p:spPr bwMode="auto">
          <a:xfrm>
            <a:off x="45918" y="108531"/>
            <a:ext cx="9052164"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kern="1200" dirty="0">
                <a:cs typeface="+mn-cs"/>
              </a:rPr>
              <a:t>指令系统：栈操作</a:t>
            </a:r>
            <a:r>
              <a:rPr lang="en-US" altLang="zh-CN" kern="1200" dirty="0">
                <a:cs typeface="+mn-cs"/>
              </a:rPr>
              <a:t>(Stack Operations)</a:t>
            </a:r>
            <a:endParaRPr lang="en-CN" kern="0" dirty="0"/>
          </a:p>
        </p:txBody>
      </p:sp>
    </p:spTree>
    <p:extLst>
      <p:ext uri="{BB962C8B-B14F-4D97-AF65-F5344CB8AC3E}">
        <p14:creationId xmlns:p14="http://schemas.microsoft.com/office/powerpoint/2010/main" val="31259080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灯片编号占位符 3">
            <a:extLst>
              <a:ext uri="{FF2B5EF4-FFF2-40B4-BE49-F238E27FC236}">
                <a16:creationId xmlns:a16="http://schemas.microsoft.com/office/drawing/2014/main" id="{E000966D-D660-5A49-BF0A-3CFEF16792FD}"/>
              </a:ext>
            </a:extLst>
          </p:cNvPr>
          <p:cNvSpPr>
            <a:spLocks noGrp="1"/>
          </p:cNvSpPr>
          <p:nvPr>
            <p:ph type="sldNum" sz="quarter" idx="12"/>
          </p:nvPr>
        </p:nvSpPr>
        <p:spPr/>
        <p:txBody>
          <a:bodyPr/>
          <a:lstStyle/>
          <a:p>
            <a:fld id="{14659731-6BD7-46E7-8D3C-2F3AC07E20B1}" type="slidenum">
              <a:rPr lang="en-US" altLang="zh-CN" smtClean="0"/>
              <a:pPr/>
              <a:t>85</a:t>
            </a:fld>
            <a:endParaRPr lang="en-US" altLang="zh-CN"/>
          </a:p>
        </p:txBody>
      </p:sp>
      <p:sp>
        <p:nvSpPr>
          <p:cNvPr id="60419" name="Rectangle 3"/>
          <p:cNvSpPr>
            <a:spLocks noGrp="1" noChangeArrowheads="1"/>
          </p:cNvSpPr>
          <p:nvPr>
            <p:ph idx="4294967295"/>
          </p:nvPr>
        </p:nvSpPr>
        <p:spPr>
          <a:xfrm>
            <a:off x="376300" y="1253003"/>
            <a:ext cx="8229595" cy="3857311"/>
          </a:xfrm>
        </p:spPr>
        <p:txBody>
          <a:bodyPr/>
          <a:lstStyle/>
          <a:p>
            <a:pPr hangingPunct="1">
              <a:spcBef>
                <a:spcPts val="600"/>
              </a:spcBef>
            </a:pPr>
            <a:r>
              <a:rPr lang="zh-CN" altLang="en-US" sz="2800" dirty="0"/>
              <a:t>例：将 </a:t>
            </a:r>
            <a:r>
              <a:rPr lang="en-US" altLang="zh-CN" sz="2800" i="1" dirty="0">
                <a:latin typeface="Consolas" panose="020B0609020204030204" pitchFamily="49" charset="0"/>
              </a:rPr>
              <a:t>$s1</a:t>
            </a:r>
            <a:r>
              <a:rPr lang="zh-CN" altLang="en-US" sz="2800" dirty="0"/>
              <a:t>、</a:t>
            </a:r>
            <a:r>
              <a:rPr lang="en-US" altLang="zh-CN" sz="2800" i="1" dirty="0">
                <a:latin typeface="Consolas" panose="020B0609020204030204" pitchFamily="49" charset="0"/>
              </a:rPr>
              <a:t>$s2</a:t>
            </a:r>
            <a:r>
              <a:rPr lang="zh-CN" altLang="en-US" sz="2800" dirty="0"/>
              <a:t>、</a:t>
            </a:r>
            <a:r>
              <a:rPr lang="en-US" altLang="zh-CN" sz="2800" i="1" dirty="0">
                <a:latin typeface="Consolas" panose="020B0609020204030204" pitchFamily="49" charset="0"/>
              </a:rPr>
              <a:t>$s3 </a:t>
            </a:r>
            <a:r>
              <a:rPr lang="zh-CN" altLang="en-US" sz="2800" dirty="0"/>
              <a:t>寄存器的内容压入栈</a:t>
            </a:r>
            <a:endParaRPr lang="en-US" altLang="zh-CN" sz="2800" dirty="0"/>
          </a:p>
          <a:p>
            <a:pPr lvl="1" hangingPunct="1">
              <a:spcBef>
                <a:spcPts val="600"/>
              </a:spcBef>
              <a:buFont typeface="Wingdings" pitchFamily="2" charset="2"/>
              <a:buNone/>
            </a:pPr>
            <a:r>
              <a:rPr lang="en-US" altLang="zh-CN" sz="2400" i="1" dirty="0">
                <a:latin typeface="Consolas" panose="020B0609020204030204" pitchFamily="49" charset="0"/>
              </a:rPr>
              <a:t>	0. </a:t>
            </a:r>
            <a:r>
              <a:rPr lang="en-US" altLang="zh-CN" sz="2400" i="1" dirty="0" err="1">
                <a:latin typeface="Consolas" panose="020B0609020204030204" pitchFamily="49" charset="0"/>
              </a:rPr>
              <a:t>addi</a:t>
            </a:r>
            <a:r>
              <a:rPr lang="en-US" altLang="zh-CN" sz="2400" i="1" dirty="0">
                <a:latin typeface="Consolas" panose="020B0609020204030204" pitchFamily="49" charset="0"/>
              </a:rPr>
              <a:t> $</a:t>
            </a:r>
            <a:r>
              <a:rPr lang="en-US" altLang="zh-CN" sz="2400" i="1" dirty="0" err="1">
                <a:latin typeface="Consolas" panose="020B0609020204030204" pitchFamily="49" charset="0"/>
              </a:rPr>
              <a:t>sp</a:t>
            </a:r>
            <a:r>
              <a:rPr lang="en-US" altLang="zh-CN" sz="2400" i="1" dirty="0">
                <a:latin typeface="Consolas" panose="020B0609020204030204" pitchFamily="49" charset="0"/>
              </a:rPr>
              <a:t>, $</a:t>
            </a:r>
            <a:r>
              <a:rPr lang="en-US" altLang="zh-CN" sz="2400" i="1" dirty="0" err="1">
                <a:latin typeface="Consolas" panose="020B0609020204030204" pitchFamily="49" charset="0"/>
              </a:rPr>
              <a:t>sp</a:t>
            </a:r>
            <a:r>
              <a:rPr lang="en-US" altLang="zh-CN" sz="2400" i="1" dirty="0">
                <a:latin typeface="Consolas" panose="020B0609020204030204" pitchFamily="49" charset="0"/>
              </a:rPr>
              <a:t>, -12</a:t>
            </a:r>
          </a:p>
          <a:p>
            <a:pPr lvl="1" hangingPunct="1">
              <a:spcBef>
                <a:spcPts val="600"/>
              </a:spcBef>
              <a:buFont typeface="Wingdings" pitchFamily="2" charset="2"/>
              <a:buNone/>
            </a:pPr>
            <a:r>
              <a:rPr lang="en-US" altLang="zh-CN" sz="2400" i="1" dirty="0">
                <a:latin typeface="Consolas" panose="020B0609020204030204" pitchFamily="49" charset="0"/>
              </a:rPr>
              <a:t>	1. </a:t>
            </a:r>
            <a:r>
              <a:rPr lang="en-US" altLang="zh-CN" sz="2400" i="1" dirty="0" err="1">
                <a:latin typeface="Consolas" panose="020B0609020204030204" pitchFamily="49" charset="0"/>
              </a:rPr>
              <a:t>sw</a:t>
            </a:r>
            <a:r>
              <a:rPr lang="en-US" altLang="zh-CN" sz="2400" i="1" dirty="0">
                <a:latin typeface="Consolas" panose="020B0609020204030204" pitchFamily="49" charset="0"/>
              </a:rPr>
              <a:t>   $s1, 8($</a:t>
            </a:r>
            <a:r>
              <a:rPr lang="en-US" altLang="zh-CN" sz="2400" i="1" dirty="0" err="1">
                <a:latin typeface="Consolas" panose="020B0609020204030204" pitchFamily="49" charset="0"/>
              </a:rPr>
              <a:t>sp</a:t>
            </a:r>
            <a:r>
              <a:rPr lang="en-US" altLang="zh-CN" sz="2400" i="1" dirty="0">
                <a:latin typeface="Consolas" panose="020B0609020204030204" pitchFamily="49" charset="0"/>
              </a:rPr>
              <a:t>)</a:t>
            </a:r>
          </a:p>
          <a:p>
            <a:pPr lvl="1" hangingPunct="1">
              <a:spcBef>
                <a:spcPts val="600"/>
              </a:spcBef>
              <a:buFont typeface="Wingdings" pitchFamily="2" charset="2"/>
              <a:buNone/>
            </a:pPr>
            <a:r>
              <a:rPr lang="en-US" altLang="zh-CN" sz="2400" i="1" dirty="0">
                <a:latin typeface="Consolas" panose="020B0609020204030204" pitchFamily="49" charset="0"/>
              </a:rPr>
              <a:t>	2. </a:t>
            </a:r>
            <a:r>
              <a:rPr lang="en-US" altLang="zh-CN" sz="2400" i="1" dirty="0" err="1">
                <a:latin typeface="Consolas" panose="020B0609020204030204" pitchFamily="49" charset="0"/>
              </a:rPr>
              <a:t>sw</a:t>
            </a:r>
            <a:r>
              <a:rPr lang="en-US" altLang="zh-CN" sz="2400" i="1" dirty="0">
                <a:latin typeface="Consolas" panose="020B0609020204030204" pitchFamily="49" charset="0"/>
              </a:rPr>
              <a:t>   $s2, 4($</a:t>
            </a:r>
            <a:r>
              <a:rPr lang="en-US" altLang="zh-CN" sz="2400" i="1" dirty="0" err="1">
                <a:latin typeface="Consolas" panose="020B0609020204030204" pitchFamily="49" charset="0"/>
              </a:rPr>
              <a:t>sp</a:t>
            </a:r>
            <a:r>
              <a:rPr lang="en-US" altLang="zh-CN" sz="2400" i="1" dirty="0">
                <a:latin typeface="Consolas" panose="020B0609020204030204" pitchFamily="49" charset="0"/>
              </a:rPr>
              <a:t>)</a:t>
            </a:r>
          </a:p>
          <a:p>
            <a:pPr lvl="1" hangingPunct="1">
              <a:spcBef>
                <a:spcPts val="600"/>
              </a:spcBef>
              <a:buFont typeface="Wingdings" pitchFamily="2" charset="2"/>
              <a:buNone/>
            </a:pPr>
            <a:r>
              <a:rPr lang="en-US" altLang="zh-CN" sz="2400" i="1" dirty="0">
                <a:latin typeface="Consolas" panose="020B0609020204030204" pitchFamily="49" charset="0"/>
              </a:rPr>
              <a:t>	3. </a:t>
            </a:r>
            <a:r>
              <a:rPr lang="en-US" altLang="zh-CN" sz="2400" i="1" dirty="0" err="1">
                <a:latin typeface="Consolas" panose="020B0609020204030204" pitchFamily="49" charset="0"/>
              </a:rPr>
              <a:t>sw</a:t>
            </a:r>
            <a:r>
              <a:rPr lang="en-US" altLang="zh-CN" sz="2400" i="1" dirty="0">
                <a:latin typeface="Consolas" panose="020B0609020204030204" pitchFamily="49" charset="0"/>
              </a:rPr>
              <a:t>   $s3, 0($</a:t>
            </a:r>
            <a:r>
              <a:rPr lang="en-US" altLang="zh-CN" sz="2400" i="1" dirty="0" err="1">
                <a:latin typeface="Consolas" panose="020B0609020204030204" pitchFamily="49" charset="0"/>
              </a:rPr>
              <a:t>sp</a:t>
            </a:r>
            <a:r>
              <a:rPr lang="en-US" altLang="zh-CN" sz="2400" i="1" dirty="0">
                <a:latin typeface="Consolas" panose="020B0609020204030204" pitchFamily="49" charset="0"/>
              </a:rPr>
              <a:t>)</a:t>
            </a:r>
          </a:p>
          <a:p>
            <a:pPr hangingPunct="1"/>
            <a:endParaRPr lang="en-US" altLang="zh-CN" dirty="0"/>
          </a:p>
          <a:p>
            <a:pPr hangingPunct="1"/>
            <a:endParaRPr lang="en-US" altLang="zh-CN" dirty="0"/>
          </a:p>
        </p:txBody>
      </p:sp>
      <p:sp>
        <p:nvSpPr>
          <p:cNvPr id="60442" name="TextBox 1"/>
          <p:cNvSpPr txBox="1">
            <a:spLocks noChangeArrowheads="1"/>
          </p:cNvSpPr>
          <p:nvPr/>
        </p:nvSpPr>
        <p:spPr bwMode="auto">
          <a:xfrm>
            <a:off x="880999" y="4178352"/>
            <a:ext cx="2393573" cy="1200329"/>
          </a:xfrm>
          <a:prstGeom prst="rect">
            <a:avLst/>
          </a:prstGeom>
          <a:solidFill>
            <a:schemeClr val="bg1">
              <a:lumMod val="85000"/>
            </a:schemeClr>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r>
              <a:rPr lang="zh-CN" altLang="en-US" sz="2400" dirty="0">
                <a:latin typeface="+mj-ea"/>
                <a:ea typeface="+mj-ea"/>
              </a:rPr>
              <a:t>习惯上，栈按照</a:t>
            </a:r>
            <a:r>
              <a:rPr lang="zh-CN" altLang="en-US" sz="2400" dirty="0">
                <a:solidFill>
                  <a:srgbClr val="0432FF"/>
                </a:solidFill>
                <a:latin typeface="+mj-ea"/>
                <a:ea typeface="+mj-ea"/>
              </a:rPr>
              <a:t>从高到低</a:t>
            </a:r>
            <a:r>
              <a:rPr lang="zh-CN" altLang="en-US" sz="2400" dirty="0">
                <a:latin typeface="+mj-ea"/>
                <a:ea typeface="+mj-ea"/>
              </a:rPr>
              <a:t>的地址顺序增长</a:t>
            </a:r>
          </a:p>
        </p:txBody>
      </p:sp>
      <p:grpSp>
        <p:nvGrpSpPr>
          <p:cNvPr id="4" name="组合 3">
            <a:extLst>
              <a:ext uri="{FF2B5EF4-FFF2-40B4-BE49-F238E27FC236}">
                <a16:creationId xmlns:a16="http://schemas.microsoft.com/office/drawing/2014/main" id="{1C58DB9E-FF86-1537-1F7F-49C4940FAB40}"/>
              </a:ext>
            </a:extLst>
          </p:cNvPr>
          <p:cNvGrpSpPr/>
          <p:nvPr/>
        </p:nvGrpSpPr>
        <p:grpSpPr>
          <a:xfrm>
            <a:off x="3979620" y="3261468"/>
            <a:ext cx="5118462" cy="3379461"/>
            <a:chOff x="3877245" y="3294271"/>
            <a:chExt cx="5243421" cy="3461965"/>
          </a:xfrm>
        </p:grpSpPr>
        <p:sp>
          <p:nvSpPr>
            <p:cNvPr id="60427" name="Text Box 12"/>
            <p:cNvSpPr txBox="1">
              <a:spLocks noChangeArrowheads="1"/>
            </p:cNvSpPr>
            <p:nvPr/>
          </p:nvSpPr>
          <p:spPr bwMode="auto">
            <a:xfrm>
              <a:off x="4093289" y="6345700"/>
              <a:ext cx="983641" cy="410536"/>
            </a:xfrm>
            <a:prstGeom prst="rect">
              <a:avLst/>
            </a:prstGeom>
            <a:solidFill>
              <a:schemeClr val="bg1">
                <a:lumMod val="85000"/>
              </a:schemeClr>
            </a:solidFill>
            <a:ln>
              <a:noFill/>
            </a:ln>
            <a:effectLst/>
            <a:extLst>
              <a:ext uri="{91240B29-F687-4f45-9708-019B960494DF}">
                <a14:hiddenLine xmlns="" xmlns:a14="http://schemas.microsoft.com/office/drawing/2010/main" w="9525" algn="ctr">
                  <a:solidFill>
                    <a:schemeClr val="tx1"/>
                  </a:solidFill>
                  <a:miter lim="800000"/>
                  <a:headEnd type="none" w="sm" len="sm"/>
                  <a:tailEnd type="none" w="sm" len="sm"/>
                </a14:hiddenLine>
              </a:ext>
              <a:ext uri="{AF507438-7753-43e0-B8FC-AC1667EBCBE1}">
                <a14:hiddenEffects xmlns="" xmlns:a14="http://schemas.microsoft.com/office/drawing/2010/main">
                  <a:effectLst>
                    <a:outerShdw dist="71842" dir="2700000" algn="ctr" rotWithShape="0">
                      <a:schemeClr val="bg2"/>
                    </a:outerShdw>
                  </a:effectLst>
                </a14:hiddenEffects>
              </a:ext>
            </a:extLst>
          </p:spPr>
          <p:txBody>
            <a:bodyPr wrap="none" lIns="92075" tIns="46038" rIns="92075" bIns="46038">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r>
                <a:rPr lang="zh-CN" altLang="en-US" sz="2000" dirty="0">
                  <a:latin typeface="+mj-ea"/>
                  <a:ea typeface="+mj-ea"/>
                </a:rPr>
                <a:t>压栈前</a:t>
              </a:r>
            </a:p>
          </p:txBody>
        </p:sp>
        <p:sp>
          <p:nvSpPr>
            <p:cNvPr id="60420" name="Line 5"/>
            <p:cNvSpPr>
              <a:spLocks noChangeShapeType="1"/>
            </p:cNvSpPr>
            <p:nvPr/>
          </p:nvSpPr>
          <p:spPr bwMode="auto">
            <a:xfrm>
              <a:off x="3880420" y="3527074"/>
              <a:ext cx="0" cy="2678113"/>
            </a:xfrm>
            <a:prstGeom prst="line">
              <a:avLst/>
            </a:prstGeom>
            <a:noFill/>
            <a:ln w="1905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21" name="Line 6"/>
            <p:cNvSpPr>
              <a:spLocks noChangeShapeType="1"/>
            </p:cNvSpPr>
            <p:nvPr/>
          </p:nvSpPr>
          <p:spPr bwMode="auto">
            <a:xfrm>
              <a:off x="5201220" y="3523899"/>
              <a:ext cx="0" cy="2678113"/>
            </a:xfrm>
            <a:prstGeom prst="line">
              <a:avLst/>
            </a:prstGeom>
            <a:noFill/>
            <a:ln w="1905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22" name="Text Box 7"/>
            <p:cNvSpPr txBox="1">
              <a:spLocks noChangeArrowheads="1"/>
            </p:cNvSpPr>
            <p:nvPr/>
          </p:nvSpPr>
          <p:spPr bwMode="auto">
            <a:xfrm>
              <a:off x="5213920" y="3297446"/>
              <a:ext cx="1141287" cy="47359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lgn="ctr">
                  <a:solidFill>
                    <a:schemeClr val="tx1"/>
                  </a:solidFill>
                  <a:miter lim="800000"/>
                  <a:headEnd type="none" w="sm" len="sm"/>
                  <a:tailEnd type="none" w="sm" len="sm"/>
                </a14:hiddenLine>
              </a:ext>
              <a:ext uri="{AF507438-7753-43e0-B8FC-AC1667EBCBE1}">
                <a14:hiddenEffects xmlns="" xmlns:a14="http://schemas.microsoft.com/office/drawing/2010/main">
                  <a:effectLst>
                    <a:outerShdw dist="71842" dir="2700000" algn="ctr" rotWithShape="0">
                      <a:schemeClr val="bg2"/>
                    </a:outerShdw>
                  </a:effectLst>
                </a14:hiddenEffects>
              </a:ext>
            </a:extLst>
          </p:spPr>
          <p:txBody>
            <a:bodyPr wrap="none" lIns="92075" tIns="46038" rIns="92075" bIns="46038">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r>
                <a:rPr lang="zh-CN" altLang="en-US" sz="2400" dirty="0">
                  <a:latin typeface="+mj-ea"/>
                  <a:ea typeface="+mj-ea"/>
                </a:rPr>
                <a:t>高地址</a:t>
              </a:r>
            </a:p>
          </p:txBody>
        </p:sp>
        <p:sp>
          <p:nvSpPr>
            <p:cNvPr id="60423" name="Text Box 8"/>
            <p:cNvSpPr txBox="1">
              <a:spLocks noChangeArrowheads="1"/>
            </p:cNvSpPr>
            <p:nvPr/>
          </p:nvSpPr>
          <p:spPr bwMode="auto">
            <a:xfrm>
              <a:off x="5198045" y="5939754"/>
              <a:ext cx="1141287" cy="47359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lgn="ctr">
                  <a:solidFill>
                    <a:schemeClr val="tx1"/>
                  </a:solidFill>
                  <a:miter lim="800000"/>
                  <a:headEnd type="none" w="sm" len="sm"/>
                  <a:tailEnd type="none" w="sm" len="sm"/>
                </a14:hiddenLine>
              </a:ext>
              <a:ext uri="{AF507438-7753-43e0-B8FC-AC1667EBCBE1}">
                <a14:hiddenEffects xmlns="" xmlns:a14="http://schemas.microsoft.com/office/drawing/2010/main">
                  <a:effectLst>
                    <a:outerShdw dist="71842" dir="2700000" algn="ctr" rotWithShape="0">
                      <a:schemeClr val="bg2"/>
                    </a:outerShdw>
                  </a:effectLst>
                </a14:hiddenEffects>
              </a:ext>
            </a:extLst>
          </p:spPr>
          <p:txBody>
            <a:bodyPr wrap="none" lIns="92075" tIns="46038" rIns="92075" bIns="46038">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r>
                <a:rPr lang="zh-CN" altLang="en-US" sz="2400" dirty="0">
                  <a:latin typeface="+mj-ea"/>
                  <a:ea typeface="+mj-ea"/>
                </a:rPr>
                <a:t>低地址</a:t>
              </a:r>
            </a:p>
          </p:txBody>
        </p:sp>
        <p:sp>
          <p:nvSpPr>
            <p:cNvPr id="60424" name="Line 9"/>
            <p:cNvSpPr>
              <a:spLocks noChangeShapeType="1"/>
            </p:cNvSpPr>
            <p:nvPr/>
          </p:nvSpPr>
          <p:spPr bwMode="auto">
            <a:xfrm>
              <a:off x="3877245" y="4166837"/>
              <a:ext cx="1320800" cy="0"/>
            </a:xfrm>
            <a:prstGeom prst="line">
              <a:avLst/>
            </a:prstGeom>
            <a:noFill/>
            <a:ln w="1905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25" name="Rectangle 10"/>
            <p:cNvSpPr>
              <a:spLocks noChangeArrowheads="1"/>
            </p:cNvSpPr>
            <p:nvPr/>
          </p:nvSpPr>
          <p:spPr bwMode="auto">
            <a:xfrm>
              <a:off x="5446904" y="3773769"/>
              <a:ext cx="712688" cy="47359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lgn="ctr">
                  <a:solidFill>
                    <a:schemeClr val="tx1"/>
                  </a:solidFill>
                  <a:miter lim="800000"/>
                  <a:headEnd type="none" w="sm" len="sm"/>
                  <a:tailEnd type="none" w="sm" len="sm"/>
                </a14:hiddenLine>
              </a:ext>
              <a:ext uri="{AF507438-7753-43e0-B8FC-AC1667EBCBE1}">
                <a14:hiddenEffects xmlns="" xmlns:a14="http://schemas.microsoft.com/office/drawing/2010/main">
                  <a:effectLst>
                    <a:outerShdw dist="71842" dir="2700000" algn="ctr" rotWithShape="0">
                      <a:schemeClr val="bg2"/>
                    </a:outerShdw>
                  </a:effectLst>
                </a14:hiddenEffects>
              </a:ext>
            </a:extLst>
          </p:spPr>
          <p:txBody>
            <a:bodyPr wrap="none" lIns="92075" tIns="46038" rIns="92075" bIns="46038">
              <a:spAutoFit/>
            </a:bodyPr>
            <a:lstStyle/>
            <a:p>
              <a:r>
                <a:rPr lang="en-US" altLang="zh-CN" sz="2400" b="1" i="1">
                  <a:solidFill>
                    <a:srgbClr val="0432FF"/>
                  </a:solidFill>
                  <a:latin typeface="Consolas" panose="020B0609020204030204" pitchFamily="49" charset="0"/>
                </a:rPr>
                <a:t>$</a:t>
              </a:r>
              <a:r>
                <a:rPr lang="en-US" altLang="zh-CN" sz="2400" b="1" i="1" err="1">
                  <a:solidFill>
                    <a:srgbClr val="0432FF"/>
                  </a:solidFill>
                  <a:latin typeface="Consolas" panose="020B0609020204030204" pitchFamily="49" charset="0"/>
                </a:rPr>
                <a:t>sp</a:t>
              </a:r>
              <a:endParaRPr lang="en-US" altLang="zh-CN" sz="2400" b="1" i="1">
                <a:solidFill>
                  <a:srgbClr val="0432FF"/>
                </a:solidFill>
                <a:latin typeface="Consolas" panose="020B0609020204030204" pitchFamily="49" charset="0"/>
              </a:endParaRPr>
            </a:p>
          </p:txBody>
        </p:sp>
        <p:sp>
          <p:nvSpPr>
            <p:cNvPr id="60426" name="Line 11"/>
            <p:cNvSpPr>
              <a:spLocks noChangeShapeType="1"/>
            </p:cNvSpPr>
            <p:nvPr/>
          </p:nvSpPr>
          <p:spPr bwMode="auto">
            <a:xfrm flipH="1">
              <a:off x="5198045" y="4016024"/>
              <a:ext cx="287338" cy="0"/>
            </a:xfrm>
            <a:prstGeom prst="line">
              <a:avLst/>
            </a:prstGeom>
            <a:noFill/>
            <a:ln w="28575">
              <a:solidFill>
                <a:schemeClr val="tx1"/>
              </a:solidFill>
              <a:round/>
              <a:headEnd type="none" w="sm" len="sm"/>
              <a:tailEnd type="triangl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28" name="Line 13"/>
            <p:cNvSpPr>
              <a:spLocks noChangeShapeType="1"/>
            </p:cNvSpPr>
            <p:nvPr/>
          </p:nvSpPr>
          <p:spPr bwMode="auto">
            <a:xfrm>
              <a:off x="6439470" y="3523899"/>
              <a:ext cx="0" cy="2678113"/>
            </a:xfrm>
            <a:prstGeom prst="line">
              <a:avLst/>
            </a:prstGeom>
            <a:noFill/>
            <a:ln w="1905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29" name="Line 14"/>
            <p:cNvSpPr>
              <a:spLocks noChangeShapeType="1"/>
            </p:cNvSpPr>
            <p:nvPr/>
          </p:nvSpPr>
          <p:spPr bwMode="auto">
            <a:xfrm>
              <a:off x="7760270" y="3520724"/>
              <a:ext cx="0" cy="2678113"/>
            </a:xfrm>
            <a:prstGeom prst="line">
              <a:avLst/>
            </a:prstGeom>
            <a:noFill/>
            <a:ln w="1905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30" name="Text Box 15"/>
            <p:cNvSpPr txBox="1">
              <a:spLocks noChangeArrowheads="1"/>
            </p:cNvSpPr>
            <p:nvPr/>
          </p:nvSpPr>
          <p:spPr bwMode="auto">
            <a:xfrm>
              <a:off x="7772970" y="3294271"/>
              <a:ext cx="1141287" cy="47359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lgn="ctr">
                  <a:solidFill>
                    <a:schemeClr val="tx1"/>
                  </a:solidFill>
                  <a:miter lim="800000"/>
                  <a:headEnd type="none" w="sm" len="sm"/>
                  <a:tailEnd type="none" w="sm" len="sm"/>
                </a14:hiddenLine>
              </a:ext>
              <a:ext uri="{AF507438-7753-43e0-B8FC-AC1667EBCBE1}">
                <a14:hiddenEffects xmlns="" xmlns:a14="http://schemas.microsoft.com/office/drawing/2010/main">
                  <a:effectLst>
                    <a:outerShdw dist="71842" dir="2700000" algn="ctr" rotWithShape="0">
                      <a:schemeClr val="bg2"/>
                    </a:outerShdw>
                  </a:effectLst>
                </a14:hiddenEffects>
              </a:ext>
            </a:extLst>
          </p:spPr>
          <p:txBody>
            <a:bodyPr wrap="none" lIns="92075" tIns="46038" rIns="92075" bIns="46038">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r>
                <a:rPr lang="zh-CN" altLang="en-US" sz="2400">
                  <a:latin typeface="+mj-ea"/>
                  <a:ea typeface="+mj-ea"/>
                </a:rPr>
                <a:t>高地址</a:t>
              </a:r>
            </a:p>
          </p:txBody>
        </p:sp>
        <p:sp>
          <p:nvSpPr>
            <p:cNvPr id="60431" name="Text Box 16"/>
            <p:cNvSpPr txBox="1">
              <a:spLocks noChangeArrowheads="1"/>
            </p:cNvSpPr>
            <p:nvPr/>
          </p:nvSpPr>
          <p:spPr bwMode="auto">
            <a:xfrm>
              <a:off x="7757095" y="5936579"/>
              <a:ext cx="1141287" cy="47359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lgn="ctr">
                  <a:solidFill>
                    <a:schemeClr val="tx1"/>
                  </a:solidFill>
                  <a:miter lim="800000"/>
                  <a:headEnd type="none" w="sm" len="sm"/>
                  <a:tailEnd type="none" w="sm" len="sm"/>
                </a14:hiddenLine>
              </a:ext>
              <a:ext uri="{AF507438-7753-43e0-B8FC-AC1667EBCBE1}">
                <a14:hiddenEffects xmlns="" xmlns:a14="http://schemas.microsoft.com/office/drawing/2010/main">
                  <a:effectLst>
                    <a:outerShdw dist="71842" dir="2700000" algn="ctr" rotWithShape="0">
                      <a:schemeClr val="bg2"/>
                    </a:outerShdw>
                  </a:effectLst>
                </a14:hiddenEffects>
              </a:ext>
            </a:extLst>
          </p:spPr>
          <p:txBody>
            <a:bodyPr wrap="none" lIns="92075" tIns="46038" rIns="92075" bIns="46038">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r>
                <a:rPr lang="zh-CN" altLang="en-US" sz="2400">
                  <a:latin typeface="+mj-ea"/>
                  <a:ea typeface="+mj-ea"/>
                </a:rPr>
                <a:t>低地址</a:t>
              </a:r>
            </a:p>
          </p:txBody>
        </p:sp>
        <p:sp>
          <p:nvSpPr>
            <p:cNvPr id="60432" name="Line 17"/>
            <p:cNvSpPr>
              <a:spLocks noChangeShapeType="1"/>
            </p:cNvSpPr>
            <p:nvPr/>
          </p:nvSpPr>
          <p:spPr bwMode="auto">
            <a:xfrm>
              <a:off x="6436295" y="4163662"/>
              <a:ext cx="1320800" cy="0"/>
            </a:xfrm>
            <a:prstGeom prst="line">
              <a:avLst/>
            </a:prstGeom>
            <a:noFill/>
            <a:ln w="1905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33" name="Rectangle 18"/>
            <p:cNvSpPr>
              <a:spLocks noChangeArrowheads="1"/>
            </p:cNvSpPr>
            <p:nvPr/>
          </p:nvSpPr>
          <p:spPr bwMode="auto">
            <a:xfrm>
              <a:off x="8071996" y="4737370"/>
              <a:ext cx="712688" cy="47359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lgn="ctr">
                  <a:solidFill>
                    <a:schemeClr val="tx1"/>
                  </a:solidFill>
                  <a:miter lim="800000"/>
                  <a:headEnd type="none" w="sm" len="sm"/>
                  <a:tailEnd type="none" w="sm" len="sm"/>
                </a14:hiddenLine>
              </a:ext>
              <a:ext uri="{AF507438-7753-43e0-B8FC-AC1667EBCBE1}">
                <a14:hiddenEffects xmlns="" xmlns:a14="http://schemas.microsoft.com/office/drawing/2010/main">
                  <a:effectLst>
                    <a:outerShdw dist="71842" dir="2700000" algn="ctr" rotWithShape="0">
                      <a:schemeClr val="bg2"/>
                    </a:outerShdw>
                  </a:effectLst>
                </a14:hiddenEffects>
              </a:ext>
            </a:extLst>
          </p:spPr>
          <p:txBody>
            <a:bodyPr wrap="none" lIns="92075" tIns="46038" rIns="92075" bIns="46038">
              <a:spAutoFit/>
            </a:bodyPr>
            <a:lstStyle/>
            <a:p>
              <a:r>
                <a:rPr lang="en-US" altLang="zh-CN" sz="2400" b="1" i="1">
                  <a:solidFill>
                    <a:srgbClr val="0432FF"/>
                  </a:solidFill>
                  <a:latin typeface="Consolas" panose="020B0609020204030204" pitchFamily="49" charset="0"/>
                </a:rPr>
                <a:t>$</a:t>
              </a:r>
              <a:r>
                <a:rPr lang="en-US" altLang="zh-CN" sz="2400" b="1" i="1" err="1">
                  <a:solidFill>
                    <a:srgbClr val="0432FF"/>
                  </a:solidFill>
                  <a:latin typeface="Consolas" panose="020B0609020204030204" pitchFamily="49" charset="0"/>
                </a:rPr>
                <a:t>sp</a:t>
              </a:r>
              <a:endParaRPr lang="en-US" altLang="zh-CN" sz="2400" b="1" i="1">
                <a:solidFill>
                  <a:srgbClr val="0432FF"/>
                </a:solidFill>
                <a:latin typeface="Consolas" panose="020B0609020204030204" pitchFamily="49" charset="0"/>
              </a:endParaRPr>
            </a:p>
          </p:txBody>
        </p:sp>
        <p:sp>
          <p:nvSpPr>
            <p:cNvPr id="60434" name="Line 19"/>
            <p:cNvSpPr>
              <a:spLocks noChangeShapeType="1"/>
            </p:cNvSpPr>
            <p:nvPr/>
          </p:nvSpPr>
          <p:spPr bwMode="auto">
            <a:xfrm flipH="1">
              <a:off x="7787258" y="4968524"/>
              <a:ext cx="287338" cy="0"/>
            </a:xfrm>
            <a:prstGeom prst="line">
              <a:avLst/>
            </a:prstGeom>
            <a:noFill/>
            <a:ln w="28575">
              <a:solidFill>
                <a:schemeClr val="tx1"/>
              </a:solidFill>
              <a:round/>
              <a:headEnd type="none" w="sm" len="sm"/>
              <a:tailEnd type="triangl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35" name="Text Box 20"/>
            <p:cNvSpPr txBox="1">
              <a:spLocks noChangeArrowheads="1"/>
            </p:cNvSpPr>
            <p:nvPr/>
          </p:nvSpPr>
          <p:spPr bwMode="auto">
            <a:xfrm>
              <a:off x="6642019" y="6342079"/>
              <a:ext cx="983641" cy="410536"/>
            </a:xfrm>
            <a:prstGeom prst="rect">
              <a:avLst/>
            </a:prstGeom>
            <a:solidFill>
              <a:schemeClr val="bg1">
                <a:lumMod val="85000"/>
              </a:schemeClr>
            </a:solidFill>
            <a:ln>
              <a:noFill/>
            </a:ln>
            <a:effectLst/>
            <a:extLst>
              <a:ext uri="{91240B29-F687-4f45-9708-019B960494DF}">
                <a14:hiddenLine xmlns="" xmlns:a14="http://schemas.microsoft.com/office/drawing/2010/main" w="9525" algn="ctr">
                  <a:solidFill>
                    <a:schemeClr val="tx1"/>
                  </a:solidFill>
                  <a:miter lim="800000"/>
                  <a:headEnd type="none" w="sm" len="sm"/>
                  <a:tailEnd type="none" w="sm" len="sm"/>
                </a14:hiddenLine>
              </a:ext>
              <a:ext uri="{AF507438-7753-43e0-B8FC-AC1667EBCBE1}">
                <a14:hiddenEffects xmlns="" xmlns:a14="http://schemas.microsoft.com/office/drawing/2010/main">
                  <a:effectLst>
                    <a:outerShdw dist="71842" dir="2700000" algn="ctr" rotWithShape="0">
                      <a:schemeClr val="bg2"/>
                    </a:outerShdw>
                  </a:effectLst>
                </a14:hiddenEffects>
              </a:ext>
            </a:extLst>
          </p:spPr>
          <p:txBody>
            <a:bodyPr wrap="none" lIns="92075" tIns="46038" rIns="92075" bIns="46038">
              <a:spAutoFit/>
            </a:bodyPr>
            <a:lstStyle>
              <a:defPPr>
                <a:defRPr lang="zh-CN"/>
              </a:defPPr>
              <a:lvl1pPr eaLnBrk="1" hangingPunct="1">
                <a:defRPr sz="2000">
                  <a:solidFill>
                    <a:srgbClr val="0432FF"/>
                  </a:solidFill>
                  <a:latin typeface="+mj-ea"/>
                  <a:ea typeface="+mj-ea"/>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zh-CN" altLang="en-US" b="1" dirty="0">
                  <a:solidFill>
                    <a:schemeClr val="tx1"/>
                  </a:solidFill>
                </a:rPr>
                <a:t>压栈后</a:t>
              </a:r>
            </a:p>
          </p:txBody>
        </p:sp>
        <p:sp>
          <p:nvSpPr>
            <p:cNvPr id="60436" name="Line 21"/>
            <p:cNvSpPr>
              <a:spLocks noChangeShapeType="1"/>
            </p:cNvSpPr>
            <p:nvPr/>
          </p:nvSpPr>
          <p:spPr bwMode="auto">
            <a:xfrm>
              <a:off x="6429945" y="4477987"/>
              <a:ext cx="1320800" cy="0"/>
            </a:xfrm>
            <a:prstGeom prst="line">
              <a:avLst/>
            </a:prstGeom>
            <a:noFill/>
            <a:ln w="1905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37" name="Line 22"/>
            <p:cNvSpPr>
              <a:spLocks noChangeShapeType="1"/>
            </p:cNvSpPr>
            <p:nvPr/>
          </p:nvSpPr>
          <p:spPr bwMode="auto">
            <a:xfrm>
              <a:off x="6436295" y="4789137"/>
              <a:ext cx="1320800" cy="0"/>
            </a:xfrm>
            <a:prstGeom prst="line">
              <a:avLst/>
            </a:prstGeom>
            <a:noFill/>
            <a:ln w="1905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38" name="Line 23"/>
            <p:cNvSpPr>
              <a:spLocks noChangeShapeType="1"/>
            </p:cNvSpPr>
            <p:nvPr/>
          </p:nvSpPr>
          <p:spPr bwMode="auto">
            <a:xfrm>
              <a:off x="6433120" y="5119337"/>
              <a:ext cx="1320800" cy="0"/>
            </a:xfrm>
            <a:prstGeom prst="line">
              <a:avLst/>
            </a:prstGeom>
            <a:noFill/>
            <a:ln w="1905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41" name="Rectangle 26"/>
            <p:cNvSpPr>
              <a:spLocks noChangeArrowheads="1"/>
            </p:cNvSpPr>
            <p:nvPr/>
          </p:nvSpPr>
          <p:spPr bwMode="auto">
            <a:xfrm>
              <a:off x="6451548" y="4150121"/>
              <a:ext cx="1303857" cy="37900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lgn="ctr">
                  <a:solidFill>
                    <a:schemeClr val="tx1"/>
                  </a:solidFill>
                  <a:miter lim="800000"/>
                  <a:headEnd type="none" w="sm" len="sm"/>
                  <a:tailEnd type="none" w="sm" len="sm"/>
                </a14:hiddenLine>
              </a:ext>
              <a:ext uri="{AF507438-7753-43e0-B8FC-AC1667EBCBE1}">
                <a14:hiddenEffects xmlns="" xmlns:a14="http://schemas.microsoft.com/office/drawing/2010/main">
                  <a:effectLst>
                    <a:outerShdw dist="71842" dir="2700000" algn="ctr" rotWithShape="0">
                      <a:schemeClr val="bg2"/>
                    </a:outerShdw>
                  </a:effectLst>
                </a14:hiddenEffects>
              </a:ext>
            </a:extLst>
          </p:spPr>
          <p:txBody>
            <a:bodyPr wrap="none" lIns="92075" tIns="46038" rIns="92075" bIns="46038">
              <a:spAutoFit/>
            </a:bodyPr>
            <a:lstStyle/>
            <a:p>
              <a:r>
                <a:rPr lang="en-US" altLang="zh-CN" sz="1800" b="1" dirty="0">
                  <a:solidFill>
                    <a:srgbClr val="0432FF"/>
                  </a:solidFill>
                  <a:latin typeface="Consolas" panose="020B0609020204030204" pitchFamily="49" charset="0"/>
                  <a:ea typeface="+mj-ea"/>
                  <a:cs typeface="Consolas" panose="020B0609020204030204" pitchFamily="49" charset="0"/>
                </a:rPr>
                <a:t>$s1</a:t>
              </a:r>
              <a:r>
                <a:rPr lang="zh-CN" altLang="en-US" sz="1800" b="1" dirty="0">
                  <a:solidFill>
                    <a:srgbClr val="0432FF"/>
                  </a:solidFill>
                  <a:latin typeface="Consolas" panose="020B0609020204030204" pitchFamily="49" charset="0"/>
                  <a:ea typeface="+mj-ea"/>
                  <a:cs typeface="Consolas" panose="020B0609020204030204" pitchFamily="49" charset="0"/>
                </a:rPr>
                <a:t>的内容</a:t>
              </a:r>
            </a:p>
          </p:txBody>
        </p:sp>
        <p:sp>
          <p:nvSpPr>
            <p:cNvPr id="32" name="Rectangle 18">
              <a:extLst>
                <a:ext uri="{FF2B5EF4-FFF2-40B4-BE49-F238E27FC236}">
                  <a16:creationId xmlns:a16="http://schemas.microsoft.com/office/drawing/2014/main" id="{38EED6C1-7B84-CB45-A674-F26B81FA78D8}"/>
                </a:ext>
              </a:extLst>
            </p:cNvPr>
            <p:cNvSpPr>
              <a:spLocks noChangeArrowheads="1"/>
            </p:cNvSpPr>
            <p:nvPr/>
          </p:nvSpPr>
          <p:spPr bwMode="auto">
            <a:xfrm>
              <a:off x="8059845" y="4103955"/>
              <a:ext cx="1060821" cy="47359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lgn="ctr">
                  <a:solidFill>
                    <a:schemeClr val="tx1"/>
                  </a:solidFill>
                  <a:miter lim="800000"/>
                  <a:headEnd type="none" w="sm" len="sm"/>
                  <a:tailEnd type="none" w="sm" len="sm"/>
                </a14:hiddenLine>
              </a:ext>
              <a:ext uri="{AF507438-7753-43e0-B8FC-AC1667EBCBE1}">
                <a14:hiddenEffects xmlns="" xmlns:a14="http://schemas.microsoft.com/office/drawing/2010/main">
                  <a:effectLst>
                    <a:outerShdw dist="71842" dir="2700000" algn="ctr" rotWithShape="0">
                      <a:schemeClr val="bg2"/>
                    </a:outerShdw>
                  </a:effectLst>
                </a14:hiddenEffects>
              </a:ext>
            </a:extLst>
          </p:spPr>
          <p:txBody>
            <a:bodyPr wrap="none" lIns="92075" tIns="46038" rIns="92075" bIns="46038">
              <a:spAutoFit/>
            </a:bodyPr>
            <a:lstStyle/>
            <a:p>
              <a:r>
                <a:rPr lang="en-US" altLang="zh-CN" sz="2400" b="1" i="1">
                  <a:solidFill>
                    <a:srgbClr val="0432FF"/>
                  </a:solidFill>
                  <a:latin typeface="Consolas" panose="020B0609020204030204" pitchFamily="49" charset="0"/>
                </a:rPr>
                <a:t>$sp+8</a:t>
              </a:r>
            </a:p>
          </p:txBody>
        </p:sp>
        <p:sp>
          <p:nvSpPr>
            <p:cNvPr id="33" name="Line 19">
              <a:extLst>
                <a:ext uri="{FF2B5EF4-FFF2-40B4-BE49-F238E27FC236}">
                  <a16:creationId xmlns:a16="http://schemas.microsoft.com/office/drawing/2014/main" id="{1331A6B9-673F-FD48-9E89-20351115AF39}"/>
                </a:ext>
              </a:extLst>
            </p:cNvPr>
            <p:cNvSpPr>
              <a:spLocks noChangeShapeType="1"/>
            </p:cNvSpPr>
            <p:nvPr/>
          </p:nvSpPr>
          <p:spPr bwMode="auto">
            <a:xfrm flipH="1">
              <a:off x="7780908" y="4335109"/>
              <a:ext cx="287338" cy="0"/>
            </a:xfrm>
            <a:prstGeom prst="line">
              <a:avLst/>
            </a:prstGeom>
            <a:noFill/>
            <a:ln w="28575">
              <a:solidFill>
                <a:schemeClr val="tx1"/>
              </a:solidFill>
              <a:round/>
              <a:headEnd type="none" w="sm" len="sm"/>
              <a:tailEnd type="triangl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grpSp>
      <p:sp>
        <p:nvSpPr>
          <p:cNvPr id="3" name="Title 4">
            <a:extLst>
              <a:ext uri="{FF2B5EF4-FFF2-40B4-BE49-F238E27FC236}">
                <a16:creationId xmlns:a16="http://schemas.microsoft.com/office/drawing/2014/main" id="{74B8D014-F141-E326-66FB-DD00BF371DB9}"/>
              </a:ext>
            </a:extLst>
          </p:cNvPr>
          <p:cNvSpPr txBox="1">
            <a:spLocks/>
          </p:cNvSpPr>
          <p:nvPr/>
        </p:nvSpPr>
        <p:spPr bwMode="auto">
          <a:xfrm>
            <a:off x="45918" y="108531"/>
            <a:ext cx="9052164" cy="114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kern="1200" dirty="0">
                <a:cs typeface="+mn-cs"/>
              </a:rPr>
              <a:t>指令系统：栈操作</a:t>
            </a:r>
            <a:r>
              <a:rPr lang="en-US" altLang="zh-CN" kern="1200" dirty="0">
                <a:cs typeface="+mn-cs"/>
              </a:rPr>
              <a:t>(Stack Operations)</a:t>
            </a:r>
            <a:endParaRPr lang="en-CN" kern="0" dirty="0"/>
          </a:p>
        </p:txBody>
      </p:sp>
      <p:sp>
        <p:nvSpPr>
          <p:cNvPr id="5" name="文本框 4">
            <a:extLst>
              <a:ext uri="{FF2B5EF4-FFF2-40B4-BE49-F238E27FC236}">
                <a16:creationId xmlns:a16="http://schemas.microsoft.com/office/drawing/2014/main" id="{853AA072-61D2-E0AC-F9D8-F9426367A54B}"/>
              </a:ext>
            </a:extLst>
          </p:cNvPr>
          <p:cNvSpPr txBox="1"/>
          <p:nvPr/>
        </p:nvSpPr>
        <p:spPr>
          <a:xfrm>
            <a:off x="6710909" y="2560746"/>
            <a:ext cx="1758173" cy="400110"/>
          </a:xfrm>
          <a:prstGeom prst="rect">
            <a:avLst/>
          </a:prstGeom>
          <a:noFill/>
        </p:spPr>
        <p:txBody>
          <a:bodyPr wrap="square" rtlCol="0">
            <a:spAutoFit/>
          </a:bodyPr>
          <a:lstStyle/>
          <a:p>
            <a:r>
              <a:rPr kumimoji="1" lang="zh-CN" altLang="en-US" sz="2000" b="1" dirty="0">
                <a:solidFill>
                  <a:srgbClr val="FF0000"/>
                </a:solidFill>
                <a:latin typeface="+mj-ea"/>
                <a:ea typeface="+mj-ea"/>
              </a:rPr>
              <a:t>执行指令</a:t>
            </a:r>
            <a:r>
              <a:rPr kumimoji="1" lang="en-US" altLang="zh-CN" sz="2000" b="1" dirty="0">
                <a:solidFill>
                  <a:srgbClr val="FF0000"/>
                </a:solidFill>
                <a:latin typeface="+mj-ea"/>
                <a:ea typeface="+mj-ea"/>
              </a:rPr>
              <a:t>1</a:t>
            </a:r>
            <a:r>
              <a:rPr kumimoji="1" lang="zh-CN" altLang="en-US" sz="2000" b="1" dirty="0">
                <a:solidFill>
                  <a:srgbClr val="FF0000"/>
                </a:solidFill>
                <a:latin typeface="+mj-ea"/>
                <a:ea typeface="+mj-ea"/>
              </a:rPr>
              <a:t>后：</a:t>
            </a:r>
          </a:p>
        </p:txBody>
      </p:sp>
    </p:spTree>
    <p:extLst>
      <p:ext uri="{BB962C8B-B14F-4D97-AF65-F5344CB8AC3E}">
        <p14:creationId xmlns:p14="http://schemas.microsoft.com/office/powerpoint/2010/main" val="4821285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灯片编号占位符 3">
            <a:extLst>
              <a:ext uri="{FF2B5EF4-FFF2-40B4-BE49-F238E27FC236}">
                <a16:creationId xmlns:a16="http://schemas.microsoft.com/office/drawing/2014/main" id="{E000966D-D660-5A49-BF0A-3CFEF16792FD}"/>
              </a:ext>
            </a:extLst>
          </p:cNvPr>
          <p:cNvSpPr>
            <a:spLocks noGrp="1"/>
          </p:cNvSpPr>
          <p:nvPr>
            <p:ph type="sldNum" sz="quarter" idx="12"/>
          </p:nvPr>
        </p:nvSpPr>
        <p:spPr/>
        <p:txBody>
          <a:bodyPr/>
          <a:lstStyle/>
          <a:p>
            <a:fld id="{14659731-6BD7-46E7-8D3C-2F3AC07E20B1}" type="slidenum">
              <a:rPr lang="en-US" altLang="zh-CN" smtClean="0"/>
              <a:pPr/>
              <a:t>86</a:t>
            </a:fld>
            <a:endParaRPr lang="en-US" altLang="zh-CN"/>
          </a:p>
        </p:txBody>
      </p:sp>
      <p:sp>
        <p:nvSpPr>
          <p:cNvPr id="60419" name="Rectangle 3"/>
          <p:cNvSpPr>
            <a:spLocks noGrp="1" noChangeArrowheads="1"/>
          </p:cNvSpPr>
          <p:nvPr>
            <p:ph idx="4294967295"/>
          </p:nvPr>
        </p:nvSpPr>
        <p:spPr>
          <a:xfrm>
            <a:off x="376300" y="1253003"/>
            <a:ext cx="8229595" cy="3857311"/>
          </a:xfrm>
        </p:spPr>
        <p:txBody>
          <a:bodyPr/>
          <a:lstStyle/>
          <a:p>
            <a:pPr hangingPunct="1">
              <a:spcBef>
                <a:spcPts val="600"/>
              </a:spcBef>
            </a:pPr>
            <a:r>
              <a:rPr lang="zh-CN" altLang="en-US" sz="2800" dirty="0"/>
              <a:t>例：将 </a:t>
            </a:r>
            <a:r>
              <a:rPr lang="en-US" altLang="zh-CN" sz="2800" i="1" dirty="0">
                <a:latin typeface="Consolas" panose="020B0609020204030204" pitchFamily="49" charset="0"/>
              </a:rPr>
              <a:t>$s1</a:t>
            </a:r>
            <a:r>
              <a:rPr lang="zh-CN" altLang="en-US" sz="2800" dirty="0"/>
              <a:t>、</a:t>
            </a:r>
            <a:r>
              <a:rPr lang="en-US" altLang="zh-CN" sz="2800" i="1" dirty="0">
                <a:latin typeface="Consolas" panose="020B0609020204030204" pitchFamily="49" charset="0"/>
              </a:rPr>
              <a:t>$s2</a:t>
            </a:r>
            <a:r>
              <a:rPr lang="zh-CN" altLang="en-US" sz="2800" dirty="0"/>
              <a:t>、</a:t>
            </a:r>
            <a:r>
              <a:rPr lang="en-US" altLang="zh-CN" sz="2800" i="1" dirty="0">
                <a:latin typeface="Consolas" panose="020B0609020204030204" pitchFamily="49" charset="0"/>
              </a:rPr>
              <a:t>$s3 </a:t>
            </a:r>
            <a:r>
              <a:rPr lang="zh-CN" altLang="en-US" sz="2800" dirty="0"/>
              <a:t>寄存器的内容压入栈</a:t>
            </a:r>
            <a:endParaRPr lang="en-US" altLang="zh-CN" sz="2800" dirty="0"/>
          </a:p>
          <a:p>
            <a:pPr lvl="1" hangingPunct="1">
              <a:spcBef>
                <a:spcPts val="600"/>
              </a:spcBef>
              <a:buFont typeface="Wingdings" pitchFamily="2" charset="2"/>
              <a:buNone/>
            </a:pPr>
            <a:r>
              <a:rPr lang="en-US" altLang="zh-CN" sz="2400" i="1" dirty="0">
                <a:latin typeface="Consolas" panose="020B0609020204030204" pitchFamily="49" charset="0"/>
              </a:rPr>
              <a:t>	0. </a:t>
            </a:r>
            <a:r>
              <a:rPr lang="en-US" altLang="zh-CN" sz="2400" i="1" dirty="0" err="1">
                <a:latin typeface="Consolas" panose="020B0609020204030204" pitchFamily="49" charset="0"/>
              </a:rPr>
              <a:t>addi</a:t>
            </a:r>
            <a:r>
              <a:rPr lang="en-US" altLang="zh-CN" sz="2400" i="1" dirty="0">
                <a:latin typeface="Consolas" panose="020B0609020204030204" pitchFamily="49" charset="0"/>
              </a:rPr>
              <a:t> $</a:t>
            </a:r>
            <a:r>
              <a:rPr lang="en-US" altLang="zh-CN" sz="2400" i="1" dirty="0" err="1">
                <a:latin typeface="Consolas" panose="020B0609020204030204" pitchFamily="49" charset="0"/>
              </a:rPr>
              <a:t>sp</a:t>
            </a:r>
            <a:r>
              <a:rPr lang="en-US" altLang="zh-CN" sz="2400" i="1" dirty="0">
                <a:latin typeface="Consolas" panose="020B0609020204030204" pitchFamily="49" charset="0"/>
              </a:rPr>
              <a:t>, $</a:t>
            </a:r>
            <a:r>
              <a:rPr lang="en-US" altLang="zh-CN" sz="2400" i="1" dirty="0" err="1">
                <a:latin typeface="Consolas" panose="020B0609020204030204" pitchFamily="49" charset="0"/>
              </a:rPr>
              <a:t>sp</a:t>
            </a:r>
            <a:r>
              <a:rPr lang="en-US" altLang="zh-CN" sz="2400" i="1" dirty="0">
                <a:latin typeface="Consolas" panose="020B0609020204030204" pitchFamily="49" charset="0"/>
              </a:rPr>
              <a:t>, -12</a:t>
            </a:r>
          </a:p>
          <a:p>
            <a:pPr lvl="1" hangingPunct="1">
              <a:spcBef>
                <a:spcPts val="600"/>
              </a:spcBef>
              <a:buFont typeface="Wingdings" pitchFamily="2" charset="2"/>
              <a:buNone/>
            </a:pPr>
            <a:r>
              <a:rPr lang="en-US" altLang="zh-CN" sz="2400" i="1" dirty="0">
                <a:latin typeface="Consolas" panose="020B0609020204030204" pitchFamily="49" charset="0"/>
              </a:rPr>
              <a:t>	1. </a:t>
            </a:r>
            <a:r>
              <a:rPr lang="en-US" altLang="zh-CN" sz="2400" i="1" dirty="0" err="1">
                <a:latin typeface="Consolas" panose="020B0609020204030204" pitchFamily="49" charset="0"/>
              </a:rPr>
              <a:t>sw</a:t>
            </a:r>
            <a:r>
              <a:rPr lang="en-US" altLang="zh-CN" sz="2400" i="1" dirty="0">
                <a:latin typeface="Consolas" panose="020B0609020204030204" pitchFamily="49" charset="0"/>
              </a:rPr>
              <a:t>   $s1, 8($</a:t>
            </a:r>
            <a:r>
              <a:rPr lang="en-US" altLang="zh-CN" sz="2400" i="1" dirty="0" err="1">
                <a:latin typeface="Consolas" panose="020B0609020204030204" pitchFamily="49" charset="0"/>
              </a:rPr>
              <a:t>sp</a:t>
            </a:r>
            <a:r>
              <a:rPr lang="en-US" altLang="zh-CN" sz="2400" i="1" dirty="0">
                <a:latin typeface="Consolas" panose="020B0609020204030204" pitchFamily="49" charset="0"/>
              </a:rPr>
              <a:t>)</a:t>
            </a:r>
          </a:p>
          <a:p>
            <a:pPr lvl="1" hangingPunct="1">
              <a:spcBef>
                <a:spcPts val="600"/>
              </a:spcBef>
              <a:buFont typeface="Wingdings" pitchFamily="2" charset="2"/>
              <a:buNone/>
            </a:pPr>
            <a:r>
              <a:rPr lang="en-US" altLang="zh-CN" sz="2400" i="1" dirty="0">
                <a:latin typeface="Consolas" panose="020B0609020204030204" pitchFamily="49" charset="0"/>
              </a:rPr>
              <a:t>	2. </a:t>
            </a:r>
            <a:r>
              <a:rPr lang="en-US" altLang="zh-CN" sz="2400" i="1" dirty="0" err="1">
                <a:latin typeface="Consolas" panose="020B0609020204030204" pitchFamily="49" charset="0"/>
              </a:rPr>
              <a:t>sw</a:t>
            </a:r>
            <a:r>
              <a:rPr lang="en-US" altLang="zh-CN" sz="2400" i="1" dirty="0">
                <a:latin typeface="Consolas" panose="020B0609020204030204" pitchFamily="49" charset="0"/>
              </a:rPr>
              <a:t>   $s2, 4($</a:t>
            </a:r>
            <a:r>
              <a:rPr lang="en-US" altLang="zh-CN" sz="2400" i="1" dirty="0" err="1">
                <a:latin typeface="Consolas" panose="020B0609020204030204" pitchFamily="49" charset="0"/>
              </a:rPr>
              <a:t>sp</a:t>
            </a:r>
            <a:r>
              <a:rPr lang="en-US" altLang="zh-CN" sz="2400" i="1" dirty="0">
                <a:latin typeface="Consolas" panose="020B0609020204030204" pitchFamily="49" charset="0"/>
              </a:rPr>
              <a:t>)</a:t>
            </a:r>
          </a:p>
          <a:p>
            <a:pPr lvl="1" hangingPunct="1">
              <a:spcBef>
                <a:spcPts val="600"/>
              </a:spcBef>
              <a:buFont typeface="Wingdings" pitchFamily="2" charset="2"/>
              <a:buNone/>
            </a:pPr>
            <a:r>
              <a:rPr lang="en-US" altLang="zh-CN" sz="2400" i="1" dirty="0">
                <a:latin typeface="Consolas" panose="020B0609020204030204" pitchFamily="49" charset="0"/>
              </a:rPr>
              <a:t>	3. </a:t>
            </a:r>
            <a:r>
              <a:rPr lang="en-US" altLang="zh-CN" sz="2400" i="1" dirty="0" err="1">
                <a:latin typeface="Consolas" panose="020B0609020204030204" pitchFamily="49" charset="0"/>
              </a:rPr>
              <a:t>sw</a:t>
            </a:r>
            <a:r>
              <a:rPr lang="en-US" altLang="zh-CN" sz="2400" i="1" dirty="0">
                <a:latin typeface="Consolas" panose="020B0609020204030204" pitchFamily="49" charset="0"/>
              </a:rPr>
              <a:t>   $s3, 0($</a:t>
            </a:r>
            <a:r>
              <a:rPr lang="en-US" altLang="zh-CN" sz="2400" i="1" dirty="0" err="1">
                <a:latin typeface="Consolas" panose="020B0609020204030204" pitchFamily="49" charset="0"/>
              </a:rPr>
              <a:t>sp</a:t>
            </a:r>
            <a:r>
              <a:rPr lang="en-US" altLang="zh-CN" sz="2400" i="1" dirty="0">
                <a:latin typeface="Consolas" panose="020B0609020204030204" pitchFamily="49" charset="0"/>
              </a:rPr>
              <a:t>)</a:t>
            </a:r>
          </a:p>
          <a:p>
            <a:pPr hangingPunct="1"/>
            <a:endParaRPr lang="en-US" altLang="zh-CN" dirty="0"/>
          </a:p>
          <a:p>
            <a:pPr hangingPunct="1"/>
            <a:endParaRPr lang="en-US" altLang="zh-CN" dirty="0"/>
          </a:p>
        </p:txBody>
      </p:sp>
      <p:sp>
        <p:nvSpPr>
          <p:cNvPr id="60442" name="TextBox 1"/>
          <p:cNvSpPr txBox="1">
            <a:spLocks noChangeArrowheads="1"/>
          </p:cNvSpPr>
          <p:nvPr/>
        </p:nvSpPr>
        <p:spPr bwMode="auto">
          <a:xfrm>
            <a:off x="880999" y="4178352"/>
            <a:ext cx="2393573" cy="1200329"/>
          </a:xfrm>
          <a:prstGeom prst="rect">
            <a:avLst/>
          </a:prstGeom>
          <a:solidFill>
            <a:schemeClr val="bg1">
              <a:lumMod val="85000"/>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r>
              <a:rPr lang="zh-CN" altLang="en-US" sz="2400" dirty="0">
                <a:latin typeface="+mj-ea"/>
                <a:ea typeface="+mj-ea"/>
              </a:rPr>
              <a:t>习惯上，栈按照</a:t>
            </a:r>
            <a:r>
              <a:rPr lang="zh-CN" altLang="en-US" sz="2400" dirty="0">
                <a:solidFill>
                  <a:srgbClr val="0432FF"/>
                </a:solidFill>
                <a:latin typeface="+mj-ea"/>
                <a:ea typeface="+mj-ea"/>
              </a:rPr>
              <a:t>从高到低</a:t>
            </a:r>
            <a:r>
              <a:rPr lang="zh-CN" altLang="en-US" sz="2400" dirty="0">
                <a:latin typeface="+mj-ea"/>
                <a:ea typeface="+mj-ea"/>
              </a:rPr>
              <a:t>的地址顺序增长</a:t>
            </a:r>
          </a:p>
        </p:txBody>
      </p:sp>
      <p:grpSp>
        <p:nvGrpSpPr>
          <p:cNvPr id="4" name="组合 3">
            <a:extLst>
              <a:ext uri="{FF2B5EF4-FFF2-40B4-BE49-F238E27FC236}">
                <a16:creationId xmlns:a16="http://schemas.microsoft.com/office/drawing/2014/main" id="{1C58DB9E-FF86-1537-1F7F-49C4940FAB40}"/>
              </a:ext>
            </a:extLst>
          </p:cNvPr>
          <p:cNvGrpSpPr/>
          <p:nvPr/>
        </p:nvGrpSpPr>
        <p:grpSpPr>
          <a:xfrm>
            <a:off x="3979620" y="3261468"/>
            <a:ext cx="5130323" cy="3379461"/>
            <a:chOff x="3877245" y="3294271"/>
            <a:chExt cx="5255572" cy="3461965"/>
          </a:xfrm>
        </p:grpSpPr>
        <p:sp>
          <p:nvSpPr>
            <p:cNvPr id="60427" name="Text Box 12"/>
            <p:cNvSpPr txBox="1">
              <a:spLocks noChangeArrowheads="1"/>
            </p:cNvSpPr>
            <p:nvPr/>
          </p:nvSpPr>
          <p:spPr bwMode="auto">
            <a:xfrm>
              <a:off x="4093289" y="6345700"/>
              <a:ext cx="983641" cy="410536"/>
            </a:xfrm>
            <a:prstGeom prst="rect">
              <a:avLst/>
            </a:prstGeom>
            <a:solidFill>
              <a:schemeClr val="bg1">
                <a:lumMod val="85000"/>
              </a:schemeClr>
            </a:solidFill>
            <a:ln>
              <a:noFill/>
            </a:ln>
            <a:effectLst/>
            <a:extLs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r>
                <a:rPr lang="zh-CN" altLang="en-US" sz="2000" dirty="0">
                  <a:latin typeface="+mj-ea"/>
                  <a:ea typeface="+mj-ea"/>
                </a:rPr>
                <a:t>压栈前</a:t>
              </a:r>
            </a:p>
          </p:txBody>
        </p:sp>
        <p:sp>
          <p:nvSpPr>
            <p:cNvPr id="60420" name="Line 5"/>
            <p:cNvSpPr>
              <a:spLocks noChangeShapeType="1"/>
            </p:cNvSpPr>
            <p:nvPr/>
          </p:nvSpPr>
          <p:spPr bwMode="auto">
            <a:xfrm>
              <a:off x="3880420" y="3527074"/>
              <a:ext cx="0" cy="2678113"/>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21" name="Line 6"/>
            <p:cNvSpPr>
              <a:spLocks noChangeShapeType="1"/>
            </p:cNvSpPr>
            <p:nvPr/>
          </p:nvSpPr>
          <p:spPr bwMode="auto">
            <a:xfrm>
              <a:off x="5201220" y="3523899"/>
              <a:ext cx="0" cy="2678113"/>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22" name="Text Box 7"/>
            <p:cNvSpPr txBox="1">
              <a:spLocks noChangeArrowheads="1"/>
            </p:cNvSpPr>
            <p:nvPr/>
          </p:nvSpPr>
          <p:spPr bwMode="auto">
            <a:xfrm>
              <a:off x="5213920" y="3297446"/>
              <a:ext cx="1141287" cy="47359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r>
                <a:rPr lang="zh-CN" altLang="en-US" sz="2400" dirty="0">
                  <a:latin typeface="+mj-ea"/>
                  <a:ea typeface="+mj-ea"/>
                </a:rPr>
                <a:t>高地址</a:t>
              </a:r>
            </a:p>
          </p:txBody>
        </p:sp>
        <p:sp>
          <p:nvSpPr>
            <p:cNvPr id="60423" name="Text Box 8"/>
            <p:cNvSpPr txBox="1">
              <a:spLocks noChangeArrowheads="1"/>
            </p:cNvSpPr>
            <p:nvPr/>
          </p:nvSpPr>
          <p:spPr bwMode="auto">
            <a:xfrm>
              <a:off x="5198045" y="5939754"/>
              <a:ext cx="1141287" cy="47359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r>
                <a:rPr lang="zh-CN" altLang="en-US" sz="2400" dirty="0">
                  <a:latin typeface="+mj-ea"/>
                  <a:ea typeface="+mj-ea"/>
                </a:rPr>
                <a:t>低地址</a:t>
              </a:r>
            </a:p>
          </p:txBody>
        </p:sp>
        <p:sp>
          <p:nvSpPr>
            <p:cNvPr id="60424" name="Line 9"/>
            <p:cNvSpPr>
              <a:spLocks noChangeShapeType="1"/>
            </p:cNvSpPr>
            <p:nvPr/>
          </p:nvSpPr>
          <p:spPr bwMode="auto">
            <a:xfrm>
              <a:off x="3877245" y="4166837"/>
              <a:ext cx="1320800"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25" name="Rectangle 10"/>
            <p:cNvSpPr>
              <a:spLocks noChangeArrowheads="1"/>
            </p:cNvSpPr>
            <p:nvPr/>
          </p:nvSpPr>
          <p:spPr bwMode="auto">
            <a:xfrm>
              <a:off x="5446904" y="3773769"/>
              <a:ext cx="712688" cy="47359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p>
              <a:r>
                <a:rPr lang="en-US" altLang="zh-CN" sz="2400" b="1" i="1">
                  <a:solidFill>
                    <a:srgbClr val="0432FF"/>
                  </a:solidFill>
                  <a:latin typeface="Consolas" panose="020B0609020204030204" pitchFamily="49" charset="0"/>
                </a:rPr>
                <a:t>$</a:t>
              </a:r>
              <a:r>
                <a:rPr lang="en-US" altLang="zh-CN" sz="2400" b="1" i="1" err="1">
                  <a:solidFill>
                    <a:srgbClr val="0432FF"/>
                  </a:solidFill>
                  <a:latin typeface="Consolas" panose="020B0609020204030204" pitchFamily="49" charset="0"/>
                </a:rPr>
                <a:t>sp</a:t>
              </a:r>
              <a:endParaRPr lang="en-US" altLang="zh-CN" sz="2400" b="1" i="1">
                <a:solidFill>
                  <a:srgbClr val="0432FF"/>
                </a:solidFill>
                <a:latin typeface="Consolas" panose="020B0609020204030204" pitchFamily="49" charset="0"/>
              </a:endParaRPr>
            </a:p>
          </p:txBody>
        </p:sp>
        <p:sp>
          <p:nvSpPr>
            <p:cNvPr id="60426" name="Line 11"/>
            <p:cNvSpPr>
              <a:spLocks noChangeShapeType="1"/>
            </p:cNvSpPr>
            <p:nvPr/>
          </p:nvSpPr>
          <p:spPr bwMode="auto">
            <a:xfrm flipH="1">
              <a:off x="5198045" y="4016024"/>
              <a:ext cx="287338" cy="0"/>
            </a:xfrm>
            <a:prstGeom prst="line">
              <a:avLst/>
            </a:prstGeom>
            <a:noFill/>
            <a:ln w="28575">
              <a:solidFill>
                <a:schemeClr val="tx1"/>
              </a:solidFill>
              <a:round/>
              <a:headEnd type="none" w="sm" len="sm"/>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28" name="Line 13"/>
            <p:cNvSpPr>
              <a:spLocks noChangeShapeType="1"/>
            </p:cNvSpPr>
            <p:nvPr/>
          </p:nvSpPr>
          <p:spPr bwMode="auto">
            <a:xfrm>
              <a:off x="6439470" y="3523899"/>
              <a:ext cx="0" cy="2678113"/>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29" name="Line 14"/>
            <p:cNvSpPr>
              <a:spLocks noChangeShapeType="1"/>
            </p:cNvSpPr>
            <p:nvPr/>
          </p:nvSpPr>
          <p:spPr bwMode="auto">
            <a:xfrm>
              <a:off x="7760270" y="3520724"/>
              <a:ext cx="0" cy="2678113"/>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30" name="Text Box 15"/>
            <p:cNvSpPr txBox="1">
              <a:spLocks noChangeArrowheads="1"/>
            </p:cNvSpPr>
            <p:nvPr/>
          </p:nvSpPr>
          <p:spPr bwMode="auto">
            <a:xfrm>
              <a:off x="7772970" y="3294271"/>
              <a:ext cx="1141287" cy="47359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r>
                <a:rPr lang="zh-CN" altLang="en-US" sz="2400">
                  <a:latin typeface="+mj-ea"/>
                  <a:ea typeface="+mj-ea"/>
                </a:rPr>
                <a:t>高地址</a:t>
              </a:r>
            </a:p>
          </p:txBody>
        </p:sp>
        <p:sp>
          <p:nvSpPr>
            <p:cNvPr id="60431" name="Text Box 16"/>
            <p:cNvSpPr txBox="1">
              <a:spLocks noChangeArrowheads="1"/>
            </p:cNvSpPr>
            <p:nvPr/>
          </p:nvSpPr>
          <p:spPr bwMode="auto">
            <a:xfrm>
              <a:off x="7757095" y="5936579"/>
              <a:ext cx="1141287" cy="47359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r>
                <a:rPr lang="zh-CN" altLang="en-US" sz="2400">
                  <a:latin typeface="+mj-ea"/>
                  <a:ea typeface="+mj-ea"/>
                </a:rPr>
                <a:t>低地址</a:t>
              </a:r>
            </a:p>
          </p:txBody>
        </p:sp>
        <p:sp>
          <p:nvSpPr>
            <p:cNvPr id="60432" name="Line 17"/>
            <p:cNvSpPr>
              <a:spLocks noChangeShapeType="1"/>
            </p:cNvSpPr>
            <p:nvPr/>
          </p:nvSpPr>
          <p:spPr bwMode="auto">
            <a:xfrm>
              <a:off x="6436295" y="4163662"/>
              <a:ext cx="1320800"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33" name="Rectangle 18"/>
            <p:cNvSpPr>
              <a:spLocks noChangeArrowheads="1"/>
            </p:cNvSpPr>
            <p:nvPr/>
          </p:nvSpPr>
          <p:spPr bwMode="auto">
            <a:xfrm>
              <a:off x="8071996" y="4737370"/>
              <a:ext cx="712688" cy="47359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p>
              <a:r>
                <a:rPr lang="en-US" altLang="zh-CN" sz="2400" b="1" i="1">
                  <a:solidFill>
                    <a:srgbClr val="0432FF"/>
                  </a:solidFill>
                  <a:latin typeface="Consolas" panose="020B0609020204030204" pitchFamily="49" charset="0"/>
                </a:rPr>
                <a:t>$</a:t>
              </a:r>
              <a:r>
                <a:rPr lang="en-US" altLang="zh-CN" sz="2400" b="1" i="1" err="1">
                  <a:solidFill>
                    <a:srgbClr val="0432FF"/>
                  </a:solidFill>
                  <a:latin typeface="Consolas" panose="020B0609020204030204" pitchFamily="49" charset="0"/>
                </a:rPr>
                <a:t>sp</a:t>
              </a:r>
              <a:endParaRPr lang="en-US" altLang="zh-CN" sz="2400" b="1" i="1">
                <a:solidFill>
                  <a:srgbClr val="0432FF"/>
                </a:solidFill>
                <a:latin typeface="Consolas" panose="020B0609020204030204" pitchFamily="49" charset="0"/>
              </a:endParaRPr>
            </a:p>
          </p:txBody>
        </p:sp>
        <p:sp>
          <p:nvSpPr>
            <p:cNvPr id="60434" name="Line 19"/>
            <p:cNvSpPr>
              <a:spLocks noChangeShapeType="1"/>
            </p:cNvSpPr>
            <p:nvPr/>
          </p:nvSpPr>
          <p:spPr bwMode="auto">
            <a:xfrm flipH="1">
              <a:off x="7787258" y="4968524"/>
              <a:ext cx="287338" cy="0"/>
            </a:xfrm>
            <a:prstGeom prst="line">
              <a:avLst/>
            </a:prstGeom>
            <a:noFill/>
            <a:ln w="28575">
              <a:solidFill>
                <a:schemeClr val="tx1"/>
              </a:solidFill>
              <a:round/>
              <a:headEnd type="none" w="sm" len="sm"/>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35" name="Text Box 20"/>
            <p:cNvSpPr txBox="1">
              <a:spLocks noChangeArrowheads="1"/>
            </p:cNvSpPr>
            <p:nvPr/>
          </p:nvSpPr>
          <p:spPr bwMode="auto">
            <a:xfrm>
              <a:off x="6642019" y="6342079"/>
              <a:ext cx="983641" cy="410536"/>
            </a:xfrm>
            <a:prstGeom prst="rect">
              <a:avLst/>
            </a:prstGeom>
            <a:solidFill>
              <a:schemeClr val="bg1">
                <a:lumMod val="85000"/>
              </a:schemeClr>
            </a:solidFill>
            <a:ln>
              <a:noFill/>
            </a:ln>
            <a:effectLst/>
            <a:extLs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defPPr>
                <a:defRPr lang="zh-CN"/>
              </a:defPPr>
              <a:lvl1pPr eaLnBrk="1" hangingPunct="1">
                <a:defRPr sz="2000">
                  <a:solidFill>
                    <a:srgbClr val="0432FF"/>
                  </a:solidFill>
                  <a:latin typeface="+mj-ea"/>
                  <a:ea typeface="+mj-ea"/>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zh-CN" altLang="en-US" b="1" dirty="0">
                  <a:solidFill>
                    <a:schemeClr val="tx1"/>
                  </a:solidFill>
                </a:rPr>
                <a:t>压栈后</a:t>
              </a:r>
            </a:p>
          </p:txBody>
        </p:sp>
        <p:sp>
          <p:nvSpPr>
            <p:cNvPr id="60436" name="Line 21"/>
            <p:cNvSpPr>
              <a:spLocks noChangeShapeType="1"/>
            </p:cNvSpPr>
            <p:nvPr/>
          </p:nvSpPr>
          <p:spPr bwMode="auto">
            <a:xfrm>
              <a:off x="6429945" y="4477987"/>
              <a:ext cx="1320800"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37" name="Line 22"/>
            <p:cNvSpPr>
              <a:spLocks noChangeShapeType="1"/>
            </p:cNvSpPr>
            <p:nvPr/>
          </p:nvSpPr>
          <p:spPr bwMode="auto">
            <a:xfrm>
              <a:off x="6436295" y="4789137"/>
              <a:ext cx="1320800"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38" name="Line 23"/>
            <p:cNvSpPr>
              <a:spLocks noChangeShapeType="1"/>
            </p:cNvSpPr>
            <p:nvPr/>
          </p:nvSpPr>
          <p:spPr bwMode="auto">
            <a:xfrm>
              <a:off x="6433120" y="5119337"/>
              <a:ext cx="1320800"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41" name="Rectangle 26"/>
            <p:cNvSpPr>
              <a:spLocks noChangeArrowheads="1"/>
            </p:cNvSpPr>
            <p:nvPr/>
          </p:nvSpPr>
          <p:spPr bwMode="auto">
            <a:xfrm>
              <a:off x="6451547" y="4106426"/>
              <a:ext cx="1303857" cy="37900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p>
              <a:r>
                <a:rPr lang="en-US" altLang="zh-CN" sz="1800" b="1" dirty="0">
                  <a:solidFill>
                    <a:srgbClr val="0432FF"/>
                  </a:solidFill>
                  <a:latin typeface="Consolas" panose="020B0609020204030204" pitchFamily="49" charset="0"/>
                  <a:ea typeface="+mj-ea"/>
                  <a:cs typeface="Consolas" panose="020B0609020204030204" pitchFamily="49" charset="0"/>
                </a:rPr>
                <a:t>$s1</a:t>
              </a:r>
              <a:r>
                <a:rPr lang="zh-CN" altLang="en-US" sz="1800" b="1" dirty="0">
                  <a:solidFill>
                    <a:srgbClr val="0432FF"/>
                  </a:solidFill>
                  <a:latin typeface="Consolas" panose="020B0609020204030204" pitchFamily="49" charset="0"/>
                  <a:ea typeface="+mj-ea"/>
                  <a:cs typeface="Consolas" panose="020B0609020204030204" pitchFamily="49" charset="0"/>
                </a:rPr>
                <a:t>的内容</a:t>
              </a:r>
            </a:p>
          </p:txBody>
        </p:sp>
        <p:sp>
          <p:nvSpPr>
            <p:cNvPr id="32" name="Rectangle 18">
              <a:extLst>
                <a:ext uri="{FF2B5EF4-FFF2-40B4-BE49-F238E27FC236}">
                  <a16:creationId xmlns:a16="http://schemas.microsoft.com/office/drawing/2014/main" id="{38EED6C1-7B84-CB45-A674-F26B81FA78D8}"/>
                </a:ext>
              </a:extLst>
            </p:cNvPr>
            <p:cNvSpPr>
              <a:spLocks noChangeArrowheads="1"/>
            </p:cNvSpPr>
            <p:nvPr/>
          </p:nvSpPr>
          <p:spPr bwMode="auto">
            <a:xfrm>
              <a:off x="8071996" y="4390640"/>
              <a:ext cx="1060821" cy="47359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p>
              <a:r>
                <a:rPr lang="en-US" altLang="zh-CN" sz="2400" b="1" i="1" dirty="0">
                  <a:solidFill>
                    <a:srgbClr val="0432FF"/>
                  </a:solidFill>
                  <a:latin typeface="Consolas" panose="020B0609020204030204" pitchFamily="49" charset="0"/>
                </a:rPr>
                <a:t>$sp+4</a:t>
              </a:r>
            </a:p>
          </p:txBody>
        </p:sp>
        <p:sp>
          <p:nvSpPr>
            <p:cNvPr id="33" name="Line 19">
              <a:extLst>
                <a:ext uri="{FF2B5EF4-FFF2-40B4-BE49-F238E27FC236}">
                  <a16:creationId xmlns:a16="http://schemas.microsoft.com/office/drawing/2014/main" id="{1331A6B9-673F-FD48-9E89-20351115AF39}"/>
                </a:ext>
              </a:extLst>
            </p:cNvPr>
            <p:cNvSpPr>
              <a:spLocks noChangeShapeType="1"/>
            </p:cNvSpPr>
            <p:nvPr/>
          </p:nvSpPr>
          <p:spPr bwMode="auto">
            <a:xfrm flipH="1">
              <a:off x="7793058" y="4621794"/>
              <a:ext cx="287338" cy="0"/>
            </a:xfrm>
            <a:prstGeom prst="line">
              <a:avLst/>
            </a:prstGeom>
            <a:noFill/>
            <a:ln w="28575">
              <a:solidFill>
                <a:schemeClr val="tx1"/>
              </a:solidFill>
              <a:round/>
              <a:headEnd type="none" w="sm" len="sm"/>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5" name="Rectangle 26">
              <a:extLst>
                <a:ext uri="{FF2B5EF4-FFF2-40B4-BE49-F238E27FC236}">
                  <a16:creationId xmlns:a16="http://schemas.microsoft.com/office/drawing/2014/main" id="{5F4CBF55-6460-34A8-EB8C-A750BE71EAF7}"/>
                </a:ext>
              </a:extLst>
            </p:cNvPr>
            <p:cNvSpPr>
              <a:spLocks noChangeArrowheads="1"/>
            </p:cNvSpPr>
            <p:nvPr/>
          </p:nvSpPr>
          <p:spPr bwMode="auto">
            <a:xfrm>
              <a:off x="6436295" y="4419163"/>
              <a:ext cx="1303857" cy="37900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p>
              <a:r>
                <a:rPr lang="en-US" altLang="zh-CN" sz="1800" b="1" dirty="0">
                  <a:solidFill>
                    <a:srgbClr val="0432FF"/>
                  </a:solidFill>
                  <a:latin typeface="Consolas" panose="020B0609020204030204" pitchFamily="49" charset="0"/>
                  <a:ea typeface="+mj-ea"/>
                  <a:cs typeface="Consolas" panose="020B0609020204030204" pitchFamily="49" charset="0"/>
                </a:rPr>
                <a:t>$s2</a:t>
              </a:r>
              <a:r>
                <a:rPr lang="zh-CN" altLang="en-US" sz="1800" b="1" dirty="0">
                  <a:solidFill>
                    <a:srgbClr val="0432FF"/>
                  </a:solidFill>
                  <a:latin typeface="Consolas" panose="020B0609020204030204" pitchFamily="49" charset="0"/>
                  <a:ea typeface="+mj-ea"/>
                  <a:cs typeface="Consolas" panose="020B0609020204030204" pitchFamily="49" charset="0"/>
                </a:rPr>
                <a:t>的内容</a:t>
              </a:r>
            </a:p>
          </p:txBody>
        </p:sp>
      </p:grpSp>
      <p:sp>
        <p:nvSpPr>
          <p:cNvPr id="3" name="Title 4">
            <a:extLst>
              <a:ext uri="{FF2B5EF4-FFF2-40B4-BE49-F238E27FC236}">
                <a16:creationId xmlns:a16="http://schemas.microsoft.com/office/drawing/2014/main" id="{74B8D014-F141-E326-66FB-DD00BF371DB9}"/>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kern="1200" dirty="0">
                <a:cs typeface="+mn-cs"/>
              </a:rPr>
              <a:t>指令系统：栈操作</a:t>
            </a:r>
            <a:endParaRPr lang="en-CN" kern="0" dirty="0"/>
          </a:p>
        </p:txBody>
      </p:sp>
      <p:sp>
        <p:nvSpPr>
          <p:cNvPr id="6" name="文本框 5">
            <a:extLst>
              <a:ext uri="{FF2B5EF4-FFF2-40B4-BE49-F238E27FC236}">
                <a16:creationId xmlns:a16="http://schemas.microsoft.com/office/drawing/2014/main" id="{A25D2791-303E-7FA5-F932-B25138C3818D}"/>
              </a:ext>
            </a:extLst>
          </p:cNvPr>
          <p:cNvSpPr txBox="1"/>
          <p:nvPr/>
        </p:nvSpPr>
        <p:spPr>
          <a:xfrm>
            <a:off x="6710909" y="2560746"/>
            <a:ext cx="1758173" cy="400110"/>
          </a:xfrm>
          <a:prstGeom prst="rect">
            <a:avLst/>
          </a:prstGeom>
          <a:noFill/>
        </p:spPr>
        <p:txBody>
          <a:bodyPr wrap="square" rtlCol="0">
            <a:spAutoFit/>
          </a:bodyPr>
          <a:lstStyle/>
          <a:p>
            <a:r>
              <a:rPr kumimoji="1" lang="zh-CN" altLang="en-US" sz="2000" b="1" dirty="0">
                <a:solidFill>
                  <a:srgbClr val="FF0000"/>
                </a:solidFill>
                <a:latin typeface="+mj-ea"/>
                <a:ea typeface="+mj-ea"/>
              </a:rPr>
              <a:t>执行指令</a:t>
            </a:r>
            <a:r>
              <a:rPr kumimoji="1" lang="en-US" altLang="zh-CN" sz="2000" b="1" dirty="0">
                <a:solidFill>
                  <a:srgbClr val="FF0000"/>
                </a:solidFill>
                <a:latin typeface="+mj-ea"/>
                <a:ea typeface="+mj-ea"/>
              </a:rPr>
              <a:t>2</a:t>
            </a:r>
            <a:r>
              <a:rPr kumimoji="1" lang="zh-CN" altLang="en-US" sz="2000" b="1" dirty="0">
                <a:solidFill>
                  <a:srgbClr val="FF0000"/>
                </a:solidFill>
                <a:latin typeface="+mj-ea"/>
                <a:ea typeface="+mj-ea"/>
              </a:rPr>
              <a:t>后：</a:t>
            </a:r>
          </a:p>
        </p:txBody>
      </p:sp>
    </p:spTree>
    <p:extLst>
      <p:ext uri="{BB962C8B-B14F-4D97-AF65-F5344CB8AC3E}">
        <p14:creationId xmlns:p14="http://schemas.microsoft.com/office/powerpoint/2010/main" val="32859284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灯片编号占位符 3">
            <a:extLst>
              <a:ext uri="{FF2B5EF4-FFF2-40B4-BE49-F238E27FC236}">
                <a16:creationId xmlns:a16="http://schemas.microsoft.com/office/drawing/2014/main" id="{E000966D-D660-5A49-BF0A-3CFEF16792FD}"/>
              </a:ext>
            </a:extLst>
          </p:cNvPr>
          <p:cNvSpPr>
            <a:spLocks noGrp="1"/>
          </p:cNvSpPr>
          <p:nvPr>
            <p:ph type="sldNum" sz="quarter" idx="12"/>
          </p:nvPr>
        </p:nvSpPr>
        <p:spPr/>
        <p:txBody>
          <a:bodyPr/>
          <a:lstStyle/>
          <a:p>
            <a:fld id="{14659731-6BD7-46E7-8D3C-2F3AC07E20B1}" type="slidenum">
              <a:rPr lang="en-US" altLang="zh-CN" smtClean="0"/>
              <a:pPr/>
              <a:t>87</a:t>
            </a:fld>
            <a:endParaRPr lang="en-US" altLang="zh-CN"/>
          </a:p>
        </p:txBody>
      </p:sp>
      <p:sp>
        <p:nvSpPr>
          <p:cNvPr id="60419" name="Rectangle 3"/>
          <p:cNvSpPr>
            <a:spLocks noGrp="1" noChangeArrowheads="1"/>
          </p:cNvSpPr>
          <p:nvPr>
            <p:ph idx="4294967295"/>
          </p:nvPr>
        </p:nvSpPr>
        <p:spPr>
          <a:xfrm>
            <a:off x="376300" y="1253003"/>
            <a:ext cx="8229595" cy="3857311"/>
          </a:xfrm>
        </p:spPr>
        <p:txBody>
          <a:bodyPr/>
          <a:lstStyle/>
          <a:p>
            <a:pPr hangingPunct="1">
              <a:spcBef>
                <a:spcPts val="600"/>
              </a:spcBef>
            </a:pPr>
            <a:r>
              <a:rPr lang="zh-CN" altLang="en-US" sz="2800" dirty="0"/>
              <a:t>例：将 </a:t>
            </a:r>
            <a:r>
              <a:rPr lang="en-US" altLang="zh-CN" sz="2800" i="1" dirty="0">
                <a:latin typeface="Consolas" panose="020B0609020204030204" pitchFamily="49" charset="0"/>
              </a:rPr>
              <a:t>$s1</a:t>
            </a:r>
            <a:r>
              <a:rPr lang="zh-CN" altLang="en-US" sz="2800" dirty="0"/>
              <a:t>、</a:t>
            </a:r>
            <a:r>
              <a:rPr lang="en-US" altLang="zh-CN" sz="2800" i="1" dirty="0">
                <a:latin typeface="Consolas" panose="020B0609020204030204" pitchFamily="49" charset="0"/>
              </a:rPr>
              <a:t>$s2</a:t>
            </a:r>
            <a:r>
              <a:rPr lang="zh-CN" altLang="en-US" sz="2800" dirty="0"/>
              <a:t>、</a:t>
            </a:r>
            <a:r>
              <a:rPr lang="en-US" altLang="zh-CN" sz="2800" i="1" dirty="0">
                <a:latin typeface="Consolas" panose="020B0609020204030204" pitchFamily="49" charset="0"/>
              </a:rPr>
              <a:t>$s3 </a:t>
            </a:r>
            <a:r>
              <a:rPr lang="zh-CN" altLang="en-US" sz="2800" dirty="0"/>
              <a:t>寄存器的内容压入栈</a:t>
            </a:r>
            <a:endParaRPr lang="en-US" altLang="zh-CN" sz="2800" dirty="0"/>
          </a:p>
          <a:p>
            <a:pPr lvl="1" hangingPunct="1">
              <a:spcBef>
                <a:spcPts val="600"/>
              </a:spcBef>
              <a:buFont typeface="Wingdings" pitchFamily="2" charset="2"/>
              <a:buNone/>
            </a:pPr>
            <a:r>
              <a:rPr lang="en-US" altLang="zh-CN" sz="2400" i="1" dirty="0">
                <a:latin typeface="Consolas" panose="020B0609020204030204" pitchFamily="49" charset="0"/>
              </a:rPr>
              <a:t>	0. </a:t>
            </a:r>
            <a:r>
              <a:rPr lang="en-US" altLang="zh-CN" sz="2400" i="1" dirty="0" err="1">
                <a:latin typeface="Consolas" panose="020B0609020204030204" pitchFamily="49" charset="0"/>
              </a:rPr>
              <a:t>addi</a:t>
            </a:r>
            <a:r>
              <a:rPr lang="en-US" altLang="zh-CN" sz="2400" i="1" dirty="0">
                <a:latin typeface="Consolas" panose="020B0609020204030204" pitchFamily="49" charset="0"/>
              </a:rPr>
              <a:t> $</a:t>
            </a:r>
            <a:r>
              <a:rPr lang="en-US" altLang="zh-CN" sz="2400" i="1" dirty="0" err="1">
                <a:latin typeface="Consolas" panose="020B0609020204030204" pitchFamily="49" charset="0"/>
              </a:rPr>
              <a:t>sp</a:t>
            </a:r>
            <a:r>
              <a:rPr lang="en-US" altLang="zh-CN" sz="2400" i="1" dirty="0">
                <a:latin typeface="Consolas" panose="020B0609020204030204" pitchFamily="49" charset="0"/>
              </a:rPr>
              <a:t>, $</a:t>
            </a:r>
            <a:r>
              <a:rPr lang="en-US" altLang="zh-CN" sz="2400" i="1" dirty="0" err="1">
                <a:latin typeface="Consolas" panose="020B0609020204030204" pitchFamily="49" charset="0"/>
              </a:rPr>
              <a:t>sp</a:t>
            </a:r>
            <a:r>
              <a:rPr lang="en-US" altLang="zh-CN" sz="2400" i="1" dirty="0">
                <a:latin typeface="Consolas" panose="020B0609020204030204" pitchFamily="49" charset="0"/>
              </a:rPr>
              <a:t>, -12</a:t>
            </a:r>
          </a:p>
          <a:p>
            <a:pPr lvl="1" hangingPunct="1">
              <a:spcBef>
                <a:spcPts val="600"/>
              </a:spcBef>
              <a:buFont typeface="Wingdings" pitchFamily="2" charset="2"/>
              <a:buNone/>
            </a:pPr>
            <a:r>
              <a:rPr lang="en-US" altLang="zh-CN" sz="2400" i="1" dirty="0">
                <a:latin typeface="Consolas" panose="020B0609020204030204" pitchFamily="49" charset="0"/>
              </a:rPr>
              <a:t>	1. </a:t>
            </a:r>
            <a:r>
              <a:rPr lang="en-US" altLang="zh-CN" sz="2400" i="1" dirty="0" err="1">
                <a:latin typeface="Consolas" panose="020B0609020204030204" pitchFamily="49" charset="0"/>
              </a:rPr>
              <a:t>sw</a:t>
            </a:r>
            <a:r>
              <a:rPr lang="en-US" altLang="zh-CN" sz="2400" i="1" dirty="0">
                <a:latin typeface="Consolas" panose="020B0609020204030204" pitchFamily="49" charset="0"/>
              </a:rPr>
              <a:t>   $s1, 8($</a:t>
            </a:r>
            <a:r>
              <a:rPr lang="en-US" altLang="zh-CN" sz="2400" i="1" dirty="0" err="1">
                <a:latin typeface="Consolas" panose="020B0609020204030204" pitchFamily="49" charset="0"/>
              </a:rPr>
              <a:t>sp</a:t>
            </a:r>
            <a:r>
              <a:rPr lang="en-US" altLang="zh-CN" sz="2400" i="1" dirty="0">
                <a:latin typeface="Consolas" panose="020B0609020204030204" pitchFamily="49" charset="0"/>
              </a:rPr>
              <a:t>)</a:t>
            </a:r>
          </a:p>
          <a:p>
            <a:pPr lvl="1" hangingPunct="1">
              <a:spcBef>
                <a:spcPts val="600"/>
              </a:spcBef>
              <a:buFont typeface="Wingdings" pitchFamily="2" charset="2"/>
              <a:buNone/>
            </a:pPr>
            <a:r>
              <a:rPr lang="en-US" altLang="zh-CN" sz="2400" i="1" dirty="0">
                <a:latin typeface="Consolas" panose="020B0609020204030204" pitchFamily="49" charset="0"/>
              </a:rPr>
              <a:t>	2. </a:t>
            </a:r>
            <a:r>
              <a:rPr lang="en-US" altLang="zh-CN" sz="2400" i="1" dirty="0" err="1">
                <a:latin typeface="Consolas" panose="020B0609020204030204" pitchFamily="49" charset="0"/>
              </a:rPr>
              <a:t>sw</a:t>
            </a:r>
            <a:r>
              <a:rPr lang="en-US" altLang="zh-CN" sz="2400" i="1" dirty="0">
                <a:latin typeface="Consolas" panose="020B0609020204030204" pitchFamily="49" charset="0"/>
              </a:rPr>
              <a:t>   $s2, 4($</a:t>
            </a:r>
            <a:r>
              <a:rPr lang="en-US" altLang="zh-CN" sz="2400" i="1" dirty="0" err="1">
                <a:latin typeface="Consolas" panose="020B0609020204030204" pitchFamily="49" charset="0"/>
              </a:rPr>
              <a:t>sp</a:t>
            </a:r>
            <a:r>
              <a:rPr lang="en-US" altLang="zh-CN" sz="2400" i="1" dirty="0">
                <a:latin typeface="Consolas" panose="020B0609020204030204" pitchFamily="49" charset="0"/>
              </a:rPr>
              <a:t>)</a:t>
            </a:r>
          </a:p>
          <a:p>
            <a:pPr lvl="1" hangingPunct="1">
              <a:spcBef>
                <a:spcPts val="600"/>
              </a:spcBef>
              <a:buFont typeface="Wingdings" pitchFamily="2" charset="2"/>
              <a:buNone/>
            </a:pPr>
            <a:r>
              <a:rPr lang="en-US" altLang="zh-CN" sz="2400" i="1" dirty="0">
                <a:latin typeface="Consolas" panose="020B0609020204030204" pitchFamily="49" charset="0"/>
              </a:rPr>
              <a:t>	3. </a:t>
            </a:r>
            <a:r>
              <a:rPr lang="en-US" altLang="zh-CN" sz="2400" i="1" dirty="0" err="1">
                <a:latin typeface="Consolas" panose="020B0609020204030204" pitchFamily="49" charset="0"/>
              </a:rPr>
              <a:t>sw</a:t>
            </a:r>
            <a:r>
              <a:rPr lang="en-US" altLang="zh-CN" sz="2400" i="1" dirty="0">
                <a:latin typeface="Consolas" panose="020B0609020204030204" pitchFamily="49" charset="0"/>
              </a:rPr>
              <a:t>   $s3, 0($</a:t>
            </a:r>
            <a:r>
              <a:rPr lang="en-US" altLang="zh-CN" sz="2400" i="1" dirty="0" err="1">
                <a:latin typeface="Consolas" panose="020B0609020204030204" pitchFamily="49" charset="0"/>
              </a:rPr>
              <a:t>sp</a:t>
            </a:r>
            <a:r>
              <a:rPr lang="en-US" altLang="zh-CN" sz="2400" i="1" dirty="0">
                <a:latin typeface="Consolas" panose="020B0609020204030204" pitchFamily="49" charset="0"/>
              </a:rPr>
              <a:t>)</a:t>
            </a:r>
          </a:p>
          <a:p>
            <a:pPr hangingPunct="1"/>
            <a:endParaRPr lang="en-US" altLang="zh-CN" dirty="0"/>
          </a:p>
          <a:p>
            <a:pPr hangingPunct="1"/>
            <a:endParaRPr lang="en-US" altLang="zh-CN" dirty="0"/>
          </a:p>
        </p:txBody>
      </p:sp>
      <p:sp>
        <p:nvSpPr>
          <p:cNvPr id="60442" name="TextBox 1"/>
          <p:cNvSpPr txBox="1">
            <a:spLocks noChangeArrowheads="1"/>
          </p:cNvSpPr>
          <p:nvPr/>
        </p:nvSpPr>
        <p:spPr bwMode="auto">
          <a:xfrm>
            <a:off x="880999" y="4178352"/>
            <a:ext cx="2393573" cy="1200329"/>
          </a:xfrm>
          <a:prstGeom prst="rect">
            <a:avLst/>
          </a:prstGeom>
          <a:solidFill>
            <a:schemeClr val="bg1">
              <a:lumMod val="85000"/>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r>
              <a:rPr lang="zh-CN" altLang="en-US" sz="2400" dirty="0">
                <a:latin typeface="+mj-ea"/>
                <a:ea typeface="+mj-ea"/>
              </a:rPr>
              <a:t>习惯上，栈按照</a:t>
            </a:r>
            <a:r>
              <a:rPr lang="zh-CN" altLang="en-US" sz="2400" dirty="0">
                <a:solidFill>
                  <a:srgbClr val="0432FF"/>
                </a:solidFill>
                <a:latin typeface="+mj-ea"/>
                <a:ea typeface="+mj-ea"/>
              </a:rPr>
              <a:t>从高到低</a:t>
            </a:r>
            <a:r>
              <a:rPr lang="zh-CN" altLang="en-US" sz="2400" dirty="0">
                <a:latin typeface="+mj-ea"/>
                <a:ea typeface="+mj-ea"/>
              </a:rPr>
              <a:t>的地址顺序增长</a:t>
            </a:r>
          </a:p>
        </p:txBody>
      </p:sp>
      <p:grpSp>
        <p:nvGrpSpPr>
          <p:cNvPr id="4" name="组合 3">
            <a:extLst>
              <a:ext uri="{FF2B5EF4-FFF2-40B4-BE49-F238E27FC236}">
                <a16:creationId xmlns:a16="http://schemas.microsoft.com/office/drawing/2014/main" id="{1C58DB9E-FF86-1537-1F7F-49C4940FAB40}"/>
              </a:ext>
            </a:extLst>
          </p:cNvPr>
          <p:cNvGrpSpPr/>
          <p:nvPr/>
        </p:nvGrpSpPr>
        <p:grpSpPr>
          <a:xfrm>
            <a:off x="3979620" y="3261468"/>
            <a:ext cx="5130323" cy="3379461"/>
            <a:chOff x="3877245" y="3294271"/>
            <a:chExt cx="5255572" cy="3461965"/>
          </a:xfrm>
        </p:grpSpPr>
        <p:sp>
          <p:nvSpPr>
            <p:cNvPr id="60427" name="Text Box 12"/>
            <p:cNvSpPr txBox="1">
              <a:spLocks noChangeArrowheads="1"/>
            </p:cNvSpPr>
            <p:nvPr/>
          </p:nvSpPr>
          <p:spPr bwMode="auto">
            <a:xfrm>
              <a:off x="4093289" y="6345700"/>
              <a:ext cx="983641" cy="410536"/>
            </a:xfrm>
            <a:prstGeom prst="rect">
              <a:avLst/>
            </a:prstGeom>
            <a:solidFill>
              <a:schemeClr val="bg1">
                <a:lumMod val="85000"/>
              </a:schemeClr>
            </a:solidFill>
            <a:ln>
              <a:noFill/>
            </a:ln>
            <a:effectLst/>
            <a:extLs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r>
                <a:rPr lang="zh-CN" altLang="en-US" sz="2000" dirty="0">
                  <a:latin typeface="+mj-ea"/>
                  <a:ea typeface="+mj-ea"/>
                </a:rPr>
                <a:t>压栈前</a:t>
              </a:r>
            </a:p>
          </p:txBody>
        </p:sp>
        <p:sp>
          <p:nvSpPr>
            <p:cNvPr id="60420" name="Line 5"/>
            <p:cNvSpPr>
              <a:spLocks noChangeShapeType="1"/>
            </p:cNvSpPr>
            <p:nvPr/>
          </p:nvSpPr>
          <p:spPr bwMode="auto">
            <a:xfrm>
              <a:off x="3880420" y="3527074"/>
              <a:ext cx="0" cy="2678113"/>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21" name="Line 6"/>
            <p:cNvSpPr>
              <a:spLocks noChangeShapeType="1"/>
            </p:cNvSpPr>
            <p:nvPr/>
          </p:nvSpPr>
          <p:spPr bwMode="auto">
            <a:xfrm>
              <a:off x="5201220" y="3523899"/>
              <a:ext cx="0" cy="2678113"/>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22" name="Text Box 7"/>
            <p:cNvSpPr txBox="1">
              <a:spLocks noChangeArrowheads="1"/>
            </p:cNvSpPr>
            <p:nvPr/>
          </p:nvSpPr>
          <p:spPr bwMode="auto">
            <a:xfrm>
              <a:off x="5213920" y="3297446"/>
              <a:ext cx="1141287" cy="47359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r>
                <a:rPr lang="zh-CN" altLang="en-US" sz="2400" dirty="0">
                  <a:latin typeface="+mj-ea"/>
                  <a:ea typeface="+mj-ea"/>
                </a:rPr>
                <a:t>高地址</a:t>
              </a:r>
            </a:p>
          </p:txBody>
        </p:sp>
        <p:sp>
          <p:nvSpPr>
            <p:cNvPr id="60423" name="Text Box 8"/>
            <p:cNvSpPr txBox="1">
              <a:spLocks noChangeArrowheads="1"/>
            </p:cNvSpPr>
            <p:nvPr/>
          </p:nvSpPr>
          <p:spPr bwMode="auto">
            <a:xfrm>
              <a:off x="5198045" y="5939754"/>
              <a:ext cx="1141287" cy="47359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r>
                <a:rPr lang="zh-CN" altLang="en-US" sz="2400" dirty="0">
                  <a:latin typeface="+mj-ea"/>
                  <a:ea typeface="+mj-ea"/>
                </a:rPr>
                <a:t>低地址</a:t>
              </a:r>
            </a:p>
          </p:txBody>
        </p:sp>
        <p:sp>
          <p:nvSpPr>
            <p:cNvPr id="60424" name="Line 9"/>
            <p:cNvSpPr>
              <a:spLocks noChangeShapeType="1"/>
            </p:cNvSpPr>
            <p:nvPr/>
          </p:nvSpPr>
          <p:spPr bwMode="auto">
            <a:xfrm>
              <a:off x="3877245" y="4166837"/>
              <a:ext cx="1320800"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25" name="Rectangle 10"/>
            <p:cNvSpPr>
              <a:spLocks noChangeArrowheads="1"/>
            </p:cNvSpPr>
            <p:nvPr/>
          </p:nvSpPr>
          <p:spPr bwMode="auto">
            <a:xfrm>
              <a:off x="5446904" y="3773769"/>
              <a:ext cx="712688" cy="47359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p>
              <a:r>
                <a:rPr lang="en-US" altLang="zh-CN" sz="2400" b="1" i="1">
                  <a:solidFill>
                    <a:srgbClr val="0432FF"/>
                  </a:solidFill>
                  <a:latin typeface="Consolas" panose="020B0609020204030204" pitchFamily="49" charset="0"/>
                </a:rPr>
                <a:t>$</a:t>
              </a:r>
              <a:r>
                <a:rPr lang="en-US" altLang="zh-CN" sz="2400" b="1" i="1" err="1">
                  <a:solidFill>
                    <a:srgbClr val="0432FF"/>
                  </a:solidFill>
                  <a:latin typeface="Consolas" panose="020B0609020204030204" pitchFamily="49" charset="0"/>
                </a:rPr>
                <a:t>sp</a:t>
              </a:r>
              <a:endParaRPr lang="en-US" altLang="zh-CN" sz="2400" b="1" i="1">
                <a:solidFill>
                  <a:srgbClr val="0432FF"/>
                </a:solidFill>
                <a:latin typeface="Consolas" panose="020B0609020204030204" pitchFamily="49" charset="0"/>
              </a:endParaRPr>
            </a:p>
          </p:txBody>
        </p:sp>
        <p:sp>
          <p:nvSpPr>
            <p:cNvPr id="60426" name="Line 11"/>
            <p:cNvSpPr>
              <a:spLocks noChangeShapeType="1"/>
            </p:cNvSpPr>
            <p:nvPr/>
          </p:nvSpPr>
          <p:spPr bwMode="auto">
            <a:xfrm flipH="1">
              <a:off x="5198045" y="4016024"/>
              <a:ext cx="287338" cy="0"/>
            </a:xfrm>
            <a:prstGeom prst="line">
              <a:avLst/>
            </a:prstGeom>
            <a:noFill/>
            <a:ln w="28575">
              <a:solidFill>
                <a:schemeClr val="tx1"/>
              </a:solidFill>
              <a:round/>
              <a:headEnd type="none" w="sm" len="sm"/>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28" name="Line 13"/>
            <p:cNvSpPr>
              <a:spLocks noChangeShapeType="1"/>
            </p:cNvSpPr>
            <p:nvPr/>
          </p:nvSpPr>
          <p:spPr bwMode="auto">
            <a:xfrm>
              <a:off x="6439470" y="3523899"/>
              <a:ext cx="0" cy="2678113"/>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29" name="Line 14"/>
            <p:cNvSpPr>
              <a:spLocks noChangeShapeType="1"/>
            </p:cNvSpPr>
            <p:nvPr/>
          </p:nvSpPr>
          <p:spPr bwMode="auto">
            <a:xfrm>
              <a:off x="7760270" y="3520724"/>
              <a:ext cx="0" cy="2678113"/>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30" name="Text Box 15"/>
            <p:cNvSpPr txBox="1">
              <a:spLocks noChangeArrowheads="1"/>
            </p:cNvSpPr>
            <p:nvPr/>
          </p:nvSpPr>
          <p:spPr bwMode="auto">
            <a:xfrm>
              <a:off x="7772970" y="3294271"/>
              <a:ext cx="1141287" cy="47359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r>
                <a:rPr lang="zh-CN" altLang="en-US" sz="2400">
                  <a:latin typeface="+mj-ea"/>
                  <a:ea typeface="+mj-ea"/>
                </a:rPr>
                <a:t>高地址</a:t>
              </a:r>
            </a:p>
          </p:txBody>
        </p:sp>
        <p:sp>
          <p:nvSpPr>
            <p:cNvPr id="60431" name="Text Box 16"/>
            <p:cNvSpPr txBox="1">
              <a:spLocks noChangeArrowheads="1"/>
            </p:cNvSpPr>
            <p:nvPr/>
          </p:nvSpPr>
          <p:spPr bwMode="auto">
            <a:xfrm>
              <a:off x="7757095" y="5936579"/>
              <a:ext cx="1141287" cy="47359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r>
                <a:rPr lang="zh-CN" altLang="en-US" sz="2400">
                  <a:latin typeface="+mj-ea"/>
                  <a:ea typeface="+mj-ea"/>
                </a:rPr>
                <a:t>低地址</a:t>
              </a:r>
            </a:p>
          </p:txBody>
        </p:sp>
        <p:sp>
          <p:nvSpPr>
            <p:cNvPr id="60432" name="Line 17"/>
            <p:cNvSpPr>
              <a:spLocks noChangeShapeType="1"/>
            </p:cNvSpPr>
            <p:nvPr/>
          </p:nvSpPr>
          <p:spPr bwMode="auto">
            <a:xfrm>
              <a:off x="6436295" y="4163662"/>
              <a:ext cx="1320800"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33" name="Rectangle 18"/>
            <p:cNvSpPr>
              <a:spLocks noChangeArrowheads="1"/>
            </p:cNvSpPr>
            <p:nvPr/>
          </p:nvSpPr>
          <p:spPr bwMode="auto">
            <a:xfrm>
              <a:off x="8071996" y="4737370"/>
              <a:ext cx="712688" cy="47359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p>
              <a:r>
                <a:rPr lang="en-US" altLang="zh-CN" sz="2400" b="1" i="1">
                  <a:solidFill>
                    <a:srgbClr val="0432FF"/>
                  </a:solidFill>
                  <a:latin typeface="Consolas" panose="020B0609020204030204" pitchFamily="49" charset="0"/>
                </a:rPr>
                <a:t>$</a:t>
              </a:r>
              <a:r>
                <a:rPr lang="en-US" altLang="zh-CN" sz="2400" b="1" i="1" err="1">
                  <a:solidFill>
                    <a:srgbClr val="0432FF"/>
                  </a:solidFill>
                  <a:latin typeface="Consolas" panose="020B0609020204030204" pitchFamily="49" charset="0"/>
                </a:rPr>
                <a:t>sp</a:t>
              </a:r>
              <a:endParaRPr lang="en-US" altLang="zh-CN" sz="2400" b="1" i="1">
                <a:solidFill>
                  <a:srgbClr val="0432FF"/>
                </a:solidFill>
                <a:latin typeface="Consolas" panose="020B0609020204030204" pitchFamily="49" charset="0"/>
              </a:endParaRPr>
            </a:p>
          </p:txBody>
        </p:sp>
        <p:sp>
          <p:nvSpPr>
            <p:cNvPr id="60434" name="Line 19"/>
            <p:cNvSpPr>
              <a:spLocks noChangeShapeType="1"/>
            </p:cNvSpPr>
            <p:nvPr/>
          </p:nvSpPr>
          <p:spPr bwMode="auto">
            <a:xfrm flipH="1">
              <a:off x="7787258" y="4968524"/>
              <a:ext cx="287338" cy="0"/>
            </a:xfrm>
            <a:prstGeom prst="line">
              <a:avLst/>
            </a:prstGeom>
            <a:noFill/>
            <a:ln w="28575">
              <a:solidFill>
                <a:schemeClr val="tx1"/>
              </a:solidFill>
              <a:round/>
              <a:headEnd type="none" w="sm" len="sm"/>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35" name="Text Box 20"/>
            <p:cNvSpPr txBox="1">
              <a:spLocks noChangeArrowheads="1"/>
            </p:cNvSpPr>
            <p:nvPr/>
          </p:nvSpPr>
          <p:spPr bwMode="auto">
            <a:xfrm>
              <a:off x="6642019" y="6342079"/>
              <a:ext cx="983641" cy="410536"/>
            </a:xfrm>
            <a:prstGeom prst="rect">
              <a:avLst/>
            </a:prstGeom>
            <a:solidFill>
              <a:schemeClr val="bg1">
                <a:lumMod val="85000"/>
              </a:schemeClr>
            </a:solidFill>
            <a:ln>
              <a:noFill/>
            </a:ln>
            <a:effectLst/>
            <a:extLs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defPPr>
                <a:defRPr lang="zh-CN"/>
              </a:defPPr>
              <a:lvl1pPr eaLnBrk="1" hangingPunct="1">
                <a:defRPr sz="2000">
                  <a:solidFill>
                    <a:srgbClr val="0432FF"/>
                  </a:solidFill>
                  <a:latin typeface="+mj-ea"/>
                  <a:ea typeface="+mj-ea"/>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zh-CN" altLang="en-US" b="1" dirty="0">
                  <a:solidFill>
                    <a:schemeClr val="tx1"/>
                  </a:solidFill>
                </a:rPr>
                <a:t>压栈后</a:t>
              </a:r>
            </a:p>
          </p:txBody>
        </p:sp>
        <p:sp>
          <p:nvSpPr>
            <p:cNvPr id="60436" name="Line 21"/>
            <p:cNvSpPr>
              <a:spLocks noChangeShapeType="1"/>
            </p:cNvSpPr>
            <p:nvPr/>
          </p:nvSpPr>
          <p:spPr bwMode="auto">
            <a:xfrm>
              <a:off x="6429945" y="4477987"/>
              <a:ext cx="1320800"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37" name="Line 22"/>
            <p:cNvSpPr>
              <a:spLocks noChangeShapeType="1"/>
            </p:cNvSpPr>
            <p:nvPr/>
          </p:nvSpPr>
          <p:spPr bwMode="auto">
            <a:xfrm>
              <a:off x="6436295" y="4789137"/>
              <a:ext cx="1320800"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38" name="Line 23"/>
            <p:cNvSpPr>
              <a:spLocks noChangeShapeType="1"/>
            </p:cNvSpPr>
            <p:nvPr/>
          </p:nvSpPr>
          <p:spPr bwMode="auto">
            <a:xfrm>
              <a:off x="6433120" y="5119337"/>
              <a:ext cx="1320800"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41" name="Rectangle 26"/>
            <p:cNvSpPr>
              <a:spLocks noChangeArrowheads="1"/>
            </p:cNvSpPr>
            <p:nvPr/>
          </p:nvSpPr>
          <p:spPr bwMode="auto">
            <a:xfrm>
              <a:off x="6451547" y="4106426"/>
              <a:ext cx="1303857" cy="37900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p>
              <a:r>
                <a:rPr lang="en-US" altLang="zh-CN" sz="1800" b="1" dirty="0">
                  <a:solidFill>
                    <a:srgbClr val="0432FF"/>
                  </a:solidFill>
                  <a:latin typeface="Consolas" panose="020B0609020204030204" pitchFamily="49" charset="0"/>
                  <a:ea typeface="+mj-ea"/>
                  <a:cs typeface="Consolas" panose="020B0609020204030204" pitchFamily="49" charset="0"/>
                </a:rPr>
                <a:t>$s1</a:t>
              </a:r>
              <a:r>
                <a:rPr lang="zh-CN" altLang="en-US" sz="1800" b="1" dirty="0">
                  <a:solidFill>
                    <a:srgbClr val="0432FF"/>
                  </a:solidFill>
                  <a:latin typeface="Consolas" panose="020B0609020204030204" pitchFamily="49" charset="0"/>
                  <a:ea typeface="+mj-ea"/>
                  <a:cs typeface="Consolas" panose="020B0609020204030204" pitchFamily="49" charset="0"/>
                </a:rPr>
                <a:t>的内容</a:t>
              </a:r>
            </a:p>
          </p:txBody>
        </p:sp>
        <p:sp>
          <p:nvSpPr>
            <p:cNvPr id="32" name="Rectangle 18">
              <a:extLst>
                <a:ext uri="{FF2B5EF4-FFF2-40B4-BE49-F238E27FC236}">
                  <a16:creationId xmlns:a16="http://schemas.microsoft.com/office/drawing/2014/main" id="{38EED6C1-7B84-CB45-A674-F26B81FA78D8}"/>
                </a:ext>
              </a:extLst>
            </p:cNvPr>
            <p:cNvSpPr>
              <a:spLocks noChangeArrowheads="1"/>
            </p:cNvSpPr>
            <p:nvPr/>
          </p:nvSpPr>
          <p:spPr bwMode="auto">
            <a:xfrm>
              <a:off x="8071996" y="4390640"/>
              <a:ext cx="1060821" cy="47359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p>
              <a:r>
                <a:rPr lang="en-US" altLang="zh-CN" sz="2400" b="1" i="1" dirty="0">
                  <a:solidFill>
                    <a:srgbClr val="0432FF"/>
                  </a:solidFill>
                  <a:latin typeface="Consolas" panose="020B0609020204030204" pitchFamily="49" charset="0"/>
                </a:rPr>
                <a:t>$sp+4</a:t>
              </a:r>
            </a:p>
          </p:txBody>
        </p:sp>
        <p:sp>
          <p:nvSpPr>
            <p:cNvPr id="33" name="Line 19">
              <a:extLst>
                <a:ext uri="{FF2B5EF4-FFF2-40B4-BE49-F238E27FC236}">
                  <a16:creationId xmlns:a16="http://schemas.microsoft.com/office/drawing/2014/main" id="{1331A6B9-673F-FD48-9E89-20351115AF39}"/>
                </a:ext>
              </a:extLst>
            </p:cNvPr>
            <p:cNvSpPr>
              <a:spLocks noChangeShapeType="1"/>
            </p:cNvSpPr>
            <p:nvPr/>
          </p:nvSpPr>
          <p:spPr bwMode="auto">
            <a:xfrm flipH="1">
              <a:off x="7793058" y="4621794"/>
              <a:ext cx="287338" cy="0"/>
            </a:xfrm>
            <a:prstGeom prst="line">
              <a:avLst/>
            </a:prstGeom>
            <a:noFill/>
            <a:ln w="28575">
              <a:solidFill>
                <a:schemeClr val="tx1"/>
              </a:solidFill>
              <a:round/>
              <a:headEnd type="none" w="sm" len="sm"/>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5" name="Rectangle 26">
              <a:extLst>
                <a:ext uri="{FF2B5EF4-FFF2-40B4-BE49-F238E27FC236}">
                  <a16:creationId xmlns:a16="http://schemas.microsoft.com/office/drawing/2014/main" id="{5F4CBF55-6460-34A8-EB8C-A750BE71EAF7}"/>
                </a:ext>
              </a:extLst>
            </p:cNvPr>
            <p:cNvSpPr>
              <a:spLocks noChangeArrowheads="1"/>
            </p:cNvSpPr>
            <p:nvPr/>
          </p:nvSpPr>
          <p:spPr bwMode="auto">
            <a:xfrm>
              <a:off x="6436295" y="4419163"/>
              <a:ext cx="1303857" cy="37900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p>
              <a:r>
                <a:rPr lang="en-US" altLang="zh-CN" sz="1800" b="1" dirty="0">
                  <a:solidFill>
                    <a:srgbClr val="0432FF"/>
                  </a:solidFill>
                  <a:latin typeface="Consolas" panose="020B0609020204030204" pitchFamily="49" charset="0"/>
                  <a:ea typeface="+mj-ea"/>
                  <a:cs typeface="Consolas" panose="020B0609020204030204" pitchFamily="49" charset="0"/>
                </a:rPr>
                <a:t>$s2</a:t>
              </a:r>
              <a:r>
                <a:rPr lang="zh-CN" altLang="en-US" sz="1800" b="1" dirty="0">
                  <a:solidFill>
                    <a:srgbClr val="0432FF"/>
                  </a:solidFill>
                  <a:latin typeface="Consolas" panose="020B0609020204030204" pitchFamily="49" charset="0"/>
                  <a:ea typeface="+mj-ea"/>
                  <a:cs typeface="Consolas" panose="020B0609020204030204" pitchFamily="49" charset="0"/>
                </a:rPr>
                <a:t>的内容</a:t>
              </a:r>
            </a:p>
          </p:txBody>
        </p:sp>
        <p:sp>
          <p:nvSpPr>
            <p:cNvPr id="6" name="Rectangle 26">
              <a:extLst>
                <a:ext uri="{FF2B5EF4-FFF2-40B4-BE49-F238E27FC236}">
                  <a16:creationId xmlns:a16="http://schemas.microsoft.com/office/drawing/2014/main" id="{00BB50ED-7CA6-F9C7-7ACA-B723533FE593}"/>
                </a:ext>
              </a:extLst>
            </p:cNvPr>
            <p:cNvSpPr>
              <a:spLocks noChangeArrowheads="1"/>
            </p:cNvSpPr>
            <p:nvPr/>
          </p:nvSpPr>
          <p:spPr bwMode="auto">
            <a:xfrm>
              <a:off x="6422797" y="4746512"/>
              <a:ext cx="1174129" cy="37900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p>
              <a:r>
                <a:rPr lang="en-US" altLang="zh-CN" sz="1800" b="1" dirty="0">
                  <a:solidFill>
                    <a:srgbClr val="0432FF"/>
                  </a:solidFill>
                  <a:latin typeface="Consolas" panose="020B0609020204030204" pitchFamily="49" charset="0"/>
                  <a:ea typeface="+mj-ea"/>
                  <a:cs typeface="Consolas" panose="020B0609020204030204" pitchFamily="49" charset="0"/>
                </a:rPr>
                <a:t>$s</a:t>
              </a:r>
              <a:r>
                <a:rPr lang="zh-CN" altLang="en-US" sz="1800" b="1" dirty="0">
                  <a:solidFill>
                    <a:srgbClr val="0432FF"/>
                  </a:solidFill>
                  <a:latin typeface="Consolas" panose="020B0609020204030204" pitchFamily="49" charset="0"/>
                  <a:ea typeface="+mj-ea"/>
                  <a:cs typeface="Consolas" panose="020B0609020204030204" pitchFamily="49" charset="0"/>
                </a:rPr>
                <a:t>的内容</a:t>
              </a:r>
            </a:p>
          </p:txBody>
        </p:sp>
      </p:grpSp>
      <p:sp>
        <p:nvSpPr>
          <p:cNvPr id="3" name="Title 4">
            <a:extLst>
              <a:ext uri="{FF2B5EF4-FFF2-40B4-BE49-F238E27FC236}">
                <a16:creationId xmlns:a16="http://schemas.microsoft.com/office/drawing/2014/main" id="{74B8D014-F141-E326-66FB-DD00BF371DB9}"/>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kern="1200" dirty="0">
                <a:cs typeface="+mn-cs"/>
              </a:rPr>
              <a:t>指令系统：栈操作</a:t>
            </a:r>
            <a:endParaRPr lang="en-CN" kern="0" dirty="0"/>
          </a:p>
        </p:txBody>
      </p:sp>
      <p:sp>
        <p:nvSpPr>
          <p:cNvPr id="7" name="文本框 6">
            <a:extLst>
              <a:ext uri="{FF2B5EF4-FFF2-40B4-BE49-F238E27FC236}">
                <a16:creationId xmlns:a16="http://schemas.microsoft.com/office/drawing/2014/main" id="{28587A37-6A7B-D3CF-8614-4CD89C608397}"/>
              </a:ext>
            </a:extLst>
          </p:cNvPr>
          <p:cNvSpPr txBox="1"/>
          <p:nvPr/>
        </p:nvSpPr>
        <p:spPr>
          <a:xfrm>
            <a:off x="6710909" y="2560746"/>
            <a:ext cx="1758173" cy="400110"/>
          </a:xfrm>
          <a:prstGeom prst="rect">
            <a:avLst/>
          </a:prstGeom>
          <a:noFill/>
        </p:spPr>
        <p:txBody>
          <a:bodyPr wrap="square" rtlCol="0">
            <a:spAutoFit/>
          </a:bodyPr>
          <a:lstStyle/>
          <a:p>
            <a:r>
              <a:rPr kumimoji="1" lang="zh-CN" altLang="en-US" sz="2000" b="1" dirty="0">
                <a:solidFill>
                  <a:srgbClr val="FF0000"/>
                </a:solidFill>
                <a:latin typeface="+mj-ea"/>
                <a:ea typeface="+mj-ea"/>
              </a:rPr>
              <a:t>执行指令</a:t>
            </a:r>
            <a:r>
              <a:rPr kumimoji="1" lang="en-US" altLang="zh-CN" sz="2000" b="1" dirty="0">
                <a:solidFill>
                  <a:srgbClr val="FF0000"/>
                </a:solidFill>
                <a:latin typeface="+mj-ea"/>
                <a:ea typeface="+mj-ea"/>
              </a:rPr>
              <a:t>3</a:t>
            </a:r>
            <a:r>
              <a:rPr kumimoji="1" lang="zh-CN" altLang="en-US" sz="2000" b="1" dirty="0">
                <a:solidFill>
                  <a:srgbClr val="FF0000"/>
                </a:solidFill>
                <a:latin typeface="+mj-ea"/>
                <a:ea typeface="+mj-ea"/>
              </a:rPr>
              <a:t>后：</a:t>
            </a:r>
          </a:p>
        </p:txBody>
      </p:sp>
    </p:spTree>
    <p:extLst>
      <p:ext uri="{BB962C8B-B14F-4D97-AF65-F5344CB8AC3E}">
        <p14:creationId xmlns:p14="http://schemas.microsoft.com/office/powerpoint/2010/main" val="2645137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灯片编号占位符 3">
            <a:extLst>
              <a:ext uri="{FF2B5EF4-FFF2-40B4-BE49-F238E27FC236}">
                <a16:creationId xmlns:a16="http://schemas.microsoft.com/office/drawing/2014/main" id="{E000966D-D660-5A49-BF0A-3CFEF16792FD}"/>
              </a:ext>
            </a:extLst>
          </p:cNvPr>
          <p:cNvSpPr>
            <a:spLocks noGrp="1"/>
          </p:cNvSpPr>
          <p:nvPr>
            <p:ph type="sldNum" sz="quarter" idx="12"/>
          </p:nvPr>
        </p:nvSpPr>
        <p:spPr/>
        <p:txBody>
          <a:bodyPr/>
          <a:lstStyle/>
          <a:p>
            <a:fld id="{14659731-6BD7-46E7-8D3C-2F3AC07E20B1}" type="slidenum">
              <a:rPr lang="en-US" altLang="zh-CN" smtClean="0"/>
              <a:pPr/>
              <a:t>88</a:t>
            </a:fld>
            <a:endParaRPr lang="en-US" altLang="zh-CN"/>
          </a:p>
        </p:txBody>
      </p:sp>
      <p:sp>
        <p:nvSpPr>
          <p:cNvPr id="60419" name="Rectangle 3"/>
          <p:cNvSpPr>
            <a:spLocks noGrp="1" noChangeArrowheads="1"/>
          </p:cNvSpPr>
          <p:nvPr>
            <p:ph idx="4294967295"/>
          </p:nvPr>
        </p:nvSpPr>
        <p:spPr>
          <a:xfrm>
            <a:off x="425034" y="1296628"/>
            <a:ext cx="7886700" cy="4351338"/>
          </a:xfrm>
        </p:spPr>
        <p:txBody>
          <a:bodyPr/>
          <a:lstStyle/>
          <a:p>
            <a:pPr hangingPunct="1"/>
            <a:r>
              <a:rPr lang="zh-CN" altLang="en-US" sz="2800" dirty="0"/>
              <a:t>出栈操作</a:t>
            </a:r>
            <a:endParaRPr lang="en-US" altLang="zh-CN" sz="2800" dirty="0"/>
          </a:p>
          <a:p>
            <a:pPr marL="0" indent="0" hangingPunct="1">
              <a:buNone/>
            </a:pPr>
            <a:r>
              <a:rPr lang="en-US" altLang="zh-CN" sz="2400" i="1" dirty="0">
                <a:latin typeface="Consolas" panose="020B0609020204030204" pitchFamily="49" charset="0"/>
              </a:rPr>
              <a:t>  0. </a:t>
            </a:r>
            <a:r>
              <a:rPr lang="en-US" altLang="zh-CN" sz="2400" i="1" dirty="0" err="1">
                <a:latin typeface="Consolas" panose="020B0609020204030204" pitchFamily="49" charset="0"/>
              </a:rPr>
              <a:t>lw</a:t>
            </a:r>
            <a:r>
              <a:rPr lang="en-US" altLang="zh-CN" sz="2400" i="1" dirty="0">
                <a:latin typeface="Consolas" panose="020B0609020204030204" pitchFamily="49" charset="0"/>
              </a:rPr>
              <a:t>   $s3, 0($</a:t>
            </a:r>
            <a:r>
              <a:rPr lang="en-US" altLang="zh-CN" sz="2400" i="1" dirty="0" err="1">
                <a:latin typeface="Consolas" panose="020B0609020204030204" pitchFamily="49" charset="0"/>
              </a:rPr>
              <a:t>sp</a:t>
            </a:r>
            <a:r>
              <a:rPr lang="en-US" altLang="zh-CN" sz="2400" i="1" dirty="0">
                <a:latin typeface="Consolas" panose="020B0609020204030204" pitchFamily="49" charset="0"/>
              </a:rPr>
              <a:t>)</a:t>
            </a:r>
          </a:p>
          <a:p>
            <a:pPr marL="0" indent="0" hangingPunct="1">
              <a:buNone/>
            </a:pPr>
            <a:r>
              <a:rPr lang="en-US" altLang="zh-CN" sz="2400" i="1" dirty="0">
                <a:latin typeface="Consolas" panose="020B0609020204030204" pitchFamily="49" charset="0"/>
              </a:rPr>
              <a:t>  1. </a:t>
            </a:r>
            <a:r>
              <a:rPr lang="en-US" altLang="zh-CN" sz="2400" i="1" dirty="0" err="1">
                <a:latin typeface="Consolas" panose="020B0609020204030204" pitchFamily="49" charset="0"/>
              </a:rPr>
              <a:t>lw</a:t>
            </a:r>
            <a:r>
              <a:rPr lang="en-US" altLang="zh-CN" sz="2400" i="1" dirty="0">
                <a:latin typeface="Consolas" panose="020B0609020204030204" pitchFamily="49" charset="0"/>
              </a:rPr>
              <a:t>   $s2, 4($</a:t>
            </a:r>
            <a:r>
              <a:rPr lang="en-US" altLang="zh-CN" sz="2400" i="1" dirty="0" err="1">
                <a:latin typeface="Consolas" panose="020B0609020204030204" pitchFamily="49" charset="0"/>
              </a:rPr>
              <a:t>sp</a:t>
            </a:r>
            <a:r>
              <a:rPr lang="en-US" altLang="zh-CN" sz="2400" i="1" dirty="0">
                <a:latin typeface="Consolas" panose="020B0609020204030204" pitchFamily="49" charset="0"/>
              </a:rPr>
              <a:t>)</a:t>
            </a:r>
          </a:p>
          <a:p>
            <a:pPr marL="0" indent="0" hangingPunct="1">
              <a:buNone/>
            </a:pPr>
            <a:r>
              <a:rPr lang="en-US" altLang="zh-CN" sz="2400" i="1" dirty="0">
                <a:latin typeface="Consolas" panose="020B0609020204030204" pitchFamily="49" charset="0"/>
              </a:rPr>
              <a:t>  2. </a:t>
            </a:r>
            <a:r>
              <a:rPr lang="en-US" altLang="zh-CN" sz="2400" i="1" dirty="0" err="1">
                <a:latin typeface="Consolas" panose="020B0609020204030204" pitchFamily="49" charset="0"/>
              </a:rPr>
              <a:t>lw</a:t>
            </a:r>
            <a:r>
              <a:rPr lang="en-US" altLang="zh-CN" sz="2400" i="1" dirty="0">
                <a:latin typeface="Consolas" panose="020B0609020204030204" pitchFamily="49" charset="0"/>
              </a:rPr>
              <a:t>   $s1, 8($</a:t>
            </a:r>
            <a:r>
              <a:rPr lang="en-US" altLang="zh-CN" sz="2400" i="1" dirty="0" err="1">
                <a:latin typeface="Consolas" panose="020B0609020204030204" pitchFamily="49" charset="0"/>
              </a:rPr>
              <a:t>sp</a:t>
            </a:r>
            <a:r>
              <a:rPr lang="en-US" altLang="zh-CN" sz="2400" i="1" dirty="0">
                <a:latin typeface="Consolas" panose="020B0609020204030204" pitchFamily="49" charset="0"/>
              </a:rPr>
              <a:t>)</a:t>
            </a:r>
          </a:p>
          <a:p>
            <a:pPr marL="0" indent="0" hangingPunct="1">
              <a:buNone/>
            </a:pPr>
            <a:r>
              <a:rPr lang="en-US" altLang="zh-CN" sz="2400" i="1" dirty="0">
                <a:latin typeface="Consolas" panose="020B0609020204030204" pitchFamily="49" charset="0"/>
              </a:rPr>
              <a:t>  3. </a:t>
            </a:r>
            <a:r>
              <a:rPr lang="en-US" altLang="zh-CN" sz="2400" i="1" dirty="0" err="1">
                <a:latin typeface="Consolas" panose="020B0609020204030204" pitchFamily="49" charset="0"/>
              </a:rPr>
              <a:t>addi</a:t>
            </a:r>
            <a:r>
              <a:rPr lang="en-US" altLang="zh-CN" sz="2400" i="1" dirty="0">
                <a:latin typeface="Consolas" panose="020B0609020204030204" pitchFamily="49" charset="0"/>
              </a:rPr>
              <a:t> $</a:t>
            </a:r>
            <a:r>
              <a:rPr lang="en-US" altLang="zh-CN" sz="2400" i="1" dirty="0" err="1">
                <a:latin typeface="Consolas" panose="020B0609020204030204" pitchFamily="49" charset="0"/>
              </a:rPr>
              <a:t>sp</a:t>
            </a:r>
            <a:r>
              <a:rPr lang="en-US" altLang="zh-CN" sz="2400" i="1" dirty="0">
                <a:latin typeface="Consolas" panose="020B0609020204030204" pitchFamily="49" charset="0"/>
              </a:rPr>
              <a:t>, $</a:t>
            </a:r>
            <a:r>
              <a:rPr lang="en-US" altLang="zh-CN" sz="2400" i="1" dirty="0" err="1">
                <a:latin typeface="Consolas" panose="020B0609020204030204" pitchFamily="49" charset="0"/>
              </a:rPr>
              <a:t>sp</a:t>
            </a:r>
            <a:r>
              <a:rPr lang="en-US" altLang="zh-CN" sz="2400" i="1" dirty="0">
                <a:latin typeface="Consolas" panose="020B0609020204030204" pitchFamily="49" charset="0"/>
              </a:rPr>
              <a:t>, 12</a:t>
            </a:r>
            <a:endParaRPr lang="en-US" altLang="zh-CN" dirty="0"/>
          </a:p>
          <a:p>
            <a:pPr hangingPunct="1"/>
            <a:endParaRPr lang="en-US" altLang="zh-CN" dirty="0"/>
          </a:p>
        </p:txBody>
      </p:sp>
      <p:grpSp>
        <p:nvGrpSpPr>
          <p:cNvPr id="3" name="组合 2">
            <a:extLst>
              <a:ext uri="{FF2B5EF4-FFF2-40B4-BE49-F238E27FC236}">
                <a16:creationId xmlns:a16="http://schemas.microsoft.com/office/drawing/2014/main" id="{62A130C9-4A3F-6941-F8AB-6A97CC9FEDD1}"/>
              </a:ext>
            </a:extLst>
          </p:cNvPr>
          <p:cNvGrpSpPr/>
          <p:nvPr/>
        </p:nvGrpSpPr>
        <p:grpSpPr>
          <a:xfrm>
            <a:off x="3878832" y="3294271"/>
            <a:ext cx="5003416" cy="3452181"/>
            <a:chOff x="3878832" y="3294271"/>
            <a:chExt cx="5003416" cy="3452181"/>
          </a:xfrm>
        </p:grpSpPr>
        <p:sp>
          <p:nvSpPr>
            <p:cNvPr id="60427" name="Text Box 12"/>
            <p:cNvSpPr txBox="1">
              <a:spLocks noChangeArrowheads="1"/>
            </p:cNvSpPr>
            <p:nvPr/>
          </p:nvSpPr>
          <p:spPr bwMode="auto">
            <a:xfrm>
              <a:off x="4093288" y="6345700"/>
              <a:ext cx="955390" cy="400752"/>
            </a:xfrm>
            <a:prstGeom prst="rect">
              <a:avLst/>
            </a:prstGeom>
            <a:solidFill>
              <a:schemeClr val="bg1">
                <a:lumMod val="85000"/>
              </a:schemeClr>
            </a:solidFill>
            <a:ln>
              <a:noFill/>
            </a:ln>
            <a:effectLst/>
            <a:extLs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r>
                <a:rPr lang="zh-CN" altLang="en-US" sz="2000" dirty="0">
                  <a:latin typeface="+mj-ea"/>
                  <a:ea typeface="+mj-ea"/>
                </a:rPr>
                <a:t>出栈前</a:t>
              </a:r>
            </a:p>
          </p:txBody>
        </p:sp>
        <p:sp>
          <p:nvSpPr>
            <p:cNvPr id="60420" name="Line 5"/>
            <p:cNvSpPr>
              <a:spLocks noChangeShapeType="1"/>
            </p:cNvSpPr>
            <p:nvPr/>
          </p:nvSpPr>
          <p:spPr bwMode="auto">
            <a:xfrm>
              <a:off x="3880420" y="3527074"/>
              <a:ext cx="0" cy="2678113"/>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21" name="Line 6"/>
            <p:cNvSpPr>
              <a:spLocks noChangeShapeType="1"/>
            </p:cNvSpPr>
            <p:nvPr/>
          </p:nvSpPr>
          <p:spPr bwMode="auto">
            <a:xfrm>
              <a:off x="5201220" y="3523899"/>
              <a:ext cx="0" cy="2678113"/>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22" name="Text Box 7"/>
            <p:cNvSpPr txBox="1">
              <a:spLocks noChangeArrowheads="1"/>
            </p:cNvSpPr>
            <p:nvPr/>
          </p:nvSpPr>
          <p:spPr bwMode="auto">
            <a:xfrm>
              <a:off x="5213920" y="3297446"/>
              <a:ext cx="1109278" cy="46230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r>
                <a:rPr lang="zh-CN" altLang="en-US" sz="2400">
                  <a:latin typeface="+mj-ea"/>
                  <a:ea typeface="+mj-ea"/>
                </a:rPr>
                <a:t>高地址</a:t>
              </a:r>
            </a:p>
          </p:txBody>
        </p:sp>
        <p:sp>
          <p:nvSpPr>
            <p:cNvPr id="60423" name="Text Box 8"/>
            <p:cNvSpPr txBox="1">
              <a:spLocks noChangeArrowheads="1"/>
            </p:cNvSpPr>
            <p:nvPr/>
          </p:nvSpPr>
          <p:spPr bwMode="auto">
            <a:xfrm>
              <a:off x="5198045" y="5939754"/>
              <a:ext cx="1109278" cy="46230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r>
                <a:rPr lang="zh-CN" altLang="en-US" sz="2400" dirty="0">
                  <a:latin typeface="+mj-ea"/>
                  <a:ea typeface="+mj-ea"/>
                </a:rPr>
                <a:t>低地址</a:t>
              </a:r>
            </a:p>
          </p:txBody>
        </p:sp>
        <p:sp>
          <p:nvSpPr>
            <p:cNvPr id="60428" name="Line 13"/>
            <p:cNvSpPr>
              <a:spLocks noChangeShapeType="1"/>
            </p:cNvSpPr>
            <p:nvPr/>
          </p:nvSpPr>
          <p:spPr bwMode="auto">
            <a:xfrm>
              <a:off x="6439470" y="3523899"/>
              <a:ext cx="0" cy="2678113"/>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29" name="Line 14"/>
            <p:cNvSpPr>
              <a:spLocks noChangeShapeType="1"/>
            </p:cNvSpPr>
            <p:nvPr/>
          </p:nvSpPr>
          <p:spPr bwMode="auto">
            <a:xfrm>
              <a:off x="7760270" y="3520724"/>
              <a:ext cx="0" cy="2678113"/>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30" name="Text Box 15"/>
            <p:cNvSpPr txBox="1">
              <a:spLocks noChangeArrowheads="1"/>
            </p:cNvSpPr>
            <p:nvPr/>
          </p:nvSpPr>
          <p:spPr bwMode="auto">
            <a:xfrm>
              <a:off x="7772970" y="3294271"/>
              <a:ext cx="1109278" cy="46230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r>
                <a:rPr lang="zh-CN" altLang="en-US" sz="2400" dirty="0">
                  <a:latin typeface="+mj-ea"/>
                  <a:ea typeface="+mj-ea"/>
                </a:rPr>
                <a:t>高地址</a:t>
              </a:r>
            </a:p>
          </p:txBody>
        </p:sp>
        <p:sp>
          <p:nvSpPr>
            <p:cNvPr id="60431" name="Text Box 16"/>
            <p:cNvSpPr txBox="1">
              <a:spLocks noChangeArrowheads="1"/>
            </p:cNvSpPr>
            <p:nvPr/>
          </p:nvSpPr>
          <p:spPr bwMode="auto">
            <a:xfrm>
              <a:off x="7757095" y="5936579"/>
              <a:ext cx="1109278" cy="46230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r>
                <a:rPr lang="zh-CN" altLang="en-US" sz="2400">
                  <a:latin typeface="+mj-ea"/>
                  <a:ea typeface="+mj-ea"/>
                </a:rPr>
                <a:t>低地址</a:t>
              </a:r>
            </a:p>
          </p:txBody>
        </p:sp>
        <p:sp>
          <p:nvSpPr>
            <p:cNvPr id="60432" name="Line 17"/>
            <p:cNvSpPr>
              <a:spLocks noChangeShapeType="1"/>
            </p:cNvSpPr>
            <p:nvPr/>
          </p:nvSpPr>
          <p:spPr bwMode="auto">
            <a:xfrm>
              <a:off x="6436295" y="4163662"/>
              <a:ext cx="1320800"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33" name="Rectangle 18"/>
            <p:cNvSpPr>
              <a:spLocks noChangeArrowheads="1"/>
            </p:cNvSpPr>
            <p:nvPr/>
          </p:nvSpPr>
          <p:spPr bwMode="auto">
            <a:xfrm>
              <a:off x="8071996" y="4737370"/>
              <a:ext cx="695703" cy="46230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p>
              <a:r>
                <a:rPr lang="en-US" altLang="zh-CN" sz="2400" b="1" i="1" dirty="0">
                  <a:solidFill>
                    <a:srgbClr val="0432FF"/>
                  </a:solidFill>
                  <a:latin typeface="Consolas" panose="020B0609020204030204" pitchFamily="49" charset="0"/>
                </a:rPr>
                <a:t>$</a:t>
              </a:r>
              <a:r>
                <a:rPr lang="en-US" altLang="zh-CN" sz="2400" b="1" i="1" dirty="0" err="1">
                  <a:solidFill>
                    <a:srgbClr val="0432FF"/>
                  </a:solidFill>
                  <a:latin typeface="Consolas" panose="020B0609020204030204" pitchFamily="49" charset="0"/>
                </a:rPr>
                <a:t>sp</a:t>
              </a:r>
              <a:endParaRPr lang="en-US" altLang="zh-CN" sz="2400" b="1" i="1" dirty="0">
                <a:solidFill>
                  <a:srgbClr val="0432FF"/>
                </a:solidFill>
                <a:latin typeface="Consolas" panose="020B0609020204030204" pitchFamily="49" charset="0"/>
              </a:endParaRPr>
            </a:p>
          </p:txBody>
        </p:sp>
        <p:sp>
          <p:nvSpPr>
            <p:cNvPr id="60434" name="Line 19"/>
            <p:cNvSpPr>
              <a:spLocks noChangeShapeType="1"/>
            </p:cNvSpPr>
            <p:nvPr/>
          </p:nvSpPr>
          <p:spPr bwMode="auto">
            <a:xfrm flipH="1">
              <a:off x="7787258" y="4968524"/>
              <a:ext cx="287338" cy="0"/>
            </a:xfrm>
            <a:prstGeom prst="line">
              <a:avLst/>
            </a:prstGeom>
            <a:noFill/>
            <a:ln w="28575">
              <a:solidFill>
                <a:schemeClr val="tx1"/>
              </a:solidFill>
              <a:round/>
              <a:headEnd type="none" w="sm" len="sm"/>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35" name="Text Box 20"/>
            <p:cNvSpPr txBox="1">
              <a:spLocks noChangeArrowheads="1"/>
            </p:cNvSpPr>
            <p:nvPr/>
          </p:nvSpPr>
          <p:spPr bwMode="auto">
            <a:xfrm>
              <a:off x="6642019" y="6342079"/>
              <a:ext cx="955390" cy="400752"/>
            </a:xfrm>
            <a:prstGeom prst="rect">
              <a:avLst/>
            </a:prstGeom>
            <a:solidFill>
              <a:schemeClr val="bg1">
                <a:lumMod val="85000"/>
              </a:schemeClr>
            </a:solidFill>
            <a:ln>
              <a:noFill/>
            </a:ln>
            <a:effectLst/>
            <a:extLs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defPPr>
                <a:defRPr lang="zh-CN"/>
              </a:defPPr>
              <a:lvl1pPr eaLnBrk="1" hangingPunct="1">
                <a:defRPr sz="2000">
                  <a:solidFill>
                    <a:srgbClr val="0432FF"/>
                  </a:solidFill>
                  <a:latin typeface="+mj-ea"/>
                  <a:ea typeface="+mj-ea"/>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zh-CN" altLang="en-US" b="1" dirty="0">
                  <a:solidFill>
                    <a:schemeClr val="tx1"/>
                  </a:solidFill>
                </a:rPr>
                <a:t>出栈后</a:t>
              </a:r>
            </a:p>
          </p:txBody>
        </p:sp>
        <p:sp>
          <p:nvSpPr>
            <p:cNvPr id="60436" name="Line 21"/>
            <p:cNvSpPr>
              <a:spLocks noChangeShapeType="1"/>
            </p:cNvSpPr>
            <p:nvPr/>
          </p:nvSpPr>
          <p:spPr bwMode="auto">
            <a:xfrm>
              <a:off x="6429945" y="4477987"/>
              <a:ext cx="1320800"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37" name="Line 22"/>
            <p:cNvSpPr>
              <a:spLocks noChangeShapeType="1"/>
            </p:cNvSpPr>
            <p:nvPr/>
          </p:nvSpPr>
          <p:spPr bwMode="auto">
            <a:xfrm>
              <a:off x="6436295" y="4789137"/>
              <a:ext cx="1320800"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38" name="Line 23"/>
            <p:cNvSpPr>
              <a:spLocks noChangeShapeType="1"/>
            </p:cNvSpPr>
            <p:nvPr/>
          </p:nvSpPr>
          <p:spPr bwMode="auto">
            <a:xfrm>
              <a:off x="6433120" y="5119337"/>
              <a:ext cx="1320800"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36" name="Rectangle 26">
              <a:extLst>
                <a:ext uri="{FF2B5EF4-FFF2-40B4-BE49-F238E27FC236}">
                  <a16:creationId xmlns:a16="http://schemas.microsoft.com/office/drawing/2014/main" id="{EA2E64D8-1F9B-49CD-BDFC-B8B55FA31017}"/>
                </a:ext>
              </a:extLst>
            </p:cNvPr>
            <p:cNvSpPr>
              <a:spLocks noChangeArrowheads="1"/>
            </p:cNvSpPr>
            <p:nvPr/>
          </p:nvSpPr>
          <p:spPr bwMode="auto">
            <a:xfrm>
              <a:off x="6445821" y="4441867"/>
              <a:ext cx="1272784" cy="36997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p>
              <a:r>
                <a:rPr lang="en-US" altLang="zh-CN" sz="1800" b="1" dirty="0">
                  <a:solidFill>
                    <a:srgbClr val="0432FF"/>
                  </a:solidFill>
                  <a:latin typeface="Consolas" panose="020B0609020204030204" pitchFamily="49" charset="0"/>
                  <a:ea typeface="+mj-ea"/>
                  <a:cs typeface="Consolas" panose="020B0609020204030204" pitchFamily="49" charset="0"/>
                </a:rPr>
                <a:t>$s2</a:t>
              </a:r>
              <a:r>
                <a:rPr lang="zh-CN" altLang="en-US" sz="1800" b="1" dirty="0">
                  <a:solidFill>
                    <a:srgbClr val="0432FF"/>
                  </a:solidFill>
                  <a:latin typeface="Consolas" panose="020B0609020204030204" pitchFamily="49" charset="0"/>
                  <a:ea typeface="+mj-ea"/>
                  <a:cs typeface="Consolas" panose="020B0609020204030204" pitchFamily="49" charset="0"/>
                </a:rPr>
                <a:t>的内容</a:t>
              </a:r>
            </a:p>
          </p:txBody>
        </p:sp>
        <p:sp>
          <p:nvSpPr>
            <p:cNvPr id="49" name="Line 17">
              <a:extLst>
                <a:ext uri="{FF2B5EF4-FFF2-40B4-BE49-F238E27FC236}">
                  <a16:creationId xmlns:a16="http://schemas.microsoft.com/office/drawing/2014/main" id="{5ACB0185-6592-4F77-B805-D270FF977BCB}"/>
                </a:ext>
              </a:extLst>
            </p:cNvPr>
            <p:cNvSpPr>
              <a:spLocks noChangeShapeType="1"/>
            </p:cNvSpPr>
            <p:nvPr/>
          </p:nvSpPr>
          <p:spPr bwMode="auto">
            <a:xfrm>
              <a:off x="3885182" y="4163662"/>
              <a:ext cx="1320800"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50" name="Rectangle 18">
              <a:extLst>
                <a:ext uri="{FF2B5EF4-FFF2-40B4-BE49-F238E27FC236}">
                  <a16:creationId xmlns:a16="http://schemas.microsoft.com/office/drawing/2014/main" id="{FF5A0AEE-3915-40DB-B67D-6C941EBF7DFC}"/>
                </a:ext>
              </a:extLst>
            </p:cNvPr>
            <p:cNvSpPr>
              <a:spLocks noChangeArrowheads="1"/>
            </p:cNvSpPr>
            <p:nvPr/>
          </p:nvSpPr>
          <p:spPr bwMode="auto">
            <a:xfrm>
              <a:off x="5520883" y="4737370"/>
              <a:ext cx="695703" cy="46230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p>
              <a:r>
                <a:rPr lang="en-US" altLang="zh-CN" sz="2400" b="1" i="1">
                  <a:solidFill>
                    <a:srgbClr val="0432FF"/>
                  </a:solidFill>
                  <a:latin typeface="Consolas" panose="020B0609020204030204" pitchFamily="49" charset="0"/>
                </a:rPr>
                <a:t>$</a:t>
              </a:r>
              <a:r>
                <a:rPr lang="en-US" altLang="zh-CN" sz="2400" b="1" i="1" err="1">
                  <a:solidFill>
                    <a:srgbClr val="0432FF"/>
                  </a:solidFill>
                  <a:latin typeface="Consolas" panose="020B0609020204030204" pitchFamily="49" charset="0"/>
                </a:rPr>
                <a:t>sp</a:t>
              </a:r>
              <a:endParaRPr lang="en-US" altLang="zh-CN" sz="2400" b="1" i="1">
                <a:solidFill>
                  <a:srgbClr val="0432FF"/>
                </a:solidFill>
                <a:latin typeface="Consolas" panose="020B0609020204030204" pitchFamily="49" charset="0"/>
              </a:endParaRPr>
            </a:p>
          </p:txBody>
        </p:sp>
        <p:sp>
          <p:nvSpPr>
            <p:cNvPr id="51" name="Line 19">
              <a:extLst>
                <a:ext uri="{FF2B5EF4-FFF2-40B4-BE49-F238E27FC236}">
                  <a16:creationId xmlns:a16="http://schemas.microsoft.com/office/drawing/2014/main" id="{FB951AA2-76BC-4921-A03B-FABA86177F47}"/>
                </a:ext>
              </a:extLst>
            </p:cNvPr>
            <p:cNvSpPr>
              <a:spLocks noChangeShapeType="1"/>
            </p:cNvSpPr>
            <p:nvPr/>
          </p:nvSpPr>
          <p:spPr bwMode="auto">
            <a:xfrm flipH="1">
              <a:off x="5236145" y="4968524"/>
              <a:ext cx="287338" cy="0"/>
            </a:xfrm>
            <a:prstGeom prst="line">
              <a:avLst/>
            </a:prstGeom>
            <a:noFill/>
            <a:ln w="28575">
              <a:solidFill>
                <a:schemeClr val="tx1"/>
              </a:solidFill>
              <a:round/>
              <a:headEnd type="none" w="sm" len="sm"/>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52" name="Line 21">
              <a:extLst>
                <a:ext uri="{FF2B5EF4-FFF2-40B4-BE49-F238E27FC236}">
                  <a16:creationId xmlns:a16="http://schemas.microsoft.com/office/drawing/2014/main" id="{69F2CAE8-105E-49B8-A7E6-B59D5D12C47D}"/>
                </a:ext>
              </a:extLst>
            </p:cNvPr>
            <p:cNvSpPr>
              <a:spLocks noChangeShapeType="1"/>
            </p:cNvSpPr>
            <p:nvPr/>
          </p:nvSpPr>
          <p:spPr bwMode="auto">
            <a:xfrm>
              <a:off x="3878832" y="4477987"/>
              <a:ext cx="1320800"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53" name="Line 22">
              <a:extLst>
                <a:ext uri="{FF2B5EF4-FFF2-40B4-BE49-F238E27FC236}">
                  <a16:creationId xmlns:a16="http://schemas.microsoft.com/office/drawing/2014/main" id="{DF051E50-63F2-4E93-8EFA-FDE8CD3858E4}"/>
                </a:ext>
              </a:extLst>
            </p:cNvPr>
            <p:cNvSpPr>
              <a:spLocks noChangeShapeType="1"/>
            </p:cNvSpPr>
            <p:nvPr/>
          </p:nvSpPr>
          <p:spPr bwMode="auto">
            <a:xfrm>
              <a:off x="3885182" y="4789137"/>
              <a:ext cx="1320800"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54" name="Line 23">
              <a:extLst>
                <a:ext uri="{FF2B5EF4-FFF2-40B4-BE49-F238E27FC236}">
                  <a16:creationId xmlns:a16="http://schemas.microsoft.com/office/drawing/2014/main" id="{24A97783-573F-46B9-BC92-8A03A2250B45}"/>
                </a:ext>
              </a:extLst>
            </p:cNvPr>
            <p:cNvSpPr>
              <a:spLocks noChangeShapeType="1"/>
            </p:cNvSpPr>
            <p:nvPr/>
          </p:nvSpPr>
          <p:spPr bwMode="auto">
            <a:xfrm>
              <a:off x="3882007" y="5119337"/>
              <a:ext cx="1320800"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55" name="Rectangle 26">
              <a:extLst>
                <a:ext uri="{FF2B5EF4-FFF2-40B4-BE49-F238E27FC236}">
                  <a16:creationId xmlns:a16="http://schemas.microsoft.com/office/drawing/2014/main" id="{6D036BCD-C580-464E-9EA3-6F845392B73B}"/>
                </a:ext>
              </a:extLst>
            </p:cNvPr>
            <p:cNvSpPr>
              <a:spLocks noChangeArrowheads="1"/>
            </p:cNvSpPr>
            <p:nvPr/>
          </p:nvSpPr>
          <p:spPr bwMode="auto">
            <a:xfrm>
              <a:off x="3900435" y="4150121"/>
              <a:ext cx="1272784" cy="36997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p>
              <a:r>
                <a:rPr lang="en-US" altLang="zh-CN" sz="1800" b="1" dirty="0">
                  <a:solidFill>
                    <a:srgbClr val="0432FF"/>
                  </a:solidFill>
                  <a:latin typeface="Consolas" panose="020B0609020204030204" pitchFamily="49" charset="0"/>
                  <a:ea typeface="+mj-ea"/>
                  <a:cs typeface="Consolas" panose="020B0609020204030204" pitchFamily="49" charset="0"/>
                </a:rPr>
                <a:t>$s1</a:t>
              </a:r>
              <a:r>
                <a:rPr lang="zh-CN" altLang="en-US" sz="1800" b="1" dirty="0">
                  <a:solidFill>
                    <a:srgbClr val="0432FF"/>
                  </a:solidFill>
                  <a:latin typeface="Consolas" panose="020B0609020204030204" pitchFamily="49" charset="0"/>
                  <a:ea typeface="+mj-ea"/>
                  <a:cs typeface="Consolas" panose="020B0609020204030204" pitchFamily="49" charset="0"/>
                </a:rPr>
                <a:t>的内容</a:t>
              </a:r>
            </a:p>
          </p:txBody>
        </p:sp>
        <p:sp>
          <p:nvSpPr>
            <p:cNvPr id="56" name="Rectangle 26">
              <a:extLst>
                <a:ext uri="{FF2B5EF4-FFF2-40B4-BE49-F238E27FC236}">
                  <a16:creationId xmlns:a16="http://schemas.microsoft.com/office/drawing/2014/main" id="{E33FE745-80C7-4117-A5CA-E2EE764D5BB8}"/>
                </a:ext>
              </a:extLst>
            </p:cNvPr>
            <p:cNvSpPr>
              <a:spLocks noChangeArrowheads="1"/>
            </p:cNvSpPr>
            <p:nvPr/>
          </p:nvSpPr>
          <p:spPr bwMode="auto">
            <a:xfrm>
              <a:off x="3894708" y="4441867"/>
              <a:ext cx="1272784" cy="36997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p>
              <a:r>
                <a:rPr lang="en-US" altLang="zh-CN" sz="1800" b="1" dirty="0">
                  <a:solidFill>
                    <a:srgbClr val="0432FF"/>
                  </a:solidFill>
                  <a:latin typeface="Consolas" panose="020B0609020204030204" pitchFamily="49" charset="0"/>
                  <a:ea typeface="+mj-ea"/>
                  <a:cs typeface="Consolas" panose="020B0609020204030204" pitchFamily="49" charset="0"/>
                </a:rPr>
                <a:t>$s2</a:t>
              </a:r>
              <a:r>
                <a:rPr lang="zh-CN" altLang="en-US" sz="1800" b="1" dirty="0">
                  <a:solidFill>
                    <a:srgbClr val="0432FF"/>
                  </a:solidFill>
                  <a:latin typeface="Consolas" panose="020B0609020204030204" pitchFamily="49" charset="0"/>
                  <a:ea typeface="+mj-ea"/>
                  <a:cs typeface="Consolas" panose="020B0609020204030204" pitchFamily="49" charset="0"/>
                </a:rPr>
                <a:t>的内容</a:t>
              </a:r>
            </a:p>
          </p:txBody>
        </p:sp>
        <p:sp>
          <p:nvSpPr>
            <p:cNvPr id="57" name="Rectangle 26">
              <a:extLst>
                <a:ext uri="{FF2B5EF4-FFF2-40B4-BE49-F238E27FC236}">
                  <a16:creationId xmlns:a16="http://schemas.microsoft.com/office/drawing/2014/main" id="{531EB6F0-7819-464A-8E77-464D1041D95B}"/>
                </a:ext>
              </a:extLst>
            </p:cNvPr>
            <p:cNvSpPr>
              <a:spLocks noChangeArrowheads="1"/>
            </p:cNvSpPr>
            <p:nvPr/>
          </p:nvSpPr>
          <p:spPr bwMode="auto">
            <a:xfrm>
              <a:off x="3901058" y="4762541"/>
              <a:ext cx="1272784" cy="36997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p>
              <a:r>
                <a:rPr lang="en-US" altLang="zh-CN" sz="1800" b="1">
                  <a:solidFill>
                    <a:srgbClr val="0432FF"/>
                  </a:solidFill>
                  <a:latin typeface="Consolas" panose="020B0609020204030204" pitchFamily="49" charset="0"/>
                  <a:ea typeface="+mj-ea"/>
                  <a:cs typeface="Consolas" panose="020B0609020204030204" pitchFamily="49" charset="0"/>
                </a:rPr>
                <a:t>$s3</a:t>
              </a:r>
              <a:r>
                <a:rPr lang="zh-CN" altLang="en-US" sz="1800" b="1">
                  <a:solidFill>
                    <a:srgbClr val="0432FF"/>
                  </a:solidFill>
                  <a:latin typeface="Consolas" panose="020B0609020204030204" pitchFamily="49" charset="0"/>
                  <a:ea typeface="+mj-ea"/>
                  <a:cs typeface="Consolas" panose="020B0609020204030204" pitchFamily="49" charset="0"/>
                </a:rPr>
                <a:t>的内容</a:t>
              </a:r>
            </a:p>
          </p:txBody>
        </p:sp>
        <p:sp>
          <p:nvSpPr>
            <p:cNvPr id="40" name="Rectangle 26">
              <a:extLst>
                <a:ext uri="{FF2B5EF4-FFF2-40B4-BE49-F238E27FC236}">
                  <a16:creationId xmlns:a16="http://schemas.microsoft.com/office/drawing/2014/main" id="{E573B026-EEF6-4553-B3B2-E8236A65F50E}"/>
                </a:ext>
              </a:extLst>
            </p:cNvPr>
            <p:cNvSpPr>
              <a:spLocks noChangeArrowheads="1"/>
            </p:cNvSpPr>
            <p:nvPr/>
          </p:nvSpPr>
          <p:spPr bwMode="auto">
            <a:xfrm>
              <a:off x="6451548" y="4150121"/>
              <a:ext cx="1272784" cy="36997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p>
              <a:r>
                <a:rPr lang="en-US" altLang="zh-CN" sz="1800" b="1" dirty="0">
                  <a:solidFill>
                    <a:srgbClr val="0432FF"/>
                  </a:solidFill>
                  <a:latin typeface="Consolas" panose="020B0609020204030204" pitchFamily="49" charset="0"/>
                  <a:ea typeface="+mj-ea"/>
                  <a:cs typeface="Consolas" panose="020B0609020204030204" pitchFamily="49" charset="0"/>
                </a:rPr>
                <a:t>$s1</a:t>
              </a:r>
              <a:r>
                <a:rPr lang="zh-CN" altLang="en-US" sz="1800" b="1" dirty="0">
                  <a:solidFill>
                    <a:srgbClr val="0432FF"/>
                  </a:solidFill>
                  <a:latin typeface="Consolas" panose="020B0609020204030204" pitchFamily="49" charset="0"/>
                  <a:ea typeface="+mj-ea"/>
                  <a:cs typeface="Consolas" panose="020B0609020204030204" pitchFamily="49" charset="0"/>
                </a:rPr>
                <a:t>的内容</a:t>
              </a:r>
            </a:p>
          </p:txBody>
        </p:sp>
      </p:grpSp>
      <p:sp>
        <p:nvSpPr>
          <p:cNvPr id="4" name="Title 4">
            <a:extLst>
              <a:ext uri="{FF2B5EF4-FFF2-40B4-BE49-F238E27FC236}">
                <a16:creationId xmlns:a16="http://schemas.microsoft.com/office/drawing/2014/main" id="{007E3883-DB00-B9D2-8D05-49DBA0CF8C7E}"/>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kern="1200" dirty="0">
                <a:cs typeface="+mn-cs"/>
              </a:rPr>
              <a:t>指令系统：栈操作</a:t>
            </a:r>
            <a:endParaRPr lang="en-CN" kern="0" dirty="0"/>
          </a:p>
        </p:txBody>
      </p:sp>
      <p:sp>
        <p:nvSpPr>
          <p:cNvPr id="5" name="文本框 4">
            <a:extLst>
              <a:ext uri="{FF2B5EF4-FFF2-40B4-BE49-F238E27FC236}">
                <a16:creationId xmlns:a16="http://schemas.microsoft.com/office/drawing/2014/main" id="{50EC7E8C-D50B-3748-C11C-5ED52456EF3C}"/>
              </a:ext>
            </a:extLst>
          </p:cNvPr>
          <p:cNvSpPr txBox="1"/>
          <p:nvPr/>
        </p:nvSpPr>
        <p:spPr>
          <a:xfrm>
            <a:off x="6710909" y="2560746"/>
            <a:ext cx="1758173" cy="400110"/>
          </a:xfrm>
          <a:prstGeom prst="rect">
            <a:avLst/>
          </a:prstGeom>
          <a:noFill/>
        </p:spPr>
        <p:txBody>
          <a:bodyPr wrap="square" rtlCol="0">
            <a:spAutoFit/>
          </a:bodyPr>
          <a:lstStyle/>
          <a:p>
            <a:r>
              <a:rPr kumimoji="1" lang="zh-CN" altLang="en-US" sz="2000" b="1" dirty="0">
                <a:solidFill>
                  <a:srgbClr val="FF0000"/>
                </a:solidFill>
                <a:latin typeface="+mj-ea"/>
                <a:ea typeface="+mj-ea"/>
              </a:rPr>
              <a:t>执行指令</a:t>
            </a:r>
            <a:r>
              <a:rPr kumimoji="1" lang="en-US" altLang="zh-CN" sz="2000" b="1" dirty="0">
                <a:solidFill>
                  <a:srgbClr val="FF0000"/>
                </a:solidFill>
                <a:latin typeface="+mj-ea"/>
                <a:ea typeface="+mj-ea"/>
              </a:rPr>
              <a:t>0</a:t>
            </a:r>
            <a:r>
              <a:rPr kumimoji="1" lang="zh-CN" altLang="en-US" sz="2000" b="1" dirty="0">
                <a:solidFill>
                  <a:srgbClr val="FF0000"/>
                </a:solidFill>
                <a:latin typeface="+mj-ea"/>
                <a:ea typeface="+mj-ea"/>
              </a:rPr>
              <a:t>后：</a:t>
            </a:r>
          </a:p>
        </p:txBody>
      </p:sp>
    </p:spTree>
    <p:extLst>
      <p:ext uri="{BB962C8B-B14F-4D97-AF65-F5344CB8AC3E}">
        <p14:creationId xmlns:p14="http://schemas.microsoft.com/office/powerpoint/2010/main" val="22421580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灯片编号占位符 3">
            <a:extLst>
              <a:ext uri="{FF2B5EF4-FFF2-40B4-BE49-F238E27FC236}">
                <a16:creationId xmlns:a16="http://schemas.microsoft.com/office/drawing/2014/main" id="{E000966D-D660-5A49-BF0A-3CFEF16792FD}"/>
              </a:ext>
            </a:extLst>
          </p:cNvPr>
          <p:cNvSpPr>
            <a:spLocks noGrp="1"/>
          </p:cNvSpPr>
          <p:nvPr>
            <p:ph type="sldNum" sz="quarter" idx="12"/>
          </p:nvPr>
        </p:nvSpPr>
        <p:spPr/>
        <p:txBody>
          <a:bodyPr/>
          <a:lstStyle/>
          <a:p>
            <a:fld id="{14659731-6BD7-46E7-8D3C-2F3AC07E20B1}" type="slidenum">
              <a:rPr lang="en-US" altLang="zh-CN" smtClean="0"/>
              <a:pPr/>
              <a:t>89</a:t>
            </a:fld>
            <a:endParaRPr lang="en-US" altLang="zh-CN"/>
          </a:p>
        </p:txBody>
      </p:sp>
      <p:sp>
        <p:nvSpPr>
          <p:cNvPr id="60419" name="Rectangle 3"/>
          <p:cNvSpPr>
            <a:spLocks noGrp="1" noChangeArrowheads="1"/>
          </p:cNvSpPr>
          <p:nvPr>
            <p:ph idx="4294967295"/>
          </p:nvPr>
        </p:nvSpPr>
        <p:spPr>
          <a:xfrm>
            <a:off x="425034" y="1296628"/>
            <a:ext cx="7886700" cy="4351338"/>
          </a:xfrm>
        </p:spPr>
        <p:txBody>
          <a:bodyPr/>
          <a:lstStyle/>
          <a:p>
            <a:pPr hangingPunct="1"/>
            <a:r>
              <a:rPr lang="zh-CN" altLang="en-US" sz="2800" dirty="0"/>
              <a:t>出栈操作</a:t>
            </a:r>
            <a:endParaRPr lang="en-US" altLang="zh-CN" sz="2800" dirty="0"/>
          </a:p>
          <a:p>
            <a:pPr marL="0" indent="0" hangingPunct="1">
              <a:buNone/>
            </a:pPr>
            <a:r>
              <a:rPr lang="en-US" altLang="zh-CN" sz="2400" i="1" dirty="0">
                <a:latin typeface="Consolas" panose="020B0609020204030204" pitchFamily="49" charset="0"/>
              </a:rPr>
              <a:t>  0. </a:t>
            </a:r>
            <a:r>
              <a:rPr lang="en-US" altLang="zh-CN" sz="2400" i="1" dirty="0" err="1">
                <a:latin typeface="Consolas" panose="020B0609020204030204" pitchFamily="49" charset="0"/>
              </a:rPr>
              <a:t>lw</a:t>
            </a:r>
            <a:r>
              <a:rPr lang="en-US" altLang="zh-CN" sz="2400" i="1" dirty="0">
                <a:latin typeface="Consolas" panose="020B0609020204030204" pitchFamily="49" charset="0"/>
              </a:rPr>
              <a:t>   $s3, 0($</a:t>
            </a:r>
            <a:r>
              <a:rPr lang="en-US" altLang="zh-CN" sz="2400" i="1" dirty="0" err="1">
                <a:latin typeface="Consolas" panose="020B0609020204030204" pitchFamily="49" charset="0"/>
              </a:rPr>
              <a:t>sp</a:t>
            </a:r>
            <a:r>
              <a:rPr lang="en-US" altLang="zh-CN" sz="2400" i="1" dirty="0">
                <a:latin typeface="Consolas" panose="020B0609020204030204" pitchFamily="49" charset="0"/>
              </a:rPr>
              <a:t>)</a:t>
            </a:r>
          </a:p>
          <a:p>
            <a:pPr marL="0" indent="0" hangingPunct="1">
              <a:buNone/>
            </a:pPr>
            <a:r>
              <a:rPr lang="en-US" altLang="zh-CN" sz="2400" i="1" dirty="0">
                <a:latin typeface="Consolas" panose="020B0609020204030204" pitchFamily="49" charset="0"/>
              </a:rPr>
              <a:t>  1. </a:t>
            </a:r>
            <a:r>
              <a:rPr lang="en-US" altLang="zh-CN" sz="2400" i="1" dirty="0" err="1">
                <a:latin typeface="Consolas" panose="020B0609020204030204" pitchFamily="49" charset="0"/>
              </a:rPr>
              <a:t>lw</a:t>
            </a:r>
            <a:r>
              <a:rPr lang="en-US" altLang="zh-CN" sz="2400" i="1" dirty="0">
                <a:latin typeface="Consolas" panose="020B0609020204030204" pitchFamily="49" charset="0"/>
              </a:rPr>
              <a:t>   $s2, 4($</a:t>
            </a:r>
            <a:r>
              <a:rPr lang="en-US" altLang="zh-CN" sz="2400" i="1" dirty="0" err="1">
                <a:latin typeface="Consolas" panose="020B0609020204030204" pitchFamily="49" charset="0"/>
              </a:rPr>
              <a:t>sp</a:t>
            </a:r>
            <a:r>
              <a:rPr lang="en-US" altLang="zh-CN" sz="2400" i="1" dirty="0">
                <a:latin typeface="Consolas" panose="020B0609020204030204" pitchFamily="49" charset="0"/>
              </a:rPr>
              <a:t>)</a:t>
            </a:r>
          </a:p>
          <a:p>
            <a:pPr marL="0" indent="0" hangingPunct="1">
              <a:buNone/>
            </a:pPr>
            <a:r>
              <a:rPr lang="en-US" altLang="zh-CN" sz="2400" i="1" dirty="0">
                <a:latin typeface="Consolas" panose="020B0609020204030204" pitchFamily="49" charset="0"/>
              </a:rPr>
              <a:t>  2. </a:t>
            </a:r>
            <a:r>
              <a:rPr lang="en-US" altLang="zh-CN" sz="2400" i="1" dirty="0" err="1">
                <a:latin typeface="Consolas" panose="020B0609020204030204" pitchFamily="49" charset="0"/>
              </a:rPr>
              <a:t>lw</a:t>
            </a:r>
            <a:r>
              <a:rPr lang="en-US" altLang="zh-CN" sz="2400" i="1" dirty="0">
                <a:latin typeface="Consolas" panose="020B0609020204030204" pitchFamily="49" charset="0"/>
              </a:rPr>
              <a:t>   $s1, 8($</a:t>
            </a:r>
            <a:r>
              <a:rPr lang="en-US" altLang="zh-CN" sz="2400" i="1" dirty="0" err="1">
                <a:latin typeface="Consolas" panose="020B0609020204030204" pitchFamily="49" charset="0"/>
              </a:rPr>
              <a:t>sp</a:t>
            </a:r>
            <a:r>
              <a:rPr lang="en-US" altLang="zh-CN" sz="2400" i="1" dirty="0">
                <a:latin typeface="Consolas" panose="020B0609020204030204" pitchFamily="49" charset="0"/>
              </a:rPr>
              <a:t>)</a:t>
            </a:r>
          </a:p>
          <a:p>
            <a:pPr marL="0" indent="0" hangingPunct="1">
              <a:buNone/>
            </a:pPr>
            <a:r>
              <a:rPr lang="en-US" altLang="zh-CN" sz="2400" i="1" dirty="0">
                <a:latin typeface="Consolas" panose="020B0609020204030204" pitchFamily="49" charset="0"/>
              </a:rPr>
              <a:t>  3. </a:t>
            </a:r>
            <a:r>
              <a:rPr lang="en-US" altLang="zh-CN" sz="2400" i="1" dirty="0" err="1">
                <a:latin typeface="Consolas" panose="020B0609020204030204" pitchFamily="49" charset="0"/>
              </a:rPr>
              <a:t>addi</a:t>
            </a:r>
            <a:r>
              <a:rPr lang="en-US" altLang="zh-CN" sz="2400" i="1" dirty="0">
                <a:latin typeface="Consolas" panose="020B0609020204030204" pitchFamily="49" charset="0"/>
              </a:rPr>
              <a:t> $</a:t>
            </a:r>
            <a:r>
              <a:rPr lang="en-US" altLang="zh-CN" sz="2400" i="1" dirty="0" err="1">
                <a:latin typeface="Consolas" panose="020B0609020204030204" pitchFamily="49" charset="0"/>
              </a:rPr>
              <a:t>sp</a:t>
            </a:r>
            <a:r>
              <a:rPr lang="en-US" altLang="zh-CN" sz="2400" i="1" dirty="0">
                <a:latin typeface="Consolas" panose="020B0609020204030204" pitchFamily="49" charset="0"/>
              </a:rPr>
              <a:t>, $</a:t>
            </a:r>
            <a:r>
              <a:rPr lang="en-US" altLang="zh-CN" sz="2400" i="1" dirty="0" err="1">
                <a:latin typeface="Consolas" panose="020B0609020204030204" pitchFamily="49" charset="0"/>
              </a:rPr>
              <a:t>sp</a:t>
            </a:r>
            <a:r>
              <a:rPr lang="en-US" altLang="zh-CN" sz="2400" i="1" dirty="0">
                <a:latin typeface="Consolas" panose="020B0609020204030204" pitchFamily="49" charset="0"/>
              </a:rPr>
              <a:t>, 12</a:t>
            </a:r>
            <a:endParaRPr lang="en-US" altLang="zh-CN" dirty="0"/>
          </a:p>
          <a:p>
            <a:pPr hangingPunct="1"/>
            <a:endParaRPr lang="en-US" altLang="zh-CN" dirty="0"/>
          </a:p>
        </p:txBody>
      </p:sp>
      <p:grpSp>
        <p:nvGrpSpPr>
          <p:cNvPr id="3" name="组合 2">
            <a:extLst>
              <a:ext uri="{FF2B5EF4-FFF2-40B4-BE49-F238E27FC236}">
                <a16:creationId xmlns:a16="http://schemas.microsoft.com/office/drawing/2014/main" id="{62A130C9-4A3F-6941-F8AB-6A97CC9FEDD1}"/>
              </a:ext>
            </a:extLst>
          </p:cNvPr>
          <p:cNvGrpSpPr/>
          <p:nvPr/>
        </p:nvGrpSpPr>
        <p:grpSpPr>
          <a:xfrm>
            <a:off x="3878832" y="3294271"/>
            <a:ext cx="5217674" cy="3452181"/>
            <a:chOff x="3878832" y="3294271"/>
            <a:chExt cx="5217674" cy="3452181"/>
          </a:xfrm>
        </p:grpSpPr>
        <p:sp>
          <p:nvSpPr>
            <p:cNvPr id="60427" name="Text Box 12"/>
            <p:cNvSpPr txBox="1">
              <a:spLocks noChangeArrowheads="1"/>
            </p:cNvSpPr>
            <p:nvPr/>
          </p:nvSpPr>
          <p:spPr bwMode="auto">
            <a:xfrm>
              <a:off x="4093288" y="6345700"/>
              <a:ext cx="955390" cy="400752"/>
            </a:xfrm>
            <a:prstGeom prst="rect">
              <a:avLst/>
            </a:prstGeom>
            <a:solidFill>
              <a:schemeClr val="bg1">
                <a:lumMod val="85000"/>
              </a:schemeClr>
            </a:solidFill>
            <a:ln>
              <a:noFill/>
            </a:ln>
            <a:effectLst/>
            <a:extLs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r>
                <a:rPr lang="zh-CN" altLang="en-US" sz="2000" dirty="0">
                  <a:latin typeface="+mj-ea"/>
                  <a:ea typeface="+mj-ea"/>
                </a:rPr>
                <a:t>出栈前</a:t>
              </a:r>
            </a:p>
          </p:txBody>
        </p:sp>
        <p:sp>
          <p:nvSpPr>
            <p:cNvPr id="60420" name="Line 5"/>
            <p:cNvSpPr>
              <a:spLocks noChangeShapeType="1"/>
            </p:cNvSpPr>
            <p:nvPr/>
          </p:nvSpPr>
          <p:spPr bwMode="auto">
            <a:xfrm>
              <a:off x="3880420" y="3527074"/>
              <a:ext cx="0" cy="2678113"/>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21" name="Line 6"/>
            <p:cNvSpPr>
              <a:spLocks noChangeShapeType="1"/>
            </p:cNvSpPr>
            <p:nvPr/>
          </p:nvSpPr>
          <p:spPr bwMode="auto">
            <a:xfrm>
              <a:off x="5201220" y="3523899"/>
              <a:ext cx="0" cy="2678113"/>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22" name="Text Box 7"/>
            <p:cNvSpPr txBox="1">
              <a:spLocks noChangeArrowheads="1"/>
            </p:cNvSpPr>
            <p:nvPr/>
          </p:nvSpPr>
          <p:spPr bwMode="auto">
            <a:xfrm>
              <a:off x="5213920" y="3297446"/>
              <a:ext cx="1109278" cy="46230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r>
                <a:rPr lang="zh-CN" altLang="en-US" sz="2400">
                  <a:latin typeface="+mj-ea"/>
                  <a:ea typeface="+mj-ea"/>
                </a:rPr>
                <a:t>高地址</a:t>
              </a:r>
            </a:p>
          </p:txBody>
        </p:sp>
        <p:sp>
          <p:nvSpPr>
            <p:cNvPr id="60423" name="Text Box 8"/>
            <p:cNvSpPr txBox="1">
              <a:spLocks noChangeArrowheads="1"/>
            </p:cNvSpPr>
            <p:nvPr/>
          </p:nvSpPr>
          <p:spPr bwMode="auto">
            <a:xfrm>
              <a:off x="5198045" y="5939754"/>
              <a:ext cx="1109278" cy="46230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r>
                <a:rPr lang="zh-CN" altLang="en-US" sz="2400" dirty="0">
                  <a:latin typeface="+mj-ea"/>
                  <a:ea typeface="+mj-ea"/>
                </a:rPr>
                <a:t>低地址</a:t>
              </a:r>
            </a:p>
          </p:txBody>
        </p:sp>
        <p:sp>
          <p:nvSpPr>
            <p:cNvPr id="60428" name="Line 13"/>
            <p:cNvSpPr>
              <a:spLocks noChangeShapeType="1"/>
            </p:cNvSpPr>
            <p:nvPr/>
          </p:nvSpPr>
          <p:spPr bwMode="auto">
            <a:xfrm>
              <a:off x="6439470" y="3523899"/>
              <a:ext cx="0" cy="2678113"/>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29" name="Line 14"/>
            <p:cNvSpPr>
              <a:spLocks noChangeShapeType="1"/>
            </p:cNvSpPr>
            <p:nvPr/>
          </p:nvSpPr>
          <p:spPr bwMode="auto">
            <a:xfrm>
              <a:off x="7760270" y="3520724"/>
              <a:ext cx="0" cy="2678113"/>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30" name="Text Box 15"/>
            <p:cNvSpPr txBox="1">
              <a:spLocks noChangeArrowheads="1"/>
            </p:cNvSpPr>
            <p:nvPr/>
          </p:nvSpPr>
          <p:spPr bwMode="auto">
            <a:xfrm>
              <a:off x="7772970" y="3294271"/>
              <a:ext cx="1109278" cy="46230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r>
                <a:rPr lang="zh-CN" altLang="en-US" sz="2400" dirty="0">
                  <a:latin typeface="+mj-ea"/>
                  <a:ea typeface="+mj-ea"/>
                </a:rPr>
                <a:t>高地址</a:t>
              </a:r>
            </a:p>
          </p:txBody>
        </p:sp>
        <p:sp>
          <p:nvSpPr>
            <p:cNvPr id="60431" name="Text Box 16"/>
            <p:cNvSpPr txBox="1">
              <a:spLocks noChangeArrowheads="1"/>
            </p:cNvSpPr>
            <p:nvPr/>
          </p:nvSpPr>
          <p:spPr bwMode="auto">
            <a:xfrm>
              <a:off x="7757095" y="5936579"/>
              <a:ext cx="1109278" cy="46230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r>
                <a:rPr lang="zh-CN" altLang="en-US" sz="2400">
                  <a:latin typeface="+mj-ea"/>
                  <a:ea typeface="+mj-ea"/>
                </a:rPr>
                <a:t>低地址</a:t>
              </a:r>
            </a:p>
          </p:txBody>
        </p:sp>
        <p:sp>
          <p:nvSpPr>
            <p:cNvPr id="60432" name="Line 17"/>
            <p:cNvSpPr>
              <a:spLocks noChangeShapeType="1"/>
            </p:cNvSpPr>
            <p:nvPr/>
          </p:nvSpPr>
          <p:spPr bwMode="auto">
            <a:xfrm>
              <a:off x="6436295" y="4163662"/>
              <a:ext cx="1320800"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33" name="Rectangle 18"/>
            <p:cNvSpPr>
              <a:spLocks noChangeArrowheads="1"/>
            </p:cNvSpPr>
            <p:nvPr/>
          </p:nvSpPr>
          <p:spPr bwMode="auto">
            <a:xfrm>
              <a:off x="8071996" y="4737370"/>
              <a:ext cx="695703" cy="46230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p>
              <a:r>
                <a:rPr lang="en-US" altLang="zh-CN" sz="2400" b="1" i="1" dirty="0">
                  <a:solidFill>
                    <a:srgbClr val="0432FF"/>
                  </a:solidFill>
                  <a:latin typeface="Consolas" panose="020B0609020204030204" pitchFamily="49" charset="0"/>
                </a:rPr>
                <a:t>$</a:t>
              </a:r>
              <a:r>
                <a:rPr lang="en-US" altLang="zh-CN" sz="2400" b="1" i="1" dirty="0" err="1">
                  <a:solidFill>
                    <a:srgbClr val="0432FF"/>
                  </a:solidFill>
                  <a:latin typeface="Consolas" panose="020B0609020204030204" pitchFamily="49" charset="0"/>
                </a:rPr>
                <a:t>sp</a:t>
              </a:r>
              <a:endParaRPr lang="en-US" altLang="zh-CN" sz="2400" b="1" i="1" dirty="0">
                <a:solidFill>
                  <a:srgbClr val="0432FF"/>
                </a:solidFill>
                <a:latin typeface="Consolas" panose="020B0609020204030204" pitchFamily="49" charset="0"/>
              </a:endParaRPr>
            </a:p>
          </p:txBody>
        </p:sp>
        <p:sp>
          <p:nvSpPr>
            <p:cNvPr id="60434" name="Line 19"/>
            <p:cNvSpPr>
              <a:spLocks noChangeShapeType="1"/>
            </p:cNvSpPr>
            <p:nvPr/>
          </p:nvSpPr>
          <p:spPr bwMode="auto">
            <a:xfrm flipH="1">
              <a:off x="7787258" y="4968524"/>
              <a:ext cx="287338" cy="0"/>
            </a:xfrm>
            <a:prstGeom prst="line">
              <a:avLst/>
            </a:prstGeom>
            <a:noFill/>
            <a:ln w="28575">
              <a:solidFill>
                <a:schemeClr val="tx1"/>
              </a:solidFill>
              <a:round/>
              <a:headEnd type="none" w="sm" len="sm"/>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35" name="Text Box 20"/>
            <p:cNvSpPr txBox="1">
              <a:spLocks noChangeArrowheads="1"/>
            </p:cNvSpPr>
            <p:nvPr/>
          </p:nvSpPr>
          <p:spPr bwMode="auto">
            <a:xfrm>
              <a:off x="6642019" y="6342079"/>
              <a:ext cx="955390" cy="400752"/>
            </a:xfrm>
            <a:prstGeom prst="rect">
              <a:avLst/>
            </a:prstGeom>
            <a:solidFill>
              <a:schemeClr val="bg1">
                <a:lumMod val="85000"/>
              </a:schemeClr>
            </a:solidFill>
            <a:ln>
              <a:noFill/>
            </a:ln>
            <a:effectLst/>
            <a:extLs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defPPr>
                <a:defRPr lang="zh-CN"/>
              </a:defPPr>
              <a:lvl1pPr eaLnBrk="1" hangingPunct="1">
                <a:defRPr sz="2000">
                  <a:solidFill>
                    <a:srgbClr val="0432FF"/>
                  </a:solidFill>
                  <a:latin typeface="+mj-ea"/>
                  <a:ea typeface="+mj-ea"/>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zh-CN" altLang="en-US" b="1" dirty="0">
                  <a:solidFill>
                    <a:schemeClr val="tx1"/>
                  </a:solidFill>
                </a:rPr>
                <a:t>出栈后</a:t>
              </a:r>
            </a:p>
          </p:txBody>
        </p:sp>
        <p:sp>
          <p:nvSpPr>
            <p:cNvPr id="60436" name="Line 21"/>
            <p:cNvSpPr>
              <a:spLocks noChangeShapeType="1"/>
            </p:cNvSpPr>
            <p:nvPr/>
          </p:nvSpPr>
          <p:spPr bwMode="auto">
            <a:xfrm>
              <a:off x="6429945" y="4477987"/>
              <a:ext cx="1320800"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37" name="Line 22"/>
            <p:cNvSpPr>
              <a:spLocks noChangeShapeType="1"/>
            </p:cNvSpPr>
            <p:nvPr/>
          </p:nvSpPr>
          <p:spPr bwMode="auto">
            <a:xfrm>
              <a:off x="6436295" y="4789137"/>
              <a:ext cx="1320800"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38" name="Line 23"/>
            <p:cNvSpPr>
              <a:spLocks noChangeShapeType="1"/>
            </p:cNvSpPr>
            <p:nvPr/>
          </p:nvSpPr>
          <p:spPr bwMode="auto">
            <a:xfrm>
              <a:off x="6433120" y="5119337"/>
              <a:ext cx="1320800"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49" name="Line 17">
              <a:extLst>
                <a:ext uri="{FF2B5EF4-FFF2-40B4-BE49-F238E27FC236}">
                  <a16:creationId xmlns:a16="http://schemas.microsoft.com/office/drawing/2014/main" id="{5ACB0185-6592-4F77-B805-D270FF977BCB}"/>
                </a:ext>
              </a:extLst>
            </p:cNvPr>
            <p:cNvSpPr>
              <a:spLocks noChangeShapeType="1"/>
            </p:cNvSpPr>
            <p:nvPr/>
          </p:nvSpPr>
          <p:spPr bwMode="auto">
            <a:xfrm>
              <a:off x="3885182" y="4163662"/>
              <a:ext cx="1320800"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50" name="Rectangle 18">
              <a:extLst>
                <a:ext uri="{FF2B5EF4-FFF2-40B4-BE49-F238E27FC236}">
                  <a16:creationId xmlns:a16="http://schemas.microsoft.com/office/drawing/2014/main" id="{FF5A0AEE-3915-40DB-B67D-6C941EBF7DFC}"/>
                </a:ext>
              </a:extLst>
            </p:cNvPr>
            <p:cNvSpPr>
              <a:spLocks noChangeArrowheads="1"/>
            </p:cNvSpPr>
            <p:nvPr/>
          </p:nvSpPr>
          <p:spPr bwMode="auto">
            <a:xfrm>
              <a:off x="5520883" y="4737370"/>
              <a:ext cx="695703" cy="46230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p>
              <a:r>
                <a:rPr lang="en-US" altLang="zh-CN" sz="2400" b="1" i="1">
                  <a:solidFill>
                    <a:srgbClr val="0432FF"/>
                  </a:solidFill>
                  <a:latin typeface="Consolas" panose="020B0609020204030204" pitchFamily="49" charset="0"/>
                </a:rPr>
                <a:t>$</a:t>
              </a:r>
              <a:r>
                <a:rPr lang="en-US" altLang="zh-CN" sz="2400" b="1" i="1" err="1">
                  <a:solidFill>
                    <a:srgbClr val="0432FF"/>
                  </a:solidFill>
                  <a:latin typeface="Consolas" panose="020B0609020204030204" pitchFamily="49" charset="0"/>
                </a:rPr>
                <a:t>sp</a:t>
              </a:r>
              <a:endParaRPr lang="en-US" altLang="zh-CN" sz="2400" b="1" i="1">
                <a:solidFill>
                  <a:srgbClr val="0432FF"/>
                </a:solidFill>
                <a:latin typeface="Consolas" panose="020B0609020204030204" pitchFamily="49" charset="0"/>
              </a:endParaRPr>
            </a:p>
          </p:txBody>
        </p:sp>
        <p:sp>
          <p:nvSpPr>
            <p:cNvPr id="51" name="Line 19">
              <a:extLst>
                <a:ext uri="{FF2B5EF4-FFF2-40B4-BE49-F238E27FC236}">
                  <a16:creationId xmlns:a16="http://schemas.microsoft.com/office/drawing/2014/main" id="{FB951AA2-76BC-4921-A03B-FABA86177F47}"/>
                </a:ext>
              </a:extLst>
            </p:cNvPr>
            <p:cNvSpPr>
              <a:spLocks noChangeShapeType="1"/>
            </p:cNvSpPr>
            <p:nvPr/>
          </p:nvSpPr>
          <p:spPr bwMode="auto">
            <a:xfrm flipH="1">
              <a:off x="5236145" y="4968524"/>
              <a:ext cx="287338" cy="0"/>
            </a:xfrm>
            <a:prstGeom prst="line">
              <a:avLst/>
            </a:prstGeom>
            <a:noFill/>
            <a:ln w="28575">
              <a:solidFill>
                <a:schemeClr val="tx1"/>
              </a:solidFill>
              <a:round/>
              <a:headEnd type="none" w="sm" len="sm"/>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52" name="Line 21">
              <a:extLst>
                <a:ext uri="{FF2B5EF4-FFF2-40B4-BE49-F238E27FC236}">
                  <a16:creationId xmlns:a16="http://schemas.microsoft.com/office/drawing/2014/main" id="{69F2CAE8-105E-49B8-A7E6-B59D5D12C47D}"/>
                </a:ext>
              </a:extLst>
            </p:cNvPr>
            <p:cNvSpPr>
              <a:spLocks noChangeShapeType="1"/>
            </p:cNvSpPr>
            <p:nvPr/>
          </p:nvSpPr>
          <p:spPr bwMode="auto">
            <a:xfrm>
              <a:off x="3878832" y="4477987"/>
              <a:ext cx="1320800"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53" name="Line 22">
              <a:extLst>
                <a:ext uri="{FF2B5EF4-FFF2-40B4-BE49-F238E27FC236}">
                  <a16:creationId xmlns:a16="http://schemas.microsoft.com/office/drawing/2014/main" id="{DF051E50-63F2-4E93-8EFA-FDE8CD3858E4}"/>
                </a:ext>
              </a:extLst>
            </p:cNvPr>
            <p:cNvSpPr>
              <a:spLocks noChangeShapeType="1"/>
            </p:cNvSpPr>
            <p:nvPr/>
          </p:nvSpPr>
          <p:spPr bwMode="auto">
            <a:xfrm>
              <a:off x="3885182" y="4789137"/>
              <a:ext cx="1320800"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54" name="Line 23">
              <a:extLst>
                <a:ext uri="{FF2B5EF4-FFF2-40B4-BE49-F238E27FC236}">
                  <a16:creationId xmlns:a16="http://schemas.microsoft.com/office/drawing/2014/main" id="{24A97783-573F-46B9-BC92-8A03A2250B45}"/>
                </a:ext>
              </a:extLst>
            </p:cNvPr>
            <p:cNvSpPr>
              <a:spLocks noChangeShapeType="1"/>
            </p:cNvSpPr>
            <p:nvPr/>
          </p:nvSpPr>
          <p:spPr bwMode="auto">
            <a:xfrm>
              <a:off x="3882007" y="5119337"/>
              <a:ext cx="1320800"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55" name="Rectangle 26">
              <a:extLst>
                <a:ext uri="{FF2B5EF4-FFF2-40B4-BE49-F238E27FC236}">
                  <a16:creationId xmlns:a16="http://schemas.microsoft.com/office/drawing/2014/main" id="{6D036BCD-C580-464E-9EA3-6F845392B73B}"/>
                </a:ext>
              </a:extLst>
            </p:cNvPr>
            <p:cNvSpPr>
              <a:spLocks noChangeArrowheads="1"/>
            </p:cNvSpPr>
            <p:nvPr/>
          </p:nvSpPr>
          <p:spPr bwMode="auto">
            <a:xfrm>
              <a:off x="3900435" y="4150121"/>
              <a:ext cx="1272784" cy="36997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p>
              <a:r>
                <a:rPr lang="en-US" altLang="zh-CN" sz="1800" b="1" dirty="0">
                  <a:solidFill>
                    <a:srgbClr val="0432FF"/>
                  </a:solidFill>
                  <a:latin typeface="Consolas" panose="020B0609020204030204" pitchFamily="49" charset="0"/>
                  <a:ea typeface="+mj-ea"/>
                  <a:cs typeface="Consolas" panose="020B0609020204030204" pitchFamily="49" charset="0"/>
                </a:rPr>
                <a:t>$s1</a:t>
              </a:r>
              <a:r>
                <a:rPr lang="zh-CN" altLang="en-US" sz="1800" b="1" dirty="0">
                  <a:solidFill>
                    <a:srgbClr val="0432FF"/>
                  </a:solidFill>
                  <a:latin typeface="Consolas" panose="020B0609020204030204" pitchFamily="49" charset="0"/>
                  <a:ea typeface="+mj-ea"/>
                  <a:cs typeface="Consolas" panose="020B0609020204030204" pitchFamily="49" charset="0"/>
                </a:rPr>
                <a:t>的内容</a:t>
              </a:r>
            </a:p>
          </p:txBody>
        </p:sp>
        <p:sp>
          <p:nvSpPr>
            <p:cNvPr id="56" name="Rectangle 26">
              <a:extLst>
                <a:ext uri="{FF2B5EF4-FFF2-40B4-BE49-F238E27FC236}">
                  <a16:creationId xmlns:a16="http://schemas.microsoft.com/office/drawing/2014/main" id="{E33FE745-80C7-4117-A5CA-E2EE764D5BB8}"/>
                </a:ext>
              </a:extLst>
            </p:cNvPr>
            <p:cNvSpPr>
              <a:spLocks noChangeArrowheads="1"/>
            </p:cNvSpPr>
            <p:nvPr/>
          </p:nvSpPr>
          <p:spPr bwMode="auto">
            <a:xfrm>
              <a:off x="3894708" y="4441867"/>
              <a:ext cx="1272784" cy="36997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p>
              <a:r>
                <a:rPr lang="en-US" altLang="zh-CN" sz="1800" b="1" dirty="0">
                  <a:solidFill>
                    <a:srgbClr val="0432FF"/>
                  </a:solidFill>
                  <a:latin typeface="Consolas" panose="020B0609020204030204" pitchFamily="49" charset="0"/>
                  <a:ea typeface="+mj-ea"/>
                  <a:cs typeface="Consolas" panose="020B0609020204030204" pitchFamily="49" charset="0"/>
                </a:rPr>
                <a:t>$s2</a:t>
              </a:r>
              <a:r>
                <a:rPr lang="zh-CN" altLang="en-US" sz="1800" b="1" dirty="0">
                  <a:solidFill>
                    <a:srgbClr val="0432FF"/>
                  </a:solidFill>
                  <a:latin typeface="Consolas" panose="020B0609020204030204" pitchFamily="49" charset="0"/>
                  <a:ea typeface="+mj-ea"/>
                  <a:cs typeface="Consolas" panose="020B0609020204030204" pitchFamily="49" charset="0"/>
                </a:rPr>
                <a:t>的内容</a:t>
              </a:r>
            </a:p>
          </p:txBody>
        </p:sp>
        <p:sp>
          <p:nvSpPr>
            <p:cNvPr id="57" name="Rectangle 26">
              <a:extLst>
                <a:ext uri="{FF2B5EF4-FFF2-40B4-BE49-F238E27FC236}">
                  <a16:creationId xmlns:a16="http://schemas.microsoft.com/office/drawing/2014/main" id="{531EB6F0-7819-464A-8E77-464D1041D95B}"/>
                </a:ext>
              </a:extLst>
            </p:cNvPr>
            <p:cNvSpPr>
              <a:spLocks noChangeArrowheads="1"/>
            </p:cNvSpPr>
            <p:nvPr/>
          </p:nvSpPr>
          <p:spPr bwMode="auto">
            <a:xfrm>
              <a:off x="3901058" y="4762541"/>
              <a:ext cx="1272784" cy="36997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p>
              <a:r>
                <a:rPr lang="en-US" altLang="zh-CN" sz="1800" b="1">
                  <a:solidFill>
                    <a:srgbClr val="0432FF"/>
                  </a:solidFill>
                  <a:latin typeface="Consolas" panose="020B0609020204030204" pitchFamily="49" charset="0"/>
                  <a:ea typeface="+mj-ea"/>
                  <a:cs typeface="Consolas" panose="020B0609020204030204" pitchFamily="49" charset="0"/>
                </a:rPr>
                <a:t>$s3</a:t>
              </a:r>
              <a:r>
                <a:rPr lang="zh-CN" altLang="en-US" sz="1800" b="1">
                  <a:solidFill>
                    <a:srgbClr val="0432FF"/>
                  </a:solidFill>
                  <a:latin typeface="Consolas" panose="020B0609020204030204" pitchFamily="49" charset="0"/>
                  <a:ea typeface="+mj-ea"/>
                  <a:cs typeface="Consolas" panose="020B0609020204030204" pitchFamily="49" charset="0"/>
                </a:rPr>
                <a:t>的内容</a:t>
              </a:r>
            </a:p>
          </p:txBody>
        </p:sp>
        <p:sp>
          <p:nvSpPr>
            <p:cNvPr id="40" name="Rectangle 26">
              <a:extLst>
                <a:ext uri="{FF2B5EF4-FFF2-40B4-BE49-F238E27FC236}">
                  <a16:creationId xmlns:a16="http://schemas.microsoft.com/office/drawing/2014/main" id="{E573B026-EEF6-4553-B3B2-E8236A65F50E}"/>
                </a:ext>
              </a:extLst>
            </p:cNvPr>
            <p:cNvSpPr>
              <a:spLocks noChangeArrowheads="1"/>
            </p:cNvSpPr>
            <p:nvPr/>
          </p:nvSpPr>
          <p:spPr bwMode="auto">
            <a:xfrm>
              <a:off x="6451548" y="4150121"/>
              <a:ext cx="1272784" cy="36997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p>
              <a:r>
                <a:rPr lang="en-US" altLang="zh-CN" sz="1800" b="1" dirty="0">
                  <a:solidFill>
                    <a:srgbClr val="0432FF"/>
                  </a:solidFill>
                  <a:latin typeface="Consolas" panose="020B0609020204030204" pitchFamily="49" charset="0"/>
                  <a:ea typeface="+mj-ea"/>
                  <a:cs typeface="Consolas" panose="020B0609020204030204" pitchFamily="49" charset="0"/>
                </a:rPr>
                <a:t>$s1</a:t>
              </a:r>
              <a:r>
                <a:rPr lang="zh-CN" altLang="en-US" sz="1800" b="1" dirty="0">
                  <a:solidFill>
                    <a:srgbClr val="0432FF"/>
                  </a:solidFill>
                  <a:latin typeface="Consolas" panose="020B0609020204030204" pitchFamily="49" charset="0"/>
                  <a:ea typeface="+mj-ea"/>
                  <a:cs typeface="Consolas" panose="020B0609020204030204" pitchFamily="49" charset="0"/>
                </a:rPr>
                <a:t>的内容</a:t>
              </a:r>
            </a:p>
          </p:txBody>
        </p:sp>
        <p:sp>
          <p:nvSpPr>
            <p:cNvPr id="5" name="Rectangle 18">
              <a:extLst>
                <a:ext uri="{FF2B5EF4-FFF2-40B4-BE49-F238E27FC236}">
                  <a16:creationId xmlns:a16="http://schemas.microsoft.com/office/drawing/2014/main" id="{1590F32A-0869-2908-B4CC-BAEDBB8D2D36}"/>
                </a:ext>
              </a:extLst>
            </p:cNvPr>
            <p:cNvSpPr>
              <a:spLocks noChangeArrowheads="1"/>
            </p:cNvSpPr>
            <p:nvPr/>
          </p:nvSpPr>
          <p:spPr bwMode="auto">
            <a:xfrm>
              <a:off x="8060966" y="4370690"/>
              <a:ext cx="1035540" cy="46230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p>
              <a:r>
                <a:rPr lang="en-US" altLang="zh-CN" sz="2400" b="1" i="1" dirty="0">
                  <a:solidFill>
                    <a:srgbClr val="0432FF"/>
                  </a:solidFill>
                  <a:latin typeface="Consolas" panose="020B0609020204030204" pitchFamily="49" charset="0"/>
                </a:rPr>
                <a:t>$sp+4</a:t>
              </a:r>
            </a:p>
          </p:txBody>
        </p:sp>
        <p:sp>
          <p:nvSpPr>
            <p:cNvPr id="6" name="Line 19">
              <a:extLst>
                <a:ext uri="{FF2B5EF4-FFF2-40B4-BE49-F238E27FC236}">
                  <a16:creationId xmlns:a16="http://schemas.microsoft.com/office/drawing/2014/main" id="{7B4AD88D-70E2-BBCC-C764-CD8292C5A2CD}"/>
                </a:ext>
              </a:extLst>
            </p:cNvPr>
            <p:cNvSpPr>
              <a:spLocks noChangeShapeType="1"/>
            </p:cNvSpPr>
            <p:nvPr/>
          </p:nvSpPr>
          <p:spPr bwMode="auto">
            <a:xfrm flipH="1">
              <a:off x="7776228" y="4601844"/>
              <a:ext cx="287338" cy="0"/>
            </a:xfrm>
            <a:prstGeom prst="line">
              <a:avLst/>
            </a:prstGeom>
            <a:noFill/>
            <a:ln w="28575">
              <a:solidFill>
                <a:schemeClr val="tx1"/>
              </a:solidFill>
              <a:round/>
              <a:headEnd type="none" w="sm" len="sm"/>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grpSp>
      <p:sp>
        <p:nvSpPr>
          <p:cNvPr id="4" name="Title 4">
            <a:extLst>
              <a:ext uri="{FF2B5EF4-FFF2-40B4-BE49-F238E27FC236}">
                <a16:creationId xmlns:a16="http://schemas.microsoft.com/office/drawing/2014/main" id="{007E3883-DB00-B9D2-8D05-49DBA0CF8C7E}"/>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kern="1200" dirty="0">
                <a:cs typeface="+mn-cs"/>
              </a:rPr>
              <a:t>指令系统：栈操作</a:t>
            </a:r>
            <a:endParaRPr lang="en-CN" kern="0" dirty="0"/>
          </a:p>
        </p:txBody>
      </p:sp>
      <p:sp>
        <p:nvSpPr>
          <p:cNvPr id="7" name="文本框 6">
            <a:extLst>
              <a:ext uri="{FF2B5EF4-FFF2-40B4-BE49-F238E27FC236}">
                <a16:creationId xmlns:a16="http://schemas.microsoft.com/office/drawing/2014/main" id="{43D41C3C-3FAB-D514-87CB-876108310BF9}"/>
              </a:ext>
            </a:extLst>
          </p:cNvPr>
          <p:cNvSpPr txBox="1"/>
          <p:nvPr/>
        </p:nvSpPr>
        <p:spPr>
          <a:xfrm>
            <a:off x="6710909" y="2560746"/>
            <a:ext cx="1758173" cy="400110"/>
          </a:xfrm>
          <a:prstGeom prst="rect">
            <a:avLst/>
          </a:prstGeom>
          <a:noFill/>
        </p:spPr>
        <p:txBody>
          <a:bodyPr wrap="square" rtlCol="0">
            <a:spAutoFit/>
          </a:bodyPr>
          <a:lstStyle/>
          <a:p>
            <a:r>
              <a:rPr kumimoji="1" lang="zh-CN" altLang="en-US" sz="2000" b="1" dirty="0">
                <a:solidFill>
                  <a:srgbClr val="FF0000"/>
                </a:solidFill>
                <a:latin typeface="+mj-ea"/>
                <a:ea typeface="+mj-ea"/>
              </a:rPr>
              <a:t>执行指令</a:t>
            </a:r>
            <a:r>
              <a:rPr kumimoji="1" lang="en-US" altLang="zh-CN" sz="2000" b="1" dirty="0">
                <a:solidFill>
                  <a:srgbClr val="FF0000"/>
                </a:solidFill>
                <a:latin typeface="+mj-ea"/>
                <a:ea typeface="+mj-ea"/>
              </a:rPr>
              <a:t>1</a:t>
            </a:r>
            <a:r>
              <a:rPr kumimoji="1" lang="zh-CN" altLang="en-US" sz="2000" b="1" dirty="0">
                <a:solidFill>
                  <a:srgbClr val="FF0000"/>
                </a:solidFill>
                <a:latin typeface="+mj-ea"/>
                <a:ea typeface="+mj-ea"/>
              </a:rPr>
              <a:t>后：</a:t>
            </a:r>
          </a:p>
        </p:txBody>
      </p:sp>
    </p:spTree>
    <p:extLst>
      <p:ext uri="{BB962C8B-B14F-4D97-AF65-F5344CB8AC3E}">
        <p14:creationId xmlns:p14="http://schemas.microsoft.com/office/powerpoint/2010/main" val="31533395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灯片编号占位符 3">
            <a:extLst>
              <a:ext uri="{FF2B5EF4-FFF2-40B4-BE49-F238E27FC236}">
                <a16:creationId xmlns:a16="http://schemas.microsoft.com/office/drawing/2014/main" id="{E000966D-D660-5A49-BF0A-3CFEF16792FD}"/>
              </a:ext>
            </a:extLst>
          </p:cNvPr>
          <p:cNvSpPr>
            <a:spLocks noGrp="1"/>
          </p:cNvSpPr>
          <p:nvPr>
            <p:ph type="sldNum" sz="quarter" idx="12"/>
          </p:nvPr>
        </p:nvSpPr>
        <p:spPr/>
        <p:txBody>
          <a:bodyPr/>
          <a:lstStyle/>
          <a:p>
            <a:fld id="{14659731-6BD7-46E7-8D3C-2F3AC07E20B1}" type="slidenum">
              <a:rPr lang="en-US" altLang="zh-CN" smtClean="0"/>
              <a:pPr/>
              <a:t>90</a:t>
            </a:fld>
            <a:endParaRPr lang="en-US" altLang="zh-CN"/>
          </a:p>
        </p:txBody>
      </p:sp>
      <p:sp>
        <p:nvSpPr>
          <p:cNvPr id="60419" name="Rectangle 3"/>
          <p:cNvSpPr>
            <a:spLocks noGrp="1" noChangeArrowheads="1"/>
          </p:cNvSpPr>
          <p:nvPr>
            <p:ph idx="4294967295"/>
          </p:nvPr>
        </p:nvSpPr>
        <p:spPr>
          <a:xfrm>
            <a:off x="425034" y="1296628"/>
            <a:ext cx="7886700" cy="4351338"/>
          </a:xfrm>
        </p:spPr>
        <p:txBody>
          <a:bodyPr/>
          <a:lstStyle/>
          <a:p>
            <a:pPr hangingPunct="1"/>
            <a:r>
              <a:rPr lang="zh-CN" altLang="en-US" sz="2800" dirty="0"/>
              <a:t>出栈操作</a:t>
            </a:r>
            <a:endParaRPr lang="en-US" altLang="zh-CN" sz="2800" dirty="0"/>
          </a:p>
          <a:p>
            <a:pPr marL="0" indent="0" hangingPunct="1">
              <a:buNone/>
            </a:pPr>
            <a:r>
              <a:rPr lang="en-US" altLang="zh-CN" sz="2400" i="1" dirty="0">
                <a:latin typeface="Consolas" panose="020B0609020204030204" pitchFamily="49" charset="0"/>
              </a:rPr>
              <a:t>  0. </a:t>
            </a:r>
            <a:r>
              <a:rPr lang="en-US" altLang="zh-CN" sz="2400" i="1" dirty="0" err="1">
                <a:latin typeface="Consolas" panose="020B0609020204030204" pitchFamily="49" charset="0"/>
              </a:rPr>
              <a:t>lw</a:t>
            </a:r>
            <a:r>
              <a:rPr lang="en-US" altLang="zh-CN" sz="2400" i="1" dirty="0">
                <a:latin typeface="Consolas" panose="020B0609020204030204" pitchFamily="49" charset="0"/>
              </a:rPr>
              <a:t>   $s3, 0($</a:t>
            </a:r>
            <a:r>
              <a:rPr lang="en-US" altLang="zh-CN" sz="2400" i="1" dirty="0" err="1">
                <a:latin typeface="Consolas" panose="020B0609020204030204" pitchFamily="49" charset="0"/>
              </a:rPr>
              <a:t>sp</a:t>
            </a:r>
            <a:r>
              <a:rPr lang="en-US" altLang="zh-CN" sz="2400" i="1" dirty="0">
                <a:latin typeface="Consolas" panose="020B0609020204030204" pitchFamily="49" charset="0"/>
              </a:rPr>
              <a:t>)</a:t>
            </a:r>
          </a:p>
          <a:p>
            <a:pPr marL="0" indent="0" hangingPunct="1">
              <a:buNone/>
            </a:pPr>
            <a:r>
              <a:rPr lang="en-US" altLang="zh-CN" sz="2400" i="1" dirty="0">
                <a:latin typeface="Consolas" panose="020B0609020204030204" pitchFamily="49" charset="0"/>
              </a:rPr>
              <a:t>  1. </a:t>
            </a:r>
            <a:r>
              <a:rPr lang="en-US" altLang="zh-CN" sz="2400" i="1" dirty="0" err="1">
                <a:latin typeface="Consolas" panose="020B0609020204030204" pitchFamily="49" charset="0"/>
              </a:rPr>
              <a:t>lw</a:t>
            </a:r>
            <a:r>
              <a:rPr lang="en-US" altLang="zh-CN" sz="2400" i="1" dirty="0">
                <a:latin typeface="Consolas" panose="020B0609020204030204" pitchFamily="49" charset="0"/>
              </a:rPr>
              <a:t>   $s2, 4($</a:t>
            </a:r>
            <a:r>
              <a:rPr lang="en-US" altLang="zh-CN" sz="2400" i="1" dirty="0" err="1">
                <a:latin typeface="Consolas" panose="020B0609020204030204" pitchFamily="49" charset="0"/>
              </a:rPr>
              <a:t>sp</a:t>
            </a:r>
            <a:r>
              <a:rPr lang="en-US" altLang="zh-CN" sz="2400" i="1" dirty="0">
                <a:latin typeface="Consolas" panose="020B0609020204030204" pitchFamily="49" charset="0"/>
              </a:rPr>
              <a:t>)</a:t>
            </a:r>
          </a:p>
          <a:p>
            <a:pPr marL="0" indent="0" hangingPunct="1">
              <a:buNone/>
            </a:pPr>
            <a:r>
              <a:rPr lang="en-US" altLang="zh-CN" sz="2400" i="1" dirty="0">
                <a:latin typeface="Consolas" panose="020B0609020204030204" pitchFamily="49" charset="0"/>
              </a:rPr>
              <a:t>  2. </a:t>
            </a:r>
            <a:r>
              <a:rPr lang="en-US" altLang="zh-CN" sz="2400" i="1" dirty="0" err="1">
                <a:latin typeface="Consolas" panose="020B0609020204030204" pitchFamily="49" charset="0"/>
              </a:rPr>
              <a:t>lw</a:t>
            </a:r>
            <a:r>
              <a:rPr lang="en-US" altLang="zh-CN" sz="2400" i="1" dirty="0">
                <a:latin typeface="Consolas" panose="020B0609020204030204" pitchFamily="49" charset="0"/>
              </a:rPr>
              <a:t>   $s1, 8($</a:t>
            </a:r>
            <a:r>
              <a:rPr lang="en-US" altLang="zh-CN" sz="2400" i="1" dirty="0" err="1">
                <a:latin typeface="Consolas" panose="020B0609020204030204" pitchFamily="49" charset="0"/>
              </a:rPr>
              <a:t>sp</a:t>
            </a:r>
            <a:r>
              <a:rPr lang="en-US" altLang="zh-CN" sz="2400" i="1" dirty="0">
                <a:latin typeface="Consolas" panose="020B0609020204030204" pitchFamily="49" charset="0"/>
              </a:rPr>
              <a:t>)</a:t>
            </a:r>
          </a:p>
          <a:p>
            <a:pPr marL="0" indent="0" hangingPunct="1">
              <a:buNone/>
            </a:pPr>
            <a:r>
              <a:rPr lang="en-US" altLang="zh-CN" sz="2400" i="1" dirty="0">
                <a:latin typeface="Consolas" panose="020B0609020204030204" pitchFamily="49" charset="0"/>
              </a:rPr>
              <a:t>  3. </a:t>
            </a:r>
            <a:r>
              <a:rPr lang="en-US" altLang="zh-CN" sz="2400" i="1" dirty="0" err="1">
                <a:latin typeface="Consolas" panose="020B0609020204030204" pitchFamily="49" charset="0"/>
              </a:rPr>
              <a:t>addi</a:t>
            </a:r>
            <a:r>
              <a:rPr lang="en-US" altLang="zh-CN" sz="2400" i="1" dirty="0">
                <a:latin typeface="Consolas" panose="020B0609020204030204" pitchFamily="49" charset="0"/>
              </a:rPr>
              <a:t> $</a:t>
            </a:r>
            <a:r>
              <a:rPr lang="en-US" altLang="zh-CN" sz="2400" i="1" dirty="0" err="1">
                <a:latin typeface="Consolas" panose="020B0609020204030204" pitchFamily="49" charset="0"/>
              </a:rPr>
              <a:t>sp</a:t>
            </a:r>
            <a:r>
              <a:rPr lang="en-US" altLang="zh-CN" sz="2400" i="1" dirty="0">
                <a:latin typeface="Consolas" panose="020B0609020204030204" pitchFamily="49" charset="0"/>
              </a:rPr>
              <a:t>, $</a:t>
            </a:r>
            <a:r>
              <a:rPr lang="en-US" altLang="zh-CN" sz="2400" i="1" dirty="0" err="1">
                <a:latin typeface="Consolas" panose="020B0609020204030204" pitchFamily="49" charset="0"/>
              </a:rPr>
              <a:t>sp</a:t>
            </a:r>
            <a:r>
              <a:rPr lang="en-US" altLang="zh-CN" sz="2400" i="1" dirty="0">
                <a:latin typeface="Consolas" panose="020B0609020204030204" pitchFamily="49" charset="0"/>
              </a:rPr>
              <a:t>, 12</a:t>
            </a:r>
            <a:endParaRPr lang="en-US" altLang="zh-CN" dirty="0"/>
          </a:p>
          <a:p>
            <a:pPr hangingPunct="1"/>
            <a:endParaRPr lang="en-US" altLang="zh-CN" dirty="0"/>
          </a:p>
        </p:txBody>
      </p:sp>
      <p:grpSp>
        <p:nvGrpSpPr>
          <p:cNvPr id="3" name="组合 2">
            <a:extLst>
              <a:ext uri="{FF2B5EF4-FFF2-40B4-BE49-F238E27FC236}">
                <a16:creationId xmlns:a16="http://schemas.microsoft.com/office/drawing/2014/main" id="{62A130C9-4A3F-6941-F8AB-6A97CC9FEDD1}"/>
              </a:ext>
            </a:extLst>
          </p:cNvPr>
          <p:cNvGrpSpPr/>
          <p:nvPr/>
        </p:nvGrpSpPr>
        <p:grpSpPr>
          <a:xfrm>
            <a:off x="3878832" y="3294271"/>
            <a:ext cx="5226404" cy="3452181"/>
            <a:chOff x="3878832" y="3294271"/>
            <a:chExt cx="5226404" cy="3452181"/>
          </a:xfrm>
        </p:grpSpPr>
        <p:sp>
          <p:nvSpPr>
            <p:cNvPr id="60427" name="Text Box 12"/>
            <p:cNvSpPr txBox="1">
              <a:spLocks noChangeArrowheads="1"/>
            </p:cNvSpPr>
            <p:nvPr/>
          </p:nvSpPr>
          <p:spPr bwMode="auto">
            <a:xfrm>
              <a:off x="4093288" y="6345700"/>
              <a:ext cx="955390" cy="400752"/>
            </a:xfrm>
            <a:prstGeom prst="rect">
              <a:avLst/>
            </a:prstGeom>
            <a:solidFill>
              <a:schemeClr val="bg1">
                <a:lumMod val="85000"/>
              </a:schemeClr>
            </a:solidFill>
            <a:ln>
              <a:noFill/>
            </a:ln>
            <a:effectLst/>
            <a:extLs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r>
                <a:rPr lang="zh-CN" altLang="en-US" sz="2000" dirty="0">
                  <a:latin typeface="+mj-ea"/>
                  <a:ea typeface="+mj-ea"/>
                </a:rPr>
                <a:t>出栈前</a:t>
              </a:r>
            </a:p>
          </p:txBody>
        </p:sp>
        <p:sp>
          <p:nvSpPr>
            <p:cNvPr id="60420" name="Line 5"/>
            <p:cNvSpPr>
              <a:spLocks noChangeShapeType="1"/>
            </p:cNvSpPr>
            <p:nvPr/>
          </p:nvSpPr>
          <p:spPr bwMode="auto">
            <a:xfrm>
              <a:off x="3880420" y="3527074"/>
              <a:ext cx="0" cy="2678113"/>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21" name="Line 6"/>
            <p:cNvSpPr>
              <a:spLocks noChangeShapeType="1"/>
            </p:cNvSpPr>
            <p:nvPr/>
          </p:nvSpPr>
          <p:spPr bwMode="auto">
            <a:xfrm>
              <a:off x="5201220" y="3523899"/>
              <a:ext cx="0" cy="2678113"/>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22" name="Text Box 7"/>
            <p:cNvSpPr txBox="1">
              <a:spLocks noChangeArrowheads="1"/>
            </p:cNvSpPr>
            <p:nvPr/>
          </p:nvSpPr>
          <p:spPr bwMode="auto">
            <a:xfrm>
              <a:off x="5213920" y="3297446"/>
              <a:ext cx="1109278" cy="46230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r>
                <a:rPr lang="zh-CN" altLang="en-US" sz="2400">
                  <a:latin typeface="+mj-ea"/>
                  <a:ea typeface="+mj-ea"/>
                </a:rPr>
                <a:t>高地址</a:t>
              </a:r>
            </a:p>
          </p:txBody>
        </p:sp>
        <p:sp>
          <p:nvSpPr>
            <p:cNvPr id="60423" name="Text Box 8"/>
            <p:cNvSpPr txBox="1">
              <a:spLocks noChangeArrowheads="1"/>
            </p:cNvSpPr>
            <p:nvPr/>
          </p:nvSpPr>
          <p:spPr bwMode="auto">
            <a:xfrm>
              <a:off x="5198045" y="5939754"/>
              <a:ext cx="1109278" cy="46230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r>
                <a:rPr lang="zh-CN" altLang="en-US" sz="2400" dirty="0">
                  <a:latin typeface="+mj-ea"/>
                  <a:ea typeface="+mj-ea"/>
                </a:rPr>
                <a:t>低地址</a:t>
              </a:r>
            </a:p>
          </p:txBody>
        </p:sp>
        <p:sp>
          <p:nvSpPr>
            <p:cNvPr id="60428" name="Line 13"/>
            <p:cNvSpPr>
              <a:spLocks noChangeShapeType="1"/>
            </p:cNvSpPr>
            <p:nvPr/>
          </p:nvSpPr>
          <p:spPr bwMode="auto">
            <a:xfrm>
              <a:off x="6439470" y="3523899"/>
              <a:ext cx="0" cy="2678113"/>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29" name="Line 14"/>
            <p:cNvSpPr>
              <a:spLocks noChangeShapeType="1"/>
            </p:cNvSpPr>
            <p:nvPr/>
          </p:nvSpPr>
          <p:spPr bwMode="auto">
            <a:xfrm>
              <a:off x="7760270" y="3520724"/>
              <a:ext cx="0" cy="2678113"/>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30" name="Text Box 15"/>
            <p:cNvSpPr txBox="1">
              <a:spLocks noChangeArrowheads="1"/>
            </p:cNvSpPr>
            <p:nvPr/>
          </p:nvSpPr>
          <p:spPr bwMode="auto">
            <a:xfrm>
              <a:off x="7772970" y="3294271"/>
              <a:ext cx="1109278" cy="46230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r>
                <a:rPr lang="zh-CN" altLang="en-US" sz="2400" dirty="0">
                  <a:latin typeface="+mj-ea"/>
                  <a:ea typeface="+mj-ea"/>
                </a:rPr>
                <a:t>高地址</a:t>
              </a:r>
            </a:p>
          </p:txBody>
        </p:sp>
        <p:sp>
          <p:nvSpPr>
            <p:cNvPr id="60431" name="Text Box 16"/>
            <p:cNvSpPr txBox="1">
              <a:spLocks noChangeArrowheads="1"/>
            </p:cNvSpPr>
            <p:nvPr/>
          </p:nvSpPr>
          <p:spPr bwMode="auto">
            <a:xfrm>
              <a:off x="7757095" y="5936579"/>
              <a:ext cx="1109278" cy="46230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r>
                <a:rPr lang="zh-CN" altLang="en-US" sz="2400">
                  <a:latin typeface="+mj-ea"/>
                  <a:ea typeface="+mj-ea"/>
                </a:rPr>
                <a:t>低地址</a:t>
              </a:r>
            </a:p>
          </p:txBody>
        </p:sp>
        <p:sp>
          <p:nvSpPr>
            <p:cNvPr id="60432" name="Line 17"/>
            <p:cNvSpPr>
              <a:spLocks noChangeShapeType="1"/>
            </p:cNvSpPr>
            <p:nvPr/>
          </p:nvSpPr>
          <p:spPr bwMode="auto">
            <a:xfrm>
              <a:off x="6436295" y="4163662"/>
              <a:ext cx="1320800"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33" name="Rectangle 18"/>
            <p:cNvSpPr>
              <a:spLocks noChangeArrowheads="1"/>
            </p:cNvSpPr>
            <p:nvPr/>
          </p:nvSpPr>
          <p:spPr bwMode="auto">
            <a:xfrm>
              <a:off x="8071996" y="4737370"/>
              <a:ext cx="695703" cy="46230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p>
              <a:r>
                <a:rPr lang="en-US" altLang="zh-CN" sz="2400" b="1" i="1" dirty="0">
                  <a:solidFill>
                    <a:srgbClr val="0432FF"/>
                  </a:solidFill>
                  <a:latin typeface="Consolas" panose="020B0609020204030204" pitchFamily="49" charset="0"/>
                </a:rPr>
                <a:t>$</a:t>
              </a:r>
              <a:r>
                <a:rPr lang="en-US" altLang="zh-CN" sz="2400" b="1" i="1" dirty="0" err="1">
                  <a:solidFill>
                    <a:srgbClr val="0432FF"/>
                  </a:solidFill>
                  <a:latin typeface="Consolas" panose="020B0609020204030204" pitchFamily="49" charset="0"/>
                </a:rPr>
                <a:t>sp</a:t>
              </a:r>
              <a:endParaRPr lang="en-US" altLang="zh-CN" sz="2400" b="1" i="1" dirty="0">
                <a:solidFill>
                  <a:srgbClr val="0432FF"/>
                </a:solidFill>
                <a:latin typeface="Consolas" panose="020B0609020204030204" pitchFamily="49" charset="0"/>
              </a:endParaRPr>
            </a:p>
          </p:txBody>
        </p:sp>
        <p:sp>
          <p:nvSpPr>
            <p:cNvPr id="60434" name="Line 19"/>
            <p:cNvSpPr>
              <a:spLocks noChangeShapeType="1"/>
            </p:cNvSpPr>
            <p:nvPr/>
          </p:nvSpPr>
          <p:spPr bwMode="auto">
            <a:xfrm flipH="1">
              <a:off x="7787258" y="4968524"/>
              <a:ext cx="287338" cy="0"/>
            </a:xfrm>
            <a:prstGeom prst="line">
              <a:avLst/>
            </a:prstGeom>
            <a:noFill/>
            <a:ln w="28575">
              <a:solidFill>
                <a:schemeClr val="tx1"/>
              </a:solidFill>
              <a:round/>
              <a:headEnd type="none" w="sm" len="sm"/>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35" name="Text Box 20"/>
            <p:cNvSpPr txBox="1">
              <a:spLocks noChangeArrowheads="1"/>
            </p:cNvSpPr>
            <p:nvPr/>
          </p:nvSpPr>
          <p:spPr bwMode="auto">
            <a:xfrm>
              <a:off x="6642019" y="6342079"/>
              <a:ext cx="955390" cy="400752"/>
            </a:xfrm>
            <a:prstGeom prst="rect">
              <a:avLst/>
            </a:prstGeom>
            <a:solidFill>
              <a:schemeClr val="bg1">
                <a:lumMod val="85000"/>
              </a:schemeClr>
            </a:solidFill>
            <a:ln>
              <a:noFill/>
            </a:ln>
            <a:effectLst/>
            <a:extLs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defPPr>
                <a:defRPr lang="zh-CN"/>
              </a:defPPr>
              <a:lvl1pPr eaLnBrk="1" hangingPunct="1">
                <a:defRPr sz="2000">
                  <a:solidFill>
                    <a:srgbClr val="0432FF"/>
                  </a:solidFill>
                  <a:latin typeface="+mj-ea"/>
                  <a:ea typeface="+mj-ea"/>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zh-CN" altLang="en-US" b="1" dirty="0">
                  <a:solidFill>
                    <a:schemeClr val="tx1"/>
                  </a:solidFill>
                </a:rPr>
                <a:t>出栈后</a:t>
              </a:r>
            </a:p>
          </p:txBody>
        </p:sp>
        <p:sp>
          <p:nvSpPr>
            <p:cNvPr id="60436" name="Line 21"/>
            <p:cNvSpPr>
              <a:spLocks noChangeShapeType="1"/>
            </p:cNvSpPr>
            <p:nvPr/>
          </p:nvSpPr>
          <p:spPr bwMode="auto">
            <a:xfrm>
              <a:off x="6429945" y="4477987"/>
              <a:ext cx="1320800"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37" name="Line 22"/>
            <p:cNvSpPr>
              <a:spLocks noChangeShapeType="1"/>
            </p:cNvSpPr>
            <p:nvPr/>
          </p:nvSpPr>
          <p:spPr bwMode="auto">
            <a:xfrm>
              <a:off x="6436295" y="4789137"/>
              <a:ext cx="1320800"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38" name="Line 23"/>
            <p:cNvSpPr>
              <a:spLocks noChangeShapeType="1"/>
            </p:cNvSpPr>
            <p:nvPr/>
          </p:nvSpPr>
          <p:spPr bwMode="auto">
            <a:xfrm>
              <a:off x="6433120" y="5119337"/>
              <a:ext cx="1320800"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49" name="Line 17">
              <a:extLst>
                <a:ext uri="{FF2B5EF4-FFF2-40B4-BE49-F238E27FC236}">
                  <a16:creationId xmlns:a16="http://schemas.microsoft.com/office/drawing/2014/main" id="{5ACB0185-6592-4F77-B805-D270FF977BCB}"/>
                </a:ext>
              </a:extLst>
            </p:cNvPr>
            <p:cNvSpPr>
              <a:spLocks noChangeShapeType="1"/>
            </p:cNvSpPr>
            <p:nvPr/>
          </p:nvSpPr>
          <p:spPr bwMode="auto">
            <a:xfrm>
              <a:off x="3885182" y="4163662"/>
              <a:ext cx="1320800"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50" name="Rectangle 18">
              <a:extLst>
                <a:ext uri="{FF2B5EF4-FFF2-40B4-BE49-F238E27FC236}">
                  <a16:creationId xmlns:a16="http://schemas.microsoft.com/office/drawing/2014/main" id="{FF5A0AEE-3915-40DB-B67D-6C941EBF7DFC}"/>
                </a:ext>
              </a:extLst>
            </p:cNvPr>
            <p:cNvSpPr>
              <a:spLocks noChangeArrowheads="1"/>
            </p:cNvSpPr>
            <p:nvPr/>
          </p:nvSpPr>
          <p:spPr bwMode="auto">
            <a:xfrm>
              <a:off x="5520883" y="4737370"/>
              <a:ext cx="695703" cy="46230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p>
              <a:r>
                <a:rPr lang="en-US" altLang="zh-CN" sz="2400" b="1" i="1">
                  <a:solidFill>
                    <a:srgbClr val="0432FF"/>
                  </a:solidFill>
                  <a:latin typeface="Consolas" panose="020B0609020204030204" pitchFamily="49" charset="0"/>
                </a:rPr>
                <a:t>$</a:t>
              </a:r>
              <a:r>
                <a:rPr lang="en-US" altLang="zh-CN" sz="2400" b="1" i="1" err="1">
                  <a:solidFill>
                    <a:srgbClr val="0432FF"/>
                  </a:solidFill>
                  <a:latin typeface="Consolas" panose="020B0609020204030204" pitchFamily="49" charset="0"/>
                </a:rPr>
                <a:t>sp</a:t>
              </a:r>
              <a:endParaRPr lang="en-US" altLang="zh-CN" sz="2400" b="1" i="1">
                <a:solidFill>
                  <a:srgbClr val="0432FF"/>
                </a:solidFill>
                <a:latin typeface="Consolas" panose="020B0609020204030204" pitchFamily="49" charset="0"/>
              </a:endParaRPr>
            </a:p>
          </p:txBody>
        </p:sp>
        <p:sp>
          <p:nvSpPr>
            <p:cNvPr id="51" name="Line 19">
              <a:extLst>
                <a:ext uri="{FF2B5EF4-FFF2-40B4-BE49-F238E27FC236}">
                  <a16:creationId xmlns:a16="http://schemas.microsoft.com/office/drawing/2014/main" id="{FB951AA2-76BC-4921-A03B-FABA86177F47}"/>
                </a:ext>
              </a:extLst>
            </p:cNvPr>
            <p:cNvSpPr>
              <a:spLocks noChangeShapeType="1"/>
            </p:cNvSpPr>
            <p:nvPr/>
          </p:nvSpPr>
          <p:spPr bwMode="auto">
            <a:xfrm flipH="1">
              <a:off x="5236145" y="4968524"/>
              <a:ext cx="287338" cy="0"/>
            </a:xfrm>
            <a:prstGeom prst="line">
              <a:avLst/>
            </a:prstGeom>
            <a:noFill/>
            <a:ln w="28575">
              <a:solidFill>
                <a:schemeClr val="tx1"/>
              </a:solidFill>
              <a:round/>
              <a:headEnd type="none" w="sm" len="sm"/>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52" name="Line 21">
              <a:extLst>
                <a:ext uri="{FF2B5EF4-FFF2-40B4-BE49-F238E27FC236}">
                  <a16:creationId xmlns:a16="http://schemas.microsoft.com/office/drawing/2014/main" id="{69F2CAE8-105E-49B8-A7E6-B59D5D12C47D}"/>
                </a:ext>
              </a:extLst>
            </p:cNvPr>
            <p:cNvSpPr>
              <a:spLocks noChangeShapeType="1"/>
            </p:cNvSpPr>
            <p:nvPr/>
          </p:nvSpPr>
          <p:spPr bwMode="auto">
            <a:xfrm>
              <a:off x="3878832" y="4477987"/>
              <a:ext cx="1320800"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53" name="Line 22">
              <a:extLst>
                <a:ext uri="{FF2B5EF4-FFF2-40B4-BE49-F238E27FC236}">
                  <a16:creationId xmlns:a16="http://schemas.microsoft.com/office/drawing/2014/main" id="{DF051E50-63F2-4E93-8EFA-FDE8CD3858E4}"/>
                </a:ext>
              </a:extLst>
            </p:cNvPr>
            <p:cNvSpPr>
              <a:spLocks noChangeShapeType="1"/>
            </p:cNvSpPr>
            <p:nvPr/>
          </p:nvSpPr>
          <p:spPr bwMode="auto">
            <a:xfrm>
              <a:off x="3885182" y="4789137"/>
              <a:ext cx="1320800"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54" name="Line 23">
              <a:extLst>
                <a:ext uri="{FF2B5EF4-FFF2-40B4-BE49-F238E27FC236}">
                  <a16:creationId xmlns:a16="http://schemas.microsoft.com/office/drawing/2014/main" id="{24A97783-573F-46B9-BC92-8A03A2250B45}"/>
                </a:ext>
              </a:extLst>
            </p:cNvPr>
            <p:cNvSpPr>
              <a:spLocks noChangeShapeType="1"/>
            </p:cNvSpPr>
            <p:nvPr/>
          </p:nvSpPr>
          <p:spPr bwMode="auto">
            <a:xfrm>
              <a:off x="3882007" y="5119337"/>
              <a:ext cx="1320800"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55" name="Rectangle 26">
              <a:extLst>
                <a:ext uri="{FF2B5EF4-FFF2-40B4-BE49-F238E27FC236}">
                  <a16:creationId xmlns:a16="http://schemas.microsoft.com/office/drawing/2014/main" id="{6D036BCD-C580-464E-9EA3-6F845392B73B}"/>
                </a:ext>
              </a:extLst>
            </p:cNvPr>
            <p:cNvSpPr>
              <a:spLocks noChangeArrowheads="1"/>
            </p:cNvSpPr>
            <p:nvPr/>
          </p:nvSpPr>
          <p:spPr bwMode="auto">
            <a:xfrm>
              <a:off x="3900435" y="4150121"/>
              <a:ext cx="1272784" cy="36997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p>
              <a:r>
                <a:rPr lang="en-US" altLang="zh-CN" sz="1800" b="1" dirty="0">
                  <a:solidFill>
                    <a:srgbClr val="0432FF"/>
                  </a:solidFill>
                  <a:latin typeface="Consolas" panose="020B0609020204030204" pitchFamily="49" charset="0"/>
                  <a:ea typeface="+mj-ea"/>
                  <a:cs typeface="Consolas" panose="020B0609020204030204" pitchFamily="49" charset="0"/>
                </a:rPr>
                <a:t>$s1</a:t>
              </a:r>
              <a:r>
                <a:rPr lang="zh-CN" altLang="en-US" sz="1800" b="1" dirty="0">
                  <a:solidFill>
                    <a:srgbClr val="0432FF"/>
                  </a:solidFill>
                  <a:latin typeface="Consolas" panose="020B0609020204030204" pitchFamily="49" charset="0"/>
                  <a:ea typeface="+mj-ea"/>
                  <a:cs typeface="Consolas" panose="020B0609020204030204" pitchFamily="49" charset="0"/>
                </a:rPr>
                <a:t>的内容</a:t>
              </a:r>
            </a:p>
          </p:txBody>
        </p:sp>
        <p:sp>
          <p:nvSpPr>
            <p:cNvPr id="56" name="Rectangle 26">
              <a:extLst>
                <a:ext uri="{FF2B5EF4-FFF2-40B4-BE49-F238E27FC236}">
                  <a16:creationId xmlns:a16="http://schemas.microsoft.com/office/drawing/2014/main" id="{E33FE745-80C7-4117-A5CA-E2EE764D5BB8}"/>
                </a:ext>
              </a:extLst>
            </p:cNvPr>
            <p:cNvSpPr>
              <a:spLocks noChangeArrowheads="1"/>
            </p:cNvSpPr>
            <p:nvPr/>
          </p:nvSpPr>
          <p:spPr bwMode="auto">
            <a:xfrm>
              <a:off x="3894708" y="4441867"/>
              <a:ext cx="1272784" cy="36997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p>
              <a:r>
                <a:rPr lang="en-US" altLang="zh-CN" sz="1800" b="1" dirty="0">
                  <a:solidFill>
                    <a:srgbClr val="0432FF"/>
                  </a:solidFill>
                  <a:latin typeface="Consolas" panose="020B0609020204030204" pitchFamily="49" charset="0"/>
                  <a:ea typeface="+mj-ea"/>
                  <a:cs typeface="Consolas" panose="020B0609020204030204" pitchFamily="49" charset="0"/>
                </a:rPr>
                <a:t>$s2</a:t>
              </a:r>
              <a:r>
                <a:rPr lang="zh-CN" altLang="en-US" sz="1800" b="1" dirty="0">
                  <a:solidFill>
                    <a:srgbClr val="0432FF"/>
                  </a:solidFill>
                  <a:latin typeface="Consolas" panose="020B0609020204030204" pitchFamily="49" charset="0"/>
                  <a:ea typeface="+mj-ea"/>
                  <a:cs typeface="Consolas" panose="020B0609020204030204" pitchFamily="49" charset="0"/>
                </a:rPr>
                <a:t>的内容</a:t>
              </a:r>
            </a:p>
          </p:txBody>
        </p:sp>
        <p:sp>
          <p:nvSpPr>
            <p:cNvPr id="57" name="Rectangle 26">
              <a:extLst>
                <a:ext uri="{FF2B5EF4-FFF2-40B4-BE49-F238E27FC236}">
                  <a16:creationId xmlns:a16="http://schemas.microsoft.com/office/drawing/2014/main" id="{531EB6F0-7819-464A-8E77-464D1041D95B}"/>
                </a:ext>
              </a:extLst>
            </p:cNvPr>
            <p:cNvSpPr>
              <a:spLocks noChangeArrowheads="1"/>
            </p:cNvSpPr>
            <p:nvPr/>
          </p:nvSpPr>
          <p:spPr bwMode="auto">
            <a:xfrm>
              <a:off x="3901058" y="4762541"/>
              <a:ext cx="1272784" cy="36997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p>
              <a:r>
                <a:rPr lang="en-US" altLang="zh-CN" sz="1800" b="1">
                  <a:solidFill>
                    <a:srgbClr val="0432FF"/>
                  </a:solidFill>
                  <a:latin typeface="Consolas" panose="020B0609020204030204" pitchFamily="49" charset="0"/>
                  <a:ea typeface="+mj-ea"/>
                  <a:cs typeface="Consolas" panose="020B0609020204030204" pitchFamily="49" charset="0"/>
                </a:rPr>
                <a:t>$s3</a:t>
              </a:r>
              <a:r>
                <a:rPr lang="zh-CN" altLang="en-US" sz="1800" b="1">
                  <a:solidFill>
                    <a:srgbClr val="0432FF"/>
                  </a:solidFill>
                  <a:latin typeface="Consolas" panose="020B0609020204030204" pitchFamily="49" charset="0"/>
                  <a:ea typeface="+mj-ea"/>
                  <a:cs typeface="Consolas" panose="020B0609020204030204" pitchFamily="49" charset="0"/>
                </a:rPr>
                <a:t>的内容</a:t>
              </a:r>
            </a:p>
          </p:txBody>
        </p:sp>
        <p:sp>
          <p:nvSpPr>
            <p:cNvPr id="5" name="Rectangle 18">
              <a:extLst>
                <a:ext uri="{FF2B5EF4-FFF2-40B4-BE49-F238E27FC236}">
                  <a16:creationId xmlns:a16="http://schemas.microsoft.com/office/drawing/2014/main" id="{1590F32A-0869-2908-B4CC-BAEDBB8D2D36}"/>
                </a:ext>
              </a:extLst>
            </p:cNvPr>
            <p:cNvSpPr>
              <a:spLocks noChangeArrowheads="1"/>
            </p:cNvSpPr>
            <p:nvPr/>
          </p:nvSpPr>
          <p:spPr bwMode="auto">
            <a:xfrm>
              <a:off x="8069696" y="4069135"/>
              <a:ext cx="1035540" cy="46230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p>
              <a:r>
                <a:rPr lang="en-US" altLang="zh-CN" sz="2400" b="1" i="1" dirty="0">
                  <a:solidFill>
                    <a:srgbClr val="0432FF"/>
                  </a:solidFill>
                  <a:latin typeface="Consolas" panose="020B0609020204030204" pitchFamily="49" charset="0"/>
                </a:rPr>
                <a:t>$sp+8</a:t>
              </a:r>
            </a:p>
          </p:txBody>
        </p:sp>
        <p:sp>
          <p:nvSpPr>
            <p:cNvPr id="6" name="Line 19">
              <a:extLst>
                <a:ext uri="{FF2B5EF4-FFF2-40B4-BE49-F238E27FC236}">
                  <a16:creationId xmlns:a16="http://schemas.microsoft.com/office/drawing/2014/main" id="{7B4AD88D-70E2-BBCC-C764-CD8292C5A2CD}"/>
                </a:ext>
              </a:extLst>
            </p:cNvPr>
            <p:cNvSpPr>
              <a:spLocks noChangeShapeType="1"/>
            </p:cNvSpPr>
            <p:nvPr/>
          </p:nvSpPr>
          <p:spPr bwMode="auto">
            <a:xfrm flipH="1">
              <a:off x="7784958" y="4300289"/>
              <a:ext cx="287338" cy="0"/>
            </a:xfrm>
            <a:prstGeom prst="line">
              <a:avLst/>
            </a:prstGeom>
            <a:noFill/>
            <a:ln w="28575">
              <a:solidFill>
                <a:schemeClr val="tx1"/>
              </a:solidFill>
              <a:round/>
              <a:headEnd type="none" w="sm" len="sm"/>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grpSp>
      <p:sp>
        <p:nvSpPr>
          <p:cNvPr id="4" name="Title 4">
            <a:extLst>
              <a:ext uri="{FF2B5EF4-FFF2-40B4-BE49-F238E27FC236}">
                <a16:creationId xmlns:a16="http://schemas.microsoft.com/office/drawing/2014/main" id="{007E3883-DB00-B9D2-8D05-49DBA0CF8C7E}"/>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kern="1200" dirty="0">
                <a:cs typeface="+mn-cs"/>
              </a:rPr>
              <a:t>指令系统：栈操作</a:t>
            </a:r>
            <a:endParaRPr lang="en-CN" kern="0" dirty="0"/>
          </a:p>
        </p:txBody>
      </p:sp>
      <p:sp>
        <p:nvSpPr>
          <p:cNvPr id="7" name="文本框 6">
            <a:extLst>
              <a:ext uri="{FF2B5EF4-FFF2-40B4-BE49-F238E27FC236}">
                <a16:creationId xmlns:a16="http://schemas.microsoft.com/office/drawing/2014/main" id="{EF25433A-3060-2D59-AF03-B9E04226190E}"/>
              </a:ext>
            </a:extLst>
          </p:cNvPr>
          <p:cNvSpPr txBox="1"/>
          <p:nvPr/>
        </p:nvSpPr>
        <p:spPr>
          <a:xfrm>
            <a:off x="6710909" y="2560746"/>
            <a:ext cx="1758173" cy="400110"/>
          </a:xfrm>
          <a:prstGeom prst="rect">
            <a:avLst/>
          </a:prstGeom>
          <a:noFill/>
        </p:spPr>
        <p:txBody>
          <a:bodyPr wrap="square" rtlCol="0">
            <a:spAutoFit/>
          </a:bodyPr>
          <a:lstStyle/>
          <a:p>
            <a:r>
              <a:rPr kumimoji="1" lang="zh-CN" altLang="en-US" sz="2000" b="1" dirty="0">
                <a:solidFill>
                  <a:srgbClr val="FF0000"/>
                </a:solidFill>
                <a:latin typeface="+mj-ea"/>
                <a:ea typeface="+mj-ea"/>
              </a:rPr>
              <a:t>执行指令</a:t>
            </a:r>
            <a:r>
              <a:rPr kumimoji="1" lang="en-US" altLang="zh-CN" sz="2000" b="1" dirty="0">
                <a:solidFill>
                  <a:srgbClr val="FF0000"/>
                </a:solidFill>
                <a:latin typeface="+mj-ea"/>
                <a:ea typeface="+mj-ea"/>
              </a:rPr>
              <a:t>2</a:t>
            </a:r>
            <a:r>
              <a:rPr kumimoji="1" lang="zh-CN" altLang="en-US" sz="2000" b="1" dirty="0">
                <a:solidFill>
                  <a:srgbClr val="FF0000"/>
                </a:solidFill>
                <a:latin typeface="+mj-ea"/>
                <a:ea typeface="+mj-ea"/>
              </a:rPr>
              <a:t>后：</a:t>
            </a:r>
          </a:p>
        </p:txBody>
      </p:sp>
    </p:spTree>
    <p:extLst>
      <p:ext uri="{BB962C8B-B14F-4D97-AF65-F5344CB8AC3E}">
        <p14:creationId xmlns:p14="http://schemas.microsoft.com/office/powerpoint/2010/main" val="5065202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灯片编号占位符 3">
            <a:extLst>
              <a:ext uri="{FF2B5EF4-FFF2-40B4-BE49-F238E27FC236}">
                <a16:creationId xmlns:a16="http://schemas.microsoft.com/office/drawing/2014/main" id="{E000966D-D660-5A49-BF0A-3CFEF16792FD}"/>
              </a:ext>
            </a:extLst>
          </p:cNvPr>
          <p:cNvSpPr>
            <a:spLocks noGrp="1"/>
          </p:cNvSpPr>
          <p:nvPr>
            <p:ph type="sldNum" sz="quarter" idx="12"/>
          </p:nvPr>
        </p:nvSpPr>
        <p:spPr/>
        <p:txBody>
          <a:bodyPr/>
          <a:lstStyle/>
          <a:p>
            <a:fld id="{14659731-6BD7-46E7-8D3C-2F3AC07E20B1}" type="slidenum">
              <a:rPr lang="en-US" altLang="zh-CN" smtClean="0"/>
              <a:pPr/>
              <a:t>91</a:t>
            </a:fld>
            <a:endParaRPr lang="en-US" altLang="zh-CN"/>
          </a:p>
        </p:txBody>
      </p:sp>
      <p:sp>
        <p:nvSpPr>
          <p:cNvPr id="60419" name="Rectangle 3"/>
          <p:cNvSpPr>
            <a:spLocks noGrp="1" noChangeArrowheads="1"/>
          </p:cNvSpPr>
          <p:nvPr>
            <p:ph idx="4294967295"/>
          </p:nvPr>
        </p:nvSpPr>
        <p:spPr>
          <a:xfrm>
            <a:off x="425034" y="1296628"/>
            <a:ext cx="7886700" cy="4351338"/>
          </a:xfrm>
        </p:spPr>
        <p:txBody>
          <a:bodyPr/>
          <a:lstStyle/>
          <a:p>
            <a:pPr hangingPunct="1"/>
            <a:r>
              <a:rPr lang="zh-CN" altLang="en-US" sz="2800" dirty="0"/>
              <a:t>出栈操作</a:t>
            </a:r>
            <a:endParaRPr lang="en-US" altLang="zh-CN" sz="2800" dirty="0"/>
          </a:p>
          <a:p>
            <a:pPr marL="0" indent="0" hangingPunct="1">
              <a:buNone/>
            </a:pPr>
            <a:r>
              <a:rPr lang="en-US" altLang="zh-CN" sz="2400" i="1" dirty="0">
                <a:latin typeface="Consolas" panose="020B0609020204030204" pitchFamily="49" charset="0"/>
              </a:rPr>
              <a:t>  0. </a:t>
            </a:r>
            <a:r>
              <a:rPr lang="en-US" altLang="zh-CN" sz="2400" i="1" dirty="0" err="1">
                <a:latin typeface="Consolas" panose="020B0609020204030204" pitchFamily="49" charset="0"/>
              </a:rPr>
              <a:t>lw</a:t>
            </a:r>
            <a:r>
              <a:rPr lang="en-US" altLang="zh-CN" sz="2400" i="1" dirty="0">
                <a:latin typeface="Consolas" panose="020B0609020204030204" pitchFamily="49" charset="0"/>
              </a:rPr>
              <a:t>   $s3, 0($</a:t>
            </a:r>
            <a:r>
              <a:rPr lang="en-US" altLang="zh-CN" sz="2400" i="1" dirty="0" err="1">
                <a:latin typeface="Consolas" panose="020B0609020204030204" pitchFamily="49" charset="0"/>
              </a:rPr>
              <a:t>sp</a:t>
            </a:r>
            <a:r>
              <a:rPr lang="en-US" altLang="zh-CN" sz="2400" i="1" dirty="0">
                <a:latin typeface="Consolas" panose="020B0609020204030204" pitchFamily="49" charset="0"/>
              </a:rPr>
              <a:t>)</a:t>
            </a:r>
          </a:p>
          <a:p>
            <a:pPr marL="0" indent="0" hangingPunct="1">
              <a:buNone/>
            </a:pPr>
            <a:r>
              <a:rPr lang="en-US" altLang="zh-CN" sz="2400" i="1" dirty="0">
                <a:latin typeface="Consolas" panose="020B0609020204030204" pitchFamily="49" charset="0"/>
              </a:rPr>
              <a:t>  1. </a:t>
            </a:r>
            <a:r>
              <a:rPr lang="en-US" altLang="zh-CN" sz="2400" i="1" dirty="0" err="1">
                <a:latin typeface="Consolas" panose="020B0609020204030204" pitchFamily="49" charset="0"/>
              </a:rPr>
              <a:t>lw</a:t>
            </a:r>
            <a:r>
              <a:rPr lang="en-US" altLang="zh-CN" sz="2400" i="1" dirty="0">
                <a:latin typeface="Consolas" panose="020B0609020204030204" pitchFamily="49" charset="0"/>
              </a:rPr>
              <a:t>   $s2, 4($</a:t>
            </a:r>
            <a:r>
              <a:rPr lang="en-US" altLang="zh-CN" sz="2400" i="1" dirty="0" err="1">
                <a:latin typeface="Consolas" panose="020B0609020204030204" pitchFamily="49" charset="0"/>
              </a:rPr>
              <a:t>sp</a:t>
            </a:r>
            <a:r>
              <a:rPr lang="en-US" altLang="zh-CN" sz="2400" i="1" dirty="0">
                <a:latin typeface="Consolas" panose="020B0609020204030204" pitchFamily="49" charset="0"/>
              </a:rPr>
              <a:t>)</a:t>
            </a:r>
          </a:p>
          <a:p>
            <a:pPr marL="0" indent="0" hangingPunct="1">
              <a:buNone/>
            </a:pPr>
            <a:r>
              <a:rPr lang="en-US" altLang="zh-CN" sz="2400" i="1" dirty="0">
                <a:latin typeface="Consolas" panose="020B0609020204030204" pitchFamily="49" charset="0"/>
              </a:rPr>
              <a:t>  2. </a:t>
            </a:r>
            <a:r>
              <a:rPr lang="en-US" altLang="zh-CN" sz="2400" i="1" dirty="0" err="1">
                <a:latin typeface="Consolas" panose="020B0609020204030204" pitchFamily="49" charset="0"/>
              </a:rPr>
              <a:t>lw</a:t>
            </a:r>
            <a:r>
              <a:rPr lang="en-US" altLang="zh-CN" sz="2400" i="1" dirty="0">
                <a:latin typeface="Consolas" panose="020B0609020204030204" pitchFamily="49" charset="0"/>
              </a:rPr>
              <a:t>   $s1, 8($</a:t>
            </a:r>
            <a:r>
              <a:rPr lang="en-US" altLang="zh-CN" sz="2400" i="1" dirty="0" err="1">
                <a:latin typeface="Consolas" panose="020B0609020204030204" pitchFamily="49" charset="0"/>
              </a:rPr>
              <a:t>sp</a:t>
            </a:r>
            <a:r>
              <a:rPr lang="en-US" altLang="zh-CN" sz="2400" i="1" dirty="0">
                <a:latin typeface="Consolas" panose="020B0609020204030204" pitchFamily="49" charset="0"/>
              </a:rPr>
              <a:t>)</a:t>
            </a:r>
          </a:p>
          <a:p>
            <a:pPr marL="0" indent="0" hangingPunct="1">
              <a:buNone/>
            </a:pPr>
            <a:r>
              <a:rPr lang="en-US" altLang="zh-CN" sz="2400" i="1" dirty="0">
                <a:latin typeface="Consolas" panose="020B0609020204030204" pitchFamily="49" charset="0"/>
              </a:rPr>
              <a:t>  3. </a:t>
            </a:r>
            <a:r>
              <a:rPr lang="en-US" altLang="zh-CN" sz="2400" i="1" dirty="0" err="1">
                <a:latin typeface="Consolas" panose="020B0609020204030204" pitchFamily="49" charset="0"/>
              </a:rPr>
              <a:t>addi</a:t>
            </a:r>
            <a:r>
              <a:rPr lang="en-US" altLang="zh-CN" sz="2400" i="1" dirty="0">
                <a:latin typeface="Consolas" panose="020B0609020204030204" pitchFamily="49" charset="0"/>
              </a:rPr>
              <a:t> $</a:t>
            </a:r>
            <a:r>
              <a:rPr lang="en-US" altLang="zh-CN" sz="2400" i="1" dirty="0" err="1">
                <a:latin typeface="Consolas" panose="020B0609020204030204" pitchFamily="49" charset="0"/>
              </a:rPr>
              <a:t>sp</a:t>
            </a:r>
            <a:r>
              <a:rPr lang="en-US" altLang="zh-CN" sz="2400" i="1" dirty="0">
                <a:latin typeface="Consolas" panose="020B0609020204030204" pitchFamily="49" charset="0"/>
              </a:rPr>
              <a:t>, $</a:t>
            </a:r>
            <a:r>
              <a:rPr lang="en-US" altLang="zh-CN" sz="2400" i="1" dirty="0" err="1">
                <a:latin typeface="Consolas" panose="020B0609020204030204" pitchFamily="49" charset="0"/>
              </a:rPr>
              <a:t>sp</a:t>
            </a:r>
            <a:r>
              <a:rPr lang="en-US" altLang="zh-CN" sz="2400" i="1" dirty="0">
                <a:latin typeface="Consolas" panose="020B0609020204030204" pitchFamily="49" charset="0"/>
              </a:rPr>
              <a:t>, 12</a:t>
            </a:r>
            <a:endParaRPr lang="en-US" altLang="zh-CN" dirty="0"/>
          </a:p>
          <a:p>
            <a:pPr hangingPunct="1"/>
            <a:endParaRPr lang="en-US" altLang="zh-CN" dirty="0"/>
          </a:p>
        </p:txBody>
      </p:sp>
      <p:grpSp>
        <p:nvGrpSpPr>
          <p:cNvPr id="3" name="组合 2">
            <a:extLst>
              <a:ext uri="{FF2B5EF4-FFF2-40B4-BE49-F238E27FC236}">
                <a16:creationId xmlns:a16="http://schemas.microsoft.com/office/drawing/2014/main" id="{62A130C9-4A3F-6941-F8AB-6A97CC9FEDD1}"/>
              </a:ext>
            </a:extLst>
          </p:cNvPr>
          <p:cNvGrpSpPr/>
          <p:nvPr/>
        </p:nvGrpSpPr>
        <p:grpSpPr>
          <a:xfrm>
            <a:off x="3878832" y="3294271"/>
            <a:ext cx="5003416" cy="3452181"/>
            <a:chOff x="3878832" y="3294271"/>
            <a:chExt cx="5003416" cy="3452181"/>
          </a:xfrm>
        </p:grpSpPr>
        <p:sp>
          <p:nvSpPr>
            <p:cNvPr id="60427" name="Text Box 12"/>
            <p:cNvSpPr txBox="1">
              <a:spLocks noChangeArrowheads="1"/>
            </p:cNvSpPr>
            <p:nvPr/>
          </p:nvSpPr>
          <p:spPr bwMode="auto">
            <a:xfrm>
              <a:off x="4093288" y="6345700"/>
              <a:ext cx="955390" cy="400752"/>
            </a:xfrm>
            <a:prstGeom prst="rect">
              <a:avLst/>
            </a:prstGeom>
            <a:solidFill>
              <a:schemeClr val="bg1">
                <a:lumMod val="85000"/>
              </a:schemeClr>
            </a:solidFill>
            <a:ln>
              <a:noFill/>
            </a:ln>
            <a:effectLst/>
            <a:extLs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r>
                <a:rPr lang="zh-CN" altLang="en-US" sz="2000" dirty="0">
                  <a:latin typeface="+mj-ea"/>
                  <a:ea typeface="+mj-ea"/>
                </a:rPr>
                <a:t>出栈前</a:t>
              </a:r>
            </a:p>
          </p:txBody>
        </p:sp>
        <p:sp>
          <p:nvSpPr>
            <p:cNvPr id="60420" name="Line 5"/>
            <p:cNvSpPr>
              <a:spLocks noChangeShapeType="1"/>
            </p:cNvSpPr>
            <p:nvPr/>
          </p:nvSpPr>
          <p:spPr bwMode="auto">
            <a:xfrm>
              <a:off x="3880420" y="3527074"/>
              <a:ext cx="0" cy="2678113"/>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21" name="Line 6"/>
            <p:cNvSpPr>
              <a:spLocks noChangeShapeType="1"/>
            </p:cNvSpPr>
            <p:nvPr/>
          </p:nvSpPr>
          <p:spPr bwMode="auto">
            <a:xfrm>
              <a:off x="5201220" y="3523899"/>
              <a:ext cx="0" cy="2678113"/>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22" name="Text Box 7"/>
            <p:cNvSpPr txBox="1">
              <a:spLocks noChangeArrowheads="1"/>
            </p:cNvSpPr>
            <p:nvPr/>
          </p:nvSpPr>
          <p:spPr bwMode="auto">
            <a:xfrm>
              <a:off x="5213920" y="3297446"/>
              <a:ext cx="1109278" cy="46230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r>
                <a:rPr lang="zh-CN" altLang="en-US" sz="2400">
                  <a:latin typeface="+mj-ea"/>
                  <a:ea typeface="+mj-ea"/>
                </a:rPr>
                <a:t>高地址</a:t>
              </a:r>
            </a:p>
          </p:txBody>
        </p:sp>
        <p:sp>
          <p:nvSpPr>
            <p:cNvPr id="60423" name="Text Box 8"/>
            <p:cNvSpPr txBox="1">
              <a:spLocks noChangeArrowheads="1"/>
            </p:cNvSpPr>
            <p:nvPr/>
          </p:nvSpPr>
          <p:spPr bwMode="auto">
            <a:xfrm>
              <a:off x="5198045" y="5939754"/>
              <a:ext cx="1109278" cy="46230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r>
                <a:rPr lang="zh-CN" altLang="en-US" sz="2400" dirty="0">
                  <a:latin typeface="+mj-ea"/>
                  <a:ea typeface="+mj-ea"/>
                </a:rPr>
                <a:t>低地址</a:t>
              </a:r>
            </a:p>
          </p:txBody>
        </p:sp>
        <p:sp>
          <p:nvSpPr>
            <p:cNvPr id="60428" name="Line 13"/>
            <p:cNvSpPr>
              <a:spLocks noChangeShapeType="1"/>
            </p:cNvSpPr>
            <p:nvPr/>
          </p:nvSpPr>
          <p:spPr bwMode="auto">
            <a:xfrm>
              <a:off x="6439470" y="3523899"/>
              <a:ext cx="0" cy="2678113"/>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29" name="Line 14"/>
            <p:cNvSpPr>
              <a:spLocks noChangeShapeType="1"/>
            </p:cNvSpPr>
            <p:nvPr/>
          </p:nvSpPr>
          <p:spPr bwMode="auto">
            <a:xfrm>
              <a:off x="7760270" y="3520724"/>
              <a:ext cx="0" cy="2678113"/>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30" name="Text Box 15"/>
            <p:cNvSpPr txBox="1">
              <a:spLocks noChangeArrowheads="1"/>
            </p:cNvSpPr>
            <p:nvPr/>
          </p:nvSpPr>
          <p:spPr bwMode="auto">
            <a:xfrm>
              <a:off x="7772970" y="3294271"/>
              <a:ext cx="1109278" cy="46230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r>
                <a:rPr lang="zh-CN" altLang="en-US" sz="2400" dirty="0">
                  <a:latin typeface="+mj-ea"/>
                  <a:ea typeface="+mj-ea"/>
                </a:rPr>
                <a:t>高地址</a:t>
              </a:r>
            </a:p>
          </p:txBody>
        </p:sp>
        <p:sp>
          <p:nvSpPr>
            <p:cNvPr id="60431" name="Text Box 16"/>
            <p:cNvSpPr txBox="1">
              <a:spLocks noChangeArrowheads="1"/>
            </p:cNvSpPr>
            <p:nvPr/>
          </p:nvSpPr>
          <p:spPr bwMode="auto">
            <a:xfrm>
              <a:off x="7757095" y="5936579"/>
              <a:ext cx="1109278" cy="46230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r>
                <a:rPr lang="zh-CN" altLang="en-US" sz="2400">
                  <a:latin typeface="+mj-ea"/>
                  <a:ea typeface="+mj-ea"/>
                </a:rPr>
                <a:t>低地址</a:t>
              </a:r>
            </a:p>
          </p:txBody>
        </p:sp>
        <p:sp>
          <p:nvSpPr>
            <p:cNvPr id="60432" name="Line 17"/>
            <p:cNvSpPr>
              <a:spLocks noChangeShapeType="1"/>
            </p:cNvSpPr>
            <p:nvPr/>
          </p:nvSpPr>
          <p:spPr bwMode="auto">
            <a:xfrm>
              <a:off x="6436295" y="4163662"/>
              <a:ext cx="1320800"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33" name="Rectangle 18"/>
            <p:cNvSpPr>
              <a:spLocks noChangeArrowheads="1"/>
            </p:cNvSpPr>
            <p:nvPr/>
          </p:nvSpPr>
          <p:spPr bwMode="auto">
            <a:xfrm>
              <a:off x="8123714" y="3756578"/>
              <a:ext cx="695703" cy="46230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p>
              <a:r>
                <a:rPr lang="en-US" altLang="zh-CN" sz="2400" b="1" i="1" dirty="0">
                  <a:solidFill>
                    <a:srgbClr val="0432FF"/>
                  </a:solidFill>
                  <a:latin typeface="Consolas" panose="020B0609020204030204" pitchFamily="49" charset="0"/>
                </a:rPr>
                <a:t>$</a:t>
              </a:r>
              <a:r>
                <a:rPr lang="en-US" altLang="zh-CN" sz="2400" b="1" i="1" dirty="0" err="1">
                  <a:solidFill>
                    <a:srgbClr val="0432FF"/>
                  </a:solidFill>
                  <a:latin typeface="Consolas" panose="020B0609020204030204" pitchFamily="49" charset="0"/>
                </a:rPr>
                <a:t>sp</a:t>
              </a:r>
              <a:endParaRPr lang="en-US" altLang="zh-CN" sz="2400" b="1" i="1" dirty="0">
                <a:solidFill>
                  <a:srgbClr val="0432FF"/>
                </a:solidFill>
                <a:latin typeface="Consolas" panose="020B0609020204030204" pitchFamily="49" charset="0"/>
              </a:endParaRPr>
            </a:p>
          </p:txBody>
        </p:sp>
        <p:sp>
          <p:nvSpPr>
            <p:cNvPr id="60434" name="Line 19"/>
            <p:cNvSpPr>
              <a:spLocks noChangeShapeType="1"/>
            </p:cNvSpPr>
            <p:nvPr/>
          </p:nvSpPr>
          <p:spPr bwMode="auto">
            <a:xfrm flipH="1">
              <a:off x="7838976" y="3987732"/>
              <a:ext cx="287338" cy="0"/>
            </a:xfrm>
            <a:prstGeom prst="line">
              <a:avLst/>
            </a:prstGeom>
            <a:noFill/>
            <a:ln w="28575">
              <a:solidFill>
                <a:schemeClr val="tx1"/>
              </a:solidFill>
              <a:round/>
              <a:headEnd type="none" w="sm" len="sm"/>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35" name="Text Box 20"/>
            <p:cNvSpPr txBox="1">
              <a:spLocks noChangeArrowheads="1"/>
            </p:cNvSpPr>
            <p:nvPr/>
          </p:nvSpPr>
          <p:spPr bwMode="auto">
            <a:xfrm>
              <a:off x="6642019" y="6342079"/>
              <a:ext cx="955390" cy="400752"/>
            </a:xfrm>
            <a:prstGeom prst="rect">
              <a:avLst/>
            </a:prstGeom>
            <a:solidFill>
              <a:schemeClr val="bg1">
                <a:lumMod val="85000"/>
              </a:schemeClr>
            </a:solidFill>
            <a:ln>
              <a:noFill/>
            </a:ln>
            <a:effectLst/>
            <a:extLs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defPPr>
                <a:defRPr lang="zh-CN"/>
              </a:defPPr>
              <a:lvl1pPr eaLnBrk="1" hangingPunct="1">
                <a:defRPr sz="2000">
                  <a:solidFill>
                    <a:srgbClr val="0432FF"/>
                  </a:solidFill>
                  <a:latin typeface="+mj-ea"/>
                  <a:ea typeface="+mj-ea"/>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zh-CN" altLang="en-US" b="1" dirty="0">
                  <a:solidFill>
                    <a:schemeClr val="tx1"/>
                  </a:solidFill>
                </a:rPr>
                <a:t>出栈后</a:t>
              </a:r>
            </a:p>
          </p:txBody>
        </p:sp>
        <p:sp>
          <p:nvSpPr>
            <p:cNvPr id="60436" name="Line 21"/>
            <p:cNvSpPr>
              <a:spLocks noChangeShapeType="1"/>
            </p:cNvSpPr>
            <p:nvPr/>
          </p:nvSpPr>
          <p:spPr bwMode="auto">
            <a:xfrm>
              <a:off x="6429945" y="4477987"/>
              <a:ext cx="1320800"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37" name="Line 22"/>
            <p:cNvSpPr>
              <a:spLocks noChangeShapeType="1"/>
            </p:cNvSpPr>
            <p:nvPr/>
          </p:nvSpPr>
          <p:spPr bwMode="auto">
            <a:xfrm>
              <a:off x="6436295" y="4789137"/>
              <a:ext cx="1320800"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60438" name="Line 23"/>
            <p:cNvSpPr>
              <a:spLocks noChangeShapeType="1"/>
            </p:cNvSpPr>
            <p:nvPr/>
          </p:nvSpPr>
          <p:spPr bwMode="auto">
            <a:xfrm>
              <a:off x="6433120" y="5119337"/>
              <a:ext cx="1320800"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49" name="Line 17">
              <a:extLst>
                <a:ext uri="{FF2B5EF4-FFF2-40B4-BE49-F238E27FC236}">
                  <a16:creationId xmlns:a16="http://schemas.microsoft.com/office/drawing/2014/main" id="{5ACB0185-6592-4F77-B805-D270FF977BCB}"/>
                </a:ext>
              </a:extLst>
            </p:cNvPr>
            <p:cNvSpPr>
              <a:spLocks noChangeShapeType="1"/>
            </p:cNvSpPr>
            <p:nvPr/>
          </p:nvSpPr>
          <p:spPr bwMode="auto">
            <a:xfrm>
              <a:off x="3885182" y="4163662"/>
              <a:ext cx="1320800"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50" name="Rectangle 18">
              <a:extLst>
                <a:ext uri="{FF2B5EF4-FFF2-40B4-BE49-F238E27FC236}">
                  <a16:creationId xmlns:a16="http://schemas.microsoft.com/office/drawing/2014/main" id="{FF5A0AEE-3915-40DB-B67D-6C941EBF7DFC}"/>
                </a:ext>
              </a:extLst>
            </p:cNvPr>
            <p:cNvSpPr>
              <a:spLocks noChangeArrowheads="1"/>
            </p:cNvSpPr>
            <p:nvPr/>
          </p:nvSpPr>
          <p:spPr bwMode="auto">
            <a:xfrm>
              <a:off x="5520883" y="4737370"/>
              <a:ext cx="695703" cy="46230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p>
              <a:r>
                <a:rPr lang="en-US" altLang="zh-CN" sz="2400" b="1" i="1">
                  <a:solidFill>
                    <a:srgbClr val="0432FF"/>
                  </a:solidFill>
                  <a:latin typeface="Consolas" panose="020B0609020204030204" pitchFamily="49" charset="0"/>
                </a:rPr>
                <a:t>$</a:t>
              </a:r>
              <a:r>
                <a:rPr lang="en-US" altLang="zh-CN" sz="2400" b="1" i="1" err="1">
                  <a:solidFill>
                    <a:srgbClr val="0432FF"/>
                  </a:solidFill>
                  <a:latin typeface="Consolas" panose="020B0609020204030204" pitchFamily="49" charset="0"/>
                </a:rPr>
                <a:t>sp</a:t>
              </a:r>
              <a:endParaRPr lang="en-US" altLang="zh-CN" sz="2400" b="1" i="1">
                <a:solidFill>
                  <a:srgbClr val="0432FF"/>
                </a:solidFill>
                <a:latin typeface="Consolas" panose="020B0609020204030204" pitchFamily="49" charset="0"/>
              </a:endParaRPr>
            </a:p>
          </p:txBody>
        </p:sp>
        <p:sp>
          <p:nvSpPr>
            <p:cNvPr id="51" name="Line 19">
              <a:extLst>
                <a:ext uri="{FF2B5EF4-FFF2-40B4-BE49-F238E27FC236}">
                  <a16:creationId xmlns:a16="http://schemas.microsoft.com/office/drawing/2014/main" id="{FB951AA2-76BC-4921-A03B-FABA86177F47}"/>
                </a:ext>
              </a:extLst>
            </p:cNvPr>
            <p:cNvSpPr>
              <a:spLocks noChangeShapeType="1"/>
            </p:cNvSpPr>
            <p:nvPr/>
          </p:nvSpPr>
          <p:spPr bwMode="auto">
            <a:xfrm flipH="1">
              <a:off x="5236145" y="4968524"/>
              <a:ext cx="287338" cy="0"/>
            </a:xfrm>
            <a:prstGeom prst="line">
              <a:avLst/>
            </a:prstGeom>
            <a:noFill/>
            <a:ln w="28575">
              <a:solidFill>
                <a:schemeClr val="tx1"/>
              </a:solidFill>
              <a:round/>
              <a:headEnd type="none" w="sm" len="sm"/>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52" name="Line 21">
              <a:extLst>
                <a:ext uri="{FF2B5EF4-FFF2-40B4-BE49-F238E27FC236}">
                  <a16:creationId xmlns:a16="http://schemas.microsoft.com/office/drawing/2014/main" id="{69F2CAE8-105E-49B8-A7E6-B59D5D12C47D}"/>
                </a:ext>
              </a:extLst>
            </p:cNvPr>
            <p:cNvSpPr>
              <a:spLocks noChangeShapeType="1"/>
            </p:cNvSpPr>
            <p:nvPr/>
          </p:nvSpPr>
          <p:spPr bwMode="auto">
            <a:xfrm>
              <a:off x="3878832" y="4477987"/>
              <a:ext cx="1320800"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53" name="Line 22">
              <a:extLst>
                <a:ext uri="{FF2B5EF4-FFF2-40B4-BE49-F238E27FC236}">
                  <a16:creationId xmlns:a16="http://schemas.microsoft.com/office/drawing/2014/main" id="{DF051E50-63F2-4E93-8EFA-FDE8CD3858E4}"/>
                </a:ext>
              </a:extLst>
            </p:cNvPr>
            <p:cNvSpPr>
              <a:spLocks noChangeShapeType="1"/>
            </p:cNvSpPr>
            <p:nvPr/>
          </p:nvSpPr>
          <p:spPr bwMode="auto">
            <a:xfrm>
              <a:off x="3885182" y="4789137"/>
              <a:ext cx="1320800"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54" name="Line 23">
              <a:extLst>
                <a:ext uri="{FF2B5EF4-FFF2-40B4-BE49-F238E27FC236}">
                  <a16:creationId xmlns:a16="http://schemas.microsoft.com/office/drawing/2014/main" id="{24A97783-573F-46B9-BC92-8A03A2250B45}"/>
                </a:ext>
              </a:extLst>
            </p:cNvPr>
            <p:cNvSpPr>
              <a:spLocks noChangeShapeType="1"/>
            </p:cNvSpPr>
            <p:nvPr/>
          </p:nvSpPr>
          <p:spPr bwMode="auto">
            <a:xfrm>
              <a:off x="3882007" y="5119337"/>
              <a:ext cx="1320800"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b="1"/>
            </a:p>
          </p:txBody>
        </p:sp>
        <p:sp>
          <p:nvSpPr>
            <p:cNvPr id="55" name="Rectangle 26">
              <a:extLst>
                <a:ext uri="{FF2B5EF4-FFF2-40B4-BE49-F238E27FC236}">
                  <a16:creationId xmlns:a16="http://schemas.microsoft.com/office/drawing/2014/main" id="{6D036BCD-C580-464E-9EA3-6F845392B73B}"/>
                </a:ext>
              </a:extLst>
            </p:cNvPr>
            <p:cNvSpPr>
              <a:spLocks noChangeArrowheads="1"/>
            </p:cNvSpPr>
            <p:nvPr/>
          </p:nvSpPr>
          <p:spPr bwMode="auto">
            <a:xfrm>
              <a:off x="3900435" y="4150121"/>
              <a:ext cx="1272784" cy="36997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p>
              <a:r>
                <a:rPr lang="en-US" altLang="zh-CN" sz="1800" b="1" dirty="0">
                  <a:solidFill>
                    <a:srgbClr val="0432FF"/>
                  </a:solidFill>
                  <a:latin typeface="Consolas" panose="020B0609020204030204" pitchFamily="49" charset="0"/>
                  <a:ea typeface="+mj-ea"/>
                  <a:cs typeface="Consolas" panose="020B0609020204030204" pitchFamily="49" charset="0"/>
                </a:rPr>
                <a:t>$s1</a:t>
              </a:r>
              <a:r>
                <a:rPr lang="zh-CN" altLang="en-US" sz="1800" b="1" dirty="0">
                  <a:solidFill>
                    <a:srgbClr val="0432FF"/>
                  </a:solidFill>
                  <a:latin typeface="Consolas" panose="020B0609020204030204" pitchFamily="49" charset="0"/>
                  <a:ea typeface="+mj-ea"/>
                  <a:cs typeface="Consolas" panose="020B0609020204030204" pitchFamily="49" charset="0"/>
                </a:rPr>
                <a:t>的内容</a:t>
              </a:r>
            </a:p>
          </p:txBody>
        </p:sp>
        <p:sp>
          <p:nvSpPr>
            <p:cNvPr id="56" name="Rectangle 26">
              <a:extLst>
                <a:ext uri="{FF2B5EF4-FFF2-40B4-BE49-F238E27FC236}">
                  <a16:creationId xmlns:a16="http://schemas.microsoft.com/office/drawing/2014/main" id="{E33FE745-80C7-4117-A5CA-E2EE764D5BB8}"/>
                </a:ext>
              </a:extLst>
            </p:cNvPr>
            <p:cNvSpPr>
              <a:spLocks noChangeArrowheads="1"/>
            </p:cNvSpPr>
            <p:nvPr/>
          </p:nvSpPr>
          <p:spPr bwMode="auto">
            <a:xfrm>
              <a:off x="3894708" y="4441867"/>
              <a:ext cx="1272784" cy="36997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p>
              <a:r>
                <a:rPr lang="en-US" altLang="zh-CN" sz="1800" b="1" dirty="0">
                  <a:solidFill>
                    <a:srgbClr val="0432FF"/>
                  </a:solidFill>
                  <a:latin typeface="Consolas" panose="020B0609020204030204" pitchFamily="49" charset="0"/>
                  <a:ea typeface="+mj-ea"/>
                  <a:cs typeface="Consolas" panose="020B0609020204030204" pitchFamily="49" charset="0"/>
                </a:rPr>
                <a:t>$s2</a:t>
              </a:r>
              <a:r>
                <a:rPr lang="zh-CN" altLang="en-US" sz="1800" b="1" dirty="0">
                  <a:solidFill>
                    <a:srgbClr val="0432FF"/>
                  </a:solidFill>
                  <a:latin typeface="Consolas" panose="020B0609020204030204" pitchFamily="49" charset="0"/>
                  <a:ea typeface="+mj-ea"/>
                  <a:cs typeface="Consolas" panose="020B0609020204030204" pitchFamily="49" charset="0"/>
                </a:rPr>
                <a:t>的内容</a:t>
              </a:r>
            </a:p>
          </p:txBody>
        </p:sp>
        <p:sp>
          <p:nvSpPr>
            <p:cNvPr id="57" name="Rectangle 26">
              <a:extLst>
                <a:ext uri="{FF2B5EF4-FFF2-40B4-BE49-F238E27FC236}">
                  <a16:creationId xmlns:a16="http://schemas.microsoft.com/office/drawing/2014/main" id="{531EB6F0-7819-464A-8E77-464D1041D95B}"/>
                </a:ext>
              </a:extLst>
            </p:cNvPr>
            <p:cNvSpPr>
              <a:spLocks noChangeArrowheads="1"/>
            </p:cNvSpPr>
            <p:nvPr/>
          </p:nvSpPr>
          <p:spPr bwMode="auto">
            <a:xfrm>
              <a:off x="3901058" y="4762541"/>
              <a:ext cx="1272784" cy="36997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p>
              <a:r>
                <a:rPr lang="en-US" altLang="zh-CN" sz="1800" b="1">
                  <a:solidFill>
                    <a:srgbClr val="0432FF"/>
                  </a:solidFill>
                  <a:latin typeface="Consolas" panose="020B0609020204030204" pitchFamily="49" charset="0"/>
                  <a:ea typeface="+mj-ea"/>
                  <a:cs typeface="Consolas" panose="020B0609020204030204" pitchFamily="49" charset="0"/>
                </a:rPr>
                <a:t>$s3</a:t>
              </a:r>
              <a:r>
                <a:rPr lang="zh-CN" altLang="en-US" sz="1800" b="1">
                  <a:solidFill>
                    <a:srgbClr val="0432FF"/>
                  </a:solidFill>
                  <a:latin typeface="Consolas" panose="020B0609020204030204" pitchFamily="49" charset="0"/>
                  <a:ea typeface="+mj-ea"/>
                  <a:cs typeface="Consolas" panose="020B0609020204030204" pitchFamily="49" charset="0"/>
                </a:rPr>
                <a:t>的内容</a:t>
              </a:r>
            </a:p>
          </p:txBody>
        </p:sp>
      </p:grpSp>
      <p:sp>
        <p:nvSpPr>
          <p:cNvPr id="4" name="Title 4">
            <a:extLst>
              <a:ext uri="{FF2B5EF4-FFF2-40B4-BE49-F238E27FC236}">
                <a16:creationId xmlns:a16="http://schemas.microsoft.com/office/drawing/2014/main" id="{007E3883-DB00-B9D2-8D05-49DBA0CF8C7E}"/>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kern="1200" dirty="0">
                <a:cs typeface="+mn-cs"/>
              </a:rPr>
              <a:t>指令系统：栈操作</a:t>
            </a:r>
            <a:endParaRPr lang="en-CN" kern="0" dirty="0"/>
          </a:p>
        </p:txBody>
      </p:sp>
      <p:sp>
        <p:nvSpPr>
          <p:cNvPr id="5" name="文本框 4">
            <a:extLst>
              <a:ext uri="{FF2B5EF4-FFF2-40B4-BE49-F238E27FC236}">
                <a16:creationId xmlns:a16="http://schemas.microsoft.com/office/drawing/2014/main" id="{F1FEF473-CEAA-08D1-7EBF-A8963E35757F}"/>
              </a:ext>
            </a:extLst>
          </p:cNvPr>
          <p:cNvSpPr txBox="1"/>
          <p:nvPr/>
        </p:nvSpPr>
        <p:spPr>
          <a:xfrm>
            <a:off x="6710909" y="2560746"/>
            <a:ext cx="1758173" cy="400110"/>
          </a:xfrm>
          <a:prstGeom prst="rect">
            <a:avLst/>
          </a:prstGeom>
          <a:noFill/>
        </p:spPr>
        <p:txBody>
          <a:bodyPr wrap="square" rtlCol="0">
            <a:spAutoFit/>
          </a:bodyPr>
          <a:lstStyle/>
          <a:p>
            <a:r>
              <a:rPr kumimoji="1" lang="zh-CN" altLang="en-US" sz="2000" b="1" dirty="0">
                <a:solidFill>
                  <a:srgbClr val="FF0000"/>
                </a:solidFill>
                <a:latin typeface="+mj-ea"/>
                <a:ea typeface="+mj-ea"/>
              </a:rPr>
              <a:t>执行指令</a:t>
            </a:r>
            <a:r>
              <a:rPr kumimoji="1" lang="en-US" altLang="zh-CN" sz="2000" b="1" dirty="0">
                <a:solidFill>
                  <a:srgbClr val="FF0000"/>
                </a:solidFill>
                <a:latin typeface="+mj-ea"/>
                <a:ea typeface="+mj-ea"/>
              </a:rPr>
              <a:t>3</a:t>
            </a:r>
            <a:r>
              <a:rPr kumimoji="1" lang="zh-CN" altLang="en-US" sz="2000" b="1" dirty="0">
                <a:solidFill>
                  <a:srgbClr val="FF0000"/>
                </a:solidFill>
                <a:latin typeface="+mj-ea"/>
                <a:ea typeface="+mj-ea"/>
              </a:rPr>
              <a:t>后：</a:t>
            </a:r>
          </a:p>
        </p:txBody>
      </p:sp>
    </p:spTree>
    <p:extLst>
      <p:ext uri="{BB962C8B-B14F-4D97-AF65-F5344CB8AC3E}">
        <p14:creationId xmlns:p14="http://schemas.microsoft.com/office/powerpoint/2010/main" val="33169098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2" name="表格 11">
            <a:extLst>
              <a:ext uri="{FF2B5EF4-FFF2-40B4-BE49-F238E27FC236}">
                <a16:creationId xmlns:a16="http://schemas.microsoft.com/office/drawing/2014/main" id="{FC4FEAAA-4425-B2C7-26BA-60EBEB1649AF}"/>
              </a:ext>
            </a:extLst>
          </p:cNvPr>
          <p:cNvGraphicFramePr>
            <a:graphicFrameLocks noGrp="1"/>
          </p:cNvGraphicFramePr>
          <p:nvPr>
            <p:extLst>
              <p:ext uri="{D42A27DB-BD31-4B8C-83A1-F6EECF244321}">
                <p14:modId xmlns:p14="http://schemas.microsoft.com/office/powerpoint/2010/main" val="3836590856"/>
              </p:ext>
            </p:extLst>
          </p:nvPr>
        </p:nvGraphicFramePr>
        <p:xfrm>
          <a:off x="4708197" y="2974923"/>
          <a:ext cx="2180034" cy="3708400"/>
        </p:xfrm>
        <a:graphic>
          <a:graphicData uri="http://schemas.openxmlformats.org/drawingml/2006/table">
            <a:tbl>
              <a:tblPr firstRow="1" bandRow="1"/>
              <a:tblGrid>
                <a:gridCol w="1090017">
                  <a:extLst>
                    <a:ext uri="{9D8B030D-6E8A-4147-A177-3AD203B41FA5}">
                      <a16:colId xmlns:a16="http://schemas.microsoft.com/office/drawing/2014/main" val="3615131668"/>
                    </a:ext>
                  </a:extLst>
                </a:gridCol>
                <a:gridCol w="1090017">
                  <a:extLst>
                    <a:ext uri="{9D8B030D-6E8A-4147-A177-3AD203B41FA5}">
                      <a16:colId xmlns:a16="http://schemas.microsoft.com/office/drawing/2014/main" val="1350738994"/>
                    </a:ext>
                  </a:extLst>
                </a:gridCol>
              </a:tblGrid>
              <a:tr h="370840">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zh-CN" altLang="en-US" sz="1600" dirty="0">
                          <a:solidFill>
                            <a:schemeClr val="tx1"/>
                          </a:solidFill>
                          <a:latin typeface="Consolas" panose="020B0609020204030204" pitchFamily="49" charset="0"/>
                          <a:ea typeface="+mj-ea"/>
                          <a:cs typeface="Consolas" panose="020B0609020204030204" pitchFamily="49" charset="0"/>
                        </a:rPr>
                        <a:t>栈</a:t>
                      </a:r>
                    </a:p>
                  </a:txBody>
                  <a:tcPr anchor="ctr">
                    <a:lnL w="12700" cmpd="sng">
                      <a:solidFill>
                        <a:srgbClr val="FFFFFF"/>
                      </a:solidFill>
                    </a:lnL>
                    <a:lnR w="12700" cmpd="sng">
                      <a:solidFill>
                        <a:srgbClr val="FFFFFF"/>
                      </a:solidFill>
                    </a:lnR>
                    <a:lnT w="12700" cmpd="sng">
                      <a:solidFill>
                        <a:srgbClr val="FFFFFF"/>
                      </a:solidFill>
                    </a:lnT>
                    <a:lnB w="190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endParaRPr lang="zh-CN" altLang="en-US" sz="1600" dirty="0">
                        <a:latin typeface="Consolas" panose="020B0609020204030204" pitchFamily="49" charset="0"/>
                        <a:ea typeface="+mj-ea"/>
                        <a:cs typeface="Consolas" panose="020B0609020204030204" pitchFamily="49" charset="0"/>
                      </a:endParaRP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noFill/>
                  </a:tcPr>
                </a:tc>
                <a:extLst>
                  <a:ext uri="{0D108BD9-81ED-4DB2-BD59-A6C34878D82A}">
                    <a16:rowId xmlns:a16="http://schemas.microsoft.com/office/drawing/2014/main" val="3244490491"/>
                  </a:ext>
                </a:extLst>
              </a:tr>
              <a:tr h="37084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lnSpc>
                          <a:spcPct val="100000"/>
                        </a:lnSpc>
                      </a:pPr>
                      <a:r>
                        <a:rPr lang="zh-CN" altLang="en-US" sz="1600" dirty="0">
                          <a:latin typeface="Consolas" panose="020B0609020204030204" pitchFamily="49" charset="0"/>
                          <a:ea typeface="+mj-ea"/>
                          <a:cs typeface="Consolas" panose="020B0609020204030204" pitchFamily="49" charset="0"/>
                        </a:rPr>
                        <a:t>原</a:t>
                      </a:r>
                      <a:r>
                        <a:rPr lang="en-US" altLang="zh-CN" sz="1600" dirty="0">
                          <a:latin typeface="Consolas" panose="020B0609020204030204" pitchFamily="49" charset="0"/>
                          <a:ea typeface="+mj-ea"/>
                          <a:cs typeface="Consolas" panose="020B0609020204030204" pitchFamily="49" charset="0"/>
                        </a:rPr>
                        <a:t>$</a:t>
                      </a:r>
                      <a:r>
                        <a:rPr lang="en-US" altLang="zh-CN" sz="1600" dirty="0" err="1">
                          <a:latin typeface="Consolas" panose="020B0609020204030204" pitchFamily="49" charset="0"/>
                          <a:ea typeface="+mj-ea"/>
                          <a:cs typeface="Consolas" panose="020B0609020204030204" pitchFamily="49" charset="0"/>
                        </a:rPr>
                        <a:t>ra</a:t>
                      </a:r>
                      <a:endParaRPr lang="zh-CN" altLang="en-US" sz="1600" dirty="0">
                        <a:latin typeface="Consolas" panose="020B0609020204030204" pitchFamily="49" charset="0"/>
                        <a:ea typeface="+mj-ea"/>
                        <a:cs typeface="Consolas" panose="020B0609020204030204" pitchFamily="49" charset="0"/>
                      </a:endParaRP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0CBE3"/>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US" altLang="zh-CN" sz="1600" dirty="0">
                          <a:latin typeface="Consolas" panose="020B0609020204030204" pitchFamily="49" charset="0"/>
                          <a:ea typeface="+mj-ea"/>
                          <a:cs typeface="Consolas" panose="020B0609020204030204" pitchFamily="49" charset="0"/>
                        </a:rPr>
                        <a:t>main</a:t>
                      </a:r>
                      <a:endParaRPr lang="zh-CN" altLang="en-US" sz="1600" dirty="0">
                        <a:latin typeface="Consolas" panose="020B0609020204030204" pitchFamily="49" charset="0"/>
                        <a:ea typeface="+mj-ea"/>
                        <a:cs typeface="Consolas" panose="020B0609020204030204" pitchFamily="49" charset="0"/>
                      </a:endParaRPr>
                    </a:p>
                  </a:txBody>
                  <a:tcPr anchor="ctr">
                    <a:lnL w="19050" cap="flat" cmpd="sng" algn="ctr">
                      <a:solidFill>
                        <a:srgbClr val="000000"/>
                      </a:solidFill>
                      <a:prstDash val="solid"/>
                      <a:round/>
                      <a:headEnd type="none" w="med" len="med"/>
                      <a:tailEnd type="none" w="med" len="med"/>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noFill/>
                  </a:tcPr>
                </a:tc>
                <a:extLst>
                  <a:ext uri="{0D108BD9-81ED-4DB2-BD59-A6C34878D82A}">
                    <a16:rowId xmlns:a16="http://schemas.microsoft.com/office/drawing/2014/main" val="3940961841"/>
                  </a:ext>
                </a:extLst>
              </a:tr>
              <a:tr h="74168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lnSpc>
                          <a:spcPct val="100000"/>
                        </a:lnSpc>
                      </a:pPr>
                      <a:r>
                        <a:rPr lang="zh-CN" altLang="en-US" sz="1600" dirty="0">
                          <a:latin typeface="Consolas" panose="020B0609020204030204" pitchFamily="49" charset="0"/>
                          <a:ea typeface="+mj-ea"/>
                          <a:cs typeface="Consolas" panose="020B0609020204030204" pitchFamily="49" charset="0"/>
                        </a:rPr>
                        <a:t>原</a:t>
                      </a:r>
                      <a:r>
                        <a:rPr lang="en-US" altLang="zh-CN" sz="1600" dirty="0">
                          <a:latin typeface="Consolas" panose="020B0609020204030204" pitchFamily="49" charset="0"/>
                          <a:ea typeface="+mj-ea"/>
                          <a:cs typeface="Consolas" panose="020B0609020204030204" pitchFamily="49" charset="0"/>
                        </a:rPr>
                        <a:t>$</a:t>
                      </a:r>
                      <a:r>
                        <a:rPr lang="en-US" altLang="zh-CN" sz="1600" dirty="0" err="1">
                          <a:latin typeface="Consolas" panose="020B0609020204030204" pitchFamily="49" charset="0"/>
                          <a:ea typeface="+mj-ea"/>
                          <a:cs typeface="Consolas" panose="020B0609020204030204" pitchFamily="49" charset="0"/>
                        </a:rPr>
                        <a:t>ra</a:t>
                      </a:r>
                      <a:endParaRPr lang="en-US" altLang="zh-CN" sz="1600" dirty="0">
                        <a:latin typeface="Consolas" panose="020B0609020204030204" pitchFamily="49" charset="0"/>
                        <a:ea typeface="+mj-ea"/>
                        <a:cs typeface="Consolas" panose="020B0609020204030204" pitchFamily="49" charset="0"/>
                      </a:endParaRPr>
                    </a:p>
                    <a:p>
                      <a:pPr algn="ctr">
                        <a:lnSpc>
                          <a:spcPct val="100000"/>
                        </a:lnSpc>
                      </a:pPr>
                      <a:r>
                        <a:rPr lang="zh-CN" altLang="en-US" sz="1600" dirty="0">
                          <a:latin typeface="Consolas" panose="020B0609020204030204" pitchFamily="49" charset="0"/>
                          <a:ea typeface="+mj-ea"/>
                          <a:cs typeface="Consolas" panose="020B0609020204030204" pitchFamily="49" charset="0"/>
                        </a:rPr>
                        <a:t>原</a:t>
                      </a:r>
                      <a:r>
                        <a:rPr lang="en-US" altLang="zh-CN" sz="1600" dirty="0">
                          <a:latin typeface="Consolas" panose="020B0609020204030204" pitchFamily="49" charset="0"/>
                          <a:ea typeface="+mj-ea"/>
                          <a:cs typeface="Consolas" panose="020B0609020204030204" pitchFamily="49" charset="0"/>
                        </a:rPr>
                        <a:t>$a0</a:t>
                      </a:r>
                      <a:endParaRPr lang="zh-CN" altLang="en-US" sz="1600" dirty="0">
                        <a:latin typeface="Consolas" panose="020B0609020204030204" pitchFamily="49" charset="0"/>
                        <a:ea typeface="+mj-ea"/>
                        <a:cs typeface="Consolas" panose="020B0609020204030204" pitchFamily="49" charset="0"/>
                      </a:endParaRP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0CBE3"/>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US" altLang="zh-CN" sz="1600" dirty="0">
                          <a:latin typeface="Consolas" panose="020B0609020204030204" pitchFamily="49" charset="0"/>
                          <a:ea typeface="+mj-ea"/>
                          <a:cs typeface="Consolas" panose="020B0609020204030204" pitchFamily="49" charset="0"/>
                        </a:rPr>
                        <a:t>fact(10)</a:t>
                      </a:r>
                      <a:endParaRPr lang="zh-CN" altLang="en-US" sz="1600" dirty="0">
                        <a:latin typeface="Consolas" panose="020B0609020204030204" pitchFamily="49" charset="0"/>
                        <a:ea typeface="+mj-ea"/>
                        <a:cs typeface="Consolas" panose="020B0609020204030204" pitchFamily="49" charset="0"/>
                      </a:endParaRPr>
                    </a:p>
                  </a:txBody>
                  <a:tcPr anchor="ctr">
                    <a:lnL w="1905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noFill/>
                  </a:tcPr>
                </a:tc>
                <a:extLst>
                  <a:ext uri="{0D108BD9-81ED-4DB2-BD59-A6C34878D82A}">
                    <a16:rowId xmlns:a16="http://schemas.microsoft.com/office/drawing/2014/main" val="674320415"/>
                  </a:ext>
                </a:extLst>
              </a:tr>
              <a:tr h="74168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lnSpc>
                          <a:spcPct val="100000"/>
                        </a:lnSpc>
                      </a:pPr>
                      <a:r>
                        <a:rPr lang="zh-CN" altLang="en-US" sz="1600" dirty="0">
                          <a:latin typeface="Consolas" panose="020B0609020204030204" pitchFamily="49" charset="0"/>
                          <a:ea typeface="+mj-ea"/>
                          <a:cs typeface="Consolas" panose="020B0609020204030204" pitchFamily="49" charset="0"/>
                        </a:rPr>
                        <a:t>原</a:t>
                      </a:r>
                      <a:r>
                        <a:rPr lang="en-US" altLang="zh-CN" sz="1600" dirty="0">
                          <a:latin typeface="Consolas" panose="020B0609020204030204" pitchFamily="49" charset="0"/>
                          <a:ea typeface="+mj-ea"/>
                          <a:cs typeface="Consolas" panose="020B0609020204030204" pitchFamily="49" charset="0"/>
                        </a:rPr>
                        <a:t>$</a:t>
                      </a:r>
                      <a:r>
                        <a:rPr lang="en-US" altLang="zh-CN" sz="1600" dirty="0" err="1">
                          <a:latin typeface="Consolas" panose="020B0609020204030204" pitchFamily="49" charset="0"/>
                          <a:ea typeface="+mj-ea"/>
                          <a:cs typeface="Consolas" panose="020B0609020204030204" pitchFamily="49" charset="0"/>
                        </a:rPr>
                        <a:t>ra</a:t>
                      </a:r>
                      <a:endParaRPr lang="en-US" altLang="zh-CN" sz="1600" dirty="0">
                        <a:latin typeface="Consolas" panose="020B0609020204030204" pitchFamily="49" charset="0"/>
                        <a:ea typeface="+mj-ea"/>
                        <a:cs typeface="Consolas" panose="020B0609020204030204" pitchFamily="49" charset="0"/>
                      </a:endParaRPr>
                    </a:p>
                    <a:p>
                      <a:pPr algn="ctr">
                        <a:lnSpc>
                          <a:spcPct val="100000"/>
                        </a:lnSpc>
                      </a:pPr>
                      <a:r>
                        <a:rPr lang="zh-CN" altLang="en-US" sz="1600" dirty="0">
                          <a:latin typeface="Consolas" panose="020B0609020204030204" pitchFamily="49" charset="0"/>
                          <a:ea typeface="+mj-ea"/>
                          <a:cs typeface="Consolas" panose="020B0609020204030204" pitchFamily="49" charset="0"/>
                        </a:rPr>
                        <a:t>原</a:t>
                      </a:r>
                      <a:r>
                        <a:rPr lang="en-US" altLang="zh-CN" sz="1600" dirty="0">
                          <a:latin typeface="Consolas" panose="020B0609020204030204" pitchFamily="49" charset="0"/>
                          <a:ea typeface="+mj-ea"/>
                          <a:cs typeface="Consolas" panose="020B0609020204030204" pitchFamily="49" charset="0"/>
                        </a:rPr>
                        <a:t>$a0</a:t>
                      </a:r>
                      <a:endParaRPr lang="zh-CN" altLang="en-US" sz="1600" dirty="0">
                        <a:latin typeface="Consolas" panose="020B0609020204030204" pitchFamily="49" charset="0"/>
                        <a:ea typeface="+mj-ea"/>
                        <a:cs typeface="Consolas" panose="020B0609020204030204" pitchFamily="49" charset="0"/>
                      </a:endParaRP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0CBE3"/>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US" altLang="zh-CN" sz="1600" dirty="0">
                          <a:latin typeface="Consolas" panose="020B0609020204030204" pitchFamily="49" charset="0"/>
                          <a:ea typeface="+mj-ea"/>
                          <a:cs typeface="Consolas" panose="020B0609020204030204" pitchFamily="49" charset="0"/>
                        </a:rPr>
                        <a:t>fact(9)</a:t>
                      </a:r>
                      <a:endParaRPr lang="zh-CN" altLang="en-US" sz="1600" dirty="0">
                        <a:latin typeface="Consolas" panose="020B0609020204030204" pitchFamily="49" charset="0"/>
                        <a:ea typeface="+mj-ea"/>
                        <a:cs typeface="Consolas" panose="020B0609020204030204" pitchFamily="49" charset="0"/>
                      </a:endParaRPr>
                    </a:p>
                  </a:txBody>
                  <a:tcPr anchor="ctr">
                    <a:lnL w="1905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noFill/>
                  </a:tcPr>
                </a:tc>
                <a:extLst>
                  <a:ext uri="{0D108BD9-81ED-4DB2-BD59-A6C34878D82A}">
                    <a16:rowId xmlns:a16="http://schemas.microsoft.com/office/drawing/2014/main" val="69152953"/>
                  </a:ext>
                </a:extLst>
              </a:tr>
              <a:tr h="74168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lnSpc>
                          <a:spcPct val="100000"/>
                        </a:lnSpc>
                      </a:pPr>
                      <a:r>
                        <a:rPr lang="zh-CN" altLang="en-US" sz="1600" dirty="0">
                          <a:latin typeface="Consolas" panose="020B0609020204030204" pitchFamily="49" charset="0"/>
                          <a:ea typeface="+mj-ea"/>
                          <a:cs typeface="Consolas" panose="020B0609020204030204" pitchFamily="49" charset="0"/>
                        </a:rPr>
                        <a:t>原</a:t>
                      </a:r>
                      <a:r>
                        <a:rPr lang="en-US" altLang="zh-CN" sz="1600" dirty="0">
                          <a:latin typeface="Consolas" panose="020B0609020204030204" pitchFamily="49" charset="0"/>
                          <a:ea typeface="+mj-ea"/>
                          <a:cs typeface="Consolas" panose="020B0609020204030204" pitchFamily="49" charset="0"/>
                        </a:rPr>
                        <a:t>$</a:t>
                      </a:r>
                      <a:r>
                        <a:rPr lang="en-US" altLang="zh-CN" sz="1600" dirty="0" err="1">
                          <a:latin typeface="Consolas" panose="020B0609020204030204" pitchFamily="49" charset="0"/>
                          <a:ea typeface="+mj-ea"/>
                          <a:cs typeface="Consolas" panose="020B0609020204030204" pitchFamily="49" charset="0"/>
                        </a:rPr>
                        <a:t>ra</a:t>
                      </a:r>
                      <a:endParaRPr lang="en-US" altLang="zh-CN" sz="1600" dirty="0">
                        <a:latin typeface="Consolas" panose="020B0609020204030204" pitchFamily="49" charset="0"/>
                        <a:ea typeface="+mj-ea"/>
                        <a:cs typeface="Consolas" panose="020B0609020204030204" pitchFamily="49" charset="0"/>
                      </a:endParaRPr>
                    </a:p>
                    <a:p>
                      <a:pPr algn="ctr">
                        <a:lnSpc>
                          <a:spcPct val="100000"/>
                        </a:lnSpc>
                      </a:pPr>
                      <a:r>
                        <a:rPr lang="zh-CN" altLang="en-US" sz="1600" dirty="0">
                          <a:latin typeface="Consolas" panose="020B0609020204030204" pitchFamily="49" charset="0"/>
                          <a:ea typeface="+mj-ea"/>
                          <a:cs typeface="Consolas" panose="020B0609020204030204" pitchFamily="49" charset="0"/>
                        </a:rPr>
                        <a:t>原</a:t>
                      </a:r>
                      <a:r>
                        <a:rPr lang="en-US" altLang="zh-CN" sz="1600" dirty="0">
                          <a:latin typeface="Consolas" panose="020B0609020204030204" pitchFamily="49" charset="0"/>
                          <a:ea typeface="+mj-ea"/>
                          <a:cs typeface="Consolas" panose="020B0609020204030204" pitchFamily="49" charset="0"/>
                        </a:rPr>
                        <a:t>$a0</a:t>
                      </a:r>
                      <a:endParaRPr lang="zh-CN" altLang="en-US" sz="1600" dirty="0">
                        <a:latin typeface="Consolas" panose="020B0609020204030204" pitchFamily="49" charset="0"/>
                        <a:ea typeface="+mj-ea"/>
                        <a:cs typeface="Consolas" panose="020B0609020204030204" pitchFamily="49" charset="0"/>
                      </a:endParaRP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0CBE3"/>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US" altLang="zh-CN" sz="1600" dirty="0">
                          <a:latin typeface="Consolas" panose="020B0609020204030204" pitchFamily="49" charset="0"/>
                          <a:ea typeface="+mj-ea"/>
                          <a:cs typeface="Consolas" panose="020B0609020204030204" pitchFamily="49" charset="0"/>
                        </a:rPr>
                        <a:t>fact(8)</a:t>
                      </a:r>
                      <a:endParaRPr lang="zh-CN" altLang="en-US" sz="1600" dirty="0">
                        <a:latin typeface="Consolas" panose="020B0609020204030204" pitchFamily="49" charset="0"/>
                        <a:ea typeface="+mj-ea"/>
                        <a:cs typeface="Consolas" panose="020B0609020204030204" pitchFamily="49" charset="0"/>
                      </a:endParaRPr>
                    </a:p>
                  </a:txBody>
                  <a:tcPr anchor="ctr">
                    <a:lnL w="1905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noFill/>
                  </a:tcPr>
                </a:tc>
                <a:extLst>
                  <a:ext uri="{0D108BD9-81ED-4DB2-BD59-A6C34878D82A}">
                    <a16:rowId xmlns:a16="http://schemas.microsoft.com/office/drawing/2014/main" val="730054489"/>
                  </a:ext>
                </a:extLst>
              </a:tr>
              <a:tr h="74168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lnSpc>
                          <a:spcPct val="100000"/>
                        </a:lnSpc>
                      </a:pPr>
                      <a:r>
                        <a:rPr lang="zh-CN" altLang="en-US" sz="1600" dirty="0">
                          <a:latin typeface="Consolas" panose="020B0609020204030204" pitchFamily="49" charset="0"/>
                          <a:ea typeface="+mj-ea"/>
                          <a:cs typeface="Consolas" panose="020B0609020204030204" pitchFamily="49" charset="0"/>
                        </a:rPr>
                        <a:t>原</a:t>
                      </a:r>
                      <a:r>
                        <a:rPr lang="en-US" altLang="zh-CN" sz="1600" dirty="0">
                          <a:latin typeface="Consolas" panose="020B0609020204030204" pitchFamily="49" charset="0"/>
                          <a:ea typeface="+mj-ea"/>
                          <a:cs typeface="Consolas" panose="020B0609020204030204" pitchFamily="49" charset="0"/>
                        </a:rPr>
                        <a:t>$</a:t>
                      </a:r>
                      <a:r>
                        <a:rPr lang="en-US" altLang="zh-CN" sz="1600" dirty="0" err="1">
                          <a:latin typeface="Consolas" panose="020B0609020204030204" pitchFamily="49" charset="0"/>
                          <a:ea typeface="+mj-ea"/>
                          <a:cs typeface="Consolas" panose="020B0609020204030204" pitchFamily="49" charset="0"/>
                        </a:rPr>
                        <a:t>ra</a:t>
                      </a:r>
                      <a:endParaRPr lang="en-US" altLang="zh-CN" sz="1600" dirty="0">
                        <a:latin typeface="Consolas" panose="020B0609020204030204" pitchFamily="49" charset="0"/>
                        <a:ea typeface="+mj-ea"/>
                        <a:cs typeface="Consolas" panose="020B0609020204030204" pitchFamily="49" charset="0"/>
                      </a:endParaRPr>
                    </a:p>
                    <a:p>
                      <a:pPr algn="ctr">
                        <a:lnSpc>
                          <a:spcPct val="100000"/>
                        </a:lnSpc>
                      </a:pPr>
                      <a:r>
                        <a:rPr lang="zh-CN" altLang="en-US" sz="1600" dirty="0">
                          <a:latin typeface="Consolas" panose="020B0609020204030204" pitchFamily="49" charset="0"/>
                          <a:ea typeface="+mj-ea"/>
                          <a:cs typeface="Consolas" panose="020B0609020204030204" pitchFamily="49" charset="0"/>
                        </a:rPr>
                        <a:t>原</a:t>
                      </a:r>
                      <a:r>
                        <a:rPr lang="en-US" altLang="zh-CN" sz="1600" dirty="0">
                          <a:latin typeface="Consolas" panose="020B0609020204030204" pitchFamily="49" charset="0"/>
                          <a:ea typeface="+mj-ea"/>
                          <a:cs typeface="Consolas" panose="020B0609020204030204" pitchFamily="49" charset="0"/>
                        </a:rPr>
                        <a:t>$a0</a:t>
                      </a:r>
                      <a:endParaRPr lang="zh-CN" altLang="en-US" sz="1600" dirty="0">
                        <a:latin typeface="Consolas" panose="020B0609020204030204" pitchFamily="49" charset="0"/>
                        <a:ea typeface="+mj-ea"/>
                        <a:cs typeface="Consolas" panose="020B0609020204030204" pitchFamily="49" charset="0"/>
                      </a:endParaRP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0CBE3"/>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US" altLang="zh-CN" sz="1600" dirty="0">
                          <a:latin typeface="Consolas" panose="020B0609020204030204" pitchFamily="49" charset="0"/>
                          <a:ea typeface="+mj-ea"/>
                          <a:cs typeface="Consolas" panose="020B0609020204030204" pitchFamily="49" charset="0"/>
                        </a:rPr>
                        <a:t>fact(7)</a:t>
                      </a:r>
                      <a:endParaRPr lang="zh-CN" altLang="en-US" sz="1600" dirty="0">
                        <a:latin typeface="Consolas" panose="020B0609020204030204" pitchFamily="49" charset="0"/>
                        <a:ea typeface="+mj-ea"/>
                        <a:cs typeface="Consolas" panose="020B0609020204030204" pitchFamily="49" charset="0"/>
                      </a:endParaRPr>
                    </a:p>
                  </a:txBody>
                  <a:tcPr anchor="ctr">
                    <a:lnL w="1905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noFill/>
                  </a:tcPr>
                </a:tc>
                <a:extLst>
                  <a:ext uri="{0D108BD9-81ED-4DB2-BD59-A6C34878D82A}">
                    <a16:rowId xmlns:a16="http://schemas.microsoft.com/office/drawing/2014/main" val="1808855419"/>
                  </a:ext>
                </a:extLst>
              </a:tr>
            </a:tbl>
          </a:graphicData>
        </a:graphic>
      </p:graphicFrame>
      <p:sp>
        <p:nvSpPr>
          <p:cNvPr id="4" name="灯片编号占位符 3">
            <a:extLst>
              <a:ext uri="{FF2B5EF4-FFF2-40B4-BE49-F238E27FC236}">
                <a16:creationId xmlns:a16="http://schemas.microsoft.com/office/drawing/2014/main" id="{5E3845A9-7E82-4657-B497-16CB36280F3B}"/>
              </a:ext>
            </a:extLst>
          </p:cNvPr>
          <p:cNvSpPr>
            <a:spLocks noGrp="1"/>
          </p:cNvSpPr>
          <p:nvPr>
            <p:ph type="sldNum" sz="quarter" idx="12"/>
          </p:nvPr>
        </p:nvSpPr>
        <p:spPr/>
        <p:txBody>
          <a:bodyPr/>
          <a:lstStyle/>
          <a:p>
            <a:fld id="{176ACFD1-D213-4B9C-817B-45486DBF105A}" type="slidenum">
              <a:rPr lang="en-US" smtClean="0">
                <a:solidFill>
                  <a:prstClr val="black"/>
                </a:solidFill>
                <a:latin typeface="+mj-ea"/>
                <a:ea typeface="+mj-ea"/>
              </a:rPr>
              <a:pPr/>
              <a:t>92</a:t>
            </a:fld>
            <a:endParaRPr lang="en-US">
              <a:solidFill>
                <a:prstClr val="black"/>
              </a:solidFill>
              <a:latin typeface="+mj-ea"/>
              <a:ea typeface="+mj-ea"/>
            </a:endParaRPr>
          </a:p>
        </p:txBody>
      </p:sp>
      <p:sp>
        <p:nvSpPr>
          <p:cNvPr id="25" name="Content Placeholder 2">
            <a:extLst>
              <a:ext uri="{FF2B5EF4-FFF2-40B4-BE49-F238E27FC236}">
                <a16:creationId xmlns:a16="http://schemas.microsoft.com/office/drawing/2014/main" id="{61038889-0FF1-EABC-236D-97236725C201}"/>
              </a:ext>
            </a:extLst>
          </p:cNvPr>
          <p:cNvSpPr txBox="1">
            <a:spLocks/>
          </p:cNvSpPr>
          <p:nvPr/>
        </p:nvSpPr>
        <p:spPr>
          <a:xfrm>
            <a:off x="354596" y="1301540"/>
            <a:ext cx="8229600" cy="5256584"/>
          </a:xfrm>
          <a:prstGeom prst="rect">
            <a:avLst/>
          </a:prstGeom>
        </p:spPr>
        <p:txBody>
          <a:bodyPr vert="horz" lIns="91440" tIns="45720" rIns="91440" bIns="45720" rtlCol="0">
            <a:normAutofit/>
          </a:bodyPr>
          <a:lstStyle>
            <a:lvl1pPr marL="406400" indent="-406400" algn="l" defTabSz="685800" rtl="0" eaLnBrk="1" latinLnBrk="0" hangingPunct="1">
              <a:lnSpc>
                <a:spcPct val="120000"/>
              </a:lnSpc>
              <a:spcBef>
                <a:spcPct val="20000"/>
              </a:spcBef>
              <a:buFont typeface="Wingdings" pitchFamily="2" charset="2"/>
              <a:buChar char="v"/>
              <a:tabLst/>
              <a:defRPr sz="2400" kern="1200">
                <a:solidFill>
                  <a:schemeClr val="tx1"/>
                </a:solidFill>
                <a:latin typeface="Microsoft YaHei" charset="0"/>
                <a:ea typeface="Microsoft YaHei" charset="0"/>
                <a:cs typeface="Microsoft YaHei" charset="0"/>
              </a:defRPr>
            </a:lvl1pPr>
            <a:lvl2pPr marL="685800" indent="-342900" algn="l" defTabSz="685800" rtl="0" eaLnBrk="1" latinLnBrk="0" hangingPunct="1">
              <a:lnSpc>
                <a:spcPct val="120000"/>
              </a:lnSpc>
              <a:spcBef>
                <a:spcPts val="0"/>
              </a:spcBef>
              <a:buFont typeface="Wingdings" pitchFamily="2" charset="2"/>
              <a:buChar char="ü"/>
              <a:defRPr sz="2100" kern="1200">
                <a:solidFill>
                  <a:schemeClr val="tx1"/>
                </a:solidFill>
                <a:latin typeface="Microsoft YaHei" charset="0"/>
                <a:ea typeface="Microsoft YaHei" charset="0"/>
                <a:cs typeface="Microsoft YaHei" charset="0"/>
              </a:defRPr>
            </a:lvl2pPr>
            <a:lvl3pPr marL="857250" indent="-171450" algn="l" defTabSz="685800" rtl="0" eaLnBrk="1" latinLnBrk="0" hangingPunct="1">
              <a:lnSpc>
                <a:spcPct val="120000"/>
              </a:lnSpc>
              <a:spcBef>
                <a:spcPts val="0"/>
              </a:spcBef>
              <a:buFont typeface="Arial" panose="020B0604020202020204" pitchFamily="34" charset="0"/>
              <a:buChar char="•"/>
              <a:defRPr sz="1800" kern="1200">
                <a:solidFill>
                  <a:schemeClr val="tx1"/>
                </a:solidFill>
                <a:latin typeface="Microsoft YaHei" charset="0"/>
                <a:ea typeface="Microsoft YaHei" charset="0"/>
                <a:cs typeface="Microsoft YaHei" charset="0"/>
              </a:defRPr>
            </a:lvl3pPr>
            <a:lvl4pPr marL="1200150" indent="-171450" algn="l" defTabSz="685800" rtl="0" eaLnBrk="1" latinLnBrk="0" hangingPunct="1">
              <a:lnSpc>
                <a:spcPct val="120000"/>
              </a:lnSpc>
              <a:spcBef>
                <a:spcPts val="0"/>
              </a:spcBef>
              <a:buFont typeface="Arial" panose="020B0604020202020204" pitchFamily="34" charset="0"/>
              <a:buChar char="–"/>
              <a:defRPr sz="1500" kern="1200">
                <a:solidFill>
                  <a:schemeClr val="tx1"/>
                </a:solidFill>
                <a:latin typeface="Microsoft YaHei" charset="0"/>
                <a:ea typeface="Microsoft YaHei" charset="0"/>
                <a:cs typeface="Microsoft YaHei" charset="0"/>
              </a:defRPr>
            </a:lvl4pPr>
            <a:lvl5pPr marL="1543050" indent="-171450" algn="l" defTabSz="685800" rtl="0" eaLnBrk="1" latinLnBrk="0" hangingPunct="1">
              <a:lnSpc>
                <a:spcPct val="120000"/>
              </a:lnSpc>
              <a:spcBef>
                <a:spcPts val="0"/>
              </a:spcBef>
              <a:buFont typeface="Arial" panose="020B0604020202020204" pitchFamily="34" charset="0"/>
              <a:buChar char="»"/>
              <a:defRPr sz="1500" kern="1200">
                <a:solidFill>
                  <a:schemeClr val="tx1"/>
                </a:solidFill>
                <a:latin typeface="Microsoft YaHei" charset="0"/>
                <a:ea typeface="Microsoft YaHei" charset="0"/>
                <a:cs typeface="Microsoft YaHei" charset="0"/>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a:lstStyle>
          <a:p>
            <a:pPr fontAlgn="auto">
              <a:spcAft>
                <a:spcPts val="0"/>
              </a:spcAft>
              <a:buFont typeface="Arial" panose="020B0604020202020204" pitchFamily="34" charset="0"/>
              <a:buChar char="•"/>
            </a:pPr>
            <a:r>
              <a:rPr lang="zh-CN" altLang="en-US" sz="3200" b="1" dirty="0">
                <a:latin typeface="+mn-lt"/>
                <a:ea typeface="黑体" panose="02010609060101010101" pitchFamily="49" charset="-122"/>
              </a:rPr>
              <a:t>计算</a:t>
            </a:r>
            <a:r>
              <a:rPr lang="en-US" altLang="zh-CN" sz="3200" b="1" dirty="0">
                <a:latin typeface="+mn-lt"/>
                <a:ea typeface="黑体" panose="02010609060101010101" pitchFamily="49" charset="-122"/>
              </a:rPr>
              <a:t>n!</a:t>
            </a:r>
          </a:p>
        </p:txBody>
      </p:sp>
      <p:sp>
        <p:nvSpPr>
          <p:cNvPr id="26" name="Rectangle 5">
            <a:extLst>
              <a:ext uri="{FF2B5EF4-FFF2-40B4-BE49-F238E27FC236}">
                <a16:creationId xmlns:a16="http://schemas.microsoft.com/office/drawing/2014/main" id="{F379B6C1-4490-8FD3-3B32-B1B72F7B3841}"/>
              </a:ext>
            </a:extLst>
          </p:cNvPr>
          <p:cNvSpPr>
            <a:spLocks noChangeArrowheads="1"/>
          </p:cNvSpPr>
          <p:nvPr/>
        </p:nvSpPr>
        <p:spPr bwMode="auto">
          <a:xfrm>
            <a:off x="320517" y="2158365"/>
            <a:ext cx="4038123" cy="4524958"/>
          </a:xfrm>
          <a:prstGeom prst="rect">
            <a:avLst/>
          </a:prstGeom>
          <a:noFill/>
          <a:ln w="9525" algn="ctr">
            <a:solidFill>
              <a:srgbClr val="4F81BD">
                <a:lumMod val="75000"/>
              </a:srgbClr>
            </a:solidFill>
            <a:miter lim="800000"/>
            <a:headEnd type="none" w="sm" len="sm"/>
            <a:tailEnd type="none" w="sm" len="sm"/>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71842" dir="2700000" algn="ctr" rotWithShape="0">
                    <a:schemeClr val="bg2"/>
                  </a:outerShdw>
                </a:effectLst>
              </a14:hiddenEffects>
            </a:ext>
          </a:extLst>
        </p:spPr>
        <p:txBody>
          <a:bodyPr wrap="square" lIns="92075" tIns="46038" rIns="92075" bIns="46038">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0" i="1" u="none" strike="noStrike" kern="0" cap="none" spc="0" normalizeH="0" baseline="0" noProof="0" dirty="0">
                <a:ln>
                  <a:noFill/>
                </a:ln>
                <a:solidFill>
                  <a:srgbClr val="000000"/>
                </a:solidFill>
                <a:effectLst/>
                <a:uLnTx/>
                <a:uFillTx/>
                <a:latin typeface="Consolas" panose="020B0609020204030204" pitchFamily="49" charset="0"/>
                <a:ea typeface="微软雅黑" panose="020B0503020204020204" pitchFamily="34" charset="-122"/>
              </a:rPr>
              <a:t>fact:</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0" i="1" u="none" strike="noStrike" kern="0" cap="none" spc="0" normalizeH="0" baseline="0" noProof="0" dirty="0">
                <a:ln>
                  <a:noFill/>
                </a:ln>
                <a:solidFill>
                  <a:srgbClr val="000000"/>
                </a:solidFill>
                <a:effectLst/>
                <a:uLnTx/>
                <a:uFillTx/>
                <a:latin typeface="Consolas" panose="020B0609020204030204" pitchFamily="49" charset="0"/>
                <a:ea typeface="微软雅黑" panose="020B0503020204020204" pitchFamily="34" charset="-122"/>
              </a:rPr>
              <a:t>	addi 	$</a:t>
            </a:r>
            <a:r>
              <a:rPr kumimoji="0" lang="en-US" altLang="zh-CN" sz="1600" b="0" i="1" u="none" strike="noStrike" kern="0" cap="none" spc="0" normalizeH="0" baseline="0" noProof="0" dirty="0" err="1">
                <a:ln>
                  <a:noFill/>
                </a:ln>
                <a:solidFill>
                  <a:srgbClr val="000000"/>
                </a:solidFill>
                <a:effectLst/>
                <a:uLnTx/>
                <a:uFillTx/>
                <a:latin typeface="Consolas" panose="020B0609020204030204" pitchFamily="49" charset="0"/>
                <a:ea typeface="微软雅黑" panose="020B0503020204020204" pitchFamily="34" charset="-122"/>
              </a:rPr>
              <a:t>sp</a:t>
            </a:r>
            <a:r>
              <a:rPr kumimoji="0" lang="en-US" altLang="zh-CN" sz="1600" b="0" i="1" u="none" strike="noStrike" kern="0" cap="none" spc="0" normalizeH="0" baseline="0" noProof="0" dirty="0">
                <a:ln>
                  <a:noFill/>
                </a:ln>
                <a:solidFill>
                  <a:srgbClr val="000000"/>
                </a:solidFill>
                <a:effectLst/>
                <a:uLnTx/>
                <a:uFillTx/>
                <a:latin typeface="Consolas" panose="020B0609020204030204" pitchFamily="49" charset="0"/>
                <a:ea typeface="微软雅黑" panose="020B0503020204020204" pitchFamily="34" charset="-122"/>
              </a:rPr>
              <a:t>, $</a:t>
            </a:r>
            <a:r>
              <a:rPr kumimoji="0" lang="en-US" altLang="zh-CN" sz="1600" b="0" i="1" u="none" strike="noStrike" kern="0" cap="none" spc="0" normalizeH="0" baseline="0" noProof="0" dirty="0" err="1">
                <a:ln>
                  <a:noFill/>
                </a:ln>
                <a:solidFill>
                  <a:srgbClr val="000000"/>
                </a:solidFill>
                <a:effectLst/>
                <a:uLnTx/>
                <a:uFillTx/>
                <a:latin typeface="Consolas" panose="020B0609020204030204" pitchFamily="49" charset="0"/>
                <a:ea typeface="微软雅黑" panose="020B0503020204020204" pitchFamily="34" charset="-122"/>
              </a:rPr>
              <a:t>sp</a:t>
            </a:r>
            <a:r>
              <a:rPr kumimoji="0" lang="en-US" altLang="zh-CN" sz="1600" b="0" i="1" u="none" strike="noStrike" kern="0" cap="none" spc="0" normalizeH="0" baseline="0" noProof="0" dirty="0">
                <a:ln>
                  <a:noFill/>
                </a:ln>
                <a:solidFill>
                  <a:srgbClr val="000000"/>
                </a:solidFill>
                <a:effectLst/>
                <a:uLnTx/>
                <a:uFillTx/>
                <a:latin typeface="Consolas" panose="020B0609020204030204" pitchFamily="49" charset="0"/>
                <a:ea typeface="微软雅黑" panose="020B0503020204020204" pitchFamily="34" charset="-122"/>
              </a:rPr>
              <a:t>, -8</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0" i="1" u="none" strike="noStrike" kern="0" cap="none" spc="0" normalizeH="0" baseline="0" noProof="0" dirty="0">
                <a:ln>
                  <a:noFill/>
                </a:ln>
                <a:solidFill>
                  <a:srgbClr val="000000"/>
                </a:solidFill>
                <a:effectLst/>
                <a:uLnTx/>
                <a:uFillTx/>
                <a:latin typeface="Consolas" panose="020B0609020204030204" pitchFamily="49" charset="0"/>
                <a:ea typeface="微软雅黑" panose="020B0503020204020204" pitchFamily="34" charset="-122"/>
              </a:rPr>
              <a:t>	</a:t>
            </a:r>
            <a:r>
              <a:rPr kumimoji="0" lang="en-US" altLang="zh-CN" sz="1600" b="0" i="1" u="none" strike="noStrike" kern="0" cap="none" spc="0" normalizeH="0" baseline="0" noProof="0" dirty="0" err="1">
                <a:ln>
                  <a:noFill/>
                </a:ln>
                <a:solidFill>
                  <a:srgbClr val="000000"/>
                </a:solidFill>
                <a:effectLst/>
                <a:uLnTx/>
                <a:uFillTx/>
                <a:latin typeface="Consolas" panose="020B0609020204030204" pitchFamily="49" charset="0"/>
                <a:ea typeface="微软雅黑" panose="020B0503020204020204" pitchFamily="34" charset="-122"/>
              </a:rPr>
              <a:t>sw</a:t>
            </a:r>
            <a:r>
              <a:rPr kumimoji="0" lang="en-US" altLang="zh-CN" sz="1600" b="0" i="1" u="none" strike="noStrike" kern="0" cap="none" spc="0" normalizeH="0" baseline="0" noProof="0" dirty="0">
                <a:ln>
                  <a:noFill/>
                </a:ln>
                <a:solidFill>
                  <a:srgbClr val="000000"/>
                </a:solidFill>
                <a:effectLst/>
                <a:uLnTx/>
                <a:uFillTx/>
                <a:latin typeface="Consolas" panose="020B0609020204030204" pitchFamily="49" charset="0"/>
                <a:ea typeface="微软雅黑" panose="020B0503020204020204" pitchFamily="34" charset="-122"/>
              </a:rPr>
              <a:t> 	$</a:t>
            </a:r>
            <a:r>
              <a:rPr kumimoji="0" lang="en-US" altLang="zh-CN" sz="1600" b="0" i="1" u="none" strike="noStrike" kern="0" cap="none" spc="0" normalizeH="0" baseline="0" noProof="0" dirty="0" err="1">
                <a:ln>
                  <a:noFill/>
                </a:ln>
                <a:solidFill>
                  <a:srgbClr val="000000"/>
                </a:solidFill>
                <a:effectLst/>
                <a:uLnTx/>
                <a:uFillTx/>
                <a:latin typeface="Consolas" panose="020B0609020204030204" pitchFamily="49" charset="0"/>
                <a:ea typeface="微软雅黑" panose="020B0503020204020204" pitchFamily="34" charset="-122"/>
              </a:rPr>
              <a:t>ra</a:t>
            </a:r>
            <a:r>
              <a:rPr kumimoji="0" lang="en-US" altLang="zh-CN" sz="1600" b="0" i="1" u="none" strike="noStrike" kern="0" cap="none" spc="0" normalizeH="0" baseline="0" noProof="0" dirty="0">
                <a:ln>
                  <a:noFill/>
                </a:ln>
                <a:solidFill>
                  <a:srgbClr val="000000"/>
                </a:solidFill>
                <a:effectLst/>
                <a:uLnTx/>
                <a:uFillTx/>
                <a:latin typeface="Consolas" panose="020B0609020204030204" pitchFamily="49" charset="0"/>
                <a:ea typeface="微软雅黑" panose="020B0503020204020204" pitchFamily="34" charset="-122"/>
              </a:rPr>
              <a:t>, 4($</a:t>
            </a:r>
            <a:r>
              <a:rPr kumimoji="0" lang="en-US" altLang="zh-CN" sz="1600" b="0" i="1" u="none" strike="noStrike" kern="0" cap="none" spc="0" normalizeH="0" baseline="0" noProof="0" dirty="0" err="1">
                <a:ln>
                  <a:noFill/>
                </a:ln>
                <a:solidFill>
                  <a:srgbClr val="000000"/>
                </a:solidFill>
                <a:effectLst/>
                <a:uLnTx/>
                <a:uFillTx/>
                <a:latin typeface="Consolas" panose="020B0609020204030204" pitchFamily="49" charset="0"/>
                <a:ea typeface="微软雅黑" panose="020B0503020204020204" pitchFamily="34" charset="-122"/>
              </a:rPr>
              <a:t>sp</a:t>
            </a:r>
            <a:r>
              <a:rPr kumimoji="0" lang="en-US" altLang="zh-CN" sz="1600" b="0" i="1" u="none" strike="noStrike" kern="0" cap="none" spc="0" normalizeH="0" baseline="0" noProof="0" dirty="0">
                <a:ln>
                  <a:noFill/>
                </a:ln>
                <a:solidFill>
                  <a:srgbClr val="000000"/>
                </a:solidFill>
                <a:effectLst/>
                <a:uLnTx/>
                <a:uFillTx/>
                <a:latin typeface="Consolas" panose="020B0609020204030204" pitchFamily="49" charset="0"/>
                <a:ea typeface="微软雅黑" panose="020B0503020204020204" pitchFamily="34" charset="-122"/>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0" i="1" u="none" strike="noStrike" kern="0" cap="none" spc="0" normalizeH="0" baseline="0" noProof="0" dirty="0">
                <a:ln>
                  <a:noFill/>
                </a:ln>
                <a:solidFill>
                  <a:srgbClr val="000000"/>
                </a:solidFill>
                <a:effectLst/>
                <a:uLnTx/>
                <a:uFillTx/>
                <a:latin typeface="Consolas" panose="020B0609020204030204" pitchFamily="49" charset="0"/>
                <a:ea typeface="微软雅黑" panose="020B0503020204020204" pitchFamily="34" charset="-122"/>
              </a:rPr>
              <a:t>	</a:t>
            </a:r>
            <a:r>
              <a:rPr kumimoji="0" lang="en-US" altLang="zh-CN" sz="1600" b="0" i="1" u="none" strike="noStrike" kern="0" cap="none" spc="0" normalizeH="0" baseline="0" noProof="0" dirty="0" err="1">
                <a:ln>
                  <a:noFill/>
                </a:ln>
                <a:solidFill>
                  <a:srgbClr val="000000"/>
                </a:solidFill>
                <a:effectLst/>
                <a:uLnTx/>
                <a:uFillTx/>
                <a:latin typeface="Consolas" panose="020B0609020204030204" pitchFamily="49" charset="0"/>
                <a:ea typeface="微软雅黑" panose="020B0503020204020204" pitchFamily="34" charset="-122"/>
              </a:rPr>
              <a:t>sw</a:t>
            </a:r>
            <a:r>
              <a:rPr kumimoji="0" lang="en-US" altLang="zh-CN" sz="1600" b="0" i="1" u="none" strike="noStrike" kern="0" cap="none" spc="0" normalizeH="0" baseline="0" noProof="0" dirty="0">
                <a:ln>
                  <a:noFill/>
                </a:ln>
                <a:solidFill>
                  <a:srgbClr val="000000"/>
                </a:solidFill>
                <a:effectLst/>
                <a:uLnTx/>
                <a:uFillTx/>
                <a:latin typeface="Consolas" panose="020B0609020204030204" pitchFamily="49" charset="0"/>
                <a:ea typeface="微软雅黑" panose="020B0503020204020204" pitchFamily="34" charset="-122"/>
              </a:rPr>
              <a:t>	$a0, 0($</a:t>
            </a:r>
            <a:r>
              <a:rPr kumimoji="0" lang="en-US" altLang="zh-CN" sz="1600" b="0" i="1" u="none" strike="noStrike" kern="0" cap="none" spc="0" normalizeH="0" baseline="0" noProof="0" dirty="0" err="1">
                <a:ln>
                  <a:noFill/>
                </a:ln>
                <a:solidFill>
                  <a:srgbClr val="000000"/>
                </a:solidFill>
                <a:effectLst/>
                <a:uLnTx/>
                <a:uFillTx/>
                <a:latin typeface="Consolas" panose="020B0609020204030204" pitchFamily="49" charset="0"/>
                <a:ea typeface="微软雅黑" panose="020B0503020204020204" pitchFamily="34" charset="-122"/>
              </a:rPr>
              <a:t>sp</a:t>
            </a:r>
            <a:r>
              <a:rPr kumimoji="0" lang="en-US" altLang="zh-CN" sz="1600" b="0" i="1" u="none" strike="noStrike" kern="0" cap="none" spc="0" normalizeH="0" baseline="0" noProof="0" dirty="0">
                <a:ln>
                  <a:noFill/>
                </a:ln>
                <a:solidFill>
                  <a:srgbClr val="000000"/>
                </a:solidFill>
                <a:effectLst/>
                <a:uLnTx/>
                <a:uFillTx/>
                <a:latin typeface="Consolas" panose="020B0609020204030204" pitchFamily="49" charset="0"/>
                <a:ea typeface="微软雅黑" panose="020B0503020204020204" pitchFamily="34" charset="-122"/>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0" i="1" u="none" strike="noStrike" kern="0" cap="none" spc="0" normalizeH="0" baseline="0" noProof="0" dirty="0">
                <a:ln>
                  <a:noFill/>
                </a:ln>
                <a:solidFill>
                  <a:srgbClr val="000000"/>
                </a:solidFill>
                <a:effectLst/>
                <a:uLnTx/>
                <a:uFillTx/>
                <a:latin typeface="Consolas" panose="020B0609020204030204" pitchFamily="49" charset="0"/>
                <a:ea typeface="微软雅黑" panose="020B0503020204020204" pitchFamily="34" charset="-122"/>
              </a:rPr>
              <a:t>	</a:t>
            </a:r>
            <a:r>
              <a:rPr kumimoji="0" lang="en-US" altLang="zh-CN" sz="1600" b="0" i="1" u="none" strike="noStrike" kern="0" cap="none" spc="0" normalizeH="0" baseline="0" noProof="0" dirty="0" err="1">
                <a:ln>
                  <a:noFill/>
                </a:ln>
                <a:solidFill>
                  <a:srgbClr val="000000"/>
                </a:solidFill>
                <a:effectLst/>
                <a:uLnTx/>
                <a:uFillTx/>
                <a:latin typeface="Consolas" panose="020B0609020204030204" pitchFamily="49" charset="0"/>
                <a:ea typeface="微软雅黑" panose="020B0503020204020204" pitchFamily="34" charset="-122"/>
              </a:rPr>
              <a:t>slti</a:t>
            </a:r>
            <a:r>
              <a:rPr kumimoji="0" lang="en-US" altLang="zh-CN" sz="1600" b="0" i="1" u="none" strike="noStrike" kern="0" cap="none" spc="0" normalizeH="0" baseline="0" noProof="0" dirty="0">
                <a:ln>
                  <a:noFill/>
                </a:ln>
                <a:solidFill>
                  <a:srgbClr val="000000"/>
                </a:solidFill>
                <a:effectLst/>
                <a:uLnTx/>
                <a:uFillTx/>
                <a:latin typeface="Consolas" panose="020B0609020204030204" pitchFamily="49" charset="0"/>
                <a:ea typeface="微软雅黑" panose="020B0503020204020204" pitchFamily="34" charset="-122"/>
              </a:rPr>
              <a:t> 	$t0, $a0, 1</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0" i="1" u="none" strike="noStrike" kern="0" cap="none" spc="0" normalizeH="0" baseline="0" noProof="0" dirty="0">
                <a:ln>
                  <a:noFill/>
                </a:ln>
                <a:solidFill>
                  <a:srgbClr val="000000"/>
                </a:solidFill>
                <a:effectLst/>
                <a:uLnTx/>
                <a:uFillTx/>
                <a:latin typeface="Consolas" panose="020B0609020204030204" pitchFamily="49" charset="0"/>
                <a:ea typeface="微软雅黑" panose="020B0503020204020204" pitchFamily="34" charset="-122"/>
              </a:rPr>
              <a:t>	</a:t>
            </a:r>
            <a:r>
              <a:rPr kumimoji="0" lang="en-US" altLang="zh-CN" sz="1600" b="0" i="1" u="none" strike="noStrike" kern="0" cap="none" spc="0" normalizeH="0" baseline="0" noProof="0" dirty="0" err="1">
                <a:ln>
                  <a:noFill/>
                </a:ln>
                <a:solidFill>
                  <a:srgbClr val="000000"/>
                </a:solidFill>
                <a:effectLst/>
                <a:uLnTx/>
                <a:uFillTx/>
                <a:latin typeface="Consolas" panose="020B0609020204030204" pitchFamily="49" charset="0"/>
                <a:ea typeface="微软雅黑" panose="020B0503020204020204" pitchFamily="34" charset="-122"/>
              </a:rPr>
              <a:t>beq</a:t>
            </a:r>
            <a:r>
              <a:rPr kumimoji="0" lang="en-US" altLang="zh-CN" sz="1600" b="0" i="1" u="none" strike="noStrike" kern="0" cap="none" spc="0" normalizeH="0" baseline="0" noProof="0" dirty="0">
                <a:ln>
                  <a:noFill/>
                </a:ln>
                <a:solidFill>
                  <a:srgbClr val="000000"/>
                </a:solidFill>
                <a:effectLst/>
                <a:uLnTx/>
                <a:uFillTx/>
                <a:latin typeface="Consolas" panose="020B0609020204030204" pitchFamily="49" charset="0"/>
                <a:ea typeface="微软雅黑" panose="020B0503020204020204" pitchFamily="34" charset="-122"/>
              </a:rPr>
              <a:t>	$t0, $zero, L1</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0" i="1" u="none" strike="noStrike" kern="0" cap="none" spc="0" normalizeH="0" baseline="0" noProof="0" dirty="0">
                <a:ln>
                  <a:noFill/>
                </a:ln>
                <a:solidFill>
                  <a:srgbClr val="000000"/>
                </a:solidFill>
                <a:effectLst/>
                <a:uLnTx/>
                <a:uFillTx/>
                <a:latin typeface="Consolas" panose="020B0609020204030204" pitchFamily="49" charset="0"/>
                <a:ea typeface="微软雅黑" panose="020B0503020204020204" pitchFamily="34" charset="-122"/>
              </a:rPr>
              <a:t>	addi 	$v0, $zero, 1</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0" i="1" u="none" strike="noStrike" kern="0" cap="none" spc="0" normalizeH="0" baseline="0" noProof="0" dirty="0">
                <a:ln>
                  <a:noFill/>
                </a:ln>
                <a:solidFill>
                  <a:srgbClr val="000000"/>
                </a:solidFill>
                <a:effectLst/>
                <a:uLnTx/>
                <a:uFillTx/>
                <a:latin typeface="Consolas" panose="020B0609020204030204" pitchFamily="49" charset="0"/>
                <a:ea typeface="微软雅黑" panose="020B0503020204020204" pitchFamily="34" charset="-122"/>
              </a:rPr>
              <a:t>	addi 	$</a:t>
            </a:r>
            <a:r>
              <a:rPr kumimoji="0" lang="en-US" altLang="zh-CN" sz="1600" b="0" i="1" u="none" strike="noStrike" kern="0" cap="none" spc="0" normalizeH="0" baseline="0" noProof="0" dirty="0" err="1">
                <a:ln>
                  <a:noFill/>
                </a:ln>
                <a:solidFill>
                  <a:srgbClr val="000000"/>
                </a:solidFill>
                <a:effectLst/>
                <a:uLnTx/>
                <a:uFillTx/>
                <a:latin typeface="Consolas" panose="020B0609020204030204" pitchFamily="49" charset="0"/>
                <a:ea typeface="微软雅黑" panose="020B0503020204020204" pitchFamily="34" charset="-122"/>
              </a:rPr>
              <a:t>sp</a:t>
            </a:r>
            <a:r>
              <a:rPr kumimoji="0" lang="en-US" altLang="zh-CN" sz="1600" b="0" i="1" u="none" strike="noStrike" kern="0" cap="none" spc="0" normalizeH="0" baseline="0" noProof="0" dirty="0">
                <a:ln>
                  <a:noFill/>
                </a:ln>
                <a:solidFill>
                  <a:srgbClr val="000000"/>
                </a:solidFill>
                <a:effectLst/>
                <a:uLnTx/>
                <a:uFillTx/>
                <a:latin typeface="Consolas" panose="020B0609020204030204" pitchFamily="49" charset="0"/>
                <a:ea typeface="微软雅黑" panose="020B0503020204020204" pitchFamily="34" charset="-122"/>
              </a:rPr>
              <a:t>, $</a:t>
            </a:r>
            <a:r>
              <a:rPr kumimoji="0" lang="en-US" altLang="zh-CN" sz="1600" b="0" i="1" u="none" strike="noStrike" kern="0" cap="none" spc="0" normalizeH="0" baseline="0" noProof="0" dirty="0" err="1">
                <a:ln>
                  <a:noFill/>
                </a:ln>
                <a:solidFill>
                  <a:srgbClr val="000000"/>
                </a:solidFill>
                <a:effectLst/>
                <a:uLnTx/>
                <a:uFillTx/>
                <a:latin typeface="Consolas" panose="020B0609020204030204" pitchFamily="49" charset="0"/>
                <a:ea typeface="微软雅黑" panose="020B0503020204020204" pitchFamily="34" charset="-122"/>
              </a:rPr>
              <a:t>sp</a:t>
            </a:r>
            <a:r>
              <a:rPr kumimoji="0" lang="en-US" altLang="zh-CN" sz="1600" b="0" i="1" u="none" strike="noStrike" kern="0" cap="none" spc="0" normalizeH="0" baseline="0" noProof="0" dirty="0">
                <a:ln>
                  <a:noFill/>
                </a:ln>
                <a:solidFill>
                  <a:srgbClr val="000000"/>
                </a:solidFill>
                <a:effectLst/>
                <a:uLnTx/>
                <a:uFillTx/>
                <a:latin typeface="Consolas" panose="020B0609020204030204" pitchFamily="49" charset="0"/>
                <a:ea typeface="微软雅黑" panose="020B0503020204020204" pitchFamily="34" charset="-122"/>
              </a:rPr>
              <a:t>, 8</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0" i="1" u="none" strike="noStrike" kern="0" cap="none" spc="0" normalizeH="0" baseline="0" noProof="0" dirty="0">
                <a:ln>
                  <a:noFill/>
                </a:ln>
                <a:solidFill>
                  <a:srgbClr val="000000"/>
                </a:solidFill>
                <a:effectLst/>
                <a:uLnTx/>
                <a:uFillTx/>
                <a:latin typeface="Consolas" panose="020B0609020204030204" pitchFamily="49" charset="0"/>
                <a:ea typeface="微软雅黑" panose="020B0503020204020204" pitchFamily="34" charset="-122"/>
              </a:rPr>
              <a:t>	</a:t>
            </a:r>
            <a:r>
              <a:rPr kumimoji="0" lang="en-US" altLang="zh-CN" sz="1600" b="0" i="1" u="none" strike="noStrike" kern="0" cap="none" spc="0" normalizeH="0" baseline="0" noProof="0" dirty="0" err="1">
                <a:ln>
                  <a:noFill/>
                </a:ln>
                <a:solidFill>
                  <a:srgbClr val="000000"/>
                </a:solidFill>
                <a:effectLst/>
                <a:uLnTx/>
                <a:uFillTx/>
                <a:latin typeface="Consolas" panose="020B0609020204030204" pitchFamily="49" charset="0"/>
                <a:ea typeface="微软雅黑" panose="020B0503020204020204" pitchFamily="34" charset="-122"/>
              </a:rPr>
              <a:t>jr</a:t>
            </a:r>
            <a:r>
              <a:rPr kumimoji="0" lang="en-US" altLang="zh-CN" sz="1600" b="0" i="1" u="none" strike="noStrike" kern="0" cap="none" spc="0" normalizeH="0" baseline="0" noProof="0" dirty="0">
                <a:ln>
                  <a:noFill/>
                </a:ln>
                <a:solidFill>
                  <a:srgbClr val="000000"/>
                </a:solidFill>
                <a:effectLst/>
                <a:uLnTx/>
                <a:uFillTx/>
                <a:latin typeface="Consolas" panose="020B0609020204030204" pitchFamily="49" charset="0"/>
                <a:ea typeface="微软雅黑" panose="020B0503020204020204" pitchFamily="34" charset="-122"/>
              </a:rPr>
              <a:t> 	$</a:t>
            </a:r>
            <a:r>
              <a:rPr kumimoji="0" lang="en-US" altLang="zh-CN" sz="1600" b="0" i="1" u="none" strike="noStrike" kern="0" cap="none" spc="0" normalizeH="0" baseline="0" noProof="0" dirty="0" err="1">
                <a:ln>
                  <a:noFill/>
                </a:ln>
                <a:solidFill>
                  <a:srgbClr val="000000"/>
                </a:solidFill>
                <a:effectLst/>
                <a:uLnTx/>
                <a:uFillTx/>
                <a:latin typeface="Consolas" panose="020B0609020204030204" pitchFamily="49" charset="0"/>
                <a:ea typeface="微软雅黑" panose="020B0503020204020204" pitchFamily="34" charset="-122"/>
              </a:rPr>
              <a:t>ra</a:t>
            </a:r>
            <a:endParaRPr kumimoji="0" lang="en-US" altLang="zh-CN" sz="1600" b="0" i="1" u="none" strike="noStrike" kern="0" cap="none" spc="0" normalizeH="0" baseline="0" noProof="0" dirty="0">
              <a:ln>
                <a:noFill/>
              </a:ln>
              <a:solidFill>
                <a:srgbClr val="000000"/>
              </a:solidFill>
              <a:effectLst/>
              <a:uLnTx/>
              <a:uFillTx/>
              <a:latin typeface="Consolas" panose="020B0609020204030204" pitchFamily="49" charset="0"/>
              <a:ea typeface="微软雅黑" panose="020B0503020204020204" pitchFamily="34" charset="-122"/>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0" i="1" u="none" strike="noStrike" kern="0" cap="none" spc="0" normalizeH="0" baseline="0" noProof="0" dirty="0">
                <a:ln>
                  <a:noFill/>
                </a:ln>
                <a:solidFill>
                  <a:srgbClr val="000000"/>
                </a:solidFill>
                <a:effectLst/>
                <a:uLnTx/>
                <a:uFillTx/>
                <a:latin typeface="Consolas" panose="020B0609020204030204" pitchFamily="49" charset="0"/>
                <a:ea typeface="微软雅黑" panose="020B0503020204020204" pitchFamily="34" charset="-122"/>
              </a:rPr>
              <a:t>L1:</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0" i="1" u="none" strike="noStrike" kern="0" cap="none" spc="0" normalizeH="0" baseline="0" noProof="0" dirty="0">
                <a:ln>
                  <a:noFill/>
                </a:ln>
                <a:solidFill>
                  <a:srgbClr val="000000"/>
                </a:solidFill>
                <a:effectLst/>
                <a:uLnTx/>
                <a:uFillTx/>
                <a:latin typeface="Consolas" panose="020B0609020204030204" pitchFamily="49" charset="0"/>
                <a:ea typeface="微软雅黑" panose="020B0503020204020204" pitchFamily="34" charset="-122"/>
              </a:rPr>
              <a:t>	addi 	$a0, $a0, -1</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0" i="1" u="none" strike="noStrike" kern="0" cap="none" spc="0" normalizeH="0" baseline="0" noProof="0" dirty="0">
                <a:ln>
                  <a:noFill/>
                </a:ln>
                <a:solidFill>
                  <a:srgbClr val="000000"/>
                </a:solidFill>
                <a:effectLst/>
                <a:uLnTx/>
                <a:uFillTx/>
                <a:latin typeface="Consolas" panose="020B0609020204030204" pitchFamily="49" charset="0"/>
                <a:ea typeface="微软雅黑" panose="020B0503020204020204" pitchFamily="34" charset="-122"/>
              </a:rPr>
              <a:t>	</a:t>
            </a:r>
            <a:r>
              <a:rPr kumimoji="0" lang="en-US" altLang="zh-CN" sz="1600" b="0" i="1" u="none" strike="noStrike" kern="0" cap="none" spc="0" normalizeH="0" baseline="0" noProof="0" dirty="0" err="1">
                <a:ln>
                  <a:noFill/>
                </a:ln>
                <a:solidFill>
                  <a:srgbClr val="000000"/>
                </a:solidFill>
                <a:effectLst/>
                <a:uLnTx/>
                <a:uFillTx/>
                <a:latin typeface="Consolas" panose="020B0609020204030204" pitchFamily="49" charset="0"/>
                <a:ea typeface="微软雅黑" panose="020B0503020204020204" pitchFamily="34" charset="-122"/>
              </a:rPr>
              <a:t>jal</a:t>
            </a:r>
            <a:r>
              <a:rPr kumimoji="0" lang="en-US" altLang="zh-CN" sz="1600" b="0" i="1" u="none" strike="noStrike" kern="0" cap="none" spc="0" normalizeH="0" baseline="0" noProof="0" dirty="0">
                <a:ln>
                  <a:noFill/>
                </a:ln>
                <a:solidFill>
                  <a:srgbClr val="000000"/>
                </a:solidFill>
                <a:effectLst/>
                <a:uLnTx/>
                <a:uFillTx/>
                <a:latin typeface="Consolas" panose="020B0609020204030204" pitchFamily="49" charset="0"/>
                <a:ea typeface="微软雅黑" panose="020B0503020204020204" pitchFamily="34" charset="-122"/>
              </a:rPr>
              <a:t>	fact</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0" i="1" u="none" strike="noStrike" kern="0" cap="none" spc="0" normalizeH="0" baseline="0" noProof="0" dirty="0">
                <a:ln>
                  <a:noFill/>
                </a:ln>
                <a:solidFill>
                  <a:srgbClr val="000000"/>
                </a:solidFill>
                <a:effectLst/>
                <a:uLnTx/>
                <a:uFillTx/>
                <a:latin typeface="Consolas" panose="020B0609020204030204" pitchFamily="49" charset="0"/>
                <a:ea typeface="微软雅黑" panose="020B0503020204020204" pitchFamily="34" charset="-122"/>
              </a:rPr>
              <a:t>	lw 	$a0, 0($</a:t>
            </a:r>
            <a:r>
              <a:rPr kumimoji="0" lang="en-US" altLang="zh-CN" sz="1600" b="0" i="1" u="none" strike="noStrike" kern="0" cap="none" spc="0" normalizeH="0" baseline="0" noProof="0" dirty="0" err="1">
                <a:ln>
                  <a:noFill/>
                </a:ln>
                <a:solidFill>
                  <a:srgbClr val="000000"/>
                </a:solidFill>
                <a:effectLst/>
                <a:uLnTx/>
                <a:uFillTx/>
                <a:latin typeface="Consolas" panose="020B0609020204030204" pitchFamily="49" charset="0"/>
                <a:ea typeface="微软雅黑" panose="020B0503020204020204" pitchFamily="34" charset="-122"/>
              </a:rPr>
              <a:t>sp</a:t>
            </a:r>
            <a:r>
              <a:rPr kumimoji="0" lang="en-US" altLang="zh-CN" sz="1600" b="0" i="1" u="none" strike="noStrike" kern="0" cap="none" spc="0" normalizeH="0" baseline="0" noProof="0" dirty="0">
                <a:ln>
                  <a:noFill/>
                </a:ln>
                <a:solidFill>
                  <a:srgbClr val="000000"/>
                </a:solidFill>
                <a:effectLst/>
                <a:uLnTx/>
                <a:uFillTx/>
                <a:latin typeface="Consolas" panose="020B0609020204030204" pitchFamily="49" charset="0"/>
                <a:ea typeface="微软雅黑" panose="020B0503020204020204" pitchFamily="34" charset="-122"/>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0" i="1" u="none" strike="noStrike" kern="0" cap="none" spc="0" normalizeH="0" baseline="0" noProof="0" dirty="0">
                <a:ln>
                  <a:noFill/>
                </a:ln>
                <a:solidFill>
                  <a:srgbClr val="000000"/>
                </a:solidFill>
                <a:effectLst/>
                <a:uLnTx/>
                <a:uFillTx/>
                <a:latin typeface="Consolas" panose="020B0609020204030204" pitchFamily="49" charset="0"/>
                <a:ea typeface="微软雅黑" panose="020B0503020204020204" pitchFamily="34" charset="-122"/>
              </a:rPr>
              <a:t>	lw	$</a:t>
            </a:r>
            <a:r>
              <a:rPr kumimoji="0" lang="en-US" altLang="zh-CN" sz="1600" b="0" i="1" u="none" strike="noStrike" kern="0" cap="none" spc="0" normalizeH="0" baseline="0" noProof="0" dirty="0" err="1">
                <a:ln>
                  <a:noFill/>
                </a:ln>
                <a:solidFill>
                  <a:srgbClr val="000000"/>
                </a:solidFill>
                <a:effectLst/>
                <a:uLnTx/>
                <a:uFillTx/>
                <a:latin typeface="Consolas" panose="020B0609020204030204" pitchFamily="49" charset="0"/>
                <a:ea typeface="微软雅黑" panose="020B0503020204020204" pitchFamily="34" charset="-122"/>
              </a:rPr>
              <a:t>ra</a:t>
            </a:r>
            <a:r>
              <a:rPr kumimoji="0" lang="en-US" altLang="zh-CN" sz="1600" b="0" i="1" u="none" strike="noStrike" kern="0" cap="none" spc="0" normalizeH="0" baseline="0" noProof="0" dirty="0">
                <a:ln>
                  <a:noFill/>
                </a:ln>
                <a:solidFill>
                  <a:srgbClr val="000000"/>
                </a:solidFill>
                <a:effectLst/>
                <a:uLnTx/>
                <a:uFillTx/>
                <a:latin typeface="Consolas" panose="020B0609020204030204" pitchFamily="49" charset="0"/>
                <a:ea typeface="微软雅黑" panose="020B0503020204020204" pitchFamily="34" charset="-122"/>
              </a:rPr>
              <a:t>, 4($</a:t>
            </a:r>
            <a:r>
              <a:rPr kumimoji="0" lang="en-US" altLang="zh-CN" sz="1600" b="0" i="1" u="none" strike="noStrike" kern="0" cap="none" spc="0" normalizeH="0" baseline="0" noProof="0" dirty="0" err="1">
                <a:ln>
                  <a:noFill/>
                </a:ln>
                <a:solidFill>
                  <a:srgbClr val="000000"/>
                </a:solidFill>
                <a:effectLst/>
                <a:uLnTx/>
                <a:uFillTx/>
                <a:latin typeface="Consolas" panose="020B0609020204030204" pitchFamily="49" charset="0"/>
                <a:ea typeface="微软雅黑" panose="020B0503020204020204" pitchFamily="34" charset="-122"/>
              </a:rPr>
              <a:t>sp</a:t>
            </a:r>
            <a:r>
              <a:rPr kumimoji="0" lang="en-US" altLang="zh-CN" sz="1600" b="0" i="1" u="none" strike="noStrike" kern="0" cap="none" spc="0" normalizeH="0" baseline="0" noProof="0" dirty="0">
                <a:ln>
                  <a:noFill/>
                </a:ln>
                <a:solidFill>
                  <a:srgbClr val="000000"/>
                </a:solidFill>
                <a:effectLst/>
                <a:uLnTx/>
                <a:uFillTx/>
                <a:latin typeface="Consolas" panose="020B0609020204030204" pitchFamily="49" charset="0"/>
                <a:ea typeface="微软雅黑" panose="020B0503020204020204" pitchFamily="34" charset="-122"/>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0" i="1" u="none" strike="noStrike" kern="0" cap="none" spc="0" normalizeH="0" baseline="0" noProof="0" dirty="0">
                <a:ln>
                  <a:noFill/>
                </a:ln>
                <a:solidFill>
                  <a:srgbClr val="000000"/>
                </a:solidFill>
                <a:effectLst/>
                <a:uLnTx/>
                <a:uFillTx/>
                <a:latin typeface="Consolas" panose="020B0609020204030204" pitchFamily="49" charset="0"/>
                <a:ea typeface="微软雅黑" panose="020B0503020204020204" pitchFamily="34" charset="-122"/>
              </a:rPr>
              <a:t>	addi 	$</a:t>
            </a:r>
            <a:r>
              <a:rPr kumimoji="0" lang="en-US" altLang="zh-CN" sz="1600" b="0" i="1" u="none" strike="noStrike" kern="0" cap="none" spc="0" normalizeH="0" baseline="0" noProof="0" dirty="0" err="1">
                <a:ln>
                  <a:noFill/>
                </a:ln>
                <a:solidFill>
                  <a:srgbClr val="000000"/>
                </a:solidFill>
                <a:effectLst/>
                <a:uLnTx/>
                <a:uFillTx/>
                <a:latin typeface="Consolas" panose="020B0609020204030204" pitchFamily="49" charset="0"/>
                <a:ea typeface="微软雅黑" panose="020B0503020204020204" pitchFamily="34" charset="-122"/>
              </a:rPr>
              <a:t>sp</a:t>
            </a:r>
            <a:r>
              <a:rPr kumimoji="0" lang="en-US" altLang="zh-CN" sz="1600" b="0" i="1" u="none" strike="noStrike" kern="0" cap="none" spc="0" normalizeH="0" baseline="0" noProof="0" dirty="0">
                <a:ln>
                  <a:noFill/>
                </a:ln>
                <a:solidFill>
                  <a:srgbClr val="000000"/>
                </a:solidFill>
                <a:effectLst/>
                <a:uLnTx/>
                <a:uFillTx/>
                <a:latin typeface="Consolas" panose="020B0609020204030204" pitchFamily="49" charset="0"/>
                <a:ea typeface="微软雅黑" panose="020B0503020204020204" pitchFamily="34" charset="-122"/>
              </a:rPr>
              <a:t>, $</a:t>
            </a:r>
            <a:r>
              <a:rPr kumimoji="0" lang="en-US" altLang="zh-CN" sz="1600" b="0" i="1" u="none" strike="noStrike" kern="0" cap="none" spc="0" normalizeH="0" baseline="0" noProof="0" dirty="0" err="1">
                <a:ln>
                  <a:noFill/>
                </a:ln>
                <a:solidFill>
                  <a:srgbClr val="000000"/>
                </a:solidFill>
                <a:effectLst/>
                <a:uLnTx/>
                <a:uFillTx/>
                <a:latin typeface="Consolas" panose="020B0609020204030204" pitchFamily="49" charset="0"/>
                <a:ea typeface="微软雅黑" panose="020B0503020204020204" pitchFamily="34" charset="-122"/>
              </a:rPr>
              <a:t>sp</a:t>
            </a:r>
            <a:r>
              <a:rPr kumimoji="0" lang="en-US" altLang="zh-CN" sz="1600" b="0" i="1" u="none" strike="noStrike" kern="0" cap="none" spc="0" normalizeH="0" baseline="0" noProof="0" dirty="0">
                <a:ln>
                  <a:noFill/>
                </a:ln>
                <a:solidFill>
                  <a:srgbClr val="000000"/>
                </a:solidFill>
                <a:effectLst/>
                <a:uLnTx/>
                <a:uFillTx/>
                <a:latin typeface="Consolas" panose="020B0609020204030204" pitchFamily="49" charset="0"/>
                <a:ea typeface="微软雅黑" panose="020B0503020204020204" pitchFamily="34" charset="-122"/>
              </a:rPr>
              <a:t>, 8</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0" i="1" u="none" strike="noStrike" kern="0" cap="none" spc="0" normalizeH="0" baseline="0" noProof="0" dirty="0">
                <a:ln>
                  <a:noFill/>
                </a:ln>
                <a:solidFill>
                  <a:srgbClr val="000000"/>
                </a:solidFill>
                <a:effectLst/>
                <a:uLnTx/>
                <a:uFillTx/>
                <a:latin typeface="Consolas" panose="020B0609020204030204" pitchFamily="49" charset="0"/>
                <a:ea typeface="微软雅黑" panose="020B0503020204020204" pitchFamily="34" charset="-122"/>
              </a:rPr>
              <a:t>	</a:t>
            </a:r>
            <a:r>
              <a:rPr kumimoji="0" lang="en-US" altLang="zh-CN" sz="1600" b="0" i="1" u="none" strike="noStrike" kern="0" cap="none" spc="0" normalizeH="0" baseline="0" noProof="0" dirty="0" err="1">
                <a:ln>
                  <a:noFill/>
                </a:ln>
                <a:solidFill>
                  <a:srgbClr val="000000"/>
                </a:solidFill>
                <a:effectLst/>
                <a:uLnTx/>
                <a:uFillTx/>
                <a:latin typeface="Consolas" panose="020B0609020204030204" pitchFamily="49" charset="0"/>
                <a:ea typeface="微软雅黑" panose="020B0503020204020204" pitchFamily="34" charset="-122"/>
              </a:rPr>
              <a:t>mul</a:t>
            </a:r>
            <a:r>
              <a:rPr kumimoji="0" lang="en-US" altLang="zh-CN" sz="1600" b="0" i="1" u="none" strike="noStrike" kern="0" cap="none" spc="0" normalizeH="0" baseline="0" noProof="0" dirty="0">
                <a:ln>
                  <a:noFill/>
                </a:ln>
                <a:solidFill>
                  <a:srgbClr val="000000"/>
                </a:solidFill>
                <a:effectLst/>
                <a:uLnTx/>
                <a:uFillTx/>
                <a:latin typeface="Consolas" panose="020B0609020204030204" pitchFamily="49" charset="0"/>
                <a:ea typeface="微软雅黑" panose="020B0503020204020204" pitchFamily="34" charset="-122"/>
              </a:rPr>
              <a:t> 	$v0, $a0, $v0</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0" i="1" u="none" strike="noStrike" kern="0" cap="none" spc="0" normalizeH="0" baseline="0" noProof="0" dirty="0">
                <a:ln>
                  <a:noFill/>
                </a:ln>
                <a:solidFill>
                  <a:srgbClr val="000000"/>
                </a:solidFill>
                <a:effectLst/>
                <a:uLnTx/>
                <a:uFillTx/>
                <a:latin typeface="Consolas" panose="020B0609020204030204" pitchFamily="49" charset="0"/>
                <a:ea typeface="微软雅黑" panose="020B0503020204020204" pitchFamily="34" charset="-122"/>
              </a:rPr>
              <a:t>	</a:t>
            </a:r>
            <a:r>
              <a:rPr kumimoji="0" lang="en-US" altLang="zh-CN" sz="1600" b="0" i="1" u="none" strike="noStrike" kern="0" cap="none" spc="0" normalizeH="0" baseline="0" noProof="0" dirty="0" err="1">
                <a:ln>
                  <a:noFill/>
                </a:ln>
                <a:solidFill>
                  <a:srgbClr val="000000"/>
                </a:solidFill>
                <a:effectLst/>
                <a:uLnTx/>
                <a:uFillTx/>
                <a:latin typeface="Consolas" panose="020B0609020204030204" pitchFamily="49" charset="0"/>
                <a:ea typeface="微软雅黑" panose="020B0503020204020204" pitchFamily="34" charset="-122"/>
              </a:rPr>
              <a:t>jr</a:t>
            </a:r>
            <a:r>
              <a:rPr kumimoji="0" lang="en-US" altLang="zh-CN" sz="1600" b="0" i="1" u="none" strike="noStrike" kern="0" cap="none" spc="0" normalizeH="0" baseline="0" noProof="0" dirty="0">
                <a:ln>
                  <a:noFill/>
                </a:ln>
                <a:solidFill>
                  <a:srgbClr val="000000"/>
                </a:solidFill>
                <a:effectLst/>
                <a:uLnTx/>
                <a:uFillTx/>
                <a:latin typeface="Consolas" panose="020B0609020204030204" pitchFamily="49" charset="0"/>
                <a:ea typeface="微软雅黑" panose="020B0503020204020204" pitchFamily="34" charset="-122"/>
              </a:rPr>
              <a:t> 	$</a:t>
            </a:r>
            <a:r>
              <a:rPr kumimoji="0" lang="en-US" altLang="zh-CN" sz="1600" b="0" i="1" u="none" strike="noStrike" kern="0" cap="none" spc="0" normalizeH="0" baseline="0" noProof="0" dirty="0" err="1">
                <a:ln>
                  <a:noFill/>
                </a:ln>
                <a:solidFill>
                  <a:srgbClr val="000000"/>
                </a:solidFill>
                <a:effectLst/>
                <a:uLnTx/>
                <a:uFillTx/>
                <a:latin typeface="Consolas" panose="020B0609020204030204" pitchFamily="49" charset="0"/>
                <a:ea typeface="微软雅黑" panose="020B0503020204020204" pitchFamily="34" charset="-122"/>
              </a:rPr>
              <a:t>ra</a:t>
            </a:r>
            <a:r>
              <a:rPr kumimoji="0" lang="en-US" altLang="zh-CN" sz="1600" b="0" i="1" u="none" strike="noStrike" kern="0" cap="none" spc="0" normalizeH="0" baseline="0" noProof="0" dirty="0">
                <a:ln>
                  <a:noFill/>
                </a:ln>
                <a:solidFill>
                  <a:srgbClr val="000000"/>
                </a:solidFill>
                <a:effectLst/>
                <a:uLnTx/>
                <a:uFillTx/>
                <a:latin typeface="Consolas" panose="020B0609020204030204" pitchFamily="49" charset="0"/>
                <a:ea typeface="微软雅黑" panose="020B0503020204020204" pitchFamily="34" charset="-122"/>
              </a:rPr>
              <a:t> 	</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zh-CN" sz="1600" b="0" i="1" u="none" strike="noStrike" kern="0" cap="none" spc="0" normalizeH="0" baseline="0" noProof="0" dirty="0">
              <a:ln>
                <a:noFill/>
              </a:ln>
              <a:solidFill>
                <a:srgbClr val="000000"/>
              </a:solidFill>
              <a:effectLst/>
              <a:uLnTx/>
              <a:uFillTx/>
              <a:latin typeface="Consolas" panose="020B0609020204030204" pitchFamily="49" charset="0"/>
              <a:ea typeface="微软雅黑" panose="020B0503020204020204" pitchFamily="34" charset="-122"/>
            </a:endParaRPr>
          </a:p>
        </p:txBody>
      </p:sp>
      <p:sp>
        <p:nvSpPr>
          <p:cNvPr id="27" name="矩形 1">
            <a:extLst>
              <a:ext uri="{FF2B5EF4-FFF2-40B4-BE49-F238E27FC236}">
                <a16:creationId xmlns:a16="http://schemas.microsoft.com/office/drawing/2014/main" id="{F828E933-5DE3-CEA4-5FF7-F5C97265F998}"/>
              </a:ext>
            </a:extLst>
          </p:cNvPr>
          <p:cNvSpPr>
            <a:spLocks noChangeArrowheads="1"/>
          </p:cNvSpPr>
          <p:nvPr/>
        </p:nvSpPr>
        <p:spPr bwMode="auto">
          <a:xfrm>
            <a:off x="4495323" y="1253787"/>
            <a:ext cx="4648677" cy="14773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a:buClr>
                <a:srgbClr val="CC0000"/>
              </a:buClr>
            </a:pPr>
            <a:r>
              <a:rPr lang="en-US" altLang="zh-CN" i="1" dirty="0">
                <a:solidFill>
                  <a:srgbClr val="000000"/>
                </a:solidFill>
                <a:latin typeface="Consolas" panose="020B0609020204030204" pitchFamily="49" charset="0"/>
                <a:ea typeface="微软雅黑" panose="020B0503020204020204" pitchFamily="34" charset="-122"/>
              </a:rPr>
              <a:t>int fact(int n)</a:t>
            </a:r>
          </a:p>
          <a:p>
            <a:pPr>
              <a:buClr>
                <a:srgbClr val="CC0000"/>
              </a:buClr>
            </a:pPr>
            <a:r>
              <a:rPr lang="en-US" altLang="zh-CN" i="1" dirty="0">
                <a:solidFill>
                  <a:srgbClr val="000000"/>
                </a:solidFill>
                <a:latin typeface="Consolas" panose="020B0609020204030204" pitchFamily="49" charset="0"/>
                <a:ea typeface="微软雅黑" panose="020B0503020204020204" pitchFamily="34" charset="-122"/>
              </a:rPr>
              <a:t>{</a:t>
            </a:r>
          </a:p>
          <a:p>
            <a:pPr>
              <a:buClr>
                <a:srgbClr val="CC0000"/>
              </a:buClr>
            </a:pPr>
            <a:r>
              <a:rPr lang="en-US" altLang="zh-CN" i="1" dirty="0">
                <a:solidFill>
                  <a:srgbClr val="000000"/>
                </a:solidFill>
                <a:latin typeface="Consolas" panose="020B0609020204030204" pitchFamily="49" charset="0"/>
                <a:ea typeface="微软雅黑" panose="020B0503020204020204" pitchFamily="34" charset="-122"/>
              </a:rPr>
              <a:t>      if (n &lt; 1)  return 1;</a:t>
            </a:r>
          </a:p>
          <a:p>
            <a:pPr>
              <a:buClr>
                <a:srgbClr val="CC0000"/>
              </a:buClr>
            </a:pPr>
            <a:r>
              <a:rPr lang="en-US" altLang="zh-CN" i="1" dirty="0">
                <a:solidFill>
                  <a:srgbClr val="000000"/>
                </a:solidFill>
                <a:latin typeface="Consolas" panose="020B0609020204030204" pitchFamily="49" charset="0"/>
                <a:ea typeface="微软雅黑" panose="020B0503020204020204" pitchFamily="34" charset="-122"/>
              </a:rPr>
              <a:t>      else return (n * fact(n-1));</a:t>
            </a:r>
          </a:p>
          <a:p>
            <a:pPr>
              <a:buClr>
                <a:srgbClr val="CC0000"/>
              </a:buClr>
            </a:pPr>
            <a:r>
              <a:rPr lang="en-US" altLang="zh-CN" i="1" dirty="0">
                <a:solidFill>
                  <a:srgbClr val="000000"/>
                </a:solidFill>
                <a:latin typeface="Consolas" panose="020B0609020204030204" pitchFamily="49" charset="0"/>
                <a:ea typeface="微软雅黑" panose="020B0503020204020204" pitchFamily="34" charset="-122"/>
              </a:rPr>
              <a:t>}</a:t>
            </a:r>
          </a:p>
        </p:txBody>
      </p:sp>
      <p:sp>
        <p:nvSpPr>
          <p:cNvPr id="28" name="文本框 27">
            <a:extLst>
              <a:ext uri="{FF2B5EF4-FFF2-40B4-BE49-F238E27FC236}">
                <a16:creationId xmlns:a16="http://schemas.microsoft.com/office/drawing/2014/main" id="{34C001FF-008F-8022-C82A-1D100F876A6E}"/>
              </a:ext>
            </a:extLst>
          </p:cNvPr>
          <p:cNvSpPr txBox="1"/>
          <p:nvPr/>
        </p:nvSpPr>
        <p:spPr>
          <a:xfrm>
            <a:off x="5941214" y="2593704"/>
            <a:ext cx="3116509" cy="707886"/>
          </a:xfrm>
          <a:prstGeom prst="rect">
            <a:avLst/>
          </a:prstGeom>
          <a:solidFill>
            <a:srgbClr val="9BBB59">
              <a:lumMod val="20000"/>
              <a:lumOff val="80000"/>
            </a:srgbClr>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dirty="0">
                <a:ln>
                  <a:noFill/>
                </a:ln>
                <a:solidFill>
                  <a:srgbClr val="0432FF"/>
                </a:solidFill>
                <a:effectLst/>
                <a:uLnTx/>
                <a:uFillTx/>
                <a:latin typeface="+mn-ea"/>
                <a:ea typeface="+mn-ea"/>
              </a:rPr>
              <a:t>思考：左边的汇编代码与例程如何对应的？</a:t>
            </a:r>
          </a:p>
        </p:txBody>
      </p:sp>
      <p:sp>
        <p:nvSpPr>
          <p:cNvPr id="29" name="箭头: 上下 2">
            <a:extLst>
              <a:ext uri="{FF2B5EF4-FFF2-40B4-BE49-F238E27FC236}">
                <a16:creationId xmlns:a16="http://schemas.microsoft.com/office/drawing/2014/main" id="{2AAE8B81-BA7A-8308-2A03-10F1E360EFE5}"/>
              </a:ext>
            </a:extLst>
          </p:cNvPr>
          <p:cNvSpPr/>
          <p:nvPr/>
        </p:nvSpPr>
        <p:spPr>
          <a:xfrm rot="2948399">
            <a:off x="4133236" y="1601984"/>
            <a:ext cx="501228" cy="1795914"/>
          </a:xfrm>
          <a:prstGeom prst="upDownArrow">
            <a:avLst/>
          </a:prstGeom>
          <a:solidFill>
            <a:srgbClr val="9BBB59">
              <a:lumMod val="20000"/>
              <a:lumOff val="80000"/>
              <a:alpha val="70000"/>
            </a:srgbClr>
          </a:solidFill>
          <a:ln w="25400" cap="flat" cmpd="sng" algn="ctr">
            <a:noFill/>
            <a:prstDash val="solid"/>
          </a:ln>
          <a:effectLst/>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dirty="0">
              <a:ln>
                <a:noFill/>
              </a:ln>
              <a:solidFill>
                <a:srgbClr val="000000"/>
              </a:solidFill>
              <a:effectLst/>
              <a:uLnTx/>
              <a:uFillTx/>
              <a:latin typeface="Arial" panose="020B0604020202020204"/>
              <a:ea typeface="黑体" panose="02010609060101010101" pitchFamily="49" charset="-122"/>
              <a:cs typeface="Arial" panose="020B0604020202020204" pitchFamily="34" charset="0"/>
            </a:endParaRPr>
          </a:p>
        </p:txBody>
      </p:sp>
      <p:cxnSp>
        <p:nvCxnSpPr>
          <p:cNvPr id="34" name="直接箭头连接符 33">
            <a:extLst>
              <a:ext uri="{FF2B5EF4-FFF2-40B4-BE49-F238E27FC236}">
                <a16:creationId xmlns:a16="http://schemas.microsoft.com/office/drawing/2014/main" id="{6C8F0573-E96A-35B7-528F-4196B5BD7AA2}"/>
              </a:ext>
            </a:extLst>
          </p:cNvPr>
          <p:cNvCxnSpPr/>
          <p:nvPr/>
        </p:nvCxnSpPr>
        <p:spPr>
          <a:xfrm>
            <a:off x="7167913" y="4927941"/>
            <a:ext cx="0" cy="1635948"/>
          </a:xfrm>
          <a:prstGeom prst="straightConnector1">
            <a:avLst/>
          </a:prstGeom>
          <a:noFill/>
          <a:ln w="57150" cap="flat" cmpd="sng" algn="ctr">
            <a:solidFill>
              <a:srgbClr val="000000"/>
            </a:solidFill>
            <a:prstDash val="solid"/>
            <a:tailEnd type="triangle"/>
          </a:ln>
          <a:effectLst/>
        </p:spPr>
      </p:cxnSp>
      <p:sp>
        <p:nvSpPr>
          <p:cNvPr id="35" name="文本框 34">
            <a:extLst>
              <a:ext uri="{FF2B5EF4-FFF2-40B4-BE49-F238E27FC236}">
                <a16:creationId xmlns:a16="http://schemas.microsoft.com/office/drawing/2014/main" id="{EA8E6FC6-703B-76F6-234E-26AADD6A3C36}"/>
              </a:ext>
            </a:extLst>
          </p:cNvPr>
          <p:cNvSpPr txBox="1"/>
          <p:nvPr/>
        </p:nvSpPr>
        <p:spPr>
          <a:xfrm>
            <a:off x="7233345" y="5807580"/>
            <a:ext cx="1362874" cy="369332"/>
          </a:xfrm>
          <a:prstGeom prst="rect">
            <a:avLst/>
          </a:prstGeom>
          <a:noFill/>
        </p:spPr>
        <p:txBody>
          <a:bodyPr wrap="none" rtlCol="0">
            <a:spAutoFit/>
          </a:bodyPr>
          <a:lstStyle/>
          <a:p>
            <a:pPr algn="ctr"/>
            <a:r>
              <a:rPr lang="zh-CN" altLang="en-US" b="1" dirty="0">
                <a:solidFill>
                  <a:srgbClr val="000000"/>
                </a:solidFill>
                <a:latin typeface="+mn-ea"/>
                <a:ea typeface="+mn-ea"/>
              </a:rPr>
              <a:t>栈生长方向</a:t>
            </a:r>
          </a:p>
        </p:txBody>
      </p:sp>
      <p:sp>
        <p:nvSpPr>
          <p:cNvPr id="36" name="Title 4">
            <a:extLst>
              <a:ext uri="{FF2B5EF4-FFF2-40B4-BE49-F238E27FC236}">
                <a16:creationId xmlns:a16="http://schemas.microsoft.com/office/drawing/2014/main" id="{09DD5683-EF2A-F135-48A9-90100FF3F051}"/>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sz="4000" dirty="0">
                <a:latin typeface="+mj-ea"/>
                <a:ea typeface="+mj-ea"/>
              </a:rPr>
              <a:t>嵌套过程调用（课后）</a:t>
            </a:r>
            <a:endParaRPr lang="en-CN" kern="0" dirty="0"/>
          </a:p>
        </p:txBody>
      </p:sp>
    </p:spTree>
    <p:extLst>
      <p:ext uri="{BB962C8B-B14F-4D97-AF65-F5344CB8AC3E}">
        <p14:creationId xmlns:p14="http://schemas.microsoft.com/office/powerpoint/2010/main" val="47512526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5E3845A9-7E82-4657-B497-16CB36280F3B}"/>
              </a:ext>
            </a:extLst>
          </p:cNvPr>
          <p:cNvSpPr>
            <a:spLocks noGrp="1"/>
          </p:cNvSpPr>
          <p:nvPr>
            <p:ph type="sldNum" sz="quarter" idx="12"/>
          </p:nvPr>
        </p:nvSpPr>
        <p:spPr/>
        <p:txBody>
          <a:bodyPr/>
          <a:lstStyle/>
          <a:p>
            <a:fld id="{176ACFD1-D213-4B9C-817B-45486DBF105A}" type="slidenum">
              <a:rPr lang="en-US" smtClean="0">
                <a:solidFill>
                  <a:prstClr val="black"/>
                </a:solidFill>
                <a:latin typeface="+mj-ea"/>
                <a:ea typeface="+mj-ea"/>
              </a:rPr>
              <a:pPr/>
              <a:t>93</a:t>
            </a:fld>
            <a:endParaRPr lang="en-US">
              <a:solidFill>
                <a:prstClr val="black"/>
              </a:solidFill>
              <a:latin typeface="+mj-ea"/>
              <a:ea typeface="+mj-ea"/>
            </a:endParaRPr>
          </a:p>
        </p:txBody>
      </p:sp>
      <p:sp>
        <p:nvSpPr>
          <p:cNvPr id="13" name="Content Placeholder 2">
            <a:extLst>
              <a:ext uri="{FF2B5EF4-FFF2-40B4-BE49-F238E27FC236}">
                <a16:creationId xmlns:a16="http://schemas.microsoft.com/office/drawing/2014/main" id="{03BDA437-0958-4393-B2F3-B41F337F661A}"/>
              </a:ext>
            </a:extLst>
          </p:cNvPr>
          <p:cNvSpPr>
            <a:spLocks noGrp="1"/>
          </p:cNvSpPr>
          <p:nvPr>
            <p:ph idx="4294967295"/>
          </p:nvPr>
        </p:nvSpPr>
        <p:spPr>
          <a:xfrm>
            <a:off x="457200" y="1288779"/>
            <a:ext cx="7886700" cy="4351338"/>
          </a:xfrm>
        </p:spPr>
        <p:txBody>
          <a:bodyPr/>
          <a:lstStyle/>
          <a:p>
            <a:pPr fontAlgn="auto">
              <a:spcAft>
                <a:spcPts val="0"/>
              </a:spcAft>
            </a:pPr>
            <a:r>
              <a:rPr lang="zh-CN" altLang="en-US" dirty="0">
                <a:ea typeface="+mj-ea"/>
              </a:rPr>
              <a:t>计算</a:t>
            </a:r>
            <a:r>
              <a:rPr lang="en-US" altLang="zh-CN" dirty="0">
                <a:ea typeface="+mj-ea"/>
              </a:rPr>
              <a:t>n!</a:t>
            </a:r>
          </a:p>
        </p:txBody>
      </p:sp>
      <p:sp>
        <p:nvSpPr>
          <p:cNvPr id="30" name="Rectangle 5">
            <a:extLst>
              <a:ext uri="{FF2B5EF4-FFF2-40B4-BE49-F238E27FC236}">
                <a16:creationId xmlns:a16="http://schemas.microsoft.com/office/drawing/2014/main" id="{86CEA603-EAD1-437B-8117-A5EB84477109}"/>
              </a:ext>
            </a:extLst>
          </p:cNvPr>
          <p:cNvSpPr>
            <a:spLocks noChangeArrowheads="1"/>
          </p:cNvSpPr>
          <p:nvPr/>
        </p:nvSpPr>
        <p:spPr bwMode="auto">
          <a:xfrm>
            <a:off x="457200" y="2470733"/>
            <a:ext cx="7762779" cy="4278736"/>
          </a:xfrm>
          <a:prstGeom prst="rect">
            <a:avLst/>
          </a:prstGeom>
          <a:noFill/>
          <a:ln w="9525" algn="ctr">
            <a:solidFill>
              <a:srgbClr val="0432FF"/>
            </a:solidFill>
            <a:miter lim="800000"/>
            <a:headEnd type="none" w="sm" len="sm"/>
            <a:tailEnd type="none" w="sm" len="sm"/>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square" lIns="92075" tIns="46038" rIns="92075" bIns="46038">
            <a:spAutoFit/>
          </a:bodyPr>
          <a:lstStyle/>
          <a:p>
            <a:pPr algn="l"/>
            <a:r>
              <a:rPr lang="en-US" altLang="zh-CN" sz="1600" b="0" i="1" dirty="0">
                <a:solidFill>
                  <a:schemeClr val="tx1"/>
                </a:solidFill>
                <a:latin typeface="Consolas" panose="020B0609020204030204" pitchFamily="49" charset="0"/>
                <a:ea typeface="+mj-ea"/>
              </a:rPr>
              <a:t>fact:</a:t>
            </a:r>
          </a:p>
          <a:p>
            <a:pPr algn="l"/>
            <a:r>
              <a:rPr lang="en-US" altLang="zh-CN" sz="1600" b="0" i="1" dirty="0">
                <a:solidFill>
                  <a:schemeClr val="tx1"/>
                </a:solidFill>
                <a:latin typeface="Consolas" panose="020B0609020204030204" pitchFamily="49" charset="0"/>
                <a:ea typeface="+mj-ea"/>
              </a:rPr>
              <a:t>	addi 	$</a:t>
            </a:r>
            <a:r>
              <a:rPr lang="en-US" altLang="zh-CN" sz="1600" b="0" i="1" dirty="0" err="1">
                <a:solidFill>
                  <a:schemeClr val="tx1"/>
                </a:solidFill>
                <a:latin typeface="Consolas" panose="020B0609020204030204" pitchFamily="49" charset="0"/>
                <a:ea typeface="+mj-ea"/>
              </a:rPr>
              <a:t>sp</a:t>
            </a:r>
            <a:r>
              <a:rPr lang="en-US" altLang="zh-CN" sz="1600" b="0" i="1" dirty="0">
                <a:solidFill>
                  <a:schemeClr val="tx1"/>
                </a:solidFill>
                <a:latin typeface="Consolas" panose="020B0609020204030204" pitchFamily="49" charset="0"/>
                <a:ea typeface="+mj-ea"/>
              </a:rPr>
              <a:t>, $</a:t>
            </a:r>
            <a:r>
              <a:rPr lang="en-US" altLang="zh-CN" sz="1600" b="0" i="1" dirty="0" err="1">
                <a:solidFill>
                  <a:schemeClr val="tx1"/>
                </a:solidFill>
                <a:latin typeface="Consolas" panose="020B0609020204030204" pitchFamily="49" charset="0"/>
                <a:ea typeface="+mj-ea"/>
              </a:rPr>
              <a:t>sp</a:t>
            </a:r>
            <a:r>
              <a:rPr lang="en-US" altLang="zh-CN" sz="1600" b="0" i="1" dirty="0">
                <a:solidFill>
                  <a:schemeClr val="tx1"/>
                </a:solidFill>
                <a:latin typeface="Consolas" panose="020B0609020204030204" pitchFamily="49" charset="0"/>
                <a:ea typeface="+mj-ea"/>
              </a:rPr>
              <a:t>, -8      </a:t>
            </a:r>
            <a:r>
              <a:rPr lang="en-US" altLang="zh-CN" sz="1600" b="0" dirty="0">
                <a:solidFill>
                  <a:schemeClr val="tx1"/>
                </a:solidFill>
                <a:latin typeface="Consolas" panose="020B0609020204030204" pitchFamily="49" charset="0"/>
                <a:ea typeface="+mj-ea"/>
              </a:rPr>
              <a:t># </a:t>
            </a:r>
            <a:r>
              <a:rPr lang="zh-CN" altLang="en-US" sz="1600" b="0" dirty="0">
                <a:solidFill>
                  <a:schemeClr val="tx1"/>
                </a:solidFill>
                <a:latin typeface="+mj-ea"/>
                <a:ea typeface="+mj-ea"/>
              </a:rPr>
              <a:t>移动栈指针</a:t>
            </a:r>
            <a:endParaRPr lang="en-US" altLang="zh-CN" sz="1600" b="0" dirty="0">
              <a:solidFill>
                <a:schemeClr val="tx1"/>
              </a:solidFill>
              <a:latin typeface="+mj-ea"/>
              <a:ea typeface="+mj-ea"/>
            </a:endParaRPr>
          </a:p>
          <a:p>
            <a:pPr algn="l"/>
            <a:r>
              <a:rPr lang="en-US" altLang="zh-CN" sz="1600" b="0" i="1" dirty="0">
                <a:solidFill>
                  <a:schemeClr val="tx1"/>
                </a:solidFill>
                <a:latin typeface="Consolas" panose="020B0609020204030204" pitchFamily="49" charset="0"/>
                <a:ea typeface="+mj-ea"/>
              </a:rPr>
              <a:t>	</a:t>
            </a:r>
            <a:r>
              <a:rPr lang="en-US" altLang="zh-CN" sz="1600" b="0" i="1" dirty="0" err="1">
                <a:solidFill>
                  <a:schemeClr val="tx1"/>
                </a:solidFill>
                <a:latin typeface="Consolas" panose="020B0609020204030204" pitchFamily="49" charset="0"/>
                <a:ea typeface="+mj-ea"/>
              </a:rPr>
              <a:t>sw</a:t>
            </a:r>
            <a:r>
              <a:rPr lang="en-US" altLang="zh-CN" sz="1600" b="0" i="1" dirty="0">
                <a:solidFill>
                  <a:schemeClr val="tx1"/>
                </a:solidFill>
                <a:latin typeface="Consolas" panose="020B0609020204030204" pitchFamily="49" charset="0"/>
                <a:ea typeface="+mj-ea"/>
              </a:rPr>
              <a:t> 	$</a:t>
            </a:r>
            <a:r>
              <a:rPr lang="en-US" altLang="zh-CN" sz="1600" b="0" i="1" dirty="0" err="1">
                <a:solidFill>
                  <a:schemeClr val="tx1"/>
                </a:solidFill>
                <a:latin typeface="Consolas" panose="020B0609020204030204" pitchFamily="49" charset="0"/>
                <a:ea typeface="+mj-ea"/>
              </a:rPr>
              <a:t>ra</a:t>
            </a:r>
            <a:r>
              <a:rPr lang="en-US" altLang="zh-CN" sz="1600" b="0" i="1" dirty="0">
                <a:solidFill>
                  <a:schemeClr val="tx1"/>
                </a:solidFill>
                <a:latin typeface="Consolas" panose="020B0609020204030204" pitchFamily="49" charset="0"/>
                <a:ea typeface="+mj-ea"/>
              </a:rPr>
              <a:t>, 4($</a:t>
            </a:r>
            <a:r>
              <a:rPr lang="en-US" altLang="zh-CN" sz="1600" b="0" i="1" dirty="0" err="1">
                <a:solidFill>
                  <a:schemeClr val="tx1"/>
                </a:solidFill>
                <a:latin typeface="Consolas" panose="020B0609020204030204" pitchFamily="49" charset="0"/>
                <a:ea typeface="+mj-ea"/>
              </a:rPr>
              <a:t>sp</a:t>
            </a:r>
            <a:r>
              <a:rPr lang="en-US" altLang="zh-CN" sz="1600" b="0" i="1" dirty="0">
                <a:solidFill>
                  <a:schemeClr val="tx1"/>
                </a:solidFill>
                <a:latin typeface="Consolas" panose="020B0609020204030204" pitchFamily="49" charset="0"/>
                <a:ea typeface="+mj-ea"/>
              </a:rPr>
              <a:t>)</a:t>
            </a:r>
          </a:p>
          <a:p>
            <a:pPr algn="l"/>
            <a:r>
              <a:rPr lang="en-US" altLang="zh-CN" sz="1600" b="0" i="1" dirty="0">
                <a:solidFill>
                  <a:schemeClr val="tx1"/>
                </a:solidFill>
                <a:latin typeface="Consolas" panose="020B0609020204030204" pitchFamily="49" charset="0"/>
                <a:ea typeface="+mj-ea"/>
              </a:rPr>
              <a:t>	</a:t>
            </a:r>
            <a:r>
              <a:rPr lang="en-US" altLang="zh-CN" sz="1600" b="0" i="1" dirty="0" err="1">
                <a:solidFill>
                  <a:schemeClr val="tx1"/>
                </a:solidFill>
                <a:latin typeface="Consolas" panose="020B0609020204030204" pitchFamily="49" charset="0"/>
                <a:ea typeface="+mj-ea"/>
              </a:rPr>
              <a:t>sw</a:t>
            </a:r>
            <a:r>
              <a:rPr lang="en-US" altLang="zh-CN" sz="1600" b="0" i="1" dirty="0">
                <a:solidFill>
                  <a:schemeClr val="tx1"/>
                </a:solidFill>
                <a:latin typeface="Consolas" panose="020B0609020204030204" pitchFamily="49" charset="0"/>
                <a:ea typeface="+mj-ea"/>
              </a:rPr>
              <a:t>	$a0, 0($</a:t>
            </a:r>
            <a:r>
              <a:rPr lang="en-US" altLang="zh-CN" sz="1600" b="0" i="1" dirty="0" err="1">
                <a:solidFill>
                  <a:schemeClr val="tx1"/>
                </a:solidFill>
                <a:latin typeface="Consolas" panose="020B0609020204030204" pitchFamily="49" charset="0"/>
                <a:ea typeface="+mj-ea"/>
              </a:rPr>
              <a:t>sp</a:t>
            </a:r>
            <a:r>
              <a:rPr lang="en-US" altLang="zh-CN" sz="1600" b="0" i="1" dirty="0">
                <a:solidFill>
                  <a:schemeClr val="tx1"/>
                </a:solidFill>
                <a:latin typeface="Consolas" panose="020B0609020204030204" pitchFamily="49" charset="0"/>
                <a:ea typeface="+mj-ea"/>
              </a:rPr>
              <a:t>)       </a:t>
            </a:r>
            <a:r>
              <a:rPr lang="en-US" altLang="zh-CN" sz="1600" b="0" dirty="0">
                <a:solidFill>
                  <a:schemeClr val="tx1"/>
                </a:solidFill>
                <a:latin typeface="Consolas" panose="020B0609020204030204" pitchFamily="49" charset="0"/>
                <a:ea typeface="+mj-ea"/>
              </a:rPr>
              <a:t># </a:t>
            </a:r>
            <a:r>
              <a:rPr lang="en-US" altLang="zh-CN" sz="1600" b="0" dirty="0" err="1">
                <a:solidFill>
                  <a:schemeClr val="tx1"/>
                </a:solidFill>
                <a:latin typeface="Consolas" panose="020B0609020204030204" pitchFamily="49" charset="0"/>
                <a:ea typeface="+mj-ea"/>
              </a:rPr>
              <a:t>ra</a:t>
            </a:r>
            <a:r>
              <a:rPr lang="zh-CN" altLang="en-US" sz="1600" b="0" dirty="0">
                <a:solidFill>
                  <a:schemeClr val="tx1"/>
                </a:solidFill>
                <a:latin typeface="+mj-ea"/>
                <a:ea typeface="+mj-ea"/>
              </a:rPr>
              <a:t>和</a:t>
            </a:r>
            <a:r>
              <a:rPr lang="en-US" altLang="zh-CN" sz="1600" b="0" dirty="0">
                <a:solidFill>
                  <a:schemeClr val="tx1"/>
                </a:solidFill>
                <a:latin typeface="Consolas" panose="020B0609020204030204" pitchFamily="49" charset="0"/>
                <a:ea typeface="+mj-ea"/>
              </a:rPr>
              <a:t>n</a:t>
            </a:r>
            <a:r>
              <a:rPr lang="zh-CN" altLang="en-US" sz="1600" b="0" dirty="0">
                <a:solidFill>
                  <a:schemeClr val="tx1"/>
                </a:solidFill>
                <a:latin typeface="+mj-ea"/>
                <a:ea typeface="+mj-ea"/>
              </a:rPr>
              <a:t>入栈</a:t>
            </a:r>
            <a:endParaRPr lang="en-US" altLang="zh-CN" sz="1600" b="0" dirty="0">
              <a:solidFill>
                <a:schemeClr val="tx1"/>
              </a:solidFill>
              <a:latin typeface="+mj-ea"/>
              <a:ea typeface="+mj-ea"/>
            </a:endParaRPr>
          </a:p>
          <a:p>
            <a:pPr algn="l"/>
            <a:r>
              <a:rPr lang="en-US" altLang="zh-CN" sz="1600" b="0" i="1" dirty="0">
                <a:solidFill>
                  <a:schemeClr val="tx1"/>
                </a:solidFill>
                <a:latin typeface="Consolas" panose="020B0609020204030204" pitchFamily="49" charset="0"/>
                <a:ea typeface="+mj-ea"/>
              </a:rPr>
              <a:t>	</a:t>
            </a:r>
            <a:r>
              <a:rPr lang="en-US" altLang="zh-CN" sz="1600" b="0" i="1" dirty="0" err="1">
                <a:solidFill>
                  <a:schemeClr val="tx1"/>
                </a:solidFill>
                <a:latin typeface="Consolas" panose="020B0609020204030204" pitchFamily="49" charset="0"/>
                <a:ea typeface="+mj-ea"/>
              </a:rPr>
              <a:t>slti</a:t>
            </a:r>
            <a:r>
              <a:rPr lang="en-US" altLang="zh-CN" sz="1600" b="0" i="1" dirty="0">
                <a:solidFill>
                  <a:schemeClr val="tx1"/>
                </a:solidFill>
                <a:latin typeface="Consolas" panose="020B0609020204030204" pitchFamily="49" charset="0"/>
                <a:ea typeface="+mj-ea"/>
              </a:rPr>
              <a:t> 	$t0, $a0, 1       </a:t>
            </a:r>
            <a:r>
              <a:rPr lang="en-US" altLang="zh-CN" sz="1600" b="0" dirty="0">
                <a:solidFill>
                  <a:schemeClr val="tx1"/>
                </a:solidFill>
                <a:latin typeface="Consolas" panose="020B0609020204030204" pitchFamily="49" charset="0"/>
                <a:ea typeface="+mj-ea"/>
              </a:rPr>
              <a:t># n</a:t>
            </a:r>
            <a:r>
              <a:rPr lang="zh-CN" altLang="en-US" sz="1600" b="0" dirty="0">
                <a:solidFill>
                  <a:schemeClr val="tx1"/>
                </a:solidFill>
                <a:latin typeface="+mj-ea"/>
                <a:ea typeface="+mj-ea"/>
              </a:rPr>
              <a:t>和</a:t>
            </a:r>
            <a:r>
              <a:rPr lang="en-US" altLang="zh-CN" sz="1600" b="0" dirty="0">
                <a:solidFill>
                  <a:schemeClr val="tx1"/>
                </a:solidFill>
                <a:latin typeface="Consolas" panose="020B0609020204030204" pitchFamily="49" charset="0"/>
                <a:ea typeface="+mj-ea"/>
              </a:rPr>
              <a:t>1</a:t>
            </a:r>
            <a:r>
              <a:rPr lang="zh-CN" altLang="en-US" sz="1600" b="0" dirty="0">
                <a:solidFill>
                  <a:schemeClr val="tx1"/>
                </a:solidFill>
                <a:latin typeface="+mj-ea"/>
                <a:ea typeface="+mj-ea"/>
              </a:rPr>
              <a:t>比较</a:t>
            </a:r>
            <a:endParaRPr lang="en-US" altLang="zh-CN" sz="1600" b="0" dirty="0">
              <a:solidFill>
                <a:schemeClr val="tx1"/>
              </a:solidFill>
              <a:latin typeface="+mj-ea"/>
              <a:ea typeface="+mj-ea"/>
            </a:endParaRPr>
          </a:p>
          <a:p>
            <a:pPr algn="l"/>
            <a:r>
              <a:rPr lang="en-US" altLang="zh-CN" sz="1600" b="0" i="1" dirty="0">
                <a:solidFill>
                  <a:schemeClr val="tx1"/>
                </a:solidFill>
                <a:latin typeface="Consolas" panose="020B0609020204030204" pitchFamily="49" charset="0"/>
                <a:ea typeface="+mj-ea"/>
              </a:rPr>
              <a:t>	</a:t>
            </a:r>
            <a:r>
              <a:rPr lang="en-US" altLang="zh-CN" sz="1600" b="0" i="1" dirty="0" err="1">
                <a:solidFill>
                  <a:schemeClr val="tx1"/>
                </a:solidFill>
                <a:latin typeface="Consolas" panose="020B0609020204030204" pitchFamily="49" charset="0"/>
                <a:ea typeface="+mj-ea"/>
              </a:rPr>
              <a:t>beq</a:t>
            </a:r>
            <a:r>
              <a:rPr lang="en-US" altLang="zh-CN" sz="1600" b="0" i="1" dirty="0">
                <a:solidFill>
                  <a:schemeClr val="tx1"/>
                </a:solidFill>
                <a:latin typeface="Consolas" panose="020B0609020204030204" pitchFamily="49" charset="0"/>
                <a:ea typeface="+mj-ea"/>
              </a:rPr>
              <a:t>	$t0, $zero, L1    </a:t>
            </a:r>
            <a:r>
              <a:rPr lang="en-US" altLang="zh-CN" sz="1600" b="0" dirty="0">
                <a:solidFill>
                  <a:schemeClr val="tx1"/>
                </a:solidFill>
                <a:latin typeface="Consolas" panose="020B0609020204030204" pitchFamily="49" charset="0"/>
                <a:ea typeface="+mj-ea"/>
              </a:rPr>
              <a:t># </a:t>
            </a:r>
            <a:r>
              <a:rPr lang="zh-CN" altLang="en-US" sz="1600" b="0" dirty="0">
                <a:solidFill>
                  <a:schemeClr val="tx1"/>
                </a:solidFill>
                <a:latin typeface="Consolas" panose="020B0609020204030204" pitchFamily="49" charset="0"/>
                <a:ea typeface="+mj-ea"/>
              </a:rPr>
              <a:t>如果</a:t>
            </a:r>
            <a:r>
              <a:rPr lang="en-US" altLang="zh-CN" sz="1600" b="0" dirty="0">
                <a:solidFill>
                  <a:schemeClr val="tx1"/>
                </a:solidFill>
                <a:latin typeface="Consolas" panose="020B0609020204030204" pitchFamily="49" charset="0"/>
                <a:ea typeface="+mj-ea"/>
              </a:rPr>
              <a:t>a0&gt;=1</a:t>
            </a:r>
            <a:r>
              <a:rPr lang="zh-CN" altLang="en-US" sz="1600" b="0" dirty="0">
                <a:solidFill>
                  <a:schemeClr val="tx1"/>
                </a:solidFill>
                <a:latin typeface="Consolas" panose="020B0609020204030204" pitchFamily="49" charset="0"/>
                <a:ea typeface="+mj-ea"/>
              </a:rPr>
              <a:t>，跳转到</a:t>
            </a:r>
            <a:r>
              <a:rPr lang="en-US" altLang="zh-CN" sz="1600" b="0" dirty="0">
                <a:solidFill>
                  <a:schemeClr val="tx1"/>
                </a:solidFill>
                <a:latin typeface="Consolas" panose="020B0609020204030204" pitchFamily="49" charset="0"/>
                <a:ea typeface="+mj-ea"/>
              </a:rPr>
              <a:t>L1</a:t>
            </a:r>
          </a:p>
          <a:p>
            <a:pPr algn="l"/>
            <a:r>
              <a:rPr lang="en-US" altLang="zh-CN" sz="1600" b="0" i="1" dirty="0">
                <a:solidFill>
                  <a:schemeClr val="tx1"/>
                </a:solidFill>
                <a:latin typeface="Consolas" panose="020B0609020204030204" pitchFamily="49" charset="0"/>
                <a:ea typeface="+mj-ea"/>
              </a:rPr>
              <a:t>	addi 	$v0, $zero, 1     </a:t>
            </a:r>
            <a:r>
              <a:rPr lang="en-US" altLang="zh-CN" sz="1600" b="0" dirty="0">
                <a:solidFill>
                  <a:schemeClr val="tx1"/>
                </a:solidFill>
                <a:latin typeface="Consolas" panose="020B0609020204030204" pitchFamily="49" charset="0"/>
                <a:ea typeface="+mj-ea"/>
              </a:rPr>
              <a:t># </a:t>
            </a:r>
            <a:r>
              <a:rPr lang="zh-CN" altLang="en-US" sz="1600" b="0" dirty="0">
                <a:solidFill>
                  <a:schemeClr val="tx1"/>
                </a:solidFill>
                <a:latin typeface="Consolas" panose="020B0609020204030204" pitchFamily="49" charset="0"/>
                <a:ea typeface="+mj-ea"/>
              </a:rPr>
              <a:t>如果</a:t>
            </a:r>
            <a:r>
              <a:rPr lang="en-US" altLang="zh-CN" sz="1600" b="0" dirty="0">
                <a:solidFill>
                  <a:schemeClr val="tx1"/>
                </a:solidFill>
                <a:latin typeface="Consolas" panose="020B0609020204030204" pitchFamily="49" charset="0"/>
                <a:ea typeface="+mj-ea"/>
              </a:rPr>
              <a:t>a0&lt;1</a:t>
            </a:r>
            <a:r>
              <a:rPr lang="zh-CN" altLang="en-US" sz="1600" b="0" dirty="0">
                <a:solidFill>
                  <a:schemeClr val="tx1"/>
                </a:solidFill>
                <a:latin typeface="Consolas" panose="020B0609020204030204" pitchFamily="49" charset="0"/>
                <a:ea typeface="+mj-ea"/>
              </a:rPr>
              <a:t>，</a:t>
            </a:r>
            <a:r>
              <a:rPr lang="en-US" altLang="zh-CN" sz="1600" b="0" dirty="0">
                <a:solidFill>
                  <a:schemeClr val="tx1"/>
                </a:solidFill>
                <a:latin typeface="Consolas" panose="020B0609020204030204" pitchFamily="49" charset="0"/>
                <a:ea typeface="+mj-ea"/>
              </a:rPr>
              <a:t>return 1</a:t>
            </a:r>
            <a:endParaRPr lang="en-US" altLang="zh-CN" sz="1600" b="0" i="1" dirty="0">
              <a:solidFill>
                <a:schemeClr val="tx1"/>
              </a:solidFill>
              <a:latin typeface="Consolas" panose="020B0609020204030204" pitchFamily="49" charset="0"/>
              <a:ea typeface="+mj-ea"/>
            </a:endParaRPr>
          </a:p>
          <a:p>
            <a:pPr algn="l"/>
            <a:r>
              <a:rPr lang="en-US" altLang="zh-CN" sz="1600" b="0" i="1" dirty="0">
                <a:solidFill>
                  <a:schemeClr val="tx1"/>
                </a:solidFill>
                <a:latin typeface="Consolas" panose="020B0609020204030204" pitchFamily="49" charset="0"/>
                <a:ea typeface="+mj-ea"/>
              </a:rPr>
              <a:t>	addi 	$</a:t>
            </a:r>
            <a:r>
              <a:rPr lang="en-US" altLang="zh-CN" sz="1600" b="0" i="1" dirty="0" err="1">
                <a:solidFill>
                  <a:schemeClr val="tx1"/>
                </a:solidFill>
                <a:latin typeface="Consolas" panose="020B0609020204030204" pitchFamily="49" charset="0"/>
                <a:ea typeface="+mj-ea"/>
              </a:rPr>
              <a:t>sp</a:t>
            </a:r>
            <a:r>
              <a:rPr lang="en-US" altLang="zh-CN" sz="1600" b="0" i="1" dirty="0">
                <a:solidFill>
                  <a:schemeClr val="tx1"/>
                </a:solidFill>
                <a:latin typeface="Consolas" panose="020B0609020204030204" pitchFamily="49" charset="0"/>
                <a:ea typeface="+mj-ea"/>
              </a:rPr>
              <a:t>, $</a:t>
            </a:r>
            <a:r>
              <a:rPr lang="en-US" altLang="zh-CN" sz="1600" b="0" i="1" dirty="0" err="1">
                <a:solidFill>
                  <a:schemeClr val="tx1"/>
                </a:solidFill>
                <a:latin typeface="Consolas" panose="020B0609020204030204" pitchFamily="49" charset="0"/>
                <a:ea typeface="+mj-ea"/>
              </a:rPr>
              <a:t>sp</a:t>
            </a:r>
            <a:r>
              <a:rPr lang="en-US" altLang="zh-CN" sz="1600" b="0" i="1" dirty="0">
                <a:solidFill>
                  <a:schemeClr val="tx1"/>
                </a:solidFill>
                <a:latin typeface="Consolas" panose="020B0609020204030204" pitchFamily="49" charset="0"/>
                <a:ea typeface="+mj-ea"/>
              </a:rPr>
              <a:t>, 8       </a:t>
            </a:r>
            <a:r>
              <a:rPr lang="en-US" altLang="zh-CN" sz="1600" b="0" dirty="0">
                <a:solidFill>
                  <a:schemeClr val="tx1"/>
                </a:solidFill>
                <a:latin typeface="Consolas" panose="020B0609020204030204" pitchFamily="49" charset="0"/>
                <a:ea typeface="+mj-ea"/>
              </a:rPr>
              <a:t># </a:t>
            </a:r>
            <a:r>
              <a:rPr lang="zh-CN" altLang="en-US" sz="1600" b="0" dirty="0">
                <a:solidFill>
                  <a:schemeClr val="tx1"/>
                </a:solidFill>
                <a:latin typeface="Consolas" panose="020B0609020204030204" pitchFamily="49" charset="0"/>
                <a:ea typeface="+mj-ea"/>
              </a:rPr>
              <a:t>恢复栈指针位置</a:t>
            </a:r>
            <a:endParaRPr lang="en-US" altLang="zh-CN" sz="1600" b="0" i="1" dirty="0">
              <a:solidFill>
                <a:schemeClr val="tx1"/>
              </a:solidFill>
              <a:latin typeface="Consolas" panose="020B0609020204030204" pitchFamily="49" charset="0"/>
              <a:ea typeface="+mj-ea"/>
            </a:endParaRPr>
          </a:p>
          <a:p>
            <a:pPr algn="l"/>
            <a:r>
              <a:rPr lang="en-US" altLang="zh-CN" sz="1600" b="0" i="1" dirty="0">
                <a:solidFill>
                  <a:schemeClr val="tx1"/>
                </a:solidFill>
                <a:latin typeface="Consolas" panose="020B0609020204030204" pitchFamily="49" charset="0"/>
                <a:ea typeface="+mj-ea"/>
              </a:rPr>
              <a:t>	</a:t>
            </a:r>
            <a:r>
              <a:rPr lang="en-US" altLang="zh-CN" sz="1600" b="0" i="1" dirty="0" err="1">
                <a:solidFill>
                  <a:schemeClr val="tx1"/>
                </a:solidFill>
                <a:latin typeface="Consolas" panose="020B0609020204030204" pitchFamily="49" charset="0"/>
                <a:ea typeface="+mj-ea"/>
              </a:rPr>
              <a:t>jr</a:t>
            </a:r>
            <a:r>
              <a:rPr lang="en-US" altLang="zh-CN" sz="1600" b="0" i="1" dirty="0">
                <a:solidFill>
                  <a:schemeClr val="tx1"/>
                </a:solidFill>
                <a:latin typeface="Consolas" panose="020B0609020204030204" pitchFamily="49" charset="0"/>
                <a:ea typeface="+mj-ea"/>
              </a:rPr>
              <a:t> 	$</a:t>
            </a:r>
            <a:r>
              <a:rPr lang="en-US" altLang="zh-CN" sz="1600" b="0" i="1" dirty="0" err="1">
                <a:solidFill>
                  <a:schemeClr val="tx1"/>
                </a:solidFill>
                <a:latin typeface="Consolas" panose="020B0609020204030204" pitchFamily="49" charset="0"/>
                <a:ea typeface="+mj-ea"/>
              </a:rPr>
              <a:t>ra</a:t>
            </a:r>
            <a:r>
              <a:rPr lang="en-US" altLang="zh-CN" sz="1600" b="0" i="1" dirty="0">
                <a:solidFill>
                  <a:schemeClr val="tx1"/>
                </a:solidFill>
                <a:latin typeface="Consolas" panose="020B0609020204030204" pitchFamily="49" charset="0"/>
                <a:ea typeface="+mj-ea"/>
              </a:rPr>
              <a:t>               </a:t>
            </a:r>
            <a:r>
              <a:rPr lang="en-US" altLang="zh-CN" sz="1600" b="0" dirty="0">
                <a:solidFill>
                  <a:schemeClr val="tx1"/>
                </a:solidFill>
                <a:latin typeface="Consolas" panose="020B0609020204030204" pitchFamily="49" charset="0"/>
                <a:ea typeface="+mj-ea"/>
              </a:rPr>
              <a:t># </a:t>
            </a:r>
            <a:r>
              <a:rPr lang="zh-CN" altLang="en-US" sz="1600" b="0" dirty="0">
                <a:solidFill>
                  <a:schemeClr val="tx1"/>
                </a:solidFill>
                <a:latin typeface="Consolas" panose="020B0609020204030204" pitchFamily="49" charset="0"/>
                <a:ea typeface="+mj-ea"/>
              </a:rPr>
              <a:t>跳转回上一层函数</a:t>
            </a:r>
            <a:endParaRPr lang="en-US" altLang="zh-CN" sz="1600" b="0" i="1" dirty="0">
              <a:solidFill>
                <a:schemeClr val="tx1"/>
              </a:solidFill>
              <a:latin typeface="Consolas" panose="020B0609020204030204" pitchFamily="49" charset="0"/>
              <a:ea typeface="+mj-ea"/>
            </a:endParaRPr>
          </a:p>
          <a:p>
            <a:pPr algn="l"/>
            <a:r>
              <a:rPr lang="en-US" altLang="zh-CN" sz="1600" b="0" i="1" dirty="0">
                <a:solidFill>
                  <a:schemeClr val="tx1"/>
                </a:solidFill>
                <a:latin typeface="Consolas" panose="020B0609020204030204" pitchFamily="49" charset="0"/>
                <a:ea typeface="+mj-ea"/>
              </a:rPr>
              <a:t>L1:                                </a:t>
            </a:r>
            <a:r>
              <a:rPr lang="en-US" altLang="zh-CN" sz="1600" b="0" dirty="0">
                <a:solidFill>
                  <a:schemeClr val="tx1"/>
                </a:solidFill>
                <a:latin typeface="Consolas" panose="020B0609020204030204" pitchFamily="49" charset="0"/>
                <a:ea typeface="+mj-ea"/>
              </a:rPr>
              <a:t># </a:t>
            </a:r>
            <a:r>
              <a:rPr lang="zh-CN" altLang="en-US" sz="1600" b="0" dirty="0">
                <a:solidFill>
                  <a:schemeClr val="tx1"/>
                </a:solidFill>
                <a:latin typeface="Consolas" panose="020B0609020204030204" pitchFamily="49" charset="0"/>
                <a:ea typeface="+mj-ea"/>
              </a:rPr>
              <a:t>对应</a:t>
            </a:r>
            <a:r>
              <a:rPr lang="en-US" altLang="zh-CN" sz="1600" b="0" dirty="0">
                <a:solidFill>
                  <a:schemeClr val="tx1"/>
                </a:solidFill>
                <a:latin typeface="Consolas" panose="020B0609020204030204" pitchFamily="49" charset="0"/>
                <a:ea typeface="+mj-ea"/>
              </a:rPr>
              <a:t>else</a:t>
            </a:r>
          </a:p>
          <a:p>
            <a:pPr algn="l"/>
            <a:r>
              <a:rPr lang="en-US" altLang="zh-CN" sz="1600" b="0" i="1" dirty="0">
                <a:solidFill>
                  <a:schemeClr val="tx1"/>
                </a:solidFill>
                <a:latin typeface="Consolas" panose="020B0609020204030204" pitchFamily="49" charset="0"/>
                <a:ea typeface="+mj-ea"/>
              </a:rPr>
              <a:t>	addi 	$a0, $a0, -1      </a:t>
            </a:r>
            <a:r>
              <a:rPr lang="en-US" altLang="zh-CN" sz="1600" b="0" dirty="0">
                <a:solidFill>
                  <a:schemeClr val="tx1"/>
                </a:solidFill>
                <a:latin typeface="Consolas" panose="020B0609020204030204" pitchFamily="49" charset="0"/>
                <a:ea typeface="+mj-ea"/>
              </a:rPr>
              <a:t># </a:t>
            </a:r>
            <a:r>
              <a:rPr lang="zh-CN" altLang="en-US" sz="1600" b="0" dirty="0">
                <a:solidFill>
                  <a:schemeClr val="tx1"/>
                </a:solidFill>
                <a:latin typeface="Consolas" panose="020B0609020204030204" pitchFamily="49" charset="0"/>
                <a:ea typeface="+mj-ea"/>
              </a:rPr>
              <a:t>计算本层函数的</a:t>
            </a:r>
            <a:r>
              <a:rPr lang="en-US" altLang="zh-CN" sz="1600" b="0" dirty="0">
                <a:solidFill>
                  <a:schemeClr val="tx1"/>
                </a:solidFill>
                <a:latin typeface="Consolas" panose="020B0609020204030204" pitchFamily="49" charset="0"/>
                <a:ea typeface="+mj-ea"/>
              </a:rPr>
              <a:t>n=n-1</a:t>
            </a:r>
          </a:p>
          <a:p>
            <a:pPr algn="l"/>
            <a:r>
              <a:rPr lang="en-US" altLang="zh-CN" sz="1600" b="0" i="1" dirty="0">
                <a:solidFill>
                  <a:schemeClr val="tx1"/>
                </a:solidFill>
                <a:latin typeface="Consolas" panose="020B0609020204030204" pitchFamily="49" charset="0"/>
                <a:ea typeface="+mj-ea"/>
              </a:rPr>
              <a:t>	</a:t>
            </a:r>
            <a:r>
              <a:rPr lang="en-US" altLang="zh-CN" sz="1600" b="0" i="1" dirty="0" err="1">
                <a:solidFill>
                  <a:schemeClr val="tx1"/>
                </a:solidFill>
                <a:latin typeface="Consolas" panose="020B0609020204030204" pitchFamily="49" charset="0"/>
                <a:ea typeface="+mj-ea"/>
              </a:rPr>
              <a:t>jal</a:t>
            </a:r>
            <a:r>
              <a:rPr lang="en-US" altLang="zh-CN" sz="1600" b="0" i="1" dirty="0">
                <a:solidFill>
                  <a:schemeClr val="tx1"/>
                </a:solidFill>
                <a:latin typeface="Consolas" panose="020B0609020204030204" pitchFamily="49" charset="0"/>
                <a:ea typeface="+mj-ea"/>
              </a:rPr>
              <a:t>	fact              </a:t>
            </a:r>
            <a:r>
              <a:rPr lang="en-US" altLang="zh-CN" sz="1600" b="0" dirty="0">
                <a:solidFill>
                  <a:schemeClr val="tx1"/>
                </a:solidFill>
                <a:latin typeface="Consolas" panose="020B0609020204030204" pitchFamily="49" charset="0"/>
                <a:ea typeface="+mj-ea"/>
              </a:rPr>
              <a:t>#</a:t>
            </a:r>
            <a:r>
              <a:rPr lang="zh-CN" altLang="en-US" sz="1600" b="0" dirty="0">
                <a:solidFill>
                  <a:schemeClr val="tx1"/>
                </a:solidFill>
                <a:latin typeface="Consolas" panose="020B0609020204030204" pitchFamily="49" charset="0"/>
                <a:ea typeface="+mj-ea"/>
              </a:rPr>
              <a:t> 进入</a:t>
            </a:r>
            <a:r>
              <a:rPr lang="en-US" altLang="zh-CN" sz="1600" b="0" dirty="0">
                <a:solidFill>
                  <a:schemeClr val="tx1"/>
                </a:solidFill>
                <a:latin typeface="Consolas" panose="020B0609020204030204" pitchFamily="49" charset="0"/>
                <a:ea typeface="+mj-ea"/>
              </a:rPr>
              <a:t>fact(n-1)</a:t>
            </a:r>
          </a:p>
          <a:p>
            <a:pPr algn="l"/>
            <a:r>
              <a:rPr lang="en-US" altLang="zh-CN" sz="1600" b="0" i="1" dirty="0">
                <a:solidFill>
                  <a:schemeClr val="tx1"/>
                </a:solidFill>
                <a:latin typeface="Consolas" panose="020B0609020204030204" pitchFamily="49" charset="0"/>
                <a:ea typeface="+mj-ea"/>
              </a:rPr>
              <a:t>	lw 	$a0, 0($</a:t>
            </a:r>
            <a:r>
              <a:rPr lang="en-US" altLang="zh-CN" sz="1600" b="0" i="1" dirty="0" err="1">
                <a:solidFill>
                  <a:schemeClr val="tx1"/>
                </a:solidFill>
                <a:latin typeface="Consolas" panose="020B0609020204030204" pitchFamily="49" charset="0"/>
                <a:ea typeface="+mj-ea"/>
              </a:rPr>
              <a:t>sp</a:t>
            </a:r>
            <a:r>
              <a:rPr lang="en-US" altLang="zh-CN" sz="1600" b="0" i="1" dirty="0">
                <a:solidFill>
                  <a:schemeClr val="tx1"/>
                </a:solidFill>
                <a:latin typeface="Consolas" panose="020B0609020204030204" pitchFamily="49" charset="0"/>
                <a:ea typeface="+mj-ea"/>
              </a:rPr>
              <a:t>)</a:t>
            </a:r>
          </a:p>
          <a:p>
            <a:pPr algn="l"/>
            <a:r>
              <a:rPr lang="en-US" altLang="zh-CN" sz="1600" b="0" i="1" dirty="0">
                <a:solidFill>
                  <a:schemeClr val="tx1"/>
                </a:solidFill>
                <a:latin typeface="Consolas" panose="020B0609020204030204" pitchFamily="49" charset="0"/>
                <a:ea typeface="+mj-ea"/>
              </a:rPr>
              <a:t>	lw	$</a:t>
            </a:r>
            <a:r>
              <a:rPr lang="en-US" altLang="zh-CN" sz="1600" b="0" i="1" dirty="0" err="1">
                <a:solidFill>
                  <a:schemeClr val="tx1"/>
                </a:solidFill>
                <a:latin typeface="Consolas" panose="020B0609020204030204" pitchFamily="49" charset="0"/>
                <a:ea typeface="+mj-ea"/>
              </a:rPr>
              <a:t>ra</a:t>
            </a:r>
            <a:r>
              <a:rPr lang="en-US" altLang="zh-CN" sz="1600" b="0" i="1" dirty="0">
                <a:solidFill>
                  <a:schemeClr val="tx1"/>
                </a:solidFill>
                <a:latin typeface="Consolas" panose="020B0609020204030204" pitchFamily="49" charset="0"/>
                <a:ea typeface="+mj-ea"/>
              </a:rPr>
              <a:t>, 4($</a:t>
            </a:r>
            <a:r>
              <a:rPr lang="en-US" altLang="zh-CN" sz="1600" b="0" i="1" dirty="0" err="1">
                <a:solidFill>
                  <a:schemeClr val="tx1"/>
                </a:solidFill>
                <a:latin typeface="Consolas" panose="020B0609020204030204" pitchFamily="49" charset="0"/>
                <a:ea typeface="+mj-ea"/>
              </a:rPr>
              <a:t>sp</a:t>
            </a:r>
            <a:r>
              <a:rPr lang="en-US" altLang="zh-CN" sz="1600" b="0" i="1" dirty="0">
                <a:solidFill>
                  <a:schemeClr val="tx1"/>
                </a:solidFill>
                <a:latin typeface="Consolas" panose="020B0609020204030204" pitchFamily="49" charset="0"/>
                <a:ea typeface="+mj-ea"/>
              </a:rPr>
              <a:t>)       </a:t>
            </a:r>
            <a:r>
              <a:rPr lang="en-US" altLang="zh-CN" sz="1600" b="0" dirty="0">
                <a:solidFill>
                  <a:schemeClr val="tx1"/>
                </a:solidFill>
                <a:latin typeface="Consolas" panose="020B0609020204030204" pitchFamily="49" charset="0"/>
                <a:ea typeface="+mj-ea"/>
              </a:rPr>
              <a:t># </a:t>
            </a:r>
            <a:r>
              <a:rPr lang="zh-CN" altLang="en-US" sz="1600" b="0" dirty="0">
                <a:solidFill>
                  <a:schemeClr val="tx1"/>
                </a:solidFill>
                <a:latin typeface="Consolas" panose="020B0609020204030204" pitchFamily="49" charset="0"/>
                <a:ea typeface="+mj-ea"/>
              </a:rPr>
              <a:t>恢复现场，取出上一层函数中的</a:t>
            </a:r>
            <a:r>
              <a:rPr lang="en-US" altLang="zh-CN" sz="1600" b="0" dirty="0">
                <a:solidFill>
                  <a:schemeClr val="tx1"/>
                </a:solidFill>
                <a:latin typeface="Consolas" panose="020B0609020204030204" pitchFamily="49" charset="0"/>
                <a:ea typeface="+mj-ea"/>
              </a:rPr>
              <a:t>n</a:t>
            </a:r>
            <a:r>
              <a:rPr lang="zh-CN" altLang="en-US" sz="1600" b="0" dirty="0">
                <a:solidFill>
                  <a:schemeClr val="tx1"/>
                </a:solidFill>
                <a:latin typeface="Consolas" panose="020B0609020204030204" pitchFamily="49" charset="0"/>
                <a:ea typeface="+mj-ea"/>
              </a:rPr>
              <a:t>和</a:t>
            </a:r>
            <a:r>
              <a:rPr lang="en-US" altLang="zh-CN" sz="1600" b="0" dirty="0" err="1">
                <a:solidFill>
                  <a:schemeClr val="tx1"/>
                </a:solidFill>
                <a:latin typeface="Consolas" panose="020B0609020204030204" pitchFamily="49" charset="0"/>
                <a:ea typeface="+mj-ea"/>
              </a:rPr>
              <a:t>ra</a:t>
            </a:r>
            <a:r>
              <a:rPr lang="en-US" altLang="zh-CN" sz="1600" b="0" dirty="0">
                <a:solidFill>
                  <a:schemeClr val="tx1"/>
                </a:solidFill>
                <a:latin typeface="Consolas" panose="020B0609020204030204" pitchFamily="49" charset="0"/>
                <a:ea typeface="+mj-ea"/>
              </a:rPr>
              <a:t>       </a:t>
            </a:r>
          </a:p>
          <a:p>
            <a:pPr algn="l"/>
            <a:r>
              <a:rPr lang="en-US" altLang="zh-CN" sz="1600" b="0" i="1" dirty="0">
                <a:solidFill>
                  <a:schemeClr val="tx1"/>
                </a:solidFill>
                <a:latin typeface="Consolas" panose="020B0609020204030204" pitchFamily="49" charset="0"/>
                <a:ea typeface="+mj-ea"/>
              </a:rPr>
              <a:t>	addi 	$</a:t>
            </a:r>
            <a:r>
              <a:rPr lang="en-US" altLang="zh-CN" sz="1600" b="0" i="1" dirty="0" err="1">
                <a:solidFill>
                  <a:schemeClr val="tx1"/>
                </a:solidFill>
                <a:latin typeface="Consolas" panose="020B0609020204030204" pitchFamily="49" charset="0"/>
                <a:ea typeface="+mj-ea"/>
              </a:rPr>
              <a:t>sp</a:t>
            </a:r>
            <a:r>
              <a:rPr lang="en-US" altLang="zh-CN" sz="1600" b="0" i="1" dirty="0">
                <a:solidFill>
                  <a:schemeClr val="tx1"/>
                </a:solidFill>
                <a:latin typeface="Consolas" panose="020B0609020204030204" pitchFamily="49" charset="0"/>
                <a:ea typeface="+mj-ea"/>
              </a:rPr>
              <a:t>, $</a:t>
            </a:r>
            <a:r>
              <a:rPr lang="en-US" altLang="zh-CN" sz="1600" b="0" i="1" dirty="0" err="1">
                <a:solidFill>
                  <a:schemeClr val="tx1"/>
                </a:solidFill>
                <a:latin typeface="Consolas" panose="020B0609020204030204" pitchFamily="49" charset="0"/>
                <a:ea typeface="+mj-ea"/>
              </a:rPr>
              <a:t>sp</a:t>
            </a:r>
            <a:r>
              <a:rPr lang="en-US" altLang="zh-CN" sz="1600" b="0" i="1" dirty="0">
                <a:solidFill>
                  <a:schemeClr val="tx1"/>
                </a:solidFill>
                <a:latin typeface="Consolas" panose="020B0609020204030204" pitchFamily="49" charset="0"/>
                <a:ea typeface="+mj-ea"/>
              </a:rPr>
              <a:t>, 8       </a:t>
            </a:r>
            <a:r>
              <a:rPr lang="en-US" altLang="zh-CN" sz="1600" b="0" dirty="0">
                <a:solidFill>
                  <a:schemeClr val="tx1"/>
                </a:solidFill>
                <a:latin typeface="Consolas" panose="020B0609020204030204" pitchFamily="49" charset="0"/>
                <a:ea typeface="+mj-ea"/>
              </a:rPr>
              <a:t># </a:t>
            </a:r>
            <a:r>
              <a:rPr lang="zh-CN" altLang="en-US" sz="1600" b="0" dirty="0">
                <a:solidFill>
                  <a:schemeClr val="tx1"/>
                </a:solidFill>
                <a:latin typeface="Consolas" panose="020B0609020204030204" pitchFamily="49" charset="0"/>
                <a:ea typeface="+mj-ea"/>
              </a:rPr>
              <a:t>恢复栈指针</a:t>
            </a:r>
            <a:endParaRPr lang="en-US" altLang="zh-CN" sz="1600" b="0" dirty="0">
              <a:solidFill>
                <a:schemeClr val="tx1"/>
              </a:solidFill>
              <a:latin typeface="Consolas" panose="020B0609020204030204" pitchFamily="49" charset="0"/>
              <a:ea typeface="+mj-ea"/>
            </a:endParaRPr>
          </a:p>
          <a:p>
            <a:pPr algn="l"/>
            <a:r>
              <a:rPr lang="en-US" altLang="zh-CN" sz="1600" b="0" i="1" dirty="0">
                <a:solidFill>
                  <a:schemeClr val="tx1"/>
                </a:solidFill>
                <a:latin typeface="Consolas" panose="020B0609020204030204" pitchFamily="49" charset="0"/>
                <a:ea typeface="+mj-ea"/>
              </a:rPr>
              <a:t>	</a:t>
            </a:r>
            <a:r>
              <a:rPr lang="en-US" altLang="zh-CN" sz="1600" b="0" i="1" dirty="0" err="1">
                <a:solidFill>
                  <a:schemeClr val="tx1"/>
                </a:solidFill>
                <a:latin typeface="Consolas" panose="020B0609020204030204" pitchFamily="49" charset="0"/>
                <a:ea typeface="+mj-ea"/>
              </a:rPr>
              <a:t>mul</a:t>
            </a:r>
            <a:r>
              <a:rPr lang="en-US" altLang="zh-CN" sz="1600" b="0" i="1" dirty="0">
                <a:solidFill>
                  <a:schemeClr val="tx1"/>
                </a:solidFill>
                <a:latin typeface="Consolas" panose="020B0609020204030204" pitchFamily="49" charset="0"/>
                <a:ea typeface="+mj-ea"/>
              </a:rPr>
              <a:t> 	$v0, $a0, $v0     </a:t>
            </a:r>
            <a:r>
              <a:rPr lang="en-US" altLang="zh-CN" sz="1600" b="0" dirty="0">
                <a:solidFill>
                  <a:schemeClr val="tx1"/>
                </a:solidFill>
                <a:latin typeface="Consolas" panose="020B0609020204030204" pitchFamily="49" charset="0"/>
                <a:ea typeface="+mj-ea"/>
              </a:rPr>
              <a:t># return n*fact(n-1)</a:t>
            </a:r>
          </a:p>
          <a:p>
            <a:pPr algn="l"/>
            <a:r>
              <a:rPr lang="en-US" altLang="zh-CN" sz="1600" b="0" i="1" dirty="0">
                <a:solidFill>
                  <a:schemeClr val="tx1"/>
                </a:solidFill>
                <a:latin typeface="Consolas" panose="020B0609020204030204" pitchFamily="49" charset="0"/>
                <a:ea typeface="+mj-ea"/>
              </a:rPr>
              <a:t>	</a:t>
            </a:r>
            <a:r>
              <a:rPr lang="en-US" altLang="zh-CN" sz="1600" b="0" i="1" dirty="0" err="1">
                <a:solidFill>
                  <a:schemeClr val="tx1"/>
                </a:solidFill>
                <a:latin typeface="Consolas" panose="020B0609020204030204" pitchFamily="49" charset="0"/>
                <a:ea typeface="+mj-ea"/>
              </a:rPr>
              <a:t>jr</a:t>
            </a:r>
            <a:r>
              <a:rPr lang="en-US" altLang="zh-CN" sz="1600" b="0" i="1" dirty="0">
                <a:solidFill>
                  <a:schemeClr val="tx1"/>
                </a:solidFill>
                <a:latin typeface="Consolas" panose="020B0609020204030204" pitchFamily="49" charset="0"/>
                <a:ea typeface="+mj-ea"/>
              </a:rPr>
              <a:t> 	$</a:t>
            </a:r>
            <a:r>
              <a:rPr lang="en-US" altLang="zh-CN" sz="1600" b="0" i="1" dirty="0" err="1">
                <a:solidFill>
                  <a:schemeClr val="tx1"/>
                </a:solidFill>
                <a:latin typeface="Consolas" panose="020B0609020204030204" pitchFamily="49" charset="0"/>
                <a:ea typeface="+mj-ea"/>
              </a:rPr>
              <a:t>ra</a:t>
            </a:r>
            <a:r>
              <a:rPr lang="en-US" altLang="zh-CN" sz="1600" b="0" i="1" dirty="0">
                <a:solidFill>
                  <a:schemeClr val="tx1"/>
                </a:solidFill>
                <a:latin typeface="Consolas" panose="020B0609020204030204" pitchFamily="49" charset="0"/>
                <a:ea typeface="+mj-ea"/>
              </a:rPr>
              <a:t> 	          </a:t>
            </a:r>
            <a:r>
              <a:rPr lang="en-US" altLang="zh-CN" sz="1600" b="0" dirty="0">
                <a:solidFill>
                  <a:schemeClr val="tx1"/>
                </a:solidFill>
                <a:latin typeface="Consolas" panose="020B0609020204030204" pitchFamily="49" charset="0"/>
                <a:ea typeface="+mj-ea"/>
              </a:rPr>
              <a:t># </a:t>
            </a:r>
            <a:r>
              <a:rPr lang="zh-CN" altLang="en-US" sz="1600" b="0" dirty="0">
                <a:solidFill>
                  <a:schemeClr val="tx1"/>
                </a:solidFill>
                <a:latin typeface="Consolas" panose="020B0609020204030204" pitchFamily="49" charset="0"/>
                <a:ea typeface="+mj-ea"/>
              </a:rPr>
              <a:t>返回上一层函数</a:t>
            </a:r>
            <a:endParaRPr lang="en-US" altLang="zh-CN" sz="1600" b="0" dirty="0">
              <a:solidFill>
                <a:schemeClr val="tx1"/>
              </a:solidFill>
              <a:latin typeface="Consolas" panose="020B0609020204030204" pitchFamily="49" charset="0"/>
              <a:ea typeface="+mj-ea"/>
            </a:endParaRPr>
          </a:p>
        </p:txBody>
      </p:sp>
      <p:sp>
        <p:nvSpPr>
          <p:cNvPr id="15" name="矩形 1">
            <a:extLst>
              <a:ext uri="{FF2B5EF4-FFF2-40B4-BE49-F238E27FC236}">
                <a16:creationId xmlns:a16="http://schemas.microsoft.com/office/drawing/2014/main" id="{882B63A1-A809-4902-B352-194F2D5E91A5}"/>
              </a:ext>
            </a:extLst>
          </p:cNvPr>
          <p:cNvSpPr>
            <a:spLocks noChangeArrowheads="1"/>
          </p:cNvSpPr>
          <p:nvPr/>
        </p:nvSpPr>
        <p:spPr bwMode="auto">
          <a:xfrm>
            <a:off x="4495323" y="1253331"/>
            <a:ext cx="4648677" cy="132343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gn="l">
              <a:buClr>
                <a:srgbClr val="CC0000"/>
              </a:buClr>
            </a:pPr>
            <a:r>
              <a:rPr lang="en-US" altLang="zh-CN" sz="1600" b="0" i="1" dirty="0">
                <a:solidFill>
                  <a:schemeClr val="tx1"/>
                </a:solidFill>
                <a:latin typeface="Consolas" panose="020B0609020204030204" pitchFamily="49" charset="0"/>
                <a:ea typeface="+mj-ea"/>
              </a:rPr>
              <a:t>int fact(int n)</a:t>
            </a:r>
          </a:p>
          <a:p>
            <a:pPr algn="l">
              <a:buClr>
                <a:srgbClr val="CC0000"/>
              </a:buClr>
            </a:pPr>
            <a:r>
              <a:rPr lang="en-US" altLang="zh-CN" sz="1600" b="0" i="1" dirty="0">
                <a:solidFill>
                  <a:schemeClr val="tx1"/>
                </a:solidFill>
                <a:latin typeface="Consolas" panose="020B0609020204030204" pitchFamily="49" charset="0"/>
                <a:ea typeface="+mj-ea"/>
              </a:rPr>
              <a:t>{</a:t>
            </a:r>
          </a:p>
          <a:p>
            <a:pPr algn="l">
              <a:buClr>
                <a:srgbClr val="CC0000"/>
              </a:buClr>
            </a:pPr>
            <a:r>
              <a:rPr lang="en-US" altLang="zh-CN" sz="1600" b="0" i="1" dirty="0">
                <a:solidFill>
                  <a:schemeClr val="tx1"/>
                </a:solidFill>
                <a:latin typeface="Consolas" panose="020B0609020204030204" pitchFamily="49" charset="0"/>
                <a:ea typeface="+mj-ea"/>
              </a:rPr>
              <a:t>      if (n &lt; 1)  return 1;</a:t>
            </a:r>
          </a:p>
          <a:p>
            <a:pPr algn="l">
              <a:buClr>
                <a:srgbClr val="CC0000"/>
              </a:buClr>
            </a:pPr>
            <a:r>
              <a:rPr lang="en-US" altLang="zh-CN" sz="1600" b="0" i="1" dirty="0">
                <a:solidFill>
                  <a:schemeClr val="tx1"/>
                </a:solidFill>
                <a:latin typeface="Consolas" panose="020B0609020204030204" pitchFamily="49" charset="0"/>
                <a:ea typeface="+mj-ea"/>
              </a:rPr>
              <a:t>      else return (n * fact(n-1));</a:t>
            </a:r>
          </a:p>
          <a:p>
            <a:pPr algn="l">
              <a:buClr>
                <a:srgbClr val="CC0000"/>
              </a:buClr>
            </a:pPr>
            <a:r>
              <a:rPr lang="en-US" altLang="zh-CN" sz="1600" b="0" i="1" dirty="0">
                <a:solidFill>
                  <a:schemeClr val="tx1"/>
                </a:solidFill>
                <a:latin typeface="Consolas" panose="020B0609020204030204" pitchFamily="49" charset="0"/>
                <a:ea typeface="+mj-ea"/>
              </a:rPr>
              <a:t>}</a:t>
            </a:r>
          </a:p>
        </p:txBody>
      </p:sp>
      <p:sp>
        <p:nvSpPr>
          <p:cNvPr id="6" name="Title 4">
            <a:extLst>
              <a:ext uri="{FF2B5EF4-FFF2-40B4-BE49-F238E27FC236}">
                <a16:creationId xmlns:a16="http://schemas.microsoft.com/office/drawing/2014/main" id="{E4354028-AA8B-08C8-9B20-80172B3C00A1}"/>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sz="4000" dirty="0">
                <a:latin typeface="+mj-ea"/>
                <a:ea typeface="+mj-ea"/>
              </a:rPr>
              <a:t>嵌套过程调用（课后）</a:t>
            </a:r>
            <a:endParaRPr lang="en-CN" kern="0" dirty="0"/>
          </a:p>
        </p:txBody>
      </p:sp>
    </p:spTree>
    <p:extLst>
      <p:ext uri="{BB962C8B-B14F-4D97-AF65-F5344CB8AC3E}">
        <p14:creationId xmlns:p14="http://schemas.microsoft.com/office/powerpoint/2010/main" val="177785617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5E3845A9-7E82-4657-B497-16CB36280F3B}"/>
              </a:ext>
            </a:extLst>
          </p:cNvPr>
          <p:cNvSpPr>
            <a:spLocks noGrp="1"/>
          </p:cNvSpPr>
          <p:nvPr>
            <p:ph type="sldNum" sz="quarter" idx="12"/>
          </p:nvPr>
        </p:nvSpPr>
        <p:spPr/>
        <p:txBody>
          <a:bodyPr/>
          <a:lstStyle/>
          <a:p>
            <a:fld id="{176ACFD1-D213-4B9C-817B-45486DBF105A}" type="slidenum">
              <a:rPr lang="en-US" smtClean="0">
                <a:solidFill>
                  <a:prstClr val="black"/>
                </a:solidFill>
                <a:latin typeface="+mj-ea"/>
                <a:ea typeface="+mj-ea"/>
              </a:rPr>
              <a:pPr/>
              <a:t>94</a:t>
            </a:fld>
            <a:endParaRPr lang="en-US">
              <a:solidFill>
                <a:prstClr val="black"/>
              </a:solidFill>
              <a:latin typeface="+mj-ea"/>
              <a:ea typeface="+mj-ea"/>
            </a:endParaRPr>
          </a:p>
        </p:txBody>
      </p:sp>
      <p:sp>
        <p:nvSpPr>
          <p:cNvPr id="19" name="Content Placeholder 2">
            <a:extLst>
              <a:ext uri="{FF2B5EF4-FFF2-40B4-BE49-F238E27FC236}">
                <a16:creationId xmlns:a16="http://schemas.microsoft.com/office/drawing/2014/main" id="{A28AF156-61FA-497A-866E-84B9FBFB6E11}"/>
              </a:ext>
            </a:extLst>
          </p:cNvPr>
          <p:cNvSpPr>
            <a:spLocks noGrp="1"/>
          </p:cNvSpPr>
          <p:nvPr>
            <p:ph idx="4294967295"/>
          </p:nvPr>
        </p:nvSpPr>
        <p:spPr>
          <a:xfrm>
            <a:off x="457200" y="1253331"/>
            <a:ext cx="7886700" cy="4351338"/>
          </a:xfrm>
        </p:spPr>
        <p:txBody>
          <a:bodyPr/>
          <a:lstStyle/>
          <a:p>
            <a:r>
              <a:rPr lang="zh-CN" altLang="en-US" dirty="0"/>
              <a:t>不调用其他过程的过程</a:t>
            </a:r>
            <a:endParaRPr lang="en-US" altLang="zh-CN" dirty="0"/>
          </a:p>
        </p:txBody>
      </p:sp>
      <p:sp>
        <p:nvSpPr>
          <p:cNvPr id="3" name="Title 4">
            <a:extLst>
              <a:ext uri="{FF2B5EF4-FFF2-40B4-BE49-F238E27FC236}">
                <a16:creationId xmlns:a16="http://schemas.microsoft.com/office/drawing/2014/main" id="{525A71BA-942A-A614-F554-2113C45B8B5E}"/>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sz="4000" dirty="0">
                <a:latin typeface="微软雅黑 (标题)"/>
              </a:rPr>
              <a:t>叶过程</a:t>
            </a:r>
            <a:endParaRPr lang="en-CN" kern="0" dirty="0"/>
          </a:p>
        </p:txBody>
      </p:sp>
      <p:grpSp>
        <p:nvGrpSpPr>
          <p:cNvPr id="25" name="组合 24">
            <a:extLst>
              <a:ext uri="{FF2B5EF4-FFF2-40B4-BE49-F238E27FC236}">
                <a16:creationId xmlns:a16="http://schemas.microsoft.com/office/drawing/2014/main" id="{C6B52D7C-8136-7855-54A4-14BE0DECAC21}"/>
              </a:ext>
            </a:extLst>
          </p:cNvPr>
          <p:cNvGrpSpPr/>
          <p:nvPr/>
        </p:nvGrpSpPr>
        <p:grpSpPr>
          <a:xfrm>
            <a:off x="287085" y="2114073"/>
            <a:ext cx="8569829" cy="3593855"/>
            <a:chOff x="457200" y="1701478"/>
            <a:chExt cx="8569829" cy="3593855"/>
          </a:xfrm>
        </p:grpSpPr>
        <p:sp>
          <p:nvSpPr>
            <p:cNvPr id="14" name="矩形 13">
              <a:extLst>
                <a:ext uri="{FF2B5EF4-FFF2-40B4-BE49-F238E27FC236}">
                  <a16:creationId xmlns:a16="http://schemas.microsoft.com/office/drawing/2014/main" id="{13F1AABB-5C48-AB2E-A990-C258697014B4}"/>
                </a:ext>
              </a:extLst>
            </p:cNvPr>
            <p:cNvSpPr/>
            <p:nvPr/>
          </p:nvSpPr>
          <p:spPr>
            <a:xfrm>
              <a:off x="6041985" y="1701478"/>
              <a:ext cx="2985044" cy="2885969"/>
            </a:xfrm>
            <a:prstGeom prst="rect">
              <a:avLst/>
            </a:prstGeom>
            <a:noFill/>
            <a:ln w="38100" cap="flat" cmpd="sng" algn="ctr">
              <a:solidFill>
                <a:srgbClr val="000000"/>
              </a:solidFill>
              <a:prstDash val="dash"/>
            </a:ln>
            <a:effectLst/>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Arial" panose="020B0604020202020204" pitchFamily="34" charset="0"/>
              </a:endParaRPr>
            </a:p>
          </p:txBody>
        </p:sp>
        <p:sp>
          <p:nvSpPr>
            <p:cNvPr id="15" name="文本框 14">
              <a:extLst>
                <a:ext uri="{FF2B5EF4-FFF2-40B4-BE49-F238E27FC236}">
                  <a16:creationId xmlns:a16="http://schemas.microsoft.com/office/drawing/2014/main" id="{FC1ABFF7-F681-BFEB-D0AB-D6235D540F45}"/>
                </a:ext>
              </a:extLst>
            </p:cNvPr>
            <p:cNvSpPr txBox="1"/>
            <p:nvPr/>
          </p:nvSpPr>
          <p:spPr>
            <a:xfrm>
              <a:off x="6554432" y="4587447"/>
              <a:ext cx="2308936" cy="707886"/>
            </a:xfrm>
            <a:prstGeom prst="rect">
              <a:avLst/>
            </a:prstGeom>
            <a:noFill/>
          </p:spPr>
          <p:txBody>
            <a:bodyPr wrap="square" rtlCol="0">
              <a:spAutoFit/>
            </a:bodyPr>
            <a:lstStyle/>
            <a:p>
              <a:pPr algn="ctr"/>
              <a:r>
                <a:rPr lang="zh-CN" altLang="en-US" sz="4000" b="1" dirty="0">
                  <a:solidFill>
                    <a:srgbClr val="0432FF"/>
                  </a:solidFill>
                  <a:latin typeface="黑体" panose="02010609060101010101" pitchFamily="49" charset="-122"/>
                  <a:ea typeface="黑体" panose="02010609060101010101" pitchFamily="49" charset="-122"/>
                </a:rPr>
                <a:t>叶过程</a:t>
              </a:r>
            </a:p>
          </p:txBody>
        </p:sp>
        <p:sp>
          <p:nvSpPr>
            <p:cNvPr id="16" name="矩形 15">
              <a:extLst>
                <a:ext uri="{FF2B5EF4-FFF2-40B4-BE49-F238E27FC236}">
                  <a16:creationId xmlns:a16="http://schemas.microsoft.com/office/drawing/2014/main" id="{C94E9389-11EA-DDE6-5ACA-AB74050358C3}"/>
                </a:ext>
              </a:extLst>
            </p:cNvPr>
            <p:cNvSpPr>
              <a:spLocks/>
            </p:cNvSpPr>
            <p:nvPr/>
          </p:nvSpPr>
          <p:spPr>
            <a:xfrm>
              <a:off x="457200" y="1961293"/>
              <a:ext cx="2508859" cy="2369807"/>
            </a:xfrm>
            <a:prstGeom prst="rect">
              <a:avLst/>
            </a:prstGeom>
            <a:solidFill>
              <a:srgbClr val="9BBB59">
                <a:lumMod val="20000"/>
                <a:lumOff val="80000"/>
              </a:srgbClr>
            </a:solidFill>
            <a:ln w="25400" cap="flat" cmpd="sng" algn="ctr">
              <a:noFill/>
              <a:prstDash val="solid"/>
            </a:ln>
            <a:effectLst/>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8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Arial" panose="020B0604020202020204" pitchFamily="34" charset="0"/>
                </a:rPr>
                <a:t>程序</a:t>
              </a:r>
              <a:r>
                <a:rPr kumimoji="0" lang="en-US" altLang="zh-CN" sz="28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Arial" panose="020B0604020202020204" pitchFamily="34" charset="0"/>
                </a:rPr>
                <a:t>X:</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Arial" panose="020B0604020202020204" pitchFamily="34" charset="0"/>
                </a:rPr>
                <a:t>    ……</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Arial" panose="020B0604020202020204" pitchFamily="34" charset="0"/>
                </a:rPr>
                <a:t>    </a:t>
              </a:r>
              <a:r>
                <a:rPr kumimoji="0" lang="zh-CN" altLang="en-US" sz="28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Arial" panose="020B0604020202020204" pitchFamily="34" charset="0"/>
                </a:rPr>
                <a:t>程序</a:t>
              </a:r>
              <a:r>
                <a:rPr kumimoji="0" lang="en-US" altLang="zh-CN" sz="28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Arial" panose="020B0604020202020204" pitchFamily="34" charset="0"/>
                </a:rPr>
                <a:t>Y</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Arial" panose="020B0604020202020204" pitchFamily="34" charset="0"/>
                </a:rPr>
                <a:t>    ……</a:t>
              </a:r>
              <a:endParaRPr kumimoji="0" lang="zh-CN" altLang="en-US" sz="28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F6CFF53-2559-C4CF-3772-3F99EAE7CF42}"/>
                </a:ext>
              </a:extLst>
            </p:cNvPr>
            <p:cNvSpPr>
              <a:spLocks/>
            </p:cNvSpPr>
            <p:nvPr/>
          </p:nvSpPr>
          <p:spPr>
            <a:xfrm>
              <a:off x="3394662" y="1961293"/>
              <a:ext cx="2508859" cy="2369807"/>
            </a:xfrm>
            <a:prstGeom prst="rect">
              <a:avLst/>
            </a:prstGeom>
            <a:solidFill>
              <a:srgbClr val="9BBB59">
                <a:lumMod val="20000"/>
                <a:lumOff val="80000"/>
              </a:srgbClr>
            </a:solidFill>
            <a:ln w="25400" cap="flat" cmpd="sng" algn="ctr">
              <a:noFill/>
              <a:prstDash val="solid"/>
            </a:ln>
            <a:effectLst/>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8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Arial" panose="020B0604020202020204" pitchFamily="34" charset="0"/>
                </a:rPr>
                <a:t>程序</a:t>
              </a:r>
              <a:r>
                <a:rPr kumimoji="0" lang="en-US" altLang="zh-CN" sz="28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Arial" panose="020B0604020202020204" pitchFamily="34" charset="0"/>
                </a:rPr>
                <a:t>Y:</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Arial" panose="020B0604020202020204" pitchFamily="34" charset="0"/>
                </a:rPr>
                <a:t>    ……</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Arial" panose="020B0604020202020204" pitchFamily="34" charset="0"/>
                </a:rPr>
                <a:t>    </a:t>
              </a:r>
              <a:r>
                <a:rPr kumimoji="0" lang="zh-CN" altLang="en-US" sz="28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Arial" panose="020B0604020202020204" pitchFamily="34" charset="0"/>
                </a:rPr>
                <a:t>程序</a:t>
              </a:r>
              <a:r>
                <a:rPr kumimoji="0" lang="en-US" altLang="zh-CN" sz="28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Arial" panose="020B0604020202020204" pitchFamily="34" charset="0"/>
                </a:rPr>
                <a:t>Z</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Arial" panose="020B0604020202020204" pitchFamily="34" charset="0"/>
                </a:rPr>
                <a:t>    ……</a:t>
              </a:r>
              <a:endParaRPr kumimoji="0" lang="zh-CN" altLang="en-US" sz="28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Arial" panose="020B0604020202020204" pitchFamily="34" charset="0"/>
              </a:endParaRPr>
            </a:p>
          </p:txBody>
        </p:sp>
        <p:sp>
          <p:nvSpPr>
            <p:cNvPr id="18" name="矩形 17">
              <a:extLst>
                <a:ext uri="{FF2B5EF4-FFF2-40B4-BE49-F238E27FC236}">
                  <a16:creationId xmlns:a16="http://schemas.microsoft.com/office/drawing/2014/main" id="{AD263088-B7DE-72F2-CD90-93A6CB32178D}"/>
                </a:ext>
              </a:extLst>
            </p:cNvPr>
            <p:cNvSpPr>
              <a:spLocks/>
            </p:cNvSpPr>
            <p:nvPr/>
          </p:nvSpPr>
          <p:spPr>
            <a:xfrm>
              <a:off x="6332125" y="1961293"/>
              <a:ext cx="2508859" cy="2369807"/>
            </a:xfrm>
            <a:prstGeom prst="rect">
              <a:avLst/>
            </a:prstGeom>
            <a:solidFill>
              <a:srgbClr val="9BBB59">
                <a:lumMod val="20000"/>
                <a:lumOff val="80000"/>
              </a:srgbClr>
            </a:solidFill>
            <a:ln w="25400" cap="flat" cmpd="sng" algn="ctr">
              <a:noFill/>
              <a:prstDash val="solid"/>
            </a:ln>
            <a:effectLst/>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8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Arial" panose="020B0604020202020204" pitchFamily="34" charset="0"/>
                </a:rPr>
                <a:t>程序</a:t>
              </a:r>
              <a:r>
                <a:rPr kumimoji="0" lang="en-US" altLang="zh-CN" sz="28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Arial" panose="020B0604020202020204" pitchFamily="34" charset="0"/>
                </a:rPr>
                <a:t>Z:</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Arial" panose="020B0604020202020204" pitchFamily="34" charset="0"/>
                </a:rPr>
                <a:t>    ……</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Arial" panose="020B0604020202020204" pitchFamily="34" charset="0"/>
                </a:rPr>
                <a:t>    ……</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Arial" panose="020B0604020202020204" pitchFamily="34" charset="0"/>
                </a:rPr>
                <a:t>    ……</a:t>
              </a:r>
              <a:endParaRPr kumimoji="0" lang="zh-CN" altLang="en-US" sz="28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Arial" panose="020B0604020202020204" pitchFamily="34" charset="0"/>
              </a:endParaRPr>
            </a:p>
          </p:txBody>
        </p:sp>
        <p:sp>
          <p:nvSpPr>
            <p:cNvPr id="21" name="箭头: 下 20">
              <a:extLst>
                <a:ext uri="{FF2B5EF4-FFF2-40B4-BE49-F238E27FC236}">
                  <a16:creationId xmlns:a16="http://schemas.microsoft.com/office/drawing/2014/main" id="{CC6AF607-1D39-7D01-B132-26E60A818D68}"/>
                </a:ext>
              </a:extLst>
            </p:cNvPr>
            <p:cNvSpPr/>
            <p:nvPr/>
          </p:nvSpPr>
          <p:spPr>
            <a:xfrm rot="14653450">
              <a:off x="2660225" y="2203216"/>
              <a:ext cx="337530" cy="1327523"/>
            </a:xfrm>
            <a:prstGeom prst="downArrow">
              <a:avLst>
                <a:gd name="adj1" fmla="val 50000"/>
                <a:gd name="adj2" fmla="val 81751"/>
              </a:avLst>
            </a:prstGeom>
            <a:solidFill>
              <a:srgbClr val="1F497D">
                <a:lumMod val="20000"/>
                <a:lumOff val="80000"/>
              </a:srgbClr>
            </a:solidFill>
            <a:ln w="25400" cap="flat" cmpd="sng" algn="ctr">
              <a:solidFill>
                <a:srgbClr val="1F497D">
                  <a:lumMod val="60000"/>
                  <a:lumOff val="40000"/>
                </a:srgbClr>
              </a:solidFill>
              <a:prstDash val="solid"/>
            </a:ln>
            <a:effectLst/>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Arial" panose="020B0604020202020204" pitchFamily="34" charset="0"/>
              </a:endParaRPr>
            </a:p>
          </p:txBody>
        </p:sp>
        <p:sp>
          <p:nvSpPr>
            <p:cNvPr id="22" name="箭头: 下 21">
              <a:extLst>
                <a:ext uri="{FF2B5EF4-FFF2-40B4-BE49-F238E27FC236}">
                  <a16:creationId xmlns:a16="http://schemas.microsoft.com/office/drawing/2014/main" id="{C4F28032-DDC1-1AE8-A54E-BF96680FB234}"/>
                </a:ext>
              </a:extLst>
            </p:cNvPr>
            <p:cNvSpPr/>
            <p:nvPr/>
          </p:nvSpPr>
          <p:spPr>
            <a:xfrm rot="14653450">
              <a:off x="5548273" y="2208452"/>
              <a:ext cx="337530" cy="1327523"/>
            </a:xfrm>
            <a:prstGeom prst="downArrow">
              <a:avLst>
                <a:gd name="adj1" fmla="val 50000"/>
                <a:gd name="adj2" fmla="val 81751"/>
              </a:avLst>
            </a:prstGeom>
            <a:solidFill>
              <a:srgbClr val="1F497D">
                <a:lumMod val="20000"/>
                <a:lumOff val="80000"/>
              </a:srgbClr>
            </a:solidFill>
            <a:ln w="25400" cap="flat" cmpd="sng" algn="ctr">
              <a:solidFill>
                <a:srgbClr val="1F497D">
                  <a:lumMod val="60000"/>
                  <a:lumOff val="40000"/>
                </a:srgbClr>
              </a:solidFill>
              <a:prstDash val="solid"/>
            </a:ln>
            <a:effectLst/>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Arial" panose="020B0604020202020204" pitchFamily="34" charset="0"/>
              </a:endParaRPr>
            </a:p>
          </p:txBody>
        </p:sp>
        <p:sp>
          <p:nvSpPr>
            <p:cNvPr id="23" name="文本框 22">
              <a:extLst>
                <a:ext uri="{FF2B5EF4-FFF2-40B4-BE49-F238E27FC236}">
                  <a16:creationId xmlns:a16="http://schemas.microsoft.com/office/drawing/2014/main" id="{21F25FFD-D222-EF98-AFCC-DCD69AD4BE48}"/>
                </a:ext>
              </a:extLst>
            </p:cNvPr>
            <p:cNvSpPr txBox="1"/>
            <p:nvPr/>
          </p:nvSpPr>
          <p:spPr>
            <a:xfrm>
              <a:off x="2366676" y="3480274"/>
              <a:ext cx="1627369" cy="523220"/>
            </a:xfrm>
            <a:prstGeom prst="rect">
              <a:avLst/>
            </a:prstGeom>
            <a:noFill/>
          </p:spPr>
          <p:txBody>
            <a:bodyPr wrap="none" rtlCol="0">
              <a:spAutoFit/>
            </a:bodyPr>
            <a:lstStyle/>
            <a:p>
              <a:pPr algn="ctr"/>
              <a:r>
                <a:rPr lang="zh-CN" altLang="en-US" sz="2800" b="1" dirty="0">
                  <a:solidFill>
                    <a:srgbClr val="0432FF"/>
                  </a:solidFill>
                  <a:latin typeface="黑体" panose="02010609060101010101" pitchFamily="49" charset="-122"/>
                  <a:ea typeface="黑体" panose="02010609060101010101" pitchFamily="49" charset="-122"/>
                </a:rPr>
                <a:t>过程调用</a:t>
              </a:r>
            </a:p>
          </p:txBody>
        </p:sp>
        <p:sp>
          <p:nvSpPr>
            <p:cNvPr id="24" name="文本框 23">
              <a:extLst>
                <a:ext uri="{FF2B5EF4-FFF2-40B4-BE49-F238E27FC236}">
                  <a16:creationId xmlns:a16="http://schemas.microsoft.com/office/drawing/2014/main" id="{26560B51-E2F6-FDF2-7F8C-6081FEE94F78}"/>
                </a:ext>
              </a:extLst>
            </p:cNvPr>
            <p:cNvSpPr txBox="1"/>
            <p:nvPr/>
          </p:nvSpPr>
          <p:spPr>
            <a:xfrm>
              <a:off x="5228300" y="3472414"/>
              <a:ext cx="1627369" cy="523220"/>
            </a:xfrm>
            <a:prstGeom prst="rect">
              <a:avLst/>
            </a:prstGeom>
            <a:noFill/>
          </p:spPr>
          <p:txBody>
            <a:bodyPr wrap="none" rtlCol="0">
              <a:spAutoFit/>
            </a:bodyPr>
            <a:lstStyle/>
            <a:p>
              <a:pPr algn="ctr"/>
              <a:r>
                <a:rPr lang="zh-CN" altLang="en-US" sz="2800" b="1" dirty="0">
                  <a:solidFill>
                    <a:srgbClr val="0432FF"/>
                  </a:solidFill>
                  <a:latin typeface="黑体" panose="02010609060101010101" pitchFamily="49" charset="-122"/>
                  <a:ea typeface="黑体" panose="02010609060101010101" pitchFamily="49" charset="-122"/>
                </a:rPr>
                <a:t>过程调用</a:t>
              </a:r>
            </a:p>
          </p:txBody>
        </p:sp>
      </p:grpSp>
    </p:spTree>
    <p:extLst>
      <p:ext uri="{BB962C8B-B14F-4D97-AF65-F5344CB8AC3E}">
        <p14:creationId xmlns:p14="http://schemas.microsoft.com/office/powerpoint/2010/main" val="123918741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5E3845A9-7E82-4657-B497-16CB36280F3B}"/>
              </a:ext>
            </a:extLst>
          </p:cNvPr>
          <p:cNvSpPr>
            <a:spLocks noGrp="1"/>
          </p:cNvSpPr>
          <p:nvPr>
            <p:ph type="sldNum" sz="quarter" idx="12"/>
          </p:nvPr>
        </p:nvSpPr>
        <p:spPr/>
        <p:txBody>
          <a:bodyPr/>
          <a:lstStyle/>
          <a:p>
            <a:fld id="{176ACFD1-D213-4B9C-817B-45486DBF105A}" type="slidenum">
              <a:rPr lang="en-US" smtClean="0">
                <a:solidFill>
                  <a:prstClr val="black"/>
                </a:solidFill>
              </a:rPr>
              <a:pPr/>
              <a:t>95</a:t>
            </a:fld>
            <a:endParaRPr lang="en-US">
              <a:solidFill>
                <a:prstClr val="black"/>
              </a:solidFill>
            </a:endParaRPr>
          </a:p>
        </p:txBody>
      </p:sp>
      <p:sp>
        <p:nvSpPr>
          <p:cNvPr id="5" name="内容占位符 4">
            <a:extLst>
              <a:ext uri="{FF2B5EF4-FFF2-40B4-BE49-F238E27FC236}">
                <a16:creationId xmlns:a16="http://schemas.microsoft.com/office/drawing/2014/main" id="{9614C88F-F270-4C3A-83F5-C3D446975A8F}"/>
              </a:ext>
            </a:extLst>
          </p:cNvPr>
          <p:cNvSpPr>
            <a:spLocks noGrp="1"/>
          </p:cNvSpPr>
          <p:nvPr>
            <p:ph idx="4294967295"/>
          </p:nvPr>
        </p:nvSpPr>
        <p:spPr>
          <a:xfrm>
            <a:off x="349487" y="1253331"/>
            <a:ext cx="7886700" cy="4351338"/>
          </a:xfrm>
        </p:spPr>
        <p:txBody>
          <a:bodyPr/>
          <a:lstStyle/>
          <a:p>
            <a:r>
              <a:rPr lang="zh-CN" altLang="en-US" dirty="0">
                <a:latin typeface="黑体" panose="02010609060101010101" pitchFamily="49" charset="-122"/>
              </a:rPr>
              <a:t>不调用其他过程的过程</a:t>
            </a:r>
            <a:endParaRPr lang="en-US" altLang="zh-CN" dirty="0">
              <a:latin typeface="黑体" panose="02010609060101010101" pitchFamily="49" charset="-122"/>
            </a:endParaRPr>
          </a:p>
          <a:p>
            <a:endParaRPr lang="zh-CN" altLang="en-US" dirty="0">
              <a:latin typeface="黑体" panose="02010609060101010101" pitchFamily="49" charset="-122"/>
            </a:endParaRPr>
          </a:p>
        </p:txBody>
      </p:sp>
      <p:sp>
        <p:nvSpPr>
          <p:cNvPr id="27" name="Text Box 4">
            <a:extLst>
              <a:ext uri="{FF2B5EF4-FFF2-40B4-BE49-F238E27FC236}">
                <a16:creationId xmlns:a16="http://schemas.microsoft.com/office/drawing/2014/main" id="{2F327BBD-C253-4F4C-A7F7-A12197857E76}"/>
              </a:ext>
            </a:extLst>
          </p:cNvPr>
          <p:cNvSpPr txBox="1">
            <a:spLocks noChangeArrowheads="1"/>
          </p:cNvSpPr>
          <p:nvPr/>
        </p:nvSpPr>
        <p:spPr bwMode="auto">
          <a:xfrm>
            <a:off x="130961" y="2315747"/>
            <a:ext cx="3035298" cy="1815882"/>
          </a:xfrm>
          <a:prstGeom prst="rect">
            <a:avLst/>
          </a:prstGeom>
          <a:noFill/>
          <a:ln w="9525">
            <a:solidFill>
              <a:srgbClr val="0432FF"/>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l" eaLnBrk="1" hangingPunct="1">
              <a:buClr>
                <a:srgbClr val="CC0000"/>
              </a:buClr>
            </a:pPr>
            <a:r>
              <a:rPr lang="en-US" altLang="zh-CN" sz="1600" i="1" dirty="0">
                <a:latin typeface="Consolas" panose="020B0609020204030204" pitchFamily="49" charset="0"/>
                <a:ea typeface="微软雅黑" panose="020B0503020204020204" pitchFamily="34" charset="-122"/>
              </a:rPr>
              <a:t>int  </a:t>
            </a:r>
            <a:r>
              <a:rPr lang="en-US" altLang="zh-CN" sz="1600" i="1" dirty="0" err="1">
                <a:latin typeface="Consolas" panose="020B0609020204030204" pitchFamily="49" charset="0"/>
                <a:ea typeface="微软雅黑" panose="020B0503020204020204" pitchFamily="34" charset="-122"/>
              </a:rPr>
              <a:t>leaf_example</a:t>
            </a:r>
            <a:r>
              <a:rPr lang="en-US" altLang="zh-CN" sz="1600" i="1" dirty="0">
                <a:latin typeface="Consolas" panose="020B0609020204030204" pitchFamily="49" charset="0"/>
                <a:ea typeface="微软雅黑" panose="020B0503020204020204" pitchFamily="34" charset="-122"/>
              </a:rPr>
              <a:t> (int g, int h, int </a:t>
            </a:r>
            <a:r>
              <a:rPr lang="en-US" altLang="zh-CN" sz="1600" i="1" dirty="0" err="1">
                <a:latin typeface="Consolas" panose="020B0609020204030204" pitchFamily="49" charset="0"/>
                <a:ea typeface="微软雅黑" panose="020B0503020204020204" pitchFamily="34" charset="-122"/>
              </a:rPr>
              <a:t>i</a:t>
            </a:r>
            <a:r>
              <a:rPr lang="en-US" altLang="zh-CN" sz="1600" i="1" dirty="0">
                <a:latin typeface="Consolas" panose="020B0609020204030204" pitchFamily="49" charset="0"/>
                <a:ea typeface="微软雅黑" panose="020B0503020204020204" pitchFamily="34" charset="-122"/>
              </a:rPr>
              <a:t>, int j)</a:t>
            </a:r>
          </a:p>
          <a:p>
            <a:pPr algn="l" eaLnBrk="1" hangingPunct="1">
              <a:buClr>
                <a:srgbClr val="CC0000"/>
              </a:buClr>
            </a:pPr>
            <a:r>
              <a:rPr lang="en-US" altLang="zh-CN" sz="1600" i="1" dirty="0">
                <a:latin typeface="Consolas" panose="020B0609020204030204" pitchFamily="49" charset="0"/>
                <a:ea typeface="微软雅黑" panose="020B0503020204020204" pitchFamily="34" charset="-122"/>
              </a:rPr>
              <a:t>{ </a:t>
            </a:r>
          </a:p>
          <a:p>
            <a:pPr algn="l" eaLnBrk="1" hangingPunct="1">
              <a:buClr>
                <a:srgbClr val="CC0000"/>
              </a:buClr>
            </a:pPr>
            <a:r>
              <a:rPr lang="en-US" altLang="zh-CN" sz="1600" i="1" dirty="0">
                <a:latin typeface="Consolas" panose="020B0609020204030204" pitchFamily="49" charset="0"/>
                <a:ea typeface="微软雅黑" panose="020B0503020204020204" pitchFamily="34" charset="-122"/>
              </a:rPr>
              <a:t>    int f ;</a:t>
            </a:r>
          </a:p>
          <a:p>
            <a:pPr algn="l" eaLnBrk="1" hangingPunct="1">
              <a:buClr>
                <a:srgbClr val="CC0000"/>
              </a:buClr>
            </a:pPr>
            <a:r>
              <a:rPr lang="en-US" altLang="zh-CN" sz="1600" i="1" dirty="0">
                <a:latin typeface="Consolas" panose="020B0609020204030204" pitchFamily="49" charset="0"/>
                <a:ea typeface="微软雅黑" panose="020B0503020204020204" pitchFamily="34" charset="-122"/>
              </a:rPr>
              <a:t>    f = (g + h) – (</a:t>
            </a:r>
            <a:r>
              <a:rPr lang="en-US" altLang="zh-CN" sz="1600" i="1" dirty="0" err="1">
                <a:latin typeface="Consolas" panose="020B0609020204030204" pitchFamily="49" charset="0"/>
                <a:ea typeface="微软雅黑" panose="020B0503020204020204" pitchFamily="34" charset="-122"/>
              </a:rPr>
              <a:t>i</a:t>
            </a:r>
            <a:r>
              <a:rPr lang="en-US" altLang="zh-CN" sz="1600" i="1" dirty="0">
                <a:latin typeface="Consolas" panose="020B0609020204030204" pitchFamily="49" charset="0"/>
                <a:ea typeface="微软雅黑" panose="020B0503020204020204" pitchFamily="34" charset="-122"/>
              </a:rPr>
              <a:t> + j);</a:t>
            </a:r>
          </a:p>
          <a:p>
            <a:pPr algn="l" eaLnBrk="1" hangingPunct="1">
              <a:buClr>
                <a:srgbClr val="CC0000"/>
              </a:buClr>
            </a:pPr>
            <a:r>
              <a:rPr lang="en-US" altLang="zh-CN" sz="1600" i="1" dirty="0">
                <a:latin typeface="Consolas" panose="020B0609020204030204" pitchFamily="49" charset="0"/>
                <a:ea typeface="微软雅黑" panose="020B0503020204020204" pitchFamily="34" charset="-122"/>
              </a:rPr>
              <a:t>    return f;</a:t>
            </a:r>
          </a:p>
          <a:p>
            <a:pPr algn="l" eaLnBrk="1" hangingPunct="1">
              <a:buClr>
                <a:srgbClr val="CC0000"/>
              </a:buClr>
            </a:pPr>
            <a:r>
              <a:rPr lang="en-US" altLang="zh-CN" sz="1600" i="1" dirty="0">
                <a:latin typeface="Consolas" panose="020B0609020204030204" pitchFamily="49" charset="0"/>
                <a:ea typeface="微软雅黑" panose="020B0503020204020204" pitchFamily="34" charset="-122"/>
              </a:rPr>
              <a:t>}</a:t>
            </a:r>
          </a:p>
        </p:txBody>
      </p:sp>
      <p:sp>
        <p:nvSpPr>
          <p:cNvPr id="29" name="文本框 28">
            <a:extLst>
              <a:ext uri="{FF2B5EF4-FFF2-40B4-BE49-F238E27FC236}">
                <a16:creationId xmlns:a16="http://schemas.microsoft.com/office/drawing/2014/main" id="{95060EEC-81F7-4CD6-9696-447FB9E71D80}"/>
              </a:ext>
            </a:extLst>
          </p:cNvPr>
          <p:cNvSpPr txBox="1"/>
          <p:nvPr/>
        </p:nvSpPr>
        <p:spPr>
          <a:xfrm>
            <a:off x="379613" y="4802014"/>
            <a:ext cx="2700868" cy="1015663"/>
          </a:xfrm>
          <a:prstGeom prst="rect">
            <a:avLst/>
          </a:prstGeom>
          <a:solidFill>
            <a:srgbClr val="D2EED0"/>
          </a:solidFill>
        </p:spPr>
        <p:txBody>
          <a:bodyPr wrap="square" rtlCol="0">
            <a:spAutoFit/>
          </a:bodyPr>
          <a:lstStyle/>
          <a:p>
            <a:pPr algn="ctr"/>
            <a:r>
              <a:rPr kumimoji="1" lang="zh-CN" altLang="en-US" sz="2000" b="1" dirty="0">
                <a:solidFill>
                  <a:schemeClr val="tx1"/>
                </a:solidFill>
                <a:latin typeface="+mn-lt"/>
                <a:ea typeface="黑体" panose="02010609060101010101" pitchFamily="49" charset="-122"/>
              </a:rPr>
              <a:t>问题：</a:t>
            </a:r>
            <a:r>
              <a:rPr kumimoji="1" lang="zh-CN" altLang="en-US" sz="2000" dirty="0">
                <a:solidFill>
                  <a:schemeClr val="tx1"/>
                </a:solidFill>
                <a:latin typeface="+mn-lt"/>
                <a:ea typeface="黑体" panose="02010609060101010101" pitchFamily="49" charset="-122"/>
              </a:rPr>
              <a:t>叶过程中是否需要保存和恢复寄存器</a:t>
            </a:r>
            <a:r>
              <a:rPr kumimoji="1" lang="en-US" altLang="zh-CN" sz="2000" dirty="0">
                <a:solidFill>
                  <a:schemeClr val="tx1"/>
                </a:solidFill>
                <a:latin typeface="+mn-lt"/>
                <a:ea typeface="黑体" panose="02010609060101010101" pitchFamily="49" charset="-122"/>
              </a:rPr>
              <a:t>$t0</a:t>
            </a:r>
            <a:r>
              <a:rPr kumimoji="1" lang="zh-CN" altLang="en-US" sz="2000" dirty="0">
                <a:solidFill>
                  <a:schemeClr val="tx1"/>
                </a:solidFill>
                <a:latin typeface="+mn-lt"/>
                <a:ea typeface="黑体" panose="02010609060101010101" pitchFamily="49" charset="-122"/>
              </a:rPr>
              <a:t>、</a:t>
            </a:r>
            <a:r>
              <a:rPr kumimoji="1" lang="en-US" altLang="zh-CN" sz="2000" dirty="0">
                <a:solidFill>
                  <a:schemeClr val="tx1"/>
                </a:solidFill>
                <a:latin typeface="+mn-lt"/>
                <a:ea typeface="黑体" panose="02010609060101010101" pitchFamily="49" charset="-122"/>
              </a:rPr>
              <a:t>$t1</a:t>
            </a:r>
            <a:r>
              <a:rPr kumimoji="1" lang="zh-CN" altLang="en-US" sz="2000" b="1" dirty="0">
                <a:solidFill>
                  <a:schemeClr val="tx1"/>
                </a:solidFill>
                <a:latin typeface="+mn-lt"/>
                <a:ea typeface="黑体" panose="02010609060101010101" pitchFamily="49" charset="-122"/>
              </a:rPr>
              <a:t>？</a:t>
            </a:r>
          </a:p>
        </p:txBody>
      </p:sp>
      <p:sp>
        <p:nvSpPr>
          <p:cNvPr id="30" name="Rectangle 1">
            <a:extLst>
              <a:ext uri="{FF2B5EF4-FFF2-40B4-BE49-F238E27FC236}">
                <a16:creationId xmlns:a16="http://schemas.microsoft.com/office/drawing/2014/main" id="{649679B6-BC25-4E26-89B4-8C348535B893}"/>
              </a:ext>
            </a:extLst>
          </p:cNvPr>
          <p:cNvSpPr/>
          <p:nvPr/>
        </p:nvSpPr>
        <p:spPr>
          <a:xfrm>
            <a:off x="4314765" y="1819962"/>
            <a:ext cx="4717958" cy="400110"/>
          </a:xfrm>
          <a:prstGeom prst="rect">
            <a:avLst/>
          </a:prstGeom>
        </p:spPr>
        <p:txBody>
          <a:bodyPr wrap="none">
            <a:spAutoFit/>
          </a:bodyPr>
          <a:lstStyle/>
          <a:p>
            <a:r>
              <a:rPr lang="en-US" sz="2000" b="1" i="1" dirty="0">
                <a:solidFill>
                  <a:srgbClr val="0432FF"/>
                </a:solidFill>
                <a:latin typeface="Consolas" panose="020B0609020204030204" pitchFamily="49" charset="0"/>
                <a:ea typeface="黑体" panose="02010609060101010101" pitchFamily="49" charset="-122"/>
              </a:rPr>
              <a:t>g, h, i, j</a:t>
            </a:r>
            <a:r>
              <a:rPr lang="zh-CN" altLang="en-US" sz="2000" b="1" dirty="0">
                <a:solidFill>
                  <a:srgbClr val="0432FF"/>
                </a:solidFill>
                <a:latin typeface="+mn-lt"/>
                <a:ea typeface="黑体" panose="02010609060101010101" pitchFamily="49" charset="-122"/>
              </a:rPr>
              <a:t>用寄存器</a:t>
            </a:r>
            <a:r>
              <a:rPr lang="en-US" altLang="zh-CN" sz="2000" b="1" i="1" dirty="0">
                <a:solidFill>
                  <a:srgbClr val="0432FF"/>
                </a:solidFill>
                <a:latin typeface="Consolas" panose="020B0609020204030204" pitchFamily="49" charset="0"/>
                <a:ea typeface="黑体" panose="02010609060101010101" pitchFamily="49" charset="-122"/>
              </a:rPr>
              <a:t>$</a:t>
            </a:r>
            <a:r>
              <a:rPr lang="en-US" sz="2000" b="1" i="1" dirty="0">
                <a:solidFill>
                  <a:srgbClr val="0432FF"/>
                </a:solidFill>
                <a:latin typeface="Consolas" panose="020B0609020204030204" pitchFamily="49" charset="0"/>
                <a:ea typeface="黑体" panose="02010609060101010101" pitchFamily="49" charset="-122"/>
              </a:rPr>
              <a:t>a0-$a3</a:t>
            </a:r>
            <a:r>
              <a:rPr lang="zh-CN" altLang="en-US" sz="2000" b="1" dirty="0">
                <a:solidFill>
                  <a:srgbClr val="0432FF"/>
                </a:solidFill>
                <a:latin typeface="+mn-lt"/>
                <a:ea typeface="黑体" panose="02010609060101010101" pitchFamily="49" charset="-122"/>
              </a:rPr>
              <a:t>进行传输 </a:t>
            </a:r>
          </a:p>
        </p:txBody>
      </p:sp>
      <p:sp>
        <p:nvSpPr>
          <p:cNvPr id="9" name="Text Box 5">
            <a:extLst>
              <a:ext uri="{FF2B5EF4-FFF2-40B4-BE49-F238E27FC236}">
                <a16:creationId xmlns:a16="http://schemas.microsoft.com/office/drawing/2014/main" id="{59E2FA16-8737-4590-86B7-F80DCD2BC7CA}"/>
              </a:ext>
            </a:extLst>
          </p:cNvPr>
          <p:cNvSpPr txBox="1">
            <a:spLocks noChangeArrowheads="1"/>
          </p:cNvSpPr>
          <p:nvPr/>
        </p:nvSpPr>
        <p:spPr bwMode="auto">
          <a:xfrm>
            <a:off x="3252036" y="2315747"/>
            <a:ext cx="5842002" cy="4401205"/>
          </a:xfrm>
          <a:prstGeom prst="rect">
            <a:avLst/>
          </a:prstGeom>
          <a:noFill/>
          <a:ln w="9525">
            <a:solidFill>
              <a:srgbClr val="0432FF"/>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l" eaLnBrk="1" hangingPunct="1">
              <a:buClr>
                <a:srgbClr val="CC0000"/>
              </a:buClr>
            </a:pPr>
            <a:r>
              <a:rPr lang="en-US" altLang="zh-CN" sz="2000" i="1" dirty="0" err="1">
                <a:latin typeface="Consolas" panose="020B0609020204030204" pitchFamily="49" charset="0"/>
                <a:ea typeface="微软雅黑" panose="020B0503020204020204" pitchFamily="34" charset="-122"/>
              </a:rPr>
              <a:t>leaf_example</a:t>
            </a:r>
            <a:r>
              <a:rPr lang="en-US" altLang="zh-CN" sz="2000" i="1" dirty="0">
                <a:latin typeface="Consolas" panose="020B0609020204030204" pitchFamily="49" charset="0"/>
                <a:ea typeface="微软雅黑" panose="020B0503020204020204" pitchFamily="34" charset="-122"/>
              </a:rPr>
              <a:t>:</a:t>
            </a:r>
          </a:p>
          <a:p>
            <a:pPr algn="l" eaLnBrk="1" hangingPunct="1">
              <a:buClr>
                <a:srgbClr val="CC0000"/>
              </a:buClr>
            </a:pPr>
            <a:r>
              <a:rPr lang="en-US" altLang="zh-CN" sz="2000" i="1" dirty="0">
                <a:latin typeface="Consolas" panose="020B0609020204030204" pitchFamily="49" charset="0"/>
                <a:ea typeface="微软雅黑" panose="020B0503020204020204" pitchFamily="34" charset="-122"/>
              </a:rPr>
              <a:t>   </a:t>
            </a:r>
            <a:r>
              <a:rPr lang="en-US" altLang="zh-CN" sz="2000" i="1" dirty="0" err="1">
                <a:latin typeface="Consolas" panose="020B0609020204030204" pitchFamily="49" charset="0"/>
                <a:ea typeface="微软雅黑" panose="020B0503020204020204" pitchFamily="34" charset="-122"/>
              </a:rPr>
              <a:t>addi</a:t>
            </a:r>
            <a:r>
              <a:rPr lang="en-US" altLang="zh-CN" sz="2000" i="1" dirty="0">
                <a:latin typeface="Consolas" panose="020B0609020204030204" pitchFamily="49" charset="0"/>
                <a:ea typeface="微软雅黑" panose="020B0503020204020204" pitchFamily="34" charset="-122"/>
              </a:rPr>
              <a:t>    $</a:t>
            </a:r>
            <a:r>
              <a:rPr lang="en-US" altLang="zh-CN" sz="2000" i="1" dirty="0" err="1">
                <a:latin typeface="Consolas" panose="020B0609020204030204" pitchFamily="49" charset="0"/>
                <a:ea typeface="微软雅黑" panose="020B0503020204020204" pitchFamily="34" charset="-122"/>
              </a:rPr>
              <a:t>sp</a:t>
            </a:r>
            <a:r>
              <a:rPr lang="en-US" altLang="zh-CN" sz="2000" i="1" dirty="0">
                <a:latin typeface="Consolas" panose="020B0609020204030204" pitchFamily="49" charset="0"/>
                <a:ea typeface="微软雅黑" panose="020B0503020204020204" pitchFamily="34" charset="-122"/>
              </a:rPr>
              <a:t>,  $</a:t>
            </a:r>
            <a:r>
              <a:rPr lang="en-US" altLang="zh-CN" sz="2000" i="1" dirty="0" err="1">
                <a:latin typeface="Consolas" panose="020B0609020204030204" pitchFamily="49" charset="0"/>
                <a:ea typeface="微软雅黑" panose="020B0503020204020204" pitchFamily="34" charset="-122"/>
              </a:rPr>
              <a:t>sp</a:t>
            </a:r>
            <a:r>
              <a:rPr lang="en-US" altLang="zh-CN" sz="2000" i="1" dirty="0">
                <a:latin typeface="Consolas" panose="020B0609020204030204" pitchFamily="49" charset="0"/>
                <a:ea typeface="微软雅黑" panose="020B0503020204020204" pitchFamily="34" charset="-122"/>
              </a:rPr>
              <a:t>,  -12</a:t>
            </a:r>
          </a:p>
          <a:p>
            <a:pPr algn="l" eaLnBrk="1" hangingPunct="1">
              <a:buClr>
                <a:srgbClr val="CC0000"/>
              </a:buClr>
            </a:pPr>
            <a:r>
              <a:rPr lang="en-US" altLang="zh-CN" sz="2000" i="1" dirty="0">
                <a:solidFill>
                  <a:srgbClr val="00B050"/>
                </a:solidFill>
                <a:latin typeface="Consolas" panose="020B0609020204030204" pitchFamily="49" charset="0"/>
                <a:ea typeface="微软雅黑" panose="020B0503020204020204" pitchFamily="34" charset="-122"/>
              </a:rPr>
              <a:t>   </a:t>
            </a:r>
            <a:r>
              <a:rPr lang="en-US" altLang="zh-CN" sz="2000" i="1" dirty="0" err="1">
                <a:solidFill>
                  <a:srgbClr val="00B050"/>
                </a:solidFill>
                <a:latin typeface="Consolas" panose="020B0609020204030204" pitchFamily="49" charset="0"/>
                <a:ea typeface="微软雅黑" panose="020B0503020204020204" pitchFamily="34" charset="-122"/>
              </a:rPr>
              <a:t>sw</a:t>
            </a:r>
            <a:r>
              <a:rPr lang="en-US" altLang="zh-CN" sz="2000" i="1" dirty="0">
                <a:solidFill>
                  <a:srgbClr val="00B050"/>
                </a:solidFill>
                <a:latin typeface="Consolas" panose="020B0609020204030204" pitchFamily="49" charset="0"/>
                <a:ea typeface="微软雅黑" panose="020B0503020204020204" pitchFamily="34" charset="-122"/>
              </a:rPr>
              <a:t>      $t1, 8($</a:t>
            </a:r>
            <a:r>
              <a:rPr lang="en-US" altLang="zh-CN" sz="2000" i="1" dirty="0" err="1">
                <a:solidFill>
                  <a:srgbClr val="00B050"/>
                </a:solidFill>
                <a:latin typeface="Consolas" panose="020B0609020204030204" pitchFamily="49" charset="0"/>
                <a:ea typeface="微软雅黑" panose="020B0503020204020204" pitchFamily="34" charset="-122"/>
              </a:rPr>
              <a:t>sp</a:t>
            </a:r>
            <a:r>
              <a:rPr lang="en-US" altLang="zh-CN" sz="2000" i="1" dirty="0">
                <a:solidFill>
                  <a:srgbClr val="00B050"/>
                </a:solidFill>
                <a:latin typeface="Consolas" panose="020B0609020204030204" pitchFamily="49" charset="0"/>
                <a:ea typeface="微软雅黑" panose="020B0503020204020204" pitchFamily="34" charset="-122"/>
              </a:rPr>
              <a:t>)</a:t>
            </a:r>
          </a:p>
          <a:p>
            <a:pPr algn="l" eaLnBrk="1" hangingPunct="1">
              <a:buClr>
                <a:srgbClr val="CC0000"/>
              </a:buClr>
            </a:pPr>
            <a:r>
              <a:rPr lang="en-US" altLang="zh-CN" sz="2000" i="1" dirty="0">
                <a:solidFill>
                  <a:srgbClr val="00B050"/>
                </a:solidFill>
                <a:latin typeface="Consolas" panose="020B0609020204030204" pitchFamily="49" charset="0"/>
                <a:ea typeface="微软雅黑" panose="020B0503020204020204" pitchFamily="34" charset="-122"/>
              </a:rPr>
              <a:t>   </a:t>
            </a:r>
            <a:r>
              <a:rPr lang="en-US" altLang="zh-CN" sz="2000" i="1" dirty="0" err="1">
                <a:solidFill>
                  <a:srgbClr val="00B050"/>
                </a:solidFill>
                <a:latin typeface="Consolas" panose="020B0609020204030204" pitchFamily="49" charset="0"/>
                <a:ea typeface="微软雅黑" panose="020B0503020204020204" pitchFamily="34" charset="-122"/>
              </a:rPr>
              <a:t>sw</a:t>
            </a:r>
            <a:r>
              <a:rPr lang="en-US" altLang="zh-CN" sz="2000" i="1" dirty="0">
                <a:solidFill>
                  <a:srgbClr val="00B050"/>
                </a:solidFill>
                <a:latin typeface="Consolas" panose="020B0609020204030204" pitchFamily="49" charset="0"/>
                <a:ea typeface="微软雅黑" panose="020B0503020204020204" pitchFamily="34" charset="-122"/>
              </a:rPr>
              <a:t>      $t0, 4($</a:t>
            </a:r>
            <a:r>
              <a:rPr lang="en-US" altLang="zh-CN" sz="2000" i="1" dirty="0" err="1">
                <a:solidFill>
                  <a:srgbClr val="00B050"/>
                </a:solidFill>
                <a:latin typeface="Consolas" panose="020B0609020204030204" pitchFamily="49" charset="0"/>
                <a:ea typeface="微软雅黑" panose="020B0503020204020204" pitchFamily="34" charset="-122"/>
              </a:rPr>
              <a:t>sp</a:t>
            </a:r>
            <a:r>
              <a:rPr lang="en-US" altLang="zh-CN" sz="2000" i="1" dirty="0">
                <a:solidFill>
                  <a:srgbClr val="00B050"/>
                </a:solidFill>
                <a:latin typeface="Consolas" panose="020B0609020204030204" pitchFamily="49" charset="0"/>
                <a:ea typeface="微软雅黑" panose="020B0503020204020204" pitchFamily="34" charset="-122"/>
              </a:rPr>
              <a:t>)</a:t>
            </a:r>
          </a:p>
          <a:p>
            <a:pPr algn="l" eaLnBrk="1" hangingPunct="1">
              <a:buClr>
                <a:srgbClr val="CC0000"/>
              </a:buClr>
            </a:pPr>
            <a:r>
              <a:rPr lang="en-US" altLang="zh-CN" sz="2000" i="1" dirty="0">
                <a:latin typeface="Consolas" panose="020B0609020204030204" pitchFamily="49" charset="0"/>
                <a:ea typeface="微软雅黑" panose="020B0503020204020204" pitchFamily="34" charset="-122"/>
              </a:rPr>
              <a:t>   </a:t>
            </a:r>
            <a:r>
              <a:rPr lang="en-US" altLang="zh-CN" sz="2000" i="1" dirty="0" err="1">
                <a:latin typeface="Consolas" panose="020B0609020204030204" pitchFamily="49" charset="0"/>
                <a:ea typeface="微软雅黑" panose="020B0503020204020204" pitchFamily="34" charset="-122"/>
              </a:rPr>
              <a:t>sw</a:t>
            </a:r>
            <a:r>
              <a:rPr lang="en-US" altLang="zh-CN" sz="2000" i="1" dirty="0">
                <a:latin typeface="Consolas" panose="020B0609020204030204" pitchFamily="49" charset="0"/>
                <a:ea typeface="微软雅黑" panose="020B0503020204020204" pitchFamily="34" charset="-122"/>
              </a:rPr>
              <a:t>      $s0, 0($</a:t>
            </a:r>
            <a:r>
              <a:rPr lang="en-US" altLang="zh-CN" sz="2000" i="1" dirty="0" err="1">
                <a:latin typeface="Consolas" panose="020B0609020204030204" pitchFamily="49" charset="0"/>
                <a:ea typeface="微软雅黑" panose="020B0503020204020204" pitchFamily="34" charset="-122"/>
              </a:rPr>
              <a:t>sp</a:t>
            </a:r>
            <a:r>
              <a:rPr lang="en-US" altLang="zh-CN" sz="2000" i="1" dirty="0">
                <a:latin typeface="Consolas" panose="020B0609020204030204" pitchFamily="49" charset="0"/>
                <a:ea typeface="微软雅黑" panose="020B0503020204020204" pitchFamily="34" charset="-122"/>
              </a:rPr>
              <a:t>)</a:t>
            </a:r>
          </a:p>
          <a:p>
            <a:pPr algn="l" eaLnBrk="1" hangingPunct="1">
              <a:buClr>
                <a:srgbClr val="CC0000"/>
              </a:buClr>
            </a:pPr>
            <a:r>
              <a:rPr lang="en-US" altLang="zh-CN" sz="2000" i="1" dirty="0">
                <a:solidFill>
                  <a:srgbClr val="0432FF"/>
                </a:solidFill>
                <a:latin typeface="Consolas" panose="020B0609020204030204" pitchFamily="49" charset="0"/>
                <a:ea typeface="微软雅黑" panose="020B0503020204020204" pitchFamily="34" charset="-122"/>
              </a:rPr>
              <a:t>   add     $t0, $a0, $a1  # $t0=</a:t>
            </a:r>
            <a:r>
              <a:rPr lang="en-US" altLang="zh-CN" sz="2000" i="1" dirty="0" err="1">
                <a:solidFill>
                  <a:srgbClr val="0432FF"/>
                </a:solidFill>
                <a:latin typeface="Consolas" panose="020B0609020204030204" pitchFamily="49" charset="0"/>
                <a:ea typeface="微软雅黑" panose="020B0503020204020204" pitchFamily="34" charset="-122"/>
              </a:rPr>
              <a:t>g+h</a:t>
            </a:r>
            <a:endParaRPr lang="en-US" altLang="zh-CN" sz="2000" i="1" dirty="0">
              <a:solidFill>
                <a:srgbClr val="0432FF"/>
              </a:solidFill>
              <a:latin typeface="Consolas" panose="020B0609020204030204" pitchFamily="49" charset="0"/>
              <a:ea typeface="微软雅黑" panose="020B0503020204020204" pitchFamily="34" charset="-122"/>
            </a:endParaRPr>
          </a:p>
          <a:p>
            <a:pPr algn="l" eaLnBrk="1" hangingPunct="1">
              <a:buClr>
                <a:srgbClr val="CC0000"/>
              </a:buClr>
            </a:pPr>
            <a:r>
              <a:rPr lang="en-US" altLang="zh-CN" sz="2000" i="1" dirty="0">
                <a:solidFill>
                  <a:srgbClr val="0432FF"/>
                </a:solidFill>
                <a:latin typeface="Consolas" panose="020B0609020204030204" pitchFamily="49" charset="0"/>
                <a:ea typeface="微软雅黑" panose="020B0503020204020204" pitchFamily="34" charset="-122"/>
              </a:rPr>
              <a:t>   add     $t1, $a2, $a3  # $t1=</a:t>
            </a:r>
            <a:r>
              <a:rPr lang="en-US" altLang="zh-CN" sz="2000" i="1" dirty="0" err="1">
                <a:solidFill>
                  <a:srgbClr val="0432FF"/>
                </a:solidFill>
                <a:latin typeface="Consolas" panose="020B0609020204030204" pitchFamily="49" charset="0"/>
                <a:ea typeface="微软雅黑" panose="020B0503020204020204" pitchFamily="34" charset="-122"/>
              </a:rPr>
              <a:t>i+j</a:t>
            </a:r>
            <a:endParaRPr lang="en-US" altLang="zh-CN" sz="2000" i="1" dirty="0">
              <a:solidFill>
                <a:srgbClr val="0432FF"/>
              </a:solidFill>
              <a:latin typeface="Consolas" panose="020B0609020204030204" pitchFamily="49" charset="0"/>
              <a:ea typeface="微软雅黑" panose="020B0503020204020204" pitchFamily="34" charset="-122"/>
            </a:endParaRPr>
          </a:p>
          <a:p>
            <a:pPr algn="l" eaLnBrk="1" hangingPunct="1">
              <a:buClr>
                <a:srgbClr val="CC0000"/>
              </a:buClr>
            </a:pPr>
            <a:r>
              <a:rPr lang="en-US" altLang="zh-CN" sz="2000" i="1" dirty="0">
                <a:solidFill>
                  <a:srgbClr val="0432FF"/>
                </a:solidFill>
                <a:latin typeface="Consolas" panose="020B0609020204030204" pitchFamily="49" charset="0"/>
                <a:ea typeface="微软雅黑" panose="020B0503020204020204" pitchFamily="34" charset="-122"/>
              </a:rPr>
              <a:t>   sub     $s0, $t0, $t1  # $s0=$t0-$t1</a:t>
            </a:r>
          </a:p>
          <a:p>
            <a:pPr algn="l" eaLnBrk="1" hangingPunct="1">
              <a:buClr>
                <a:srgbClr val="CC0000"/>
              </a:buClr>
            </a:pPr>
            <a:r>
              <a:rPr lang="en-US" altLang="zh-CN" sz="2000" i="1" dirty="0">
                <a:solidFill>
                  <a:srgbClr val="0432FF"/>
                </a:solidFill>
                <a:latin typeface="Consolas" panose="020B0609020204030204" pitchFamily="49" charset="0"/>
                <a:ea typeface="微软雅黑" panose="020B0503020204020204" pitchFamily="34" charset="-122"/>
              </a:rPr>
              <a:t>   add     $v0, $s0, $zero</a:t>
            </a:r>
          </a:p>
          <a:p>
            <a:pPr algn="l" eaLnBrk="1" hangingPunct="1">
              <a:buClr>
                <a:srgbClr val="CC0000"/>
              </a:buClr>
            </a:pPr>
            <a:r>
              <a:rPr lang="en-US" altLang="zh-CN" sz="2000" i="1" dirty="0">
                <a:latin typeface="Consolas" panose="020B0609020204030204" pitchFamily="49" charset="0"/>
                <a:ea typeface="微软雅黑" panose="020B0503020204020204" pitchFamily="34" charset="-122"/>
              </a:rPr>
              <a:t>   </a:t>
            </a:r>
            <a:r>
              <a:rPr lang="en-US" altLang="zh-CN" sz="2000" i="1" dirty="0" err="1">
                <a:latin typeface="Consolas" panose="020B0609020204030204" pitchFamily="49" charset="0"/>
                <a:ea typeface="微软雅黑" panose="020B0503020204020204" pitchFamily="34" charset="-122"/>
              </a:rPr>
              <a:t>lw</a:t>
            </a:r>
            <a:r>
              <a:rPr lang="en-US" altLang="zh-CN" sz="2000" i="1" dirty="0">
                <a:latin typeface="Consolas" panose="020B0609020204030204" pitchFamily="49" charset="0"/>
                <a:ea typeface="微软雅黑" panose="020B0503020204020204" pitchFamily="34" charset="-122"/>
              </a:rPr>
              <a:t>      $s0, 0($</a:t>
            </a:r>
            <a:r>
              <a:rPr lang="en-US" altLang="zh-CN" sz="2000" i="1" dirty="0" err="1">
                <a:latin typeface="Consolas" panose="020B0609020204030204" pitchFamily="49" charset="0"/>
                <a:ea typeface="微软雅黑" panose="020B0503020204020204" pitchFamily="34" charset="-122"/>
              </a:rPr>
              <a:t>sp</a:t>
            </a:r>
            <a:r>
              <a:rPr lang="en-US" altLang="zh-CN" sz="2000" i="1" dirty="0">
                <a:latin typeface="Consolas" panose="020B0609020204030204" pitchFamily="49" charset="0"/>
                <a:ea typeface="微软雅黑" panose="020B0503020204020204" pitchFamily="34" charset="-122"/>
              </a:rPr>
              <a:t>)</a:t>
            </a:r>
          </a:p>
          <a:p>
            <a:pPr algn="l" eaLnBrk="1" hangingPunct="1">
              <a:buClr>
                <a:srgbClr val="CC0000"/>
              </a:buClr>
            </a:pPr>
            <a:r>
              <a:rPr lang="en-US" altLang="zh-CN" sz="2000" i="1" dirty="0">
                <a:solidFill>
                  <a:srgbClr val="00B050"/>
                </a:solidFill>
                <a:latin typeface="Consolas" panose="020B0609020204030204" pitchFamily="49" charset="0"/>
                <a:ea typeface="微软雅黑" panose="020B0503020204020204" pitchFamily="34" charset="-122"/>
              </a:rPr>
              <a:t>   </a:t>
            </a:r>
            <a:r>
              <a:rPr lang="en-US" altLang="zh-CN" sz="2000" i="1" dirty="0" err="1">
                <a:solidFill>
                  <a:srgbClr val="00B050"/>
                </a:solidFill>
                <a:latin typeface="Consolas" panose="020B0609020204030204" pitchFamily="49" charset="0"/>
                <a:ea typeface="微软雅黑" panose="020B0503020204020204" pitchFamily="34" charset="-122"/>
              </a:rPr>
              <a:t>lw</a:t>
            </a:r>
            <a:r>
              <a:rPr lang="en-US" altLang="zh-CN" sz="2000" i="1" dirty="0">
                <a:solidFill>
                  <a:srgbClr val="00B050"/>
                </a:solidFill>
                <a:latin typeface="Consolas" panose="020B0609020204030204" pitchFamily="49" charset="0"/>
                <a:ea typeface="微软雅黑" panose="020B0503020204020204" pitchFamily="34" charset="-122"/>
              </a:rPr>
              <a:t>      $t0, 4($</a:t>
            </a:r>
            <a:r>
              <a:rPr lang="en-US" altLang="zh-CN" sz="2000" i="1" dirty="0" err="1">
                <a:solidFill>
                  <a:srgbClr val="00B050"/>
                </a:solidFill>
                <a:latin typeface="Consolas" panose="020B0609020204030204" pitchFamily="49" charset="0"/>
                <a:ea typeface="微软雅黑" panose="020B0503020204020204" pitchFamily="34" charset="-122"/>
              </a:rPr>
              <a:t>sp</a:t>
            </a:r>
            <a:r>
              <a:rPr lang="en-US" altLang="zh-CN" sz="2000" i="1" dirty="0">
                <a:solidFill>
                  <a:srgbClr val="00B050"/>
                </a:solidFill>
                <a:latin typeface="Consolas" panose="020B0609020204030204" pitchFamily="49" charset="0"/>
                <a:ea typeface="微软雅黑" panose="020B0503020204020204" pitchFamily="34" charset="-122"/>
              </a:rPr>
              <a:t>)</a:t>
            </a:r>
          </a:p>
          <a:p>
            <a:pPr algn="l" eaLnBrk="1" hangingPunct="1">
              <a:buClr>
                <a:srgbClr val="CC0000"/>
              </a:buClr>
            </a:pPr>
            <a:r>
              <a:rPr lang="en-US" altLang="zh-CN" sz="2000" i="1" dirty="0">
                <a:solidFill>
                  <a:srgbClr val="00B050"/>
                </a:solidFill>
                <a:latin typeface="Consolas" panose="020B0609020204030204" pitchFamily="49" charset="0"/>
                <a:ea typeface="微软雅黑" panose="020B0503020204020204" pitchFamily="34" charset="-122"/>
              </a:rPr>
              <a:t>   </a:t>
            </a:r>
            <a:r>
              <a:rPr lang="en-US" altLang="zh-CN" sz="2000" i="1" dirty="0" err="1">
                <a:solidFill>
                  <a:srgbClr val="00B050"/>
                </a:solidFill>
                <a:latin typeface="Consolas" panose="020B0609020204030204" pitchFamily="49" charset="0"/>
                <a:ea typeface="微软雅黑" panose="020B0503020204020204" pitchFamily="34" charset="-122"/>
              </a:rPr>
              <a:t>lw</a:t>
            </a:r>
            <a:r>
              <a:rPr lang="en-US" altLang="zh-CN" sz="2000" i="1" dirty="0">
                <a:solidFill>
                  <a:srgbClr val="00B050"/>
                </a:solidFill>
                <a:latin typeface="Consolas" panose="020B0609020204030204" pitchFamily="49" charset="0"/>
                <a:ea typeface="微软雅黑" panose="020B0503020204020204" pitchFamily="34" charset="-122"/>
              </a:rPr>
              <a:t>      $t1, 8($</a:t>
            </a:r>
            <a:r>
              <a:rPr lang="en-US" altLang="zh-CN" sz="2000" i="1" dirty="0" err="1">
                <a:solidFill>
                  <a:srgbClr val="00B050"/>
                </a:solidFill>
                <a:latin typeface="Consolas" panose="020B0609020204030204" pitchFamily="49" charset="0"/>
                <a:ea typeface="微软雅黑" panose="020B0503020204020204" pitchFamily="34" charset="-122"/>
              </a:rPr>
              <a:t>sp</a:t>
            </a:r>
            <a:r>
              <a:rPr lang="en-US" altLang="zh-CN" sz="2000" i="1" dirty="0">
                <a:solidFill>
                  <a:srgbClr val="00B050"/>
                </a:solidFill>
                <a:latin typeface="Consolas" panose="020B0609020204030204" pitchFamily="49" charset="0"/>
                <a:ea typeface="微软雅黑" panose="020B0503020204020204" pitchFamily="34" charset="-122"/>
              </a:rPr>
              <a:t>)</a:t>
            </a:r>
          </a:p>
          <a:p>
            <a:pPr algn="l" eaLnBrk="1" hangingPunct="1">
              <a:buClr>
                <a:srgbClr val="CC0000"/>
              </a:buClr>
            </a:pPr>
            <a:r>
              <a:rPr lang="en-US" altLang="zh-CN" sz="2000" i="1" dirty="0">
                <a:latin typeface="Consolas" panose="020B0609020204030204" pitchFamily="49" charset="0"/>
                <a:ea typeface="微软雅黑" panose="020B0503020204020204" pitchFamily="34" charset="-122"/>
              </a:rPr>
              <a:t>   </a:t>
            </a:r>
            <a:r>
              <a:rPr lang="en-US" altLang="zh-CN" sz="2000" i="1" dirty="0" err="1">
                <a:latin typeface="Consolas" panose="020B0609020204030204" pitchFamily="49" charset="0"/>
                <a:ea typeface="微软雅黑" panose="020B0503020204020204" pitchFamily="34" charset="-122"/>
              </a:rPr>
              <a:t>addi</a:t>
            </a:r>
            <a:r>
              <a:rPr lang="en-US" altLang="zh-CN" sz="2000" i="1" dirty="0">
                <a:latin typeface="Consolas" panose="020B0609020204030204" pitchFamily="49" charset="0"/>
                <a:ea typeface="微软雅黑" panose="020B0503020204020204" pitchFamily="34" charset="-122"/>
              </a:rPr>
              <a:t>    $</a:t>
            </a:r>
            <a:r>
              <a:rPr lang="en-US" altLang="zh-CN" sz="2000" i="1" dirty="0" err="1">
                <a:latin typeface="Consolas" panose="020B0609020204030204" pitchFamily="49" charset="0"/>
                <a:ea typeface="微软雅黑" panose="020B0503020204020204" pitchFamily="34" charset="-122"/>
              </a:rPr>
              <a:t>sp</a:t>
            </a:r>
            <a:r>
              <a:rPr lang="en-US" altLang="zh-CN" sz="2000" i="1" dirty="0">
                <a:latin typeface="Consolas" panose="020B0609020204030204" pitchFamily="49" charset="0"/>
                <a:ea typeface="微软雅黑" panose="020B0503020204020204" pitchFamily="34" charset="-122"/>
              </a:rPr>
              <a:t>, $</a:t>
            </a:r>
            <a:r>
              <a:rPr lang="en-US" altLang="zh-CN" sz="2000" i="1" dirty="0" err="1">
                <a:latin typeface="Consolas" panose="020B0609020204030204" pitchFamily="49" charset="0"/>
                <a:ea typeface="微软雅黑" panose="020B0503020204020204" pitchFamily="34" charset="-122"/>
              </a:rPr>
              <a:t>sp</a:t>
            </a:r>
            <a:r>
              <a:rPr lang="en-US" altLang="zh-CN" sz="2000" i="1" dirty="0">
                <a:latin typeface="Consolas" panose="020B0609020204030204" pitchFamily="49" charset="0"/>
                <a:ea typeface="微软雅黑" panose="020B0503020204020204" pitchFamily="34" charset="-122"/>
              </a:rPr>
              <a:t>, 12</a:t>
            </a:r>
          </a:p>
          <a:p>
            <a:pPr algn="l" eaLnBrk="1" hangingPunct="1">
              <a:buClr>
                <a:srgbClr val="CC0000"/>
              </a:buClr>
            </a:pPr>
            <a:r>
              <a:rPr lang="en-US" altLang="zh-CN" sz="2000" i="1" dirty="0">
                <a:latin typeface="Consolas" panose="020B0609020204030204" pitchFamily="49" charset="0"/>
                <a:ea typeface="微软雅黑" panose="020B0503020204020204" pitchFamily="34" charset="-122"/>
              </a:rPr>
              <a:t>   </a:t>
            </a:r>
            <a:r>
              <a:rPr lang="en-US" altLang="zh-CN" sz="2000" i="1" dirty="0" err="1">
                <a:latin typeface="Consolas" panose="020B0609020204030204" pitchFamily="49" charset="0"/>
                <a:ea typeface="微软雅黑" panose="020B0503020204020204" pitchFamily="34" charset="-122"/>
              </a:rPr>
              <a:t>jr</a:t>
            </a:r>
            <a:r>
              <a:rPr lang="en-US" altLang="zh-CN" sz="2000" i="1" dirty="0">
                <a:latin typeface="Consolas" panose="020B0609020204030204" pitchFamily="49" charset="0"/>
                <a:ea typeface="微软雅黑" panose="020B0503020204020204" pitchFamily="34" charset="-122"/>
              </a:rPr>
              <a:t>      $ra</a:t>
            </a:r>
          </a:p>
        </p:txBody>
      </p:sp>
      <p:sp>
        <p:nvSpPr>
          <p:cNvPr id="3" name="Title 4">
            <a:extLst>
              <a:ext uri="{FF2B5EF4-FFF2-40B4-BE49-F238E27FC236}">
                <a16:creationId xmlns:a16="http://schemas.microsoft.com/office/drawing/2014/main" id="{243074D1-2B0B-DEA2-C66E-FA94FEEC3F63}"/>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sz="4000" dirty="0">
                <a:latin typeface="微软雅黑 (标题)"/>
              </a:rPr>
              <a:t>叶过程</a:t>
            </a:r>
            <a:endParaRPr lang="en-CN" kern="0" dirty="0"/>
          </a:p>
        </p:txBody>
      </p:sp>
    </p:spTree>
    <p:extLst>
      <p:ext uri="{BB962C8B-B14F-4D97-AF65-F5344CB8AC3E}">
        <p14:creationId xmlns:p14="http://schemas.microsoft.com/office/powerpoint/2010/main" val="242742497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5E3845A9-7E82-4657-B497-16CB36280F3B}"/>
              </a:ext>
            </a:extLst>
          </p:cNvPr>
          <p:cNvSpPr>
            <a:spLocks noGrp="1"/>
          </p:cNvSpPr>
          <p:nvPr>
            <p:ph type="sldNum" sz="quarter" idx="12"/>
          </p:nvPr>
        </p:nvSpPr>
        <p:spPr/>
        <p:txBody>
          <a:bodyPr/>
          <a:lstStyle/>
          <a:p>
            <a:fld id="{176ACFD1-D213-4B9C-817B-45486DBF105A}" type="slidenum">
              <a:rPr lang="en-US" smtClean="0">
                <a:solidFill>
                  <a:prstClr val="black"/>
                </a:solidFill>
              </a:rPr>
              <a:pPr/>
              <a:t>96</a:t>
            </a:fld>
            <a:endParaRPr lang="en-US">
              <a:solidFill>
                <a:prstClr val="black"/>
              </a:solidFill>
            </a:endParaRPr>
          </a:p>
        </p:txBody>
      </p:sp>
      <p:sp>
        <p:nvSpPr>
          <p:cNvPr id="18" name="Text Box 4">
            <a:extLst>
              <a:ext uri="{FF2B5EF4-FFF2-40B4-BE49-F238E27FC236}">
                <a16:creationId xmlns:a16="http://schemas.microsoft.com/office/drawing/2014/main" id="{FD92682E-E4AA-4472-93F5-5465D102BA15}"/>
              </a:ext>
            </a:extLst>
          </p:cNvPr>
          <p:cNvSpPr txBox="1">
            <a:spLocks noChangeArrowheads="1"/>
          </p:cNvSpPr>
          <p:nvPr/>
        </p:nvSpPr>
        <p:spPr bwMode="auto">
          <a:xfrm>
            <a:off x="443257" y="1401937"/>
            <a:ext cx="4128743" cy="2246769"/>
          </a:xfrm>
          <a:prstGeom prst="rect">
            <a:avLst/>
          </a:prstGeom>
          <a:noFill/>
          <a:ln w="9525">
            <a:solidFill>
              <a:srgbClr val="0432FF"/>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l" eaLnBrk="1" hangingPunct="1">
              <a:buClr>
                <a:srgbClr val="CC0000"/>
              </a:buClr>
            </a:pPr>
            <a:r>
              <a:rPr lang="en-US" altLang="zh-CN" sz="2000" i="1">
                <a:latin typeface="Consolas" panose="020B0609020204030204" pitchFamily="49" charset="0"/>
                <a:ea typeface="微软雅黑" panose="020B0503020204020204" pitchFamily="34" charset="-122"/>
              </a:rPr>
              <a:t>int  </a:t>
            </a:r>
            <a:r>
              <a:rPr lang="en-US" altLang="zh-CN" sz="2000" i="1" err="1">
                <a:latin typeface="Consolas" panose="020B0609020204030204" pitchFamily="49" charset="0"/>
                <a:ea typeface="微软雅黑" panose="020B0503020204020204" pitchFamily="34" charset="-122"/>
              </a:rPr>
              <a:t>leaf_example</a:t>
            </a:r>
            <a:r>
              <a:rPr lang="en-US" altLang="zh-CN" sz="2000" i="1">
                <a:latin typeface="Consolas" panose="020B0609020204030204" pitchFamily="49" charset="0"/>
                <a:ea typeface="微软雅黑" panose="020B0503020204020204" pitchFamily="34" charset="-122"/>
              </a:rPr>
              <a:t> (int g, int h, int i, int j)</a:t>
            </a:r>
          </a:p>
          <a:p>
            <a:pPr algn="l" eaLnBrk="1" hangingPunct="1">
              <a:buClr>
                <a:srgbClr val="CC0000"/>
              </a:buClr>
            </a:pPr>
            <a:r>
              <a:rPr lang="en-US" altLang="zh-CN" sz="2000" i="1">
                <a:latin typeface="Consolas" panose="020B0609020204030204" pitchFamily="49" charset="0"/>
                <a:ea typeface="微软雅黑" panose="020B0503020204020204" pitchFamily="34" charset="-122"/>
              </a:rPr>
              <a:t>{ </a:t>
            </a:r>
          </a:p>
          <a:p>
            <a:pPr algn="l" eaLnBrk="1" hangingPunct="1">
              <a:buClr>
                <a:srgbClr val="CC0000"/>
              </a:buClr>
            </a:pPr>
            <a:r>
              <a:rPr lang="en-US" altLang="zh-CN" sz="2000" i="1">
                <a:latin typeface="Consolas" panose="020B0609020204030204" pitchFamily="49" charset="0"/>
                <a:ea typeface="微软雅黑" panose="020B0503020204020204" pitchFamily="34" charset="-122"/>
              </a:rPr>
              <a:t>    int f ;</a:t>
            </a:r>
          </a:p>
          <a:p>
            <a:pPr algn="l" eaLnBrk="1" hangingPunct="1">
              <a:buClr>
                <a:srgbClr val="CC0000"/>
              </a:buClr>
            </a:pPr>
            <a:r>
              <a:rPr lang="en-US" altLang="zh-CN" sz="2000" i="1">
                <a:latin typeface="Consolas" panose="020B0609020204030204" pitchFamily="49" charset="0"/>
                <a:ea typeface="微软雅黑" panose="020B0503020204020204" pitchFamily="34" charset="-122"/>
              </a:rPr>
              <a:t>    f = (g + h) – (i + j);</a:t>
            </a:r>
          </a:p>
          <a:p>
            <a:pPr algn="l" eaLnBrk="1" hangingPunct="1">
              <a:buClr>
                <a:srgbClr val="CC0000"/>
              </a:buClr>
            </a:pPr>
            <a:r>
              <a:rPr lang="en-US" altLang="zh-CN" sz="2000" i="1">
                <a:latin typeface="Consolas" panose="020B0609020204030204" pitchFamily="49" charset="0"/>
                <a:ea typeface="微软雅黑" panose="020B0503020204020204" pitchFamily="34" charset="-122"/>
              </a:rPr>
              <a:t>    return f;</a:t>
            </a:r>
          </a:p>
          <a:p>
            <a:pPr algn="l" eaLnBrk="1" hangingPunct="1">
              <a:buClr>
                <a:srgbClr val="CC0000"/>
              </a:buClr>
            </a:pPr>
            <a:r>
              <a:rPr lang="en-US" altLang="zh-CN" sz="2000" i="1">
                <a:latin typeface="Consolas" panose="020B0609020204030204" pitchFamily="49" charset="0"/>
                <a:ea typeface="微软雅黑" panose="020B0503020204020204" pitchFamily="34" charset="-122"/>
              </a:rPr>
              <a:t>}</a:t>
            </a:r>
          </a:p>
        </p:txBody>
      </p:sp>
      <p:sp>
        <p:nvSpPr>
          <p:cNvPr id="19" name="Text Box 5">
            <a:extLst>
              <a:ext uri="{FF2B5EF4-FFF2-40B4-BE49-F238E27FC236}">
                <a16:creationId xmlns:a16="http://schemas.microsoft.com/office/drawing/2014/main" id="{9EDB5DFB-B405-4E16-A2AA-9B2A4421F170}"/>
              </a:ext>
            </a:extLst>
          </p:cNvPr>
          <p:cNvSpPr txBox="1">
            <a:spLocks noChangeArrowheads="1"/>
          </p:cNvSpPr>
          <p:nvPr/>
        </p:nvSpPr>
        <p:spPr bwMode="auto">
          <a:xfrm>
            <a:off x="4660260" y="1376537"/>
            <a:ext cx="4134465" cy="4401205"/>
          </a:xfrm>
          <a:prstGeom prst="rect">
            <a:avLst/>
          </a:prstGeom>
          <a:noFill/>
          <a:ln w="9525">
            <a:solidFill>
              <a:srgbClr val="0432FF"/>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l" eaLnBrk="1" hangingPunct="1">
              <a:buClr>
                <a:srgbClr val="CC0000"/>
              </a:buClr>
            </a:pPr>
            <a:r>
              <a:rPr lang="en-US" altLang="zh-CN" sz="2000" i="1" dirty="0" err="1">
                <a:latin typeface="Consolas" panose="020B0609020204030204" pitchFamily="49" charset="0"/>
                <a:ea typeface="微软雅黑" panose="020B0503020204020204" pitchFamily="34" charset="-122"/>
              </a:rPr>
              <a:t>leaf_example</a:t>
            </a:r>
            <a:r>
              <a:rPr lang="en-US" altLang="zh-CN" sz="2000" i="1" dirty="0">
                <a:latin typeface="Consolas" panose="020B0609020204030204" pitchFamily="49" charset="0"/>
                <a:ea typeface="微软雅黑" panose="020B0503020204020204" pitchFamily="34" charset="-122"/>
              </a:rPr>
              <a:t>:</a:t>
            </a:r>
          </a:p>
          <a:p>
            <a:pPr algn="l" eaLnBrk="1" hangingPunct="1">
              <a:buClr>
                <a:srgbClr val="CC0000"/>
              </a:buClr>
            </a:pPr>
            <a:r>
              <a:rPr lang="en-US" altLang="zh-CN" sz="2000" i="1" dirty="0">
                <a:latin typeface="Consolas" panose="020B0609020204030204" pitchFamily="49" charset="0"/>
                <a:ea typeface="微软雅黑" panose="020B0503020204020204" pitchFamily="34" charset="-122"/>
              </a:rPr>
              <a:t>   </a:t>
            </a:r>
            <a:r>
              <a:rPr lang="en-US" altLang="zh-CN" sz="2000" i="1" dirty="0">
                <a:solidFill>
                  <a:srgbClr val="0432FF"/>
                </a:solidFill>
                <a:latin typeface="Consolas" panose="020B0609020204030204" pitchFamily="49" charset="0"/>
                <a:ea typeface="微软雅黑" panose="020B0503020204020204" pitchFamily="34" charset="-122"/>
              </a:rPr>
              <a:t>addi      $</a:t>
            </a:r>
            <a:r>
              <a:rPr lang="en-US" altLang="zh-CN" sz="2000" i="1" dirty="0" err="1">
                <a:solidFill>
                  <a:srgbClr val="0432FF"/>
                </a:solidFill>
                <a:latin typeface="Consolas" panose="020B0609020204030204" pitchFamily="49" charset="0"/>
                <a:ea typeface="微软雅黑" panose="020B0503020204020204" pitchFamily="34" charset="-122"/>
              </a:rPr>
              <a:t>sp</a:t>
            </a:r>
            <a:r>
              <a:rPr lang="en-US" altLang="zh-CN" sz="2000" i="1" dirty="0">
                <a:solidFill>
                  <a:srgbClr val="0432FF"/>
                </a:solidFill>
                <a:latin typeface="Consolas" panose="020B0609020204030204" pitchFamily="49" charset="0"/>
                <a:ea typeface="微软雅黑" panose="020B0503020204020204" pitchFamily="34" charset="-122"/>
              </a:rPr>
              <a:t>,  $</a:t>
            </a:r>
            <a:r>
              <a:rPr lang="en-US" altLang="zh-CN" sz="2000" i="1" dirty="0" err="1">
                <a:solidFill>
                  <a:srgbClr val="0432FF"/>
                </a:solidFill>
                <a:latin typeface="Consolas" panose="020B0609020204030204" pitchFamily="49" charset="0"/>
                <a:ea typeface="微软雅黑" panose="020B0503020204020204" pitchFamily="34" charset="-122"/>
              </a:rPr>
              <a:t>sp</a:t>
            </a:r>
            <a:r>
              <a:rPr lang="en-US" altLang="zh-CN" sz="2000" i="1" dirty="0">
                <a:solidFill>
                  <a:srgbClr val="0432FF"/>
                </a:solidFill>
                <a:latin typeface="Consolas" panose="020B0609020204030204" pitchFamily="49" charset="0"/>
                <a:ea typeface="微软雅黑" panose="020B0503020204020204" pitchFamily="34" charset="-122"/>
              </a:rPr>
              <a:t>,  -4</a:t>
            </a:r>
          </a:p>
          <a:p>
            <a:pPr algn="l" eaLnBrk="1" hangingPunct="1">
              <a:buClr>
                <a:srgbClr val="CC0000"/>
              </a:buClr>
            </a:pPr>
            <a:r>
              <a:rPr lang="en-US" altLang="zh-CN" sz="2000" i="1" dirty="0">
                <a:latin typeface="Consolas" panose="020B0609020204030204" pitchFamily="49" charset="0"/>
                <a:ea typeface="微软雅黑" panose="020B0503020204020204" pitchFamily="34" charset="-122"/>
              </a:rPr>
              <a:t>   </a:t>
            </a:r>
            <a:r>
              <a:rPr lang="en-US" altLang="zh-CN" sz="2000" i="1" dirty="0" err="1">
                <a:latin typeface="Consolas" panose="020B0609020204030204" pitchFamily="49" charset="0"/>
                <a:ea typeface="微软雅黑" panose="020B0503020204020204" pitchFamily="34" charset="-122"/>
              </a:rPr>
              <a:t>sw</a:t>
            </a:r>
            <a:r>
              <a:rPr lang="en-US" altLang="zh-CN" sz="2000" i="1" dirty="0">
                <a:latin typeface="Consolas" panose="020B0609020204030204" pitchFamily="49" charset="0"/>
                <a:ea typeface="微软雅黑" panose="020B0503020204020204" pitchFamily="34" charset="-122"/>
              </a:rPr>
              <a:t>        $t1, 8($</a:t>
            </a:r>
            <a:r>
              <a:rPr lang="en-US" altLang="zh-CN" sz="2000" i="1" dirty="0" err="1">
                <a:latin typeface="Consolas" panose="020B0609020204030204" pitchFamily="49" charset="0"/>
                <a:ea typeface="微软雅黑" panose="020B0503020204020204" pitchFamily="34" charset="-122"/>
              </a:rPr>
              <a:t>sp</a:t>
            </a:r>
            <a:r>
              <a:rPr lang="en-US" altLang="zh-CN" sz="2000" i="1" dirty="0">
                <a:latin typeface="Consolas" panose="020B0609020204030204" pitchFamily="49" charset="0"/>
                <a:ea typeface="微软雅黑" panose="020B0503020204020204" pitchFamily="34" charset="-122"/>
              </a:rPr>
              <a:t>)</a:t>
            </a:r>
          </a:p>
          <a:p>
            <a:pPr algn="l" eaLnBrk="1" hangingPunct="1">
              <a:buClr>
                <a:srgbClr val="CC0000"/>
              </a:buClr>
            </a:pPr>
            <a:r>
              <a:rPr lang="en-US" altLang="zh-CN" sz="2000" i="1" dirty="0">
                <a:latin typeface="Consolas" panose="020B0609020204030204" pitchFamily="49" charset="0"/>
                <a:ea typeface="微软雅黑" panose="020B0503020204020204" pitchFamily="34" charset="-122"/>
              </a:rPr>
              <a:t>   </a:t>
            </a:r>
            <a:r>
              <a:rPr lang="en-US" altLang="zh-CN" sz="2000" i="1" dirty="0" err="1">
                <a:latin typeface="Consolas" panose="020B0609020204030204" pitchFamily="49" charset="0"/>
                <a:ea typeface="微软雅黑" panose="020B0503020204020204" pitchFamily="34" charset="-122"/>
              </a:rPr>
              <a:t>sw</a:t>
            </a:r>
            <a:r>
              <a:rPr lang="en-US" altLang="zh-CN" sz="2000" i="1" dirty="0">
                <a:latin typeface="Consolas" panose="020B0609020204030204" pitchFamily="49" charset="0"/>
                <a:ea typeface="微软雅黑" panose="020B0503020204020204" pitchFamily="34" charset="-122"/>
              </a:rPr>
              <a:t>        $t0, 4($</a:t>
            </a:r>
            <a:r>
              <a:rPr lang="en-US" altLang="zh-CN" sz="2000" i="1" dirty="0" err="1">
                <a:latin typeface="Consolas" panose="020B0609020204030204" pitchFamily="49" charset="0"/>
                <a:ea typeface="微软雅黑" panose="020B0503020204020204" pitchFamily="34" charset="-122"/>
              </a:rPr>
              <a:t>sp</a:t>
            </a:r>
            <a:r>
              <a:rPr lang="en-US" altLang="zh-CN" sz="2000" i="1" dirty="0">
                <a:latin typeface="Consolas" panose="020B0609020204030204" pitchFamily="49" charset="0"/>
                <a:ea typeface="微软雅黑" panose="020B0503020204020204" pitchFamily="34" charset="-122"/>
              </a:rPr>
              <a:t>)</a:t>
            </a:r>
          </a:p>
          <a:p>
            <a:pPr algn="l" eaLnBrk="1" hangingPunct="1">
              <a:buClr>
                <a:srgbClr val="CC0000"/>
              </a:buClr>
            </a:pPr>
            <a:r>
              <a:rPr lang="en-US" altLang="zh-CN" sz="2000" i="1" dirty="0">
                <a:solidFill>
                  <a:srgbClr val="7030A0"/>
                </a:solidFill>
                <a:latin typeface="Consolas" panose="020B0609020204030204" pitchFamily="49" charset="0"/>
                <a:ea typeface="微软雅黑" panose="020B0503020204020204" pitchFamily="34" charset="-122"/>
              </a:rPr>
              <a:t>   </a:t>
            </a:r>
            <a:r>
              <a:rPr lang="en-US" altLang="zh-CN" sz="2000" i="1" dirty="0" err="1">
                <a:solidFill>
                  <a:srgbClr val="7030A0"/>
                </a:solidFill>
                <a:latin typeface="Consolas" panose="020B0609020204030204" pitchFamily="49" charset="0"/>
                <a:ea typeface="微软雅黑" panose="020B0503020204020204" pitchFamily="34" charset="-122"/>
              </a:rPr>
              <a:t>sw</a:t>
            </a:r>
            <a:r>
              <a:rPr lang="en-US" altLang="zh-CN" sz="2000" i="1" dirty="0">
                <a:solidFill>
                  <a:srgbClr val="7030A0"/>
                </a:solidFill>
                <a:latin typeface="Consolas" panose="020B0609020204030204" pitchFamily="49" charset="0"/>
                <a:ea typeface="微软雅黑" panose="020B0503020204020204" pitchFamily="34" charset="-122"/>
              </a:rPr>
              <a:t>        $s0, 0($</a:t>
            </a:r>
            <a:r>
              <a:rPr lang="en-US" altLang="zh-CN" sz="2000" i="1" dirty="0" err="1">
                <a:solidFill>
                  <a:srgbClr val="7030A0"/>
                </a:solidFill>
                <a:latin typeface="Consolas" panose="020B0609020204030204" pitchFamily="49" charset="0"/>
                <a:ea typeface="微软雅黑" panose="020B0503020204020204" pitchFamily="34" charset="-122"/>
              </a:rPr>
              <a:t>sp</a:t>
            </a:r>
            <a:r>
              <a:rPr lang="en-US" altLang="zh-CN" sz="2000" i="1" dirty="0">
                <a:solidFill>
                  <a:srgbClr val="7030A0"/>
                </a:solidFill>
                <a:latin typeface="Consolas" panose="020B0609020204030204" pitchFamily="49" charset="0"/>
                <a:ea typeface="微软雅黑" panose="020B0503020204020204" pitchFamily="34" charset="-122"/>
              </a:rPr>
              <a:t>)</a:t>
            </a:r>
          </a:p>
          <a:p>
            <a:pPr algn="l" eaLnBrk="1" hangingPunct="1">
              <a:buClr>
                <a:srgbClr val="CC0000"/>
              </a:buClr>
            </a:pPr>
            <a:r>
              <a:rPr lang="en-US" altLang="zh-CN" sz="2000" i="1" dirty="0">
                <a:solidFill>
                  <a:srgbClr val="FF0000"/>
                </a:solidFill>
                <a:latin typeface="Consolas" panose="020B0609020204030204" pitchFamily="49" charset="0"/>
                <a:ea typeface="微软雅黑" panose="020B0503020204020204" pitchFamily="34" charset="-122"/>
              </a:rPr>
              <a:t>   </a:t>
            </a:r>
            <a:r>
              <a:rPr lang="en-US" altLang="zh-CN" sz="2000" i="1" dirty="0">
                <a:latin typeface="Consolas" panose="020B0609020204030204" pitchFamily="49" charset="0"/>
                <a:ea typeface="微软雅黑" panose="020B0503020204020204" pitchFamily="34" charset="-122"/>
              </a:rPr>
              <a:t>add       $t0, $a0, $a1</a:t>
            </a:r>
          </a:p>
          <a:p>
            <a:pPr algn="l" eaLnBrk="1" hangingPunct="1">
              <a:buClr>
                <a:srgbClr val="CC0000"/>
              </a:buClr>
            </a:pPr>
            <a:r>
              <a:rPr lang="en-US" altLang="zh-CN" sz="2000" i="1" dirty="0">
                <a:latin typeface="Consolas" panose="020B0609020204030204" pitchFamily="49" charset="0"/>
                <a:ea typeface="微软雅黑" panose="020B0503020204020204" pitchFamily="34" charset="-122"/>
              </a:rPr>
              <a:t>   add       $t1, $a2, $a3</a:t>
            </a:r>
          </a:p>
          <a:p>
            <a:pPr algn="l" eaLnBrk="1" hangingPunct="1">
              <a:buClr>
                <a:srgbClr val="CC0000"/>
              </a:buClr>
            </a:pPr>
            <a:r>
              <a:rPr lang="en-US" altLang="zh-CN" sz="2000" i="1" dirty="0">
                <a:latin typeface="Consolas" panose="020B0609020204030204" pitchFamily="49" charset="0"/>
                <a:ea typeface="微软雅黑" panose="020B0503020204020204" pitchFamily="34" charset="-122"/>
              </a:rPr>
              <a:t>   sub       </a:t>
            </a:r>
            <a:r>
              <a:rPr lang="en-US" altLang="zh-CN" sz="2000" i="1" dirty="0">
                <a:solidFill>
                  <a:srgbClr val="7030A0"/>
                </a:solidFill>
                <a:latin typeface="Consolas" panose="020B0609020204030204" pitchFamily="49" charset="0"/>
                <a:ea typeface="微软雅黑" panose="020B0503020204020204" pitchFamily="34" charset="-122"/>
              </a:rPr>
              <a:t>$s0, </a:t>
            </a:r>
            <a:r>
              <a:rPr lang="en-US" altLang="zh-CN" sz="2000" i="1" dirty="0">
                <a:latin typeface="Consolas" panose="020B0609020204030204" pitchFamily="49" charset="0"/>
                <a:ea typeface="微软雅黑" panose="020B0503020204020204" pitchFamily="34" charset="-122"/>
              </a:rPr>
              <a:t>$t0, $t1</a:t>
            </a:r>
          </a:p>
          <a:p>
            <a:pPr algn="l" eaLnBrk="1" hangingPunct="1">
              <a:buClr>
                <a:srgbClr val="CC0000"/>
              </a:buClr>
            </a:pPr>
            <a:r>
              <a:rPr lang="en-US" altLang="zh-CN" sz="2000" i="1" dirty="0">
                <a:highlight>
                  <a:srgbClr val="C0C0C0"/>
                </a:highlight>
                <a:latin typeface="Consolas" panose="020B0609020204030204" pitchFamily="49" charset="0"/>
                <a:ea typeface="微软雅黑" panose="020B0503020204020204" pitchFamily="34" charset="-122"/>
              </a:rPr>
              <a:t>   add       $v0, $s0, $zero</a:t>
            </a:r>
          </a:p>
          <a:p>
            <a:pPr algn="l" eaLnBrk="1" hangingPunct="1">
              <a:buClr>
                <a:srgbClr val="CC0000"/>
              </a:buClr>
            </a:pPr>
            <a:r>
              <a:rPr lang="en-US" altLang="zh-CN" sz="2000" i="1" dirty="0">
                <a:solidFill>
                  <a:srgbClr val="7030A0"/>
                </a:solidFill>
                <a:latin typeface="Consolas" panose="020B0609020204030204" pitchFamily="49" charset="0"/>
                <a:ea typeface="微软雅黑" panose="020B0503020204020204" pitchFamily="34" charset="-122"/>
              </a:rPr>
              <a:t>   lw        $s0, 0($</a:t>
            </a:r>
            <a:r>
              <a:rPr lang="en-US" altLang="zh-CN" sz="2000" i="1" dirty="0" err="1">
                <a:solidFill>
                  <a:srgbClr val="7030A0"/>
                </a:solidFill>
                <a:latin typeface="Consolas" panose="020B0609020204030204" pitchFamily="49" charset="0"/>
                <a:ea typeface="微软雅黑" panose="020B0503020204020204" pitchFamily="34" charset="-122"/>
              </a:rPr>
              <a:t>sp</a:t>
            </a:r>
            <a:r>
              <a:rPr lang="en-US" altLang="zh-CN" sz="2000" i="1" dirty="0">
                <a:solidFill>
                  <a:srgbClr val="7030A0"/>
                </a:solidFill>
                <a:latin typeface="Consolas" panose="020B0609020204030204" pitchFamily="49" charset="0"/>
                <a:ea typeface="微软雅黑" panose="020B0503020204020204" pitchFamily="34" charset="-122"/>
              </a:rPr>
              <a:t>)</a:t>
            </a:r>
          </a:p>
          <a:p>
            <a:pPr algn="l" eaLnBrk="1" hangingPunct="1">
              <a:buClr>
                <a:srgbClr val="CC0000"/>
              </a:buClr>
            </a:pPr>
            <a:r>
              <a:rPr lang="en-US" altLang="zh-CN" sz="2000" i="1" dirty="0">
                <a:latin typeface="Consolas" panose="020B0609020204030204" pitchFamily="49" charset="0"/>
                <a:ea typeface="微软雅黑" panose="020B0503020204020204" pitchFamily="34" charset="-122"/>
              </a:rPr>
              <a:t>   lw        $t0, 4($</a:t>
            </a:r>
            <a:r>
              <a:rPr lang="en-US" altLang="zh-CN" sz="2000" i="1" dirty="0" err="1">
                <a:latin typeface="Consolas" panose="020B0609020204030204" pitchFamily="49" charset="0"/>
                <a:ea typeface="微软雅黑" panose="020B0503020204020204" pitchFamily="34" charset="-122"/>
              </a:rPr>
              <a:t>sp</a:t>
            </a:r>
            <a:r>
              <a:rPr lang="en-US" altLang="zh-CN" sz="2000" i="1" dirty="0">
                <a:latin typeface="Consolas" panose="020B0609020204030204" pitchFamily="49" charset="0"/>
                <a:ea typeface="微软雅黑" panose="020B0503020204020204" pitchFamily="34" charset="-122"/>
              </a:rPr>
              <a:t>)</a:t>
            </a:r>
          </a:p>
          <a:p>
            <a:pPr algn="l" eaLnBrk="1" hangingPunct="1">
              <a:buClr>
                <a:srgbClr val="CC0000"/>
              </a:buClr>
            </a:pPr>
            <a:r>
              <a:rPr lang="en-US" altLang="zh-CN" sz="2000" i="1" dirty="0">
                <a:latin typeface="Consolas" panose="020B0609020204030204" pitchFamily="49" charset="0"/>
                <a:ea typeface="微软雅黑" panose="020B0503020204020204" pitchFamily="34" charset="-122"/>
              </a:rPr>
              <a:t>   lw        $t1, 8($</a:t>
            </a:r>
            <a:r>
              <a:rPr lang="en-US" altLang="zh-CN" sz="2000" i="1" dirty="0" err="1">
                <a:latin typeface="Consolas" panose="020B0609020204030204" pitchFamily="49" charset="0"/>
                <a:ea typeface="微软雅黑" panose="020B0503020204020204" pitchFamily="34" charset="-122"/>
              </a:rPr>
              <a:t>sp</a:t>
            </a:r>
            <a:r>
              <a:rPr lang="en-US" altLang="zh-CN" sz="2000" i="1" dirty="0">
                <a:latin typeface="Consolas" panose="020B0609020204030204" pitchFamily="49" charset="0"/>
                <a:ea typeface="微软雅黑" panose="020B0503020204020204" pitchFamily="34" charset="-122"/>
              </a:rPr>
              <a:t>)</a:t>
            </a:r>
          </a:p>
          <a:p>
            <a:pPr algn="l" eaLnBrk="1" hangingPunct="1">
              <a:buClr>
                <a:srgbClr val="CC0000"/>
              </a:buClr>
            </a:pPr>
            <a:r>
              <a:rPr lang="en-US" altLang="zh-CN" sz="2000" i="1" dirty="0">
                <a:latin typeface="Consolas" panose="020B0609020204030204" pitchFamily="49" charset="0"/>
                <a:ea typeface="微软雅黑" panose="020B0503020204020204" pitchFamily="34" charset="-122"/>
              </a:rPr>
              <a:t>   </a:t>
            </a:r>
            <a:r>
              <a:rPr lang="en-US" altLang="zh-CN" sz="2000" i="1" dirty="0">
                <a:solidFill>
                  <a:srgbClr val="0432FF"/>
                </a:solidFill>
                <a:latin typeface="Consolas" panose="020B0609020204030204" pitchFamily="49" charset="0"/>
                <a:ea typeface="微软雅黑" panose="020B0503020204020204" pitchFamily="34" charset="-122"/>
              </a:rPr>
              <a:t>addi      $</a:t>
            </a:r>
            <a:r>
              <a:rPr lang="en-US" altLang="zh-CN" sz="2000" i="1" dirty="0" err="1">
                <a:solidFill>
                  <a:srgbClr val="0432FF"/>
                </a:solidFill>
                <a:latin typeface="Consolas" panose="020B0609020204030204" pitchFamily="49" charset="0"/>
                <a:ea typeface="微软雅黑" panose="020B0503020204020204" pitchFamily="34" charset="-122"/>
              </a:rPr>
              <a:t>sp</a:t>
            </a:r>
            <a:r>
              <a:rPr lang="en-US" altLang="zh-CN" sz="2000" i="1" dirty="0">
                <a:solidFill>
                  <a:srgbClr val="0432FF"/>
                </a:solidFill>
                <a:latin typeface="Consolas" panose="020B0609020204030204" pitchFamily="49" charset="0"/>
                <a:ea typeface="微软雅黑" panose="020B0503020204020204" pitchFamily="34" charset="-122"/>
              </a:rPr>
              <a:t>, $</a:t>
            </a:r>
            <a:r>
              <a:rPr lang="en-US" altLang="zh-CN" sz="2000" i="1" dirty="0" err="1">
                <a:solidFill>
                  <a:srgbClr val="0432FF"/>
                </a:solidFill>
                <a:latin typeface="Consolas" panose="020B0609020204030204" pitchFamily="49" charset="0"/>
                <a:ea typeface="微软雅黑" panose="020B0503020204020204" pitchFamily="34" charset="-122"/>
              </a:rPr>
              <a:t>sp</a:t>
            </a:r>
            <a:r>
              <a:rPr lang="en-US" altLang="zh-CN" sz="2000" i="1" dirty="0">
                <a:solidFill>
                  <a:srgbClr val="0432FF"/>
                </a:solidFill>
                <a:latin typeface="Consolas" panose="020B0609020204030204" pitchFamily="49" charset="0"/>
                <a:ea typeface="微软雅黑" panose="020B0503020204020204" pitchFamily="34" charset="-122"/>
              </a:rPr>
              <a:t>, 4</a:t>
            </a:r>
          </a:p>
          <a:p>
            <a:pPr algn="l" eaLnBrk="1" hangingPunct="1">
              <a:buClr>
                <a:srgbClr val="CC0000"/>
              </a:buClr>
            </a:pPr>
            <a:r>
              <a:rPr lang="en-US" altLang="zh-CN" sz="2000" i="1" dirty="0">
                <a:latin typeface="Consolas" panose="020B0609020204030204" pitchFamily="49" charset="0"/>
                <a:ea typeface="微软雅黑" panose="020B0503020204020204" pitchFamily="34" charset="-122"/>
              </a:rPr>
              <a:t>   </a:t>
            </a:r>
            <a:r>
              <a:rPr lang="en-US" altLang="zh-CN" sz="2000" i="1" dirty="0" err="1">
                <a:latin typeface="Consolas" panose="020B0609020204030204" pitchFamily="49" charset="0"/>
                <a:ea typeface="微软雅黑" panose="020B0503020204020204" pitchFamily="34" charset="-122"/>
              </a:rPr>
              <a:t>jr</a:t>
            </a:r>
            <a:r>
              <a:rPr lang="en-US" altLang="zh-CN" sz="2000" i="1" dirty="0">
                <a:latin typeface="Consolas" panose="020B0609020204030204" pitchFamily="49" charset="0"/>
                <a:ea typeface="微软雅黑" panose="020B0503020204020204" pitchFamily="34" charset="-122"/>
              </a:rPr>
              <a:t>        $</a:t>
            </a:r>
            <a:r>
              <a:rPr lang="en-US" altLang="zh-CN" sz="2000" i="1" dirty="0" err="1">
                <a:latin typeface="Consolas" panose="020B0609020204030204" pitchFamily="49" charset="0"/>
                <a:ea typeface="微软雅黑" panose="020B0503020204020204" pitchFamily="34" charset="-122"/>
              </a:rPr>
              <a:t>ra</a:t>
            </a:r>
            <a:endParaRPr lang="en-US" altLang="zh-CN" sz="2000" i="1" dirty="0">
              <a:latin typeface="Consolas" panose="020B0609020204030204" pitchFamily="49" charset="0"/>
              <a:ea typeface="微软雅黑" panose="020B0503020204020204" pitchFamily="34" charset="-122"/>
            </a:endParaRPr>
          </a:p>
        </p:txBody>
      </p:sp>
      <p:cxnSp>
        <p:nvCxnSpPr>
          <p:cNvPr id="20" name="直接连接符 2">
            <a:extLst>
              <a:ext uri="{FF2B5EF4-FFF2-40B4-BE49-F238E27FC236}">
                <a16:creationId xmlns:a16="http://schemas.microsoft.com/office/drawing/2014/main" id="{2874742D-0B0C-4F64-8814-722AA4A09BEC}"/>
              </a:ext>
            </a:extLst>
          </p:cNvPr>
          <p:cNvCxnSpPr>
            <a:cxnSpLocks noChangeShapeType="1"/>
          </p:cNvCxnSpPr>
          <p:nvPr/>
        </p:nvCxnSpPr>
        <p:spPr bwMode="auto">
          <a:xfrm>
            <a:off x="5095736" y="2190925"/>
            <a:ext cx="3143803" cy="0"/>
          </a:xfrm>
          <a:prstGeom prst="line">
            <a:avLst/>
          </a:prstGeom>
          <a:noFill/>
          <a:ln w="38100" cap="rnd" algn="ctr">
            <a:solidFill>
              <a:srgbClr val="0432FF"/>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cxnSp>
      <p:cxnSp>
        <p:nvCxnSpPr>
          <p:cNvPr id="21" name="直接连接符 7">
            <a:extLst>
              <a:ext uri="{FF2B5EF4-FFF2-40B4-BE49-F238E27FC236}">
                <a16:creationId xmlns:a16="http://schemas.microsoft.com/office/drawing/2014/main" id="{69EA71A8-9306-4831-9606-FF83378EB241}"/>
              </a:ext>
            </a:extLst>
          </p:cNvPr>
          <p:cNvCxnSpPr>
            <a:cxnSpLocks noChangeShapeType="1"/>
          </p:cNvCxnSpPr>
          <p:nvPr/>
        </p:nvCxnSpPr>
        <p:spPr bwMode="auto">
          <a:xfrm>
            <a:off x="5097324" y="2506837"/>
            <a:ext cx="3152154" cy="0"/>
          </a:xfrm>
          <a:prstGeom prst="line">
            <a:avLst/>
          </a:prstGeom>
          <a:noFill/>
          <a:ln w="38100" cap="rnd" algn="ctr">
            <a:solidFill>
              <a:srgbClr val="0432FF"/>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cxnSp>
      <p:cxnSp>
        <p:nvCxnSpPr>
          <p:cNvPr id="22" name="直接连接符 8">
            <a:extLst>
              <a:ext uri="{FF2B5EF4-FFF2-40B4-BE49-F238E27FC236}">
                <a16:creationId xmlns:a16="http://schemas.microsoft.com/office/drawing/2014/main" id="{DCA5F096-109A-4D51-A85F-A4EBB5946497}"/>
              </a:ext>
            </a:extLst>
          </p:cNvPr>
          <p:cNvCxnSpPr>
            <a:cxnSpLocks noChangeShapeType="1"/>
          </p:cNvCxnSpPr>
          <p:nvPr/>
        </p:nvCxnSpPr>
        <p:spPr bwMode="auto">
          <a:xfrm>
            <a:off x="5095736" y="4651550"/>
            <a:ext cx="3113986" cy="0"/>
          </a:xfrm>
          <a:prstGeom prst="line">
            <a:avLst/>
          </a:prstGeom>
          <a:noFill/>
          <a:ln w="38100" cap="rnd" algn="ctr">
            <a:solidFill>
              <a:srgbClr val="0432FF"/>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cxnSp>
      <p:cxnSp>
        <p:nvCxnSpPr>
          <p:cNvPr id="23" name="直接连接符 9">
            <a:extLst>
              <a:ext uri="{FF2B5EF4-FFF2-40B4-BE49-F238E27FC236}">
                <a16:creationId xmlns:a16="http://schemas.microsoft.com/office/drawing/2014/main" id="{A8FA9B1E-66FE-4B62-A5A9-2FCCE296F3C0}"/>
              </a:ext>
            </a:extLst>
          </p:cNvPr>
          <p:cNvCxnSpPr>
            <a:cxnSpLocks noChangeShapeType="1"/>
          </p:cNvCxnSpPr>
          <p:nvPr/>
        </p:nvCxnSpPr>
        <p:spPr bwMode="auto">
          <a:xfrm>
            <a:off x="5097324" y="4965875"/>
            <a:ext cx="3122337" cy="0"/>
          </a:xfrm>
          <a:prstGeom prst="line">
            <a:avLst/>
          </a:prstGeom>
          <a:noFill/>
          <a:ln w="38100" cap="rnd" algn="ctr">
            <a:solidFill>
              <a:srgbClr val="0432FF"/>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cxnSp>
      <p:sp>
        <p:nvSpPr>
          <p:cNvPr id="24" name="TextBox 5">
            <a:extLst>
              <a:ext uri="{FF2B5EF4-FFF2-40B4-BE49-F238E27FC236}">
                <a16:creationId xmlns:a16="http://schemas.microsoft.com/office/drawing/2014/main" id="{5197718C-68E9-4A2F-94D6-071C60480269}"/>
              </a:ext>
            </a:extLst>
          </p:cNvPr>
          <p:cNvSpPr txBox="1">
            <a:spLocks noChangeArrowheads="1"/>
          </p:cNvSpPr>
          <p:nvPr/>
        </p:nvSpPr>
        <p:spPr bwMode="auto">
          <a:xfrm>
            <a:off x="317810" y="3936901"/>
            <a:ext cx="4255141" cy="23083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l"/>
            <a:r>
              <a:rPr kumimoji="1" lang="zh-CN" altLang="en-US" sz="2400" b="0" dirty="0">
                <a:latin typeface="黑体" panose="02010609060101010101" pitchFamily="49" charset="-122"/>
                <a:ea typeface="黑体" panose="02010609060101010101" pitchFamily="49" charset="-122"/>
              </a:rPr>
              <a:t>对于</a:t>
            </a:r>
            <a:r>
              <a:rPr kumimoji="1" lang="zh-CN" altLang="en-US" sz="2400" dirty="0">
                <a:solidFill>
                  <a:srgbClr val="0432FF"/>
                </a:solidFill>
                <a:latin typeface="黑体" panose="02010609060101010101" pitchFamily="49" charset="-122"/>
                <a:ea typeface="黑体" panose="02010609060101010101" pitchFamily="49" charset="-122"/>
              </a:rPr>
              <a:t>叶过程</a:t>
            </a:r>
            <a:r>
              <a:rPr kumimoji="1" lang="zh-CN" altLang="en-US" sz="2400" b="0" dirty="0">
                <a:latin typeface="黑体" panose="02010609060101010101" pitchFamily="49" charset="-122"/>
                <a:ea typeface="黑体" panose="02010609060101010101" pitchFamily="49" charset="-122"/>
              </a:rPr>
              <a:t>，临时寄存器用完后的数值不需要保存，</a:t>
            </a:r>
            <a:r>
              <a:rPr kumimoji="1" lang="zh-CN" altLang="en-US" sz="2400" b="0" dirty="0">
                <a:solidFill>
                  <a:srgbClr val="0432FF"/>
                </a:solidFill>
                <a:latin typeface="黑体" panose="02010609060101010101" pitchFamily="49" charset="-122"/>
                <a:ea typeface="黑体" panose="02010609060101010101" pitchFamily="49" charset="-122"/>
              </a:rPr>
              <a:t>因此不需要压栈！</a:t>
            </a:r>
            <a:endParaRPr kumimoji="1" lang="en-US" altLang="zh-CN" sz="2400" b="0" dirty="0">
              <a:solidFill>
                <a:srgbClr val="0432FF"/>
              </a:solidFill>
              <a:latin typeface="黑体" panose="02010609060101010101" pitchFamily="49" charset="-122"/>
              <a:ea typeface="黑体" panose="02010609060101010101" pitchFamily="49" charset="-122"/>
            </a:endParaRPr>
          </a:p>
          <a:p>
            <a:pPr algn="l"/>
            <a:endParaRPr kumimoji="1" lang="en-US" altLang="zh-CN" sz="2400" b="0" dirty="0">
              <a:latin typeface="黑体" panose="02010609060101010101" pitchFamily="49" charset="-122"/>
              <a:ea typeface="黑体" panose="02010609060101010101" pitchFamily="49" charset="-122"/>
            </a:endParaRPr>
          </a:p>
          <a:p>
            <a:pPr algn="l" eaLnBrk="1" hangingPunct="1"/>
            <a:r>
              <a:rPr lang="zh-CN" altLang="en-US" sz="2400" b="0" dirty="0">
                <a:latin typeface="黑体" panose="02010609060101010101" pitchFamily="49" charset="-122"/>
                <a:ea typeface="黑体" panose="02010609060101010101" pitchFamily="49" charset="-122"/>
              </a:rPr>
              <a:t>保存寄存器中的值在返回上层程序之后会被调用，</a:t>
            </a:r>
            <a:r>
              <a:rPr lang="zh-CN" altLang="en-US" sz="2400" b="0" dirty="0">
                <a:solidFill>
                  <a:srgbClr val="0432FF"/>
                </a:solidFill>
                <a:latin typeface="黑体" panose="02010609060101010101" pitchFamily="49" charset="-122"/>
                <a:ea typeface="黑体" panose="02010609060101010101" pitchFamily="49" charset="-122"/>
              </a:rPr>
              <a:t>必须保存！</a:t>
            </a:r>
          </a:p>
        </p:txBody>
      </p:sp>
      <p:sp>
        <p:nvSpPr>
          <p:cNvPr id="3" name="Title 4">
            <a:extLst>
              <a:ext uri="{FF2B5EF4-FFF2-40B4-BE49-F238E27FC236}">
                <a16:creationId xmlns:a16="http://schemas.microsoft.com/office/drawing/2014/main" id="{68084C7C-B5CB-7C01-2652-D56179C13C09}"/>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sz="4000" dirty="0">
                <a:latin typeface="微软雅黑 (标题)"/>
              </a:rPr>
              <a:t>叶过程</a:t>
            </a:r>
            <a:endParaRPr lang="en-CN" kern="0" dirty="0"/>
          </a:p>
        </p:txBody>
      </p:sp>
    </p:spTree>
    <p:extLst>
      <p:ext uri="{BB962C8B-B14F-4D97-AF65-F5344CB8AC3E}">
        <p14:creationId xmlns:p14="http://schemas.microsoft.com/office/powerpoint/2010/main" val="14904507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734A9EE9-4726-F547-83CF-304D8F0D24B3}"/>
              </a:ext>
            </a:extLst>
          </p:cNvPr>
          <p:cNvSpPr>
            <a:spLocks noGrp="1"/>
          </p:cNvSpPr>
          <p:nvPr>
            <p:ph type="sldNum" sz="quarter" idx="12"/>
          </p:nvPr>
        </p:nvSpPr>
        <p:spPr/>
        <p:txBody>
          <a:bodyPr/>
          <a:lstStyle/>
          <a:p>
            <a:fld id="{14659731-6BD7-46E7-8D3C-2F3AC07E20B1}" type="slidenum">
              <a:rPr lang="en-US" altLang="zh-CN" smtClean="0">
                <a:latin typeface="+mn-lt"/>
              </a:rPr>
              <a:pPr/>
              <a:t>97</a:t>
            </a:fld>
            <a:endParaRPr lang="en-US" altLang="zh-CN">
              <a:latin typeface="+mn-lt"/>
            </a:endParaRPr>
          </a:p>
        </p:txBody>
      </p:sp>
      <p:sp>
        <p:nvSpPr>
          <p:cNvPr id="6" name="圆角矩形 3">
            <a:extLst>
              <a:ext uri="{FF2B5EF4-FFF2-40B4-BE49-F238E27FC236}">
                <a16:creationId xmlns:a16="http://schemas.microsoft.com/office/drawing/2014/main" id="{538DF36C-13DC-4F78-AF63-AA0B6507F052}"/>
              </a:ext>
            </a:extLst>
          </p:cNvPr>
          <p:cNvSpPr/>
          <p:nvPr/>
        </p:nvSpPr>
        <p:spPr>
          <a:xfrm>
            <a:off x="461885" y="1972650"/>
            <a:ext cx="2654267" cy="535226"/>
          </a:xfrm>
          <a:prstGeom prst="round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400" b="1" dirty="0">
                <a:solidFill>
                  <a:schemeClr val="tx1"/>
                </a:solidFill>
                <a:ea typeface="黑体" panose="02010609060101010101" pitchFamily="49" charset="-122"/>
              </a:rPr>
              <a:t>指令集编码</a:t>
            </a:r>
          </a:p>
        </p:txBody>
      </p:sp>
      <p:sp>
        <p:nvSpPr>
          <p:cNvPr id="9" name="圆角矩形 11">
            <a:extLst>
              <a:ext uri="{FF2B5EF4-FFF2-40B4-BE49-F238E27FC236}">
                <a16:creationId xmlns:a16="http://schemas.microsoft.com/office/drawing/2014/main" id="{834BC6C7-39A3-4B3F-9774-9CE9B844725E}"/>
              </a:ext>
            </a:extLst>
          </p:cNvPr>
          <p:cNvSpPr/>
          <p:nvPr/>
        </p:nvSpPr>
        <p:spPr>
          <a:xfrm>
            <a:off x="457200" y="3948150"/>
            <a:ext cx="2654267" cy="535226"/>
          </a:xfrm>
          <a:prstGeom prst="round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b="1" dirty="0">
                <a:solidFill>
                  <a:schemeClr val="tx1"/>
                </a:solidFill>
                <a:ea typeface="黑体" panose="02010609060101010101" pitchFamily="49" charset="-122"/>
              </a:rPr>
              <a:t>MIPS</a:t>
            </a:r>
            <a:r>
              <a:rPr kumimoji="1" lang="zh-CN" altLang="en-US" sz="2400" b="1" dirty="0">
                <a:solidFill>
                  <a:schemeClr val="tx1"/>
                </a:solidFill>
                <a:ea typeface="黑体" panose="02010609060101010101" pitchFamily="49" charset="-122"/>
              </a:rPr>
              <a:t>指令集</a:t>
            </a:r>
          </a:p>
        </p:txBody>
      </p:sp>
      <p:cxnSp>
        <p:nvCxnSpPr>
          <p:cNvPr id="31" name="直线箭头连接符 49">
            <a:extLst>
              <a:ext uri="{FF2B5EF4-FFF2-40B4-BE49-F238E27FC236}">
                <a16:creationId xmlns:a16="http://schemas.microsoft.com/office/drawing/2014/main" id="{A6CFDAD9-3BC0-4E32-BD71-72245DD7A369}"/>
              </a:ext>
            </a:extLst>
          </p:cNvPr>
          <p:cNvCxnSpPr>
            <a:cxnSpLocks/>
          </p:cNvCxnSpPr>
          <p:nvPr/>
        </p:nvCxnSpPr>
        <p:spPr>
          <a:xfrm>
            <a:off x="1801513" y="2676438"/>
            <a:ext cx="0" cy="1103905"/>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肘形连接符 51">
            <a:extLst>
              <a:ext uri="{FF2B5EF4-FFF2-40B4-BE49-F238E27FC236}">
                <a16:creationId xmlns:a16="http://schemas.microsoft.com/office/drawing/2014/main" id="{F6DDC22C-E7ED-46C8-83D4-CC1BC4C317AD}"/>
              </a:ext>
            </a:extLst>
          </p:cNvPr>
          <p:cNvCxnSpPr>
            <a:cxnSpLocks/>
            <a:stCxn id="9" idx="3"/>
            <a:endCxn id="76" idx="1"/>
          </p:cNvCxnSpPr>
          <p:nvPr/>
        </p:nvCxnSpPr>
        <p:spPr>
          <a:xfrm flipV="1">
            <a:off x="3111467" y="3240417"/>
            <a:ext cx="854744" cy="975346"/>
          </a:xfrm>
          <a:prstGeom prst="bentConnector3">
            <a:avLst>
              <a:gd name="adj1" fmla="val 46565"/>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圆角矩形 16">
            <a:extLst>
              <a:ext uri="{FF2B5EF4-FFF2-40B4-BE49-F238E27FC236}">
                <a16:creationId xmlns:a16="http://schemas.microsoft.com/office/drawing/2014/main" id="{88C32840-562B-4A2B-A631-4537EFBFACA9}"/>
              </a:ext>
            </a:extLst>
          </p:cNvPr>
          <p:cNvSpPr/>
          <p:nvPr/>
        </p:nvSpPr>
        <p:spPr>
          <a:xfrm>
            <a:off x="3968553" y="1721111"/>
            <a:ext cx="2123750" cy="456699"/>
          </a:xfrm>
          <a:prstGeom prst="round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zh-CN" altLang="en-US" sz="2000" b="1" dirty="0">
                <a:solidFill>
                  <a:schemeClr val="tx1"/>
                </a:solidFill>
                <a:ea typeface="黑体" panose="02010609060101010101" pitchFamily="49" charset="-122"/>
              </a:rPr>
              <a:t>算数</a:t>
            </a:r>
            <a:r>
              <a:rPr kumimoji="1" lang="en-US" altLang="zh-CN" sz="2000" b="1" dirty="0">
                <a:solidFill>
                  <a:schemeClr val="tx1"/>
                </a:solidFill>
                <a:ea typeface="黑体" panose="02010609060101010101" pitchFamily="49" charset="-122"/>
              </a:rPr>
              <a:t>&amp;</a:t>
            </a:r>
            <a:r>
              <a:rPr kumimoji="1" lang="zh-CN" altLang="en-US" sz="2000" b="1" dirty="0">
                <a:solidFill>
                  <a:schemeClr val="tx1"/>
                </a:solidFill>
                <a:ea typeface="黑体" panose="02010609060101010101" pitchFamily="49" charset="-122"/>
              </a:rPr>
              <a:t>逻辑指令</a:t>
            </a:r>
          </a:p>
        </p:txBody>
      </p:sp>
      <p:sp>
        <p:nvSpPr>
          <p:cNvPr id="50" name="圆角矩形 16">
            <a:extLst>
              <a:ext uri="{FF2B5EF4-FFF2-40B4-BE49-F238E27FC236}">
                <a16:creationId xmlns:a16="http://schemas.microsoft.com/office/drawing/2014/main" id="{602CEC13-EC75-4B11-A5A5-216C0FDBD33E}"/>
              </a:ext>
            </a:extLst>
          </p:cNvPr>
          <p:cNvSpPr/>
          <p:nvPr/>
        </p:nvSpPr>
        <p:spPr>
          <a:xfrm>
            <a:off x="3966211" y="3815802"/>
            <a:ext cx="1347712" cy="422219"/>
          </a:xfrm>
          <a:prstGeom prst="round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zh-CN" altLang="en-US" sz="2000" b="1" dirty="0">
                <a:solidFill>
                  <a:schemeClr val="tx1"/>
                </a:solidFill>
                <a:ea typeface="黑体" panose="02010609060101010101" pitchFamily="49" charset="-122"/>
              </a:rPr>
              <a:t>指令格式</a:t>
            </a:r>
          </a:p>
        </p:txBody>
      </p:sp>
      <p:cxnSp>
        <p:nvCxnSpPr>
          <p:cNvPr id="72" name="肘形连接符 47">
            <a:extLst>
              <a:ext uri="{FF2B5EF4-FFF2-40B4-BE49-F238E27FC236}">
                <a16:creationId xmlns:a16="http://schemas.microsoft.com/office/drawing/2014/main" id="{FE50C686-6CE5-4123-B510-2B3BF73C3C4E}"/>
              </a:ext>
            </a:extLst>
          </p:cNvPr>
          <p:cNvCxnSpPr>
            <a:cxnSpLocks/>
            <a:stCxn id="9" idx="3"/>
            <a:endCxn id="74" idx="1"/>
          </p:cNvCxnSpPr>
          <p:nvPr/>
        </p:nvCxnSpPr>
        <p:spPr>
          <a:xfrm>
            <a:off x="3111467" y="4215763"/>
            <a:ext cx="854744" cy="909883"/>
          </a:xfrm>
          <a:prstGeom prst="bentConnector3">
            <a:avLst>
              <a:gd name="adj1" fmla="val 46565"/>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4" name="圆角矩形 11">
            <a:extLst>
              <a:ext uri="{FF2B5EF4-FFF2-40B4-BE49-F238E27FC236}">
                <a16:creationId xmlns:a16="http://schemas.microsoft.com/office/drawing/2014/main" id="{E6AA2FED-5579-48AF-A5DA-E3E162334A04}"/>
              </a:ext>
            </a:extLst>
          </p:cNvPr>
          <p:cNvSpPr/>
          <p:nvPr/>
        </p:nvSpPr>
        <p:spPr>
          <a:xfrm>
            <a:off x="3966211" y="4936845"/>
            <a:ext cx="1347712" cy="377602"/>
          </a:xfrm>
          <a:prstGeom prst="round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zh-CN" altLang="en-US" sz="2000" b="1" dirty="0">
                <a:solidFill>
                  <a:schemeClr val="tx1"/>
                </a:solidFill>
                <a:ea typeface="黑体" panose="02010609060101010101" pitchFamily="49" charset="-122"/>
              </a:rPr>
              <a:t>寻址方式</a:t>
            </a:r>
          </a:p>
        </p:txBody>
      </p:sp>
      <p:cxnSp>
        <p:nvCxnSpPr>
          <p:cNvPr id="40" name="直线箭头连接符 49">
            <a:extLst>
              <a:ext uri="{FF2B5EF4-FFF2-40B4-BE49-F238E27FC236}">
                <a16:creationId xmlns:a16="http://schemas.microsoft.com/office/drawing/2014/main" id="{21AAEDA9-115C-4E88-B22E-71E1684AC1C8}"/>
              </a:ext>
            </a:extLst>
          </p:cNvPr>
          <p:cNvCxnSpPr>
            <a:cxnSpLocks/>
          </p:cNvCxnSpPr>
          <p:nvPr/>
        </p:nvCxnSpPr>
        <p:spPr>
          <a:xfrm>
            <a:off x="3262772" y="2237933"/>
            <a:ext cx="611548" cy="0"/>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圆角矩形 16">
            <a:extLst>
              <a:ext uri="{FF2B5EF4-FFF2-40B4-BE49-F238E27FC236}">
                <a16:creationId xmlns:a16="http://schemas.microsoft.com/office/drawing/2014/main" id="{33D50980-9279-4842-BC01-FDBB8798790F}"/>
              </a:ext>
            </a:extLst>
          </p:cNvPr>
          <p:cNvSpPr/>
          <p:nvPr/>
        </p:nvSpPr>
        <p:spPr>
          <a:xfrm>
            <a:off x="3966211" y="2237933"/>
            <a:ext cx="2123750" cy="456699"/>
          </a:xfrm>
          <a:prstGeom prst="round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zh-CN" altLang="en-US" sz="2000" b="1" dirty="0">
                <a:solidFill>
                  <a:schemeClr val="tx1"/>
                </a:solidFill>
                <a:ea typeface="黑体" panose="02010609060101010101" pitchFamily="49" charset="-122"/>
              </a:rPr>
              <a:t>访存指令</a:t>
            </a:r>
          </a:p>
        </p:txBody>
      </p:sp>
      <p:sp>
        <p:nvSpPr>
          <p:cNvPr id="48" name="圆角矩形 16">
            <a:extLst>
              <a:ext uri="{FF2B5EF4-FFF2-40B4-BE49-F238E27FC236}">
                <a16:creationId xmlns:a16="http://schemas.microsoft.com/office/drawing/2014/main" id="{E3688F3F-1D14-43DE-A027-72E30ECB3399}"/>
              </a:ext>
            </a:extLst>
          </p:cNvPr>
          <p:cNvSpPr/>
          <p:nvPr/>
        </p:nvSpPr>
        <p:spPr>
          <a:xfrm>
            <a:off x="6155283" y="1724584"/>
            <a:ext cx="2123750" cy="456699"/>
          </a:xfrm>
          <a:prstGeom prst="round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zh-CN" altLang="en-US" sz="2000" b="1" dirty="0">
                <a:solidFill>
                  <a:schemeClr val="tx1"/>
                </a:solidFill>
                <a:ea typeface="黑体" panose="02010609060101010101" pitchFamily="49" charset="-122"/>
              </a:rPr>
              <a:t>分支指令</a:t>
            </a:r>
          </a:p>
        </p:txBody>
      </p:sp>
      <p:sp>
        <p:nvSpPr>
          <p:cNvPr id="52" name="圆角矩形 16">
            <a:extLst>
              <a:ext uri="{FF2B5EF4-FFF2-40B4-BE49-F238E27FC236}">
                <a16:creationId xmlns:a16="http://schemas.microsoft.com/office/drawing/2014/main" id="{45EB7EFC-235E-4E0C-97CA-4B348947E076}"/>
              </a:ext>
            </a:extLst>
          </p:cNvPr>
          <p:cNvSpPr/>
          <p:nvPr/>
        </p:nvSpPr>
        <p:spPr>
          <a:xfrm>
            <a:off x="6155283" y="2242761"/>
            <a:ext cx="2123750" cy="456699"/>
          </a:xfrm>
          <a:prstGeom prst="round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zh-CN" altLang="en-US" sz="2000" b="1" dirty="0">
                <a:solidFill>
                  <a:schemeClr val="tx1"/>
                </a:solidFill>
                <a:ea typeface="黑体" panose="02010609060101010101" pitchFamily="49" charset="-122"/>
              </a:rPr>
              <a:t>跳转指令</a:t>
            </a:r>
          </a:p>
        </p:txBody>
      </p:sp>
      <p:sp>
        <p:nvSpPr>
          <p:cNvPr id="55" name="圆角矩形 16">
            <a:extLst>
              <a:ext uri="{FF2B5EF4-FFF2-40B4-BE49-F238E27FC236}">
                <a16:creationId xmlns:a16="http://schemas.microsoft.com/office/drawing/2014/main" id="{B37C647A-D88B-4890-8F60-BADA525C5941}"/>
              </a:ext>
            </a:extLst>
          </p:cNvPr>
          <p:cNvSpPr/>
          <p:nvPr/>
        </p:nvSpPr>
        <p:spPr>
          <a:xfrm>
            <a:off x="5714654" y="3811400"/>
            <a:ext cx="893307" cy="422219"/>
          </a:xfrm>
          <a:prstGeom prst="round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zh-CN" sz="2000" b="1" dirty="0">
                <a:solidFill>
                  <a:schemeClr val="tx1"/>
                </a:solidFill>
                <a:ea typeface="黑体" panose="02010609060101010101" pitchFamily="49" charset="-122"/>
              </a:rPr>
              <a:t>R</a:t>
            </a:r>
            <a:r>
              <a:rPr kumimoji="1" lang="zh-CN" altLang="en-US" sz="2000" b="1" dirty="0">
                <a:solidFill>
                  <a:schemeClr val="tx1"/>
                </a:solidFill>
                <a:ea typeface="黑体" panose="02010609060101010101" pitchFamily="49" charset="-122"/>
              </a:rPr>
              <a:t>型</a:t>
            </a:r>
          </a:p>
        </p:txBody>
      </p:sp>
      <p:sp>
        <p:nvSpPr>
          <p:cNvPr id="56" name="圆角矩形 16">
            <a:extLst>
              <a:ext uri="{FF2B5EF4-FFF2-40B4-BE49-F238E27FC236}">
                <a16:creationId xmlns:a16="http://schemas.microsoft.com/office/drawing/2014/main" id="{EEA4BBF2-C747-42A7-8871-FE99671AD10A}"/>
              </a:ext>
            </a:extLst>
          </p:cNvPr>
          <p:cNvSpPr/>
          <p:nvPr/>
        </p:nvSpPr>
        <p:spPr>
          <a:xfrm>
            <a:off x="7659446" y="3811399"/>
            <a:ext cx="893307" cy="422219"/>
          </a:xfrm>
          <a:prstGeom prst="round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zh-CN" sz="2000" b="1" dirty="0">
                <a:solidFill>
                  <a:schemeClr val="tx1"/>
                </a:solidFill>
                <a:ea typeface="黑体" panose="02010609060101010101" pitchFamily="49" charset="-122"/>
              </a:rPr>
              <a:t>J</a:t>
            </a:r>
            <a:r>
              <a:rPr kumimoji="1" lang="zh-CN" altLang="en-US" sz="2000" b="1" dirty="0">
                <a:solidFill>
                  <a:schemeClr val="tx1"/>
                </a:solidFill>
                <a:ea typeface="黑体" panose="02010609060101010101" pitchFamily="49" charset="-122"/>
              </a:rPr>
              <a:t>型</a:t>
            </a:r>
          </a:p>
        </p:txBody>
      </p:sp>
      <p:sp>
        <p:nvSpPr>
          <p:cNvPr id="57" name="圆角矩形 16">
            <a:extLst>
              <a:ext uri="{FF2B5EF4-FFF2-40B4-BE49-F238E27FC236}">
                <a16:creationId xmlns:a16="http://schemas.microsoft.com/office/drawing/2014/main" id="{9FB1325B-D224-4899-934F-8DE466D3AB87}"/>
              </a:ext>
            </a:extLst>
          </p:cNvPr>
          <p:cNvSpPr/>
          <p:nvPr/>
        </p:nvSpPr>
        <p:spPr>
          <a:xfrm>
            <a:off x="6687050" y="3806999"/>
            <a:ext cx="893307" cy="422219"/>
          </a:xfrm>
          <a:prstGeom prst="round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zh-CN" sz="2000" b="1" dirty="0">
                <a:solidFill>
                  <a:schemeClr val="tx1"/>
                </a:solidFill>
                <a:ea typeface="黑体" panose="02010609060101010101" pitchFamily="49" charset="-122"/>
              </a:rPr>
              <a:t>I</a:t>
            </a:r>
            <a:r>
              <a:rPr kumimoji="1" lang="zh-CN" altLang="en-US" sz="2000" b="1" dirty="0">
                <a:solidFill>
                  <a:schemeClr val="tx1"/>
                </a:solidFill>
                <a:ea typeface="黑体" panose="02010609060101010101" pitchFamily="49" charset="-122"/>
              </a:rPr>
              <a:t>型</a:t>
            </a:r>
          </a:p>
        </p:txBody>
      </p:sp>
      <p:cxnSp>
        <p:nvCxnSpPr>
          <p:cNvPr id="66" name="直线箭头连接符 49">
            <a:extLst>
              <a:ext uri="{FF2B5EF4-FFF2-40B4-BE49-F238E27FC236}">
                <a16:creationId xmlns:a16="http://schemas.microsoft.com/office/drawing/2014/main" id="{BFBAFEA3-7883-4398-B5C4-2C92DC798398}"/>
              </a:ext>
            </a:extLst>
          </p:cNvPr>
          <p:cNvCxnSpPr>
            <a:cxnSpLocks/>
            <a:stCxn id="50" idx="3"/>
            <a:endCxn id="55" idx="1"/>
          </p:cNvCxnSpPr>
          <p:nvPr/>
        </p:nvCxnSpPr>
        <p:spPr>
          <a:xfrm flipV="1">
            <a:off x="5313923" y="4022510"/>
            <a:ext cx="400731" cy="4402"/>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0" name="圆角矩形 11">
            <a:extLst>
              <a:ext uri="{FF2B5EF4-FFF2-40B4-BE49-F238E27FC236}">
                <a16:creationId xmlns:a16="http://schemas.microsoft.com/office/drawing/2014/main" id="{FB1CA929-4AD1-4BA3-8602-F2EB7ABCA94B}"/>
              </a:ext>
            </a:extLst>
          </p:cNvPr>
          <p:cNvSpPr/>
          <p:nvPr/>
        </p:nvSpPr>
        <p:spPr>
          <a:xfrm>
            <a:off x="3966211" y="5867623"/>
            <a:ext cx="1347712" cy="377602"/>
          </a:xfrm>
          <a:prstGeom prst="round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zh-CN" altLang="en-US" sz="2000" b="1" dirty="0">
                <a:solidFill>
                  <a:schemeClr val="tx1"/>
                </a:solidFill>
                <a:ea typeface="黑体" panose="02010609060101010101" pitchFamily="49" charset="-122"/>
              </a:rPr>
              <a:t>过程调用</a:t>
            </a:r>
          </a:p>
        </p:txBody>
      </p:sp>
      <p:sp>
        <p:nvSpPr>
          <p:cNvPr id="76" name="圆角矩形 11">
            <a:extLst>
              <a:ext uri="{FF2B5EF4-FFF2-40B4-BE49-F238E27FC236}">
                <a16:creationId xmlns:a16="http://schemas.microsoft.com/office/drawing/2014/main" id="{F9AAAD8B-5910-4F29-A183-0D644CCECA1A}"/>
              </a:ext>
            </a:extLst>
          </p:cNvPr>
          <p:cNvSpPr/>
          <p:nvPr/>
        </p:nvSpPr>
        <p:spPr>
          <a:xfrm>
            <a:off x="3966211" y="3051616"/>
            <a:ext cx="1347712" cy="377602"/>
          </a:xfrm>
          <a:prstGeom prst="round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zh-CN" altLang="en-US" sz="2000" b="1" dirty="0">
                <a:solidFill>
                  <a:schemeClr val="tx1"/>
                </a:solidFill>
                <a:ea typeface="黑体" panose="02010609060101010101" pitchFamily="49" charset="-122"/>
              </a:rPr>
              <a:t>数据存储</a:t>
            </a:r>
          </a:p>
        </p:txBody>
      </p:sp>
      <p:cxnSp>
        <p:nvCxnSpPr>
          <p:cNvPr id="81" name="肘形连接符 51">
            <a:extLst>
              <a:ext uri="{FF2B5EF4-FFF2-40B4-BE49-F238E27FC236}">
                <a16:creationId xmlns:a16="http://schemas.microsoft.com/office/drawing/2014/main" id="{2471F101-B542-4C04-8994-E74ACB6CF1B4}"/>
              </a:ext>
            </a:extLst>
          </p:cNvPr>
          <p:cNvCxnSpPr>
            <a:cxnSpLocks/>
            <a:stCxn id="9" idx="3"/>
            <a:endCxn id="50" idx="1"/>
          </p:cNvCxnSpPr>
          <p:nvPr/>
        </p:nvCxnSpPr>
        <p:spPr>
          <a:xfrm flipV="1">
            <a:off x="3111467" y="4026912"/>
            <a:ext cx="854744" cy="188851"/>
          </a:xfrm>
          <a:prstGeom prst="bentConnector3">
            <a:avLst>
              <a:gd name="adj1" fmla="val 46565"/>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肘形连接符 51">
            <a:extLst>
              <a:ext uri="{FF2B5EF4-FFF2-40B4-BE49-F238E27FC236}">
                <a16:creationId xmlns:a16="http://schemas.microsoft.com/office/drawing/2014/main" id="{A4EA8FDC-2AF6-4CB9-BB18-6869E938D8A1}"/>
              </a:ext>
            </a:extLst>
          </p:cNvPr>
          <p:cNvCxnSpPr>
            <a:cxnSpLocks/>
            <a:stCxn id="9" idx="3"/>
            <a:endCxn id="70" idx="1"/>
          </p:cNvCxnSpPr>
          <p:nvPr/>
        </p:nvCxnSpPr>
        <p:spPr>
          <a:xfrm>
            <a:off x="3111467" y="4215763"/>
            <a:ext cx="854744" cy="1840661"/>
          </a:xfrm>
          <a:prstGeom prst="bentConnector3">
            <a:avLst>
              <a:gd name="adj1" fmla="val 46565"/>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4" name="圆角矩形 16">
            <a:extLst>
              <a:ext uri="{FF2B5EF4-FFF2-40B4-BE49-F238E27FC236}">
                <a16:creationId xmlns:a16="http://schemas.microsoft.com/office/drawing/2014/main" id="{F48EBD75-6E9E-429D-96D9-D6E6AA9BEBA4}"/>
              </a:ext>
            </a:extLst>
          </p:cNvPr>
          <p:cNvSpPr/>
          <p:nvPr/>
        </p:nvSpPr>
        <p:spPr>
          <a:xfrm>
            <a:off x="5714654" y="4394278"/>
            <a:ext cx="1517184" cy="422219"/>
          </a:xfrm>
          <a:prstGeom prst="round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zh-CN" altLang="en-US" sz="1800" b="1" dirty="0">
                <a:solidFill>
                  <a:schemeClr val="tx1"/>
                </a:solidFill>
                <a:ea typeface="黑体" panose="02010609060101010101" pitchFamily="49" charset="-122"/>
              </a:rPr>
              <a:t>寄存器寻址</a:t>
            </a:r>
          </a:p>
        </p:txBody>
      </p:sp>
      <p:sp>
        <p:nvSpPr>
          <p:cNvPr id="95" name="圆角矩形 16">
            <a:extLst>
              <a:ext uri="{FF2B5EF4-FFF2-40B4-BE49-F238E27FC236}">
                <a16:creationId xmlns:a16="http://schemas.microsoft.com/office/drawing/2014/main" id="{9C6DD99D-8609-4A2B-8379-88300D0732B8}"/>
              </a:ext>
            </a:extLst>
          </p:cNvPr>
          <p:cNvSpPr/>
          <p:nvPr/>
        </p:nvSpPr>
        <p:spPr>
          <a:xfrm>
            <a:off x="7347507" y="4394278"/>
            <a:ext cx="1517184" cy="422219"/>
          </a:xfrm>
          <a:prstGeom prst="round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zh-CN" altLang="en-US" sz="1800" b="1" dirty="0">
                <a:solidFill>
                  <a:schemeClr val="tx1"/>
                </a:solidFill>
                <a:ea typeface="黑体" panose="02010609060101010101" pitchFamily="49" charset="-122"/>
              </a:rPr>
              <a:t>立即数寻址</a:t>
            </a:r>
          </a:p>
        </p:txBody>
      </p:sp>
      <p:sp>
        <p:nvSpPr>
          <p:cNvPr id="96" name="圆角矩形 16">
            <a:extLst>
              <a:ext uri="{FF2B5EF4-FFF2-40B4-BE49-F238E27FC236}">
                <a16:creationId xmlns:a16="http://schemas.microsoft.com/office/drawing/2014/main" id="{9C9EFB4F-195A-4F19-B610-8770A5301A79}"/>
              </a:ext>
            </a:extLst>
          </p:cNvPr>
          <p:cNvSpPr/>
          <p:nvPr/>
        </p:nvSpPr>
        <p:spPr>
          <a:xfrm>
            <a:off x="5714255" y="4914538"/>
            <a:ext cx="1517184" cy="422219"/>
          </a:xfrm>
          <a:prstGeom prst="round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zh-CN" altLang="en-US" sz="1600" b="1" dirty="0">
                <a:solidFill>
                  <a:schemeClr val="tx1"/>
                </a:solidFill>
                <a:ea typeface="黑体" panose="02010609060101010101" pitchFamily="49" charset="-122"/>
              </a:rPr>
              <a:t>基址偏移寻址</a:t>
            </a:r>
          </a:p>
        </p:txBody>
      </p:sp>
      <p:sp>
        <p:nvSpPr>
          <p:cNvPr id="97" name="圆角矩形 16">
            <a:extLst>
              <a:ext uri="{FF2B5EF4-FFF2-40B4-BE49-F238E27FC236}">
                <a16:creationId xmlns:a16="http://schemas.microsoft.com/office/drawing/2014/main" id="{6321D141-8BA1-4AE7-A481-EEACB9D5BEC6}"/>
              </a:ext>
            </a:extLst>
          </p:cNvPr>
          <p:cNvSpPr/>
          <p:nvPr/>
        </p:nvSpPr>
        <p:spPr>
          <a:xfrm>
            <a:off x="7347507" y="4914537"/>
            <a:ext cx="1517184" cy="422219"/>
          </a:xfrm>
          <a:prstGeom prst="round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zh-CN" sz="1800" b="1" dirty="0">
                <a:solidFill>
                  <a:schemeClr val="tx1"/>
                </a:solidFill>
                <a:ea typeface="黑体" panose="02010609060101010101" pitchFamily="49" charset="-122"/>
              </a:rPr>
              <a:t>PC</a:t>
            </a:r>
            <a:r>
              <a:rPr kumimoji="1" lang="zh-CN" altLang="en-US" sz="1800" b="1" dirty="0">
                <a:solidFill>
                  <a:schemeClr val="tx1"/>
                </a:solidFill>
                <a:ea typeface="黑体" panose="02010609060101010101" pitchFamily="49" charset="-122"/>
              </a:rPr>
              <a:t>相对寻址</a:t>
            </a:r>
          </a:p>
        </p:txBody>
      </p:sp>
      <p:sp>
        <p:nvSpPr>
          <p:cNvPr id="100" name="圆角矩形 16">
            <a:extLst>
              <a:ext uri="{FF2B5EF4-FFF2-40B4-BE49-F238E27FC236}">
                <a16:creationId xmlns:a16="http://schemas.microsoft.com/office/drawing/2014/main" id="{01C81311-19A6-460C-B79E-C4924EF9A601}"/>
              </a:ext>
            </a:extLst>
          </p:cNvPr>
          <p:cNvSpPr/>
          <p:nvPr/>
        </p:nvSpPr>
        <p:spPr>
          <a:xfrm>
            <a:off x="5714255" y="5437116"/>
            <a:ext cx="1517184" cy="422219"/>
          </a:xfrm>
          <a:prstGeom prst="round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zh-CN" altLang="en-US" sz="1600" b="1" dirty="0">
                <a:solidFill>
                  <a:schemeClr val="tx1"/>
                </a:solidFill>
                <a:ea typeface="黑体" panose="02010609060101010101" pitchFamily="49" charset="-122"/>
              </a:rPr>
              <a:t>伪直接寻址</a:t>
            </a:r>
          </a:p>
        </p:txBody>
      </p:sp>
      <p:cxnSp>
        <p:nvCxnSpPr>
          <p:cNvPr id="101" name="直线箭头连接符 49">
            <a:extLst>
              <a:ext uri="{FF2B5EF4-FFF2-40B4-BE49-F238E27FC236}">
                <a16:creationId xmlns:a16="http://schemas.microsoft.com/office/drawing/2014/main" id="{0392BB4B-B30C-47E1-987A-C364620ED0F3}"/>
              </a:ext>
            </a:extLst>
          </p:cNvPr>
          <p:cNvCxnSpPr>
            <a:cxnSpLocks/>
          </p:cNvCxnSpPr>
          <p:nvPr/>
        </p:nvCxnSpPr>
        <p:spPr>
          <a:xfrm flipV="1">
            <a:off x="5313524" y="5126117"/>
            <a:ext cx="400731" cy="4402"/>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6" name="Arc 105">
            <a:extLst>
              <a:ext uri="{FF2B5EF4-FFF2-40B4-BE49-F238E27FC236}">
                <a16:creationId xmlns:a16="http://schemas.microsoft.com/office/drawing/2014/main" id="{5CC4DA4D-10BE-4367-80EE-120B4C5913A6}"/>
              </a:ext>
            </a:extLst>
          </p:cNvPr>
          <p:cNvSpPr/>
          <p:nvPr/>
        </p:nvSpPr>
        <p:spPr>
          <a:xfrm>
            <a:off x="6526764" y="2816774"/>
            <a:ext cx="381698" cy="1131376"/>
          </a:xfrm>
          <a:prstGeom prst="arc">
            <a:avLst>
              <a:gd name="adj1" fmla="val 16200000"/>
              <a:gd name="adj2" fmla="val 3943999"/>
            </a:avLst>
          </a:prstGeom>
          <a:ln w="25400" cap="rnd">
            <a:solidFill>
              <a:schemeClr val="tx1"/>
            </a:solidFill>
            <a:headEnd type="triangle" w="med" len="lg"/>
            <a:tailEnd type="triangle" w="med"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b="1">
              <a:ea typeface="黑体" panose="02010609060101010101" pitchFamily="49" charset="-122"/>
            </a:endParaRPr>
          </a:p>
        </p:txBody>
      </p:sp>
      <p:sp>
        <p:nvSpPr>
          <p:cNvPr id="107" name="TextBox 106">
            <a:extLst>
              <a:ext uri="{FF2B5EF4-FFF2-40B4-BE49-F238E27FC236}">
                <a16:creationId xmlns:a16="http://schemas.microsoft.com/office/drawing/2014/main" id="{4B402571-DF7D-4059-95AE-C1D27FEAC085}"/>
              </a:ext>
            </a:extLst>
          </p:cNvPr>
          <p:cNvSpPr txBox="1"/>
          <p:nvPr/>
        </p:nvSpPr>
        <p:spPr>
          <a:xfrm>
            <a:off x="6908462" y="2856338"/>
            <a:ext cx="1664238" cy="830997"/>
          </a:xfrm>
          <a:prstGeom prst="rect">
            <a:avLst/>
          </a:prstGeom>
          <a:noFill/>
        </p:spPr>
        <p:txBody>
          <a:bodyPr wrap="none" rtlCol="0">
            <a:spAutoFit/>
          </a:bodyPr>
          <a:lstStyle/>
          <a:p>
            <a:r>
              <a:rPr lang="zh-CN" altLang="en-US" sz="2400" b="1" dirty="0">
                <a:solidFill>
                  <a:schemeClr val="tx1"/>
                </a:solidFill>
                <a:latin typeface="+mn-lt"/>
                <a:ea typeface="黑体" panose="02010609060101010101" pitchFamily="49" charset="-122"/>
              </a:rPr>
              <a:t>问题</a:t>
            </a:r>
            <a:endParaRPr lang="en-US" altLang="zh-CN" sz="2400" b="1" dirty="0">
              <a:solidFill>
                <a:schemeClr val="tx1"/>
              </a:solidFill>
              <a:latin typeface="+mn-lt"/>
              <a:ea typeface="黑体" panose="02010609060101010101" pitchFamily="49" charset="-122"/>
            </a:endParaRPr>
          </a:p>
          <a:p>
            <a:r>
              <a:rPr lang="en-US" altLang="zh-CN" sz="2400" b="1" dirty="0">
                <a:solidFill>
                  <a:schemeClr val="tx1"/>
                </a:solidFill>
                <a:latin typeface="+mn-lt"/>
                <a:ea typeface="黑体" panose="02010609060101010101" pitchFamily="49" charset="-122"/>
              </a:rPr>
              <a:t>&amp;</a:t>
            </a:r>
            <a:r>
              <a:rPr lang="zh-CN" altLang="en-US" sz="2400" b="1" dirty="0">
                <a:solidFill>
                  <a:schemeClr val="tx1"/>
                </a:solidFill>
                <a:latin typeface="+mn-lt"/>
                <a:ea typeface="黑体" panose="02010609060101010101" pitchFamily="49" charset="-122"/>
              </a:rPr>
              <a:t>解决方案</a:t>
            </a:r>
            <a:endParaRPr lang="en-US" sz="2400" b="1" dirty="0">
              <a:solidFill>
                <a:schemeClr val="tx1"/>
              </a:solidFill>
              <a:latin typeface="+mn-lt"/>
              <a:ea typeface="黑体" panose="02010609060101010101" pitchFamily="49" charset="-122"/>
            </a:endParaRPr>
          </a:p>
        </p:txBody>
      </p:sp>
      <p:sp>
        <p:nvSpPr>
          <p:cNvPr id="3" name="Title 4">
            <a:extLst>
              <a:ext uri="{FF2B5EF4-FFF2-40B4-BE49-F238E27FC236}">
                <a16:creationId xmlns:a16="http://schemas.microsoft.com/office/drawing/2014/main" id="{C0C0253F-2013-71D7-D739-05D23DE68687}"/>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sz="4000" dirty="0">
                <a:latin typeface="+mn-lt"/>
                <a:ea typeface="+mj-ea"/>
              </a:rPr>
              <a:t>总结</a:t>
            </a:r>
            <a:endParaRPr lang="en-CN" kern="0" dirty="0">
              <a:latin typeface="+mn-lt"/>
            </a:endParaRPr>
          </a:p>
        </p:txBody>
      </p:sp>
    </p:spTree>
    <p:extLst>
      <p:ext uri="{BB962C8B-B14F-4D97-AF65-F5344CB8AC3E}">
        <p14:creationId xmlns:p14="http://schemas.microsoft.com/office/powerpoint/2010/main" val="397812856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a:extLst>
              <a:ext uri="{FF2B5EF4-FFF2-40B4-BE49-F238E27FC236}">
                <a16:creationId xmlns:a16="http://schemas.microsoft.com/office/drawing/2014/main" id="{68F7FF1C-DC59-5F43-A383-991D51B72C86}"/>
              </a:ext>
            </a:extLst>
          </p:cNvPr>
          <p:cNvSpPr>
            <a:spLocks noGrp="1"/>
          </p:cNvSpPr>
          <p:nvPr>
            <p:ph type="sldNum" sz="quarter" idx="12"/>
          </p:nvPr>
        </p:nvSpPr>
        <p:spPr/>
        <p:txBody>
          <a:bodyPr/>
          <a:lstStyle/>
          <a:p>
            <a:fld id="{14659731-6BD7-46E7-8D3C-2F3AC07E20B1}" type="slidenum">
              <a:rPr lang="en-US" altLang="zh-CN" smtClean="0"/>
              <a:pPr/>
              <a:t>98</a:t>
            </a:fld>
            <a:endParaRPr lang="en-US" altLang="zh-CN"/>
          </a:p>
        </p:txBody>
      </p:sp>
      <p:sp>
        <p:nvSpPr>
          <p:cNvPr id="3" name="Content Placeholder 2">
            <a:extLst>
              <a:ext uri="{FF2B5EF4-FFF2-40B4-BE49-F238E27FC236}">
                <a16:creationId xmlns:a16="http://schemas.microsoft.com/office/drawing/2014/main" id="{1DB47E9D-ABD7-462B-A8E0-631352AB44CD}"/>
              </a:ext>
            </a:extLst>
          </p:cNvPr>
          <p:cNvSpPr>
            <a:spLocks noGrp="1"/>
          </p:cNvSpPr>
          <p:nvPr>
            <p:ph idx="4294967295"/>
          </p:nvPr>
        </p:nvSpPr>
        <p:spPr>
          <a:xfrm>
            <a:off x="367990" y="1287516"/>
            <a:ext cx="8129834" cy="4351338"/>
          </a:xfrm>
        </p:spPr>
        <p:txBody>
          <a:bodyPr/>
          <a:lstStyle/>
          <a:p>
            <a:r>
              <a:rPr lang="zh-CN" altLang="en-US" dirty="0"/>
              <a:t>指令集架构：桥梁，需要软硬件协同设计</a:t>
            </a:r>
          </a:p>
        </p:txBody>
      </p:sp>
      <p:sp>
        <p:nvSpPr>
          <p:cNvPr id="2" name="Title 4">
            <a:extLst>
              <a:ext uri="{FF2B5EF4-FFF2-40B4-BE49-F238E27FC236}">
                <a16:creationId xmlns:a16="http://schemas.microsoft.com/office/drawing/2014/main" id="{FB1163D4-50DD-7C6D-BA98-56C8F02AB0DD}"/>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sz="4000" dirty="0">
                <a:latin typeface="+mj-ea"/>
                <a:ea typeface="+mj-ea"/>
              </a:rPr>
              <a:t>总结</a:t>
            </a:r>
            <a:endParaRPr lang="en-CN" kern="0" dirty="0"/>
          </a:p>
        </p:txBody>
      </p:sp>
      <p:grpSp>
        <p:nvGrpSpPr>
          <p:cNvPr id="19" name="组合 18">
            <a:extLst>
              <a:ext uri="{FF2B5EF4-FFF2-40B4-BE49-F238E27FC236}">
                <a16:creationId xmlns:a16="http://schemas.microsoft.com/office/drawing/2014/main" id="{06663B52-5845-FF0A-0A8C-A6AB12EC3B9B}"/>
              </a:ext>
            </a:extLst>
          </p:cNvPr>
          <p:cNvGrpSpPr/>
          <p:nvPr/>
        </p:nvGrpSpPr>
        <p:grpSpPr>
          <a:xfrm>
            <a:off x="2929409" y="1964732"/>
            <a:ext cx="2797125" cy="4351338"/>
            <a:chOff x="2929409" y="1562415"/>
            <a:chExt cx="2797125" cy="5071690"/>
          </a:xfrm>
        </p:grpSpPr>
        <p:cxnSp>
          <p:nvCxnSpPr>
            <p:cNvPr id="6" name="Straight Connector 13">
              <a:extLst>
                <a:ext uri="{FF2B5EF4-FFF2-40B4-BE49-F238E27FC236}">
                  <a16:creationId xmlns:a16="http://schemas.microsoft.com/office/drawing/2014/main" id="{F803B053-E083-0567-1B2D-9439F559BEFD}"/>
                </a:ext>
              </a:extLst>
            </p:cNvPr>
            <p:cNvCxnSpPr>
              <a:cxnSpLocks/>
            </p:cNvCxnSpPr>
            <p:nvPr/>
          </p:nvCxnSpPr>
          <p:spPr>
            <a:xfrm flipV="1">
              <a:off x="3348118" y="3883215"/>
              <a:ext cx="0" cy="1149572"/>
            </a:xfrm>
            <a:prstGeom prst="line">
              <a:avLst/>
            </a:prstGeom>
            <a:noFill/>
            <a:ln w="38100" cap="rnd" cmpd="sng" algn="ctr">
              <a:solidFill>
                <a:srgbClr val="4F81BD">
                  <a:lumMod val="75000"/>
                </a:srgbClr>
              </a:solidFill>
              <a:prstDash val="solid"/>
              <a:tailEnd type="triangle" w="med" len="lg"/>
            </a:ln>
            <a:effectLst/>
          </p:spPr>
        </p:cxnSp>
        <p:cxnSp>
          <p:nvCxnSpPr>
            <p:cNvPr id="7" name="Straight Connector 14">
              <a:extLst>
                <a:ext uri="{FF2B5EF4-FFF2-40B4-BE49-F238E27FC236}">
                  <a16:creationId xmlns:a16="http://schemas.microsoft.com/office/drawing/2014/main" id="{E744B006-19B8-A730-63EA-892EEF929EBF}"/>
                </a:ext>
              </a:extLst>
            </p:cNvPr>
            <p:cNvCxnSpPr>
              <a:cxnSpLocks/>
            </p:cNvCxnSpPr>
            <p:nvPr/>
          </p:nvCxnSpPr>
          <p:spPr>
            <a:xfrm>
              <a:off x="3335928" y="5600660"/>
              <a:ext cx="0" cy="607821"/>
            </a:xfrm>
            <a:prstGeom prst="line">
              <a:avLst/>
            </a:prstGeom>
            <a:noFill/>
            <a:ln w="38100" cap="rnd" cmpd="sng" algn="ctr">
              <a:solidFill>
                <a:srgbClr val="4F81BD">
                  <a:lumMod val="75000"/>
                </a:srgbClr>
              </a:solidFill>
              <a:prstDash val="solid"/>
              <a:tailEnd type="triangle" w="med" len="lg"/>
            </a:ln>
            <a:effectLst/>
          </p:spPr>
        </p:cxnSp>
        <p:cxnSp>
          <p:nvCxnSpPr>
            <p:cNvPr id="8" name="Straight Connector 17">
              <a:extLst>
                <a:ext uri="{FF2B5EF4-FFF2-40B4-BE49-F238E27FC236}">
                  <a16:creationId xmlns:a16="http://schemas.microsoft.com/office/drawing/2014/main" id="{0E43C4CA-CD5A-4D1F-5CC2-5083B2931A9F}"/>
                </a:ext>
              </a:extLst>
            </p:cNvPr>
            <p:cNvCxnSpPr>
              <a:cxnSpLocks/>
            </p:cNvCxnSpPr>
            <p:nvPr/>
          </p:nvCxnSpPr>
          <p:spPr>
            <a:xfrm flipV="1">
              <a:off x="3342047" y="1562415"/>
              <a:ext cx="0" cy="907875"/>
            </a:xfrm>
            <a:prstGeom prst="line">
              <a:avLst/>
            </a:prstGeom>
            <a:noFill/>
            <a:ln w="38100" cap="rnd" cmpd="sng" algn="ctr">
              <a:solidFill>
                <a:srgbClr val="4F81BD">
                  <a:lumMod val="75000"/>
                </a:srgbClr>
              </a:solidFill>
              <a:prstDash val="solid"/>
              <a:tailEnd type="triangle" w="med" len="lg"/>
            </a:ln>
            <a:effectLst/>
          </p:spPr>
        </p:cxnSp>
        <p:cxnSp>
          <p:nvCxnSpPr>
            <p:cNvPr id="9" name="Straight Connector 19">
              <a:extLst>
                <a:ext uri="{FF2B5EF4-FFF2-40B4-BE49-F238E27FC236}">
                  <a16:creationId xmlns:a16="http://schemas.microsoft.com/office/drawing/2014/main" id="{34D6BE3B-873B-5850-5CBE-F5B633A7055D}"/>
                </a:ext>
              </a:extLst>
            </p:cNvPr>
            <p:cNvCxnSpPr>
              <a:cxnSpLocks/>
            </p:cNvCxnSpPr>
            <p:nvPr/>
          </p:nvCxnSpPr>
          <p:spPr>
            <a:xfrm>
              <a:off x="3079807" y="3889549"/>
              <a:ext cx="660803" cy="0"/>
            </a:xfrm>
            <a:prstGeom prst="line">
              <a:avLst/>
            </a:prstGeom>
            <a:noFill/>
            <a:ln w="38100" cap="rnd" cmpd="sng" algn="ctr">
              <a:solidFill>
                <a:srgbClr val="C00000"/>
              </a:solidFill>
              <a:prstDash val="solid"/>
            </a:ln>
            <a:effectLst/>
          </p:spPr>
        </p:cxnSp>
        <p:graphicFrame>
          <p:nvGraphicFramePr>
            <p:cNvPr id="10" name="Table 9">
              <a:extLst>
                <a:ext uri="{FF2B5EF4-FFF2-40B4-BE49-F238E27FC236}">
                  <a16:creationId xmlns:a16="http://schemas.microsoft.com/office/drawing/2014/main" id="{D75DCC97-148D-A818-1672-13B255FBC03B}"/>
                </a:ext>
              </a:extLst>
            </p:cNvPr>
            <p:cNvGraphicFramePr>
              <a:graphicFrameLocks/>
            </p:cNvGraphicFramePr>
            <p:nvPr>
              <p:extLst>
                <p:ext uri="{D42A27DB-BD31-4B8C-83A1-F6EECF244321}">
                  <p14:modId xmlns:p14="http://schemas.microsoft.com/office/powerpoint/2010/main" val="136429767"/>
                </p:ext>
              </p:extLst>
            </p:nvPr>
          </p:nvGraphicFramePr>
          <p:xfrm>
            <a:off x="3740610" y="1562415"/>
            <a:ext cx="1985924" cy="4646061"/>
          </p:xfrm>
          <a:graphic>
            <a:graphicData uri="http://schemas.openxmlformats.org/drawingml/2006/table">
              <a:tbl>
                <a:tblPr firstRow="1" bandRow="1"/>
                <a:tblGrid>
                  <a:gridCol w="1985924">
                    <a:extLst>
                      <a:ext uri="{9D8B030D-6E8A-4147-A177-3AD203B41FA5}">
                        <a16:colId xmlns:a16="http://schemas.microsoft.com/office/drawing/2014/main" val="1946283791"/>
                      </a:ext>
                    </a:extLst>
                  </a:gridCol>
                </a:tblGrid>
                <a:tr h="442907">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zh-CN" altLang="en-US" sz="1800" b="1">
                            <a:solidFill>
                              <a:schemeClr val="tx1"/>
                            </a:solidFill>
                            <a:latin typeface="+mj-ea"/>
                            <a:ea typeface="+mj-ea"/>
                          </a:rPr>
                          <a:t>程序</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extLst>
                    <a:ext uri="{0D108BD9-81ED-4DB2-BD59-A6C34878D82A}">
                      <a16:rowId xmlns:a16="http://schemas.microsoft.com/office/drawing/2014/main" val="2786554620"/>
                    </a:ext>
                  </a:extLst>
                </a:tr>
                <a:tr h="442907">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zh-CN" altLang="en-US" sz="1800" b="1">
                            <a:solidFill>
                              <a:schemeClr val="tx1"/>
                            </a:solidFill>
                            <a:latin typeface="+mj-ea"/>
                            <a:ea typeface="+mj-ea"/>
                          </a:rPr>
                          <a:t>算法</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extLst>
                    <a:ext uri="{0D108BD9-81ED-4DB2-BD59-A6C34878D82A}">
                      <a16:rowId xmlns:a16="http://schemas.microsoft.com/office/drawing/2014/main" val="2823496159"/>
                    </a:ext>
                  </a:extLst>
                </a:tr>
                <a:tr h="442907">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zh-CN" altLang="en-US" sz="1800" b="1">
                            <a:solidFill>
                              <a:schemeClr val="tx1"/>
                            </a:solidFill>
                            <a:latin typeface="+mj-ea"/>
                            <a:ea typeface="+mj-ea"/>
                          </a:rPr>
                          <a:t>操作系统</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extLst>
                    <a:ext uri="{0D108BD9-81ED-4DB2-BD59-A6C34878D82A}">
                      <a16:rowId xmlns:a16="http://schemas.microsoft.com/office/drawing/2014/main" val="1812218006"/>
                    </a:ext>
                  </a:extLst>
                </a:tr>
                <a:tr h="442907">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zh-CN" altLang="en-US" sz="1800" b="1" dirty="0">
                            <a:solidFill>
                              <a:schemeClr val="tx1"/>
                            </a:solidFill>
                            <a:latin typeface="+mj-ea"/>
                            <a:ea typeface="+mj-ea"/>
                          </a:rPr>
                          <a:t>编译器</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extLst>
                    <a:ext uri="{0D108BD9-81ED-4DB2-BD59-A6C34878D82A}">
                      <a16:rowId xmlns:a16="http://schemas.microsoft.com/office/drawing/2014/main" val="1632005890"/>
                    </a:ext>
                  </a:extLst>
                </a:tr>
                <a:tr h="442907">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zh-CN" altLang="en-US" sz="1800" b="1" dirty="0">
                            <a:solidFill>
                              <a:srgbClr val="C00000"/>
                            </a:solidFill>
                            <a:latin typeface="+mj-ea"/>
                            <a:ea typeface="+mj-ea"/>
                          </a:rPr>
                          <a:t>指令集体系结构</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79646">
                          <a:lumMod val="20000"/>
                          <a:lumOff val="80000"/>
                        </a:srgbClr>
                      </a:solidFill>
                    </a:tcPr>
                  </a:tc>
                  <a:extLst>
                    <a:ext uri="{0D108BD9-81ED-4DB2-BD59-A6C34878D82A}">
                      <a16:rowId xmlns:a16="http://schemas.microsoft.com/office/drawing/2014/main" val="3800806289"/>
                    </a:ext>
                  </a:extLst>
                </a:tr>
                <a:tr h="442907">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zh-CN" altLang="en-US" sz="1800" b="1" dirty="0">
                            <a:solidFill>
                              <a:schemeClr val="tx1"/>
                            </a:solidFill>
                            <a:latin typeface="+mj-ea"/>
                            <a:ea typeface="+mj-ea"/>
                          </a:rPr>
                          <a:t>微体系结构</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226812972"/>
                    </a:ext>
                  </a:extLst>
                </a:tr>
                <a:tr h="442907">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zh-CN" altLang="en-US" sz="1800" b="1" dirty="0">
                            <a:solidFill>
                              <a:schemeClr val="tx1"/>
                            </a:solidFill>
                            <a:latin typeface="+mj-ea"/>
                            <a:ea typeface="+mj-ea"/>
                          </a:rPr>
                          <a:t>功能部件</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4F81BD">
                          <a:lumMod val="20000"/>
                          <a:lumOff val="80000"/>
                        </a:srgbClr>
                      </a:solidFill>
                    </a:tcPr>
                  </a:tc>
                  <a:extLst>
                    <a:ext uri="{0D108BD9-81ED-4DB2-BD59-A6C34878D82A}">
                      <a16:rowId xmlns:a16="http://schemas.microsoft.com/office/drawing/2014/main" val="3597467303"/>
                    </a:ext>
                  </a:extLst>
                </a:tr>
                <a:tr h="442907">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zh-CN" altLang="en-US" sz="1800" b="1" dirty="0">
                            <a:solidFill>
                              <a:schemeClr val="tx1"/>
                            </a:solidFill>
                            <a:latin typeface="+mj-ea"/>
                            <a:ea typeface="+mj-ea"/>
                          </a:rPr>
                          <a:t>电路</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4F81BD">
                          <a:lumMod val="20000"/>
                          <a:lumOff val="80000"/>
                        </a:srgbClr>
                      </a:solidFill>
                    </a:tcPr>
                  </a:tc>
                  <a:extLst>
                    <a:ext uri="{0D108BD9-81ED-4DB2-BD59-A6C34878D82A}">
                      <a16:rowId xmlns:a16="http://schemas.microsoft.com/office/drawing/2014/main" val="2919204186"/>
                    </a:ext>
                  </a:extLst>
                </a:tr>
                <a:tr h="442907">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zh-CN" altLang="en-US" sz="1800" b="1" dirty="0">
                            <a:solidFill>
                              <a:schemeClr val="tx1"/>
                            </a:solidFill>
                            <a:latin typeface="+mj-ea"/>
                            <a:ea typeface="+mj-ea"/>
                          </a:rPr>
                          <a:t>器件</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4F81BD">
                          <a:lumMod val="20000"/>
                          <a:lumOff val="80000"/>
                        </a:srgbClr>
                      </a:solidFill>
                    </a:tcPr>
                  </a:tc>
                  <a:extLst>
                    <a:ext uri="{0D108BD9-81ED-4DB2-BD59-A6C34878D82A}">
                      <a16:rowId xmlns:a16="http://schemas.microsoft.com/office/drawing/2014/main" val="2332963798"/>
                    </a:ext>
                  </a:extLst>
                </a:tr>
              </a:tbl>
            </a:graphicData>
          </a:graphic>
        </p:graphicFrame>
        <p:sp>
          <p:nvSpPr>
            <p:cNvPr id="11" name="TextBox 22">
              <a:extLst>
                <a:ext uri="{FF2B5EF4-FFF2-40B4-BE49-F238E27FC236}">
                  <a16:creationId xmlns:a16="http://schemas.microsoft.com/office/drawing/2014/main" id="{1FADF173-E2E6-CD0C-1F75-21E8210EBE33}"/>
                </a:ext>
              </a:extLst>
            </p:cNvPr>
            <p:cNvSpPr txBox="1"/>
            <p:nvPr/>
          </p:nvSpPr>
          <p:spPr>
            <a:xfrm>
              <a:off x="3862057" y="6172440"/>
              <a:ext cx="1755610" cy="461665"/>
            </a:xfrm>
            <a:prstGeom prst="rect">
              <a:avLst/>
            </a:prstGeom>
            <a:noFill/>
          </p:spPr>
          <p:txBody>
            <a:bodyPr wrap="none" rtlCol="0">
              <a:spAutoFit/>
            </a:bodyPr>
            <a:lstStyle/>
            <a:p>
              <a:pPr algn="ctr"/>
              <a:r>
                <a:rPr lang="zh-CN" altLang="en-US" sz="2400" b="1" dirty="0">
                  <a:solidFill>
                    <a:srgbClr val="000000"/>
                  </a:solidFill>
                  <a:latin typeface="+mn-ea"/>
                  <a:ea typeface="+mn-ea"/>
                </a:rPr>
                <a:t>计算机系统</a:t>
              </a:r>
            </a:p>
          </p:txBody>
        </p:sp>
        <p:cxnSp>
          <p:nvCxnSpPr>
            <p:cNvPr id="12" name="Straight Connector 23">
              <a:extLst>
                <a:ext uri="{FF2B5EF4-FFF2-40B4-BE49-F238E27FC236}">
                  <a16:creationId xmlns:a16="http://schemas.microsoft.com/office/drawing/2014/main" id="{4B1CF0F9-2B51-0638-EBDA-AD3FD4674E65}"/>
                </a:ext>
              </a:extLst>
            </p:cNvPr>
            <p:cNvCxnSpPr>
              <a:cxnSpLocks/>
            </p:cNvCxnSpPr>
            <p:nvPr/>
          </p:nvCxnSpPr>
          <p:spPr>
            <a:xfrm>
              <a:off x="3348889" y="3036821"/>
              <a:ext cx="0" cy="852728"/>
            </a:xfrm>
            <a:prstGeom prst="line">
              <a:avLst/>
            </a:prstGeom>
            <a:noFill/>
            <a:ln w="38100" cap="rnd" cmpd="sng" algn="ctr">
              <a:solidFill>
                <a:srgbClr val="4F81BD">
                  <a:lumMod val="75000"/>
                </a:srgbClr>
              </a:solidFill>
              <a:prstDash val="solid"/>
              <a:tailEnd type="triangle" w="med" len="lg"/>
            </a:ln>
            <a:effectLst/>
          </p:spPr>
        </p:cxnSp>
        <p:sp>
          <p:nvSpPr>
            <p:cNvPr id="13" name="TextBox 27">
              <a:extLst>
                <a:ext uri="{FF2B5EF4-FFF2-40B4-BE49-F238E27FC236}">
                  <a16:creationId xmlns:a16="http://schemas.microsoft.com/office/drawing/2014/main" id="{39BB0A2C-3BB2-237A-3BDC-C68FECB32316}"/>
                </a:ext>
              </a:extLst>
            </p:cNvPr>
            <p:cNvSpPr txBox="1"/>
            <p:nvPr/>
          </p:nvSpPr>
          <p:spPr>
            <a:xfrm>
              <a:off x="2942367" y="2494992"/>
              <a:ext cx="813043" cy="461665"/>
            </a:xfrm>
            <a:prstGeom prst="rect">
              <a:avLst/>
            </a:prstGeom>
            <a:noFill/>
          </p:spPr>
          <p:txBody>
            <a:bodyPr wrap="none" rtlCol="0">
              <a:spAutoFit/>
            </a:bodyPr>
            <a:lstStyle/>
            <a:p>
              <a:pPr algn="ctr"/>
              <a:r>
                <a:rPr lang="zh-CN" altLang="en-US" sz="2400" b="1">
                  <a:solidFill>
                    <a:srgbClr val="4F81BD">
                      <a:lumMod val="75000"/>
                    </a:srgbClr>
                  </a:solidFill>
                  <a:latin typeface="+mn-ea"/>
                  <a:ea typeface="+mn-ea"/>
                </a:rPr>
                <a:t>软件</a:t>
              </a:r>
            </a:p>
          </p:txBody>
        </p:sp>
        <p:sp>
          <p:nvSpPr>
            <p:cNvPr id="16" name="TextBox 30">
              <a:extLst>
                <a:ext uri="{FF2B5EF4-FFF2-40B4-BE49-F238E27FC236}">
                  <a16:creationId xmlns:a16="http://schemas.microsoft.com/office/drawing/2014/main" id="{2DA19C65-8246-18A3-FE1F-37E77F050B8B}"/>
                </a:ext>
              </a:extLst>
            </p:cNvPr>
            <p:cNvSpPr txBox="1"/>
            <p:nvPr/>
          </p:nvSpPr>
          <p:spPr>
            <a:xfrm>
              <a:off x="2929409" y="5085891"/>
              <a:ext cx="813043" cy="461665"/>
            </a:xfrm>
            <a:prstGeom prst="rect">
              <a:avLst/>
            </a:prstGeom>
            <a:noFill/>
          </p:spPr>
          <p:txBody>
            <a:bodyPr wrap="none" rtlCol="0">
              <a:spAutoFit/>
            </a:bodyPr>
            <a:lstStyle/>
            <a:p>
              <a:pPr algn="ctr"/>
              <a:r>
                <a:rPr lang="zh-CN" altLang="en-US" sz="2400" b="1">
                  <a:solidFill>
                    <a:srgbClr val="4F81BD">
                      <a:lumMod val="75000"/>
                    </a:srgbClr>
                  </a:solidFill>
                  <a:latin typeface="+mn-ea"/>
                  <a:ea typeface="+mn-ea"/>
                </a:rPr>
                <a:t>硬件</a:t>
              </a:r>
            </a:p>
          </p:txBody>
        </p:sp>
      </p:grpSp>
    </p:spTree>
    <p:extLst>
      <p:ext uri="{BB962C8B-B14F-4D97-AF65-F5344CB8AC3E}">
        <p14:creationId xmlns:p14="http://schemas.microsoft.com/office/powerpoint/2010/main" val="248152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a:extLst>
              <a:ext uri="{FF2B5EF4-FFF2-40B4-BE49-F238E27FC236}">
                <a16:creationId xmlns:a16="http://schemas.microsoft.com/office/drawing/2014/main" id="{68F7FF1C-DC59-5F43-A383-991D51B72C86}"/>
              </a:ext>
            </a:extLst>
          </p:cNvPr>
          <p:cNvSpPr>
            <a:spLocks noGrp="1"/>
          </p:cNvSpPr>
          <p:nvPr>
            <p:ph type="sldNum" sz="quarter" idx="12"/>
          </p:nvPr>
        </p:nvSpPr>
        <p:spPr/>
        <p:txBody>
          <a:bodyPr/>
          <a:lstStyle/>
          <a:p>
            <a:fld id="{14659731-6BD7-46E7-8D3C-2F3AC07E20B1}" type="slidenum">
              <a:rPr lang="en-US" altLang="zh-CN" smtClean="0"/>
              <a:pPr/>
              <a:t>99</a:t>
            </a:fld>
            <a:endParaRPr lang="en-US" altLang="zh-CN"/>
          </a:p>
        </p:txBody>
      </p:sp>
      <p:sp>
        <p:nvSpPr>
          <p:cNvPr id="3" name="Content Placeholder 2">
            <a:extLst>
              <a:ext uri="{FF2B5EF4-FFF2-40B4-BE49-F238E27FC236}">
                <a16:creationId xmlns:a16="http://schemas.microsoft.com/office/drawing/2014/main" id="{1DB47E9D-ABD7-462B-A8E0-631352AB44CD}"/>
              </a:ext>
            </a:extLst>
          </p:cNvPr>
          <p:cNvSpPr>
            <a:spLocks noGrp="1"/>
          </p:cNvSpPr>
          <p:nvPr>
            <p:ph idx="4294967295"/>
          </p:nvPr>
        </p:nvSpPr>
        <p:spPr>
          <a:xfrm>
            <a:off x="457199" y="1386839"/>
            <a:ext cx="8352263" cy="4084321"/>
          </a:xfrm>
        </p:spPr>
        <p:txBody>
          <a:bodyPr/>
          <a:lstStyle/>
          <a:p>
            <a:r>
              <a:rPr lang="zh-CN" altLang="en-US" dirty="0"/>
              <a:t>课程</a:t>
            </a:r>
            <a:endParaRPr lang="en-US" altLang="zh-CN" dirty="0"/>
          </a:p>
          <a:p>
            <a:pPr lvl="1"/>
            <a:r>
              <a:rPr lang="en-US" altLang="zh-CN" dirty="0"/>
              <a:t>《</a:t>
            </a:r>
            <a:r>
              <a:rPr lang="zh-CN" altLang="en-US" dirty="0"/>
              <a:t>现代计算机体系架构</a:t>
            </a:r>
            <a:r>
              <a:rPr lang="en-US" altLang="zh-CN" dirty="0"/>
              <a:t>》——</a:t>
            </a:r>
            <a:r>
              <a:rPr lang="zh-CN" altLang="en-US" dirty="0"/>
              <a:t>理论课</a:t>
            </a:r>
            <a:endParaRPr lang="en-US" altLang="zh-CN" dirty="0"/>
          </a:p>
          <a:p>
            <a:pPr lvl="2"/>
            <a:r>
              <a:rPr lang="zh-CN" altLang="en-US" dirty="0"/>
              <a:t>进一步了解现代指令集的发展</a:t>
            </a:r>
            <a:endParaRPr lang="en-US" altLang="zh-CN" dirty="0"/>
          </a:p>
          <a:p>
            <a:pPr lvl="1"/>
            <a:r>
              <a:rPr lang="en-US" altLang="zh-CN" dirty="0"/>
              <a:t>《</a:t>
            </a:r>
            <a:r>
              <a:rPr lang="zh-CN" altLang="en-US" dirty="0"/>
              <a:t>基于</a:t>
            </a:r>
            <a:r>
              <a:rPr lang="en-US" altLang="zh-CN" dirty="0"/>
              <a:t>DSP</a:t>
            </a:r>
            <a:r>
              <a:rPr lang="zh-CN" altLang="en-US" dirty="0"/>
              <a:t>的系统设计</a:t>
            </a:r>
            <a:r>
              <a:rPr lang="en-US" altLang="zh-CN" dirty="0"/>
              <a:t>》——</a:t>
            </a:r>
            <a:r>
              <a:rPr lang="zh-CN" altLang="en-US" dirty="0"/>
              <a:t>实验课</a:t>
            </a:r>
            <a:endParaRPr lang="en-US" altLang="zh-CN" dirty="0"/>
          </a:p>
          <a:p>
            <a:pPr lvl="2"/>
            <a:r>
              <a:rPr lang="zh-CN" altLang="en-US" dirty="0"/>
              <a:t>学习</a:t>
            </a:r>
            <a:r>
              <a:rPr lang="en-US" altLang="zh-CN" dirty="0"/>
              <a:t>Blackfin DSP</a:t>
            </a:r>
            <a:r>
              <a:rPr lang="zh-CN" altLang="en-US" dirty="0"/>
              <a:t>专用指令集的结构和编程</a:t>
            </a:r>
            <a:endParaRPr lang="en-US" altLang="zh-CN" dirty="0"/>
          </a:p>
          <a:p>
            <a:pPr lvl="2"/>
            <a:r>
              <a:rPr lang="zh-CN" altLang="en-US" dirty="0"/>
              <a:t>深入理解硬件</a:t>
            </a:r>
            <a:r>
              <a:rPr lang="en-US" altLang="zh-CN" dirty="0"/>
              <a:t>/</a:t>
            </a:r>
            <a:r>
              <a:rPr lang="zh-CN" altLang="en-US" dirty="0"/>
              <a:t>软件之间的折衷和协同优化</a:t>
            </a:r>
            <a:endParaRPr lang="en-US" altLang="zh-CN" dirty="0"/>
          </a:p>
          <a:p>
            <a:r>
              <a:rPr lang="zh-CN" altLang="en-US" dirty="0"/>
              <a:t>阅读</a:t>
            </a:r>
            <a:endParaRPr lang="en-US" altLang="zh-CN" dirty="0"/>
          </a:p>
          <a:p>
            <a:pPr lvl="1"/>
            <a:r>
              <a:rPr lang="en-US" altLang="zh-CN" dirty="0"/>
              <a:t>《</a:t>
            </a:r>
            <a:r>
              <a:rPr lang="zh-CN" altLang="en-US" dirty="0"/>
              <a:t>计算机组成与设计硬件</a:t>
            </a:r>
            <a:r>
              <a:rPr lang="en-US" altLang="zh-CN" dirty="0"/>
              <a:t>/</a:t>
            </a:r>
            <a:r>
              <a:rPr lang="zh-CN" altLang="en-US" dirty="0"/>
              <a:t>软件接口</a:t>
            </a:r>
            <a:r>
              <a:rPr lang="en-US" altLang="zh-CN" dirty="0"/>
              <a:t>》</a:t>
            </a:r>
            <a:r>
              <a:rPr lang="zh-CN" altLang="en-US" dirty="0"/>
              <a:t>第二章</a:t>
            </a:r>
            <a:endParaRPr lang="en-US" altLang="zh-CN" dirty="0"/>
          </a:p>
          <a:p>
            <a:pPr lvl="1"/>
            <a:r>
              <a:rPr lang="en-US" altLang="zh-CN" dirty="0"/>
              <a:t>《</a:t>
            </a:r>
            <a:r>
              <a:rPr lang="zh-CN" altLang="en-US" dirty="0"/>
              <a:t>计算机系统结构：量化研究方法</a:t>
            </a:r>
            <a:r>
              <a:rPr lang="en-US" altLang="zh-CN" dirty="0"/>
              <a:t>》</a:t>
            </a:r>
            <a:r>
              <a:rPr lang="zh-CN" altLang="en-US" dirty="0"/>
              <a:t>附录</a:t>
            </a:r>
            <a:r>
              <a:rPr lang="en-US" altLang="zh-CN" dirty="0"/>
              <a:t>A</a:t>
            </a:r>
            <a:endParaRPr lang="en-US" altLang="zh-CN" sz="2800" dirty="0"/>
          </a:p>
        </p:txBody>
      </p:sp>
      <p:sp>
        <p:nvSpPr>
          <p:cNvPr id="2" name="Title 4">
            <a:extLst>
              <a:ext uri="{FF2B5EF4-FFF2-40B4-BE49-F238E27FC236}">
                <a16:creationId xmlns:a16="http://schemas.microsoft.com/office/drawing/2014/main" id="{808BC02C-93AB-BFF6-B903-E58280D2FF5B}"/>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sz="4000" dirty="0">
                <a:latin typeface="+mj-ea"/>
                <a:ea typeface="+mj-ea"/>
              </a:rPr>
              <a:t>后续学习建议</a:t>
            </a:r>
            <a:endParaRPr lang="en-CN" kern="0" dirty="0"/>
          </a:p>
        </p:txBody>
      </p:sp>
    </p:spTree>
    <p:extLst>
      <p:ext uri="{BB962C8B-B14F-4D97-AF65-F5344CB8AC3E}">
        <p14:creationId xmlns:p14="http://schemas.microsoft.com/office/powerpoint/2010/main" val="28340935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58C6A64-4532-734D-A003-17AB02EDCF0D}"/>
              </a:ext>
            </a:extLst>
          </p:cNvPr>
          <p:cNvSpPr>
            <a:spLocks noGrp="1"/>
          </p:cNvSpPr>
          <p:nvPr>
            <p:ph type="sldNum" sz="quarter" idx="12"/>
          </p:nvPr>
        </p:nvSpPr>
        <p:spPr/>
        <p:txBody>
          <a:bodyPr/>
          <a:lstStyle/>
          <a:p>
            <a:fld id="{176ACFD1-D213-4B9C-817B-45486DBF105A}" type="slidenum">
              <a:rPr lang="en-US" smtClean="0">
                <a:solidFill>
                  <a:prstClr val="black"/>
                </a:solidFill>
              </a:rPr>
              <a:pPr/>
              <a:t>100</a:t>
            </a:fld>
            <a:endParaRPr lang="en-US">
              <a:solidFill>
                <a:prstClr val="black"/>
              </a:solidFill>
            </a:endParaRPr>
          </a:p>
        </p:txBody>
      </p:sp>
      <p:sp>
        <p:nvSpPr>
          <p:cNvPr id="3" name="Content Placeholder 2">
            <a:extLst>
              <a:ext uri="{FF2B5EF4-FFF2-40B4-BE49-F238E27FC236}">
                <a16:creationId xmlns:a16="http://schemas.microsoft.com/office/drawing/2014/main" id="{FBC54065-A8EB-A646-8897-9BA089C94A03}"/>
              </a:ext>
            </a:extLst>
          </p:cNvPr>
          <p:cNvSpPr>
            <a:spLocks noGrp="1"/>
          </p:cNvSpPr>
          <p:nvPr>
            <p:ph idx="4294967295"/>
          </p:nvPr>
        </p:nvSpPr>
        <p:spPr>
          <a:xfrm>
            <a:off x="457200" y="1253331"/>
            <a:ext cx="8229600" cy="5230813"/>
          </a:xfrm>
        </p:spPr>
        <p:txBody>
          <a:bodyPr>
            <a:normAutofit/>
          </a:bodyPr>
          <a:lstStyle/>
          <a:p>
            <a:pPr>
              <a:lnSpc>
                <a:spcPct val="150000"/>
              </a:lnSpc>
            </a:pPr>
            <a:r>
              <a:rPr lang="zh-CN" altLang="en-US" dirty="0"/>
              <a:t>超级精简指令计算机</a:t>
            </a:r>
            <a:r>
              <a:rPr lang="en-US" altLang="zh-CN" dirty="0"/>
              <a:t>URISC</a:t>
            </a:r>
          </a:p>
          <a:p>
            <a:pPr>
              <a:lnSpc>
                <a:spcPct val="150000"/>
              </a:lnSpc>
            </a:pPr>
            <a:r>
              <a:rPr lang="zh-CN" altLang="en-US" dirty="0"/>
              <a:t>关于</a:t>
            </a:r>
            <a:r>
              <a:rPr lang="en-US" altLang="zh-CN" dirty="0"/>
              <a:t>xxx/xxxi/</a:t>
            </a:r>
            <a:r>
              <a:rPr lang="en-US" altLang="zh-CN" dirty="0" err="1"/>
              <a:t>xxxu</a:t>
            </a:r>
            <a:r>
              <a:rPr lang="en-US" altLang="zh-CN" dirty="0"/>
              <a:t>/</a:t>
            </a:r>
            <a:r>
              <a:rPr lang="en-US" altLang="zh-CN" dirty="0" err="1"/>
              <a:t>xxxiu</a:t>
            </a:r>
            <a:r>
              <a:rPr lang="zh-CN" altLang="en-US" dirty="0"/>
              <a:t>的使用细节</a:t>
            </a:r>
            <a:endParaRPr lang="en-US" altLang="zh-CN" dirty="0"/>
          </a:p>
          <a:p>
            <a:pPr>
              <a:lnSpc>
                <a:spcPct val="150000"/>
              </a:lnSpc>
            </a:pPr>
            <a:r>
              <a:rPr lang="en-US" altLang="zh-CN" dirty="0">
                <a:latin typeface="Arial" panose="020B0604020202020204" pitchFamily="34" charset="0"/>
                <a:cs typeface="Arial" panose="020B0604020202020204" pitchFamily="34" charset="0"/>
              </a:rPr>
              <a:t>MIPS</a:t>
            </a:r>
            <a:r>
              <a:rPr lang="zh-CN" altLang="en-US" dirty="0">
                <a:latin typeface="Arial" panose="020B0604020202020204" pitchFamily="34" charset="0"/>
                <a:cs typeface="Arial" panose="020B0604020202020204" pitchFamily="34" charset="0"/>
              </a:rPr>
              <a:t>编程指南（大作业参考资料）</a:t>
            </a:r>
            <a:endParaRPr lang="en-US" altLang="zh-CN" dirty="0">
              <a:latin typeface="Arial" panose="020B0604020202020204" pitchFamily="34" charset="0"/>
              <a:cs typeface="Arial" panose="020B0604020202020204" pitchFamily="34" charset="0"/>
            </a:endParaRPr>
          </a:p>
        </p:txBody>
      </p:sp>
      <p:sp>
        <p:nvSpPr>
          <p:cNvPr id="2" name="Title 4">
            <a:extLst>
              <a:ext uri="{FF2B5EF4-FFF2-40B4-BE49-F238E27FC236}">
                <a16:creationId xmlns:a16="http://schemas.microsoft.com/office/drawing/2014/main" id="{AD2A5062-A3BF-123F-E341-5CC247CEA334}"/>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kumimoji="1" lang="zh-CN" altLang="en-US" dirty="0"/>
              <a:t>附录</a:t>
            </a:r>
            <a:endParaRPr lang="en-CN" kern="0" dirty="0"/>
          </a:p>
        </p:txBody>
      </p:sp>
    </p:spTree>
    <p:extLst>
      <p:ext uri="{BB962C8B-B14F-4D97-AF65-F5344CB8AC3E}">
        <p14:creationId xmlns:p14="http://schemas.microsoft.com/office/powerpoint/2010/main" val="336218359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prstGeom prst="rect">
            <a:avLst/>
          </a:prstGeom>
        </p:spPr>
        <p:txBody>
          <a:bodyPr/>
          <a:lstStyle/>
          <a:p>
            <a:fld id="{DCEC6DF5-F4E7-4864-8E41-F6D0C15BDA1C}" type="slidenum">
              <a:rPr lang="en-US" altLang="zh-CN"/>
              <a:pPr/>
              <a:t>101</a:t>
            </a:fld>
            <a:endParaRPr lang="en-US" altLang="zh-CN"/>
          </a:p>
        </p:txBody>
      </p:sp>
      <p:sp>
        <p:nvSpPr>
          <p:cNvPr id="879619" name="Rectangle 3"/>
          <p:cNvSpPr>
            <a:spLocks noGrp="1" noChangeArrowheads="1"/>
          </p:cNvSpPr>
          <p:nvPr>
            <p:ph idx="4294967295"/>
          </p:nvPr>
        </p:nvSpPr>
        <p:spPr>
          <a:xfrm>
            <a:off x="457200" y="1438655"/>
            <a:ext cx="8463776" cy="5497403"/>
          </a:xfrm>
        </p:spPr>
        <p:txBody>
          <a:bodyPr/>
          <a:lstStyle/>
          <a:p>
            <a:pPr algn="just"/>
            <a:r>
              <a:rPr lang="zh-CN" altLang="en-US" dirty="0">
                <a:ea typeface="+mj-ea"/>
              </a:rPr>
              <a:t>超级</a:t>
            </a:r>
            <a:r>
              <a:rPr lang="en-US" altLang="zh-CN" dirty="0">
                <a:ea typeface="+mj-ea"/>
              </a:rPr>
              <a:t>RISC</a:t>
            </a:r>
            <a:r>
              <a:rPr lang="zh-CN" altLang="en-US" dirty="0">
                <a:ea typeface="+mj-ea"/>
              </a:rPr>
              <a:t>结构是 </a:t>
            </a:r>
            <a:r>
              <a:rPr lang="en-US" altLang="zh-CN" dirty="0" err="1">
                <a:ea typeface="+mj-ea"/>
              </a:rPr>
              <a:t>Mavaddat</a:t>
            </a:r>
            <a:r>
              <a:rPr lang="en-US" altLang="zh-CN" dirty="0">
                <a:ea typeface="+mj-ea"/>
              </a:rPr>
              <a:t> </a:t>
            </a:r>
            <a:r>
              <a:rPr lang="zh-CN" altLang="en-US" dirty="0">
                <a:ea typeface="+mj-ea"/>
              </a:rPr>
              <a:t>和 </a:t>
            </a:r>
            <a:r>
              <a:rPr lang="en-US" altLang="zh-CN" dirty="0">
                <a:ea typeface="+mj-ea"/>
              </a:rPr>
              <a:t>Parham </a:t>
            </a:r>
            <a:r>
              <a:rPr lang="zh-CN" altLang="en-US" dirty="0">
                <a:ea typeface="+mj-ea"/>
              </a:rPr>
              <a:t>提出的一种</a:t>
            </a:r>
            <a:r>
              <a:rPr lang="en-US" altLang="zh-CN" dirty="0">
                <a:ea typeface="+mj-ea"/>
              </a:rPr>
              <a:t>RISC</a:t>
            </a:r>
            <a:r>
              <a:rPr lang="zh-CN" altLang="en-US" dirty="0">
                <a:ea typeface="+mj-ea"/>
              </a:rPr>
              <a:t>结构，它只有一条指令，指令集不能再精简，所以称为超级精简指令计算机</a:t>
            </a:r>
            <a:r>
              <a:rPr lang="en-US" altLang="zh-CN" dirty="0">
                <a:ea typeface="+mj-ea"/>
              </a:rPr>
              <a:t>(URISC)</a:t>
            </a:r>
          </a:p>
          <a:p>
            <a:pPr marL="0" indent="0" algn="just">
              <a:buNone/>
            </a:pPr>
            <a:endParaRPr lang="zh-CN" altLang="en-US" dirty="0">
              <a:ea typeface="+mj-ea"/>
            </a:endParaRPr>
          </a:p>
          <a:p>
            <a:pPr algn="just"/>
            <a:r>
              <a:rPr lang="zh-CN" altLang="en-US" dirty="0">
                <a:ea typeface="+mj-ea"/>
              </a:rPr>
              <a:t>尽管</a:t>
            </a:r>
            <a:r>
              <a:rPr lang="en-US" altLang="zh-CN" dirty="0">
                <a:ea typeface="+mj-ea"/>
              </a:rPr>
              <a:t>URISC</a:t>
            </a:r>
            <a:r>
              <a:rPr lang="zh-CN" altLang="en-US" dirty="0">
                <a:ea typeface="+mj-ea"/>
              </a:rPr>
              <a:t>只有一条指令，它也是图灵完备的计算机</a:t>
            </a:r>
            <a:endParaRPr lang="en-US" altLang="zh-CN" dirty="0">
              <a:ea typeface="+mj-ea"/>
            </a:endParaRPr>
          </a:p>
          <a:p>
            <a:pPr lvl="1" algn="just"/>
            <a:r>
              <a:rPr lang="zh-CN" altLang="en-US" dirty="0">
                <a:ea typeface="+mj-ea"/>
              </a:rPr>
              <a:t>所有复杂操作都可以用这一种指令完成</a:t>
            </a:r>
          </a:p>
        </p:txBody>
      </p:sp>
      <p:sp>
        <p:nvSpPr>
          <p:cNvPr id="2" name="Title 4">
            <a:extLst>
              <a:ext uri="{FF2B5EF4-FFF2-40B4-BE49-F238E27FC236}">
                <a16:creationId xmlns:a16="http://schemas.microsoft.com/office/drawing/2014/main" id="{B60BC201-FD11-D2B7-6786-951C80638F72}"/>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dirty="0">
                <a:solidFill>
                  <a:schemeClr val="tx1"/>
                </a:solidFill>
              </a:rPr>
              <a:t>超级精简指令计算机</a:t>
            </a:r>
            <a:r>
              <a:rPr lang="en-US" altLang="zh-CN" dirty="0">
                <a:solidFill>
                  <a:schemeClr val="tx1"/>
                </a:solidFill>
                <a:ea typeface="+mj-ea"/>
              </a:rPr>
              <a:t>URISC</a:t>
            </a:r>
            <a:endParaRPr lang="en-CN" kern="0" dirty="0"/>
          </a:p>
        </p:txBody>
      </p:sp>
    </p:spTree>
    <p:extLst>
      <p:ext uri="{BB962C8B-B14F-4D97-AF65-F5344CB8AC3E}">
        <p14:creationId xmlns:p14="http://schemas.microsoft.com/office/powerpoint/2010/main" val="4876401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prstGeom prst="rect">
            <a:avLst/>
          </a:prstGeom>
        </p:spPr>
        <p:txBody>
          <a:bodyPr/>
          <a:lstStyle/>
          <a:p>
            <a:fld id="{69A4120F-11F1-4093-9E65-3033F1D690D3}" type="slidenum">
              <a:rPr lang="en-US" altLang="zh-CN"/>
              <a:pPr/>
              <a:t>102</a:t>
            </a:fld>
            <a:endParaRPr lang="en-US" altLang="zh-CN"/>
          </a:p>
        </p:txBody>
      </p:sp>
      <p:sp>
        <p:nvSpPr>
          <p:cNvPr id="881667" name="Rectangle 3"/>
          <p:cNvSpPr>
            <a:spLocks noGrp="1" noChangeArrowheads="1"/>
          </p:cNvSpPr>
          <p:nvPr>
            <p:ph idx="4294967295"/>
          </p:nvPr>
        </p:nvSpPr>
        <p:spPr>
          <a:xfrm>
            <a:off x="457199" y="1411827"/>
            <a:ext cx="8340745" cy="4351338"/>
          </a:xfrm>
        </p:spPr>
        <p:txBody>
          <a:bodyPr>
            <a:normAutofit/>
          </a:bodyPr>
          <a:lstStyle/>
          <a:p>
            <a:pPr algn="just">
              <a:spcBef>
                <a:spcPts val="600"/>
              </a:spcBef>
              <a:spcAft>
                <a:spcPts val="600"/>
              </a:spcAft>
            </a:pPr>
            <a:r>
              <a:rPr lang="zh-CN" altLang="en-US" dirty="0">
                <a:ea typeface="+mj-ea"/>
              </a:rPr>
              <a:t>从第二个操作数中减去第一个操作数，并把运算结果存贮在第二个操作数的地址中</a:t>
            </a:r>
          </a:p>
          <a:p>
            <a:pPr algn="just">
              <a:spcBef>
                <a:spcPts val="600"/>
              </a:spcBef>
              <a:spcAft>
                <a:spcPts val="600"/>
              </a:spcAft>
            </a:pPr>
            <a:r>
              <a:rPr lang="zh-CN" altLang="en-US" dirty="0">
                <a:ea typeface="+mj-ea"/>
              </a:rPr>
              <a:t>如果减法运算得到的结果为负数，则转移到指定的地址继续执行，否则顺序执行下一条指令 </a:t>
            </a:r>
          </a:p>
          <a:p>
            <a:pPr algn="just">
              <a:spcBef>
                <a:spcPts val="600"/>
              </a:spcBef>
              <a:spcAft>
                <a:spcPts val="600"/>
              </a:spcAft>
            </a:pPr>
            <a:r>
              <a:rPr lang="zh-CN" altLang="en-US" dirty="0">
                <a:ea typeface="+mj-ea"/>
              </a:rPr>
              <a:t>如果转移到地址</a:t>
            </a:r>
            <a:r>
              <a:rPr lang="en-US" altLang="zh-CN" dirty="0">
                <a:ea typeface="+mj-ea"/>
              </a:rPr>
              <a:t>0</a:t>
            </a:r>
            <a:r>
              <a:rPr lang="zh-CN" altLang="en-US" dirty="0">
                <a:ea typeface="+mj-ea"/>
              </a:rPr>
              <a:t>，则停止</a:t>
            </a:r>
            <a:r>
              <a:rPr lang="en-US" altLang="zh-CN" dirty="0">
                <a:ea typeface="+mj-ea"/>
              </a:rPr>
              <a:t>RISC</a:t>
            </a:r>
            <a:r>
              <a:rPr lang="zh-CN" altLang="en-US" dirty="0">
                <a:ea typeface="+mj-ea"/>
              </a:rPr>
              <a:t>的运行。</a:t>
            </a:r>
          </a:p>
        </p:txBody>
      </p:sp>
      <p:sp>
        <p:nvSpPr>
          <p:cNvPr id="7" name="Rectangle 1"/>
          <p:cNvSpPr>
            <a:spLocks noChangeArrowheads="1"/>
          </p:cNvSpPr>
          <p:nvPr/>
        </p:nvSpPr>
        <p:spPr bwMode="auto">
          <a:xfrm>
            <a:off x="457199" y="4783929"/>
            <a:ext cx="8340745" cy="1141018"/>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marL="2416175" marR="0" lvl="0" indent="-2416175" algn="l" defTabSz="914400" rtl="0" eaLnBrk="1" fontAlgn="base" latinLnBrk="0" hangingPunct="1">
              <a:lnSpc>
                <a:spcPct val="150000"/>
              </a:lnSpc>
              <a:spcBef>
                <a:spcPct val="0"/>
              </a:spcBef>
              <a:spcAft>
                <a:spcPct val="0"/>
              </a:spcAft>
              <a:buClrTx/>
              <a:buSzTx/>
              <a:buFontTx/>
              <a:buNone/>
              <a:tabLst/>
            </a:pPr>
            <a:r>
              <a:rPr lang="en-US" altLang="zh-CN" sz="2400" i="1" dirty="0" err="1">
                <a:solidFill>
                  <a:srgbClr val="000000"/>
                </a:solidFill>
                <a:latin typeface="Consolas" panose="020B0609020204030204" pitchFamily="49" charset="0"/>
                <a:ea typeface="+mj-ea"/>
                <a:cs typeface="宋体" pitchFamily="2" charset="-122"/>
              </a:rPr>
              <a:t>sbn</a:t>
            </a:r>
            <a:r>
              <a:rPr lang="en-US" altLang="zh-CN" sz="2400" i="1" dirty="0">
                <a:solidFill>
                  <a:srgbClr val="000000"/>
                </a:solidFill>
                <a:latin typeface="Consolas" panose="020B0609020204030204" pitchFamily="49" charset="0"/>
                <a:ea typeface="+mj-ea"/>
                <a:cs typeface="宋体" pitchFamily="2" charset="-122"/>
              </a:rPr>
              <a:t> </a:t>
            </a:r>
            <a:r>
              <a:rPr kumimoji="0" lang="zh-CN" altLang="zh-CN" sz="2400" b="0" i="1" u="none" strike="noStrike" cap="none" normalizeH="0" baseline="0" dirty="0">
                <a:ln>
                  <a:noFill/>
                </a:ln>
                <a:solidFill>
                  <a:srgbClr val="000000"/>
                </a:solidFill>
                <a:effectLst/>
                <a:latin typeface="Consolas" panose="020B0609020204030204" pitchFamily="49" charset="0"/>
                <a:ea typeface="+mj-ea"/>
                <a:cs typeface="宋体" pitchFamily="2" charset="-122"/>
              </a:rPr>
              <a:t>a, b, </a:t>
            </a:r>
            <a:r>
              <a:rPr kumimoji="0" lang="en-US" altLang="zh-CN" sz="2400" b="0" i="1" u="none" strike="noStrike" cap="none" normalizeH="0" baseline="0" dirty="0">
                <a:ln>
                  <a:noFill/>
                </a:ln>
                <a:solidFill>
                  <a:srgbClr val="000000"/>
                </a:solidFill>
                <a:effectLst/>
                <a:latin typeface="Consolas" panose="020B0609020204030204" pitchFamily="49" charset="0"/>
                <a:ea typeface="+mj-ea"/>
                <a:cs typeface="宋体" pitchFamily="2" charset="-122"/>
              </a:rPr>
              <a:t>label</a:t>
            </a:r>
            <a:r>
              <a:rPr kumimoji="0" lang="zh-CN" altLang="zh-CN" sz="2400" b="0" i="1" u="none" strike="noStrike" cap="none" normalizeH="0" baseline="0" dirty="0">
                <a:ln>
                  <a:noFill/>
                </a:ln>
                <a:solidFill>
                  <a:srgbClr val="000000"/>
                </a:solidFill>
                <a:effectLst/>
                <a:latin typeface="Consolas" panose="020B0609020204030204" pitchFamily="49" charset="0"/>
                <a:ea typeface="+mj-ea"/>
                <a:cs typeface="宋体" pitchFamily="2" charset="-122"/>
              </a:rPr>
              <a:t>; </a:t>
            </a:r>
            <a:r>
              <a:rPr kumimoji="0" lang="en-US" altLang="zh-CN" sz="2400" b="0" i="1" u="none" strike="noStrike" cap="none" normalizeH="0" baseline="0" dirty="0">
                <a:ln>
                  <a:noFill/>
                </a:ln>
                <a:solidFill>
                  <a:srgbClr val="000000"/>
                </a:solidFill>
                <a:effectLst/>
                <a:latin typeface="Consolas" panose="020B0609020204030204" pitchFamily="49" charset="0"/>
                <a:ea typeface="+mj-ea"/>
                <a:cs typeface="宋体" pitchFamily="2" charset="-122"/>
              </a:rPr>
              <a:t>   # </a:t>
            </a:r>
            <a:r>
              <a:rPr kumimoji="0" lang="zh-CN" altLang="zh-CN" sz="2400" b="0" i="1" u="none" strike="noStrike" cap="none" normalizeH="0" baseline="0" dirty="0">
                <a:ln>
                  <a:noFill/>
                </a:ln>
                <a:solidFill>
                  <a:srgbClr val="000000"/>
                </a:solidFill>
                <a:effectLst/>
                <a:latin typeface="Consolas" panose="020B0609020204030204" pitchFamily="49" charset="0"/>
                <a:ea typeface="+mj-ea"/>
                <a:cs typeface="宋体" pitchFamily="2" charset="-122"/>
              </a:rPr>
              <a:t>Mem[b] = Mem[b] - Mem[a] </a:t>
            </a:r>
            <a:br>
              <a:rPr kumimoji="0" lang="en-US" altLang="zh-CN" sz="2400" b="0" i="1" u="none" strike="noStrike" cap="none" normalizeH="0" baseline="0" dirty="0">
                <a:ln>
                  <a:noFill/>
                </a:ln>
                <a:solidFill>
                  <a:srgbClr val="000000"/>
                </a:solidFill>
                <a:effectLst/>
                <a:latin typeface="Consolas" panose="020B0609020204030204" pitchFamily="49" charset="0"/>
                <a:ea typeface="+mj-ea"/>
                <a:cs typeface="宋体" pitchFamily="2" charset="-122"/>
              </a:rPr>
            </a:br>
            <a:r>
              <a:rPr kumimoji="0" lang="en-US" altLang="zh-CN" sz="2400" b="0" i="1" u="none" strike="noStrike" cap="none" normalizeH="0" baseline="0" dirty="0">
                <a:ln>
                  <a:noFill/>
                </a:ln>
                <a:solidFill>
                  <a:srgbClr val="000000"/>
                </a:solidFill>
                <a:effectLst/>
                <a:latin typeface="Consolas" panose="020B0609020204030204" pitchFamily="49" charset="0"/>
                <a:ea typeface="+mj-ea"/>
                <a:cs typeface="宋体" pitchFamily="2" charset="-122"/>
              </a:rPr>
              <a:t>     # </a:t>
            </a:r>
            <a:r>
              <a:rPr kumimoji="0" lang="zh-CN" altLang="zh-CN" sz="2400" b="0" i="1" u="none" strike="noStrike" cap="none" normalizeH="0" baseline="0" dirty="0">
                <a:ln>
                  <a:noFill/>
                </a:ln>
                <a:solidFill>
                  <a:srgbClr val="000000"/>
                </a:solidFill>
                <a:effectLst/>
                <a:latin typeface="Consolas" panose="020B0609020204030204" pitchFamily="49" charset="0"/>
                <a:ea typeface="+mj-ea"/>
                <a:cs typeface="宋体" pitchFamily="2" charset="-122"/>
              </a:rPr>
              <a:t>if (Mem[b] </a:t>
            </a:r>
            <a:r>
              <a:rPr kumimoji="0" lang="en-US" altLang="zh-CN" sz="2400" b="0" i="1" u="none" strike="noStrike" cap="none" normalizeH="0" baseline="0" dirty="0">
                <a:ln>
                  <a:noFill/>
                </a:ln>
                <a:solidFill>
                  <a:srgbClr val="000000"/>
                </a:solidFill>
                <a:effectLst/>
                <a:latin typeface="Consolas" panose="020B0609020204030204" pitchFamily="49" charset="0"/>
                <a:ea typeface="+mj-ea"/>
                <a:cs typeface="宋体" pitchFamily="2" charset="-122"/>
              </a:rPr>
              <a:t>&lt;</a:t>
            </a:r>
            <a:r>
              <a:rPr kumimoji="0" lang="zh-CN" altLang="zh-CN" sz="2400" b="0" i="1" u="none" strike="noStrike" cap="none" normalizeH="0" baseline="0" dirty="0">
                <a:ln>
                  <a:noFill/>
                </a:ln>
                <a:solidFill>
                  <a:srgbClr val="000000"/>
                </a:solidFill>
                <a:effectLst/>
                <a:latin typeface="Consolas" panose="020B0609020204030204" pitchFamily="49" charset="0"/>
                <a:ea typeface="+mj-ea"/>
                <a:cs typeface="宋体" pitchFamily="2" charset="-122"/>
              </a:rPr>
              <a:t> 0) goto </a:t>
            </a:r>
            <a:r>
              <a:rPr kumimoji="0" lang="en-US" altLang="zh-CN" sz="2400" b="0" i="1" u="none" strike="noStrike" cap="none" normalizeH="0" baseline="0" dirty="0">
                <a:ln>
                  <a:noFill/>
                </a:ln>
                <a:solidFill>
                  <a:srgbClr val="000000"/>
                </a:solidFill>
                <a:effectLst/>
                <a:latin typeface="Consolas" panose="020B0609020204030204" pitchFamily="49" charset="0"/>
                <a:ea typeface="+mj-ea"/>
                <a:cs typeface="宋体" pitchFamily="2" charset="-122"/>
              </a:rPr>
              <a:t>label</a:t>
            </a:r>
            <a:r>
              <a:rPr kumimoji="0" lang="zh-CN" altLang="zh-CN" sz="2400" b="0" i="1" u="none" strike="noStrike" cap="none" normalizeH="0" baseline="0" dirty="0">
                <a:ln>
                  <a:noFill/>
                </a:ln>
                <a:solidFill>
                  <a:schemeClr val="tx1"/>
                </a:solidFill>
                <a:effectLst/>
                <a:latin typeface="Consolas" panose="020B0609020204030204" pitchFamily="49" charset="0"/>
                <a:ea typeface="+mj-ea"/>
                <a:cs typeface="宋体" pitchFamily="2" charset="-122"/>
              </a:rPr>
              <a:t> </a:t>
            </a:r>
            <a:endParaRPr kumimoji="0" lang="zh-CN" altLang="zh-CN" sz="5400" b="0" i="1" u="none" strike="noStrike" cap="none" normalizeH="0" baseline="0" dirty="0">
              <a:ln>
                <a:noFill/>
              </a:ln>
              <a:solidFill>
                <a:schemeClr val="tx1"/>
              </a:solidFill>
              <a:effectLst/>
              <a:latin typeface="Consolas" panose="020B0609020204030204" pitchFamily="49" charset="0"/>
              <a:ea typeface="+mj-ea"/>
              <a:cs typeface="宋体" pitchFamily="2" charset="-122"/>
            </a:endParaRPr>
          </a:p>
        </p:txBody>
      </p:sp>
      <p:sp>
        <p:nvSpPr>
          <p:cNvPr id="2" name="Title 4">
            <a:extLst>
              <a:ext uri="{FF2B5EF4-FFF2-40B4-BE49-F238E27FC236}">
                <a16:creationId xmlns:a16="http://schemas.microsoft.com/office/drawing/2014/main" id="{EAD82EE7-008E-C284-D2F3-61176AF80D97}"/>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en-US" altLang="zh-CN" dirty="0">
                <a:solidFill>
                  <a:schemeClr val="tx1"/>
                </a:solidFill>
                <a:ea typeface="+mj-ea"/>
              </a:rPr>
              <a:t>URISC</a:t>
            </a:r>
            <a:r>
              <a:rPr lang="zh-CN" altLang="en-US" dirty="0">
                <a:solidFill>
                  <a:schemeClr val="tx1"/>
                </a:solidFill>
                <a:ea typeface="+mj-ea"/>
              </a:rPr>
              <a:t>指令的执行过程</a:t>
            </a:r>
            <a:endParaRPr lang="en-CN" kern="0" dirty="0"/>
          </a:p>
        </p:txBody>
      </p:sp>
    </p:spTree>
    <p:extLst>
      <p:ext uri="{BB962C8B-B14F-4D97-AF65-F5344CB8AC3E}">
        <p14:creationId xmlns:p14="http://schemas.microsoft.com/office/powerpoint/2010/main" val="14819001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prstGeom prst="rect">
            <a:avLst/>
          </a:prstGeom>
        </p:spPr>
        <p:txBody>
          <a:bodyPr/>
          <a:lstStyle/>
          <a:p>
            <a:fld id="{D604BB87-CC88-429E-8C5B-0A938ADA68E2}" type="slidenum">
              <a:rPr lang="en-US" altLang="zh-CN"/>
              <a:pPr/>
              <a:t>103</a:t>
            </a:fld>
            <a:endParaRPr lang="en-US" altLang="zh-CN"/>
          </a:p>
        </p:txBody>
      </p:sp>
      <p:sp>
        <p:nvSpPr>
          <p:cNvPr id="880643" name="Rectangle 3"/>
          <p:cNvSpPr>
            <a:spLocks noGrp="1" noChangeArrowheads="1"/>
          </p:cNvSpPr>
          <p:nvPr>
            <p:ph idx="4294967295"/>
          </p:nvPr>
        </p:nvSpPr>
        <p:spPr>
          <a:xfrm>
            <a:off x="457200" y="1375251"/>
            <a:ext cx="7886700" cy="4351338"/>
          </a:xfrm>
        </p:spPr>
        <p:txBody>
          <a:bodyPr>
            <a:normAutofit/>
          </a:bodyPr>
          <a:lstStyle/>
          <a:p>
            <a:r>
              <a:rPr lang="en-US" altLang="zh-CN" dirty="0">
                <a:ea typeface="+mj-ea"/>
              </a:rPr>
              <a:t>URISC</a:t>
            </a:r>
            <a:r>
              <a:rPr lang="zh-CN" altLang="en-US" dirty="0">
                <a:ea typeface="+mj-ea"/>
              </a:rPr>
              <a:t>指令</a:t>
            </a:r>
          </a:p>
          <a:p>
            <a:pPr lvl="1"/>
            <a:r>
              <a:rPr lang="zh-CN" altLang="en-US" dirty="0">
                <a:ea typeface="+mj-ea"/>
              </a:rPr>
              <a:t>做减运算且在结果为负值时转移</a:t>
            </a:r>
            <a:endParaRPr lang="en-US" altLang="zh-CN" dirty="0">
              <a:ea typeface="+mj-ea"/>
            </a:endParaRPr>
          </a:p>
          <a:p>
            <a:pPr lvl="1"/>
            <a:r>
              <a:rPr lang="zh-CN" altLang="en-US" dirty="0">
                <a:ea typeface="+mj-ea"/>
              </a:rPr>
              <a:t>只有一条指令，不需要对指令定义操作码</a:t>
            </a:r>
          </a:p>
          <a:p>
            <a:pPr lvl="1"/>
            <a:r>
              <a:rPr lang="zh-CN" altLang="en-US" dirty="0">
                <a:ea typeface="+mj-ea"/>
              </a:rPr>
              <a:t>指令中只需指出两个操作数且指出运算结果为负数时的转移地址</a:t>
            </a:r>
          </a:p>
        </p:txBody>
      </p:sp>
      <p:sp>
        <p:nvSpPr>
          <p:cNvPr id="2" name="Title 4">
            <a:extLst>
              <a:ext uri="{FF2B5EF4-FFF2-40B4-BE49-F238E27FC236}">
                <a16:creationId xmlns:a16="http://schemas.microsoft.com/office/drawing/2014/main" id="{A9B42686-9F82-824F-D72C-6443E6186532}"/>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dirty="0"/>
              <a:t>指令及形式</a:t>
            </a:r>
            <a:endParaRPr lang="en-CN" kern="0" dirty="0"/>
          </a:p>
        </p:txBody>
      </p:sp>
    </p:spTree>
    <p:extLst>
      <p:ext uri="{BB962C8B-B14F-4D97-AF65-F5344CB8AC3E}">
        <p14:creationId xmlns:p14="http://schemas.microsoft.com/office/powerpoint/2010/main" val="9696309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灯片编号占位符 3">
            <a:extLst>
              <a:ext uri="{FF2B5EF4-FFF2-40B4-BE49-F238E27FC236}">
                <a16:creationId xmlns:a16="http://schemas.microsoft.com/office/drawing/2014/main" id="{FDEFD07A-8A97-C74F-B400-772A3F1B343B}"/>
              </a:ext>
            </a:extLst>
          </p:cNvPr>
          <p:cNvSpPr>
            <a:spLocks noGrp="1"/>
          </p:cNvSpPr>
          <p:nvPr>
            <p:ph type="sldNum" sz="quarter" idx="12"/>
          </p:nvPr>
        </p:nvSpPr>
        <p:spPr/>
        <p:txBody>
          <a:bodyPr/>
          <a:lstStyle/>
          <a:p>
            <a:fld id="{14659731-6BD7-46E7-8D3C-2F3AC07E20B1}" type="slidenum">
              <a:rPr lang="en-US" altLang="zh-CN" smtClean="0">
                <a:latin typeface="+mn-lt"/>
              </a:rPr>
              <a:pPr/>
              <a:t>104</a:t>
            </a:fld>
            <a:endParaRPr lang="en-US" altLang="zh-CN">
              <a:latin typeface="+mn-lt"/>
            </a:endParaRPr>
          </a:p>
        </p:txBody>
      </p:sp>
      <p:sp>
        <p:nvSpPr>
          <p:cNvPr id="5" name="文本框 4"/>
          <p:cNvSpPr txBox="1"/>
          <p:nvPr/>
        </p:nvSpPr>
        <p:spPr>
          <a:xfrm>
            <a:off x="318013" y="2464644"/>
            <a:ext cx="799113" cy="400110"/>
          </a:xfrm>
          <a:prstGeom prst="rect">
            <a:avLst/>
          </a:prstGeom>
          <a:noFill/>
        </p:spPr>
        <p:txBody>
          <a:bodyPr wrap="square" rtlCol="0">
            <a:spAutoFit/>
          </a:bodyPr>
          <a:lstStyle/>
          <a:p>
            <a:r>
              <a:rPr lang="en-US" altLang="zh-CN" sz="2000" b="1" dirty="0">
                <a:solidFill>
                  <a:srgbClr val="0432FF"/>
                </a:solidFill>
                <a:latin typeface="+mn-lt"/>
                <a:ea typeface="+mj-ea"/>
              </a:rPr>
              <a:t>add</a:t>
            </a:r>
            <a:r>
              <a:rPr lang="zh-CN" altLang="en-US" sz="2000" b="1" dirty="0">
                <a:solidFill>
                  <a:srgbClr val="0432FF"/>
                </a:solidFill>
                <a:latin typeface="+mn-lt"/>
                <a:ea typeface="+mj-ea"/>
              </a:rPr>
              <a:t>：</a:t>
            </a:r>
          </a:p>
        </p:txBody>
      </p:sp>
      <p:pic>
        <p:nvPicPr>
          <p:cNvPr id="6" name="图片 5"/>
          <p:cNvPicPr>
            <a:picLocks noChangeAspect="1"/>
          </p:cNvPicPr>
          <p:nvPr/>
        </p:nvPicPr>
        <p:blipFill>
          <a:blip r:embed="rId3"/>
          <a:stretch>
            <a:fillRect/>
          </a:stretch>
        </p:blipFill>
        <p:spPr>
          <a:xfrm>
            <a:off x="363835" y="3070031"/>
            <a:ext cx="4774941" cy="1251412"/>
          </a:xfrm>
          <a:prstGeom prst="rect">
            <a:avLst/>
          </a:prstGeom>
        </p:spPr>
      </p:pic>
      <p:pic>
        <p:nvPicPr>
          <p:cNvPr id="7" name="图片 6"/>
          <p:cNvPicPr>
            <a:picLocks noChangeAspect="1"/>
          </p:cNvPicPr>
          <p:nvPr/>
        </p:nvPicPr>
        <p:blipFill>
          <a:blip r:embed="rId4"/>
          <a:stretch>
            <a:fillRect/>
          </a:stretch>
        </p:blipFill>
        <p:spPr>
          <a:xfrm>
            <a:off x="5726770" y="3029506"/>
            <a:ext cx="2656450" cy="852381"/>
          </a:xfrm>
          <a:prstGeom prst="rect">
            <a:avLst/>
          </a:prstGeom>
        </p:spPr>
      </p:pic>
      <p:sp>
        <p:nvSpPr>
          <p:cNvPr id="8" name="文本框 7"/>
          <p:cNvSpPr txBox="1"/>
          <p:nvPr/>
        </p:nvSpPr>
        <p:spPr>
          <a:xfrm>
            <a:off x="5604450" y="2474313"/>
            <a:ext cx="1007145" cy="400110"/>
          </a:xfrm>
          <a:prstGeom prst="rect">
            <a:avLst/>
          </a:prstGeom>
          <a:noFill/>
        </p:spPr>
        <p:txBody>
          <a:bodyPr wrap="square" rtlCol="0">
            <a:spAutoFit/>
          </a:bodyPr>
          <a:lstStyle/>
          <a:p>
            <a:r>
              <a:rPr lang="en-US" altLang="zh-CN" sz="2000" b="1" dirty="0" err="1">
                <a:solidFill>
                  <a:srgbClr val="0432FF"/>
                </a:solidFill>
                <a:latin typeface="+mn-lt"/>
                <a:ea typeface="+mj-ea"/>
              </a:rPr>
              <a:t>addu</a:t>
            </a:r>
            <a:r>
              <a:rPr lang="zh-CN" altLang="en-US" sz="2000" b="1" dirty="0">
                <a:solidFill>
                  <a:srgbClr val="0432FF"/>
                </a:solidFill>
                <a:latin typeface="+mn-lt"/>
                <a:ea typeface="+mj-ea"/>
              </a:rPr>
              <a:t>：</a:t>
            </a:r>
          </a:p>
        </p:txBody>
      </p:sp>
      <p:sp>
        <p:nvSpPr>
          <p:cNvPr id="9" name="文本框 8"/>
          <p:cNvSpPr txBox="1"/>
          <p:nvPr/>
        </p:nvSpPr>
        <p:spPr>
          <a:xfrm>
            <a:off x="4928737" y="5187126"/>
            <a:ext cx="184731" cy="369332"/>
          </a:xfrm>
          <a:prstGeom prst="rect">
            <a:avLst/>
          </a:prstGeom>
          <a:noFill/>
        </p:spPr>
        <p:txBody>
          <a:bodyPr wrap="none" rtlCol="0">
            <a:spAutoFit/>
          </a:bodyPr>
          <a:lstStyle/>
          <a:p>
            <a:endParaRPr lang="zh-CN" altLang="en-US" dirty="0">
              <a:latin typeface="+mn-lt"/>
            </a:endParaRPr>
          </a:p>
        </p:txBody>
      </p:sp>
      <p:sp>
        <p:nvSpPr>
          <p:cNvPr id="15" name="文本框 14"/>
          <p:cNvSpPr txBox="1"/>
          <p:nvPr/>
        </p:nvSpPr>
        <p:spPr>
          <a:xfrm>
            <a:off x="189015" y="4461563"/>
            <a:ext cx="1058551" cy="400110"/>
          </a:xfrm>
          <a:prstGeom prst="rect">
            <a:avLst/>
          </a:prstGeom>
          <a:noFill/>
        </p:spPr>
        <p:txBody>
          <a:bodyPr wrap="square" rtlCol="0">
            <a:spAutoFit/>
          </a:bodyPr>
          <a:lstStyle/>
          <a:p>
            <a:r>
              <a:rPr lang="en-US" altLang="zh-CN" sz="2000" b="1" dirty="0" err="1">
                <a:solidFill>
                  <a:srgbClr val="0432FF"/>
                </a:solidFill>
                <a:latin typeface="+mn-lt"/>
                <a:ea typeface="+mj-ea"/>
              </a:rPr>
              <a:t>addi</a:t>
            </a:r>
            <a:r>
              <a:rPr lang="zh-CN" altLang="en-US" sz="2000" b="1" dirty="0">
                <a:solidFill>
                  <a:srgbClr val="0432FF"/>
                </a:solidFill>
                <a:latin typeface="+mn-lt"/>
                <a:ea typeface="+mj-ea"/>
              </a:rPr>
              <a:t>：</a:t>
            </a:r>
          </a:p>
        </p:txBody>
      </p:sp>
      <p:sp>
        <p:nvSpPr>
          <p:cNvPr id="16" name="文本框 15"/>
          <p:cNvSpPr txBox="1"/>
          <p:nvPr/>
        </p:nvSpPr>
        <p:spPr>
          <a:xfrm>
            <a:off x="5604450" y="4511194"/>
            <a:ext cx="1126653" cy="400110"/>
          </a:xfrm>
          <a:prstGeom prst="rect">
            <a:avLst/>
          </a:prstGeom>
          <a:noFill/>
        </p:spPr>
        <p:txBody>
          <a:bodyPr wrap="square" rtlCol="0">
            <a:spAutoFit/>
          </a:bodyPr>
          <a:lstStyle/>
          <a:p>
            <a:r>
              <a:rPr lang="en-US" altLang="zh-CN" sz="2000" b="1" dirty="0" err="1">
                <a:solidFill>
                  <a:srgbClr val="0432FF"/>
                </a:solidFill>
                <a:latin typeface="+mn-lt"/>
                <a:ea typeface="+mj-ea"/>
              </a:rPr>
              <a:t>addiu</a:t>
            </a:r>
            <a:r>
              <a:rPr lang="zh-CN" altLang="en-US" sz="2000" b="1" dirty="0">
                <a:solidFill>
                  <a:srgbClr val="0432FF"/>
                </a:solidFill>
                <a:latin typeface="+mn-lt"/>
                <a:ea typeface="+mj-ea"/>
              </a:rPr>
              <a:t>：</a:t>
            </a:r>
          </a:p>
        </p:txBody>
      </p:sp>
      <p:pic>
        <p:nvPicPr>
          <p:cNvPr id="17" name="图片 16"/>
          <p:cNvPicPr>
            <a:picLocks noChangeAspect="1"/>
          </p:cNvPicPr>
          <p:nvPr/>
        </p:nvPicPr>
        <p:blipFill>
          <a:blip r:embed="rId5"/>
          <a:stretch>
            <a:fillRect/>
          </a:stretch>
        </p:blipFill>
        <p:spPr>
          <a:xfrm>
            <a:off x="363835" y="5023730"/>
            <a:ext cx="4836241" cy="1256390"/>
          </a:xfrm>
          <a:prstGeom prst="rect">
            <a:avLst/>
          </a:prstGeom>
        </p:spPr>
      </p:pic>
      <p:pic>
        <p:nvPicPr>
          <p:cNvPr id="18" name="图片 17"/>
          <p:cNvPicPr>
            <a:picLocks noChangeAspect="1"/>
          </p:cNvPicPr>
          <p:nvPr/>
        </p:nvPicPr>
        <p:blipFill>
          <a:blip r:embed="rId6"/>
          <a:stretch>
            <a:fillRect/>
          </a:stretch>
        </p:blipFill>
        <p:spPr>
          <a:xfrm>
            <a:off x="5555919" y="5236637"/>
            <a:ext cx="3381939" cy="646177"/>
          </a:xfrm>
          <a:prstGeom prst="rect">
            <a:avLst/>
          </a:prstGeom>
        </p:spPr>
      </p:pic>
      <p:sp>
        <p:nvSpPr>
          <p:cNvPr id="19" name="矩形 18"/>
          <p:cNvSpPr/>
          <p:nvPr/>
        </p:nvSpPr>
        <p:spPr>
          <a:xfrm>
            <a:off x="116456" y="2389517"/>
            <a:ext cx="8911087" cy="3906411"/>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 name="直接连接符 20"/>
          <p:cNvCxnSpPr/>
          <p:nvPr/>
        </p:nvCxnSpPr>
        <p:spPr>
          <a:xfrm>
            <a:off x="99203" y="4502989"/>
            <a:ext cx="891108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a:cxnSpLocks/>
          </p:cNvCxnSpPr>
          <p:nvPr/>
        </p:nvCxnSpPr>
        <p:spPr>
          <a:xfrm>
            <a:off x="5448980" y="2389517"/>
            <a:ext cx="0" cy="390641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606056" y="1261535"/>
            <a:ext cx="8404234" cy="1015663"/>
          </a:xfrm>
          <a:prstGeom prst="rect">
            <a:avLst/>
          </a:prstGeom>
          <a:noFill/>
          <a:ln w="38100">
            <a:noFill/>
          </a:ln>
        </p:spPr>
        <p:txBody>
          <a:bodyPr wrap="square" rtlCol="0">
            <a:spAutoFit/>
          </a:bodyPr>
          <a:lstStyle/>
          <a:p>
            <a:pPr algn="ctr"/>
            <a:r>
              <a:rPr lang="zh-CN" altLang="en-US" sz="2000" b="1" dirty="0">
                <a:solidFill>
                  <a:schemeClr val="tx1"/>
                </a:solidFill>
                <a:latin typeface="+mn-lt"/>
                <a:ea typeface="+mj-ea"/>
              </a:rPr>
              <a:t>算术运算中：加法四种均有</a:t>
            </a:r>
            <a:endParaRPr lang="en-US" altLang="zh-CN" sz="2000" b="1" dirty="0">
              <a:solidFill>
                <a:schemeClr val="tx1"/>
              </a:solidFill>
              <a:latin typeface="+mn-lt"/>
              <a:ea typeface="+mj-ea"/>
            </a:endParaRPr>
          </a:p>
          <a:p>
            <a:r>
              <a:rPr lang="en-US" altLang="zh-CN" sz="2000" b="1" dirty="0">
                <a:solidFill>
                  <a:schemeClr val="tx1"/>
                </a:solidFill>
                <a:latin typeface="+mn-lt"/>
                <a:ea typeface="+mj-ea"/>
              </a:rPr>
              <a:t>xxx</a:t>
            </a:r>
            <a:r>
              <a:rPr lang="zh-CN" altLang="en-US" sz="2000" b="1" dirty="0">
                <a:solidFill>
                  <a:schemeClr val="tx1"/>
                </a:solidFill>
                <a:latin typeface="+mn-lt"/>
                <a:ea typeface="+mj-ea"/>
              </a:rPr>
              <a:t>表示要</a:t>
            </a:r>
            <a:r>
              <a:rPr lang="zh-CN" altLang="en-US" sz="2000" b="1" dirty="0">
                <a:solidFill>
                  <a:srgbClr val="0432FF"/>
                </a:solidFill>
                <a:latin typeface="+mn-lt"/>
                <a:ea typeface="+mj-ea"/>
              </a:rPr>
              <a:t>考虑溢出</a:t>
            </a:r>
            <a:r>
              <a:rPr lang="zh-CN" altLang="en-US" sz="2000" b="1" dirty="0">
                <a:solidFill>
                  <a:schemeClr val="tx1"/>
                </a:solidFill>
                <a:latin typeface="+mn-lt"/>
                <a:ea typeface="+mj-ea"/>
              </a:rPr>
              <a:t>，</a:t>
            </a:r>
            <a:r>
              <a:rPr lang="en-US" altLang="zh-CN" sz="2000" b="1" dirty="0" err="1">
                <a:solidFill>
                  <a:schemeClr val="tx1"/>
                </a:solidFill>
                <a:latin typeface="+mn-lt"/>
                <a:ea typeface="+mj-ea"/>
              </a:rPr>
              <a:t>xxxu</a:t>
            </a:r>
            <a:r>
              <a:rPr lang="zh-CN" altLang="en-US" sz="2000" b="1" dirty="0">
                <a:solidFill>
                  <a:schemeClr val="tx1"/>
                </a:solidFill>
                <a:latin typeface="+mn-lt"/>
                <a:ea typeface="+mj-ea"/>
              </a:rPr>
              <a:t>代表</a:t>
            </a:r>
            <a:r>
              <a:rPr lang="zh-CN" altLang="en-US" sz="2000" b="1" dirty="0">
                <a:solidFill>
                  <a:srgbClr val="0432FF"/>
                </a:solidFill>
                <a:latin typeface="+mn-lt"/>
                <a:ea typeface="+mj-ea"/>
              </a:rPr>
              <a:t>不输出溢出信号</a:t>
            </a:r>
            <a:r>
              <a:rPr lang="zh-CN" altLang="en-US" sz="2000" b="1" dirty="0">
                <a:solidFill>
                  <a:schemeClr val="tx1"/>
                </a:solidFill>
                <a:latin typeface="+mn-lt"/>
                <a:ea typeface="+mj-ea"/>
              </a:rPr>
              <a:t>（</a:t>
            </a:r>
            <a:r>
              <a:rPr lang="en-US" altLang="zh-CN" sz="2000" b="1" dirty="0">
                <a:solidFill>
                  <a:schemeClr val="tx1"/>
                </a:solidFill>
                <a:latin typeface="+mn-lt"/>
                <a:ea typeface="+mj-ea"/>
              </a:rPr>
              <a:t>overflow</a:t>
            </a:r>
            <a:r>
              <a:rPr lang="zh-CN" altLang="en-US" sz="2000" b="1" dirty="0">
                <a:solidFill>
                  <a:schemeClr val="tx1"/>
                </a:solidFill>
                <a:latin typeface="+mn-lt"/>
                <a:ea typeface="+mj-ea"/>
              </a:rPr>
              <a:t>强制为</a:t>
            </a:r>
            <a:r>
              <a:rPr lang="en-US" altLang="zh-CN" sz="2000" b="1" dirty="0">
                <a:solidFill>
                  <a:schemeClr val="tx1"/>
                </a:solidFill>
                <a:latin typeface="+mn-lt"/>
                <a:ea typeface="+mj-ea"/>
              </a:rPr>
              <a:t>0</a:t>
            </a:r>
            <a:r>
              <a:rPr lang="zh-CN" altLang="en-US" sz="2000" b="1" dirty="0">
                <a:solidFill>
                  <a:schemeClr val="tx1"/>
                </a:solidFill>
                <a:latin typeface="+mn-lt"/>
                <a:ea typeface="+mj-ea"/>
              </a:rPr>
              <a:t>）</a:t>
            </a:r>
            <a:endParaRPr lang="en-US" altLang="zh-CN" sz="2000" b="1" dirty="0">
              <a:solidFill>
                <a:schemeClr val="tx1"/>
              </a:solidFill>
              <a:latin typeface="+mn-lt"/>
              <a:ea typeface="+mj-ea"/>
            </a:endParaRPr>
          </a:p>
          <a:p>
            <a:r>
              <a:rPr lang="en-US" altLang="zh-CN" sz="2000" b="1" dirty="0">
                <a:solidFill>
                  <a:schemeClr val="tx1"/>
                </a:solidFill>
                <a:latin typeface="+mn-lt"/>
                <a:ea typeface="+mj-ea"/>
              </a:rPr>
              <a:t>xxxi</a:t>
            </a:r>
            <a:r>
              <a:rPr lang="zh-CN" altLang="en-US" sz="2000" b="1" dirty="0">
                <a:solidFill>
                  <a:schemeClr val="tx1"/>
                </a:solidFill>
                <a:latin typeface="+mn-lt"/>
                <a:ea typeface="+mj-ea"/>
              </a:rPr>
              <a:t>代表立即数计算，均为</a:t>
            </a:r>
            <a:r>
              <a:rPr lang="zh-CN" altLang="en-US" sz="2000" b="1" dirty="0">
                <a:solidFill>
                  <a:srgbClr val="0432FF"/>
                </a:solidFill>
                <a:latin typeface="+mn-lt"/>
                <a:ea typeface="+mj-ea"/>
              </a:rPr>
              <a:t>符号扩展</a:t>
            </a:r>
            <a:r>
              <a:rPr lang="zh-CN" altLang="en-US" sz="2000" b="1" dirty="0">
                <a:solidFill>
                  <a:schemeClr val="tx1"/>
                </a:solidFill>
                <a:latin typeface="+mn-lt"/>
                <a:ea typeface="+mj-ea"/>
              </a:rPr>
              <a:t>，即使</a:t>
            </a:r>
            <a:r>
              <a:rPr lang="en-US" altLang="zh-CN" sz="2000" b="1" dirty="0" err="1">
                <a:solidFill>
                  <a:schemeClr val="tx1"/>
                </a:solidFill>
                <a:latin typeface="+mn-lt"/>
                <a:ea typeface="+mj-ea"/>
              </a:rPr>
              <a:t>xxxiu</a:t>
            </a:r>
            <a:r>
              <a:rPr lang="zh-CN" altLang="en-US" sz="2000" b="1" dirty="0">
                <a:solidFill>
                  <a:schemeClr val="tx1"/>
                </a:solidFill>
                <a:latin typeface="+mn-lt"/>
                <a:ea typeface="+mj-ea"/>
              </a:rPr>
              <a:t>也是对立即数符号扩展</a:t>
            </a:r>
          </a:p>
        </p:txBody>
      </p:sp>
      <p:cxnSp>
        <p:nvCxnSpPr>
          <p:cNvPr id="27" name="直接箭头连接符 26"/>
          <p:cNvCxnSpPr>
            <a:cxnSpLocks/>
          </p:cNvCxnSpPr>
          <p:nvPr/>
        </p:nvCxnSpPr>
        <p:spPr>
          <a:xfrm>
            <a:off x="3899472" y="2185639"/>
            <a:ext cx="11120" cy="3050998"/>
          </a:xfrm>
          <a:prstGeom prst="straightConnector1">
            <a:avLst/>
          </a:prstGeom>
          <a:ln w="57150">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a:cxnSpLocks/>
          </p:cNvCxnSpPr>
          <p:nvPr/>
        </p:nvCxnSpPr>
        <p:spPr>
          <a:xfrm>
            <a:off x="4031453" y="2185639"/>
            <a:ext cx="3728915" cy="3370819"/>
          </a:xfrm>
          <a:prstGeom prst="straightConnector1">
            <a:avLst/>
          </a:prstGeom>
          <a:ln w="57150">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a:cxnSpLocks/>
          </p:cNvCxnSpPr>
          <p:nvPr/>
        </p:nvCxnSpPr>
        <p:spPr>
          <a:xfrm flipH="1">
            <a:off x="1659483" y="1918010"/>
            <a:ext cx="722005" cy="1814206"/>
          </a:xfrm>
          <a:prstGeom prst="straightConnector1">
            <a:avLst/>
          </a:prstGeom>
          <a:ln w="57150">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a:cxnSpLocks/>
          </p:cNvCxnSpPr>
          <p:nvPr/>
        </p:nvCxnSpPr>
        <p:spPr>
          <a:xfrm flipH="1">
            <a:off x="1870418" y="1918010"/>
            <a:ext cx="562976" cy="3733915"/>
          </a:xfrm>
          <a:prstGeom prst="straightConnector1">
            <a:avLst/>
          </a:prstGeom>
          <a:ln w="57150">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 name="Title 4">
            <a:extLst>
              <a:ext uri="{FF2B5EF4-FFF2-40B4-BE49-F238E27FC236}">
                <a16:creationId xmlns:a16="http://schemas.microsoft.com/office/drawing/2014/main" id="{3C9D9A57-638C-AFB1-531B-1E264DF29BEB}"/>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dirty="0"/>
              <a:t>各种</a:t>
            </a:r>
            <a:r>
              <a:rPr lang="en-US" altLang="zh-CN" dirty="0"/>
              <a:t>xxx/xxxi/</a:t>
            </a:r>
            <a:r>
              <a:rPr lang="en-US" altLang="zh-CN" dirty="0" err="1"/>
              <a:t>xxxu</a:t>
            </a:r>
            <a:r>
              <a:rPr lang="en-US" altLang="zh-CN" dirty="0"/>
              <a:t>/</a:t>
            </a:r>
            <a:r>
              <a:rPr lang="en-US" altLang="zh-CN" dirty="0" err="1"/>
              <a:t>xxxiu</a:t>
            </a:r>
            <a:endParaRPr lang="en-CN" kern="0" dirty="0"/>
          </a:p>
        </p:txBody>
      </p:sp>
    </p:spTree>
    <p:extLst>
      <p:ext uri="{BB962C8B-B14F-4D97-AF65-F5344CB8AC3E}">
        <p14:creationId xmlns:p14="http://schemas.microsoft.com/office/powerpoint/2010/main" val="137290256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灯片编号占位符 3">
            <a:extLst>
              <a:ext uri="{FF2B5EF4-FFF2-40B4-BE49-F238E27FC236}">
                <a16:creationId xmlns:a16="http://schemas.microsoft.com/office/drawing/2014/main" id="{DE3C8A2F-4BCB-7340-A865-B9D5D563603A}"/>
              </a:ext>
            </a:extLst>
          </p:cNvPr>
          <p:cNvSpPr>
            <a:spLocks noGrp="1"/>
          </p:cNvSpPr>
          <p:nvPr>
            <p:ph type="sldNum" sz="quarter" idx="12"/>
          </p:nvPr>
        </p:nvSpPr>
        <p:spPr/>
        <p:txBody>
          <a:bodyPr/>
          <a:lstStyle/>
          <a:p>
            <a:fld id="{14659731-6BD7-46E7-8D3C-2F3AC07E20B1}" type="slidenum">
              <a:rPr lang="en-US" altLang="zh-CN" smtClean="0">
                <a:latin typeface="+mn-lt"/>
              </a:rPr>
              <a:pPr/>
              <a:t>105</a:t>
            </a:fld>
            <a:endParaRPr lang="en-US" altLang="zh-CN">
              <a:latin typeface="+mn-lt"/>
            </a:endParaRPr>
          </a:p>
        </p:txBody>
      </p:sp>
      <p:sp>
        <p:nvSpPr>
          <p:cNvPr id="5" name="文本框 4"/>
          <p:cNvSpPr txBox="1"/>
          <p:nvPr/>
        </p:nvSpPr>
        <p:spPr>
          <a:xfrm>
            <a:off x="224779" y="2621058"/>
            <a:ext cx="799113" cy="400110"/>
          </a:xfrm>
          <a:prstGeom prst="rect">
            <a:avLst/>
          </a:prstGeom>
          <a:noFill/>
        </p:spPr>
        <p:txBody>
          <a:bodyPr wrap="square" rtlCol="0">
            <a:spAutoFit/>
          </a:bodyPr>
          <a:lstStyle/>
          <a:p>
            <a:r>
              <a:rPr lang="en-US" altLang="zh-CN" sz="2000" b="1" dirty="0">
                <a:solidFill>
                  <a:srgbClr val="0432FF"/>
                </a:solidFill>
                <a:latin typeface="+mn-lt"/>
                <a:ea typeface="+mj-ea"/>
              </a:rPr>
              <a:t>sub</a:t>
            </a:r>
            <a:r>
              <a:rPr lang="zh-CN" altLang="en-US" sz="2000" b="1" dirty="0">
                <a:solidFill>
                  <a:srgbClr val="0432FF"/>
                </a:solidFill>
                <a:latin typeface="+mn-lt"/>
                <a:ea typeface="+mj-ea"/>
              </a:rPr>
              <a:t>：</a:t>
            </a:r>
          </a:p>
        </p:txBody>
      </p:sp>
      <p:sp>
        <p:nvSpPr>
          <p:cNvPr id="8" name="文本框 7"/>
          <p:cNvSpPr txBox="1"/>
          <p:nvPr/>
        </p:nvSpPr>
        <p:spPr>
          <a:xfrm>
            <a:off x="5555919" y="2630727"/>
            <a:ext cx="1007145" cy="400110"/>
          </a:xfrm>
          <a:prstGeom prst="rect">
            <a:avLst/>
          </a:prstGeom>
          <a:noFill/>
        </p:spPr>
        <p:txBody>
          <a:bodyPr wrap="square" rtlCol="0">
            <a:spAutoFit/>
          </a:bodyPr>
          <a:lstStyle/>
          <a:p>
            <a:r>
              <a:rPr lang="en-US" altLang="zh-CN" sz="2000" b="1" dirty="0" err="1">
                <a:solidFill>
                  <a:srgbClr val="0432FF"/>
                </a:solidFill>
                <a:latin typeface="+mn-lt"/>
                <a:ea typeface="+mj-ea"/>
              </a:rPr>
              <a:t>subu</a:t>
            </a:r>
            <a:r>
              <a:rPr lang="zh-CN" altLang="en-US" sz="2000" b="1" dirty="0">
                <a:solidFill>
                  <a:srgbClr val="0432FF"/>
                </a:solidFill>
                <a:latin typeface="+mn-lt"/>
                <a:ea typeface="+mj-ea"/>
              </a:rPr>
              <a:t>：</a:t>
            </a:r>
          </a:p>
        </p:txBody>
      </p:sp>
      <p:sp>
        <p:nvSpPr>
          <p:cNvPr id="9" name="文本框 8"/>
          <p:cNvSpPr txBox="1"/>
          <p:nvPr/>
        </p:nvSpPr>
        <p:spPr>
          <a:xfrm>
            <a:off x="4928737" y="5343540"/>
            <a:ext cx="184731" cy="369332"/>
          </a:xfrm>
          <a:prstGeom prst="rect">
            <a:avLst/>
          </a:prstGeom>
          <a:noFill/>
        </p:spPr>
        <p:txBody>
          <a:bodyPr wrap="none" rtlCol="0">
            <a:spAutoFit/>
          </a:bodyPr>
          <a:lstStyle/>
          <a:p>
            <a:endParaRPr lang="zh-CN" altLang="en-US" dirty="0">
              <a:latin typeface="+mn-lt"/>
            </a:endParaRPr>
          </a:p>
        </p:txBody>
      </p:sp>
      <p:sp>
        <p:nvSpPr>
          <p:cNvPr id="15" name="文本框 14"/>
          <p:cNvSpPr txBox="1"/>
          <p:nvPr/>
        </p:nvSpPr>
        <p:spPr>
          <a:xfrm>
            <a:off x="224779" y="4625523"/>
            <a:ext cx="834877" cy="400110"/>
          </a:xfrm>
          <a:prstGeom prst="rect">
            <a:avLst/>
          </a:prstGeom>
          <a:noFill/>
        </p:spPr>
        <p:txBody>
          <a:bodyPr wrap="square" rtlCol="0">
            <a:spAutoFit/>
          </a:bodyPr>
          <a:lstStyle/>
          <a:p>
            <a:r>
              <a:rPr lang="en-US" altLang="zh-CN" sz="2000" b="1" dirty="0" err="1">
                <a:solidFill>
                  <a:srgbClr val="0432FF"/>
                </a:solidFill>
                <a:latin typeface="+mn-lt"/>
                <a:ea typeface="+mj-ea"/>
              </a:rPr>
              <a:t>subi</a:t>
            </a:r>
            <a:r>
              <a:rPr lang="zh-CN" altLang="en-US" sz="2000" b="1" dirty="0">
                <a:solidFill>
                  <a:srgbClr val="0432FF"/>
                </a:solidFill>
                <a:latin typeface="+mn-lt"/>
                <a:ea typeface="+mj-ea"/>
              </a:rPr>
              <a:t>：</a:t>
            </a:r>
          </a:p>
        </p:txBody>
      </p:sp>
      <p:sp>
        <p:nvSpPr>
          <p:cNvPr id="16" name="文本框 15"/>
          <p:cNvSpPr txBox="1"/>
          <p:nvPr/>
        </p:nvSpPr>
        <p:spPr>
          <a:xfrm>
            <a:off x="5555919" y="4667608"/>
            <a:ext cx="1126653" cy="400110"/>
          </a:xfrm>
          <a:prstGeom prst="rect">
            <a:avLst/>
          </a:prstGeom>
          <a:noFill/>
        </p:spPr>
        <p:txBody>
          <a:bodyPr wrap="square" rtlCol="0">
            <a:spAutoFit/>
          </a:bodyPr>
          <a:lstStyle/>
          <a:p>
            <a:r>
              <a:rPr lang="en-US" altLang="zh-CN" sz="2000" b="1" dirty="0" err="1">
                <a:solidFill>
                  <a:srgbClr val="0432FF"/>
                </a:solidFill>
                <a:latin typeface="+mn-lt"/>
                <a:ea typeface="+mj-ea"/>
              </a:rPr>
              <a:t>subiu</a:t>
            </a:r>
            <a:r>
              <a:rPr lang="zh-CN" altLang="en-US" sz="2000" b="1" dirty="0">
                <a:solidFill>
                  <a:srgbClr val="0432FF"/>
                </a:solidFill>
                <a:latin typeface="+mn-lt"/>
                <a:ea typeface="+mj-ea"/>
              </a:rPr>
              <a:t>：</a:t>
            </a:r>
          </a:p>
        </p:txBody>
      </p:sp>
      <p:sp>
        <p:nvSpPr>
          <p:cNvPr id="19" name="矩形 18"/>
          <p:cNvSpPr/>
          <p:nvPr/>
        </p:nvSpPr>
        <p:spPr>
          <a:xfrm>
            <a:off x="116456" y="2545931"/>
            <a:ext cx="8911087" cy="373599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 name="直接连接符 20"/>
          <p:cNvCxnSpPr/>
          <p:nvPr/>
        </p:nvCxnSpPr>
        <p:spPr>
          <a:xfrm>
            <a:off x="99203" y="4659403"/>
            <a:ext cx="891108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a:cxnSpLocks/>
          </p:cNvCxnSpPr>
          <p:nvPr/>
        </p:nvCxnSpPr>
        <p:spPr>
          <a:xfrm>
            <a:off x="5448980" y="2545931"/>
            <a:ext cx="0" cy="373599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2"/>
          <a:stretch>
            <a:fillRect/>
          </a:stretch>
        </p:blipFill>
        <p:spPr>
          <a:xfrm>
            <a:off x="355739" y="3222013"/>
            <a:ext cx="4665363" cy="1234705"/>
          </a:xfrm>
          <a:prstGeom prst="rect">
            <a:avLst/>
          </a:prstGeom>
        </p:spPr>
      </p:pic>
      <p:pic>
        <p:nvPicPr>
          <p:cNvPr id="3" name="图片 2"/>
          <p:cNvPicPr>
            <a:picLocks noChangeAspect="1"/>
          </p:cNvPicPr>
          <p:nvPr/>
        </p:nvPicPr>
        <p:blipFill>
          <a:blip r:embed="rId3"/>
          <a:stretch>
            <a:fillRect/>
          </a:stretch>
        </p:blipFill>
        <p:spPr>
          <a:xfrm>
            <a:off x="5715000" y="3381622"/>
            <a:ext cx="2800350" cy="781050"/>
          </a:xfrm>
          <a:prstGeom prst="rect">
            <a:avLst/>
          </a:prstGeom>
        </p:spPr>
      </p:pic>
      <p:sp>
        <p:nvSpPr>
          <p:cNvPr id="20" name="文本框 19"/>
          <p:cNvSpPr txBox="1"/>
          <p:nvPr/>
        </p:nvSpPr>
        <p:spPr>
          <a:xfrm>
            <a:off x="1043433" y="5335623"/>
            <a:ext cx="3174883" cy="707886"/>
          </a:xfrm>
          <a:prstGeom prst="rect">
            <a:avLst/>
          </a:prstGeom>
          <a:noFill/>
          <a:ln w="38100">
            <a:noFill/>
          </a:ln>
        </p:spPr>
        <p:txBody>
          <a:bodyPr wrap="square" rtlCol="0">
            <a:spAutoFit/>
          </a:bodyPr>
          <a:lstStyle/>
          <a:p>
            <a:r>
              <a:rPr lang="zh-CN" altLang="en-US" sz="2000" b="1" dirty="0">
                <a:solidFill>
                  <a:schemeClr val="tx1"/>
                </a:solidFill>
                <a:latin typeface="+mn-lt"/>
                <a:ea typeface="+mj-ea"/>
              </a:rPr>
              <a:t>为伪指令，编译时直接转化加相反数并检测溢出</a:t>
            </a:r>
          </a:p>
        </p:txBody>
      </p:sp>
      <p:sp>
        <p:nvSpPr>
          <p:cNvPr id="23" name="文本框 22"/>
          <p:cNvSpPr txBox="1"/>
          <p:nvPr/>
        </p:nvSpPr>
        <p:spPr>
          <a:xfrm>
            <a:off x="5876859" y="5205040"/>
            <a:ext cx="2954603" cy="1015663"/>
          </a:xfrm>
          <a:prstGeom prst="rect">
            <a:avLst/>
          </a:prstGeom>
          <a:solidFill>
            <a:schemeClr val="bg1"/>
          </a:solidFill>
          <a:ln w="38100">
            <a:noFill/>
          </a:ln>
        </p:spPr>
        <p:txBody>
          <a:bodyPr wrap="square" rtlCol="0">
            <a:spAutoFit/>
          </a:bodyPr>
          <a:lstStyle/>
          <a:p>
            <a:r>
              <a:rPr lang="zh-CN" altLang="en-US" sz="2000" b="1" dirty="0">
                <a:solidFill>
                  <a:schemeClr val="tx1"/>
                </a:solidFill>
                <a:latin typeface="+mn-lt"/>
                <a:ea typeface="+mj-ea"/>
              </a:rPr>
              <a:t>为伪指令，编译时直接转化为加相反数不检测溢出</a:t>
            </a:r>
          </a:p>
        </p:txBody>
      </p:sp>
      <p:sp>
        <p:nvSpPr>
          <p:cNvPr id="18" name="文本框 25">
            <a:extLst>
              <a:ext uri="{FF2B5EF4-FFF2-40B4-BE49-F238E27FC236}">
                <a16:creationId xmlns:a16="http://schemas.microsoft.com/office/drawing/2014/main" id="{C78B23A1-82A1-4988-9B87-E81AD5085F79}"/>
              </a:ext>
            </a:extLst>
          </p:cNvPr>
          <p:cNvSpPr txBox="1"/>
          <p:nvPr/>
        </p:nvSpPr>
        <p:spPr>
          <a:xfrm>
            <a:off x="594811" y="1390653"/>
            <a:ext cx="8324410" cy="1015663"/>
          </a:xfrm>
          <a:prstGeom prst="rect">
            <a:avLst/>
          </a:prstGeom>
          <a:noFill/>
          <a:ln w="38100">
            <a:noFill/>
          </a:ln>
        </p:spPr>
        <p:txBody>
          <a:bodyPr wrap="square" rtlCol="0">
            <a:spAutoFit/>
          </a:bodyPr>
          <a:lstStyle/>
          <a:p>
            <a:pPr algn="ctr"/>
            <a:r>
              <a:rPr lang="zh-CN" altLang="en-US" sz="2000" b="1" dirty="0">
                <a:solidFill>
                  <a:schemeClr val="tx1"/>
                </a:solidFill>
                <a:latin typeface="+mn-lt"/>
                <a:ea typeface="+mj-ea"/>
              </a:rPr>
              <a:t>算术运算中：减法没有立即数运算，实际是加相反数</a:t>
            </a:r>
            <a:endParaRPr lang="en-US" altLang="zh-CN" sz="2000" b="1" dirty="0">
              <a:solidFill>
                <a:schemeClr val="tx1"/>
              </a:solidFill>
              <a:latin typeface="+mn-lt"/>
              <a:ea typeface="+mj-ea"/>
            </a:endParaRPr>
          </a:p>
          <a:p>
            <a:r>
              <a:rPr lang="en-US" altLang="zh-CN" sz="2000" b="1" dirty="0">
                <a:solidFill>
                  <a:schemeClr val="tx1"/>
                </a:solidFill>
                <a:latin typeface="+mn-lt"/>
                <a:ea typeface="+mj-ea"/>
              </a:rPr>
              <a:t>xxx</a:t>
            </a:r>
            <a:r>
              <a:rPr lang="zh-CN" altLang="en-US" sz="2000" b="1" dirty="0">
                <a:solidFill>
                  <a:schemeClr val="tx1"/>
                </a:solidFill>
                <a:latin typeface="+mn-lt"/>
                <a:ea typeface="+mj-ea"/>
              </a:rPr>
              <a:t>表示要考虑溢出，</a:t>
            </a:r>
            <a:r>
              <a:rPr lang="en-US" altLang="zh-CN" sz="2000" b="1" dirty="0" err="1">
                <a:solidFill>
                  <a:schemeClr val="tx1"/>
                </a:solidFill>
                <a:latin typeface="+mn-lt"/>
                <a:ea typeface="+mj-ea"/>
              </a:rPr>
              <a:t>xxxu</a:t>
            </a:r>
            <a:r>
              <a:rPr lang="zh-CN" altLang="en-US" sz="2000" b="1" dirty="0">
                <a:solidFill>
                  <a:schemeClr val="tx1"/>
                </a:solidFill>
                <a:latin typeface="+mn-lt"/>
                <a:ea typeface="+mj-ea"/>
              </a:rPr>
              <a:t>代表</a:t>
            </a:r>
            <a:r>
              <a:rPr lang="zh-CN" altLang="en-US" sz="2000" b="1" dirty="0">
                <a:solidFill>
                  <a:srgbClr val="0432FF"/>
                </a:solidFill>
                <a:latin typeface="+mn-lt"/>
                <a:ea typeface="+mj-ea"/>
              </a:rPr>
              <a:t>不输出溢出信号</a:t>
            </a:r>
            <a:r>
              <a:rPr lang="zh-CN" altLang="en-US" sz="2000" b="1" dirty="0">
                <a:solidFill>
                  <a:schemeClr val="tx1"/>
                </a:solidFill>
                <a:latin typeface="+mn-lt"/>
                <a:ea typeface="+mj-ea"/>
              </a:rPr>
              <a:t>（</a:t>
            </a:r>
            <a:r>
              <a:rPr lang="en-US" altLang="zh-CN" sz="2000" b="1" dirty="0">
                <a:solidFill>
                  <a:schemeClr val="tx1"/>
                </a:solidFill>
                <a:latin typeface="+mn-lt"/>
                <a:ea typeface="+mj-ea"/>
              </a:rPr>
              <a:t>overflow</a:t>
            </a:r>
            <a:r>
              <a:rPr lang="zh-CN" altLang="en-US" sz="2000" b="1" dirty="0">
                <a:solidFill>
                  <a:schemeClr val="tx1"/>
                </a:solidFill>
                <a:latin typeface="+mn-lt"/>
                <a:ea typeface="+mj-ea"/>
              </a:rPr>
              <a:t>强制为</a:t>
            </a:r>
            <a:r>
              <a:rPr lang="en-US" altLang="zh-CN" sz="2000" b="1" dirty="0">
                <a:solidFill>
                  <a:schemeClr val="tx1"/>
                </a:solidFill>
                <a:latin typeface="+mn-lt"/>
                <a:ea typeface="+mj-ea"/>
              </a:rPr>
              <a:t>0</a:t>
            </a:r>
            <a:r>
              <a:rPr lang="zh-CN" altLang="en-US" sz="2000" b="1" dirty="0">
                <a:solidFill>
                  <a:schemeClr val="tx1"/>
                </a:solidFill>
                <a:latin typeface="+mn-lt"/>
                <a:ea typeface="+mj-ea"/>
              </a:rPr>
              <a:t>）</a:t>
            </a:r>
            <a:endParaRPr lang="en-US" altLang="zh-CN" sz="2000" b="1" dirty="0">
              <a:solidFill>
                <a:schemeClr val="tx1"/>
              </a:solidFill>
              <a:latin typeface="+mn-lt"/>
              <a:ea typeface="+mj-ea"/>
            </a:endParaRPr>
          </a:p>
          <a:p>
            <a:r>
              <a:rPr lang="en-US" altLang="zh-CN" sz="2000" b="1" dirty="0">
                <a:solidFill>
                  <a:schemeClr val="tx1"/>
                </a:solidFill>
                <a:latin typeface="+mn-lt"/>
                <a:ea typeface="+mj-ea"/>
              </a:rPr>
              <a:t>xxxi</a:t>
            </a:r>
            <a:r>
              <a:rPr lang="zh-CN" altLang="en-US" sz="2000" b="1" dirty="0">
                <a:solidFill>
                  <a:schemeClr val="tx1"/>
                </a:solidFill>
                <a:latin typeface="+mn-lt"/>
                <a:ea typeface="+mj-ea"/>
              </a:rPr>
              <a:t>代表立即数计算，均为</a:t>
            </a:r>
            <a:r>
              <a:rPr lang="zh-CN" altLang="en-US" sz="2000" b="1" dirty="0">
                <a:solidFill>
                  <a:srgbClr val="0432FF"/>
                </a:solidFill>
                <a:latin typeface="+mn-lt"/>
                <a:ea typeface="+mj-ea"/>
              </a:rPr>
              <a:t>符号扩展</a:t>
            </a:r>
            <a:r>
              <a:rPr lang="zh-CN" altLang="en-US" sz="2000" b="1" dirty="0">
                <a:solidFill>
                  <a:schemeClr val="tx1"/>
                </a:solidFill>
                <a:latin typeface="+mn-lt"/>
                <a:ea typeface="+mj-ea"/>
              </a:rPr>
              <a:t>，即使</a:t>
            </a:r>
            <a:r>
              <a:rPr lang="en-US" altLang="zh-CN" sz="2000" b="1" dirty="0" err="1">
                <a:solidFill>
                  <a:schemeClr val="tx1"/>
                </a:solidFill>
                <a:latin typeface="+mn-lt"/>
                <a:ea typeface="+mj-ea"/>
              </a:rPr>
              <a:t>xxxiu</a:t>
            </a:r>
            <a:r>
              <a:rPr lang="zh-CN" altLang="en-US" sz="2000" b="1" dirty="0">
                <a:solidFill>
                  <a:schemeClr val="tx1"/>
                </a:solidFill>
                <a:latin typeface="+mn-lt"/>
                <a:ea typeface="+mj-ea"/>
              </a:rPr>
              <a:t>也是对立即数符号扩展</a:t>
            </a:r>
            <a:endParaRPr lang="zh-CN" altLang="en-US" sz="1800" b="1" dirty="0">
              <a:solidFill>
                <a:schemeClr val="tx1"/>
              </a:solidFill>
              <a:latin typeface="+mn-lt"/>
              <a:ea typeface="+mj-ea"/>
            </a:endParaRPr>
          </a:p>
        </p:txBody>
      </p:sp>
      <p:sp>
        <p:nvSpPr>
          <p:cNvPr id="6" name="Title 4">
            <a:extLst>
              <a:ext uri="{FF2B5EF4-FFF2-40B4-BE49-F238E27FC236}">
                <a16:creationId xmlns:a16="http://schemas.microsoft.com/office/drawing/2014/main" id="{970E06BB-3767-6096-0AAC-5C32584FBDB2}"/>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dirty="0"/>
              <a:t>各种</a:t>
            </a:r>
            <a:r>
              <a:rPr lang="en-US" altLang="zh-CN" dirty="0"/>
              <a:t>xxx/xxxi/</a:t>
            </a:r>
            <a:r>
              <a:rPr lang="en-US" altLang="zh-CN" dirty="0" err="1"/>
              <a:t>xxxu</a:t>
            </a:r>
            <a:r>
              <a:rPr lang="en-US" altLang="zh-CN" dirty="0"/>
              <a:t>/</a:t>
            </a:r>
            <a:r>
              <a:rPr lang="en-US" altLang="zh-CN" dirty="0" err="1"/>
              <a:t>xxxiu</a:t>
            </a:r>
            <a:endParaRPr lang="en-CN" kern="0" dirty="0"/>
          </a:p>
        </p:txBody>
      </p:sp>
    </p:spTree>
    <p:extLst>
      <p:ext uri="{BB962C8B-B14F-4D97-AF65-F5344CB8AC3E}">
        <p14:creationId xmlns:p14="http://schemas.microsoft.com/office/powerpoint/2010/main" val="74679984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灯片编号占位符 3">
            <a:extLst>
              <a:ext uri="{FF2B5EF4-FFF2-40B4-BE49-F238E27FC236}">
                <a16:creationId xmlns:a16="http://schemas.microsoft.com/office/drawing/2014/main" id="{D05EA0DF-5DBF-AC49-A6F6-3BFAC61EF878}"/>
              </a:ext>
            </a:extLst>
          </p:cNvPr>
          <p:cNvSpPr>
            <a:spLocks noGrp="1"/>
          </p:cNvSpPr>
          <p:nvPr>
            <p:ph type="sldNum" sz="quarter" idx="12"/>
          </p:nvPr>
        </p:nvSpPr>
        <p:spPr/>
        <p:txBody>
          <a:bodyPr/>
          <a:lstStyle/>
          <a:p>
            <a:fld id="{14659731-6BD7-46E7-8D3C-2F3AC07E20B1}" type="slidenum">
              <a:rPr lang="en-US" altLang="zh-CN" smtClean="0">
                <a:latin typeface="+mn-lt"/>
              </a:rPr>
              <a:pPr/>
              <a:t>106</a:t>
            </a:fld>
            <a:endParaRPr lang="en-US" altLang="zh-CN">
              <a:latin typeface="+mn-lt"/>
            </a:endParaRPr>
          </a:p>
        </p:txBody>
      </p:sp>
      <p:sp>
        <p:nvSpPr>
          <p:cNvPr id="5" name="文本框 4"/>
          <p:cNvSpPr txBox="1"/>
          <p:nvPr/>
        </p:nvSpPr>
        <p:spPr>
          <a:xfrm>
            <a:off x="189015" y="2464644"/>
            <a:ext cx="799113" cy="400110"/>
          </a:xfrm>
          <a:prstGeom prst="rect">
            <a:avLst/>
          </a:prstGeom>
        </p:spPr>
        <p:txBody>
          <a:bodyPr wrap="square" rtlCol="0">
            <a:spAutoFit/>
          </a:bodyPr>
          <a:lstStyle/>
          <a:p>
            <a:r>
              <a:rPr lang="en-US" altLang="zh-CN" sz="2000" dirty="0" err="1">
                <a:solidFill>
                  <a:srgbClr val="0432FF"/>
                </a:solidFill>
                <a:latin typeface="+mn-lt"/>
                <a:ea typeface="+mj-ea"/>
              </a:rPr>
              <a:t>slt</a:t>
            </a:r>
            <a:r>
              <a:rPr lang="zh-CN" altLang="en-US" sz="2000" dirty="0">
                <a:solidFill>
                  <a:srgbClr val="0432FF"/>
                </a:solidFill>
                <a:latin typeface="+mn-lt"/>
                <a:ea typeface="+mj-ea"/>
              </a:rPr>
              <a:t>：</a:t>
            </a:r>
          </a:p>
        </p:txBody>
      </p:sp>
      <p:sp>
        <p:nvSpPr>
          <p:cNvPr id="8" name="文本框 7"/>
          <p:cNvSpPr txBox="1"/>
          <p:nvPr/>
        </p:nvSpPr>
        <p:spPr>
          <a:xfrm>
            <a:off x="3986049" y="2439725"/>
            <a:ext cx="1007145" cy="400110"/>
          </a:xfrm>
          <a:prstGeom prst="rect">
            <a:avLst/>
          </a:prstGeom>
        </p:spPr>
        <p:txBody>
          <a:bodyPr wrap="square" rtlCol="0">
            <a:spAutoFit/>
          </a:bodyPr>
          <a:lstStyle/>
          <a:p>
            <a:r>
              <a:rPr lang="en-US" altLang="zh-CN" sz="2000" dirty="0" err="1">
                <a:solidFill>
                  <a:srgbClr val="0432FF"/>
                </a:solidFill>
                <a:latin typeface="+mn-lt"/>
                <a:ea typeface="+mj-ea"/>
              </a:rPr>
              <a:t>sltu</a:t>
            </a:r>
            <a:r>
              <a:rPr lang="zh-CN" altLang="en-US" sz="2000" dirty="0">
                <a:solidFill>
                  <a:srgbClr val="0432FF"/>
                </a:solidFill>
                <a:latin typeface="+mn-lt"/>
                <a:ea typeface="+mj-ea"/>
              </a:rPr>
              <a:t>：</a:t>
            </a:r>
          </a:p>
        </p:txBody>
      </p:sp>
      <p:sp>
        <p:nvSpPr>
          <p:cNvPr id="9" name="文本框 8"/>
          <p:cNvSpPr txBox="1"/>
          <p:nvPr/>
        </p:nvSpPr>
        <p:spPr>
          <a:xfrm>
            <a:off x="4928737" y="5187126"/>
            <a:ext cx="184731" cy="369332"/>
          </a:xfrm>
          <a:prstGeom prst="rect">
            <a:avLst/>
          </a:prstGeom>
          <a:noFill/>
        </p:spPr>
        <p:txBody>
          <a:bodyPr wrap="none" rtlCol="0">
            <a:spAutoFit/>
          </a:bodyPr>
          <a:lstStyle/>
          <a:p>
            <a:endParaRPr lang="zh-CN" altLang="en-US" dirty="0">
              <a:latin typeface="+mn-lt"/>
            </a:endParaRPr>
          </a:p>
        </p:txBody>
      </p:sp>
      <p:sp>
        <p:nvSpPr>
          <p:cNvPr id="15" name="文本框 14"/>
          <p:cNvSpPr txBox="1"/>
          <p:nvPr/>
        </p:nvSpPr>
        <p:spPr>
          <a:xfrm>
            <a:off x="189015" y="4461563"/>
            <a:ext cx="834877" cy="400110"/>
          </a:xfrm>
          <a:prstGeom prst="rect">
            <a:avLst/>
          </a:prstGeom>
        </p:spPr>
        <p:txBody>
          <a:bodyPr wrap="square" rtlCol="0">
            <a:spAutoFit/>
          </a:bodyPr>
          <a:lstStyle/>
          <a:p>
            <a:r>
              <a:rPr lang="en-US" altLang="zh-CN" sz="2000" dirty="0" err="1">
                <a:solidFill>
                  <a:srgbClr val="0432FF"/>
                </a:solidFill>
                <a:latin typeface="+mn-lt"/>
                <a:ea typeface="+mj-ea"/>
              </a:rPr>
              <a:t>slti</a:t>
            </a:r>
            <a:r>
              <a:rPr lang="zh-CN" altLang="en-US" sz="2000" dirty="0">
                <a:solidFill>
                  <a:srgbClr val="0432FF"/>
                </a:solidFill>
                <a:latin typeface="+mn-lt"/>
                <a:ea typeface="+mj-ea"/>
              </a:rPr>
              <a:t>：</a:t>
            </a:r>
          </a:p>
        </p:txBody>
      </p:sp>
      <p:sp>
        <p:nvSpPr>
          <p:cNvPr id="16" name="文本框 15"/>
          <p:cNvSpPr txBox="1"/>
          <p:nvPr/>
        </p:nvSpPr>
        <p:spPr>
          <a:xfrm>
            <a:off x="3958669" y="4509911"/>
            <a:ext cx="1126653" cy="400110"/>
          </a:xfrm>
          <a:prstGeom prst="rect">
            <a:avLst/>
          </a:prstGeom>
        </p:spPr>
        <p:txBody>
          <a:bodyPr wrap="square" rtlCol="0">
            <a:spAutoFit/>
          </a:bodyPr>
          <a:lstStyle/>
          <a:p>
            <a:r>
              <a:rPr lang="en-US" altLang="zh-CN" sz="2000" dirty="0" err="1">
                <a:solidFill>
                  <a:srgbClr val="0432FF"/>
                </a:solidFill>
                <a:latin typeface="+mn-lt"/>
                <a:ea typeface="+mj-ea"/>
              </a:rPr>
              <a:t>sltiu</a:t>
            </a:r>
            <a:r>
              <a:rPr lang="zh-CN" altLang="en-US" sz="2000" dirty="0">
                <a:solidFill>
                  <a:srgbClr val="0432FF"/>
                </a:solidFill>
                <a:latin typeface="+mn-lt"/>
                <a:ea typeface="+mj-ea"/>
              </a:rPr>
              <a:t>：</a:t>
            </a:r>
          </a:p>
        </p:txBody>
      </p:sp>
      <p:sp>
        <p:nvSpPr>
          <p:cNvPr id="19" name="矩形 18"/>
          <p:cNvSpPr/>
          <p:nvPr/>
        </p:nvSpPr>
        <p:spPr>
          <a:xfrm>
            <a:off x="116456" y="2389517"/>
            <a:ext cx="8911087" cy="38559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 name="直接连接符 20"/>
          <p:cNvCxnSpPr/>
          <p:nvPr/>
        </p:nvCxnSpPr>
        <p:spPr>
          <a:xfrm>
            <a:off x="99203" y="4502989"/>
            <a:ext cx="891108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a:cxnSpLocks/>
          </p:cNvCxnSpPr>
          <p:nvPr/>
        </p:nvCxnSpPr>
        <p:spPr>
          <a:xfrm>
            <a:off x="3919584" y="2389517"/>
            <a:ext cx="0" cy="385595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588571" y="1429216"/>
            <a:ext cx="8385955" cy="707886"/>
          </a:xfrm>
          <a:prstGeom prst="rect">
            <a:avLst/>
          </a:prstGeom>
          <a:noFill/>
          <a:ln w="38100">
            <a:noFill/>
          </a:ln>
        </p:spPr>
        <p:txBody>
          <a:bodyPr wrap="square" rtlCol="0">
            <a:spAutoFit/>
          </a:bodyPr>
          <a:lstStyle/>
          <a:p>
            <a:r>
              <a:rPr lang="en-US" altLang="zh-CN" sz="2000" b="1" dirty="0" err="1">
                <a:solidFill>
                  <a:schemeClr val="tx1"/>
                </a:solidFill>
                <a:latin typeface="+mn-lt"/>
                <a:ea typeface="+mj-ea"/>
              </a:rPr>
              <a:t>slt</a:t>
            </a:r>
            <a:r>
              <a:rPr lang="zh-CN" altLang="en-US" sz="2000" b="1" dirty="0">
                <a:solidFill>
                  <a:schemeClr val="tx1"/>
                </a:solidFill>
                <a:latin typeface="+mn-lt"/>
                <a:ea typeface="+mj-ea"/>
              </a:rPr>
              <a:t>不会输出溢出信号，</a:t>
            </a:r>
            <a:r>
              <a:rPr lang="en-US" altLang="zh-CN" sz="2000" b="1" dirty="0">
                <a:solidFill>
                  <a:schemeClr val="tx1"/>
                </a:solidFill>
                <a:latin typeface="+mn-lt"/>
                <a:ea typeface="+mj-ea"/>
              </a:rPr>
              <a:t>u</a:t>
            </a:r>
            <a:r>
              <a:rPr lang="zh-CN" altLang="en-US" sz="2000" b="1" dirty="0">
                <a:solidFill>
                  <a:schemeClr val="tx1"/>
                </a:solidFill>
                <a:latin typeface="+mn-lt"/>
                <a:ea typeface="+mj-ea"/>
              </a:rPr>
              <a:t>指的是将</a:t>
            </a:r>
            <a:r>
              <a:rPr lang="en-US" altLang="zh-CN" sz="2000" b="1" dirty="0">
                <a:solidFill>
                  <a:schemeClr val="tx1"/>
                </a:solidFill>
                <a:latin typeface="+mn-lt"/>
                <a:ea typeface="+mj-ea"/>
              </a:rPr>
              <a:t>32</a:t>
            </a:r>
            <a:r>
              <a:rPr lang="zh-CN" altLang="en-US" sz="2000" b="1" dirty="0">
                <a:solidFill>
                  <a:schemeClr val="tx1"/>
                </a:solidFill>
                <a:latin typeface="+mn-lt"/>
                <a:ea typeface="+mj-ea"/>
              </a:rPr>
              <a:t>位数</a:t>
            </a:r>
            <a:r>
              <a:rPr lang="zh-CN" altLang="en-US" sz="2000" b="1" dirty="0">
                <a:solidFill>
                  <a:srgbClr val="0432FF"/>
                </a:solidFill>
                <a:latin typeface="+mn-lt"/>
                <a:ea typeface="+mj-ea"/>
              </a:rPr>
              <a:t>看成无符号数</a:t>
            </a:r>
            <a:r>
              <a:rPr lang="zh-CN" altLang="en-US" sz="2000" b="1" dirty="0">
                <a:solidFill>
                  <a:schemeClr val="tx1"/>
                </a:solidFill>
                <a:latin typeface="+mn-lt"/>
                <a:ea typeface="+mj-ea"/>
              </a:rPr>
              <a:t>进行比较（等价于在最高位之前再补一个</a:t>
            </a:r>
            <a:r>
              <a:rPr lang="en-US" altLang="zh-CN" sz="2000" b="1" dirty="0">
                <a:solidFill>
                  <a:schemeClr val="tx1"/>
                </a:solidFill>
                <a:latin typeface="+mn-lt"/>
                <a:ea typeface="+mj-ea"/>
              </a:rPr>
              <a:t>0</a:t>
            </a:r>
            <a:r>
              <a:rPr lang="zh-CN" altLang="en-US" sz="2000" b="1" dirty="0">
                <a:solidFill>
                  <a:schemeClr val="tx1"/>
                </a:solidFill>
                <a:latin typeface="+mn-lt"/>
                <a:ea typeface="+mj-ea"/>
              </a:rPr>
              <a:t>）。这里立即数扩展依然为</a:t>
            </a:r>
            <a:r>
              <a:rPr lang="zh-CN" altLang="en-US" sz="2000" b="1" dirty="0">
                <a:solidFill>
                  <a:srgbClr val="0432FF"/>
                </a:solidFill>
                <a:latin typeface="+mn-lt"/>
                <a:ea typeface="+mj-ea"/>
              </a:rPr>
              <a:t>有符号扩展</a:t>
            </a:r>
            <a:r>
              <a:rPr lang="zh-CN" altLang="en-US" sz="2000" b="1" dirty="0">
                <a:solidFill>
                  <a:schemeClr val="tx1"/>
                </a:solidFill>
                <a:latin typeface="+mn-lt"/>
                <a:ea typeface="+mj-ea"/>
              </a:rPr>
              <a:t>。</a:t>
            </a:r>
            <a:endParaRPr lang="en-US" altLang="zh-CN" sz="2000" b="1" dirty="0">
              <a:solidFill>
                <a:schemeClr val="tx1"/>
              </a:solidFill>
              <a:latin typeface="+mn-lt"/>
              <a:ea typeface="+mj-ea"/>
            </a:endParaRPr>
          </a:p>
        </p:txBody>
      </p:sp>
      <p:pic>
        <p:nvPicPr>
          <p:cNvPr id="6" name="图片 5"/>
          <p:cNvPicPr>
            <a:picLocks noChangeAspect="1"/>
          </p:cNvPicPr>
          <p:nvPr/>
        </p:nvPicPr>
        <p:blipFill>
          <a:blip r:embed="rId2"/>
          <a:stretch>
            <a:fillRect/>
          </a:stretch>
        </p:blipFill>
        <p:spPr>
          <a:xfrm>
            <a:off x="292745" y="2925812"/>
            <a:ext cx="2981325" cy="1409700"/>
          </a:xfrm>
          <a:prstGeom prst="rect">
            <a:avLst/>
          </a:prstGeom>
        </p:spPr>
      </p:pic>
      <p:pic>
        <p:nvPicPr>
          <p:cNvPr id="7" name="图片 6"/>
          <p:cNvPicPr>
            <a:picLocks noChangeAspect="1"/>
          </p:cNvPicPr>
          <p:nvPr/>
        </p:nvPicPr>
        <p:blipFill>
          <a:blip r:embed="rId3"/>
          <a:stretch>
            <a:fillRect/>
          </a:stretch>
        </p:blipFill>
        <p:spPr>
          <a:xfrm>
            <a:off x="250424" y="5108237"/>
            <a:ext cx="3646195" cy="1059650"/>
          </a:xfrm>
          <a:prstGeom prst="rect">
            <a:avLst/>
          </a:prstGeom>
        </p:spPr>
      </p:pic>
      <p:pic>
        <p:nvPicPr>
          <p:cNvPr id="10" name="图片 9"/>
          <p:cNvPicPr>
            <a:picLocks noChangeAspect="1"/>
          </p:cNvPicPr>
          <p:nvPr/>
        </p:nvPicPr>
        <p:blipFill>
          <a:blip r:embed="rId4"/>
          <a:stretch>
            <a:fillRect/>
          </a:stretch>
        </p:blipFill>
        <p:spPr>
          <a:xfrm>
            <a:off x="4324679" y="5162742"/>
            <a:ext cx="4318989" cy="1058347"/>
          </a:xfrm>
          <a:prstGeom prst="rect">
            <a:avLst/>
          </a:prstGeom>
        </p:spPr>
      </p:pic>
      <p:pic>
        <p:nvPicPr>
          <p:cNvPr id="11" name="图片 10"/>
          <p:cNvPicPr>
            <a:picLocks noChangeAspect="1"/>
          </p:cNvPicPr>
          <p:nvPr/>
        </p:nvPicPr>
        <p:blipFill>
          <a:blip r:embed="rId5"/>
          <a:stretch>
            <a:fillRect/>
          </a:stretch>
        </p:blipFill>
        <p:spPr>
          <a:xfrm>
            <a:off x="4106323" y="2937192"/>
            <a:ext cx="3538914" cy="1222071"/>
          </a:xfrm>
          <a:prstGeom prst="rect">
            <a:avLst/>
          </a:prstGeom>
        </p:spPr>
      </p:pic>
      <p:cxnSp>
        <p:nvCxnSpPr>
          <p:cNvPr id="13" name="直接箭头连接符 12"/>
          <p:cNvCxnSpPr>
            <a:cxnSpLocks/>
          </p:cNvCxnSpPr>
          <p:nvPr/>
        </p:nvCxnSpPr>
        <p:spPr>
          <a:xfrm flipH="1">
            <a:off x="2251494" y="2137102"/>
            <a:ext cx="4373593" cy="3254407"/>
          </a:xfrm>
          <a:prstGeom prst="straightConnector1">
            <a:avLst/>
          </a:prstGeom>
          <a:ln w="57150">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a:cxnSpLocks/>
          </p:cNvCxnSpPr>
          <p:nvPr/>
        </p:nvCxnSpPr>
        <p:spPr>
          <a:xfrm>
            <a:off x="6688665" y="2128303"/>
            <a:ext cx="566150" cy="3263206"/>
          </a:xfrm>
          <a:prstGeom prst="straightConnector1">
            <a:avLst/>
          </a:prstGeom>
          <a:ln w="57150">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a:cxnSpLocks/>
          </p:cNvCxnSpPr>
          <p:nvPr/>
        </p:nvCxnSpPr>
        <p:spPr>
          <a:xfrm flipH="1">
            <a:off x="5020574" y="1772776"/>
            <a:ext cx="3454353" cy="1496635"/>
          </a:xfrm>
          <a:prstGeom prst="straightConnector1">
            <a:avLst/>
          </a:prstGeom>
          <a:ln w="57150">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a:cxnSpLocks/>
          </p:cNvCxnSpPr>
          <p:nvPr/>
        </p:nvCxnSpPr>
        <p:spPr>
          <a:xfrm flipH="1">
            <a:off x="5020574" y="1794294"/>
            <a:ext cx="3454353" cy="3597215"/>
          </a:xfrm>
          <a:prstGeom prst="straightConnector1">
            <a:avLst/>
          </a:prstGeom>
          <a:ln w="57150">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 name="Title 4">
            <a:extLst>
              <a:ext uri="{FF2B5EF4-FFF2-40B4-BE49-F238E27FC236}">
                <a16:creationId xmlns:a16="http://schemas.microsoft.com/office/drawing/2014/main" id="{E7DE4344-0DC4-9A1D-0700-D638BF6AF5B7}"/>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dirty="0"/>
              <a:t>各种</a:t>
            </a:r>
            <a:r>
              <a:rPr lang="en-US" altLang="zh-CN" dirty="0"/>
              <a:t>xxx/xxxi/</a:t>
            </a:r>
            <a:r>
              <a:rPr lang="en-US" altLang="zh-CN" dirty="0" err="1"/>
              <a:t>xxxu</a:t>
            </a:r>
            <a:r>
              <a:rPr lang="en-US" altLang="zh-CN" dirty="0"/>
              <a:t>/</a:t>
            </a:r>
            <a:r>
              <a:rPr lang="en-US" altLang="zh-CN" dirty="0" err="1"/>
              <a:t>xxxiu</a:t>
            </a:r>
            <a:endParaRPr lang="en-CN" kern="0" dirty="0"/>
          </a:p>
        </p:txBody>
      </p:sp>
    </p:spTree>
    <p:extLst>
      <p:ext uri="{BB962C8B-B14F-4D97-AF65-F5344CB8AC3E}">
        <p14:creationId xmlns:p14="http://schemas.microsoft.com/office/powerpoint/2010/main" val="82064553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602442" y="5524986"/>
            <a:ext cx="3143250" cy="685800"/>
          </a:xfrm>
          <a:prstGeom prst="rect">
            <a:avLst/>
          </a:prstGeom>
        </p:spPr>
      </p:pic>
      <p:sp>
        <p:nvSpPr>
          <p:cNvPr id="23" name="灯片编号占位符 3">
            <a:extLst>
              <a:ext uri="{FF2B5EF4-FFF2-40B4-BE49-F238E27FC236}">
                <a16:creationId xmlns:a16="http://schemas.microsoft.com/office/drawing/2014/main" id="{DCA30166-FCEF-704E-ACBB-358D0AAD2E8E}"/>
              </a:ext>
            </a:extLst>
          </p:cNvPr>
          <p:cNvSpPr>
            <a:spLocks noGrp="1"/>
          </p:cNvSpPr>
          <p:nvPr>
            <p:ph type="sldNum" sz="quarter" idx="12"/>
          </p:nvPr>
        </p:nvSpPr>
        <p:spPr/>
        <p:txBody>
          <a:bodyPr/>
          <a:lstStyle/>
          <a:p>
            <a:fld id="{14659731-6BD7-46E7-8D3C-2F3AC07E20B1}" type="slidenum">
              <a:rPr lang="en-US" altLang="zh-CN" smtClean="0">
                <a:latin typeface="+mn-lt"/>
              </a:rPr>
              <a:pPr/>
              <a:t>107</a:t>
            </a:fld>
            <a:endParaRPr lang="en-US" altLang="zh-CN" dirty="0">
              <a:latin typeface="+mn-lt"/>
            </a:endParaRPr>
          </a:p>
        </p:txBody>
      </p:sp>
      <p:sp>
        <p:nvSpPr>
          <p:cNvPr id="5" name="文本框 4"/>
          <p:cNvSpPr txBox="1"/>
          <p:nvPr/>
        </p:nvSpPr>
        <p:spPr>
          <a:xfrm>
            <a:off x="228065" y="5285384"/>
            <a:ext cx="799113" cy="400110"/>
          </a:xfrm>
          <a:prstGeom prst="rect">
            <a:avLst/>
          </a:prstGeom>
          <a:noFill/>
        </p:spPr>
        <p:txBody>
          <a:bodyPr wrap="square" rtlCol="0">
            <a:spAutoFit/>
          </a:bodyPr>
          <a:lstStyle/>
          <a:p>
            <a:r>
              <a:rPr lang="en-US" altLang="zh-CN" sz="2000" b="1" dirty="0" err="1">
                <a:solidFill>
                  <a:srgbClr val="0432FF"/>
                </a:solidFill>
                <a:latin typeface="+mn-lt"/>
                <a:ea typeface="+mj-ea"/>
              </a:rPr>
              <a:t>xor</a:t>
            </a:r>
            <a:r>
              <a:rPr lang="zh-CN" altLang="en-US" sz="2000" b="1" dirty="0">
                <a:solidFill>
                  <a:srgbClr val="0432FF"/>
                </a:solidFill>
                <a:latin typeface="+mn-lt"/>
                <a:ea typeface="+mj-ea"/>
              </a:rPr>
              <a:t>：</a:t>
            </a:r>
          </a:p>
        </p:txBody>
      </p:sp>
      <p:sp>
        <p:nvSpPr>
          <p:cNvPr id="8" name="文本框 7"/>
          <p:cNvSpPr txBox="1"/>
          <p:nvPr/>
        </p:nvSpPr>
        <p:spPr>
          <a:xfrm>
            <a:off x="4731777" y="5285383"/>
            <a:ext cx="1007145" cy="400110"/>
          </a:xfrm>
          <a:prstGeom prst="rect">
            <a:avLst/>
          </a:prstGeom>
          <a:noFill/>
        </p:spPr>
        <p:txBody>
          <a:bodyPr wrap="square" rtlCol="0">
            <a:spAutoFit/>
          </a:bodyPr>
          <a:lstStyle/>
          <a:p>
            <a:r>
              <a:rPr lang="en-US" altLang="zh-CN" sz="2000" b="1" dirty="0" err="1">
                <a:solidFill>
                  <a:srgbClr val="0432FF"/>
                </a:solidFill>
                <a:latin typeface="+mn-lt"/>
                <a:ea typeface="+mj-ea"/>
              </a:rPr>
              <a:t>xori</a:t>
            </a:r>
            <a:r>
              <a:rPr lang="zh-CN" altLang="en-US" sz="2000" b="1" dirty="0">
                <a:solidFill>
                  <a:srgbClr val="0432FF"/>
                </a:solidFill>
                <a:latin typeface="+mn-lt"/>
                <a:ea typeface="+mj-ea"/>
              </a:rPr>
              <a:t>：</a:t>
            </a:r>
          </a:p>
        </p:txBody>
      </p:sp>
      <p:sp>
        <p:nvSpPr>
          <p:cNvPr id="9" name="文本框 8"/>
          <p:cNvSpPr txBox="1"/>
          <p:nvPr/>
        </p:nvSpPr>
        <p:spPr>
          <a:xfrm>
            <a:off x="4944833" y="5084114"/>
            <a:ext cx="184731" cy="369332"/>
          </a:xfrm>
          <a:prstGeom prst="rect">
            <a:avLst/>
          </a:prstGeom>
          <a:noFill/>
        </p:spPr>
        <p:txBody>
          <a:bodyPr wrap="none" rtlCol="0">
            <a:spAutoFit/>
          </a:bodyPr>
          <a:lstStyle/>
          <a:p>
            <a:endParaRPr lang="zh-CN" altLang="en-US" dirty="0">
              <a:latin typeface="+mn-lt"/>
            </a:endParaRPr>
          </a:p>
        </p:txBody>
      </p:sp>
      <p:sp>
        <p:nvSpPr>
          <p:cNvPr id="19" name="矩形 18"/>
          <p:cNvSpPr/>
          <p:nvPr/>
        </p:nvSpPr>
        <p:spPr>
          <a:xfrm>
            <a:off x="132552" y="2286506"/>
            <a:ext cx="8911087" cy="395872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 name="直接连接符 20"/>
          <p:cNvCxnSpPr/>
          <p:nvPr/>
        </p:nvCxnSpPr>
        <p:spPr>
          <a:xfrm>
            <a:off x="112383" y="5285383"/>
            <a:ext cx="891108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a:cxnSpLocks/>
          </p:cNvCxnSpPr>
          <p:nvPr/>
        </p:nvCxnSpPr>
        <p:spPr>
          <a:xfrm>
            <a:off x="4567928" y="2286505"/>
            <a:ext cx="0" cy="397470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613775" y="1454600"/>
            <a:ext cx="6313086" cy="707886"/>
          </a:xfrm>
          <a:prstGeom prst="rect">
            <a:avLst/>
          </a:prstGeom>
          <a:noFill/>
          <a:ln w="38100">
            <a:noFill/>
          </a:ln>
        </p:spPr>
        <p:txBody>
          <a:bodyPr wrap="square" rtlCol="0">
            <a:spAutoFit/>
          </a:bodyPr>
          <a:lstStyle/>
          <a:p>
            <a:r>
              <a:rPr lang="zh-CN" altLang="en-US" sz="2000" b="1" dirty="0">
                <a:solidFill>
                  <a:schemeClr val="tx1"/>
                </a:solidFill>
                <a:latin typeface="+mn-lt"/>
                <a:ea typeface="+mj-ea"/>
              </a:rPr>
              <a:t>逻辑运算中，</a:t>
            </a:r>
            <a:r>
              <a:rPr lang="en-US" altLang="zh-CN" sz="2000" b="1" dirty="0">
                <a:solidFill>
                  <a:schemeClr val="tx1"/>
                </a:solidFill>
                <a:latin typeface="+mn-lt"/>
                <a:ea typeface="+mj-ea"/>
              </a:rPr>
              <a:t>xxxi</a:t>
            </a:r>
            <a:r>
              <a:rPr lang="zh-CN" altLang="en-US" sz="2000" b="1" dirty="0">
                <a:solidFill>
                  <a:schemeClr val="tx1"/>
                </a:solidFill>
                <a:latin typeface="+mn-lt"/>
                <a:ea typeface="+mj-ea"/>
              </a:rPr>
              <a:t>代表立即数计算，均为</a:t>
            </a:r>
            <a:r>
              <a:rPr lang="zh-CN" altLang="en-US" sz="2000" b="1" dirty="0">
                <a:solidFill>
                  <a:srgbClr val="0432FF"/>
                </a:solidFill>
                <a:latin typeface="+mn-lt"/>
                <a:ea typeface="+mj-ea"/>
              </a:rPr>
              <a:t>无符号</a:t>
            </a:r>
            <a:r>
              <a:rPr lang="zh-CN" altLang="en-US" sz="2000" b="1" dirty="0">
                <a:solidFill>
                  <a:schemeClr val="tx1"/>
                </a:solidFill>
                <a:latin typeface="+mn-lt"/>
                <a:ea typeface="+mj-ea"/>
              </a:rPr>
              <a:t>扩展（注意与前几种</a:t>
            </a:r>
            <a:r>
              <a:rPr lang="en-US" altLang="zh-CN" sz="2000" b="1" dirty="0">
                <a:solidFill>
                  <a:schemeClr val="tx1"/>
                </a:solidFill>
                <a:latin typeface="+mn-lt"/>
                <a:ea typeface="+mj-ea"/>
              </a:rPr>
              <a:t>xxxi</a:t>
            </a:r>
            <a:r>
              <a:rPr lang="zh-CN" altLang="en-US" sz="2000" b="1" dirty="0">
                <a:solidFill>
                  <a:schemeClr val="tx1"/>
                </a:solidFill>
                <a:latin typeface="+mn-lt"/>
                <a:ea typeface="+mj-ea"/>
              </a:rPr>
              <a:t>区分）</a:t>
            </a:r>
          </a:p>
        </p:txBody>
      </p:sp>
      <p:pic>
        <p:nvPicPr>
          <p:cNvPr id="7" name="图片 6"/>
          <p:cNvPicPr>
            <a:picLocks noChangeAspect="1"/>
          </p:cNvPicPr>
          <p:nvPr/>
        </p:nvPicPr>
        <p:blipFill>
          <a:blip r:embed="rId3"/>
          <a:stretch>
            <a:fillRect/>
          </a:stretch>
        </p:blipFill>
        <p:spPr>
          <a:xfrm>
            <a:off x="4666811" y="5655709"/>
            <a:ext cx="4135155" cy="589516"/>
          </a:xfrm>
          <a:prstGeom prst="rect">
            <a:avLst/>
          </a:prstGeom>
        </p:spPr>
      </p:pic>
      <p:pic>
        <p:nvPicPr>
          <p:cNvPr id="10" name="图片 9"/>
          <p:cNvPicPr>
            <a:picLocks noChangeAspect="1"/>
          </p:cNvPicPr>
          <p:nvPr/>
        </p:nvPicPr>
        <p:blipFill>
          <a:blip r:embed="rId4"/>
          <a:stretch>
            <a:fillRect/>
          </a:stretch>
        </p:blipFill>
        <p:spPr>
          <a:xfrm>
            <a:off x="4666811" y="3125545"/>
            <a:ext cx="3864635" cy="492806"/>
          </a:xfrm>
          <a:prstGeom prst="rect">
            <a:avLst/>
          </a:prstGeom>
        </p:spPr>
      </p:pic>
      <p:sp>
        <p:nvSpPr>
          <p:cNvPr id="28" name="文本框 27"/>
          <p:cNvSpPr txBox="1"/>
          <p:nvPr/>
        </p:nvSpPr>
        <p:spPr>
          <a:xfrm>
            <a:off x="4731777" y="2332718"/>
            <a:ext cx="1007145" cy="400110"/>
          </a:xfrm>
          <a:prstGeom prst="rect">
            <a:avLst/>
          </a:prstGeom>
          <a:noFill/>
        </p:spPr>
        <p:txBody>
          <a:bodyPr wrap="square" rtlCol="0">
            <a:spAutoFit/>
          </a:bodyPr>
          <a:lstStyle/>
          <a:p>
            <a:r>
              <a:rPr lang="en-US" altLang="zh-CN" sz="2000" b="1" dirty="0" err="1">
                <a:solidFill>
                  <a:srgbClr val="0432FF"/>
                </a:solidFill>
                <a:latin typeface="+mn-lt"/>
                <a:ea typeface="+mj-ea"/>
              </a:rPr>
              <a:t>andi</a:t>
            </a:r>
            <a:r>
              <a:rPr lang="zh-CN" altLang="en-US" sz="2000" b="1" dirty="0">
                <a:solidFill>
                  <a:srgbClr val="0432FF"/>
                </a:solidFill>
                <a:latin typeface="+mn-lt"/>
                <a:ea typeface="+mj-ea"/>
              </a:rPr>
              <a:t>：</a:t>
            </a:r>
          </a:p>
        </p:txBody>
      </p:sp>
      <p:sp>
        <p:nvSpPr>
          <p:cNvPr id="29" name="文本框 28"/>
          <p:cNvSpPr txBox="1"/>
          <p:nvPr/>
        </p:nvSpPr>
        <p:spPr>
          <a:xfrm>
            <a:off x="228065" y="2332718"/>
            <a:ext cx="1007145" cy="400110"/>
          </a:xfrm>
          <a:prstGeom prst="rect">
            <a:avLst/>
          </a:prstGeom>
          <a:noFill/>
        </p:spPr>
        <p:txBody>
          <a:bodyPr wrap="square" rtlCol="0">
            <a:spAutoFit/>
          </a:bodyPr>
          <a:lstStyle/>
          <a:p>
            <a:r>
              <a:rPr lang="en-US" altLang="zh-CN" sz="2000" b="1" dirty="0">
                <a:solidFill>
                  <a:srgbClr val="0432FF"/>
                </a:solidFill>
                <a:latin typeface="+mn-lt"/>
                <a:ea typeface="+mj-ea"/>
              </a:rPr>
              <a:t>and</a:t>
            </a:r>
            <a:r>
              <a:rPr lang="zh-CN" altLang="en-US" sz="2000" b="1" dirty="0">
                <a:solidFill>
                  <a:srgbClr val="0432FF"/>
                </a:solidFill>
                <a:latin typeface="+mn-lt"/>
                <a:ea typeface="+mj-ea"/>
              </a:rPr>
              <a:t>：</a:t>
            </a:r>
          </a:p>
        </p:txBody>
      </p:sp>
      <p:pic>
        <p:nvPicPr>
          <p:cNvPr id="11" name="图片 10"/>
          <p:cNvPicPr>
            <a:picLocks noChangeAspect="1"/>
          </p:cNvPicPr>
          <p:nvPr/>
        </p:nvPicPr>
        <p:blipFill>
          <a:blip r:embed="rId5"/>
          <a:stretch>
            <a:fillRect/>
          </a:stretch>
        </p:blipFill>
        <p:spPr>
          <a:xfrm>
            <a:off x="316981" y="2951204"/>
            <a:ext cx="3714173" cy="666067"/>
          </a:xfrm>
          <a:prstGeom prst="rect">
            <a:avLst/>
          </a:prstGeom>
        </p:spPr>
      </p:pic>
      <p:pic>
        <p:nvPicPr>
          <p:cNvPr id="12" name="图片 11"/>
          <p:cNvPicPr>
            <a:picLocks noChangeAspect="1"/>
          </p:cNvPicPr>
          <p:nvPr/>
        </p:nvPicPr>
        <p:blipFill>
          <a:blip r:embed="rId6"/>
          <a:stretch>
            <a:fillRect/>
          </a:stretch>
        </p:blipFill>
        <p:spPr>
          <a:xfrm>
            <a:off x="451296" y="4289278"/>
            <a:ext cx="3105150" cy="600075"/>
          </a:xfrm>
          <a:prstGeom prst="rect">
            <a:avLst/>
          </a:prstGeom>
        </p:spPr>
      </p:pic>
      <p:cxnSp>
        <p:nvCxnSpPr>
          <p:cNvPr id="30" name="直接连接符 29"/>
          <p:cNvCxnSpPr/>
          <p:nvPr/>
        </p:nvCxnSpPr>
        <p:spPr>
          <a:xfrm>
            <a:off x="112384" y="3810266"/>
            <a:ext cx="891108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a:xfrm>
            <a:off x="228064" y="3827613"/>
            <a:ext cx="1007145" cy="400110"/>
          </a:xfrm>
          <a:prstGeom prst="rect">
            <a:avLst/>
          </a:prstGeom>
          <a:noFill/>
        </p:spPr>
        <p:txBody>
          <a:bodyPr wrap="square" rtlCol="0">
            <a:spAutoFit/>
          </a:bodyPr>
          <a:lstStyle/>
          <a:p>
            <a:r>
              <a:rPr lang="en-US" altLang="zh-CN" sz="2000" b="1" dirty="0">
                <a:solidFill>
                  <a:srgbClr val="0432FF"/>
                </a:solidFill>
                <a:latin typeface="+mn-lt"/>
                <a:ea typeface="+mj-ea"/>
              </a:rPr>
              <a:t>or</a:t>
            </a:r>
            <a:r>
              <a:rPr lang="zh-CN" altLang="en-US" sz="2000" b="1" dirty="0">
                <a:solidFill>
                  <a:srgbClr val="0432FF"/>
                </a:solidFill>
                <a:latin typeface="+mn-lt"/>
                <a:ea typeface="+mj-ea"/>
              </a:rPr>
              <a:t>：</a:t>
            </a:r>
          </a:p>
        </p:txBody>
      </p:sp>
      <p:pic>
        <p:nvPicPr>
          <p:cNvPr id="13" name="图片 12"/>
          <p:cNvPicPr>
            <a:picLocks noChangeAspect="1"/>
          </p:cNvPicPr>
          <p:nvPr/>
        </p:nvPicPr>
        <p:blipFill>
          <a:blip r:embed="rId7"/>
          <a:stretch>
            <a:fillRect/>
          </a:stretch>
        </p:blipFill>
        <p:spPr>
          <a:xfrm>
            <a:off x="4904712" y="4445900"/>
            <a:ext cx="3388832" cy="511814"/>
          </a:xfrm>
          <a:prstGeom prst="rect">
            <a:avLst/>
          </a:prstGeom>
        </p:spPr>
      </p:pic>
      <p:sp>
        <p:nvSpPr>
          <p:cNvPr id="32" name="文本框 31"/>
          <p:cNvSpPr txBox="1"/>
          <p:nvPr/>
        </p:nvSpPr>
        <p:spPr>
          <a:xfrm>
            <a:off x="4666811" y="3884885"/>
            <a:ext cx="1007145" cy="400110"/>
          </a:xfrm>
          <a:prstGeom prst="rect">
            <a:avLst/>
          </a:prstGeom>
          <a:noFill/>
        </p:spPr>
        <p:txBody>
          <a:bodyPr wrap="square" rtlCol="0">
            <a:spAutoFit/>
          </a:bodyPr>
          <a:lstStyle/>
          <a:p>
            <a:r>
              <a:rPr lang="en-US" altLang="zh-CN" sz="2000" b="1" dirty="0" err="1">
                <a:solidFill>
                  <a:srgbClr val="0432FF"/>
                </a:solidFill>
                <a:latin typeface="+mn-lt"/>
                <a:ea typeface="+mj-ea"/>
              </a:rPr>
              <a:t>ori</a:t>
            </a:r>
            <a:r>
              <a:rPr lang="zh-CN" altLang="en-US" sz="2000" b="1" dirty="0">
                <a:solidFill>
                  <a:srgbClr val="0432FF"/>
                </a:solidFill>
                <a:latin typeface="+mn-lt"/>
                <a:ea typeface="+mj-ea"/>
              </a:rPr>
              <a:t>：</a:t>
            </a:r>
          </a:p>
        </p:txBody>
      </p:sp>
      <p:sp>
        <p:nvSpPr>
          <p:cNvPr id="2" name="Title 4">
            <a:extLst>
              <a:ext uri="{FF2B5EF4-FFF2-40B4-BE49-F238E27FC236}">
                <a16:creationId xmlns:a16="http://schemas.microsoft.com/office/drawing/2014/main" id="{64A7D74D-76A7-48C2-1863-9EF6A7226BD9}"/>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dirty="0"/>
              <a:t>各种</a:t>
            </a:r>
            <a:r>
              <a:rPr lang="en-US" altLang="zh-CN" dirty="0"/>
              <a:t>xxx/xxxi/</a:t>
            </a:r>
            <a:r>
              <a:rPr lang="en-US" altLang="zh-CN" dirty="0" err="1"/>
              <a:t>xxxu</a:t>
            </a:r>
            <a:r>
              <a:rPr lang="en-US" altLang="zh-CN" dirty="0"/>
              <a:t>/</a:t>
            </a:r>
            <a:r>
              <a:rPr lang="en-US" altLang="zh-CN" dirty="0" err="1"/>
              <a:t>xxxiu</a:t>
            </a:r>
            <a:endParaRPr lang="en-CN" kern="0" dirty="0"/>
          </a:p>
        </p:txBody>
      </p:sp>
    </p:spTree>
    <p:extLst>
      <p:ext uri="{BB962C8B-B14F-4D97-AF65-F5344CB8AC3E}">
        <p14:creationId xmlns:p14="http://schemas.microsoft.com/office/powerpoint/2010/main" val="135938788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18F7A86E-B07B-495F-87EA-D94597F225D3}"/>
              </a:ext>
            </a:extLst>
          </p:cNvPr>
          <p:cNvSpPr>
            <a:spLocks noGrp="1"/>
          </p:cNvSpPr>
          <p:nvPr>
            <p:ph type="sldNum" sz="quarter" idx="12"/>
          </p:nvPr>
        </p:nvSpPr>
        <p:spPr/>
        <p:txBody>
          <a:bodyPr/>
          <a:lstStyle/>
          <a:p>
            <a:fld id="{14659731-6BD7-46E7-8D3C-2F3AC07E20B1}" type="slidenum">
              <a:rPr lang="en-US" altLang="zh-CN" smtClean="0"/>
              <a:pPr/>
              <a:t>108</a:t>
            </a:fld>
            <a:endParaRPr lang="en-US" altLang="zh-CN" dirty="0"/>
          </a:p>
        </p:txBody>
      </p:sp>
      <p:sp>
        <p:nvSpPr>
          <p:cNvPr id="9218" name="Rectangle 3"/>
          <p:cNvSpPr>
            <a:spLocks noGrp="1" noChangeArrowheads="1"/>
          </p:cNvSpPr>
          <p:nvPr>
            <p:ph idx="4294967295"/>
          </p:nvPr>
        </p:nvSpPr>
        <p:spPr>
          <a:xfrm>
            <a:off x="535259" y="1357274"/>
            <a:ext cx="7886700" cy="4351338"/>
          </a:xfrm>
        </p:spPr>
        <p:txBody>
          <a:bodyPr/>
          <a:lstStyle/>
          <a:p>
            <a:r>
              <a:rPr lang="en-US" altLang="zh-CN" dirty="0"/>
              <a:t>32</a:t>
            </a:r>
            <a:r>
              <a:rPr lang="zh-CN" altLang="en-US" dirty="0"/>
              <a:t>位</a:t>
            </a:r>
            <a:r>
              <a:rPr lang="en-US" altLang="zh-CN" dirty="0"/>
              <a:t>MIPS</a:t>
            </a:r>
            <a:r>
              <a:rPr lang="zh-CN" altLang="en-US" dirty="0"/>
              <a:t>的内存分配</a:t>
            </a:r>
            <a:endParaRPr lang="en-US" altLang="zh-CN" dirty="0"/>
          </a:p>
          <a:p>
            <a:r>
              <a:rPr lang="en-US" altLang="zh-CN" dirty="0"/>
              <a:t>MIPS</a:t>
            </a:r>
            <a:r>
              <a:rPr lang="zh-CN" altLang="en-US" dirty="0"/>
              <a:t>模拟器</a:t>
            </a:r>
            <a:endParaRPr lang="en-US" altLang="zh-CN" dirty="0"/>
          </a:p>
          <a:p>
            <a:r>
              <a:rPr lang="zh-CN" altLang="en-US" dirty="0"/>
              <a:t>汇编程序设计基础</a:t>
            </a:r>
            <a:endParaRPr lang="en-US" altLang="zh-CN" dirty="0"/>
          </a:p>
        </p:txBody>
      </p:sp>
      <p:sp>
        <p:nvSpPr>
          <p:cNvPr id="2" name="Title 4">
            <a:extLst>
              <a:ext uri="{FF2B5EF4-FFF2-40B4-BE49-F238E27FC236}">
                <a16:creationId xmlns:a16="http://schemas.microsoft.com/office/drawing/2014/main" id="{4812BF07-95ED-F721-869E-9E6F9E903789}"/>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en-US" altLang="zh-CN" dirty="0"/>
              <a:t>MIPS</a:t>
            </a:r>
            <a:r>
              <a:rPr lang="zh-CN" altLang="en-US" dirty="0"/>
              <a:t>编程指南</a:t>
            </a:r>
            <a:endParaRPr lang="en-CN" kern="0" dirty="0"/>
          </a:p>
        </p:txBody>
      </p:sp>
    </p:spTree>
    <p:extLst>
      <p:ext uri="{BB962C8B-B14F-4D97-AF65-F5344CB8AC3E}">
        <p14:creationId xmlns:p14="http://schemas.microsoft.com/office/powerpoint/2010/main" val="376340698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灯片编号占位符 3">
            <a:extLst>
              <a:ext uri="{FF2B5EF4-FFF2-40B4-BE49-F238E27FC236}">
                <a16:creationId xmlns:a16="http://schemas.microsoft.com/office/drawing/2014/main" id="{26CD2CA7-91B0-4A06-829F-45B99AF7B28B}"/>
              </a:ext>
            </a:extLst>
          </p:cNvPr>
          <p:cNvSpPr>
            <a:spLocks noGrp="1"/>
          </p:cNvSpPr>
          <p:nvPr>
            <p:ph type="sldNum" sz="quarter" idx="12"/>
          </p:nvPr>
        </p:nvSpPr>
        <p:spPr/>
        <p:txBody>
          <a:bodyPr/>
          <a:lstStyle/>
          <a:p>
            <a:fld id="{14659731-6BD7-46E7-8D3C-2F3AC07E20B1}" type="slidenum">
              <a:rPr lang="en-US" altLang="zh-CN" smtClean="0"/>
              <a:pPr/>
              <a:t>109</a:t>
            </a:fld>
            <a:endParaRPr lang="en-US" altLang="zh-CN" dirty="0"/>
          </a:p>
        </p:txBody>
      </p:sp>
      <p:sp>
        <p:nvSpPr>
          <p:cNvPr id="10243" name="Rectangle 3"/>
          <p:cNvSpPr>
            <a:spLocks noGrp="1" noChangeArrowheads="1"/>
          </p:cNvSpPr>
          <p:nvPr>
            <p:ph idx="4294967295"/>
          </p:nvPr>
        </p:nvSpPr>
        <p:spPr>
          <a:xfrm>
            <a:off x="391146" y="1333151"/>
            <a:ext cx="4907627" cy="5036789"/>
          </a:xfrm>
        </p:spPr>
        <p:txBody>
          <a:bodyPr/>
          <a:lstStyle/>
          <a:p>
            <a:pPr hangingPunct="1"/>
            <a:r>
              <a:rPr lang="zh-CN" altLang="en-US" dirty="0"/>
              <a:t>内存空间分配</a:t>
            </a:r>
            <a:endParaRPr lang="en-US" altLang="zh-CN" dirty="0"/>
          </a:p>
          <a:p>
            <a:pPr lvl="1"/>
            <a:r>
              <a:rPr lang="en-US" altLang="zh-CN" dirty="0"/>
              <a:t>32</a:t>
            </a:r>
            <a:r>
              <a:rPr lang="zh-CN" altLang="en-US" dirty="0"/>
              <a:t>位的地址决定了能管理的内存最大为</a:t>
            </a:r>
            <a:r>
              <a:rPr lang="en-US" altLang="zh-CN" dirty="0"/>
              <a:t>2</a:t>
            </a:r>
            <a:r>
              <a:rPr lang="en-US" altLang="zh-CN" baseline="30000" dirty="0"/>
              <a:t>32</a:t>
            </a:r>
            <a:r>
              <a:rPr lang="en-US" altLang="zh-CN" dirty="0"/>
              <a:t>=4GB</a:t>
            </a:r>
            <a:r>
              <a:rPr lang="zh-CN" altLang="en-US" dirty="0"/>
              <a:t>的大小</a:t>
            </a:r>
            <a:endParaRPr lang="en-US" altLang="zh-CN" dirty="0"/>
          </a:p>
          <a:p>
            <a:pPr lvl="1"/>
            <a:r>
              <a:rPr lang="zh-CN" altLang="en-US" dirty="0"/>
              <a:t>一般我们将低</a:t>
            </a:r>
            <a:r>
              <a:rPr lang="en-US" altLang="zh-CN" dirty="0"/>
              <a:t>2GB</a:t>
            </a:r>
            <a:r>
              <a:rPr lang="zh-CN" altLang="en-US" dirty="0"/>
              <a:t>规定为</a:t>
            </a:r>
            <a:r>
              <a:rPr lang="zh-CN" altLang="en-US" dirty="0">
                <a:solidFill>
                  <a:srgbClr val="FF0000"/>
                </a:solidFill>
              </a:rPr>
              <a:t>用户态</a:t>
            </a:r>
            <a:r>
              <a:rPr lang="zh-CN" altLang="en-US" dirty="0"/>
              <a:t>空间，即一般的应用程序可以控制的空间</a:t>
            </a:r>
            <a:endParaRPr lang="en-US" altLang="zh-CN" dirty="0"/>
          </a:p>
          <a:p>
            <a:pPr lvl="1"/>
            <a:r>
              <a:rPr lang="zh-CN" altLang="en-US" dirty="0"/>
              <a:t>高</a:t>
            </a:r>
            <a:r>
              <a:rPr lang="en-US" altLang="zh-CN" dirty="0"/>
              <a:t>2GB</a:t>
            </a:r>
            <a:r>
              <a:rPr lang="zh-CN" altLang="en-US" dirty="0"/>
              <a:t>的空间属于</a:t>
            </a:r>
            <a:r>
              <a:rPr lang="zh-CN" altLang="en-US" dirty="0">
                <a:solidFill>
                  <a:srgbClr val="FF0000"/>
                </a:solidFill>
              </a:rPr>
              <a:t>内核态</a:t>
            </a:r>
            <a:r>
              <a:rPr lang="zh-CN" altLang="en-US" dirty="0"/>
              <a:t>空间，这部分空间是由操作系统控制的，用户态程序不能控制</a:t>
            </a:r>
            <a:endParaRPr lang="en-US" altLang="zh-CN" dirty="0"/>
          </a:p>
          <a:p>
            <a:pPr lvl="1"/>
            <a:endParaRPr lang="en-US" altLang="zh-CN" dirty="0"/>
          </a:p>
          <a:p>
            <a:pPr hangingPunct="1"/>
            <a:endParaRPr lang="en-US" altLang="zh-CN" dirty="0"/>
          </a:p>
        </p:txBody>
      </p:sp>
      <p:grpSp>
        <p:nvGrpSpPr>
          <p:cNvPr id="4" name="Group 3">
            <a:extLst>
              <a:ext uri="{FF2B5EF4-FFF2-40B4-BE49-F238E27FC236}">
                <a16:creationId xmlns:a16="http://schemas.microsoft.com/office/drawing/2014/main" id="{4D2D02C5-ECFF-4F25-A4E8-624057205422}"/>
              </a:ext>
            </a:extLst>
          </p:cNvPr>
          <p:cNvGrpSpPr/>
          <p:nvPr/>
        </p:nvGrpSpPr>
        <p:grpSpPr>
          <a:xfrm>
            <a:off x="5422206" y="1253331"/>
            <a:ext cx="3141162" cy="5101498"/>
            <a:chOff x="5593015" y="1460669"/>
            <a:chExt cx="3141162" cy="5101498"/>
          </a:xfrm>
        </p:grpSpPr>
        <p:sp>
          <p:nvSpPr>
            <p:cNvPr id="2" name="矩形 1"/>
            <p:cNvSpPr/>
            <p:nvPr/>
          </p:nvSpPr>
          <p:spPr>
            <a:xfrm>
              <a:off x="5593977" y="1784866"/>
              <a:ext cx="1721223" cy="2384612"/>
            </a:xfrm>
            <a:prstGeom prst="rect">
              <a:avLst/>
            </a:prstGeom>
            <a:solidFill>
              <a:srgbClr val="FD5D5D"/>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b="1" dirty="0">
                  <a:latin typeface="Consolas" panose="020B0609020204030204" pitchFamily="49" charset="0"/>
                  <a:ea typeface="黑体" panose="02010609060101010101" pitchFamily="49" charset="-122"/>
                  <a:cs typeface="Consolas" panose="020B0609020204030204" pitchFamily="49" charset="0"/>
                </a:rPr>
                <a:t>内核态</a:t>
              </a:r>
            </a:p>
          </p:txBody>
        </p:sp>
        <p:sp>
          <p:nvSpPr>
            <p:cNvPr id="5" name="矩形 4"/>
            <p:cNvSpPr/>
            <p:nvPr/>
          </p:nvSpPr>
          <p:spPr>
            <a:xfrm>
              <a:off x="5593977" y="4169478"/>
              <a:ext cx="1721222" cy="2384612"/>
            </a:xfrm>
            <a:prstGeom prst="rect">
              <a:avLst/>
            </a:prstGeom>
            <a:solidFill>
              <a:srgbClr val="00B0F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4000" b="1" dirty="0">
                  <a:latin typeface="Consolas" panose="020B0609020204030204" pitchFamily="49" charset="0"/>
                  <a:ea typeface="黑体" panose="02010609060101010101" pitchFamily="49" charset="-122"/>
                  <a:cs typeface="Consolas" panose="020B0609020204030204" pitchFamily="49" charset="0"/>
                </a:rPr>
                <a:t>用户态</a:t>
              </a:r>
            </a:p>
          </p:txBody>
        </p:sp>
        <p:sp>
          <p:nvSpPr>
            <p:cNvPr id="3" name="文本框 2"/>
            <p:cNvSpPr txBox="1"/>
            <p:nvPr/>
          </p:nvSpPr>
          <p:spPr>
            <a:xfrm>
              <a:off x="7315199" y="3822844"/>
              <a:ext cx="1418978" cy="338554"/>
            </a:xfrm>
            <a:prstGeom prst="rect">
              <a:avLst/>
            </a:prstGeom>
            <a:noFill/>
            <a:ln>
              <a:noFill/>
            </a:ln>
          </p:spPr>
          <p:style>
            <a:lnRef idx="2">
              <a:schemeClr val="dk1"/>
            </a:lnRef>
            <a:fillRef idx="1">
              <a:schemeClr val="lt1"/>
            </a:fillRef>
            <a:effectRef idx="0">
              <a:schemeClr val="dk1"/>
            </a:effectRef>
            <a:fontRef idx="minor">
              <a:schemeClr val="dk1"/>
            </a:fontRef>
          </p:style>
          <p:txBody>
            <a:bodyPr wrap="none" rtlCol="0">
              <a:spAutoFit/>
            </a:bodyPr>
            <a:lstStyle/>
            <a:p>
              <a:r>
                <a:rPr lang="en-US" altLang="zh-CN" sz="1600" b="1" dirty="0">
                  <a:latin typeface="Consolas" panose="020B0609020204030204" pitchFamily="49" charset="0"/>
                  <a:cs typeface="Consolas" panose="020B0609020204030204" pitchFamily="49" charset="0"/>
                </a:rPr>
                <a:t>0x7fff_ffff</a:t>
              </a:r>
              <a:endParaRPr lang="zh-CN" altLang="en-US" sz="1600" b="1" dirty="0">
                <a:latin typeface="Consolas" panose="020B0609020204030204" pitchFamily="49" charset="0"/>
                <a:cs typeface="Consolas" panose="020B0609020204030204" pitchFamily="49" charset="0"/>
              </a:endParaRPr>
            </a:p>
          </p:txBody>
        </p:sp>
        <p:sp>
          <p:nvSpPr>
            <p:cNvPr id="7" name="文本框 6"/>
            <p:cNvSpPr txBox="1"/>
            <p:nvPr/>
          </p:nvSpPr>
          <p:spPr>
            <a:xfrm>
              <a:off x="7315199" y="6223613"/>
              <a:ext cx="1418978" cy="338554"/>
            </a:xfrm>
            <a:prstGeom prst="rect">
              <a:avLst/>
            </a:prstGeom>
            <a:noFill/>
            <a:ln>
              <a:noFill/>
            </a:ln>
          </p:spPr>
          <p:style>
            <a:lnRef idx="2">
              <a:schemeClr val="dk1"/>
            </a:lnRef>
            <a:fillRef idx="1">
              <a:schemeClr val="lt1"/>
            </a:fillRef>
            <a:effectRef idx="0">
              <a:schemeClr val="dk1"/>
            </a:effectRef>
            <a:fontRef idx="minor">
              <a:schemeClr val="dk1"/>
            </a:fontRef>
          </p:style>
          <p:txBody>
            <a:bodyPr wrap="none" rtlCol="0">
              <a:spAutoFit/>
            </a:bodyPr>
            <a:lstStyle/>
            <a:p>
              <a:r>
                <a:rPr lang="en-US" altLang="zh-CN" sz="1600" b="1" dirty="0">
                  <a:latin typeface="Consolas" panose="020B0609020204030204" pitchFamily="49" charset="0"/>
                  <a:cs typeface="Consolas" panose="020B0609020204030204" pitchFamily="49" charset="0"/>
                </a:rPr>
                <a:t>0x0000_0000</a:t>
              </a:r>
              <a:endParaRPr lang="zh-CN" altLang="en-US" sz="1600" b="1" dirty="0">
                <a:latin typeface="Consolas" panose="020B0609020204030204" pitchFamily="49" charset="0"/>
                <a:cs typeface="Consolas" panose="020B0609020204030204" pitchFamily="49" charset="0"/>
              </a:endParaRPr>
            </a:p>
          </p:txBody>
        </p:sp>
        <p:sp>
          <p:nvSpPr>
            <p:cNvPr id="8" name="文本框 7"/>
            <p:cNvSpPr txBox="1"/>
            <p:nvPr/>
          </p:nvSpPr>
          <p:spPr>
            <a:xfrm>
              <a:off x="7315199" y="1460669"/>
              <a:ext cx="1418978" cy="338554"/>
            </a:xfrm>
            <a:prstGeom prst="rect">
              <a:avLst/>
            </a:prstGeom>
            <a:noFill/>
            <a:ln>
              <a:noFill/>
            </a:ln>
          </p:spPr>
          <p:style>
            <a:lnRef idx="2">
              <a:schemeClr val="dk1"/>
            </a:lnRef>
            <a:fillRef idx="1">
              <a:schemeClr val="lt1"/>
            </a:fillRef>
            <a:effectRef idx="0">
              <a:schemeClr val="dk1"/>
            </a:effectRef>
            <a:fontRef idx="minor">
              <a:schemeClr val="dk1"/>
            </a:fontRef>
          </p:style>
          <p:txBody>
            <a:bodyPr wrap="none" rtlCol="0">
              <a:spAutoFit/>
            </a:bodyPr>
            <a:lstStyle/>
            <a:p>
              <a:r>
                <a:rPr lang="en-US" altLang="zh-CN" sz="1600" b="1" dirty="0">
                  <a:latin typeface="Consolas" panose="020B0609020204030204" pitchFamily="49" charset="0"/>
                  <a:cs typeface="Consolas" panose="020B0609020204030204" pitchFamily="49" charset="0"/>
                </a:rPr>
                <a:t>0xffff_ffff</a:t>
              </a:r>
              <a:endParaRPr lang="zh-CN" altLang="en-US" sz="1600" b="1" dirty="0">
                <a:latin typeface="Consolas" panose="020B0609020204030204" pitchFamily="49" charset="0"/>
                <a:cs typeface="Consolas" panose="020B0609020204030204" pitchFamily="49" charset="0"/>
              </a:endParaRPr>
            </a:p>
          </p:txBody>
        </p:sp>
        <p:cxnSp>
          <p:nvCxnSpPr>
            <p:cNvPr id="6" name="直接连接符 5"/>
            <p:cNvCxnSpPr/>
            <p:nvPr/>
          </p:nvCxnSpPr>
          <p:spPr>
            <a:xfrm flipH="1">
              <a:off x="5593016" y="1784867"/>
              <a:ext cx="3093784" cy="0"/>
            </a:xfrm>
            <a:prstGeom prst="line">
              <a:avLst/>
            </a:prstGeom>
          </p:spPr>
          <p:style>
            <a:lnRef idx="1">
              <a:schemeClr val="dk1"/>
            </a:lnRef>
            <a:fillRef idx="0">
              <a:schemeClr val="dk1"/>
            </a:fillRef>
            <a:effectRef idx="0">
              <a:schemeClr val="dk1"/>
            </a:effectRef>
            <a:fontRef idx="minor">
              <a:schemeClr val="tx1"/>
            </a:fontRef>
          </p:style>
        </p:cxnSp>
        <p:cxnSp>
          <p:nvCxnSpPr>
            <p:cNvPr id="13" name="直接连接符 12"/>
            <p:cNvCxnSpPr/>
            <p:nvPr/>
          </p:nvCxnSpPr>
          <p:spPr>
            <a:xfrm flipH="1">
              <a:off x="5593015" y="4161401"/>
              <a:ext cx="3093785" cy="0"/>
            </a:xfrm>
            <a:prstGeom prst="line">
              <a:avLst/>
            </a:prstGeom>
          </p:spPr>
          <p:style>
            <a:lnRef idx="1">
              <a:schemeClr val="dk1"/>
            </a:lnRef>
            <a:fillRef idx="0">
              <a:schemeClr val="dk1"/>
            </a:fillRef>
            <a:effectRef idx="0">
              <a:schemeClr val="dk1"/>
            </a:effectRef>
            <a:fontRef idx="minor">
              <a:schemeClr val="tx1"/>
            </a:fontRef>
          </p:style>
        </p:cxnSp>
        <p:cxnSp>
          <p:nvCxnSpPr>
            <p:cNvPr id="14" name="直接连接符 13"/>
            <p:cNvCxnSpPr/>
            <p:nvPr/>
          </p:nvCxnSpPr>
          <p:spPr>
            <a:xfrm flipH="1">
              <a:off x="5593015" y="6546012"/>
              <a:ext cx="3093785" cy="0"/>
            </a:xfrm>
            <a:prstGeom prst="line">
              <a:avLst/>
            </a:prstGeom>
          </p:spPr>
          <p:style>
            <a:lnRef idx="1">
              <a:schemeClr val="dk1"/>
            </a:lnRef>
            <a:fillRef idx="0">
              <a:schemeClr val="dk1"/>
            </a:fillRef>
            <a:effectRef idx="0">
              <a:schemeClr val="dk1"/>
            </a:effectRef>
            <a:fontRef idx="minor">
              <a:schemeClr val="tx1"/>
            </a:fontRef>
          </p:style>
        </p:cxnSp>
        <p:cxnSp>
          <p:nvCxnSpPr>
            <p:cNvPr id="23" name="直接连接符 22"/>
            <p:cNvCxnSpPr/>
            <p:nvPr/>
          </p:nvCxnSpPr>
          <p:spPr>
            <a:xfrm flipV="1">
              <a:off x="5593015" y="1784868"/>
              <a:ext cx="1" cy="4761144"/>
            </a:xfrm>
            <a:prstGeom prst="line">
              <a:avLst/>
            </a:prstGeom>
          </p:spPr>
          <p:style>
            <a:lnRef idx="1">
              <a:schemeClr val="dk1"/>
            </a:lnRef>
            <a:fillRef idx="0">
              <a:schemeClr val="dk1"/>
            </a:fillRef>
            <a:effectRef idx="0">
              <a:schemeClr val="dk1"/>
            </a:effectRef>
            <a:fontRef idx="minor">
              <a:schemeClr val="tx1"/>
            </a:fontRef>
          </p:style>
        </p:cxnSp>
        <p:cxnSp>
          <p:nvCxnSpPr>
            <p:cNvPr id="26" name="直接连接符 25"/>
            <p:cNvCxnSpPr/>
            <p:nvPr/>
          </p:nvCxnSpPr>
          <p:spPr>
            <a:xfrm flipV="1">
              <a:off x="7314238" y="1799223"/>
              <a:ext cx="0" cy="4762943"/>
            </a:xfrm>
            <a:prstGeom prst="line">
              <a:avLst/>
            </a:prstGeom>
          </p:spPr>
          <p:style>
            <a:lnRef idx="1">
              <a:schemeClr val="dk1"/>
            </a:lnRef>
            <a:fillRef idx="0">
              <a:schemeClr val="dk1"/>
            </a:fillRef>
            <a:effectRef idx="0">
              <a:schemeClr val="dk1"/>
            </a:effectRef>
            <a:fontRef idx="minor">
              <a:schemeClr val="tx1"/>
            </a:fontRef>
          </p:style>
        </p:cxnSp>
        <p:cxnSp>
          <p:nvCxnSpPr>
            <p:cNvPr id="29" name="直接箭头连接符 28"/>
            <p:cNvCxnSpPr/>
            <p:nvPr/>
          </p:nvCxnSpPr>
          <p:spPr>
            <a:xfrm flipV="1">
              <a:off x="7691718" y="1799224"/>
              <a:ext cx="0" cy="2023620"/>
            </a:xfrm>
            <a:prstGeom prst="straightConnector1">
              <a:avLst/>
            </a:prstGeom>
            <a:ln w="31750">
              <a:headEnd type="triangle"/>
              <a:tailEnd type="triangle"/>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7763239" y="2618156"/>
              <a:ext cx="607859" cy="400110"/>
            </a:xfrm>
            <a:prstGeom prst="rect">
              <a:avLst/>
            </a:prstGeom>
            <a:noFill/>
            <a:ln>
              <a:noFill/>
            </a:ln>
          </p:spPr>
          <p:style>
            <a:lnRef idx="2">
              <a:schemeClr val="dk1"/>
            </a:lnRef>
            <a:fillRef idx="1">
              <a:schemeClr val="lt1"/>
            </a:fillRef>
            <a:effectRef idx="0">
              <a:schemeClr val="dk1"/>
            </a:effectRef>
            <a:fontRef idx="minor">
              <a:schemeClr val="dk1"/>
            </a:fontRef>
          </p:style>
          <p:txBody>
            <a:bodyPr wrap="none" rtlCol="0">
              <a:spAutoFit/>
            </a:bodyPr>
            <a:lstStyle/>
            <a:p>
              <a:r>
                <a:rPr lang="en-US" altLang="zh-CN" sz="2000" b="1" dirty="0">
                  <a:latin typeface="Consolas" panose="020B0609020204030204" pitchFamily="49" charset="0"/>
                  <a:cs typeface="Consolas" panose="020B0609020204030204" pitchFamily="49" charset="0"/>
                </a:rPr>
                <a:t>2GB</a:t>
              </a:r>
            </a:p>
          </p:txBody>
        </p:sp>
        <p:cxnSp>
          <p:nvCxnSpPr>
            <p:cNvPr id="36" name="直接箭头连接符 35"/>
            <p:cNvCxnSpPr/>
            <p:nvPr/>
          </p:nvCxnSpPr>
          <p:spPr>
            <a:xfrm flipV="1">
              <a:off x="7691718" y="4183833"/>
              <a:ext cx="0" cy="2023620"/>
            </a:xfrm>
            <a:prstGeom prst="straightConnector1">
              <a:avLst/>
            </a:prstGeom>
            <a:ln w="3175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7" name="文本框 36"/>
            <p:cNvSpPr txBox="1"/>
            <p:nvPr/>
          </p:nvSpPr>
          <p:spPr>
            <a:xfrm>
              <a:off x="7763239" y="5002765"/>
              <a:ext cx="607859" cy="400110"/>
            </a:xfrm>
            <a:prstGeom prst="rect">
              <a:avLst/>
            </a:prstGeom>
            <a:noFill/>
            <a:ln>
              <a:noFill/>
            </a:ln>
          </p:spPr>
          <p:style>
            <a:lnRef idx="2">
              <a:schemeClr val="dk1"/>
            </a:lnRef>
            <a:fillRef idx="1">
              <a:schemeClr val="lt1"/>
            </a:fillRef>
            <a:effectRef idx="0">
              <a:schemeClr val="dk1"/>
            </a:effectRef>
            <a:fontRef idx="minor">
              <a:schemeClr val="dk1"/>
            </a:fontRef>
          </p:style>
          <p:txBody>
            <a:bodyPr wrap="none" rtlCol="0">
              <a:spAutoFit/>
            </a:bodyPr>
            <a:lstStyle/>
            <a:p>
              <a:r>
                <a:rPr lang="en-US" altLang="zh-CN" sz="2000" b="1" dirty="0">
                  <a:latin typeface="Consolas" panose="020B0609020204030204" pitchFamily="49" charset="0"/>
                  <a:cs typeface="Consolas" panose="020B0609020204030204" pitchFamily="49" charset="0"/>
                </a:rPr>
                <a:t>2GB</a:t>
              </a:r>
            </a:p>
          </p:txBody>
        </p:sp>
      </p:grpSp>
      <p:sp>
        <p:nvSpPr>
          <p:cNvPr id="9" name="Title 4">
            <a:extLst>
              <a:ext uri="{FF2B5EF4-FFF2-40B4-BE49-F238E27FC236}">
                <a16:creationId xmlns:a16="http://schemas.microsoft.com/office/drawing/2014/main" id="{3A15979E-89A9-AC6E-2726-ABDE217F03F5}"/>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en-US" altLang="zh-CN" sz="4000" b="1" kern="1200" dirty="0">
                <a:solidFill>
                  <a:schemeClr val="tx1"/>
                </a:solidFill>
                <a:latin typeface="Arial" panose="020B0604020202020204" pitchFamily="34" charset="0"/>
                <a:ea typeface="STHeiti" panose="02010600040101010101" pitchFamily="2" charset="-122"/>
                <a:cs typeface="Arial" panose="020B0604020202020204" pitchFamily="34" charset="0"/>
              </a:rPr>
              <a:t>32</a:t>
            </a:r>
            <a:r>
              <a:rPr lang="zh-CN" altLang="en-US" sz="4000" b="1" kern="1200" dirty="0">
                <a:solidFill>
                  <a:schemeClr val="tx1"/>
                </a:solidFill>
                <a:latin typeface="Arial" panose="020B0604020202020204" pitchFamily="34" charset="0"/>
                <a:ea typeface="STHeiti" panose="02010600040101010101" pitchFamily="2" charset="-122"/>
                <a:cs typeface="Arial" panose="020B0604020202020204" pitchFamily="34" charset="0"/>
              </a:rPr>
              <a:t>位</a:t>
            </a:r>
            <a:r>
              <a:rPr lang="en-US" altLang="zh-CN" sz="4000" b="1" kern="1200" dirty="0">
                <a:solidFill>
                  <a:schemeClr val="tx1"/>
                </a:solidFill>
                <a:latin typeface="Arial" panose="020B0604020202020204" pitchFamily="34" charset="0"/>
                <a:ea typeface="STHeiti" panose="02010600040101010101" pitchFamily="2" charset="-122"/>
                <a:cs typeface="Arial" panose="020B0604020202020204" pitchFamily="34" charset="0"/>
              </a:rPr>
              <a:t>MIPS</a:t>
            </a:r>
            <a:r>
              <a:rPr lang="zh-CN" altLang="en-US" sz="4000" b="1" kern="1200" dirty="0">
                <a:solidFill>
                  <a:schemeClr val="tx1"/>
                </a:solidFill>
                <a:latin typeface="Arial" panose="020B0604020202020204" pitchFamily="34" charset="0"/>
                <a:ea typeface="STHeiti" panose="02010600040101010101" pitchFamily="2" charset="-122"/>
                <a:cs typeface="Arial" panose="020B0604020202020204" pitchFamily="34" charset="0"/>
              </a:rPr>
              <a:t>的内存分配</a:t>
            </a:r>
            <a:endParaRPr lang="en-CN" kern="0" dirty="0"/>
          </a:p>
        </p:txBody>
      </p:sp>
    </p:spTree>
    <p:extLst>
      <p:ext uri="{BB962C8B-B14F-4D97-AF65-F5344CB8AC3E}">
        <p14:creationId xmlns:p14="http://schemas.microsoft.com/office/powerpoint/2010/main" val="160215017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a:extLst>
              <a:ext uri="{FF2B5EF4-FFF2-40B4-BE49-F238E27FC236}">
                <a16:creationId xmlns:a16="http://schemas.microsoft.com/office/drawing/2014/main" id="{0F3F05A0-8AF3-4312-A1D3-73CD65FB9DC9}"/>
              </a:ext>
            </a:extLst>
          </p:cNvPr>
          <p:cNvSpPr>
            <a:spLocks noGrp="1"/>
          </p:cNvSpPr>
          <p:nvPr>
            <p:ph type="sldNum" sz="quarter" idx="12"/>
          </p:nvPr>
        </p:nvSpPr>
        <p:spPr/>
        <p:txBody>
          <a:bodyPr/>
          <a:lstStyle/>
          <a:p>
            <a:fld id="{14659731-6BD7-46E7-8D3C-2F3AC07E20B1}" type="slidenum">
              <a:rPr lang="en-US" altLang="zh-CN" smtClean="0"/>
              <a:pPr/>
              <a:t>110</a:t>
            </a:fld>
            <a:endParaRPr lang="en-US" altLang="zh-CN" dirty="0"/>
          </a:p>
        </p:txBody>
      </p:sp>
      <p:sp>
        <p:nvSpPr>
          <p:cNvPr id="10243" name="Rectangle 3"/>
          <p:cNvSpPr>
            <a:spLocks noGrp="1" noChangeArrowheads="1"/>
          </p:cNvSpPr>
          <p:nvPr>
            <p:ph idx="4294967295"/>
          </p:nvPr>
        </p:nvSpPr>
        <p:spPr>
          <a:xfrm>
            <a:off x="356839" y="1340720"/>
            <a:ext cx="7886700" cy="4351338"/>
          </a:xfrm>
        </p:spPr>
        <p:txBody>
          <a:bodyPr/>
          <a:lstStyle/>
          <a:p>
            <a:pPr hangingPunct="1"/>
            <a:r>
              <a:rPr lang="zh-CN" altLang="en-US" dirty="0"/>
              <a:t>应用程序中常见的数据</a:t>
            </a:r>
            <a:endParaRPr lang="en-US" altLang="zh-CN" dirty="0"/>
          </a:p>
          <a:p>
            <a:pPr marL="0" indent="0" hangingPunct="1">
              <a:buNone/>
            </a:pPr>
            <a:endParaRPr lang="en-US" altLang="zh-CN" dirty="0"/>
          </a:p>
          <a:p>
            <a:pPr hangingPunct="1"/>
            <a:endParaRPr lang="en-US" altLang="zh-CN" dirty="0"/>
          </a:p>
        </p:txBody>
      </p:sp>
      <p:sp>
        <p:nvSpPr>
          <p:cNvPr id="2" name="文本框 1"/>
          <p:cNvSpPr txBox="1"/>
          <p:nvPr/>
        </p:nvSpPr>
        <p:spPr>
          <a:xfrm>
            <a:off x="784651" y="2255012"/>
            <a:ext cx="6250429" cy="3170099"/>
          </a:xfrm>
          <a:prstGeom prst="rect">
            <a:avLst/>
          </a:prstGeom>
          <a:noFill/>
        </p:spPr>
        <p:txBody>
          <a:bodyPr wrap="none" rtlCol="0">
            <a:spAutoFit/>
          </a:bodyPr>
          <a:lstStyle/>
          <a:p>
            <a:pPr algn="l"/>
            <a:r>
              <a:rPr lang="en-US" altLang="zh-CN" sz="2000" b="1" i="1" dirty="0" err="1">
                <a:solidFill>
                  <a:schemeClr val="tx1"/>
                </a:solidFill>
                <a:latin typeface="Consolas" panose="020B0609020204030204" pitchFamily="49" charset="0"/>
              </a:rPr>
              <a:t>int</a:t>
            </a:r>
            <a:r>
              <a:rPr lang="en-US" altLang="zh-CN" sz="2000" b="1" i="1" dirty="0">
                <a:solidFill>
                  <a:schemeClr val="tx1"/>
                </a:solidFill>
                <a:latin typeface="Consolas" panose="020B0609020204030204" pitchFamily="49" charset="0"/>
              </a:rPr>
              <a:t> global;</a:t>
            </a:r>
          </a:p>
          <a:p>
            <a:pPr algn="l"/>
            <a:endParaRPr lang="en-US" altLang="zh-CN" sz="2000" b="1" i="1" dirty="0">
              <a:solidFill>
                <a:schemeClr val="tx1"/>
              </a:solidFill>
              <a:latin typeface="Consolas" panose="020B0609020204030204" pitchFamily="49" charset="0"/>
            </a:endParaRPr>
          </a:p>
          <a:p>
            <a:pPr algn="l"/>
            <a:r>
              <a:rPr lang="en-US" altLang="zh-CN" sz="2000" b="1" i="1" dirty="0" err="1">
                <a:solidFill>
                  <a:schemeClr val="tx1"/>
                </a:solidFill>
                <a:latin typeface="Consolas" panose="020B0609020204030204" pitchFamily="49" charset="0"/>
              </a:rPr>
              <a:t>int</a:t>
            </a:r>
            <a:r>
              <a:rPr lang="en-US" altLang="zh-CN" sz="2000" b="1" i="1" dirty="0">
                <a:solidFill>
                  <a:schemeClr val="tx1"/>
                </a:solidFill>
                <a:latin typeface="Consolas" panose="020B0609020204030204" pitchFamily="49" charset="0"/>
              </a:rPr>
              <a:t> main()</a:t>
            </a:r>
          </a:p>
          <a:p>
            <a:pPr algn="l"/>
            <a:r>
              <a:rPr lang="en-US" altLang="zh-CN" sz="2000" b="1" i="1" dirty="0">
                <a:solidFill>
                  <a:schemeClr val="tx1"/>
                </a:solidFill>
                <a:latin typeface="Consolas" panose="020B0609020204030204" pitchFamily="49" charset="0"/>
              </a:rPr>
              <a:t>{</a:t>
            </a:r>
          </a:p>
          <a:p>
            <a:pPr algn="l"/>
            <a:r>
              <a:rPr lang="en-US" altLang="zh-CN" sz="2000" b="1" i="1" dirty="0">
                <a:solidFill>
                  <a:schemeClr val="tx1"/>
                </a:solidFill>
                <a:latin typeface="Consolas" panose="020B0609020204030204" pitchFamily="49" charset="0"/>
              </a:rPr>
              <a:t>    </a:t>
            </a:r>
            <a:r>
              <a:rPr lang="en-US" altLang="zh-CN" sz="2000" b="1" i="1" dirty="0" err="1">
                <a:solidFill>
                  <a:schemeClr val="tx1"/>
                </a:solidFill>
                <a:latin typeface="Consolas" panose="020B0609020204030204" pitchFamily="49" charset="0"/>
              </a:rPr>
              <a:t>int</a:t>
            </a:r>
            <a:r>
              <a:rPr lang="en-US" altLang="zh-CN" sz="2000" b="1" i="1" dirty="0">
                <a:solidFill>
                  <a:schemeClr val="tx1"/>
                </a:solidFill>
                <a:latin typeface="Consolas" panose="020B0609020204030204" pitchFamily="49" charset="0"/>
              </a:rPr>
              <a:t> local;</a:t>
            </a:r>
          </a:p>
          <a:p>
            <a:pPr algn="l"/>
            <a:r>
              <a:rPr lang="en-US" altLang="zh-CN" sz="2000" b="1" i="1" dirty="0">
                <a:solidFill>
                  <a:schemeClr val="tx1"/>
                </a:solidFill>
                <a:latin typeface="Consolas" panose="020B0609020204030204" pitchFamily="49" charset="0"/>
              </a:rPr>
              <a:t>    char array0[10];</a:t>
            </a:r>
          </a:p>
          <a:p>
            <a:pPr algn="l"/>
            <a:r>
              <a:rPr lang="en-US" altLang="zh-CN" sz="2000" b="1" i="1" dirty="0">
                <a:solidFill>
                  <a:schemeClr val="tx1"/>
                </a:solidFill>
                <a:latin typeface="Consolas" panose="020B0609020204030204" pitchFamily="49" charset="0"/>
              </a:rPr>
              <a:t>    </a:t>
            </a:r>
            <a:r>
              <a:rPr lang="en-US" altLang="zh-CN" sz="2000" b="1" i="1" dirty="0" err="1">
                <a:solidFill>
                  <a:schemeClr val="tx1"/>
                </a:solidFill>
                <a:latin typeface="Consolas" panose="020B0609020204030204" pitchFamily="49" charset="0"/>
              </a:rPr>
              <a:t>int</a:t>
            </a:r>
            <a:r>
              <a:rPr lang="en-US" altLang="zh-CN" sz="2000" b="1" i="1" dirty="0">
                <a:solidFill>
                  <a:schemeClr val="tx1"/>
                </a:solidFill>
                <a:latin typeface="Consolas" panose="020B0609020204030204" pitchFamily="49" charset="0"/>
              </a:rPr>
              <a:t> * array1;</a:t>
            </a:r>
          </a:p>
          <a:p>
            <a:pPr algn="l"/>
            <a:r>
              <a:rPr lang="en-US" altLang="zh-CN" sz="2000" b="1" i="1" dirty="0">
                <a:solidFill>
                  <a:schemeClr val="tx1"/>
                </a:solidFill>
                <a:latin typeface="Consolas" panose="020B0609020204030204" pitchFamily="49" charset="0"/>
              </a:rPr>
              <a:t>    array1=(int *)malloc(10 * </a:t>
            </a:r>
            <a:r>
              <a:rPr lang="en-US" altLang="zh-CN" sz="2000" b="1" i="1" dirty="0" err="1">
                <a:solidFill>
                  <a:schemeClr val="tx1"/>
                </a:solidFill>
                <a:latin typeface="Consolas" panose="020B0609020204030204" pitchFamily="49" charset="0"/>
              </a:rPr>
              <a:t>sizeof</a:t>
            </a:r>
            <a:r>
              <a:rPr lang="en-US" altLang="zh-CN" sz="2000" b="1" i="1" dirty="0">
                <a:solidFill>
                  <a:schemeClr val="tx1"/>
                </a:solidFill>
                <a:latin typeface="Consolas" panose="020B0609020204030204" pitchFamily="49" charset="0"/>
              </a:rPr>
              <a:t>(int));</a:t>
            </a:r>
          </a:p>
          <a:p>
            <a:pPr algn="l"/>
            <a:r>
              <a:rPr lang="en-US" altLang="zh-CN" sz="2000" b="1" i="1" dirty="0">
                <a:solidFill>
                  <a:schemeClr val="tx1"/>
                </a:solidFill>
                <a:latin typeface="Consolas" panose="020B0609020204030204" pitchFamily="49" charset="0"/>
              </a:rPr>
              <a:t>    free(array1);</a:t>
            </a:r>
          </a:p>
          <a:p>
            <a:pPr algn="l"/>
            <a:r>
              <a:rPr lang="en-US" altLang="zh-CN" sz="2000" b="1" i="1" dirty="0">
                <a:solidFill>
                  <a:schemeClr val="tx1"/>
                </a:solidFill>
                <a:latin typeface="Consolas" panose="020B0609020204030204" pitchFamily="49" charset="0"/>
              </a:rPr>
              <a:t>}</a:t>
            </a:r>
            <a:endParaRPr lang="zh-CN" altLang="en-US" sz="2000" b="1" i="1" dirty="0">
              <a:solidFill>
                <a:schemeClr val="tx1"/>
              </a:solidFill>
              <a:latin typeface="Consolas" panose="020B0609020204030204" pitchFamily="49" charset="0"/>
            </a:endParaRPr>
          </a:p>
        </p:txBody>
      </p:sp>
      <p:sp>
        <p:nvSpPr>
          <p:cNvPr id="5" name="文本框 4"/>
          <p:cNvSpPr txBox="1"/>
          <p:nvPr/>
        </p:nvSpPr>
        <p:spPr>
          <a:xfrm>
            <a:off x="5004221" y="2093319"/>
            <a:ext cx="3682579" cy="1569660"/>
          </a:xfrm>
          <a:prstGeom prst="rect">
            <a:avLst/>
          </a:prstGeom>
          <a:noFill/>
        </p:spPr>
        <p:txBody>
          <a:bodyPr wrap="square" rtlCol="0">
            <a:spAutoFit/>
          </a:bodyPr>
          <a:lstStyle/>
          <a:p>
            <a:r>
              <a:rPr lang="zh-CN" altLang="en-US" sz="3200" b="1" dirty="0">
                <a:solidFill>
                  <a:srgbClr val="0432FF"/>
                </a:solidFill>
                <a:latin typeface="+mj-ea"/>
                <a:ea typeface="+mj-ea"/>
              </a:rPr>
              <a:t>程序运行时这些数据都被放在内存空间的什么地方呢？</a:t>
            </a:r>
          </a:p>
        </p:txBody>
      </p:sp>
      <p:sp>
        <p:nvSpPr>
          <p:cNvPr id="3" name="Title 4">
            <a:extLst>
              <a:ext uri="{FF2B5EF4-FFF2-40B4-BE49-F238E27FC236}">
                <a16:creationId xmlns:a16="http://schemas.microsoft.com/office/drawing/2014/main" id="{71E4AAA3-6931-20A8-3A87-04758B6EC3B5}"/>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en-US" altLang="zh-CN" sz="4000" b="1" kern="1200" dirty="0">
                <a:solidFill>
                  <a:schemeClr val="tx1"/>
                </a:solidFill>
                <a:latin typeface="Arial" panose="020B0604020202020204" pitchFamily="34" charset="0"/>
                <a:ea typeface="STHeiti" panose="02010600040101010101" pitchFamily="2" charset="-122"/>
                <a:cs typeface="Arial" panose="020B0604020202020204" pitchFamily="34" charset="0"/>
              </a:rPr>
              <a:t>32</a:t>
            </a:r>
            <a:r>
              <a:rPr lang="zh-CN" altLang="en-US" sz="4000" b="1" kern="1200" dirty="0">
                <a:solidFill>
                  <a:schemeClr val="tx1"/>
                </a:solidFill>
                <a:latin typeface="Arial" panose="020B0604020202020204" pitchFamily="34" charset="0"/>
                <a:ea typeface="STHeiti" panose="02010600040101010101" pitchFamily="2" charset="-122"/>
                <a:cs typeface="Arial" panose="020B0604020202020204" pitchFamily="34" charset="0"/>
              </a:rPr>
              <a:t>位</a:t>
            </a:r>
            <a:r>
              <a:rPr lang="en-US" altLang="zh-CN" sz="4000" b="1" kern="1200" dirty="0">
                <a:solidFill>
                  <a:schemeClr val="tx1"/>
                </a:solidFill>
                <a:latin typeface="Arial" panose="020B0604020202020204" pitchFamily="34" charset="0"/>
                <a:ea typeface="STHeiti" panose="02010600040101010101" pitchFamily="2" charset="-122"/>
                <a:cs typeface="Arial" panose="020B0604020202020204" pitchFamily="34" charset="0"/>
              </a:rPr>
              <a:t>MIPS</a:t>
            </a:r>
            <a:r>
              <a:rPr lang="zh-CN" altLang="en-US" sz="4000" b="1" kern="1200" dirty="0">
                <a:solidFill>
                  <a:schemeClr val="tx1"/>
                </a:solidFill>
                <a:latin typeface="Arial" panose="020B0604020202020204" pitchFamily="34" charset="0"/>
                <a:ea typeface="STHeiti" panose="02010600040101010101" pitchFamily="2" charset="-122"/>
                <a:cs typeface="Arial" panose="020B0604020202020204" pitchFamily="34" charset="0"/>
              </a:rPr>
              <a:t>的内存分配</a:t>
            </a:r>
            <a:endParaRPr lang="en-CN" kern="0" dirty="0"/>
          </a:p>
        </p:txBody>
      </p:sp>
    </p:spTree>
    <p:extLst>
      <p:ext uri="{BB962C8B-B14F-4D97-AF65-F5344CB8AC3E}">
        <p14:creationId xmlns:p14="http://schemas.microsoft.com/office/powerpoint/2010/main" val="210549787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pPr>
              <a:defRPr/>
            </a:pPr>
            <a:fld id="{ECD5A6D5-D27A-4A28-A3F6-493C4D03C27D}" type="slidenum">
              <a:rPr lang="zh-CN" altLang="en-US"/>
              <a:pPr>
                <a:defRPr/>
              </a:pPr>
              <a:t>111</a:t>
            </a:fld>
            <a:endParaRPr lang="en-US" altLang="zh-CN"/>
          </a:p>
        </p:txBody>
      </p:sp>
      <p:sp>
        <p:nvSpPr>
          <p:cNvPr id="92163" name="Rectangle 3"/>
          <p:cNvSpPr>
            <a:spLocks noGrp="1" noChangeArrowheads="1"/>
          </p:cNvSpPr>
          <p:nvPr>
            <p:ph idx="4294967295"/>
          </p:nvPr>
        </p:nvSpPr>
        <p:spPr>
          <a:xfrm>
            <a:off x="197077" y="1378279"/>
            <a:ext cx="4960103" cy="2989263"/>
          </a:xfrm>
          <a:ln w="28575">
            <a:noFill/>
            <a:miter lim="800000"/>
            <a:headEnd/>
            <a:tailEnd/>
          </a:ln>
        </p:spPr>
        <p:txBody>
          <a:bodyPr>
            <a:normAutofit lnSpcReduction="10000"/>
          </a:bodyPr>
          <a:lstStyle/>
          <a:p>
            <a:pPr eaLnBrk="1" hangingPunct="1"/>
            <a:r>
              <a:rPr lang="zh-CN" altLang="en-US" sz="2400" dirty="0">
                <a:ea typeface="+mj-ea"/>
              </a:rPr>
              <a:t>从顶端开始，对栈指针初始化为</a:t>
            </a:r>
            <a:r>
              <a:rPr lang="en-US" altLang="zh-CN" sz="2400" dirty="0">
                <a:ea typeface="+mj-ea"/>
              </a:rPr>
              <a:t>7fffeffc</a:t>
            </a:r>
            <a:r>
              <a:rPr lang="zh-CN" altLang="en-US" sz="2400" dirty="0">
                <a:ea typeface="+mj-ea"/>
              </a:rPr>
              <a:t>，并向下向数据段增长；</a:t>
            </a:r>
          </a:p>
          <a:p>
            <a:pPr eaLnBrk="1" hangingPunct="1"/>
            <a:r>
              <a:rPr lang="zh-CN" altLang="en-US" sz="2400" dirty="0">
                <a:ea typeface="+mj-ea"/>
              </a:rPr>
              <a:t>在底端，程序代码（文本）开始于</a:t>
            </a:r>
            <a:r>
              <a:rPr lang="en-US" altLang="zh-CN" sz="2400" dirty="0">
                <a:ea typeface="+mj-ea"/>
              </a:rPr>
              <a:t>00400000</a:t>
            </a:r>
            <a:r>
              <a:rPr lang="zh-CN" altLang="en-US" sz="2400" dirty="0">
                <a:ea typeface="+mj-ea"/>
              </a:rPr>
              <a:t>；</a:t>
            </a:r>
          </a:p>
          <a:p>
            <a:pPr eaLnBrk="1" hangingPunct="1"/>
            <a:r>
              <a:rPr lang="zh-CN" altLang="en-US" sz="2400" dirty="0">
                <a:ea typeface="+mj-ea"/>
              </a:rPr>
              <a:t>静态数据开始于</a:t>
            </a:r>
            <a:r>
              <a:rPr lang="en-US" altLang="zh-CN" sz="2400" dirty="0">
                <a:ea typeface="+mj-ea"/>
              </a:rPr>
              <a:t>10000000</a:t>
            </a:r>
            <a:r>
              <a:rPr lang="zh-CN" altLang="en-US" sz="2400" dirty="0">
                <a:ea typeface="+mj-ea"/>
              </a:rPr>
              <a:t>；</a:t>
            </a:r>
          </a:p>
          <a:p>
            <a:pPr eaLnBrk="1" hangingPunct="1"/>
            <a:r>
              <a:rPr lang="zh-CN" altLang="en-US" sz="2400" dirty="0">
                <a:ea typeface="+mj-ea"/>
              </a:rPr>
              <a:t>紧接着是由</a:t>
            </a:r>
            <a:r>
              <a:rPr lang="en-US" altLang="zh-CN" sz="2400" dirty="0">
                <a:ea typeface="+mj-ea"/>
              </a:rPr>
              <a:t>C</a:t>
            </a:r>
            <a:r>
              <a:rPr lang="zh-CN" altLang="en-US" sz="2400" dirty="0">
                <a:ea typeface="+mj-ea"/>
              </a:rPr>
              <a:t>中</a:t>
            </a:r>
            <a:r>
              <a:rPr lang="en-US" altLang="zh-CN" sz="2400" dirty="0" err="1">
                <a:ea typeface="+mj-ea"/>
              </a:rPr>
              <a:t>malloc</a:t>
            </a:r>
            <a:r>
              <a:rPr lang="zh-CN" altLang="en-US" sz="2400" dirty="0">
                <a:ea typeface="+mj-ea"/>
              </a:rPr>
              <a:t>进行存储器分配的动态数据，朝堆栈段向上增长</a:t>
            </a:r>
          </a:p>
        </p:txBody>
      </p:sp>
      <p:grpSp>
        <p:nvGrpSpPr>
          <p:cNvPr id="92167" name="Group 7"/>
          <p:cNvGrpSpPr>
            <a:grpSpLocks/>
          </p:cNvGrpSpPr>
          <p:nvPr/>
        </p:nvGrpSpPr>
        <p:grpSpPr bwMode="auto">
          <a:xfrm>
            <a:off x="546493" y="4367542"/>
            <a:ext cx="3404483" cy="1976437"/>
            <a:chOff x="144" y="2979"/>
            <a:chExt cx="1833" cy="1245"/>
          </a:xfrm>
        </p:grpSpPr>
        <p:sp>
          <p:nvSpPr>
            <p:cNvPr id="119815" name="Rectangle 5"/>
            <p:cNvSpPr>
              <a:spLocks noChangeArrowheads="1"/>
            </p:cNvSpPr>
            <p:nvPr/>
          </p:nvSpPr>
          <p:spPr bwMode="auto">
            <a:xfrm>
              <a:off x="144" y="2979"/>
              <a:ext cx="1776" cy="1245"/>
            </a:xfrm>
            <a:prstGeom prst="rect">
              <a:avLst/>
            </a:prstGeom>
            <a:noFill/>
            <a:ln w="2857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tx2"/>
                </a:buClr>
                <a:buSzPct val="70000"/>
                <a:buFont typeface="Wingdings" pitchFamily="2" charset="2"/>
                <a:buNone/>
              </a:pPr>
              <a:r>
                <a:rPr lang="zh-CN" altLang="en-US" sz="2400" b="0" dirty="0">
                  <a:solidFill>
                    <a:srgbClr val="0432FF"/>
                  </a:solidFill>
                  <a:latin typeface="+mn-lt"/>
                  <a:ea typeface="+mj-ea"/>
                </a:rPr>
                <a:t>全局指针被设定为易于访问数据的地址，以便使用相对于</a:t>
              </a:r>
              <a:r>
                <a:rPr lang="en-US" altLang="zh-CN" sz="2400" b="0" dirty="0">
                  <a:solidFill>
                    <a:srgbClr val="0432FF"/>
                  </a:solidFill>
                  <a:latin typeface="+mn-lt"/>
                  <a:ea typeface="+mj-ea"/>
                </a:rPr>
                <a:t>$</a:t>
              </a:r>
              <a:r>
                <a:rPr lang="en-US" altLang="zh-CN" sz="2400" b="0" dirty="0" err="1">
                  <a:solidFill>
                    <a:srgbClr val="0432FF"/>
                  </a:solidFill>
                  <a:latin typeface="+mn-lt"/>
                  <a:ea typeface="+mj-ea"/>
                </a:rPr>
                <a:t>gp</a:t>
              </a:r>
              <a:r>
                <a:rPr lang="zh-CN" altLang="en-US" sz="2400" b="0" dirty="0">
                  <a:solidFill>
                    <a:srgbClr val="0432FF"/>
                  </a:solidFill>
                  <a:latin typeface="+mn-lt"/>
                  <a:ea typeface="+mj-ea"/>
                </a:rPr>
                <a:t>的</a:t>
              </a:r>
              <a:r>
                <a:rPr lang="en-US" altLang="zh-CN" sz="2400" b="0" dirty="0">
                  <a:solidFill>
                    <a:srgbClr val="0432FF"/>
                  </a:solidFill>
                  <a:latin typeface="+mn-lt"/>
                  <a:ea typeface="+mj-ea"/>
                  <a:cs typeface="Times New Roman" pitchFamily="18" charset="0"/>
                </a:rPr>
                <a:t>±16</a:t>
              </a:r>
              <a:r>
                <a:rPr lang="zh-CN" altLang="en-US" sz="2400" b="0" dirty="0">
                  <a:solidFill>
                    <a:srgbClr val="0432FF"/>
                  </a:solidFill>
                  <a:latin typeface="+mn-lt"/>
                  <a:ea typeface="+mj-ea"/>
                  <a:cs typeface="Times New Roman" pitchFamily="18" charset="0"/>
                </a:rPr>
                <a:t>位偏移量</a:t>
              </a:r>
            </a:p>
          </p:txBody>
        </p:sp>
        <p:sp>
          <p:nvSpPr>
            <p:cNvPr id="119816" name="Rectangle 6"/>
            <p:cNvSpPr>
              <a:spLocks noChangeArrowheads="1"/>
            </p:cNvSpPr>
            <p:nvPr/>
          </p:nvSpPr>
          <p:spPr bwMode="auto">
            <a:xfrm>
              <a:off x="144" y="3907"/>
              <a:ext cx="183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20000"/>
                </a:spcBef>
                <a:buClr>
                  <a:schemeClr val="tx2"/>
                </a:buClr>
                <a:buSzPct val="70000"/>
                <a:buFont typeface="Wingdings" pitchFamily="2" charset="2"/>
                <a:buNone/>
              </a:pPr>
              <a:r>
                <a:rPr lang="en-US" altLang="zh-CN" sz="2400" b="0" dirty="0">
                  <a:solidFill>
                    <a:srgbClr val="0432FF"/>
                  </a:solidFill>
                  <a:latin typeface="+mn-lt"/>
                  <a:ea typeface="+mj-ea"/>
                </a:rPr>
                <a:t>10000000</a:t>
              </a:r>
              <a:r>
                <a:rPr lang="en-US" altLang="zh-CN" sz="2400" b="0" baseline="-25000" dirty="0">
                  <a:solidFill>
                    <a:srgbClr val="0432FF"/>
                  </a:solidFill>
                  <a:latin typeface="+mn-lt"/>
                  <a:ea typeface="+mj-ea"/>
                </a:rPr>
                <a:t>hex</a:t>
              </a:r>
              <a:r>
                <a:rPr lang="en-US" altLang="zh-CN" sz="2400" b="0" dirty="0">
                  <a:solidFill>
                    <a:srgbClr val="0432FF"/>
                  </a:solidFill>
                  <a:latin typeface="+mn-lt"/>
                  <a:ea typeface="+mj-ea"/>
                </a:rPr>
                <a:t>-1000ffff</a:t>
              </a:r>
              <a:r>
                <a:rPr lang="en-US" altLang="zh-CN" sz="2400" b="0" baseline="-25000" dirty="0">
                  <a:solidFill>
                    <a:srgbClr val="0432FF"/>
                  </a:solidFill>
                  <a:latin typeface="+mn-lt"/>
                  <a:ea typeface="+mj-ea"/>
                </a:rPr>
                <a:t>hex</a:t>
              </a:r>
            </a:p>
          </p:txBody>
        </p:sp>
      </p:grpSp>
      <p:pic>
        <p:nvPicPr>
          <p:cNvPr id="7" name="图片 6">
            <a:extLst>
              <a:ext uri="{FF2B5EF4-FFF2-40B4-BE49-F238E27FC236}">
                <a16:creationId xmlns:a16="http://schemas.microsoft.com/office/drawing/2014/main" id="{4EAD96B2-29CE-2EAA-914C-1F1B5BABF761}"/>
              </a:ext>
            </a:extLst>
          </p:cNvPr>
          <p:cNvPicPr>
            <a:picLocks noChangeAspect="1"/>
          </p:cNvPicPr>
          <p:nvPr/>
        </p:nvPicPr>
        <p:blipFill>
          <a:blip r:embed="rId3"/>
          <a:stretch>
            <a:fillRect/>
          </a:stretch>
        </p:blipFill>
        <p:spPr>
          <a:xfrm>
            <a:off x="4608576" y="1279529"/>
            <a:ext cx="4374923" cy="5247901"/>
          </a:xfrm>
          <a:prstGeom prst="rect">
            <a:avLst/>
          </a:prstGeom>
        </p:spPr>
      </p:pic>
      <p:sp>
        <p:nvSpPr>
          <p:cNvPr id="9" name="Title 4">
            <a:extLst>
              <a:ext uri="{FF2B5EF4-FFF2-40B4-BE49-F238E27FC236}">
                <a16:creationId xmlns:a16="http://schemas.microsoft.com/office/drawing/2014/main" id="{9759E6D6-0854-7329-C713-3B82B16A0387}"/>
              </a:ext>
            </a:extLst>
          </p:cNvPr>
          <p:cNvSpPr txBox="1">
            <a:spLocks/>
          </p:cNvSpPr>
          <p:nvPr/>
        </p:nvSpPr>
        <p:spPr bwMode="auto">
          <a:xfrm>
            <a:off x="329184" y="108531"/>
            <a:ext cx="8485632"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en-US" altLang="zh-CN" sz="3600" b="1" kern="1200" dirty="0">
                <a:solidFill>
                  <a:schemeClr val="tx1"/>
                </a:solidFill>
                <a:latin typeface="Arial" panose="020B0604020202020204" pitchFamily="34" charset="0"/>
                <a:ea typeface="STHeiti" panose="02010600040101010101" pitchFamily="2" charset="-122"/>
                <a:cs typeface="Arial" panose="020B0604020202020204" pitchFamily="34" charset="0"/>
              </a:rPr>
              <a:t>MIPS</a:t>
            </a:r>
            <a:r>
              <a:rPr lang="zh-CN" altLang="en-US" sz="3600" b="1" kern="1200" dirty="0">
                <a:solidFill>
                  <a:schemeClr val="tx1"/>
                </a:solidFill>
                <a:latin typeface="Arial" panose="020B0604020202020204" pitchFamily="34" charset="0"/>
                <a:ea typeface="STHeiti" panose="02010600040101010101" pitchFamily="2" charset="-122"/>
                <a:cs typeface="Arial" panose="020B0604020202020204" pitchFamily="34" charset="0"/>
              </a:rPr>
              <a:t>程序和数据的存储器空间使用约定</a:t>
            </a:r>
          </a:p>
        </p:txBody>
      </p:sp>
    </p:spTree>
    <p:extLst>
      <p:ext uri="{BB962C8B-B14F-4D97-AF65-F5344CB8AC3E}">
        <p14:creationId xmlns:p14="http://schemas.microsoft.com/office/powerpoint/2010/main" val="49032632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a:extLst>
              <a:ext uri="{FF2B5EF4-FFF2-40B4-BE49-F238E27FC236}">
                <a16:creationId xmlns:a16="http://schemas.microsoft.com/office/drawing/2014/main" id="{B0121754-C498-4C41-BB1E-A39ECE6888CC}"/>
              </a:ext>
            </a:extLst>
          </p:cNvPr>
          <p:cNvSpPr>
            <a:spLocks noGrp="1"/>
          </p:cNvSpPr>
          <p:nvPr>
            <p:ph type="sldNum" sz="quarter" idx="12"/>
          </p:nvPr>
        </p:nvSpPr>
        <p:spPr/>
        <p:txBody>
          <a:bodyPr/>
          <a:lstStyle/>
          <a:p>
            <a:pPr>
              <a:defRPr/>
            </a:pPr>
            <a:fld id="{ECD5A6D5-D27A-4A28-A3F6-493C4D03C27D}" type="slidenum">
              <a:rPr lang="zh-CN" altLang="en-US"/>
              <a:pPr>
                <a:defRPr/>
              </a:pPr>
              <a:t>112</a:t>
            </a:fld>
            <a:endParaRPr lang="en-US" altLang="zh-CN"/>
          </a:p>
        </p:txBody>
      </p:sp>
      <p:sp>
        <p:nvSpPr>
          <p:cNvPr id="12291" name="Rectangle 3"/>
          <p:cNvSpPr>
            <a:spLocks noGrp="1" noChangeArrowheads="1"/>
          </p:cNvSpPr>
          <p:nvPr>
            <p:ph idx="4294967295"/>
          </p:nvPr>
        </p:nvSpPr>
        <p:spPr>
          <a:xfrm>
            <a:off x="457200" y="1350867"/>
            <a:ext cx="8491728" cy="4351338"/>
          </a:xfrm>
        </p:spPr>
        <p:txBody>
          <a:bodyPr/>
          <a:lstStyle/>
          <a:p>
            <a:r>
              <a:rPr lang="en-US" altLang="zh-CN" dirty="0"/>
              <a:t>MARS</a:t>
            </a:r>
          </a:p>
          <a:p>
            <a:pPr lvl="1"/>
            <a:r>
              <a:rPr lang="en-US" altLang="zh-CN" dirty="0"/>
              <a:t>MARS </a:t>
            </a:r>
            <a:r>
              <a:rPr lang="zh-CN" altLang="en-US" dirty="0"/>
              <a:t>是</a:t>
            </a:r>
            <a:r>
              <a:rPr lang="en-US" altLang="zh-CN" dirty="0"/>
              <a:t>MIPS Assembler and Runtime Simulator (MIPS</a:t>
            </a:r>
            <a:r>
              <a:rPr lang="zh-CN" altLang="en-US" dirty="0"/>
              <a:t>汇编器和运行时模拟器</a:t>
            </a:r>
            <a:r>
              <a:rPr lang="en-US" altLang="zh-CN" dirty="0"/>
              <a:t>)</a:t>
            </a:r>
            <a:r>
              <a:rPr lang="zh-CN" altLang="en-US" dirty="0"/>
              <a:t>的缩写</a:t>
            </a:r>
          </a:p>
          <a:p>
            <a:pPr lvl="1"/>
            <a:r>
              <a:rPr lang="zh-CN" altLang="en-US" dirty="0"/>
              <a:t>能够运行和调试</a:t>
            </a:r>
            <a:r>
              <a:rPr lang="en-US" altLang="zh-CN" dirty="0"/>
              <a:t>MIPS</a:t>
            </a:r>
            <a:r>
              <a:rPr lang="zh-CN" altLang="en-US" dirty="0"/>
              <a:t>汇编语言程序</a:t>
            </a:r>
          </a:p>
          <a:p>
            <a:pPr lvl="1"/>
            <a:r>
              <a:rPr lang="en-US" altLang="zh-CN" dirty="0"/>
              <a:t>MARS</a:t>
            </a:r>
            <a:r>
              <a:rPr lang="zh-CN" altLang="en-US" dirty="0"/>
              <a:t>采用</a:t>
            </a:r>
            <a:r>
              <a:rPr lang="en-US" altLang="zh-CN" dirty="0"/>
              <a:t>Java</a:t>
            </a:r>
            <a:r>
              <a:rPr lang="zh-CN" altLang="en-US" dirty="0"/>
              <a:t>开发，跨平台</a:t>
            </a:r>
            <a:endParaRPr lang="en-US" altLang="zh-CN" dirty="0"/>
          </a:p>
          <a:p>
            <a:pPr lvl="1"/>
            <a:r>
              <a:rPr lang="en-US" altLang="zh-CN" dirty="0"/>
              <a:t>http://courses.missouristate.edu/KenVollmar/MARS/</a:t>
            </a:r>
          </a:p>
          <a:p>
            <a:pPr hangingPunct="1"/>
            <a:endParaRPr lang="en-US" altLang="zh-CN" dirty="0"/>
          </a:p>
          <a:p>
            <a:pPr hangingPunct="1"/>
            <a:endParaRPr lang="en-US" altLang="zh-CN" dirty="0"/>
          </a:p>
          <a:p>
            <a:pPr hangingPunct="1"/>
            <a:endParaRPr lang="en-US" altLang="zh-CN" dirty="0"/>
          </a:p>
        </p:txBody>
      </p:sp>
      <p:sp>
        <p:nvSpPr>
          <p:cNvPr id="2" name="Title 4">
            <a:extLst>
              <a:ext uri="{FF2B5EF4-FFF2-40B4-BE49-F238E27FC236}">
                <a16:creationId xmlns:a16="http://schemas.microsoft.com/office/drawing/2014/main" id="{0B71E640-AA70-B910-72C0-EFF49859F0AF}"/>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en-US" altLang="zh-CN" dirty="0"/>
              <a:t>MIPS</a:t>
            </a:r>
            <a:r>
              <a:rPr lang="zh-CN" altLang="en-US" dirty="0"/>
              <a:t>模拟器</a:t>
            </a:r>
            <a:endParaRPr lang="en-CN" kern="0" dirty="0"/>
          </a:p>
        </p:txBody>
      </p:sp>
    </p:spTree>
    <p:extLst>
      <p:ext uri="{BB962C8B-B14F-4D97-AF65-F5344CB8AC3E}">
        <p14:creationId xmlns:p14="http://schemas.microsoft.com/office/powerpoint/2010/main" val="62849103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0E2FD27A-158F-4C9F-9D9C-A6EF63EF6F74}"/>
              </a:ext>
            </a:extLst>
          </p:cNvPr>
          <p:cNvSpPr>
            <a:spLocks noGrp="1"/>
          </p:cNvSpPr>
          <p:nvPr>
            <p:ph type="sldNum" sz="quarter" idx="12"/>
          </p:nvPr>
        </p:nvSpPr>
        <p:spPr/>
        <p:txBody>
          <a:bodyPr/>
          <a:lstStyle/>
          <a:p>
            <a:pPr>
              <a:defRPr/>
            </a:pPr>
            <a:fld id="{ECD5A6D5-D27A-4A28-A3F6-493C4D03C27D}" type="slidenum">
              <a:rPr lang="zh-CN" altLang="en-US"/>
              <a:pPr>
                <a:defRPr/>
              </a:pPr>
              <a:t>113</a:t>
            </a:fld>
            <a:endParaRPr lang="en-US" altLang="zh-CN"/>
          </a:p>
        </p:txBody>
      </p:sp>
      <p:pic>
        <p:nvPicPr>
          <p:cNvPr id="1331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2572" y="1490663"/>
            <a:ext cx="6940550" cy="4754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type="none" w="sm" len="sm"/>
                <a:tailEnd type="none" w="sm" len="sm"/>
              </a14:hiddenLine>
            </a:ext>
            <a:ext uri="{AF507438-7753-43E0-B8FC-AC1667EBCBE1}">
              <a14:hiddenEffects xmlns:a14="http://schemas.microsoft.com/office/drawing/2010/main">
                <a:effectLst>
                  <a:outerShdw dist="71842" dir="2700000" algn="ctr" rotWithShape="0">
                    <a:schemeClr val="bg2"/>
                  </a:outerShdw>
                </a:effectLst>
              </a14:hiddenEffects>
            </a:ext>
          </a:extLst>
        </p:spPr>
      </p:pic>
      <p:sp>
        <p:nvSpPr>
          <p:cNvPr id="2" name="Title 4">
            <a:extLst>
              <a:ext uri="{FF2B5EF4-FFF2-40B4-BE49-F238E27FC236}">
                <a16:creationId xmlns:a16="http://schemas.microsoft.com/office/drawing/2014/main" id="{09BCAF1A-A497-CF7C-67A0-46E2848E9FD3}"/>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en-US" altLang="zh-CN" dirty="0"/>
              <a:t>MIPS</a:t>
            </a:r>
            <a:r>
              <a:rPr lang="zh-CN" altLang="en-US" dirty="0"/>
              <a:t>模拟器</a:t>
            </a:r>
            <a:endParaRPr lang="en-CN" kern="0" dirty="0"/>
          </a:p>
        </p:txBody>
      </p:sp>
    </p:spTree>
    <p:extLst>
      <p:ext uri="{BB962C8B-B14F-4D97-AF65-F5344CB8AC3E}">
        <p14:creationId xmlns:p14="http://schemas.microsoft.com/office/powerpoint/2010/main" val="195246215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a:extLst>
              <a:ext uri="{FF2B5EF4-FFF2-40B4-BE49-F238E27FC236}">
                <a16:creationId xmlns:a16="http://schemas.microsoft.com/office/drawing/2014/main" id="{5EE957F4-E175-44C2-A080-86E72BFE549F}"/>
              </a:ext>
            </a:extLst>
          </p:cNvPr>
          <p:cNvSpPr>
            <a:spLocks noGrp="1"/>
          </p:cNvSpPr>
          <p:nvPr>
            <p:ph type="sldNum" sz="quarter" idx="12"/>
          </p:nvPr>
        </p:nvSpPr>
        <p:spPr/>
        <p:txBody>
          <a:bodyPr/>
          <a:lstStyle/>
          <a:p>
            <a:pPr>
              <a:defRPr/>
            </a:pPr>
            <a:fld id="{ECD5A6D5-D27A-4A28-A3F6-493C4D03C27D}" type="slidenum">
              <a:rPr lang="zh-CN" altLang="en-US"/>
              <a:pPr>
                <a:defRPr/>
              </a:pPr>
              <a:t>114</a:t>
            </a:fld>
            <a:endParaRPr lang="en-US" altLang="zh-CN"/>
          </a:p>
        </p:txBody>
      </p:sp>
      <p:sp>
        <p:nvSpPr>
          <p:cNvPr id="9218" name="Rectangle 3"/>
          <p:cNvSpPr>
            <a:spLocks noGrp="1" noChangeArrowheads="1"/>
          </p:cNvSpPr>
          <p:nvPr>
            <p:ph idx="4294967295"/>
          </p:nvPr>
        </p:nvSpPr>
        <p:spPr>
          <a:xfrm>
            <a:off x="457200" y="1253331"/>
            <a:ext cx="7886700" cy="4351338"/>
          </a:xfrm>
        </p:spPr>
        <p:txBody>
          <a:bodyPr>
            <a:normAutofit lnSpcReduction="10000"/>
          </a:bodyPr>
          <a:lstStyle/>
          <a:p>
            <a:pPr>
              <a:lnSpc>
                <a:spcPct val="150000"/>
              </a:lnSpc>
            </a:pPr>
            <a:r>
              <a:rPr lang="zh-CN" altLang="en-US" dirty="0"/>
              <a:t>汇编程序设计基础</a:t>
            </a:r>
            <a:endParaRPr lang="en-US" altLang="zh-CN" dirty="0"/>
          </a:p>
          <a:p>
            <a:pPr lvl="1">
              <a:lnSpc>
                <a:spcPct val="150000"/>
              </a:lnSpc>
            </a:pPr>
            <a:r>
              <a:rPr lang="zh-CN" altLang="en-US" dirty="0"/>
              <a:t>语法</a:t>
            </a:r>
            <a:endParaRPr lang="en-US" altLang="zh-CN" dirty="0"/>
          </a:p>
          <a:p>
            <a:pPr lvl="1">
              <a:lnSpc>
                <a:spcPct val="150000"/>
              </a:lnSpc>
            </a:pPr>
            <a:r>
              <a:rPr lang="zh-CN" altLang="en-US" dirty="0"/>
              <a:t>变量</a:t>
            </a:r>
            <a:endParaRPr lang="en-US" altLang="zh-CN" dirty="0"/>
          </a:p>
          <a:p>
            <a:pPr lvl="1">
              <a:lnSpc>
                <a:spcPct val="150000"/>
              </a:lnSpc>
            </a:pPr>
            <a:r>
              <a:rPr lang="zh-CN" altLang="en-US" dirty="0"/>
              <a:t>分支</a:t>
            </a:r>
            <a:endParaRPr lang="en-US" altLang="zh-CN" dirty="0"/>
          </a:p>
          <a:p>
            <a:pPr lvl="1">
              <a:lnSpc>
                <a:spcPct val="150000"/>
              </a:lnSpc>
            </a:pPr>
            <a:r>
              <a:rPr lang="zh-CN" altLang="en-US" dirty="0"/>
              <a:t>数组</a:t>
            </a:r>
            <a:endParaRPr lang="en-US" altLang="zh-CN" dirty="0"/>
          </a:p>
          <a:p>
            <a:pPr lvl="1">
              <a:lnSpc>
                <a:spcPct val="150000"/>
              </a:lnSpc>
            </a:pPr>
            <a:r>
              <a:rPr lang="zh-CN" altLang="en-US" dirty="0"/>
              <a:t>过程调用</a:t>
            </a:r>
            <a:endParaRPr lang="en-US" altLang="zh-CN" dirty="0"/>
          </a:p>
        </p:txBody>
      </p:sp>
      <p:sp>
        <p:nvSpPr>
          <p:cNvPr id="2" name="Title 4">
            <a:extLst>
              <a:ext uri="{FF2B5EF4-FFF2-40B4-BE49-F238E27FC236}">
                <a16:creationId xmlns:a16="http://schemas.microsoft.com/office/drawing/2014/main" id="{85A99378-D593-B85E-C4D6-8FD149A29AF0}"/>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sz="4000" dirty="0"/>
              <a:t>汇编程序基础</a:t>
            </a:r>
            <a:endParaRPr lang="en-CN" kern="0" dirty="0"/>
          </a:p>
        </p:txBody>
      </p:sp>
    </p:spTree>
    <p:extLst>
      <p:ext uri="{BB962C8B-B14F-4D97-AF65-F5344CB8AC3E}">
        <p14:creationId xmlns:p14="http://schemas.microsoft.com/office/powerpoint/2010/main" val="388774395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DE74BBB0-3E7A-4BCC-8D56-4682F26DDD15}"/>
              </a:ext>
            </a:extLst>
          </p:cNvPr>
          <p:cNvSpPr>
            <a:spLocks noGrp="1"/>
          </p:cNvSpPr>
          <p:nvPr>
            <p:ph type="sldNum" sz="quarter" idx="12"/>
          </p:nvPr>
        </p:nvSpPr>
        <p:spPr/>
        <p:txBody>
          <a:bodyPr/>
          <a:lstStyle/>
          <a:p>
            <a:pPr>
              <a:defRPr/>
            </a:pPr>
            <a:fld id="{ECD5A6D5-D27A-4A28-A3F6-493C4D03C27D}" type="slidenum">
              <a:rPr lang="zh-CN" altLang="en-US"/>
              <a:pPr>
                <a:defRPr/>
              </a:pPr>
              <a:t>115</a:t>
            </a:fld>
            <a:endParaRPr lang="en-US" altLang="zh-CN"/>
          </a:p>
        </p:txBody>
      </p:sp>
      <p:sp>
        <p:nvSpPr>
          <p:cNvPr id="12293" name="Rectangle 3"/>
          <p:cNvSpPr>
            <a:spLocks noGrp="1" noChangeArrowheads="1"/>
          </p:cNvSpPr>
          <p:nvPr>
            <p:ph idx="4294967295"/>
          </p:nvPr>
        </p:nvSpPr>
        <p:spPr>
          <a:xfrm>
            <a:off x="468312" y="1390727"/>
            <a:ext cx="7886700" cy="4351338"/>
          </a:xfrm>
        </p:spPr>
        <p:txBody>
          <a:bodyPr>
            <a:normAutofit/>
          </a:bodyPr>
          <a:lstStyle/>
          <a:p>
            <a:pPr eaLnBrk="1" hangingPunct="1"/>
            <a:r>
              <a:rPr lang="zh-CN" altLang="en-US" sz="2800" dirty="0"/>
              <a:t>注释行以</a:t>
            </a:r>
            <a:r>
              <a:rPr lang="zh-CN" altLang="en-US" sz="2800" dirty="0">
                <a:latin typeface="Arial" charset="0"/>
              </a:rPr>
              <a:t>“</a:t>
            </a:r>
            <a:r>
              <a:rPr lang="en-US" altLang="zh-CN" sz="2800" dirty="0"/>
              <a:t>#</a:t>
            </a:r>
            <a:r>
              <a:rPr lang="en-US" altLang="zh-CN" sz="2800" dirty="0">
                <a:latin typeface="Arial" charset="0"/>
              </a:rPr>
              <a:t>”</a:t>
            </a:r>
            <a:r>
              <a:rPr lang="zh-CN" altLang="en-US" sz="2800" dirty="0"/>
              <a:t>开始</a:t>
            </a:r>
          </a:p>
          <a:p>
            <a:pPr eaLnBrk="1" hangingPunct="1"/>
            <a:r>
              <a:rPr lang="zh-CN" altLang="en-US" sz="2800" dirty="0">
                <a:solidFill>
                  <a:srgbClr val="0432FF"/>
                </a:solidFill>
              </a:rPr>
              <a:t>标识符</a:t>
            </a:r>
            <a:r>
              <a:rPr lang="zh-CN" altLang="en-US" sz="2800" dirty="0"/>
              <a:t>由字母、下划线（</a:t>
            </a:r>
            <a:r>
              <a:rPr lang="en-US" altLang="zh-CN" sz="2800" dirty="0"/>
              <a:t>_</a:t>
            </a:r>
            <a:r>
              <a:rPr lang="zh-CN" altLang="en-US" sz="2800" dirty="0"/>
              <a:t>）、点（</a:t>
            </a:r>
            <a:r>
              <a:rPr lang="en-US" altLang="zh-CN" sz="2800" dirty="0"/>
              <a:t>.</a:t>
            </a:r>
            <a:r>
              <a:rPr lang="zh-CN" altLang="en-US" sz="2800" dirty="0"/>
              <a:t>）构成，但不能以数字开头，指令操作码是一些保留字，不能用作标识符</a:t>
            </a:r>
          </a:p>
          <a:p>
            <a:pPr eaLnBrk="1" hangingPunct="1"/>
            <a:r>
              <a:rPr lang="zh-CN" altLang="en-US" sz="2800" dirty="0"/>
              <a:t>标号放在行首，后跟冒号（</a:t>
            </a:r>
            <a:r>
              <a:rPr lang="en-US" altLang="zh-CN" sz="2800" dirty="0"/>
              <a:t>:</a:t>
            </a:r>
            <a:r>
              <a:rPr lang="zh-CN" altLang="en-US" sz="2800" dirty="0"/>
              <a:t>），例如</a:t>
            </a:r>
          </a:p>
          <a:p>
            <a:pPr eaLnBrk="1" hangingPunct="1">
              <a:buFont typeface="Wingdings" pitchFamily="2" charset="2"/>
              <a:buNone/>
            </a:pPr>
            <a:r>
              <a:rPr lang="zh-CN" altLang="en-US" sz="2800" dirty="0"/>
              <a:t>          </a:t>
            </a:r>
            <a:endParaRPr lang="en-US" altLang="zh-CN" sz="2800" dirty="0"/>
          </a:p>
        </p:txBody>
      </p:sp>
      <p:sp>
        <p:nvSpPr>
          <p:cNvPr id="12294" name="Rectangle 4"/>
          <p:cNvSpPr>
            <a:spLocks noChangeArrowheads="1"/>
          </p:cNvSpPr>
          <p:nvPr/>
        </p:nvSpPr>
        <p:spPr bwMode="auto">
          <a:xfrm>
            <a:off x="971550" y="4087346"/>
            <a:ext cx="7704138" cy="2001190"/>
          </a:xfrm>
          <a:prstGeom prst="rect">
            <a:avLst/>
          </a:prstGeom>
          <a:noFill/>
          <a:ln w="28575">
            <a:solidFill>
              <a:srgbClr val="0000CC"/>
            </a:solidFill>
            <a:miter lim="800000"/>
            <a:headEnd/>
            <a:tailEnd/>
          </a:ln>
          <a:extLst>
            <a:ext uri="{909E8E84-426E-40DD-AFC4-6F175D3DCCD1}">
              <a14:hiddenFill xmlns:a14="http://schemas.microsoft.com/office/drawing/2010/main">
                <a:solidFill>
                  <a:srgbClr val="FFFFFF"/>
                </a:solidFill>
              </a14:hiddenFill>
            </a:ext>
          </a:extLst>
        </p:spPr>
        <p:txBody>
          <a:bodyPr lIns="92075" tIns="46038" rIns="92075" bIns="46038">
            <a:spAutoFit/>
          </a:bodyPr>
          <a:lstStyle/>
          <a:p>
            <a:pPr algn="l">
              <a:spcBef>
                <a:spcPct val="30000"/>
              </a:spcBef>
            </a:pPr>
            <a:r>
              <a:rPr lang="en-US" altLang="zh-CN" sz="2000" i="1" dirty="0">
                <a:solidFill>
                  <a:schemeClr val="tx1"/>
                </a:solidFill>
                <a:latin typeface="Consolas" panose="020B0609020204030204" pitchFamily="49" charset="0"/>
                <a:ea typeface="+mj-ea"/>
              </a:rPr>
              <a:t>      .data        </a:t>
            </a:r>
            <a:r>
              <a:rPr lang="en-US" altLang="zh-CN" sz="2000" dirty="0">
                <a:solidFill>
                  <a:schemeClr val="tx1"/>
                </a:solidFill>
                <a:latin typeface="+mj-ea"/>
                <a:ea typeface="+mj-ea"/>
              </a:rPr>
              <a:t>#</a:t>
            </a:r>
            <a:r>
              <a:rPr lang="zh-CN" altLang="en-US" sz="2000" dirty="0">
                <a:solidFill>
                  <a:schemeClr val="tx1"/>
                </a:solidFill>
                <a:latin typeface="+mj-ea"/>
                <a:ea typeface="+mj-ea"/>
              </a:rPr>
              <a:t> 将子数据项，存放到数据段中</a:t>
            </a:r>
          </a:p>
          <a:p>
            <a:pPr algn="l">
              <a:spcBef>
                <a:spcPct val="30000"/>
              </a:spcBef>
            </a:pPr>
            <a:r>
              <a:rPr lang="en-US" altLang="zh-CN" sz="2000" i="1" dirty="0">
                <a:solidFill>
                  <a:schemeClr val="tx1"/>
                </a:solidFill>
                <a:latin typeface="Consolas" panose="020B0609020204030204" pitchFamily="49" charset="0"/>
                <a:ea typeface="+mj-ea"/>
              </a:rPr>
              <a:t>Item: .word 1,2    </a:t>
            </a:r>
            <a:r>
              <a:rPr lang="en-US" altLang="zh-CN" sz="2000" dirty="0">
                <a:solidFill>
                  <a:schemeClr val="tx1"/>
                </a:solidFill>
                <a:latin typeface="+mj-ea"/>
                <a:ea typeface="+mj-ea"/>
              </a:rPr>
              <a:t>#</a:t>
            </a:r>
            <a:r>
              <a:rPr lang="zh-CN" altLang="en-US" sz="2000" dirty="0">
                <a:solidFill>
                  <a:schemeClr val="tx1"/>
                </a:solidFill>
                <a:latin typeface="+mj-ea"/>
                <a:ea typeface="+mj-ea"/>
              </a:rPr>
              <a:t> 将</a:t>
            </a:r>
            <a:r>
              <a:rPr lang="en-US" altLang="zh-CN" sz="2000" dirty="0">
                <a:solidFill>
                  <a:schemeClr val="tx1"/>
                </a:solidFill>
                <a:latin typeface="+mj-ea"/>
                <a:ea typeface="+mj-ea"/>
              </a:rPr>
              <a:t>2</a:t>
            </a:r>
            <a:r>
              <a:rPr lang="zh-CN" altLang="en-US" sz="2000" dirty="0">
                <a:solidFill>
                  <a:schemeClr val="tx1"/>
                </a:solidFill>
                <a:latin typeface="+mj-ea"/>
                <a:ea typeface="+mj-ea"/>
              </a:rPr>
              <a:t>个</a:t>
            </a:r>
            <a:r>
              <a:rPr lang="en-US" altLang="zh-CN" sz="2000" dirty="0">
                <a:solidFill>
                  <a:schemeClr val="tx1"/>
                </a:solidFill>
                <a:latin typeface="+mj-ea"/>
                <a:ea typeface="+mj-ea"/>
              </a:rPr>
              <a:t>32</a:t>
            </a:r>
            <a:r>
              <a:rPr lang="zh-CN" altLang="en-US" sz="2000" dirty="0">
                <a:solidFill>
                  <a:schemeClr val="tx1"/>
                </a:solidFill>
                <a:latin typeface="+mj-ea"/>
                <a:ea typeface="+mj-ea"/>
              </a:rPr>
              <a:t>位数值送入地址连续的内存字中</a:t>
            </a:r>
            <a:endParaRPr lang="en-US" altLang="zh-CN" sz="2000" dirty="0">
              <a:solidFill>
                <a:schemeClr val="tx1"/>
              </a:solidFill>
              <a:latin typeface="+mj-ea"/>
              <a:ea typeface="+mj-ea"/>
            </a:endParaRPr>
          </a:p>
          <a:p>
            <a:pPr algn="l">
              <a:spcBef>
                <a:spcPct val="30000"/>
              </a:spcBef>
            </a:pPr>
            <a:r>
              <a:rPr lang="en-US" altLang="zh-CN" sz="2000" dirty="0">
                <a:solidFill>
                  <a:schemeClr val="tx1"/>
                </a:solidFill>
                <a:latin typeface="+mj-ea"/>
                <a:ea typeface="+mj-ea"/>
              </a:rPr>
              <a:t>         </a:t>
            </a:r>
            <a:r>
              <a:rPr lang="en-US" altLang="zh-CN" sz="2000" dirty="0">
                <a:solidFill>
                  <a:schemeClr val="tx1"/>
                </a:solidFill>
                <a:latin typeface="Consolas" panose="020B0609020204030204" pitchFamily="49" charset="0"/>
                <a:ea typeface="+mj-ea"/>
              </a:rPr>
              <a:t> </a:t>
            </a:r>
            <a:r>
              <a:rPr lang="en-US" altLang="zh-CN" sz="2000" i="1" dirty="0">
                <a:solidFill>
                  <a:schemeClr val="tx1"/>
                </a:solidFill>
                <a:latin typeface="Consolas" panose="020B0609020204030204" pitchFamily="49" charset="0"/>
                <a:ea typeface="+mj-ea"/>
              </a:rPr>
              <a:t>.text        </a:t>
            </a:r>
            <a:r>
              <a:rPr lang="en-US" altLang="zh-CN" sz="2000" dirty="0">
                <a:solidFill>
                  <a:schemeClr val="tx1"/>
                </a:solidFill>
                <a:latin typeface="+mj-ea"/>
                <a:ea typeface="+mj-ea"/>
              </a:rPr>
              <a:t>#</a:t>
            </a:r>
            <a:r>
              <a:rPr lang="zh-CN" altLang="en-US" sz="2000" dirty="0">
                <a:solidFill>
                  <a:schemeClr val="tx1"/>
                </a:solidFill>
                <a:latin typeface="+mj-ea"/>
                <a:ea typeface="+mj-ea"/>
              </a:rPr>
              <a:t> 将子串，即指令或字送入用户文件段</a:t>
            </a:r>
          </a:p>
          <a:p>
            <a:pPr algn="l">
              <a:spcBef>
                <a:spcPct val="30000"/>
              </a:spcBef>
            </a:pPr>
            <a:r>
              <a:rPr lang="en-US" altLang="zh-CN" sz="2000" dirty="0">
                <a:solidFill>
                  <a:schemeClr val="tx1"/>
                </a:solidFill>
                <a:latin typeface="Consolas" panose="020B0609020204030204" pitchFamily="49" charset="0"/>
                <a:ea typeface="+mj-ea"/>
              </a:rPr>
              <a:t>      </a:t>
            </a:r>
            <a:r>
              <a:rPr lang="en-US" altLang="zh-CN" sz="2000" i="1" dirty="0">
                <a:solidFill>
                  <a:schemeClr val="tx1"/>
                </a:solidFill>
                <a:latin typeface="Consolas" panose="020B0609020204030204" pitchFamily="49" charset="0"/>
                <a:ea typeface="+mj-ea"/>
              </a:rPr>
              <a:t>.global main </a:t>
            </a:r>
            <a:r>
              <a:rPr lang="en-US" altLang="zh-CN" sz="2000" dirty="0">
                <a:solidFill>
                  <a:schemeClr val="tx1"/>
                </a:solidFill>
                <a:latin typeface="+mj-ea"/>
                <a:ea typeface="+mj-ea"/>
              </a:rPr>
              <a:t>#</a:t>
            </a:r>
            <a:r>
              <a:rPr lang="zh-CN" altLang="en-US" sz="2000" dirty="0">
                <a:solidFill>
                  <a:schemeClr val="tx1"/>
                </a:solidFill>
                <a:latin typeface="+mj-ea"/>
                <a:ea typeface="+mj-ea"/>
              </a:rPr>
              <a:t> 必须为全局变量</a:t>
            </a:r>
          </a:p>
          <a:p>
            <a:pPr algn="l">
              <a:spcBef>
                <a:spcPct val="30000"/>
              </a:spcBef>
            </a:pPr>
            <a:r>
              <a:rPr lang="en-US" altLang="zh-CN" sz="2000" i="1" dirty="0">
                <a:solidFill>
                  <a:schemeClr val="tx1"/>
                </a:solidFill>
                <a:latin typeface="Consolas" panose="020B0609020204030204" pitchFamily="49" charset="0"/>
                <a:ea typeface="+mj-ea"/>
              </a:rPr>
              <a:t>Main:  </a:t>
            </a:r>
            <a:r>
              <a:rPr lang="en-US" altLang="zh-CN" sz="2000" i="1" dirty="0" err="1">
                <a:solidFill>
                  <a:schemeClr val="tx1"/>
                </a:solidFill>
                <a:latin typeface="Consolas" panose="020B0609020204030204" pitchFamily="49" charset="0"/>
                <a:ea typeface="+mj-ea"/>
              </a:rPr>
              <a:t>lw</a:t>
            </a:r>
            <a:r>
              <a:rPr lang="en-US" altLang="zh-CN" sz="2000" i="1" dirty="0">
                <a:solidFill>
                  <a:schemeClr val="tx1"/>
                </a:solidFill>
                <a:latin typeface="Consolas" panose="020B0609020204030204" pitchFamily="49" charset="0"/>
                <a:ea typeface="+mj-ea"/>
              </a:rPr>
              <a:t> $t0, item</a:t>
            </a:r>
          </a:p>
        </p:txBody>
      </p:sp>
      <p:sp>
        <p:nvSpPr>
          <p:cNvPr id="2" name="Title 4">
            <a:extLst>
              <a:ext uri="{FF2B5EF4-FFF2-40B4-BE49-F238E27FC236}">
                <a16:creationId xmlns:a16="http://schemas.microsoft.com/office/drawing/2014/main" id="{7ED65521-E081-28D8-66C5-4EB92FA7102D}"/>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dirty="0"/>
              <a:t>编程指南：语法</a:t>
            </a:r>
            <a:endParaRPr lang="en-CN" kern="0" dirty="0"/>
          </a:p>
        </p:txBody>
      </p:sp>
    </p:spTree>
    <p:extLst>
      <p:ext uri="{BB962C8B-B14F-4D97-AF65-F5344CB8AC3E}">
        <p14:creationId xmlns:p14="http://schemas.microsoft.com/office/powerpoint/2010/main" val="14223833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3C55D51C-ABC4-42A6-9481-6B615B2BAACB}"/>
              </a:ext>
            </a:extLst>
          </p:cNvPr>
          <p:cNvSpPr>
            <a:spLocks noGrp="1"/>
          </p:cNvSpPr>
          <p:nvPr>
            <p:ph type="sldNum" sz="quarter" idx="12"/>
          </p:nvPr>
        </p:nvSpPr>
        <p:spPr/>
        <p:txBody>
          <a:bodyPr/>
          <a:lstStyle/>
          <a:p>
            <a:pPr>
              <a:defRPr/>
            </a:pPr>
            <a:fld id="{ECD5A6D5-D27A-4A28-A3F6-493C4D03C27D}" type="slidenum">
              <a:rPr lang="zh-CN" altLang="en-US"/>
              <a:pPr>
                <a:defRPr/>
              </a:pPr>
              <a:t>116</a:t>
            </a:fld>
            <a:endParaRPr lang="en-US" altLang="zh-CN"/>
          </a:p>
        </p:txBody>
      </p:sp>
      <p:sp>
        <p:nvSpPr>
          <p:cNvPr id="15363" name="Rectangle 3"/>
          <p:cNvSpPr>
            <a:spLocks noGrp="1" noChangeArrowheads="1"/>
          </p:cNvSpPr>
          <p:nvPr>
            <p:ph idx="4294967295"/>
          </p:nvPr>
        </p:nvSpPr>
        <p:spPr>
          <a:xfrm>
            <a:off x="457200" y="1401878"/>
            <a:ext cx="7886700" cy="4351338"/>
          </a:xfrm>
        </p:spPr>
        <p:txBody>
          <a:bodyPr/>
          <a:lstStyle/>
          <a:p>
            <a:r>
              <a:rPr lang="zh-CN" altLang="en-US" dirty="0"/>
              <a:t>指令与伪指令语句</a:t>
            </a:r>
          </a:p>
          <a:p>
            <a:pPr lvl="1">
              <a:lnSpc>
                <a:spcPct val="145000"/>
              </a:lnSpc>
              <a:buFont typeface="Wingdings" pitchFamily="2" charset="2"/>
              <a:buNone/>
            </a:pPr>
            <a:r>
              <a:rPr lang="en-US" altLang="zh-CN" sz="2400" dirty="0">
                <a:solidFill>
                  <a:srgbClr val="FF0000"/>
                </a:solidFill>
              </a:rPr>
              <a:t>[Label:] </a:t>
            </a:r>
            <a:r>
              <a:rPr lang="en-US" altLang="zh-CN" sz="2400" dirty="0">
                <a:solidFill>
                  <a:srgbClr val="0070C0"/>
                </a:solidFill>
              </a:rPr>
              <a:t>&lt;op&gt; </a:t>
            </a:r>
            <a:r>
              <a:rPr lang="en-US" altLang="zh-CN" sz="2400" dirty="0"/>
              <a:t>Arg1, [Arg2], [Arg3]   </a:t>
            </a:r>
            <a:r>
              <a:rPr lang="en-US" altLang="zh-CN" sz="2400" dirty="0">
                <a:solidFill>
                  <a:srgbClr val="7030A0"/>
                </a:solidFill>
              </a:rPr>
              <a:t>[#comment]</a:t>
            </a:r>
          </a:p>
          <a:p>
            <a:pPr lvl="1">
              <a:lnSpc>
                <a:spcPct val="145000"/>
              </a:lnSpc>
              <a:buNone/>
            </a:pPr>
            <a:r>
              <a:rPr lang="zh-CN" altLang="en-US" sz="2400" dirty="0"/>
              <a:t>例如 </a:t>
            </a:r>
            <a:r>
              <a:rPr lang="en-US" altLang="zh-CN" sz="2400" dirty="0" err="1">
                <a:solidFill>
                  <a:srgbClr val="FF0000"/>
                </a:solidFill>
              </a:rPr>
              <a:t>AddFunc</a:t>
            </a:r>
            <a:r>
              <a:rPr lang="en-US" altLang="zh-CN" sz="2400" dirty="0"/>
              <a:t>:</a:t>
            </a:r>
            <a:r>
              <a:rPr lang="zh-CN" altLang="en-US" sz="2400" dirty="0"/>
              <a:t> </a:t>
            </a:r>
            <a:r>
              <a:rPr lang="en-US" altLang="zh-CN" sz="2400" dirty="0">
                <a:solidFill>
                  <a:srgbClr val="0070C0"/>
                </a:solidFill>
              </a:rPr>
              <a:t>add</a:t>
            </a:r>
            <a:r>
              <a:rPr lang="en-US" altLang="zh-CN" sz="2400" dirty="0"/>
              <a:t> $a1 $a2 $a3</a:t>
            </a:r>
            <a:r>
              <a:rPr lang="zh-CN" altLang="en-US" sz="2400" dirty="0"/>
              <a:t> </a:t>
            </a:r>
            <a:r>
              <a:rPr lang="en-US" altLang="zh-CN" sz="2400" dirty="0">
                <a:solidFill>
                  <a:srgbClr val="7030A0"/>
                </a:solidFill>
              </a:rPr>
              <a:t>#</a:t>
            </a:r>
            <a:r>
              <a:rPr lang="zh-CN" altLang="en-US" sz="2400" dirty="0">
                <a:solidFill>
                  <a:srgbClr val="7030A0"/>
                </a:solidFill>
              </a:rPr>
              <a:t> </a:t>
            </a:r>
            <a:r>
              <a:rPr lang="en-US" altLang="zh-CN" sz="2400" dirty="0">
                <a:solidFill>
                  <a:srgbClr val="7030A0"/>
                </a:solidFill>
              </a:rPr>
              <a:t>a1=a2+a3</a:t>
            </a:r>
          </a:p>
          <a:p>
            <a:r>
              <a:rPr lang="zh-CN" altLang="en-US" dirty="0"/>
              <a:t>汇编命令</a:t>
            </a:r>
            <a:r>
              <a:rPr lang="en-US" altLang="zh-CN" dirty="0"/>
              <a:t>(directive)</a:t>
            </a:r>
            <a:r>
              <a:rPr lang="zh-CN" altLang="en-US" dirty="0"/>
              <a:t>语句</a:t>
            </a:r>
          </a:p>
          <a:p>
            <a:pPr lvl="1">
              <a:lnSpc>
                <a:spcPct val="145000"/>
              </a:lnSpc>
              <a:buFont typeface="Wingdings" pitchFamily="2" charset="2"/>
              <a:buNone/>
            </a:pPr>
            <a:r>
              <a:rPr lang="en-US" altLang="zh-CN" sz="2400" dirty="0">
                <a:solidFill>
                  <a:srgbClr val="FF0000"/>
                </a:solidFill>
              </a:rPr>
              <a:t>[Label:]</a:t>
            </a:r>
            <a:r>
              <a:rPr lang="en-US" altLang="zh-CN" sz="2400" dirty="0">
                <a:solidFill>
                  <a:srgbClr val="0070C0"/>
                </a:solidFill>
              </a:rPr>
              <a:t> .Directive  </a:t>
            </a:r>
            <a:r>
              <a:rPr lang="en-US" altLang="zh-CN" sz="2400" dirty="0"/>
              <a:t>[arg1], [arg2],  . . . [#comment]</a:t>
            </a:r>
          </a:p>
          <a:p>
            <a:pPr lvl="1">
              <a:lnSpc>
                <a:spcPct val="145000"/>
              </a:lnSpc>
              <a:buFont typeface="Wingdings" pitchFamily="2" charset="2"/>
              <a:buNone/>
            </a:pPr>
            <a:r>
              <a:rPr lang="zh-CN" altLang="en-US" sz="2400" dirty="0"/>
              <a:t>例如 </a:t>
            </a:r>
            <a:r>
              <a:rPr lang="en-US" altLang="zh-CN" sz="2400" dirty="0">
                <a:solidFill>
                  <a:srgbClr val="0070C0"/>
                </a:solidFill>
              </a:rPr>
              <a:t>.word </a:t>
            </a:r>
            <a:r>
              <a:rPr lang="en-US" altLang="zh-CN" sz="2400" dirty="0"/>
              <a:t>0xa3</a:t>
            </a:r>
          </a:p>
          <a:p>
            <a:pPr lvl="1">
              <a:lnSpc>
                <a:spcPct val="145000"/>
              </a:lnSpc>
              <a:buFont typeface="Wingdings" pitchFamily="2" charset="2"/>
              <a:buNone/>
            </a:pPr>
            <a:endParaRPr lang="en-US" altLang="zh-CN" sz="2400" dirty="0"/>
          </a:p>
          <a:p>
            <a:pPr lvl="1">
              <a:buFont typeface="Wingdings" pitchFamily="2" charset="2"/>
              <a:buNone/>
            </a:pPr>
            <a:endParaRPr lang="en-US" altLang="zh-CN" sz="2400" dirty="0"/>
          </a:p>
        </p:txBody>
      </p:sp>
      <p:sp>
        <p:nvSpPr>
          <p:cNvPr id="2" name="Title 4">
            <a:extLst>
              <a:ext uri="{FF2B5EF4-FFF2-40B4-BE49-F238E27FC236}">
                <a16:creationId xmlns:a16="http://schemas.microsoft.com/office/drawing/2014/main" id="{35E425EA-407A-2EEA-A9C4-3718CD95A5B3}"/>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dirty="0"/>
              <a:t>编程指南：语法</a:t>
            </a:r>
            <a:endParaRPr lang="en-CN" kern="0" dirty="0"/>
          </a:p>
        </p:txBody>
      </p:sp>
    </p:spTree>
    <p:extLst>
      <p:ext uri="{BB962C8B-B14F-4D97-AF65-F5344CB8AC3E}">
        <p14:creationId xmlns:p14="http://schemas.microsoft.com/office/powerpoint/2010/main" val="397181552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370A50-0D7F-E74E-BFB8-DB064B96ADA5}"/>
              </a:ext>
            </a:extLst>
          </p:cNvPr>
          <p:cNvSpPr>
            <a:spLocks noGrp="1"/>
          </p:cNvSpPr>
          <p:nvPr>
            <p:ph type="sldNum" sz="quarter" idx="12"/>
          </p:nvPr>
        </p:nvSpPr>
        <p:spPr/>
        <p:txBody>
          <a:bodyPr/>
          <a:lstStyle/>
          <a:p>
            <a:fld id="{14659731-6BD7-46E7-8D3C-2F3AC07E20B1}" type="slidenum">
              <a:rPr lang="en-US" altLang="zh-CN" smtClean="0"/>
              <a:pPr/>
              <a:t>117</a:t>
            </a:fld>
            <a:endParaRPr lang="en-US" altLang="zh-CN"/>
          </a:p>
        </p:txBody>
      </p:sp>
      <p:sp>
        <p:nvSpPr>
          <p:cNvPr id="22531" name="Rectangle 3"/>
          <p:cNvSpPr>
            <a:spLocks noGrp="1" noChangeArrowheads="1"/>
          </p:cNvSpPr>
          <p:nvPr>
            <p:ph idx="4294967295"/>
          </p:nvPr>
        </p:nvSpPr>
        <p:spPr>
          <a:xfrm>
            <a:off x="367989" y="1424180"/>
            <a:ext cx="8776011" cy="5032375"/>
          </a:xfrm>
        </p:spPr>
        <p:txBody>
          <a:bodyPr>
            <a:normAutofit fontScale="92500"/>
          </a:bodyPr>
          <a:lstStyle/>
          <a:p>
            <a:pPr>
              <a:buFontTx/>
              <a:buChar char="-"/>
            </a:pPr>
            <a:r>
              <a:rPr lang="zh-CN" altLang="en-US" sz="2600" dirty="0"/>
              <a:t>汇编器用来定义数据段、代码段以及为数据分配存储空间</a:t>
            </a:r>
            <a:endParaRPr lang="en-US" altLang="zh-CN" sz="2600" dirty="0"/>
          </a:p>
          <a:p>
            <a:pPr marL="457200" lvl="1" indent="0">
              <a:lnSpc>
                <a:spcPct val="150000"/>
              </a:lnSpc>
              <a:buFont typeface="Wingdings" pitchFamily="2" charset="2"/>
              <a:buNone/>
            </a:pPr>
            <a:r>
              <a:rPr lang="en-US" altLang="zh-CN" sz="2200" dirty="0"/>
              <a:t>.data   [address]	 # </a:t>
            </a:r>
            <a:r>
              <a:rPr lang="zh-CN" altLang="en-US" sz="2200" dirty="0"/>
              <a:t>定义数据段 ，</a:t>
            </a:r>
            <a:r>
              <a:rPr lang="en-US" altLang="zh-CN" sz="2200" dirty="0"/>
              <a:t>[address]</a:t>
            </a:r>
            <a:r>
              <a:rPr lang="zh-CN" altLang="en-US" sz="2200" dirty="0"/>
              <a:t>为可选的地址</a:t>
            </a:r>
            <a:endParaRPr lang="en-US" altLang="zh-CN" sz="2200" dirty="0"/>
          </a:p>
          <a:p>
            <a:pPr marL="457200" lvl="1" indent="0">
              <a:lnSpc>
                <a:spcPct val="150000"/>
              </a:lnSpc>
              <a:buFont typeface="Wingdings" pitchFamily="2" charset="2"/>
              <a:buNone/>
            </a:pPr>
            <a:r>
              <a:rPr lang="en-US" altLang="zh-CN" sz="2200" dirty="0"/>
              <a:t>.text    [address]  	 # </a:t>
            </a:r>
            <a:r>
              <a:rPr lang="zh-CN" altLang="en-US" sz="2200" dirty="0"/>
              <a:t>定义正文段</a:t>
            </a:r>
            <a:r>
              <a:rPr lang="en-US" altLang="zh-CN" sz="2200" dirty="0"/>
              <a:t>(</a:t>
            </a:r>
            <a:r>
              <a:rPr lang="zh-CN" altLang="en-US" sz="2200" dirty="0"/>
              <a:t>即代码段</a:t>
            </a:r>
            <a:r>
              <a:rPr lang="en-US" altLang="zh-CN" sz="2200" dirty="0"/>
              <a:t>)</a:t>
            </a:r>
            <a:r>
              <a:rPr lang="zh-CN" altLang="en-US" sz="2200" dirty="0"/>
              <a:t>，</a:t>
            </a:r>
            <a:r>
              <a:rPr lang="en-US" altLang="zh-CN" sz="2200" dirty="0"/>
              <a:t> [address]</a:t>
            </a:r>
            <a:r>
              <a:rPr lang="zh-CN" altLang="en-US" sz="2200" dirty="0"/>
              <a:t>为可选的地址</a:t>
            </a:r>
            <a:endParaRPr lang="en-US" altLang="zh-CN" sz="2200" dirty="0"/>
          </a:p>
          <a:p>
            <a:pPr marL="457200" lvl="1" indent="0">
              <a:lnSpc>
                <a:spcPct val="150000"/>
              </a:lnSpc>
              <a:buFont typeface="Wingdings" pitchFamily="2" charset="2"/>
              <a:buNone/>
            </a:pPr>
            <a:r>
              <a:rPr lang="en-US" altLang="zh-CN" sz="2200" dirty="0"/>
              <a:t>.align n   </a:t>
            </a:r>
            <a:r>
              <a:rPr lang="zh-CN" altLang="en-US" sz="2200" dirty="0"/>
              <a:t>                 </a:t>
            </a:r>
            <a:r>
              <a:rPr lang="en-US" altLang="zh-CN" sz="2200" dirty="0"/>
              <a:t>#</a:t>
            </a:r>
            <a:r>
              <a:rPr lang="zh-CN" altLang="en-US" sz="2200" dirty="0"/>
              <a:t> 以 </a:t>
            </a:r>
            <a:r>
              <a:rPr lang="en-US" altLang="zh-CN" sz="2200" dirty="0"/>
              <a:t>2</a:t>
            </a:r>
            <a:r>
              <a:rPr lang="en-US" altLang="zh-CN" sz="2200" baseline="30000" dirty="0"/>
              <a:t>n</a:t>
            </a:r>
            <a:r>
              <a:rPr lang="zh-CN" altLang="en-US" sz="2200" dirty="0"/>
              <a:t>字节边界对齐数据，只能用于数据段</a:t>
            </a:r>
            <a:endParaRPr lang="zh-CN" altLang="en-US" sz="2200" dirty="0">
              <a:solidFill>
                <a:schemeClr val="accent2"/>
              </a:solidFill>
            </a:endParaRPr>
          </a:p>
          <a:p>
            <a:pPr marL="457200" lvl="1" indent="0">
              <a:lnSpc>
                <a:spcPct val="150000"/>
              </a:lnSpc>
              <a:buNone/>
            </a:pPr>
            <a:r>
              <a:rPr lang="en-US" altLang="zh-CN" sz="2200" dirty="0"/>
              <a:t>.ascii &lt;string&gt;  </a:t>
            </a:r>
            <a:r>
              <a:rPr lang="zh-CN" altLang="en-US" sz="2200" dirty="0"/>
              <a:t>     </a:t>
            </a:r>
            <a:r>
              <a:rPr lang="en-US" altLang="zh-CN" sz="2200" dirty="0"/>
              <a:t>  # </a:t>
            </a:r>
            <a:r>
              <a:rPr lang="zh-CN" altLang="en-US" sz="2200" dirty="0"/>
              <a:t>在内存中存放字符串</a:t>
            </a:r>
          </a:p>
          <a:p>
            <a:pPr marL="457200" lvl="1" indent="0">
              <a:lnSpc>
                <a:spcPct val="150000"/>
              </a:lnSpc>
              <a:buNone/>
            </a:pPr>
            <a:r>
              <a:rPr lang="en-US" altLang="zh-CN" sz="2200" dirty="0"/>
              <a:t>.</a:t>
            </a:r>
            <a:r>
              <a:rPr lang="en-US" altLang="zh-CN" sz="2200" dirty="0" err="1"/>
              <a:t>asciiz</a:t>
            </a:r>
            <a:r>
              <a:rPr lang="en-US" altLang="zh-CN" sz="2200" dirty="0"/>
              <a:t> &lt;string&gt; 	 # </a:t>
            </a:r>
            <a:r>
              <a:rPr lang="zh-CN" altLang="en-US" sz="2200" dirty="0"/>
              <a:t>在内存中存放</a:t>
            </a:r>
            <a:r>
              <a:rPr lang="en-US" altLang="zh-CN" sz="2200" dirty="0"/>
              <a:t>NULL</a:t>
            </a:r>
            <a:r>
              <a:rPr lang="zh-CN" altLang="en-US" sz="2200" dirty="0"/>
              <a:t>结束的字符串</a:t>
            </a:r>
            <a:endParaRPr lang="en-US" sz="2200" dirty="0"/>
          </a:p>
          <a:p>
            <a:pPr marL="457200" lvl="1" indent="0">
              <a:lnSpc>
                <a:spcPct val="150000"/>
              </a:lnSpc>
              <a:buNone/>
            </a:pPr>
            <a:r>
              <a:rPr lang="en-US" altLang="zh-CN" sz="2200" dirty="0"/>
              <a:t>.word w1, w2, . . . , </a:t>
            </a:r>
            <a:r>
              <a:rPr lang="en-US" altLang="zh-CN" sz="2200" dirty="0" err="1"/>
              <a:t>wn</a:t>
            </a:r>
            <a:r>
              <a:rPr lang="en-US" altLang="zh-CN" sz="2200" dirty="0"/>
              <a:t>	  # </a:t>
            </a:r>
            <a:r>
              <a:rPr lang="zh-CN" altLang="en-US" sz="2200" dirty="0"/>
              <a:t>在内存中存放</a:t>
            </a:r>
            <a:r>
              <a:rPr lang="en-US" altLang="zh-CN" sz="2200" dirty="0"/>
              <a:t>n</a:t>
            </a:r>
            <a:r>
              <a:rPr lang="zh-CN" altLang="en-US" sz="2200" dirty="0"/>
              <a:t>个字</a:t>
            </a:r>
            <a:endParaRPr lang="en-US" altLang="zh-CN" sz="2200" dirty="0"/>
          </a:p>
          <a:p>
            <a:pPr marL="457200" lvl="1" indent="0">
              <a:lnSpc>
                <a:spcPct val="150000"/>
              </a:lnSpc>
              <a:buNone/>
            </a:pPr>
            <a:r>
              <a:rPr lang="en-US" altLang="zh-CN" sz="2200" dirty="0"/>
              <a:t>.half h1, h2, . . . , </a:t>
            </a:r>
            <a:r>
              <a:rPr lang="en-US" altLang="zh-CN" sz="2200" dirty="0" err="1"/>
              <a:t>hn</a:t>
            </a:r>
            <a:r>
              <a:rPr lang="en-US" altLang="zh-CN" sz="2200" dirty="0"/>
              <a:t>	  # </a:t>
            </a:r>
            <a:r>
              <a:rPr lang="zh-CN" altLang="en-US" sz="2200" dirty="0"/>
              <a:t>在内存中存放</a:t>
            </a:r>
            <a:r>
              <a:rPr lang="en-US" altLang="zh-CN" sz="2200" dirty="0"/>
              <a:t>n</a:t>
            </a:r>
            <a:r>
              <a:rPr lang="zh-CN" altLang="en-US" sz="2200" dirty="0"/>
              <a:t>个半字</a:t>
            </a:r>
            <a:endParaRPr lang="en-US" altLang="zh-CN" sz="2200" dirty="0"/>
          </a:p>
          <a:p>
            <a:pPr marL="457200" lvl="1" indent="0">
              <a:lnSpc>
                <a:spcPct val="150000"/>
              </a:lnSpc>
              <a:buNone/>
            </a:pPr>
            <a:r>
              <a:rPr lang="en-US" altLang="zh-CN" sz="2200" dirty="0"/>
              <a:t>.byte b1, b2, . . . , </a:t>
            </a:r>
            <a:r>
              <a:rPr lang="en-US" altLang="zh-CN" sz="2200" dirty="0" err="1"/>
              <a:t>bn</a:t>
            </a:r>
            <a:r>
              <a:rPr lang="en-US" altLang="zh-CN" sz="2200" dirty="0"/>
              <a:t>	  # </a:t>
            </a:r>
            <a:r>
              <a:rPr lang="zh-CN" altLang="en-US" sz="2200" dirty="0"/>
              <a:t>在内存中存放</a:t>
            </a:r>
            <a:r>
              <a:rPr lang="en-US" altLang="zh-CN" sz="2200" dirty="0"/>
              <a:t>n</a:t>
            </a:r>
            <a:r>
              <a:rPr lang="zh-CN" altLang="en-US" sz="2200" dirty="0"/>
              <a:t>个字节</a:t>
            </a:r>
          </a:p>
        </p:txBody>
      </p:sp>
      <p:sp>
        <p:nvSpPr>
          <p:cNvPr id="3" name="Title 4">
            <a:extLst>
              <a:ext uri="{FF2B5EF4-FFF2-40B4-BE49-F238E27FC236}">
                <a16:creationId xmlns:a16="http://schemas.microsoft.com/office/drawing/2014/main" id="{813AE7CC-029C-6E21-18B0-EB5C089CF904}"/>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dirty="0"/>
              <a:t>编程指南：语法</a:t>
            </a:r>
            <a:endParaRPr lang="en-CN" kern="0" dirty="0"/>
          </a:p>
        </p:txBody>
      </p:sp>
    </p:spTree>
    <p:extLst>
      <p:ext uri="{BB962C8B-B14F-4D97-AF65-F5344CB8AC3E}">
        <p14:creationId xmlns:p14="http://schemas.microsoft.com/office/powerpoint/2010/main" val="994506034"/>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a:extLst>
              <a:ext uri="{FF2B5EF4-FFF2-40B4-BE49-F238E27FC236}">
                <a16:creationId xmlns:a16="http://schemas.microsoft.com/office/drawing/2014/main" id="{AB216C4F-AF03-48A5-AA44-E6A8F78ADAE8}"/>
              </a:ext>
            </a:extLst>
          </p:cNvPr>
          <p:cNvSpPr>
            <a:spLocks noGrp="1"/>
          </p:cNvSpPr>
          <p:nvPr>
            <p:ph type="sldNum" sz="quarter" idx="12"/>
          </p:nvPr>
        </p:nvSpPr>
        <p:spPr/>
        <p:txBody>
          <a:bodyPr/>
          <a:lstStyle/>
          <a:p>
            <a:pPr>
              <a:defRPr/>
            </a:pPr>
            <a:fld id="{ECD5A6D5-D27A-4A28-A3F6-493C4D03C27D}" type="slidenum">
              <a:rPr lang="zh-CN" altLang="en-US"/>
              <a:pPr>
                <a:defRPr/>
              </a:pPr>
              <a:t>118</a:t>
            </a:fld>
            <a:endParaRPr lang="en-US" altLang="zh-CN"/>
          </a:p>
        </p:txBody>
      </p:sp>
      <p:sp>
        <p:nvSpPr>
          <p:cNvPr id="13317" name="Rectangle 3"/>
          <p:cNvSpPr>
            <a:spLocks noGrp="1" noChangeArrowheads="1"/>
          </p:cNvSpPr>
          <p:nvPr>
            <p:ph idx="4294967295"/>
          </p:nvPr>
        </p:nvSpPr>
        <p:spPr>
          <a:xfrm>
            <a:off x="523040" y="1396818"/>
            <a:ext cx="3986213" cy="5256213"/>
          </a:xfrm>
          <a:solidFill>
            <a:schemeClr val="bg1"/>
          </a:solidFill>
        </p:spPr>
        <p:txBody>
          <a:bodyPr>
            <a:normAutofit/>
          </a:bodyPr>
          <a:lstStyle/>
          <a:p>
            <a:pPr eaLnBrk="1" hangingPunct="1"/>
            <a:r>
              <a:rPr lang="zh-CN" altLang="en-US" sz="2800" dirty="0"/>
              <a:t>汇编语言源文件：</a:t>
            </a:r>
            <a:r>
              <a:rPr lang="en-US" altLang="zh-CN" sz="2800" dirty="0"/>
              <a:t>.s  </a:t>
            </a:r>
          </a:p>
          <a:p>
            <a:pPr marL="628650" lvl="1" indent="-228600" eaLnBrk="1" hangingPunct="1"/>
            <a:r>
              <a:rPr lang="en-US" altLang="zh-CN" sz="2200" b="1" dirty="0">
                <a:latin typeface="Arial" charset="0"/>
              </a:rPr>
              <a:t>“</a:t>
            </a:r>
            <a:r>
              <a:rPr lang="en-US" altLang="zh-CN" sz="2200" b="1" dirty="0"/>
              <a:t>.</a:t>
            </a:r>
            <a:r>
              <a:rPr lang="en-US" altLang="zh-CN" sz="2200" b="1" dirty="0">
                <a:latin typeface="Arial" charset="0"/>
              </a:rPr>
              <a:t>”</a:t>
            </a:r>
            <a:r>
              <a:rPr lang="en-US" altLang="zh-CN" sz="2200" b="1" dirty="0"/>
              <a:t> </a:t>
            </a:r>
            <a:r>
              <a:rPr lang="en-US" altLang="zh-CN" sz="2200" dirty="0"/>
              <a:t>MIPS</a:t>
            </a:r>
            <a:r>
              <a:rPr lang="zh-CN" altLang="en-US" sz="2200" dirty="0"/>
              <a:t>汇编命令标识符</a:t>
            </a:r>
          </a:p>
          <a:p>
            <a:pPr marL="628650" lvl="1" indent="-228600" eaLnBrk="1" hangingPunct="1">
              <a:spcBef>
                <a:spcPts val="1200"/>
              </a:spcBef>
            </a:pPr>
            <a:r>
              <a:rPr lang="en-US" altLang="zh-CN" sz="2200" dirty="0">
                <a:latin typeface="Arial" charset="0"/>
              </a:rPr>
              <a:t>“</a:t>
            </a:r>
            <a:r>
              <a:rPr lang="en-US" altLang="zh-CN" sz="2200" dirty="0"/>
              <a:t>label:</a:t>
            </a:r>
            <a:r>
              <a:rPr lang="en-US" altLang="zh-CN" sz="2200" dirty="0">
                <a:latin typeface="Arial" charset="0"/>
              </a:rPr>
              <a:t>”</a:t>
            </a:r>
            <a:endParaRPr lang="en-US" altLang="zh-CN" sz="2200" dirty="0"/>
          </a:p>
          <a:p>
            <a:pPr marL="971550" lvl="2" eaLnBrk="1" hangingPunct="1"/>
            <a:r>
              <a:rPr lang="en-US" altLang="zh-CN" sz="2000" dirty="0"/>
              <a:t>label</a:t>
            </a:r>
            <a:r>
              <a:rPr lang="zh-CN" altLang="en-US" sz="2000" dirty="0"/>
              <a:t>被赋值为当前位置的地址</a:t>
            </a:r>
          </a:p>
          <a:p>
            <a:pPr marL="971550" lvl="2" eaLnBrk="1" hangingPunct="1"/>
            <a:r>
              <a:rPr lang="en-US" altLang="zh-CN" sz="2000" dirty="0"/>
              <a:t>fact = 0x00400100</a:t>
            </a:r>
          </a:p>
          <a:p>
            <a:pPr marL="628650" lvl="1" indent="-228600" eaLnBrk="1" hangingPunct="1">
              <a:spcBef>
                <a:spcPts val="1200"/>
              </a:spcBef>
            </a:pPr>
            <a:r>
              <a:rPr lang="zh-CN" altLang="en-US" sz="2200" dirty="0"/>
              <a:t>规定汇编程序在地址</a:t>
            </a:r>
            <a:r>
              <a:rPr lang="en-US" altLang="zh-CN" sz="2200" dirty="0"/>
              <a:t>0x00400000</a:t>
            </a:r>
            <a:r>
              <a:rPr lang="zh-CN" altLang="en-US" sz="2200" dirty="0"/>
              <a:t>开始</a:t>
            </a:r>
          </a:p>
        </p:txBody>
      </p:sp>
      <p:sp>
        <p:nvSpPr>
          <p:cNvPr id="13318" name="Text Box 7"/>
          <p:cNvSpPr txBox="1">
            <a:spLocks noChangeArrowheads="1"/>
          </p:cNvSpPr>
          <p:nvPr/>
        </p:nvSpPr>
        <p:spPr bwMode="auto">
          <a:xfrm>
            <a:off x="6162081" y="1508684"/>
            <a:ext cx="3043460" cy="4770537"/>
          </a:xfrm>
          <a:prstGeom prst="rect">
            <a:avLst/>
          </a:prstGeom>
          <a:noFill/>
          <a:ln>
            <a:noFill/>
          </a:ln>
        </p:spPr>
        <p:txBody>
          <a:bodyPr lIns="45720" rIns="45720"/>
          <a:lstStyle>
            <a:lvl1pPr eaLnBrk="0" hangingPunct="0">
              <a:defRPr>
                <a:solidFill>
                  <a:schemeClr val="tx1"/>
                </a:solidFill>
                <a:latin typeface="Verdana" pitchFamily="34" charset="0"/>
                <a:ea typeface="宋体" charset="-122"/>
              </a:defRPr>
            </a:lvl1pPr>
            <a:lvl2pPr marL="742950" indent="-285750" eaLnBrk="0" hangingPunct="0">
              <a:defRPr>
                <a:solidFill>
                  <a:schemeClr val="tx1"/>
                </a:solidFill>
                <a:latin typeface="Verdana" pitchFamily="34" charset="0"/>
                <a:ea typeface="宋体" charset="-122"/>
              </a:defRPr>
            </a:lvl2pPr>
            <a:lvl3pPr marL="1143000" indent="-228600" eaLnBrk="0" hangingPunct="0">
              <a:defRPr>
                <a:solidFill>
                  <a:schemeClr val="tx1"/>
                </a:solidFill>
                <a:latin typeface="Verdana" pitchFamily="34" charset="0"/>
                <a:ea typeface="宋体" charset="-122"/>
              </a:defRPr>
            </a:lvl3pPr>
            <a:lvl4pPr marL="1600200" indent="-228600" eaLnBrk="0" hangingPunct="0">
              <a:defRPr>
                <a:solidFill>
                  <a:schemeClr val="tx1"/>
                </a:solidFill>
                <a:latin typeface="Verdana" pitchFamily="34" charset="0"/>
                <a:ea typeface="宋体" charset="-122"/>
              </a:defRPr>
            </a:lvl4pPr>
            <a:lvl5pPr marL="2057400" indent="-228600" eaLnBrk="0" hangingPunct="0">
              <a:defRPr>
                <a:solidFill>
                  <a:schemeClr val="tx1"/>
                </a:solidFill>
                <a:latin typeface="Verdana" pitchFamily="34" charset="0"/>
                <a:ea typeface="宋体" charset="-122"/>
              </a:defRPr>
            </a:lvl5pPr>
            <a:lvl6pPr marL="2514600" indent="-228600" eaLnBrk="0" fontAlgn="base" hangingPunct="0">
              <a:spcBef>
                <a:spcPct val="0"/>
              </a:spcBef>
              <a:spcAft>
                <a:spcPct val="0"/>
              </a:spcAft>
              <a:defRPr>
                <a:solidFill>
                  <a:schemeClr val="tx1"/>
                </a:solidFill>
                <a:latin typeface="Verdana" pitchFamily="34" charset="0"/>
                <a:ea typeface="宋体" charset="-122"/>
              </a:defRPr>
            </a:lvl6pPr>
            <a:lvl7pPr marL="2971800" indent="-228600" eaLnBrk="0" fontAlgn="base" hangingPunct="0">
              <a:spcBef>
                <a:spcPct val="0"/>
              </a:spcBef>
              <a:spcAft>
                <a:spcPct val="0"/>
              </a:spcAft>
              <a:defRPr>
                <a:solidFill>
                  <a:schemeClr val="tx1"/>
                </a:solidFill>
                <a:latin typeface="Verdana" pitchFamily="34" charset="0"/>
                <a:ea typeface="宋体" charset="-122"/>
              </a:defRPr>
            </a:lvl7pPr>
            <a:lvl8pPr marL="3429000" indent="-228600" eaLnBrk="0" fontAlgn="base" hangingPunct="0">
              <a:spcBef>
                <a:spcPct val="0"/>
              </a:spcBef>
              <a:spcAft>
                <a:spcPct val="0"/>
              </a:spcAft>
              <a:defRPr>
                <a:solidFill>
                  <a:schemeClr val="tx1"/>
                </a:solidFill>
                <a:latin typeface="Verdana" pitchFamily="34" charset="0"/>
                <a:ea typeface="宋体" charset="-122"/>
              </a:defRPr>
            </a:lvl8pPr>
            <a:lvl9pPr marL="3886200" indent="-228600" eaLnBrk="0" fontAlgn="base" hangingPunct="0">
              <a:spcBef>
                <a:spcPct val="0"/>
              </a:spcBef>
              <a:spcAft>
                <a:spcPct val="0"/>
              </a:spcAft>
              <a:defRPr>
                <a:solidFill>
                  <a:schemeClr val="tx1"/>
                </a:solidFill>
                <a:latin typeface="Verdana" pitchFamily="34" charset="0"/>
                <a:ea typeface="宋体" charset="-122"/>
              </a:defRPr>
            </a:lvl9pPr>
          </a:lstStyle>
          <a:p>
            <a:pPr algn="l">
              <a:spcBef>
                <a:spcPct val="50000"/>
              </a:spcBef>
            </a:pPr>
            <a:r>
              <a:rPr lang="zh-CN" altLang="en-US" sz="1600" b="1" dirty="0">
                <a:solidFill>
                  <a:srgbClr val="1C069E"/>
                </a:solidFill>
                <a:latin typeface="Consolas" panose="020B0609020204030204" pitchFamily="49" charset="0"/>
                <a:cs typeface="Arial" panose="020B0604020202020204" pitchFamily="34" charset="0"/>
              </a:rPr>
              <a:t>      </a:t>
            </a:r>
            <a:r>
              <a:rPr lang="en-US" altLang="zh-CN" sz="1600" b="1" dirty="0">
                <a:solidFill>
                  <a:srgbClr val="1C069E"/>
                </a:solidFill>
                <a:latin typeface="Consolas" panose="020B0609020204030204" pitchFamily="49" charset="0"/>
                <a:cs typeface="Arial" panose="020B0604020202020204" pitchFamily="34" charset="0"/>
              </a:rPr>
              <a:t>move $s5, $31</a:t>
            </a:r>
            <a:r>
              <a:rPr lang="zh-CN" altLang="en-US" sz="1600" b="1" dirty="0">
                <a:solidFill>
                  <a:srgbClr val="1C069E"/>
                </a:solidFill>
                <a:latin typeface="Consolas" panose="020B0609020204030204" pitchFamily="49" charset="0"/>
                <a:cs typeface="Arial" panose="020B0604020202020204" pitchFamily="34" charset="0"/>
              </a:rPr>
              <a:t> </a:t>
            </a:r>
          </a:p>
          <a:p>
            <a:pPr algn="l">
              <a:spcBef>
                <a:spcPct val="50000"/>
              </a:spcBef>
            </a:pPr>
            <a:r>
              <a:rPr lang="en-US" altLang="zh-CN" sz="1600" b="1" dirty="0">
                <a:solidFill>
                  <a:srgbClr val="1C069E"/>
                </a:solidFill>
                <a:latin typeface="Consolas" panose="020B0609020204030204" pitchFamily="49" charset="0"/>
                <a:cs typeface="Arial" panose="020B0604020202020204" pitchFamily="34" charset="0"/>
              </a:rPr>
              <a:t>      </a:t>
            </a:r>
            <a:r>
              <a:rPr lang="en-US" altLang="zh-CN" sz="1600" b="1" dirty="0" err="1">
                <a:solidFill>
                  <a:srgbClr val="1C069E"/>
                </a:solidFill>
                <a:latin typeface="Consolas" panose="020B0609020204030204" pitchFamily="49" charset="0"/>
                <a:cs typeface="Arial" panose="020B0604020202020204" pitchFamily="34" charset="0"/>
              </a:rPr>
              <a:t>jal</a:t>
            </a:r>
            <a:r>
              <a:rPr lang="en-US" altLang="zh-CN" sz="1600" b="1" dirty="0">
                <a:solidFill>
                  <a:srgbClr val="1C069E"/>
                </a:solidFill>
                <a:latin typeface="Consolas" panose="020B0609020204030204" pitchFamily="49" charset="0"/>
                <a:cs typeface="Arial" panose="020B0604020202020204" pitchFamily="34" charset="0"/>
              </a:rPr>
              <a:t> fact      </a:t>
            </a:r>
          </a:p>
          <a:p>
            <a:pPr algn="l">
              <a:spcBef>
                <a:spcPct val="50000"/>
              </a:spcBef>
            </a:pPr>
            <a:r>
              <a:rPr lang="zh-CN" altLang="en-US" sz="1600" b="1" dirty="0">
                <a:solidFill>
                  <a:srgbClr val="1C069E"/>
                </a:solidFill>
                <a:latin typeface="Consolas" panose="020B0609020204030204" pitchFamily="49" charset="0"/>
                <a:cs typeface="Arial" panose="020B0604020202020204" pitchFamily="34" charset="0"/>
              </a:rPr>
              <a:t>     </a:t>
            </a:r>
            <a:r>
              <a:rPr lang="en-US" altLang="zh-CN" sz="1600" b="1" dirty="0">
                <a:solidFill>
                  <a:srgbClr val="1C069E"/>
                </a:solidFill>
                <a:latin typeface="Consolas" panose="020B0609020204030204" pitchFamily="49" charset="0"/>
                <a:cs typeface="Arial" panose="020B0604020202020204" pitchFamily="34" charset="0"/>
              </a:rPr>
              <a:t> </a:t>
            </a:r>
            <a:r>
              <a:rPr lang="en-US" altLang="zh-CN" sz="1600" b="1" dirty="0" err="1">
                <a:solidFill>
                  <a:srgbClr val="1C069E"/>
                </a:solidFill>
                <a:latin typeface="Consolas" panose="020B0609020204030204" pitchFamily="49" charset="0"/>
                <a:cs typeface="Arial" panose="020B0604020202020204" pitchFamily="34" charset="0"/>
              </a:rPr>
              <a:t>sw</a:t>
            </a:r>
            <a:r>
              <a:rPr lang="en-US" altLang="zh-CN" sz="1600" b="1" dirty="0">
                <a:solidFill>
                  <a:srgbClr val="1C069E"/>
                </a:solidFill>
                <a:latin typeface="Consolas" panose="020B0609020204030204" pitchFamily="49" charset="0"/>
                <a:cs typeface="Arial" panose="020B0604020202020204" pitchFamily="34" charset="0"/>
              </a:rPr>
              <a:t>   $s0,f($0)  </a:t>
            </a:r>
          </a:p>
          <a:p>
            <a:pPr algn="l">
              <a:spcBef>
                <a:spcPct val="50000"/>
              </a:spcBef>
            </a:pPr>
            <a:r>
              <a:rPr lang="en-US" altLang="zh-CN" sz="1600" b="1" dirty="0">
                <a:solidFill>
                  <a:srgbClr val="FF0000"/>
                </a:solidFill>
                <a:latin typeface="Consolas" panose="020B0609020204030204" pitchFamily="49" charset="0"/>
                <a:cs typeface="Arial" panose="020B0604020202020204" pitchFamily="34" charset="0"/>
              </a:rPr>
              <a:t>.text 0x00400100      </a:t>
            </a:r>
          </a:p>
          <a:p>
            <a:pPr algn="l">
              <a:spcBef>
                <a:spcPct val="50000"/>
              </a:spcBef>
            </a:pPr>
            <a:r>
              <a:rPr lang="en-US" altLang="zh-CN" sz="1600" b="1" dirty="0">
                <a:solidFill>
                  <a:srgbClr val="1C069E"/>
                </a:solidFill>
                <a:latin typeface="Consolas" panose="020B0609020204030204" pitchFamily="49" charset="0"/>
                <a:cs typeface="Arial" panose="020B0604020202020204" pitchFamily="34" charset="0"/>
              </a:rPr>
              <a:t>fact: </a:t>
            </a:r>
            <a:r>
              <a:rPr lang="en-US" altLang="zh-CN" sz="1600" b="1" dirty="0" err="1">
                <a:solidFill>
                  <a:srgbClr val="1C069E"/>
                </a:solidFill>
                <a:latin typeface="Consolas" panose="020B0609020204030204" pitchFamily="49" charset="0"/>
                <a:cs typeface="Arial" panose="020B0604020202020204" pitchFamily="34" charset="0"/>
              </a:rPr>
              <a:t>addiu</a:t>
            </a:r>
            <a:r>
              <a:rPr lang="en-US" altLang="zh-CN" sz="1600" b="1" dirty="0">
                <a:solidFill>
                  <a:srgbClr val="1C069E"/>
                </a:solidFill>
                <a:latin typeface="Consolas" panose="020B0609020204030204" pitchFamily="49" charset="0"/>
                <a:cs typeface="Arial" panose="020B0604020202020204" pitchFamily="34" charset="0"/>
              </a:rPr>
              <a:t> $s0,$0,1</a:t>
            </a:r>
          </a:p>
          <a:p>
            <a:pPr algn="l">
              <a:spcBef>
                <a:spcPct val="50000"/>
              </a:spcBef>
            </a:pPr>
            <a:r>
              <a:rPr lang="en-US" altLang="zh-CN" sz="1600" b="1" dirty="0">
                <a:solidFill>
                  <a:srgbClr val="1C069E"/>
                </a:solidFill>
                <a:latin typeface="Consolas" panose="020B0609020204030204" pitchFamily="49" charset="0"/>
                <a:cs typeface="Arial" panose="020B0604020202020204" pitchFamily="34" charset="0"/>
              </a:rPr>
              <a:t>       </a:t>
            </a:r>
            <a:r>
              <a:rPr lang="en-US" altLang="zh-CN" sz="1600" b="1" dirty="0" err="1">
                <a:solidFill>
                  <a:srgbClr val="1C069E"/>
                </a:solidFill>
                <a:latin typeface="Consolas" panose="020B0609020204030204" pitchFamily="49" charset="0"/>
                <a:cs typeface="Arial" panose="020B0604020202020204" pitchFamily="34" charset="0"/>
              </a:rPr>
              <a:t>lw</a:t>
            </a:r>
            <a:r>
              <a:rPr lang="en-US" altLang="zh-CN" sz="1600" b="1" dirty="0">
                <a:solidFill>
                  <a:srgbClr val="1C069E"/>
                </a:solidFill>
                <a:latin typeface="Consolas" panose="020B0609020204030204" pitchFamily="49" charset="0"/>
                <a:cs typeface="Arial" panose="020B0604020202020204" pitchFamily="34" charset="0"/>
              </a:rPr>
              <a:t>     $s1, n($0)</a:t>
            </a:r>
          </a:p>
          <a:p>
            <a:pPr algn="l">
              <a:spcBef>
                <a:spcPct val="50000"/>
              </a:spcBef>
            </a:pPr>
            <a:r>
              <a:rPr lang="en-US" altLang="zh-CN" sz="1600" b="1" dirty="0">
                <a:solidFill>
                  <a:srgbClr val="1C069E"/>
                </a:solidFill>
                <a:latin typeface="Consolas" panose="020B0609020204030204" pitchFamily="49" charset="0"/>
                <a:cs typeface="Arial" panose="020B0604020202020204" pitchFamily="34" charset="0"/>
              </a:rPr>
              <a:t>loop:  </a:t>
            </a:r>
            <a:r>
              <a:rPr lang="en-US" altLang="zh-CN" sz="1600" b="1" dirty="0" err="1">
                <a:solidFill>
                  <a:srgbClr val="1C069E"/>
                </a:solidFill>
                <a:latin typeface="Consolas" panose="020B0609020204030204" pitchFamily="49" charset="0"/>
                <a:cs typeface="Arial" panose="020B0604020202020204" pitchFamily="34" charset="0"/>
              </a:rPr>
              <a:t>mul</a:t>
            </a:r>
            <a:r>
              <a:rPr lang="en-US" altLang="zh-CN" sz="1600" b="1" dirty="0">
                <a:solidFill>
                  <a:srgbClr val="1C069E"/>
                </a:solidFill>
                <a:latin typeface="Consolas" panose="020B0609020204030204" pitchFamily="49" charset="0"/>
                <a:cs typeface="Arial" panose="020B0604020202020204" pitchFamily="34" charset="0"/>
              </a:rPr>
              <a:t>   $s0,$s1,$s0</a:t>
            </a:r>
          </a:p>
          <a:p>
            <a:pPr algn="l">
              <a:spcBef>
                <a:spcPct val="50000"/>
              </a:spcBef>
            </a:pPr>
            <a:r>
              <a:rPr lang="en-US" altLang="zh-CN" sz="1600" b="1" dirty="0">
                <a:solidFill>
                  <a:srgbClr val="1C069E"/>
                </a:solidFill>
                <a:latin typeface="Consolas" panose="020B0609020204030204" pitchFamily="49" charset="0"/>
                <a:cs typeface="Arial" panose="020B0604020202020204" pitchFamily="34" charset="0"/>
              </a:rPr>
              <a:t>       </a:t>
            </a:r>
            <a:r>
              <a:rPr lang="en-US" altLang="zh-CN" sz="1600" b="1" dirty="0" err="1">
                <a:solidFill>
                  <a:srgbClr val="1C069E"/>
                </a:solidFill>
                <a:latin typeface="Consolas" panose="020B0609020204030204" pitchFamily="49" charset="0"/>
                <a:cs typeface="Arial" panose="020B0604020202020204" pitchFamily="34" charset="0"/>
              </a:rPr>
              <a:t>addi</a:t>
            </a:r>
            <a:r>
              <a:rPr lang="en-US" altLang="zh-CN" sz="1600" b="1" dirty="0">
                <a:solidFill>
                  <a:srgbClr val="1C069E"/>
                </a:solidFill>
                <a:latin typeface="Consolas" panose="020B0609020204030204" pitchFamily="49" charset="0"/>
                <a:cs typeface="Arial" panose="020B0604020202020204" pitchFamily="34" charset="0"/>
              </a:rPr>
              <a:t>  $s1,$s1,-1</a:t>
            </a:r>
          </a:p>
          <a:p>
            <a:pPr algn="l">
              <a:spcBef>
                <a:spcPct val="50000"/>
              </a:spcBef>
            </a:pPr>
            <a:r>
              <a:rPr lang="en-US" altLang="zh-CN" sz="1600" b="1" dirty="0">
                <a:solidFill>
                  <a:srgbClr val="1C069E"/>
                </a:solidFill>
                <a:latin typeface="Consolas" panose="020B0609020204030204" pitchFamily="49" charset="0"/>
                <a:cs typeface="Arial" panose="020B0604020202020204" pitchFamily="34" charset="0"/>
              </a:rPr>
              <a:t>       </a:t>
            </a:r>
            <a:r>
              <a:rPr lang="en-US" altLang="zh-CN" sz="1600" b="1" dirty="0" err="1">
                <a:solidFill>
                  <a:srgbClr val="1C069E"/>
                </a:solidFill>
                <a:latin typeface="Consolas" panose="020B0609020204030204" pitchFamily="49" charset="0"/>
                <a:cs typeface="Arial" panose="020B0604020202020204" pitchFamily="34" charset="0"/>
              </a:rPr>
              <a:t>bnez</a:t>
            </a:r>
            <a:r>
              <a:rPr lang="en-US" altLang="zh-CN" sz="1600" b="1" dirty="0">
                <a:solidFill>
                  <a:srgbClr val="1C069E"/>
                </a:solidFill>
                <a:latin typeface="Consolas" panose="020B0609020204030204" pitchFamily="49" charset="0"/>
                <a:cs typeface="Arial" panose="020B0604020202020204" pitchFamily="34" charset="0"/>
              </a:rPr>
              <a:t>  $s1,loop</a:t>
            </a:r>
          </a:p>
          <a:p>
            <a:pPr algn="l">
              <a:spcBef>
                <a:spcPct val="50000"/>
              </a:spcBef>
            </a:pPr>
            <a:r>
              <a:rPr lang="en-US" altLang="zh-CN" sz="1600" b="1" dirty="0">
                <a:solidFill>
                  <a:srgbClr val="1C069E"/>
                </a:solidFill>
                <a:latin typeface="Consolas" panose="020B0609020204030204" pitchFamily="49" charset="0"/>
                <a:cs typeface="Arial" panose="020B0604020202020204" pitchFamily="34" charset="0"/>
              </a:rPr>
              <a:t>       </a:t>
            </a:r>
            <a:r>
              <a:rPr lang="en-US" altLang="zh-CN" sz="1600" b="1" dirty="0" err="1">
                <a:solidFill>
                  <a:srgbClr val="1C069E"/>
                </a:solidFill>
                <a:latin typeface="Consolas" panose="020B0609020204030204" pitchFamily="49" charset="0"/>
                <a:cs typeface="Arial" panose="020B0604020202020204" pitchFamily="34" charset="0"/>
              </a:rPr>
              <a:t>jr</a:t>
            </a:r>
            <a:r>
              <a:rPr lang="en-US" altLang="zh-CN" sz="1600" b="1" dirty="0">
                <a:solidFill>
                  <a:srgbClr val="1C069E"/>
                </a:solidFill>
                <a:latin typeface="Consolas" panose="020B0609020204030204" pitchFamily="49" charset="0"/>
                <a:cs typeface="Arial" panose="020B0604020202020204" pitchFamily="34" charset="0"/>
              </a:rPr>
              <a:t>     $31</a:t>
            </a:r>
            <a:endParaRPr lang="zh-CN" altLang="en-US" sz="1600" b="1" dirty="0">
              <a:solidFill>
                <a:srgbClr val="1C069E"/>
              </a:solidFill>
              <a:latin typeface="Consolas" panose="020B0609020204030204" pitchFamily="49" charset="0"/>
              <a:cs typeface="Arial" panose="020B0604020202020204" pitchFamily="34" charset="0"/>
            </a:endParaRPr>
          </a:p>
          <a:p>
            <a:pPr algn="l">
              <a:spcBef>
                <a:spcPct val="50000"/>
              </a:spcBef>
            </a:pPr>
            <a:r>
              <a:rPr lang="en-US" altLang="zh-CN" sz="1600" b="1" dirty="0">
                <a:solidFill>
                  <a:srgbClr val="FF0000"/>
                </a:solidFill>
                <a:latin typeface="Consolas" panose="020B0609020204030204" pitchFamily="49" charset="0"/>
                <a:cs typeface="Arial" panose="020B0604020202020204" pitchFamily="34" charset="0"/>
              </a:rPr>
              <a:t>.data 0x10000200</a:t>
            </a:r>
          </a:p>
          <a:p>
            <a:pPr algn="l">
              <a:spcBef>
                <a:spcPct val="50000"/>
              </a:spcBef>
            </a:pPr>
            <a:r>
              <a:rPr lang="en-US" altLang="zh-CN" sz="1600" b="1" dirty="0">
                <a:solidFill>
                  <a:srgbClr val="1C069E"/>
                </a:solidFill>
                <a:latin typeface="Consolas" panose="020B0609020204030204" pitchFamily="49" charset="0"/>
                <a:cs typeface="Arial" panose="020B0604020202020204" pitchFamily="34" charset="0"/>
              </a:rPr>
              <a:t>n:    .word 4</a:t>
            </a:r>
          </a:p>
          <a:p>
            <a:pPr algn="l">
              <a:spcBef>
                <a:spcPct val="50000"/>
              </a:spcBef>
            </a:pPr>
            <a:r>
              <a:rPr lang="en-US" altLang="zh-CN" sz="1600" b="1" dirty="0">
                <a:solidFill>
                  <a:srgbClr val="1C069E"/>
                </a:solidFill>
                <a:latin typeface="Consolas" panose="020B0609020204030204" pitchFamily="49" charset="0"/>
                <a:cs typeface="Arial" panose="020B0604020202020204" pitchFamily="34" charset="0"/>
              </a:rPr>
              <a:t>f:    .word 0</a:t>
            </a:r>
          </a:p>
        </p:txBody>
      </p:sp>
      <p:sp>
        <p:nvSpPr>
          <p:cNvPr id="13319" name="Text Box 8"/>
          <p:cNvSpPr txBox="1">
            <a:spLocks noChangeArrowheads="1"/>
          </p:cNvSpPr>
          <p:nvPr/>
        </p:nvSpPr>
        <p:spPr bwMode="auto">
          <a:xfrm>
            <a:off x="4664486" y="1508684"/>
            <a:ext cx="1306768" cy="4770537"/>
          </a:xfrm>
          <a:prstGeom prst="rect">
            <a:avLst/>
          </a:prstGeom>
          <a:noFill/>
          <a:ln>
            <a:noFill/>
          </a:ln>
        </p:spPr>
        <p:txBody>
          <a:bodyPr wrap="none">
            <a:spAutoFit/>
          </a:bodyPr>
          <a:lstStyle>
            <a:lvl1pPr eaLnBrk="0" hangingPunct="0">
              <a:defRPr>
                <a:solidFill>
                  <a:schemeClr val="tx1"/>
                </a:solidFill>
                <a:latin typeface="Verdana" pitchFamily="34" charset="0"/>
                <a:ea typeface="宋体" charset="-122"/>
              </a:defRPr>
            </a:lvl1pPr>
            <a:lvl2pPr marL="742950" indent="-285750" eaLnBrk="0" hangingPunct="0">
              <a:defRPr>
                <a:solidFill>
                  <a:schemeClr val="tx1"/>
                </a:solidFill>
                <a:latin typeface="Verdana" pitchFamily="34" charset="0"/>
                <a:ea typeface="宋体" charset="-122"/>
              </a:defRPr>
            </a:lvl2pPr>
            <a:lvl3pPr marL="1143000" indent="-228600" eaLnBrk="0" hangingPunct="0">
              <a:defRPr>
                <a:solidFill>
                  <a:schemeClr val="tx1"/>
                </a:solidFill>
                <a:latin typeface="Verdana" pitchFamily="34" charset="0"/>
                <a:ea typeface="宋体" charset="-122"/>
              </a:defRPr>
            </a:lvl3pPr>
            <a:lvl4pPr marL="1600200" indent="-228600" eaLnBrk="0" hangingPunct="0">
              <a:defRPr>
                <a:solidFill>
                  <a:schemeClr val="tx1"/>
                </a:solidFill>
                <a:latin typeface="Verdana" pitchFamily="34" charset="0"/>
                <a:ea typeface="宋体" charset="-122"/>
              </a:defRPr>
            </a:lvl4pPr>
            <a:lvl5pPr marL="2057400" indent="-228600" eaLnBrk="0" hangingPunct="0">
              <a:defRPr>
                <a:solidFill>
                  <a:schemeClr val="tx1"/>
                </a:solidFill>
                <a:latin typeface="Verdana" pitchFamily="34" charset="0"/>
                <a:ea typeface="宋体" charset="-122"/>
              </a:defRPr>
            </a:lvl5pPr>
            <a:lvl6pPr marL="2514600" indent="-228600" eaLnBrk="0" fontAlgn="base" hangingPunct="0">
              <a:spcBef>
                <a:spcPct val="0"/>
              </a:spcBef>
              <a:spcAft>
                <a:spcPct val="0"/>
              </a:spcAft>
              <a:defRPr>
                <a:solidFill>
                  <a:schemeClr val="tx1"/>
                </a:solidFill>
                <a:latin typeface="Verdana" pitchFamily="34" charset="0"/>
                <a:ea typeface="宋体" charset="-122"/>
              </a:defRPr>
            </a:lvl6pPr>
            <a:lvl7pPr marL="2971800" indent="-228600" eaLnBrk="0" fontAlgn="base" hangingPunct="0">
              <a:spcBef>
                <a:spcPct val="0"/>
              </a:spcBef>
              <a:spcAft>
                <a:spcPct val="0"/>
              </a:spcAft>
              <a:defRPr>
                <a:solidFill>
                  <a:schemeClr val="tx1"/>
                </a:solidFill>
                <a:latin typeface="Verdana" pitchFamily="34" charset="0"/>
                <a:ea typeface="宋体" charset="-122"/>
              </a:defRPr>
            </a:lvl7pPr>
            <a:lvl8pPr marL="3429000" indent="-228600" eaLnBrk="0" fontAlgn="base" hangingPunct="0">
              <a:spcBef>
                <a:spcPct val="0"/>
              </a:spcBef>
              <a:spcAft>
                <a:spcPct val="0"/>
              </a:spcAft>
              <a:defRPr>
                <a:solidFill>
                  <a:schemeClr val="tx1"/>
                </a:solidFill>
                <a:latin typeface="Verdana" pitchFamily="34" charset="0"/>
                <a:ea typeface="宋体" charset="-122"/>
              </a:defRPr>
            </a:lvl8pPr>
            <a:lvl9pPr marL="3886200" indent="-228600" eaLnBrk="0" fontAlgn="base" hangingPunct="0">
              <a:spcBef>
                <a:spcPct val="0"/>
              </a:spcBef>
              <a:spcAft>
                <a:spcPct val="0"/>
              </a:spcAft>
              <a:defRPr>
                <a:solidFill>
                  <a:schemeClr val="tx1"/>
                </a:solidFill>
                <a:latin typeface="Verdana" pitchFamily="34" charset="0"/>
                <a:ea typeface="宋体" charset="-122"/>
              </a:defRPr>
            </a:lvl9pPr>
          </a:lstStyle>
          <a:p>
            <a:pPr>
              <a:spcBef>
                <a:spcPct val="50000"/>
              </a:spcBef>
            </a:pPr>
            <a:r>
              <a:rPr lang="en-US" altLang="zh-CN" sz="1600" b="1" dirty="0">
                <a:solidFill>
                  <a:srgbClr val="1C069E"/>
                </a:solidFill>
                <a:latin typeface="Consolas" panose="020B0609020204030204" pitchFamily="49" charset="0"/>
                <a:cs typeface="Arial" panose="020B0604020202020204" pitchFamily="34" charset="0"/>
              </a:rPr>
              <a:t>0x00400020</a:t>
            </a:r>
          </a:p>
          <a:p>
            <a:pPr>
              <a:spcBef>
                <a:spcPct val="50000"/>
              </a:spcBef>
            </a:pPr>
            <a:r>
              <a:rPr lang="en-US" altLang="zh-CN" sz="1600" b="1" dirty="0">
                <a:solidFill>
                  <a:srgbClr val="FF0000"/>
                </a:solidFill>
                <a:latin typeface="Consolas" panose="020B0609020204030204" pitchFamily="49" charset="0"/>
                <a:cs typeface="Arial" panose="020B0604020202020204" pitchFamily="34" charset="0"/>
              </a:rPr>
              <a:t>0x00400024</a:t>
            </a:r>
          </a:p>
          <a:p>
            <a:pPr>
              <a:spcBef>
                <a:spcPct val="50000"/>
              </a:spcBef>
            </a:pPr>
            <a:r>
              <a:rPr lang="en-US" altLang="zh-CN" sz="1600" b="1" dirty="0">
                <a:solidFill>
                  <a:srgbClr val="1C069E"/>
                </a:solidFill>
                <a:latin typeface="Consolas" panose="020B0609020204030204" pitchFamily="49" charset="0"/>
                <a:cs typeface="Arial" panose="020B0604020202020204" pitchFamily="34" charset="0"/>
              </a:rPr>
              <a:t>0x00400028</a:t>
            </a:r>
          </a:p>
          <a:p>
            <a:pPr>
              <a:spcBef>
                <a:spcPct val="50000"/>
              </a:spcBef>
            </a:pPr>
            <a:r>
              <a:rPr lang="en-US" altLang="zh-CN" sz="1600" b="1" dirty="0">
                <a:solidFill>
                  <a:srgbClr val="1C069E"/>
                </a:solidFill>
                <a:latin typeface="Consolas" panose="020B0609020204030204" pitchFamily="49" charset="0"/>
                <a:cs typeface="Arial" panose="020B0604020202020204" pitchFamily="34" charset="0"/>
              </a:rPr>
              <a:t>…</a:t>
            </a:r>
          </a:p>
          <a:p>
            <a:pPr>
              <a:spcBef>
                <a:spcPct val="50000"/>
              </a:spcBef>
            </a:pPr>
            <a:r>
              <a:rPr lang="en-US" altLang="zh-CN" sz="1600" b="1" dirty="0">
                <a:solidFill>
                  <a:srgbClr val="FF0000"/>
                </a:solidFill>
                <a:latin typeface="Consolas" panose="020B0609020204030204" pitchFamily="49" charset="0"/>
                <a:cs typeface="Arial" panose="020B0604020202020204" pitchFamily="34" charset="0"/>
              </a:rPr>
              <a:t>0x00400100</a:t>
            </a:r>
            <a:endParaRPr lang="zh-CN" altLang="en-US" sz="1600" b="1" dirty="0">
              <a:solidFill>
                <a:srgbClr val="FF0000"/>
              </a:solidFill>
              <a:latin typeface="Consolas" panose="020B0609020204030204" pitchFamily="49" charset="0"/>
              <a:cs typeface="Arial" panose="020B0604020202020204" pitchFamily="34" charset="0"/>
            </a:endParaRPr>
          </a:p>
          <a:p>
            <a:pPr>
              <a:spcBef>
                <a:spcPct val="50000"/>
              </a:spcBef>
            </a:pPr>
            <a:r>
              <a:rPr lang="en-US" altLang="zh-CN" sz="1600" b="1" dirty="0">
                <a:solidFill>
                  <a:srgbClr val="1C069E"/>
                </a:solidFill>
                <a:latin typeface="Consolas" panose="020B0609020204030204" pitchFamily="49" charset="0"/>
                <a:cs typeface="Arial" panose="020B0604020202020204" pitchFamily="34" charset="0"/>
              </a:rPr>
              <a:t>0x00400104</a:t>
            </a:r>
          </a:p>
          <a:p>
            <a:pPr>
              <a:spcBef>
                <a:spcPct val="50000"/>
              </a:spcBef>
            </a:pPr>
            <a:r>
              <a:rPr lang="en-US" altLang="zh-CN" sz="1600" b="1" dirty="0">
                <a:solidFill>
                  <a:srgbClr val="1C069E"/>
                </a:solidFill>
                <a:latin typeface="Consolas" panose="020B0609020204030204" pitchFamily="49" charset="0"/>
                <a:cs typeface="Arial" panose="020B0604020202020204" pitchFamily="34" charset="0"/>
              </a:rPr>
              <a:t>0x00400108</a:t>
            </a:r>
          </a:p>
          <a:p>
            <a:pPr>
              <a:spcBef>
                <a:spcPct val="50000"/>
              </a:spcBef>
            </a:pPr>
            <a:r>
              <a:rPr lang="en-US" altLang="zh-CN" sz="1600" b="1" dirty="0">
                <a:solidFill>
                  <a:srgbClr val="1C069E"/>
                </a:solidFill>
                <a:latin typeface="Consolas" panose="020B0609020204030204" pitchFamily="49" charset="0"/>
                <a:cs typeface="Arial" panose="020B0604020202020204" pitchFamily="34" charset="0"/>
              </a:rPr>
              <a:t>0x0040010C</a:t>
            </a:r>
          </a:p>
          <a:p>
            <a:pPr>
              <a:spcBef>
                <a:spcPct val="50000"/>
              </a:spcBef>
            </a:pPr>
            <a:r>
              <a:rPr lang="en-US" altLang="zh-CN" sz="1600" b="1" dirty="0">
                <a:solidFill>
                  <a:srgbClr val="1C069E"/>
                </a:solidFill>
                <a:latin typeface="Consolas" panose="020B0609020204030204" pitchFamily="49" charset="0"/>
                <a:cs typeface="Arial" panose="020B0604020202020204" pitchFamily="34" charset="0"/>
              </a:rPr>
              <a:t>0x00400110</a:t>
            </a:r>
          </a:p>
          <a:p>
            <a:pPr>
              <a:spcBef>
                <a:spcPct val="50000"/>
              </a:spcBef>
            </a:pPr>
            <a:r>
              <a:rPr lang="en-US" altLang="zh-CN" sz="1600" b="1" dirty="0">
                <a:solidFill>
                  <a:srgbClr val="1C069E"/>
                </a:solidFill>
                <a:latin typeface="Consolas" panose="020B0609020204030204" pitchFamily="49" charset="0"/>
                <a:cs typeface="Arial" panose="020B0604020202020204" pitchFamily="34" charset="0"/>
              </a:rPr>
              <a:t>0x00400114</a:t>
            </a:r>
          </a:p>
          <a:p>
            <a:pPr>
              <a:spcBef>
                <a:spcPct val="50000"/>
              </a:spcBef>
            </a:pPr>
            <a:r>
              <a:rPr lang="en-US" altLang="zh-CN" sz="1600" b="1" dirty="0">
                <a:solidFill>
                  <a:srgbClr val="1C069E"/>
                </a:solidFill>
                <a:latin typeface="Consolas" panose="020B0609020204030204" pitchFamily="49" charset="0"/>
                <a:cs typeface="Arial" panose="020B0604020202020204" pitchFamily="34" charset="0"/>
              </a:rPr>
              <a:t>…</a:t>
            </a:r>
          </a:p>
          <a:p>
            <a:pPr>
              <a:spcBef>
                <a:spcPct val="50000"/>
              </a:spcBef>
            </a:pPr>
            <a:r>
              <a:rPr lang="en-US" altLang="zh-CN" sz="1600" b="1" dirty="0">
                <a:solidFill>
                  <a:srgbClr val="FF0000"/>
                </a:solidFill>
                <a:latin typeface="Consolas" panose="020B0609020204030204" pitchFamily="49" charset="0"/>
                <a:cs typeface="Arial" panose="020B0604020202020204" pitchFamily="34" charset="0"/>
              </a:rPr>
              <a:t>0x10000200</a:t>
            </a:r>
          </a:p>
          <a:p>
            <a:pPr>
              <a:spcBef>
                <a:spcPct val="50000"/>
              </a:spcBef>
            </a:pPr>
            <a:r>
              <a:rPr lang="en-US" altLang="zh-CN" sz="1600" b="1" dirty="0">
                <a:solidFill>
                  <a:srgbClr val="1C069E"/>
                </a:solidFill>
                <a:latin typeface="Consolas" panose="020B0609020204030204" pitchFamily="49" charset="0"/>
                <a:cs typeface="Arial" panose="020B0604020202020204" pitchFamily="34" charset="0"/>
              </a:rPr>
              <a:t>0x10000204</a:t>
            </a:r>
          </a:p>
        </p:txBody>
      </p:sp>
      <p:sp>
        <p:nvSpPr>
          <p:cNvPr id="9" name="Rectangle 2">
            <a:extLst>
              <a:ext uri="{FF2B5EF4-FFF2-40B4-BE49-F238E27FC236}">
                <a16:creationId xmlns:a16="http://schemas.microsoft.com/office/drawing/2014/main" id="{F8B028A8-29F2-A64A-B684-4E7795263195}"/>
              </a:ext>
            </a:extLst>
          </p:cNvPr>
          <p:cNvSpPr/>
          <p:nvPr/>
        </p:nvSpPr>
        <p:spPr>
          <a:xfrm>
            <a:off x="328612" y="4729024"/>
            <a:ext cx="4243388" cy="1754326"/>
          </a:xfrm>
          <a:prstGeom prst="rect">
            <a:avLst/>
          </a:prstGeom>
        </p:spPr>
        <p:txBody>
          <a:bodyPr wrap="square">
            <a:spAutoFit/>
          </a:bodyPr>
          <a:lstStyle/>
          <a:p>
            <a:pPr algn="l"/>
            <a:r>
              <a:rPr lang="zh-CN" altLang="en-US" b="1" dirty="0">
                <a:solidFill>
                  <a:schemeClr val="tx1"/>
                </a:solidFill>
                <a:latin typeface="+mn-lt"/>
                <a:ea typeface="+mj-ea"/>
              </a:rPr>
              <a:t>该程序功能是求阶乘，结果是</a:t>
            </a:r>
            <a:r>
              <a:rPr lang="en-US" altLang="zh-CN" b="1" dirty="0">
                <a:solidFill>
                  <a:schemeClr val="tx1"/>
                </a:solidFill>
                <a:latin typeface="+mn-lt"/>
                <a:ea typeface="+mj-ea"/>
              </a:rPr>
              <a:t>f=n</a:t>
            </a:r>
            <a:r>
              <a:rPr lang="zh-CN" altLang="en-US" b="1" dirty="0">
                <a:solidFill>
                  <a:schemeClr val="tx1"/>
                </a:solidFill>
                <a:latin typeface="+mn-lt"/>
                <a:ea typeface="+mj-ea"/>
              </a:rPr>
              <a:t>！通过跳转到</a:t>
            </a:r>
            <a:r>
              <a:rPr lang="en-US" altLang="zh-CN" b="1" dirty="0">
                <a:solidFill>
                  <a:schemeClr val="tx1"/>
                </a:solidFill>
                <a:latin typeface="+mn-lt"/>
                <a:ea typeface="+mj-ea"/>
              </a:rPr>
              <a:t>fact</a:t>
            </a:r>
            <a:r>
              <a:rPr lang="zh-CN" altLang="en-US" b="1" dirty="0">
                <a:solidFill>
                  <a:schemeClr val="tx1"/>
                </a:solidFill>
                <a:latin typeface="+mn-lt"/>
                <a:ea typeface="+mj-ea"/>
              </a:rPr>
              <a:t>子程序，通过一个循环将</a:t>
            </a:r>
            <a:r>
              <a:rPr lang="en-US" altLang="zh-CN" b="1" dirty="0">
                <a:solidFill>
                  <a:schemeClr val="tx1"/>
                </a:solidFill>
                <a:latin typeface="+mn-lt"/>
                <a:ea typeface="+mj-ea"/>
              </a:rPr>
              <a:t>n</a:t>
            </a:r>
            <a:r>
              <a:rPr lang="zh-CN" altLang="en-US" b="1" dirty="0">
                <a:solidFill>
                  <a:schemeClr val="tx1"/>
                </a:solidFill>
                <a:latin typeface="+mn-lt"/>
                <a:ea typeface="+mj-ea"/>
              </a:rPr>
              <a:t>到</a:t>
            </a:r>
            <a:r>
              <a:rPr lang="en-US" altLang="zh-CN" b="1" dirty="0">
                <a:solidFill>
                  <a:schemeClr val="tx1"/>
                </a:solidFill>
                <a:latin typeface="+mn-lt"/>
                <a:ea typeface="+mj-ea"/>
              </a:rPr>
              <a:t>1</a:t>
            </a:r>
            <a:r>
              <a:rPr lang="zh-CN" altLang="en-US" b="1" dirty="0">
                <a:solidFill>
                  <a:schemeClr val="tx1"/>
                </a:solidFill>
                <a:latin typeface="+mn-lt"/>
                <a:ea typeface="+mj-ea"/>
              </a:rPr>
              <a:t>都乘在 </a:t>
            </a:r>
            <a:r>
              <a:rPr lang="en-US" altLang="zh-CN" b="1" dirty="0">
                <a:solidFill>
                  <a:schemeClr val="tx1"/>
                </a:solidFill>
                <a:latin typeface="+mn-lt"/>
                <a:ea typeface="+mj-ea"/>
              </a:rPr>
              <a:t>$s0</a:t>
            </a:r>
            <a:r>
              <a:rPr lang="zh-CN" altLang="en-US" b="1" dirty="0">
                <a:solidFill>
                  <a:schemeClr val="tx1"/>
                </a:solidFill>
                <a:latin typeface="+mn-lt"/>
                <a:ea typeface="+mj-ea"/>
              </a:rPr>
              <a:t>上来求</a:t>
            </a:r>
            <a:r>
              <a:rPr lang="en-US" altLang="zh-CN" b="1" dirty="0">
                <a:solidFill>
                  <a:schemeClr val="tx1"/>
                </a:solidFill>
                <a:latin typeface="+mn-lt"/>
                <a:ea typeface="+mj-ea"/>
              </a:rPr>
              <a:t>n!</a:t>
            </a:r>
          </a:p>
          <a:p>
            <a:pPr algn="l"/>
            <a:r>
              <a:rPr lang="zh-CN" altLang="en-US" b="1" dirty="0">
                <a:solidFill>
                  <a:srgbClr val="0432FF"/>
                </a:solidFill>
                <a:latin typeface="+mn-lt"/>
                <a:ea typeface="+mj-ea"/>
              </a:rPr>
              <a:t>注意！</a:t>
            </a:r>
            <a:r>
              <a:rPr lang="en-US" altLang="zh-CN" b="1" dirty="0" err="1">
                <a:solidFill>
                  <a:schemeClr val="tx1"/>
                </a:solidFill>
                <a:latin typeface="+mn-lt"/>
                <a:ea typeface="+mj-ea"/>
              </a:rPr>
              <a:t>n,f</a:t>
            </a:r>
            <a:r>
              <a:rPr lang="zh-CN" altLang="en-US" b="1" dirty="0">
                <a:solidFill>
                  <a:schemeClr val="tx1"/>
                </a:solidFill>
                <a:latin typeface="+mn-lt"/>
                <a:ea typeface="+mj-ea"/>
              </a:rPr>
              <a:t>超出了</a:t>
            </a:r>
            <a:r>
              <a:rPr lang="en-US" altLang="zh-CN" b="1" dirty="0">
                <a:solidFill>
                  <a:schemeClr val="tx1"/>
                </a:solidFill>
                <a:latin typeface="+mn-lt"/>
                <a:ea typeface="+mj-ea"/>
              </a:rPr>
              <a:t>16</a:t>
            </a:r>
            <a:r>
              <a:rPr lang="zh-CN" altLang="en-US" b="1" dirty="0">
                <a:solidFill>
                  <a:schemeClr val="tx1"/>
                </a:solidFill>
                <a:latin typeface="+mn-lt"/>
                <a:ea typeface="+mj-ea"/>
              </a:rPr>
              <a:t>位的偏移，而</a:t>
            </a:r>
            <a:r>
              <a:rPr lang="en-US" altLang="zh-CN" b="1" dirty="0" err="1">
                <a:solidFill>
                  <a:schemeClr val="tx1"/>
                </a:solidFill>
                <a:latin typeface="+mn-lt"/>
                <a:ea typeface="+mj-ea"/>
              </a:rPr>
              <a:t>sw</a:t>
            </a:r>
            <a:r>
              <a:rPr lang="zh-CN" altLang="en-US" b="1" dirty="0">
                <a:solidFill>
                  <a:schemeClr val="tx1"/>
                </a:solidFill>
                <a:latin typeface="+mn-lt"/>
                <a:ea typeface="+mj-ea"/>
              </a:rPr>
              <a:t>和</a:t>
            </a:r>
            <a:r>
              <a:rPr lang="en-US" altLang="zh-CN" b="1" dirty="0" err="1">
                <a:solidFill>
                  <a:schemeClr val="tx1"/>
                </a:solidFill>
                <a:latin typeface="+mn-lt"/>
                <a:ea typeface="+mj-ea"/>
              </a:rPr>
              <a:t>lw</a:t>
            </a:r>
            <a:r>
              <a:rPr lang="zh-CN" altLang="en-US" b="1" dirty="0">
                <a:solidFill>
                  <a:schemeClr val="tx1"/>
                </a:solidFill>
                <a:latin typeface="+mn-lt"/>
                <a:ea typeface="+mj-ea"/>
              </a:rPr>
              <a:t>是</a:t>
            </a:r>
            <a:r>
              <a:rPr lang="en-US" altLang="zh-CN" b="1" dirty="0">
                <a:solidFill>
                  <a:schemeClr val="tx1"/>
                </a:solidFill>
                <a:latin typeface="+mn-lt"/>
                <a:ea typeface="+mj-ea"/>
              </a:rPr>
              <a:t>I</a:t>
            </a:r>
            <a:r>
              <a:rPr lang="zh-CN" altLang="en-US" b="1" dirty="0">
                <a:solidFill>
                  <a:schemeClr val="tx1"/>
                </a:solidFill>
                <a:latin typeface="+mn-lt"/>
                <a:ea typeface="+mj-ea"/>
              </a:rPr>
              <a:t>型指令，所以这样的指令是写不出来的，该程序实际无法运行</a:t>
            </a:r>
            <a:endParaRPr lang="x-none" b="1" dirty="0">
              <a:solidFill>
                <a:schemeClr val="tx1"/>
              </a:solidFill>
              <a:latin typeface="+mn-lt"/>
              <a:ea typeface="+mj-ea"/>
            </a:endParaRPr>
          </a:p>
        </p:txBody>
      </p:sp>
      <p:sp>
        <p:nvSpPr>
          <p:cNvPr id="2" name="Title 4">
            <a:extLst>
              <a:ext uri="{FF2B5EF4-FFF2-40B4-BE49-F238E27FC236}">
                <a16:creationId xmlns:a16="http://schemas.microsoft.com/office/drawing/2014/main" id="{8E82FF5E-C732-646D-34ED-60A2DD4EF38C}"/>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dirty="0"/>
              <a:t>编程指南：语法</a:t>
            </a:r>
            <a:endParaRPr lang="en-CN" kern="0" dirty="0"/>
          </a:p>
        </p:txBody>
      </p:sp>
    </p:spTree>
    <p:extLst>
      <p:ext uri="{BB962C8B-B14F-4D97-AF65-F5344CB8AC3E}">
        <p14:creationId xmlns:p14="http://schemas.microsoft.com/office/powerpoint/2010/main" val="387894898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F63794B6-9B88-4059-909F-7040A5BDEB25}"/>
              </a:ext>
            </a:extLst>
          </p:cNvPr>
          <p:cNvSpPr>
            <a:spLocks noGrp="1"/>
          </p:cNvSpPr>
          <p:nvPr>
            <p:ph type="sldNum" sz="quarter" idx="12"/>
          </p:nvPr>
        </p:nvSpPr>
        <p:spPr/>
        <p:txBody>
          <a:bodyPr/>
          <a:lstStyle/>
          <a:p>
            <a:pPr>
              <a:defRPr/>
            </a:pPr>
            <a:fld id="{ECD5A6D5-D27A-4A28-A3F6-493C4D03C27D}" type="slidenum">
              <a:rPr lang="zh-CN" altLang="en-US"/>
              <a:pPr>
                <a:defRPr/>
              </a:pPr>
              <a:t>119</a:t>
            </a:fld>
            <a:endParaRPr lang="en-US" altLang="zh-CN"/>
          </a:p>
        </p:txBody>
      </p:sp>
      <p:sp>
        <p:nvSpPr>
          <p:cNvPr id="13317" name="Rectangle 3"/>
          <p:cNvSpPr>
            <a:spLocks noGrp="1" noChangeArrowheads="1"/>
          </p:cNvSpPr>
          <p:nvPr>
            <p:ph idx="4294967295"/>
          </p:nvPr>
        </p:nvSpPr>
        <p:spPr>
          <a:xfrm>
            <a:off x="457200" y="1390728"/>
            <a:ext cx="8318810" cy="4854498"/>
          </a:xfrm>
          <a:solidFill>
            <a:schemeClr val="bg1"/>
          </a:solidFill>
        </p:spPr>
        <p:txBody>
          <a:bodyPr>
            <a:normAutofit fontScale="77500" lnSpcReduction="20000"/>
          </a:bodyPr>
          <a:lstStyle/>
          <a:p>
            <a:pPr eaLnBrk="1" hangingPunct="1">
              <a:lnSpc>
                <a:spcPct val="150000"/>
              </a:lnSpc>
            </a:pPr>
            <a:r>
              <a:rPr lang="zh-CN" altLang="en-US" sz="3600" dirty="0"/>
              <a:t>指令与伪指令</a:t>
            </a:r>
            <a:endParaRPr lang="en-US" altLang="zh-CN" sz="3600" dirty="0"/>
          </a:p>
          <a:p>
            <a:pPr lvl="1">
              <a:lnSpc>
                <a:spcPct val="150000"/>
              </a:lnSpc>
            </a:pPr>
            <a:r>
              <a:rPr lang="zh-CN" altLang="en-US" sz="3100" dirty="0"/>
              <a:t>有一些</a:t>
            </a:r>
            <a:r>
              <a:rPr lang="en-US" altLang="zh-CN" sz="3100" dirty="0"/>
              <a:t>MIPS</a:t>
            </a:r>
            <a:r>
              <a:rPr lang="zh-CN" altLang="en-US" sz="3100" dirty="0"/>
              <a:t>指令是和机器码一一对应，可以直接翻译成机器码</a:t>
            </a:r>
            <a:endParaRPr lang="en-US" altLang="zh-CN" sz="3100" dirty="0"/>
          </a:p>
          <a:p>
            <a:pPr lvl="2">
              <a:lnSpc>
                <a:spcPct val="150000"/>
              </a:lnSpc>
            </a:pPr>
            <a:r>
              <a:rPr lang="en-US" altLang="zh-CN" sz="2900" dirty="0">
                <a:solidFill>
                  <a:srgbClr val="0432FF"/>
                </a:solidFill>
              </a:rPr>
              <a:t>add $</a:t>
            </a:r>
            <a:r>
              <a:rPr lang="en-US" altLang="zh-CN" sz="2900" dirty="0" err="1">
                <a:solidFill>
                  <a:srgbClr val="0432FF"/>
                </a:solidFill>
              </a:rPr>
              <a:t>a,$b,$c</a:t>
            </a:r>
            <a:r>
              <a:rPr lang="en-US" altLang="zh-CN" sz="2900" dirty="0">
                <a:solidFill>
                  <a:srgbClr val="0432FF"/>
                </a:solidFill>
              </a:rPr>
              <a:t>      </a:t>
            </a:r>
            <a:r>
              <a:rPr lang="en-US" altLang="zh-CN" sz="2900" dirty="0" err="1">
                <a:solidFill>
                  <a:srgbClr val="0432FF"/>
                </a:solidFill>
              </a:rPr>
              <a:t>lw</a:t>
            </a:r>
            <a:r>
              <a:rPr lang="en-US" altLang="zh-CN" sz="2900" dirty="0">
                <a:solidFill>
                  <a:srgbClr val="0432FF"/>
                </a:solidFill>
              </a:rPr>
              <a:t> $t1  4($s1)</a:t>
            </a:r>
          </a:p>
          <a:p>
            <a:pPr lvl="1">
              <a:lnSpc>
                <a:spcPct val="150000"/>
              </a:lnSpc>
            </a:pPr>
            <a:r>
              <a:rPr lang="zh-CN" altLang="en-US" sz="3100" dirty="0"/>
              <a:t>还有一些没有对应的机器码，不能直接翻译成机器码，需要先翻译成真的指令</a:t>
            </a:r>
            <a:endParaRPr lang="en-US" altLang="zh-CN" sz="3100" dirty="0"/>
          </a:p>
          <a:p>
            <a:pPr lvl="2">
              <a:lnSpc>
                <a:spcPct val="150000"/>
              </a:lnSpc>
            </a:pPr>
            <a:r>
              <a:rPr lang="en-US" altLang="zh-CN" sz="2900" dirty="0">
                <a:solidFill>
                  <a:srgbClr val="0432FF"/>
                </a:solidFill>
              </a:rPr>
              <a:t>li $s1 0x7f   &lt;===&gt; </a:t>
            </a:r>
            <a:r>
              <a:rPr lang="en-US" altLang="zh-CN" sz="2900" dirty="0" err="1">
                <a:solidFill>
                  <a:srgbClr val="0432FF"/>
                </a:solidFill>
              </a:rPr>
              <a:t>addi</a:t>
            </a:r>
            <a:r>
              <a:rPr lang="en-US" altLang="zh-CN" sz="2900" dirty="0">
                <a:solidFill>
                  <a:srgbClr val="0432FF"/>
                </a:solidFill>
              </a:rPr>
              <a:t> $s1 $zero 0x7f</a:t>
            </a:r>
          </a:p>
          <a:p>
            <a:pPr lvl="1">
              <a:lnSpc>
                <a:spcPct val="150000"/>
              </a:lnSpc>
            </a:pPr>
            <a:r>
              <a:rPr lang="zh-CN" altLang="en-US" sz="3100" dirty="0"/>
              <a:t>编写程序时使用伪指令有利于提高效率并增加可读性</a:t>
            </a:r>
            <a:endParaRPr lang="en-US" altLang="zh-CN" sz="3100" dirty="0"/>
          </a:p>
        </p:txBody>
      </p:sp>
      <p:sp>
        <p:nvSpPr>
          <p:cNvPr id="2" name="Title 4">
            <a:extLst>
              <a:ext uri="{FF2B5EF4-FFF2-40B4-BE49-F238E27FC236}">
                <a16:creationId xmlns:a16="http://schemas.microsoft.com/office/drawing/2014/main" id="{7AB0ADC3-D4C8-3421-3C1C-7D62182F30DD}"/>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dirty="0"/>
              <a:t>编程指南：语法</a:t>
            </a:r>
            <a:endParaRPr lang="en-CN" kern="0" dirty="0"/>
          </a:p>
        </p:txBody>
      </p:sp>
    </p:spTree>
    <p:extLst>
      <p:ext uri="{BB962C8B-B14F-4D97-AF65-F5344CB8AC3E}">
        <p14:creationId xmlns:p14="http://schemas.microsoft.com/office/powerpoint/2010/main" val="3846161567"/>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7B82C617-C732-4372-A956-B661259CDFE5}"/>
              </a:ext>
            </a:extLst>
          </p:cNvPr>
          <p:cNvSpPr>
            <a:spLocks noGrp="1"/>
          </p:cNvSpPr>
          <p:nvPr>
            <p:ph type="sldNum" sz="quarter" idx="12"/>
          </p:nvPr>
        </p:nvSpPr>
        <p:spPr/>
        <p:txBody>
          <a:bodyPr/>
          <a:lstStyle/>
          <a:p>
            <a:pPr>
              <a:defRPr/>
            </a:pPr>
            <a:fld id="{ECD5A6D5-D27A-4A28-A3F6-493C4D03C27D}" type="slidenum">
              <a:rPr lang="zh-CN" altLang="en-US"/>
              <a:pPr>
                <a:defRPr/>
              </a:pPr>
              <a:t>120</a:t>
            </a:fld>
            <a:endParaRPr lang="en-US" altLang="zh-CN"/>
          </a:p>
        </p:txBody>
      </p:sp>
      <p:sp>
        <p:nvSpPr>
          <p:cNvPr id="14341" name="Rectangle 9"/>
          <p:cNvSpPr>
            <a:spLocks noGrp="1" noChangeArrowheads="1"/>
          </p:cNvSpPr>
          <p:nvPr>
            <p:ph idx="4294967295"/>
          </p:nvPr>
        </p:nvSpPr>
        <p:spPr>
          <a:xfrm>
            <a:off x="457200" y="1330443"/>
            <a:ext cx="7886700" cy="4351338"/>
          </a:xfrm>
        </p:spPr>
        <p:txBody>
          <a:bodyPr>
            <a:normAutofit/>
          </a:bodyPr>
          <a:lstStyle/>
          <a:p>
            <a:pPr eaLnBrk="1" hangingPunct="1">
              <a:lnSpc>
                <a:spcPct val="90000"/>
              </a:lnSpc>
              <a:buFont typeface="Wingdings" pitchFamily="2" charset="2"/>
              <a:buNone/>
            </a:pPr>
            <a:r>
              <a:rPr lang="zh-CN" altLang="en-US" sz="1600" i="1" dirty="0">
                <a:latin typeface="Consolas" panose="020B0609020204030204" pitchFamily="49" charset="0"/>
              </a:rPr>
              <a:t>	</a:t>
            </a:r>
            <a:r>
              <a:rPr lang="en-US" altLang="zh-CN" sz="1600" i="1" dirty="0">
                <a:latin typeface="Consolas" panose="020B0609020204030204" pitchFamily="49" charset="0"/>
              </a:rPr>
              <a:t>.text</a:t>
            </a:r>
          </a:p>
          <a:p>
            <a:pPr eaLnBrk="1" hangingPunct="1">
              <a:lnSpc>
                <a:spcPct val="90000"/>
              </a:lnSpc>
              <a:buFont typeface="Wingdings" pitchFamily="2" charset="2"/>
              <a:buNone/>
            </a:pPr>
            <a:r>
              <a:rPr lang="en-US" altLang="zh-CN" sz="1600" i="1" dirty="0">
                <a:latin typeface="Consolas" panose="020B0609020204030204" pitchFamily="49" charset="0"/>
              </a:rPr>
              <a:t>main:</a:t>
            </a:r>
          </a:p>
          <a:p>
            <a:pPr eaLnBrk="1" hangingPunct="1">
              <a:lnSpc>
                <a:spcPct val="90000"/>
              </a:lnSpc>
              <a:buFont typeface="Wingdings" pitchFamily="2" charset="2"/>
              <a:buNone/>
            </a:pPr>
            <a:r>
              <a:rPr lang="en-US" altLang="zh-CN" sz="1600" b="0" i="1" dirty="0">
                <a:latin typeface="Consolas" panose="020B0609020204030204" pitchFamily="49" charset="0"/>
              </a:rPr>
              <a:t>   </a:t>
            </a:r>
            <a:r>
              <a:rPr lang="en-US" altLang="zh-CN" sz="1600" b="0" i="1" dirty="0" err="1">
                <a:latin typeface="Consolas" panose="020B0609020204030204" pitchFamily="49" charset="0"/>
              </a:rPr>
              <a:t>ori</a:t>
            </a:r>
            <a:r>
              <a:rPr lang="en-US" altLang="zh-CN" sz="1600" b="0" i="1" dirty="0">
                <a:latin typeface="Consolas" panose="020B0609020204030204" pitchFamily="49" charset="0"/>
              </a:rPr>
              <a:t> $s6,$0,0x1000</a:t>
            </a:r>
          </a:p>
          <a:p>
            <a:pPr eaLnBrk="1" hangingPunct="1">
              <a:lnSpc>
                <a:spcPct val="90000"/>
              </a:lnSpc>
              <a:buFont typeface="Wingdings" pitchFamily="2" charset="2"/>
              <a:buNone/>
            </a:pPr>
            <a:r>
              <a:rPr lang="en-US" altLang="zh-CN" sz="1600" b="0" i="1" dirty="0">
                <a:latin typeface="Consolas" panose="020B0609020204030204" pitchFamily="49" charset="0"/>
              </a:rPr>
              <a:t>   </a:t>
            </a:r>
            <a:r>
              <a:rPr lang="en-US" altLang="zh-CN" sz="1600" b="0" i="1" dirty="0" err="1">
                <a:latin typeface="Consolas" panose="020B0609020204030204" pitchFamily="49" charset="0"/>
              </a:rPr>
              <a:t>sll</a:t>
            </a:r>
            <a:r>
              <a:rPr lang="en-US" altLang="zh-CN" sz="1600" b="0" i="1" dirty="0">
                <a:latin typeface="Consolas" panose="020B0609020204030204" pitchFamily="49" charset="0"/>
              </a:rPr>
              <a:t> $s6,$s6,16</a:t>
            </a:r>
          </a:p>
          <a:p>
            <a:pPr eaLnBrk="1" hangingPunct="1">
              <a:lnSpc>
                <a:spcPct val="90000"/>
              </a:lnSpc>
              <a:buFont typeface="Wingdings" pitchFamily="2" charset="2"/>
              <a:buNone/>
            </a:pPr>
            <a:r>
              <a:rPr lang="en-US" altLang="zh-CN" sz="1600" b="0" i="1" dirty="0">
                <a:latin typeface="Consolas" panose="020B0609020204030204" pitchFamily="49" charset="0"/>
              </a:rPr>
              <a:t>   </a:t>
            </a:r>
            <a:r>
              <a:rPr lang="en-US" altLang="zh-CN" sz="1600" b="0" i="1" dirty="0" err="1">
                <a:latin typeface="Consolas" panose="020B0609020204030204" pitchFamily="49" charset="0"/>
              </a:rPr>
              <a:t>addiu</a:t>
            </a:r>
            <a:r>
              <a:rPr lang="en-US" altLang="zh-CN" sz="1600" b="0" i="1" dirty="0">
                <a:latin typeface="Consolas" panose="020B0609020204030204" pitchFamily="49" charset="0"/>
              </a:rPr>
              <a:t> $s4,$s6,0x0200   </a:t>
            </a:r>
            <a:r>
              <a:rPr lang="en-US" altLang="zh-CN" sz="1600" b="0" i="1" dirty="0">
                <a:solidFill>
                  <a:srgbClr val="000099"/>
                </a:solidFill>
                <a:latin typeface="Consolas" panose="020B0609020204030204" pitchFamily="49" charset="0"/>
              </a:rPr>
              <a:t>#$s4=n </a:t>
            </a:r>
            <a:endParaRPr lang="en-US" altLang="zh-CN" sz="1600" b="0" i="1" dirty="0">
              <a:latin typeface="Consolas" panose="020B0609020204030204" pitchFamily="49" charset="0"/>
            </a:endParaRPr>
          </a:p>
          <a:p>
            <a:pPr>
              <a:lnSpc>
                <a:spcPct val="90000"/>
              </a:lnSpc>
              <a:buNone/>
            </a:pPr>
            <a:r>
              <a:rPr lang="en-US" altLang="zh-CN" sz="1600" b="0" i="1" dirty="0">
                <a:latin typeface="Consolas" panose="020B0609020204030204" pitchFamily="49" charset="0"/>
              </a:rPr>
              <a:t>   </a:t>
            </a:r>
            <a:r>
              <a:rPr lang="en-US" altLang="zh-CN" sz="1600" b="0" i="1" dirty="0" err="1">
                <a:latin typeface="Consolas" panose="020B0609020204030204" pitchFamily="49" charset="0"/>
              </a:rPr>
              <a:t>addiu</a:t>
            </a:r>
            <a:r>
              <a:rPr lang="en-US" altLang="zh-CN" sz="1600" b="0" i="1" dirty="0">
                <a:latin typeface="Consolas" panose="020B0609020204030204" pitchFamily="49" charset="0"/>
              </a:rPr>
              <a:t> $s5,$s6,0x0204   </a:t>
            </a:r>
            <a:r>
              <a:rPr lang="en-US" altLang="zh-CN" sz="1600" b="0" i="1" dirty="0">
                <a:solidFill>
                  <a:srgbClr val="000099"/>
                </a:solidFill>
                <a:latin typeface="Consolas" panose="020B0609020204030204" pitchFamily="49" charset="0"/>
              </a:rPr>
              <a:t>#$s5=f</a:t>
            </a:r>
          </a:p>
          <a:p>
            <a:pPr eaLnBrk="1" hangingPunct="1">
              <a:lnSpc>
                <a:spcPct val="90000"/>
              </a:lnSpc>
              <a:buFont typeface="Wingdings" pitchFamily="2" charset="2"/>
              <a:buNone/>
            </a:pPr>
            <a:r>
              <a:rPr lang="en-US" altLang="zh-CN" sz="1600" b="0" i="1" dirty="0">
                <a:latin typeface="Consolas" panose="020B0609020204030204" pitchFamily="49" charset="0"/>
              </a:rPr>
              <a:t>   </a:t>
            </a:r>
            <a:r>
              <a:rPr lang="en-US" altLang="zh-CN" sz="1600" b="0" i="1" dirty="0" err="1">
                <a:latin typeface="Consolas" panose="020B0609020204030204" pitchFamily="49" charset="0"/>
              </a:rPr>
              <a:t>beq</a:t>
            </a:r>
            <a:r>
              <a:rPr lang="en-US" altLang="zh-CN" sz="1600" b="0" i="1" dirty="0">
                <a:latin typeface="Consolas" panose="020B0609020204030204" pitchFamily="49" charset="0"/>
              </a:rPr>
              <a:t> $0,$0,</a:t>
            </a:r>
            <a:r>
              <a:rPr lang="en-US" altLang="zh-CN" sz="1600" b="0" i="1" dirty="0">
                <a:solidFill>
                  <a:srgbClr val="0000FF"/>
                </a:solidFill>
                <a:latin typeface="Consolas" panose="020B0609020204030204" pitchFamily="49" charset="0"/>
              </a:rPr>
              <a:t> </a:t>
            </a:r>
            <a:r>
              <a:rPr lang="en-US" altLang="zh-CN" sz="1600" i="1" dirty="0">
                <a:solidFill>
                  <a:srgbClr val="FF0000"/>
                </a:solidFill>
                <a:latin typeface="Consolas" panose="020B0609020204030204" pitchFamily="49" charset="0"/>
              </a:rPr>
              <a:t>fact</a:t>
            </a:r>
            <a:r>
              <a:rPr lang="en-US" altLang="zh-CN" sz="1600" b="0" i="1" dirty="0">
                <a:latin typeface="Consolas" panose="020B0609020204030204" pitchFamily="49" charset="0"/>
              </a:rPr>
              <a:t>        </a:t>
            </a:r>
          </a:p>
          <a:p>
            <a:pPr eaLnBrk="1" hangingPunct="1">
              <a:lnSpc>
                <a:spcPct val="80000"/>
              </a:lnSpc>
              <a:buFont typeface="Wingdings" pitchFamily="2" charset="2"/>
              <a:buNone/>
            </a:pPr>
            <a:r>
              <a:rPr lang="en-US" altLang="zh-CN" sz="1600" b="0" i="1" dirty="0">
                <a:latin typeface="Consolas" panose="020B0609020204030204" pitchFamily="49" charset="0"/>
              </a:rPr>
              <a:t>result: </a:t>
            </a:r>
          </a:p>
          <a:p>
            <a:pPr eaLnBrk="1" hangingPunct="1">
              <a:lnSpc>
                <a:spcPct val="80000"/>
              </a:lnSpc>
              <a:buFont typeface="Wingdings" pitchFamily="2" charset="2"/>
              <a:buNone/>
            </a:pPr>
            <a:r>
              <a:rPr lang="en-US" altLang="zh-CN" sz="1600" b="0" i="1" dirty="0">
                <a:latin typeface="Consolas" panose="020B0609020204030204" pitchFamily="49" charset="0"/>
              </a:rPr>
              <a:t>   </a:t>
            </a:r>
            <a:r>
              <a:rPr lang="en-US" altLang="zh-CN" sz="1600" b="0" i="1" dirty="0" err="1">
                <a:latin typeface="Consolas" panose="020B0609020204030204" pitchFamily="49" charset="0"/>
              </a:rPr>
              <a:t>sw</a:t>
            </a:r>
            <a:r>
              <a:rPr lang="en-US" altLang="zh-CN" sz="1600" b="0" i="1" dirty="0">
                <a:latin typeface="Consolas" panose="020B0609020204030204" pitchFamily="49" charset="0"/>
              </a:rPr>
              <a:t> $s0,0($s5) </a:t>
            </a:r>
          </a:p>
          <a:p>
            <a:pPr eaLnBrk="1" hangingPunct="1">
              <a:lnSpc>
                <a:spcPct val="80000"/>
              </a:lnSpc>
              <a:buFont typeface="Wingdings" pitchFamily="2" charset="2"/>
              <a:buNone/>
            </a:pPr>
            <a:r>
              <a:rPr lang="en-US" altLang="zh-CN" sz="1600" b="0" i="1" dirty="0">
                <a:latin typeface="Consolas" panose="020B0609020204030204" pitchFamily="49" charset="0"/>
              </a:rPr>
              <a:t>   </a:t>
            </a:r>
            <a:r>
              <a:rPr lang="en-US" altLang="zh-CN" sz="1600" b="0" i="1" dirty="0" err="1">
                <a:latin typeface="Consolas" panose="020B0609020204030204" pitchFamily="49" charset="0"/>
              </a:rPr>
              <a:t>jr</a:t>
            </a:r>
            <a:r>
              <a:rPr lang="en-US" altLang="zh-CN" sz="1600" b="0" i="1" dirty="0">
                <a:latin typeface="Consolas" panose="020B0609020204030204" pitchFamily="49" charset="0"/>
              </a:rPr>
              <a:t> $</a:t>
            </a:r>
            <a:r>
              <a:rPr lang="en-US" altLang="zh-CN" sz="1600" b="0" i="1" dirty="0" err="1">
                <a:latin typeface="Consolas" panose="020B0609020204030204" pitchFamily="49" charset="0"/>
              </a:rPr>
              <a:t>ra</a:t>
            </a:r>
            <a:r>
              <a:rPr lang="en-US" altLang="zh-CN" sz="1600" b="0" i="1" dirty="0">
                <a:latin typeface="Consolas" panose="020B0609020204030204" pitchFamily="49" charset="0"/>
              </a:rPr>
              <a:t>                 </a:t>
            </a:r>
            <a:r>
              <a:rPr lang="en-US" altLang="zh-CN" sz="1600" b="0" i="1" dirty="0">
                <a:solidFill>
                  <a:srgbClr val="000099"/>
                </a:solidFill>
                <a:latin typeface="Consolas" panose="020B0609020204030204" pitchFamily="49" charset="0"/>
              </a:rPr>
              <a:t>#</a:t>
            </a:r>
            <a:r>
              <a:rPr lang="zh-CN" altLang="en-US" sz="1600" b="0" i="1" dirty="0">
                <a:solidFill>
                  <a:srgbClr val="000099"/>
                </a:solidFill>
                <a:latin typeface="Consolas" panose="020B0609020204030204" pitchFamily="49" charset="0"/>
              </a:rPr>
              <a:t>跳出</a:t>
            </a:r>
            <a:r>
              <a:rPr lang="en-US" altLang="zh-CN" sz="1600" b="0" i="1" dirty="0">
                <a:solidFill>
                  <a:srgbClr val="000099"/>
                </a:solidFill>
                <a:latin typeface="Consolas" panose="020B0609020204030204" pitchFamily="49" charset="0"/>
              </a:rPr>
              <a:t>main</a:t>
            </a:r>
            <a:endParaRPr lang="en-US" altLang="zh-CN" sz="1600" b="0" i="1" dirty="0">
              <a:latin typeface="Consolas" panose="020B0609020204030204" pitchFamily="49" charset="0"/>
            </a:endParaRPr>
          </a:p>
        </p:txBody>
      </p:sp>
      <p:sp>
        <p:nvSpPr>
          <p:cNvPr id="14342" name="Rectangle 10"/>
          <p:cNvSpPr>
            <a:spLocks noChangeArrowheads="1"/>
          </p:cNvSpPr>
          <p:nvPr/>
        </p:nvSpPr>
        <p:spPr bwMode="auto">
          <a:xfrm>
            <a:off x="4805527" y="1330443"/>
            <a:ext cx="4284662" cy="454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l">
              <a:spcBef>
                <a:spcPct val="20000"/>
              </a:spcBef>
              <a:buClr>
                <a:schemeClr val="tx2"/>
              </a:buClr>
              <a:buSzPct val="70000"/>
              <a:buFont typeface="Wingdings" pitchFamily="2" charset="2"/>
              <a:buNone/>
            </a:pPr>
            <a:r>
              <a:rPr lang="en-US" altLang="zh-CN" sz="1600" b="0" dirty="0">
                <a:solidFill>
                  <a:srgbClr val="FF0000"/>
                </a:solidFill>
                <a:latin typeface="Consolas" panose="020B0609020204030204" pitchFamily="49" charset="0"/>
              </a:rPr>
              <a:t>       .text 0x00400100</a:t>
            </a:r>
          </a:p>
          <a:p>
            <a:pPr marL="342900" indent="-342900" algn="l">
              <a:spcBef>
                <a:spcPct val="20000"/>
              </a:spcBef>
              <a:buClr>
                <a:schemeClr val="tx2"/>
              </a:buClr>
              <a:buSzPct val="70000"/>
              <a:buFont typeface="Wingdings" pitchFamily="2" charset="2"/>
              <a:buNone/>
            </a:pPr>
            <a:r>
              <a:rPr lang="en-US" altLang="zh-CN" sz="1600" b="0" dirty="0">
                <a:solidFill>
                  <a:srgbClr val="FF0000"/>
                </a:solidFill>
                <a:latin typeface="Consolas" panose="020B0609020204030204" pitchFamily="49" charset="0"/>
              </a:rPr>
              <a:t>fact:	</a:t>
            </a:r>
          </a:p>
          <a:p>
            <a:pPr marL="342900" indent="-342900" algn="l">
              <a:spcBef>
                <a:spcPct val="20000"/>
              </a:spcBef>
              <a:buClr>
                <a:schemeClr val="tx2"/>
              </a:buClr>
              <a:buSzPct val="70000"/>
              <a:buFont typeface="Wingdings" pitchFamily="2" charset="2"/>
              <a:buNone/>
            </a:pPr>
            <a:r>
              <a:rPr lang="en-US" altLang="zh-CN" sz="1600" b="0" dirty="0">
                <a:solidFill>
                  <a:schemeClr val="tx1"/>
                </a:solidFill>
                <a:latin typeface="Consolas" panose="020B0609020204030204" pitchFamily="49" charset="0"/>
              </a:rPr>
              <a:t>     </a:t>
            </a:r>
            <a:r>
              <a:rPr lang="en-US" altLang="zh-CN" sz="1600" b="0" dirty="0" err="1">
                <a:solidFill>
                  <a:schemeClr val="tx1"/>
                </a:solidFill>
                <a:latin typeface="Consolas" panose="020B0609020204030204" pitchFamily="49" charset="0"/>
              </a:rPr>
              <a:t>addiu</a:t>
            </a:r>
            <a:r>
              <a:rPr lang="en-US" altLang="zh-CN" sz="1600" b="0" dirty="0">
                <a:solidFill>
                  <a:schemeClr val="tx1"/>
                </a:solidFill>
                <a:latin typeface="Consolas" panose="020B0609020204030204" pitchFamily="49" charset="0"/>
              </a:rPr>
              <a:t> $s0,$0,1</a:t>
            </a:r>
          </a:p>
          <a:p>
            <a:pPr marL="342900" indent="-342900" algn="l">
              <a:spcBef>
                <a:spcPct val="20000"/>
              </a:spcBef>
              <a:buClr>
                <a:schemeClr val="tx2"/>
              </a:buClr>
              <a:buSzPct val="70000"/>
              <a:buFont typeface="Wingdings" pitchFamily="2" charset="2"/>
              <a:buNone/>
            </a:pPr>
            <a:r>
              <a:rPr lang="en-US" altLang="zh-CN" sz="1600" b="0" dirty="0">
                <a:solidFill>
                  <a:schemeClr val="tx1"/>
                </a:solidFill>
                <a:latin typeface="Consolas" panose="020B0609020204030204" pitchFamily="49" charset="0"/>
              </a:rPr>
              <a:t>     lw  $s1,0($s4) </a:t>
            </a:r>
            <a:r>
              <a:rPr lang="en-US" altLang="zh-CN" sz="1600" b="0" i="1" dirty="0">
                <a:solidFill>
                  <a:srgbClr val="000099"/>
                </a:solidFill>
                <a:latin typeface="Consolas" panose="020B0609020204030204" pitchFamily="49" charset="0"/>
                <a:ea typeface="Microsoft YaHei" charset="0"/>
              </a:rPr>
              <a:t>#</a:t>
            </a:r>
            <a:r>
              <a:rPr lang="zh-CN" altLang="en-US" sz="1600" b="0" i="1" dirty="0">
                <a:solidFill>
                  <a:srgbClr val="000099"/>
                </a:solidFill>
                <a:latin typeface="+mn-ea"/>
                <a:ea typeface="+mn-ea"/>
              </a:rPr>
              <a:t>跳出循环时</a:t>
            </a:r>
            <a:r>
              <a:rPr lang="zh-CN" altLang="en-US" sz="1600" b="0" i="1" dirty="0">
                <a:solidFill>
                  <a:srgbClr val="000099"/>
                </a:solidFill>
                <a:latin typeface="Consolas" panose="020B0609020204030204" pitchFamily="49" charset="0"/>
                <a:ea typeface="Microsoft YaHei" charset="0"/>
              </a:rPr>
              <a:t> </a:t>
            </a:r>
            <a:r>
              <a:rPr lang="en-US" altLang="zh-CN" sz="1600" b="0" i="1" dirty="0">
                <a:solidFill>
                  <a:srgbClr val="000099"/>
                </a:solidFill>
                <a:latin typeface="Consolas" panose="020B0609020204030204" pitchFamily="49" charset="0"/>
                <a:ea typeface="Microsoft YaHei" charset="0"/>
              </a:rPr>
              <a:t>$s0=n!</a:t>
            </a:r>
          </a:p>
          <a:p>
            <a:pPr marL="342900" indent="-342900" algn="l">
              <a:spcBef>
                <a:spcPct val="20000"/>
              </a:spcBef>
              <a:buClr>
                <a:schemeClr val="tx2"/>
              </a:buClr>
              <a:buSzPct val="70000"/>
              <a:buFont typeface="Wingdings" pitchFamily="2" charset="2"/>
              <a:buNone/>
            </a:pPr>
            <a:r>
              <a:rPr lang="en-US" altLang="zh-CN" sz="1600" b="0" dirty="0">
                <a:solidFill>
                  <a:schemeClr val="tx1"/>
                </a:solidFill>
                <a:latin typeface="Consolas" panose="020B0609020204030204" pitchFamily="49" charset="0"/>
              </a:rPr>
              <a:t>loop:	</a:t>
            </a:r>
            <a:r>
              <a:rPr lang="en-US" altLang="zh-CN" sz="1600" b="0" dirty="0" err="1">
                <a:solidFill>
                  <a:schemeClr val="tx1"/>
                </a:solidFill>
                <a:latin typeface="Consolas" panose="020B0609020204030204" pitchFamily="49" charset="0"/>
              </a:rPr>
              <a:t>mul</a:t>
            </a:r>
            <a:r>
              <a:rPr lang="en-US" altLang="zh-CN" sz="1600" b="0" dirty="0">
                <a:solidFill>
                  <a:schemeClr val="tx1"/>
                </a:solidFill>
                <a:latin typeface="Consolas" panose="020B0609020204030204" pitchFamily="49" charset="0"/>
              </a:rPr>
              <a:t> $s0,$s1,$s0</a:t>
            </a:r>
          </a:p>
          <a:p>
            <a:pPr marL="342900" indent="-342900" algn="l">
              <a:spcBef>
                <a:spcPct val="20000"/>
              </a:spcBef>
              <a:buClr>
                <a:schemeClr val="tx2"/>
              </a:buClr>
              <a:buSzPct val="70000"/>
              <a:buFont typeface="Wingdings" pitchFamily="2" charset="2"/>
              <a:buNone/>
            </a:pPr>
            <a:r>
              <a:rPr lang="en-US" altLang="zh-CN" sz="1600" b="0" dirty="0">
                <a:solidFill>
                  <a:schemeClr val="tx1"/>
                </a:solidFill>
                <a:latin typeface="Consolas" panose="020B0609020204030204" pitchFamily="49" charset="0"/>
              </a:rPr>
              <a:t>		</a:t>
            </a:r>
            <a:r>
              <a:rPr lang="en-US" altLang="zh-CN" sz="1600" b="0" dirty="0" err="1">
                <a:solidFill>
                  <a:schemeClr val="tx1"/>
                </a:solidFill>
                <a:latin typeface="Consolas" panose="020B0609020204030204" pitchFamily="49" charset="0"/>
              </a:rPr>
              <a:t>addi</a:t>
            </a:r>
            <a:r>
              <a:rPr lang="en-US" altLang="zh-CN" sz="1600" b="0" dirty="0">
                <a:solidFill>
                  <a:schemeClr val="tx1"/>
                </a:solidFill>
                <a:latin typeface="Consolas" panose="020B0609020204030204" pitchFamily="49" charset="0"/>
              </a:rPr>
              <a:t> $s1,$s1,-1</a:t>
            </a:r>
          </a:p>
          <a:p>
            <a:pPr marL="342900" indent="-342900" algn="l">
              <a:spcBef>
                <a:spcPct val="20000"/>
              </a:spcBef>
              <a:buClr>
                <a:schemeClr val="tx2"/>
              </a:buClr>
              <a:buSzPct val="70000"/>
              <a:buFont typeface="Wingdings" pitchFamily="2" charset="2"/>
              <a:buNone/>
            </a:pPr>
            <a:r>
              <a:rPr lang="en-US" altLang="zh-CN" sz="1600" b="0" dirty="0">
                <a:solidFill>
                  <a:schemeClr val="tx1"/>
                </a:solidFill>
                <a:latin typeface="Consolas" panose="020B0609020204030204" pitchFamily="49" charset="0"/>
              </a:rPr>
              <a:t>		</a:t>
            </a:r>
            <a:r>
              <a:rPr lang="en-US" altLang="zh-CN" sz="1600" b="0" dirty="0" err="1">
                <a:solidFill>
                  <a:schemeClr val="tx1"/>
                </a:solidFill>
                <a:latin typeface="Consolas" panose="020B0609020204030204" pitchFamily="49" charset="0"/>
              </a:rPr>
              <a:t>bnez</a:t>
            </a:r>
            <a:r>
              <a:rPr lang="en-US" altLang="zh-CN" sz="1600" b="0" dirty="0">
                <a:solidFill>
                  <a:schemeClr val="tx1"/>
                </a:solidFill>
                <a:latin typeface="Consolas" panose="020B0609020204030204" pitchFamily="49" charset="0"/>
              </a:rPr>
              <a:t> $s1,loop    </a:t>
            </a:r>
            <a:r>
              <a:rPr lang="en-US" altLang="zh-CN" sz="1600" b="0" i="1" dirty="0">
                <a:solidFill>
                  <a:srgbClr val="000099"/>
                </a:solidFill>
                <a:latin typeface="Consolas" panose="020B0609020204030204" pitchFamily="49" charset="0"/>
                <a:ea typeface="Microsoft YaHei" charset="0"/>
              </a:rPr>
              <a:t>#f=n!</a:t>
            </a:r>
          </a:p>
          <a:p>
            <a:pPr marL="342900" indent="-342900" algn="l">
              <a:spcBef>
                <a:spcPct val="20000"/>
              </a:spcBef>
              <a:buClr>
                <a:schemeClr val="tx2"/>
              </a:buClr>
              <a:buSzPct val="70000"/>
              <a:buFont typeface="Wingdings" pitchFamily="2" charset="2"/>
              <a:buNone/>
            </a:pPr>
            <a:r>
              <a:rPr lang="en-US" altLang="zh-CN" sz="1600" b="0" dirty="0">
                <a:solidFill>
                  <a:schemeClr val="tx1"/>
                </a:solidFill>
                <a:latin typeface="Consolas" panose="020B0609020204030204" pitchFamily="49" charset="0"/>
              </a:rPr>
              <a:t>		j   result</a:t>
            </a:r>
          </a:p>
          <a:p>
            <a:pPr marL="342900" indent="-342900" algn="l">
              <a:spcBef>
                <a:spcPct val="20000"/>
              </a:spcBef>
              <a:buClr>
                <a:schemeClr val="tx2"/>
              </a:buClr>
              <a:buSzPct val="70000"/>
              <a:buFont typeface="Wingdings" pitchFamily="2" charset="2"/>
              <a:buNone/>
            </a:pPr>
            <a:r>
              <a:rPr lang="en-US" altLang="zh-CN" sz="1600" b="0" dirty="0">
                <a:solidFill>
                  <a:schemeClr val="tx1"/>
                </a:solidFill>
                <a:latin typeface="Consolas" panose="020B0609020204030204" pitchFamily="49" charset="0"/>
              </a:rPr>
              <a:t>		       		</a:t>
            </a:r>
          </a:p>
          <a:p>
            <a:pPr marL="342900" indent="-342900" algn="l">
              <a:spcBef>
                <a:spcPct val="20000"/>
              </a:spcBef>
              <a:buClr>
                <a:schemeClr val="tx2"/>
              </a:buClr>
              <a:buSzPct val="70000"/>
              <a:buFont typeface="Wingdings" pitchFamily="2" charset="2"/>
              <a:buNone/>
            </a:pPr>
            <a:r>
              <a:rPr lang="en-US" altLang="zh-CN" sz="1600" b="0" dirty="0">
                <a:solidFill>
                  <a:srgbClr val="FF0000"/>
                </a:solidFill>
                <a:latin typeface="Consolas" panose="020B0609020204030204" pitchFamily="49" charset="0"/>
              </a:rPr>
              <a:t>        .data 0x10000200</a:t>
            </a:r>
          </a:p>
          <a:p>
            <a:pPr marL="342900" indent="-342900" algn="l">
              <a:spcBef>
                <a:spcPct val="20000"/>
              </a:spcBef>
              <a:buClr>
                <a:schemeClr val="tx2"/>
              </a:buClr>
              <a:buSzPct val="70000"/>
              <a:buFont typeface="Wingdings" pitchFamily="2" charset="2"/>
              <a:buNone/>
            </a:pPr>
            <a:r>
              <a:rPr lang="en-US" altLang="zh-CN" sz="1600" b="0" dirty="0">
                <a:solidFill>
                  <a:schemeClr val="tx1"/>
                </a:solidFill>
                <a:latin typeface="Consolas" panose="020B0609020204030204" pitchFamily="49" charset="0"/>
              </a:rPr>
              <a:t>n:     .word 4</a:t>
            </a:r>
          </a:p>
          <a:p>
            <a:pPr marL="342900" indent="-342900" algn="l">
              <a:spcBef>
                <a:spcPct val="20000"/>
              </a:spcBef>
              <a:buClr>
                <a:schemeClr val="tx2"/>
              </a:buClr>
              <a:buSzPct val="70000"/>
              <a:buFont typeface="Wingdings" pitchFamily="2" charset="2"/>
              <a:buNone/>
            </a:pPr>
            <a:r>
              <a:rPr lang="en-US" altLang="zh-CN" sz="1600" b="0" dirty="0">
                <a:solidFill>
                  <a:schemeClr val="tx1"/>
                </a:solidFill>
                <a:latin typeface="Consolas" panose="020B0609020204030204" pitchFamily="49" charset="0"/>
              </a:rPr>
              <a:t>f:     .word 0	</a:t>
            </a:r>
            <a:endParaRPr lang="zh-CN" altLang="en-US" sz="1600" b="0" dirty="0">
              <a:solidFill>
                <a:schemeClr val="tx1"/>
              </a:solidFill>
              <a:latin typeface="Consolas" panose="020B0609020204030204" pitchFamily="49" charset="0"/>
            </a:endParaRPr>
          </a:p>
        </p:txBody>
      </p:sp>
      <p:sp>
        <p:nvSpPr>
          <p:cNvPr id="6" name="Rectangle 2">
            <a:extLst>
              <a:ext uri="{FF2B5EF4-FFF2-40B4-BE49-F238E27FC236}">
                <a16:creationId xmlns:a16="http://schemas.microsoft.com/office/drawing/2014/main" id="{85692CC1-36BA-A44A-85B8-D0BA7FBB21AF}"/>
              </a:ext>
            </a:extLst>
          </p:cNvPr>
          <p:cNvSpPr/>
          <p:nvPr/>
        </p:nvSpPr>
        <p:spPr>
          <a:xfrm>
            <a:off x="457200" y="4712285"/>
            <a:ext cx="4603422" cy="1938992"/>
          </a:xfrm>
          <a:prstGeom prst="rect">
            <a:avLst/>
          </a:prstGeom>
        </p:spPr>
        <p:txBody>
          <a:bodyPr wrap="square">
            <a:spAutoFit/>
          </a:bodyPr>
          <a:lstStyle/>
          <a:p>
            <a:pPr algn="l"/>
            <a:r>
              <a:rPr lang="zh-CN" altLang="en-US" sz="2000" b="1" dirty="0">
                <a:solidFill>
                  <a:srgbClr val="0432FF"/>
                </a:solidFill>
                <a:latin typeface="+mn-lt"/>
                <a:ea typeface="+mj-ea"/>
              </a:rPr>
              <a:t>两个</a:t>
            </a:r>
            <a:r>
              <a:rPr lang="en-US" altLang="zh-CN" sz="2000" b="1" dirty="0">
                <a:solidFill>
                  <a:srgbClr val="0432FF"/>
                </a:solidFill>
                <a:latin typeface="+mn-lt"/>
                <a:ea typeface="+mj-ea"/>
              </a:rPr>
              <a:t>.text</a:t>
            </a:r>
            <a:r>
              <a:rPr lang="zh-CN" altLang="en-US" sz="2000" b="1" dirty="0">
                <a:solidFill>
                  <a:srgbClr val="0432FF"/>
                </a:solidFill>
                <a:latin typeface="+mn-lt"/>
                <a:ea typeface="+mj-ea"/>
              </a:rPr>
              <a:t>实现程序调用</a:t>
            </a:r>
            <a:endParaRPr lang="en-US" altLang="zh-CN" sz="2000" b="1" dirty="0">
              <a:solidFill>
                <a:srgbClr val="0432FF"/>
              </a:solidFill>
              <a:latin typeface="+mn-lt"/>
              <a:ea typeface="+mj-ea"/>
            </a:endParaRPr>
          </a:p>
          <a:p>
            <a:pPr algn="l"/>
            <a:r>
              <a:rPr lang="zh-CN" altLang="en-US" sz="2000" b="1" dirty="0">
                <a:solidFill>
                  <a:schemeClr val="tx1"/>
                </a:solidFill>
                <a:latin typeface="+mn-lt"/>
                <a:ea typeface="+mj-ea"/>
              </a:rPr>
              <a:t>为了让程序可以运行，我们把</a:t>
            </a:r>
            <a:r>
              <a:rPr lang="en-US" altLang="zh-CN" sz="2000" b="1" dirty="0">
                <a:solidFill>
                  <a:schemeClr val="tx1"/>
                </a:solidFill>
                <a:latin typeface="+mn-lt"/>
                <a:ea typeface="+mj-ea"/>
              </a:rPr>
              <a:t>n</a:t>
            </a:r>
            <a:r>
              <a:rPr lang="zh-CN" altLang="en-US" sz="2000" b="1" dirty="0">
                <a:solidFill>
                  <a:schemeClr val="tx1"/>
                </a:solidFill>
                <a:latin typeface="+mn-lt"/>
                <a:ea typeface="+mj-ea"/>
              </a:rPr>
              <a:t>和</a:t>
            </a:r>
            <a:r>
              <a:rPr lang="en-US" altLang="zh-CN" sz="2000" b="1" dirty="0">
                <a:solidFill>
                  <a:schemeClr val="tx1"/>
                </a:solidFill>
                <a:latin typeface="+mn-lt"/>
                <a:ea typeface="+mj-ea"/>
              </a:rPr>
              <a:t>f</a:t>
            </a:r>
            <a:r>
              <a:rPr lang="zh-CN" altLang="en-US" sz="2000" b="1" dirty="0">
                <a:solidFill>
                  <a:schemeClr val="tx1"/>
                </a:solidFill>
                <a:latin typeface="+mn-lt"/>
                <a:ea typeface="+mj-ea"/>
              </a:rPr>
              <a:t>拆成高低</a:t>
            </a:r>
            <a:r>
              <a:rPr lang="en-US" altLang="zh-CN" sz="2000" b="1" dirty="0">
                <a:solidFill>
                  <a:schemeClr val="tx1"/>
                </a:solidFill>
                <a:latin typeface="+mn-lt"/>
                <a:ea typeface="+mj-ea"/>
              </a:rPr>
              <a:t>16</a:t>
            </a:r>
            <a:r>
              <a:rPr lang="zh-CN" altLang="en-US" sz="2000" b="1" dirty="0">
                <a:solidFill>
                  <a:schemeClr val="tx1"/>
                </a:solidFill>
                <a:latin typeface="+mn-lt"/>
                <a:ea typeface="+mj-ea"/>
              </a:rPr>
              <a:t>位，分别装入，再寻址。</a:t>
            </a:r>
            <a:r>
              <a:rPr lang="en-US" altLang="zh-CN" sz="2000" b="1" dirty="0">
                <a:solidFill>
                  <a:schemeClr val="tx1"/>
                </a:solidFill>
                <a:latin typeface="+mn-lt"/>
                <a:ea typeface="+mj-ea"/>
              </a:rPr>
              <a:t>main</a:t>
            </a:r>
            <a:r>
              <a:rPr lang="zh-CN" altLang="en-US" sz="2000" b="1" dirty="0">
                <a:solidFill>
                  <a:schemeClr val="tx1"/>
                </a:solidFill>
                <a:latin typeface="+mn-lt"/>
                <a:ea typeface="+mj-ea"/>
              </a:rPr>
              <a:t>程序使用了</a:t>
            </a:r>
            <a:r>
              <a:rPr lang="en-US" altLang="zh-CN" sz="2000" b="1" dirty="0" err="1">
                <a:solidFill>
                  <a:schemeClr val="tx1"/>
                </a:solidFill>
                <a:latin typeface="+mn-lt"/>
                <a:ea typeface="+mj-ea"/>
              </a:rPr>
              <a:t>beq</a:t>
            </a:r>
            <a:r>
              <a:rPr lang="en-US" altLang="zh-CN" sz="2000" b="1" dirty="0">
                <a:solidFill>
                  <a:schemeClr val="tx1"/>
                </a:solidFill>
                <a:latin typeface="+mn-lt"/>
                <a:ea typeface="+mj-ea"/>
              </a:rPr>
              <a:t> $0,$0,fact</a:t>
            </a:r>
            <a:r>
              <a:rPr lang="zh-CN" altLang="en-US" sz="2000" b="1" dirty="0">
                <a:solidFill>
                  <a:schemeClr val="tx1"/>
                </a:solidFill>
                <a:latin typeface="+mn-lt"/>
                <a:ea typeface="+mj-ea"/>
              </a:rPr>
              <a:t>进行了跳转。这是一个可运行的版本，该程序用了全局变量（</a:t>
            </a:r>
            <a:r>
              <a:rPr lang="en-US" altLang="zh-CN" sz="2000" b="1" dirty="0">
                <a:solidFill>
                  <a:schemeClr val="tx1"/>
                </a:solidFill>
                <a:latin typeface="+mn-lt"/>
                <a:ea typeface="+mj-ea"/>
              </a:rPr>
              <a:t>n</a:t>
            </a:r>
            <a:r>
              <a:rPr lang="zh-CN" altLang="en-US" sz="2000" b="1" dirty="0">
                <a:solidFill>
                  <a:schemeClr val="tx1"/>
                </a:solidFill>
                <a:latin typeface="+mn-lt"/>
                <a:ea typeface="+mj-ea"/>
              </a:rPr>
              <a:t>，</a:t>
            </a:r>
            <a:r>
              <a:rPr lang="en-US" altLang="zh-CN" sz="2000" b="1" dirty="0">
                <a:solidFill>
                  <a:schemeClr val="tx1"/>
                </a:solidFill>
                <a:latin typeface="+mn-lt"/>
                <a:ea typeface="+mj-ea"/>
              </a:rPr>
              <a:t>f</a:t>
            </a:r>
            <a:r>
              <a:rPr lang="zh-CN" altLang="en-US" sz="2000" b="1" dirty="0">
                <a:solidFill>
                  <a:schemeClr val="tx1"/>
                </a:solidFill>
                <a:latin typeface="+mn-lt"/>
                <a:ea typeface="+mj-ea"/>
              </a:rPr>
              <a:t>）进行计算的</a:t>
            </a:r>
            <a:r>
              <a:rPr lang="zh-CN" altLang="en-US" sz="2000" b="1" dirty="0">
                <a:latin typeface="+mn-lt"/>
                <a:ea typeface="+mj-ea"/>
              </a:rPr>
              <a:t>。</a:t>
            </a:r>
            <a:endParaRPr lang="en-US" altLang="zh-CN" sz="2000" b="1" dirty="0">
              <a:solidFill>
                <a:schemeClr val="tx1"/>
              </a:solidFill>
              <a:latin typeface="+mn-lt"/>
              <a:ea typeface="+mj-ea"/>
            </a:endParaRPr>
          </a:p>
        </p:txBody>
      </p:sp>
      <p:sp>
        <p:nvSpPr>
          <p:cNvPr id="2" name="Title 4">
            <a:extLst>
              <a:ext uri="{FF2B5EF4-FFF2-40B4-BE49-F238E27FC236}">
                <a16:creationId xmlns:a16="http://schemas.microsoft.com/office/drawing/2014/main" id="{D8953FB6-5F8E-6CA7-F985-1D97B0F13C43}"/>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dirty="0"/>
              <a:t>编程指南：语法</a:t>
            </a:r>
            <a:endParaRPr lang="en-CN" kern="0" dirty="0"/>
          </a:p>
        </p:txBody>
      </p:sp>
    </p:spTree>
    <p:extLst>
      <p:ext uri="{BB962C8B-B14F-4D97-AF65-F5344CB8AC3E}">
        <p14:creationId xmlns:p14="http://schemas.microsoft.com/office/powerpoint/2010/main" val="2892038827"/>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10"/>
          <p:cNvSpPr>
            <a:spLocks noChangeArrowheads="1"/>
          </p:cNvSpPr>
          <p:nvPr/>
        </p:nvSpPr>
        <p:spPr bwMode="auto">
          <a:xfrm>
            <a:off x="684213" y="1273113"/>
            <a:ext cx="8459787" cy="576263"/>
          </a:xfrm>
          <a:prstGeom prst="rect">
            <a:avLst/>
          </a:prstGeom>
          <a:solidFill>
            <a:schemeClr val="bg1"/>
          </a:solidFill>
          <a:ln w="12700">
            <a:solidFill>
              <a:schemeClr val="bg1"/>
            </a:solidFill>
            <a:miter lim="800000"/>
            <a:headEnd/>
            <a:tailEnd/>
          </a:ln>
        </p:spPr>
        <p:txBody>
          <a:bodyPr wrap="square" lIns="92075" tIns="46038" rIns="92075" bIns="46038" anchor="ctr">
            <a:spAutoFit/>
          </a:bodyPr>
          <a:lstStyle/>
          <a:p>
            <a:endParaRPr lang="zh-CN" altLang="en-US"/>
          </a:p>
        </p:txBody>
      </p:sp>
      <p:sp>
        <p:nvSpPr>
          <p:cNvPr id="9" name="灯片编号占位符 5">
            <a:extLst>
              <a:ext uri="{FF2B5EF4-FFF2-40B4-BE49-F238E27FC236}">
                <a16:creationId xmlns:a16="http://schemas.microsoft.com/office/drawing/2014/main" id="{53E7859E-805F-4876-AD77-62E147C27F20}"/>
              </a:ext>
            </a:extLst>
          </p:cNvPr>
          <p:cNvSpPr>
            <a:spLocks noGrp="1"/>
          </p:cNvSpPr>
          <p:nvPr>
            <p:ph type="sldNum" sz="quarter" idx="12"/>
          </p:nvPr>
        </p:nvSpPr>
        <p:spPr/>
        <p:txBody>
          <a:bodyPr/>
          <a:lstStyle/>
          <a:p>
            <a:pPr>
              <a:defRPr/>
            </a:pPr>
            <a:fld id="{ECD5A6D5-D27A-4A28-A3F6-493C4D03C27D}" type="slidenum">
              <a:rPr lang="zh-CN" altLang="en-US"/>
              <a:pPr>
                <a:defRPr/>
              </a:pPr>
              <a:t>121</a:t>
            </a:fld>
            <a:endParaRPr lang="en-US" altLang="zh-CN"/>
          </a:p>
        </p:txBody>
      </p:sp>
      <p:sp>
        <p:nvSpPr>
          <p:cNvPr id="15365" name="Rectangle 6"/>
          <p:cNvSpPr>
            <a:spLocks noGrp="1" noChangeArrowheads="1"/>
          </p:cNvSpPr>
          <p:nvPr>
            <p:ph idx="4294967295"/>
          </p:nvPr>
        </p:nvSpPr>
        <p:spPr>
          <a:xfrm>
            <a:off x="457200" y="1241139"/>
            <a:ext cx="7886700" cy="5266787"/>
          </a:xfrm>
          <a:noFill/>
        </p:spPr>
        <p:txBody>
          <a:bodyPr>
            <a:noAutofit/>
          </a:bodyPr>
          <a:lstStyle/>
          <a:p>
            <a:pPr eaLnBrk="1" hangingPunct="1">
              <a:buFont typeface="Wingdings" pitchFamily="2" charset="2"/>
              <a:buNone/>
            </a:pPr>
            <a:r>
              <a:rPr lang="en-US" altLang="zh-CN" sz="2000" i="1" dirty="0">
                <a:latin typeface="Consolas" panose="020B0609020204030204" pitchFamily="49" charset="0"/>
              </a:rPr>
              <a:t>		.data 0x10000000 </a:t>
            </a:r>
          </a:p>
          <a:p>
            <a:pPr eaLnBrk="1" hangingPunct="1">
              <a:buFont typeface="Wingdings" pitchFamily="2" charset="2"/>
              <a:buNone/>
            </a:pPr>
            <a:r>
              <a:rPr lang="en-US" altLang="zh-CN" sz="2000" i="1" dirty="0">
                <a:latin typeface="Consolas" panose="020B0609020204030204" pitchFamily="49" charset="0"/>
              </a:rPr>
              <a:t>		.word 4,0</a:t>
            </a:r>
          </a:p>
          <a:p>
            <a:pPr eaLnBrk="1" hangingPunct="1">
              <a:buFont typeface="Wingdings" pitchFamily="2" charset="2"/>
              <a:buNone/>
            </a:pPr>
            <a:r>
              <a:rPr lang="en-US" altLang="zh-CN" sz="2000" i="1" dirty="0">
                <a:latin typeface="Consolas" panose="020B0609020204030204" pitchFamily="49" charset="0"/>
              </a:rPr>
              <a:t>		.text</a:t>
            </a:r>
          </a:p>
          <a:p>
            <a:pPr eaLnBrk="1" hangingPunct="1">
              <a:buFont typeface="Wingdings" pitchFamily="2" charset="2"/>
              <a:buNone/>
            </a:pPr>
            <a:r>
              <a:rPr lang="en-US" altLang="zh-CN" sz="2000" i="1" dirty="0">
                <a:latin typeface="Consolas" panose="020B0609020204030204" pitchFamily="49" charset="0"/>
              </a:rPr>
              <a:t>main:	</a:t>
            </a:r>
          </a:p>
          <a:p>
            <a:pPr eaLnBrk="1" hangingPunct="1">
              <a:buFont typeface="Wingdings" pitchFamily="2" charset="2"/>
              <a:buNone/>
            </a:pPr>
            <a:r>
              <a:rPr lang="en-US" altLang="zh-CN" sz="2000" i="1" dirty="0">
                <a:latin typeface="Consolas" panose="020B0609020204030204" pitchFamily="49" charset="0"/>
              </a:rPr>
              <a:t>		</a:t>
            </a:r>
            <a:r>
              <a:rPr lang="en-US" altLang="zh-CN" sz="2000" i="1" dirty="0" err="1">
                <a:latin typeface="Consolas" panose="020B0609020204030204" pitchFamily="49" charset="0"/>
              </a:rPr>
              <a:t>ori</a:t>
            </a:r>
            <a:r>
              <a:rPr lang="en-US" altLang="zh-CN" sz="2000" i="1" dirty="0">
                <a:latin typeface="Consolas" panose="020B0609020204030204" pitchFamily="49" charset="0"/>
              </a:rPr>
              <a:t>       $s6,$0,0x1000</a:t>
            </a:r>
          </a:p>
          <a:p>
            <a:pPr eaLnBrk="1" hangingPunct="1">
              <a:buFont typeface="Wingdings" pitchFamily="2" charset="2"/>
              <a:buNone/>
            </a:pPr>
            <a:r>
              <a:rPr lang="en-US" altLang="zh-CN" sz="2000" i="1" dirty="0">
                <a:latin typeface="Consolas" panose="020B0609020204030204" pitchFamily="49" charset="0"/>
              </a:rPr>
              <a:t>		</a:t>
            </a:r>
            <a:r>
              <a:rPr lang="en-US" altLang="zh-CN" sz="2000" i="1" dirty="0" err="1">
                <a:latin typeface="Consolas" panose="020B0609020204030204" pitchFamily="49" charset="0"/>
              </a:rPr>
              <a:t>sll</a:t>
            </a:r>
            <a:r>
              <a:rPr lang="en-US" altLang="zh-CN" sz="2000" i="1" dirty="0">
                <a:latin typeface="Consolas" panose="020B0609020204030204" pitchFamily="49" charset="0"/>
              </a:rPr>
              <a:t>        $s6,$s6,16</a:t>
            </a:r>
          </a:p>
          <a:p>
            <a:pPr eaLnBrk="1" hangingPunct="1">
              <a:buFont typeface="Wingdings" pitchFamily="2" charset="2"/>
              <a:buNone/>
            </a:pPr>
            <a:r>
              <a:rPr lang="en-US" altLang="zh-CN" sz="2000" i="1" dirty="0">
                <a:latin typeface="Consolas" panose="020B0609020204030204" pitchFamily="49" charset="0"/>
              </a:rPr>
              <a:t>		</a:t>
            </a:r>
            <a:r>
              <a:rPr lang="en-US" altLang="zh-CN" sz="2000" i="1" dirty="0" err="1">
                <a:latin typeface="Consolas" panose="020B0609020204030204" pitchFamily="49" charset="0"/>
              </a:rPr>
              <a:t>addiu</a:t>
            </a:r>
            <a:r>
              <a:rPr lang="en-US" altLang="zh-CN" sz="2000" i="1" dirty="0">
                <a:latin typeface="Consolas" panose="020B0609020204030204" pitchFamily="49" charset="0"/>
              </a:rPr>
              <a:t>  $s5,$s6,0x004</a:t>
            </a:r>
          </a:p>
          <a:p>
            <a:pPr eaLnBrk="1" hangingPunct="1">
              <a:buFont typeface="Wingdings" pitchFamily="2" charset="2"/>
              <a:buNone/>
            </a:pPr>
            <a:r>
              <a:rPr lang="en-US" altLang="zh-CN" sz="2000" i="1" dirty="0">
                <a:latin typeface="Consolas" panose="020B0609020204030204" pitchFamily="49" charset="0"/>
              </a:rPr>
              <a:t>fact:	</a:t>
            </a:r>
            <a:r>
              <a:rPr lang="en-US" altLang="zh-CN" sz="2000" i="1" dirty="0" err="1">
                <a:latin typeface="Consolas" panose="020B0609020204030204" pitchFamily="49" charset="0"/>
              </a:rPr>
              <a:t>addiu</a:t>
            </a:r>
            <a:r>
              <a:rPr lang="en-US" altLang="zh-CN" sz="2000" i="1" dirty="0">
                <a:latin typeface="Consolas" panose="020B0609020204030204" pitchFamily="49" charset="0"/>
              </a:rPr>
              <a:t>  $s0,$0,1</a:t>
            </a:r>
          </a:p>
          <a:p>
            <a:pPr eaLnBrk="1" hangingPunct="1">
              <a:buFont typeface="Wingdings" pitchFamily="2" charset="2"/>
              <a:buNone/>
            </a:pPr>
            <a:r>
              <a:rPr lang="en-US" altLang="zh-CN" sz="2000" i="1" dirty="0">
                <a:latin typeface="Consolas" panose="020B0609020204030204" pitchFamily="49" charset="0"/>
              </a:rPr>
              <a:t>		</a:t>
            </a:r>
            <a:r>
              <a:rPr lang="en-US" altLang="zh-CN" sz="2000" i="1" dirty="0" err="1">
                <a:latin typeface="Consolas" panose="020B0609020204030204" pitchFamily="49" charset="0"/>
              </a:rPr>
              <a:t>lw</a:t>
            </a:r>
            <a:r>
              <a:rPr lang="en-US" altLang="zh-CN" sz="2000" i="1" dirty="0">
                <a:latin typeface="Consolas" panose="020B0609020204030204" pitchFamily="49" charset="0"/>
              </a:rPr>
              <a:t>        $s1,0($s6)</a:t>
            </a:r>
          </a:p>
          <a:p>
            <a:pPr eaLnBrk="1" hangingPunct="1">
              <a:buFont typeface="Wingdings" pitchFamily="2" charset="2"/>
              <a:buNone/>
            </a:pPr>
            <a:r>
              <a:rPr lang="en-US" altLang="zh-CN" sz="2000" i="1" dirty="0">
                <a:latin typeface="Consolas" panose="020B0609020204030204" pitchFamily="49" charset="0"/>
              </a:rPr>
              <a:t>loop:	</a:t>
            </a:r>
            <a:r>
              <a:rPr lang="en-US" altLang="zh-CN" sz="2000" i="1" dirty="0" err="1">
                <a:latin typeface="Consolas" panose="020B0609020204030204" pitchFamily="49" charset="0"/>
              </a:rPr>
              <a:t>mul</a:t>
            </a:r>
            <a:r>
              <a:rPr lang="en-US" altLang="zh-CN" sz="2000" i="1" dirty="0">
                <a:latin typeface="Consolas" panose="020B0609020204030204" pitchFamily="49" charset="0"/>
              </a:rPr>
              <a:t>     $s0,$s1,$s0</a:t>
            </a:r>
          </a:p>
          <a:p>
            <a:pPr eaLnBrk="1" hangingPunct="1">
              <a:buFont typeface="Wingdings" pitchFamily="2" charset="2"/>
              <a:buNone/>
            </a:pPr>
            <a:r>
              <a:rPr lang="en-US" altLang="zh-CN" sz="2000" i="1" dirty="0">
                <a:latin typeface="Consolas" panose="020B0609020204030204" pitchFamily="49" charset="0"/>
              </a:rPr>
              <a:t>		</a:t>
            </a:r>
            <a:r>
              <a:rPr lang="en-US" altLang="zh-CN" sz="2000" i="1" dirty="0" err="1">
                <a:latin typeface="Consolas" panose="020B0609020204030204" pitchFamily="49" charset="0"/>
              </a:rPr>
              <a:t>addi</a:t>
            </a:r>
            <a:r>
              <a:rPr lang="en-US" altLang="zh-CN" sz="2000" i="1" dirty="0">
                <a:latin typeface="Consolas" panose="020B0609020204030204" pitchFamily="49" charset="0"/>
              </a:rPr>
              <a:t>    $s1,$s1,-1</a:t>
            </a:r>
          </a:p>
          <a:p>
            <a:pPr eaLnBrk="1" hangingPunct="1">
              <a:buFont typeface="Wingdings" pitchFamily="2" charset="2"/>
              <a:buNone/>
            </a:pPr>
            <a:r>
              <a:rPr lang="en-US" altLang="zh-CN" sz="2000" i="1" dirty="0">
                <a:latin typeface="Consolas" panose="020B0609020204030204" pitchFamily="49" charset="0"/>
              </a:rPr>
              <a:t>		</a:t>
            </a:r>
            <a:r>
              <a:rPr lang="en-US" altLang="zh-CN" sz="2000" i="1" dirty="0" err="1">
                <a:latin typeface="Consolas" panose="020B0609020204030204" pitchFamily="49" charset="0"/>
              </a:rPr>
              <a:t>bnez</a:t>
            </a:r>
            <a:r>
              <a:rPr lang="en-US" altLang="zh-CN" sz="2000" i="1" dirty="0">
                <a:latin typeface="Consolas" panose="020B0609020204030204" pitchFamily="49" charset="0"/>
              </a:rPr>
              <a:t>   $s1,loop</a:t>
            </a:r>
          </a:p>
          <a:p>
            <a:pPr eaLnBrk="1" hangingPunct="1">
              <a:buFont typeface="Wingdings" pitchFamily="2" charset="2"/>
              <a:buNone/>
            </a:pPr>
            <a:r>
              <a:rPr lang="en-US" altLang="zh-CN" sz="2000" i="1" dirty="0">
                <a:latin typeface="Consolas" panose="020B0609020204030204" pitchFamily="49" charset="0"/>
              </a:rPr>
              <a:t>		</a:t>
            </a:r>
            <a:r>
              <a:rPr lang="en-US" altLang="zh-CN" sz="2000" i="1" dirty="0" err="1">
                <a:latin typeface="Consolas" panose="020B0609020204030204" pitchFamily="49" charset="0"/>
              </a:rPr>
              <a:t>sw</a:t>
            </a:r>
            <a:r>
              <a:rPr lang="en-US" altLang="zh-CN" sz="2000" i="1" dirty="0">
                <a:latin typeface="Consolas" panose="020B0609020204030204" pitchFamily="49" charset="0"/>
              </a:rPr>
              <a:t>      $s0,0($s5)</a:t>
            </a:r>
          </a:p>
          <a:p>
            <a:pPr eaLnBrk="1" hangingPunct="1">
              <a:buFont typeface="Wingdings" pitchFamily="2" charset="2"/>
              <a:buNone/>
            </a:pPr>
            <a:r>
              <a:rPr lang="en-US" altLang="zh-CN" sz="2000" i="1" dirty="0">
                <a:latin typeface="Consolas" panose="020B0609020204030204" pitchFamily="49" charset="0"/>
              </a:rPr>
              <a:t>		</a:t>
            </a:r>
            <a:r>
              <a:rPr lang="en-US" altLang="zh-CN" sz="2000" i="1" dirty="0" err="1">
                <a:latin typeface="Consolas" panose="020B0609020204030204" pitchFamily="49" charset="0"/>
              </a:rPr>
              <a:t>jr</a:t>
            </a:r>
            <a:r>
              <a:rPr lang="en-US" altLang="zh-CN" sz="2000" i="1" dirty="0">
                <a:latin typeface="Consolas" panose="020B0609020204030204" pitchFamily="49" charset="0"/>
              </a:rPr>
              <a:t> $</a:t>
            </a:r>
            <a:r>
              <a:rPr lang="en-US" altLang="zh-CN" sz="2000" i="1" dirty="0" err="1">
                <a:latin typeface="Consolas" panose="020B0609020204030204" pitchFamily="49" charset="0"/>
              </a:rPr>
              <a:t>ra</a:t>
            </a:r>
            <a:endParaRPr lang="zh-CN" altLang="en-US" sz="2000" i="1" dirty="0">
              <a:latin typeface="Consolas" panose="020B0609020204030204" pitchFamily="49" charset="0"/>
            </a:endParaRPr>
          </a:p>
        </p:txBody>
      </p:sp>
      <p:sp>
        <p:nvSpPr>
          <p:cNvPr id="684039" name="Rectangle 7"/>
          <p:cNvSpPr>
            <a:spLocks noChangeArrowheads="1"/>
          </p:cNvSpPr>
          <p:nvPr/>
        </p:nvSpPr>
        <p:spPr bwMode="auto">
          <a:xfrm>
            <a:off x="4913050" y="1241139"/>
            <a:ext cx="4474464" cy="5907088"/>
          </a:xfrm>
          <a:prstGeom prst="rect">
            <a:avLst/>
          </a:prstGeom>
          <a:noFill/>
          <a:ln>
            <a:noFill/>
          </a:ln>
        </p:spPr>
        <p:txBody>
          <a:bodyPr/>
          <a:lstStyle/>
          <a:p>
            <a:pPr marL="342900" indent="-342900" algn="l">
              <a:spcBef>
                <a:spcPct val="20000"/>
              </a:spcBef>
              <a:buClr>
                <a:schemeClr val="tx2"/>
              </a:buClr>
              <a:buSzPct val="70000"/>
              <a:buFont typeface="Wingdings" pitchFamily="2" charset="2"/>
              <a:buNone/>
            </a:pPr>
            <a:r>
              <a:rPr lang="en-US" altLang="zh-CN" sz="2000" b="1" dirty="0">
                <a:solidFill>
                  <a:srgbClr val="0000CC"/>
                </a:solidFill>
                <a:latin typeface="Consolas" panose="020B0609020204030204" pitchFamily="49" charset="0"/>
                <a:ea typeface="+mj-ea"/>
                <a:cs typeface="Consolas" panose="020B0609020204030204" pitchFamily="49" charset="0"/>
              </a:rPr>
              <a:t>#</a:t>
            </a:r>
            <a:r>
              <a:rPr lang="zh-CN" altLang="en-US" sz="2000" b="1" dirty="0">
                <a:solidFill>
                  <a:srgbClr val="0000CC"/>
                </a:solidFill>
                <a:latin typeface="Consolas" panose="020B0609020204030204" pitchFamily="49" charset="0"/>
                <a:ea typeface="+mj-ea"/>
                <a:cs typeface="Consolas" panose="020B0609020204030204" pitchFamily="49" charset="0"/>
              </a:rPr>
              <a:t>下列语句行是数据代码行</a:t>
            </a:r>
          </a:p>
          <a:p>
            <a:pPr marL="342900" indent="-342900" algn="l">
              <a:spcBef>
                <a:spcPct val="20000"/>
              </a:spcBef>
              <a:buClr>
                <a:schemeClr val="tx2"/>
              </a:buClr>
              <a:buSzPct val="70000"/>
              <a:buFont typeface="Wingdings" pitchFamily="2" charset="2"/>
              <a:buNone/>
            </a:pPr>
            <a:r>
              <a:rPr lang="en-US" altLang="zh-CN" sz="2000" b="1" dirty="0">
                <a:solidFill>
                  <a:srgbClr val="0000CC"/>
                </a:solidFill>
                <a:latin typeface="Consolas" panose="020B0609020204030204" pitchFamily="49" charset="0"/>
                <a:ea typeface="+mj-ea"/>
                <a:cs typeface="Consolas" panose="020B0609020204030204" pitchFamily="49" charset="0"/>
              </a:rPr>
              <a:t>#</a:t>
            </a:r>
            <a:r>
              <a:rPr lang="zh-CN" altLang="en-US" sz="2000" b="1" dirty="0">
                <a:solidFill>
                  <a:srgbClr val="0000CC"/>
                </a:solidFill>
                <a:latin typeface="Consolas" panose="020B0609020204030204" pitchFamily="49" charset="0"/>
                <a:ea typeface="+mj-ea"/>
                <a:cs typeface="Consolas" panose="020B0609020204030204" pitchFamily="49" charset="0"/>
              </a:rPr>
              <a:t>定义了两个字型立即数</a:t>
            </a:r>
            <a:r>
              <a:rPr lang="en-US" altLang="zh-CN" sz="2000" b="1" dirty="0">
                <a:solidFill>
                  <a:srgbClr val="0000CC"/>
                </a:solidFill>
                <a:latin typeface="Consolas" panose="020B0609020204030204" pitchFamily="49" charset="0"/>
                <a:ea typeface="+mj-ea"/>
                <a:cs typeface="Consolas" panose="020B0609020204030204" pitchFamily="49" charset="0"/>
              </a:rPr>
              <a:t>4</a:t>
            </a:r>
            <a:r>
              <a:rPr lang="zh-CN" altLang="en-US" sz="2000" b="1" dirty="0">
                <a:solidFill>
                  <a:srgbClr val="0000CC"/>
                </a:solidFill>
                <a:latin typeface="Consolas" panose="020B0609020204030204" pitchFamily="49" charset="0"/>
                <a:ea typeface="+mj-ea"/>
                <a:cs typeface="Consolas" panose="020B0609020204030204" pitchFamily="49" charset="0"/>
              </a:rPr>
              <a:t>和</a:t>
            </a:r>
            <a:r>
              <a:rPr lang="en-US" altLang="zh-CN" sz="2000" b="1" dirty="0">
                <a:solidFill>
                  <a:srgbClr val="0000CC"/>
                </a:solidFill>
                <a:latin typeface="Consolas" panose="020B0609020204030204" pitchFamily="49" charset="0"/>
                <a:ea typeface="+mj-ea"/>
                <a:cs typeface="Consolas" panose="020B0609020204030204" pitchFamily="49" charset="0"/>
              </a:rPr>
              <a:t>0</a:t>
            </a:r>
          </a:p>
          <a:p>
            <a:pPr marL="342900" indent="-342900" algn="l">
              <a:spcBef>
                <a:spcPct val="20000"/>
              </a:spcBef>
              <a:buClr>
                <a:schemeClr val="tx2"/>
              </a:buClr>
              <a:buSzPct val="70000"/>
              <a:buFont typeface="Wingdings" pitchFamily="2" charset="2"/>
              <a:buNone/>
            </a:pPr>
            <a:r>
              <a:rPr lang="en-US" altLang="zh-CN" sz="2000" b="1" dirty="0">
                <a:solidFill>
                  <a:srgbClr val="0000CC"/>
                </a:solidFill>
                <a:latin typeface="Consolas" panose="020B0609020204030204" pitchFamily="49" charset="0"/>
                <a:ea typeface="+mj-ea"/>
                <a:cs typeface="Consolas" panose="020B0609020204030204" pitchFamily="49" charset="0"/>
              </a:rPr>
              <a:t>#</a:t>
            </a:r>
            <a:r>
              <a:rPr lang="zh-CN" altLang="en-US" sz="2000" b="1" dirty="0">
                <a:solidFill>
                  <a:srgbClr val="0000CC"/>
                </a:solidFill>
                <a:latin typeface="Consolas" panose="020B0609020204030204" pitchFamily="49" charset="0"/>
                <a:ea typeface="+mj-ea"/>
                <a:cs typeface="Consolas" panose="020B0609020204030204" pitchFamily="49" charset="0"/>
              </a:rPr>
              <a:t>下列语句行是指令代码行</a:t>
            </a:r>
            <a:endParaRPr lang="en-US" altLang="zh-CN" sz="2000" b="1" dirty="0">
              <a:solidFill>
                <a:srgbClr val="0000CC"/>
              </a:solidFill>
              <a:latin typeface="Consolas" panose="020B0609020204030204" pitchFamily="49" charset="0"/>
              <a:ea typeface="+mj-ea"/>
              <a:cs typeface="Consolas" panose="020B0609020204030204" pitchFamily="49" charset="0"/>
            </a:endParaRPr>
          </a:p>
          <a:p>
            <a:pPr marL="342900" indent="-342900" algn="l">
              <a:spcBef>
                <a:spcPct val="20000"/>
              </a:spcBef>
              <a:buClr>
                <a:schemeClr val="tx2"/>
              </a:buClr>
              <a:buSzPct val="70000"/>
              <a:buFont typeface="Wingdings" pitchFamily="2" charset="2"/>
              <a:buNone/>
            </a:pPr>
            <a:r>
              <a:rPr lang="en-US" altLang="zh-CN" sz="2000" b="1" dirty="0">
                <a:solidFill>
                  <a:srgbClr val="0000CC"/>
                </a:solidFill>
                <a:latin typeface="Consolas" panose="020B0609020204030204" pitchFamily="49" charset="0"/>
                <a:ea typeface="+mj-ea"/>
                <a:cs typeface="Consolas" panose="020B0609020204030204" pitchFamily="49" charset="0"/>
              </a:rPr>
              <a:t> 	</a:t>
            </a:r>
          </a:p>
          <a:p>
            <a:pPr marL="342900" indent="-342900" algn="l">
              <a:spcBef>
                <a:spcPct val="20000"/>
              </a:spcBef>
              <a:buClr>
                <a:schemeClr val="tx2"/>
              </a:buClr>
              <a:buSzPct val="70000"/>
              <a:buFont typeface="Wingdings" pitchFamily="2" charset="2"/>
              <a:buNone/>
            </a:pPr>
            <a:r>
              <a:rPr lang="en-US" altLang="zh-CN" sz="2000" b="1" dirty="0">
                <a:solidFill>
                  <a:srgbClr val="0000CC"/>
                </a:solidFill>
                <a:latin typeface="Consolas" panose="020B0609020204030204" pitchFamily="49" charset="0"/>
                <a:ea typeface="+mj-ea"/>
                <a:cs typeface="Consolas" panose="020B0609020204030204" pitchFamily="49" charset="0"/>
              </a:rPr>
              <a:t>#  </a:t>
            </a:r>
            <a:r>
              <a:rPr lang="zh-CN" altLang="en-US" sz="2000" b="1" dirty="0">
                <a:solidFill>
                  <a:srgbClr val="0000CC"/>
                </a:solidFill>
                <a:latin typeface="Consolas" panose="020B0609020204030204" pitchFamily="49" charset="0"/>
                <a:ea typeface="+mj-ea"/>
                <a:cs typeface="Consolas" panose="020B0609020204030204" pitchFamily="49" charset="0"/>
              </a:rPr>
              <a:t>获得数据起始地址</a:t>
            </a:r>
            <a:endParaRPr lang="en-US" altLang="zh-CN" sz="2000" b="1" dirty="0">
              <a:solidFill>
                <a:srgbClr val="0000CC"/>
              </a:solidFill>
              <a:latin typeface="Consolas" panose="020B0609020204030204" pitchFamily="49" charset="0"/>
              <a:ea typeface="+mj-ea"/>
              <a:cs typeface="Consolas" panose="020B0609020204030204" pitchFamily="49" charset="0"/>
            </a:endParaRPr>
          </a:p>
          <a:p>
            <a:pPr marL="342900" indent="-342900" algn="l">
              <a:spcBef>
                <a:spcPct val="20000"/>
              </a:spcBef>
              <a:buClr>
                <a:schemeClr val="tx2"/>
              </a:buClr>
              <a:buSzPct val="70000"/>
              <a:buFont typeface="Wingdings" pitchFamily="2" charset="2"/>
              <a:buNone/>
            </a:pPr>
            <a:r>
              <a:rPr lang="en-US" altLang="zh-CN" sz="2000" b="1" dirty="0">
                <a:solidFill>
                  <a:srgbClr val="0000CC"/>
                </a:solidFill>
                <a:latin typeface="Consolas" panose="020B0609020204030204" pitchFamily="49" charset="0"/>
                <a:ea typeface="+mj-ea"/>
                <a:cs typeface="Consolas" panose="020B0609020204030204" pitchFamily="49" charset="0"/>
              </a:rPr>
              <a:t>#  $s6=0x10000000</a:t>
            </a:r>
          </a:p>
          <a:p>
            <a:pPr marL="342900" indent="-342900" algn="l">
              <a:spcBef>
                <a:spcPct val="20000"/>
              </a:spcBef>
              <a:buClr>
                <a:schemeClr val="tx2"/>
              </a:buClr>
              <a:buSzPct val="70000"/>
              <a:buFont typeface="Wingdings" pitchFamily="2" charset="2"/>
              <a:buNone/>
            </a:pPr>
            <a:r>
              <a:rPr lang="en-US" altLang="zh-CN" sz="2000" b="1" dirty="0">
                <a:solidFill>
                  <a:srgbClr val="0000CC"/>
                </a:solidFill>
                <a:latin typeface="Consolas" panose="020B0609020204030204" pitchFamily="49" charset="0"/>
                <a:ea typeface="+mj-ea"/>
                <a:cs typeface="Consolas" panose="020B0609020204030204" pitchFamily="49" charset="0"/>
              </a:rPr>
              <a:t>#  $s5=0x10000004	</a:t>
            </a:r>
          </a:p>
          <a:p>
            <a:pPr marL="342900" indent="-342900" algn="l">
              <a:spcBef>
                <a:spcPct val="20000"/>
              </a:spcBef>
              <a:buClr>
                <a:schemeClr val="tx2"/>
              </a:buClr>
              <a:buSzPct val="70000"/>
              <a:buFont typeface="Wingdings" pitchFamily="2" charset="2"/>
              <a:buNone/>
            </a:pPr>
            <a:r>
              <a:rPr lang="en-US" altLang="zh-CN" sz="2000" b="1" dirty="0">
                <a:solidFill>
                  <a:srgbClr val="0000CC"/>
                </a:solidFill>
                <a:latin typeface="Consolas" panose="020B0609020204030204" pitchFamily="49" charset="0"/>
                <a:ea typeface="+mj-ea"/>
                <a:cs typeface="Consolas" panose="020B0609020204030204" pitchFamily="49" charset="0"/>
              </a:rPr>
              <a:t>#  </a:t>
            </a:r>
            <a:r>
              <a:rPr lang="zh-CN" altLang="en-US" sz="2000" b="1" dirty="0">
                <a:solidFill>
                  <a:srgbClr val="0000CC"/>
                </a:solidFill>
                <a:latin typeface="Consolas" panose="020B0609020204030204" pitchFamily="49" charset="0"/>
                <a:ea typeface="+mj-ea"/>
                <a:cs typeface="Consolas" panose="020B0609020204030204" pitchFamily="49" charset="0"/>
              </a:rPr>
              <a:t>循环计数器赋初值</a:t>
            </a:r>
            <a:r>
              <a:rPr lang="en-US" altLang="zh-CN" sz="2000" b="1" dirty="0">
                <a:solidFill>
                  <a:srgbClr val="0000CC"/>
                </a:solidFill>
                <a:latin typeface="Consolas" panose="020B0609020204030204" pitchFamily="49" charset="0"/>
                <a:ea typeface="+mj-ea"/>
                <a:cs typeface="Consolas" panose="020B0609020204030204" pitchFamily="49" charset="0"/>
              </a:rPr>
              <a:t> </a:t>
            </a:r>
          </a:p>
          <a:p>
            <a:pPr marL="342900" indent="-342900" algn="l">
              <a:spcBef>
                <a:spcPct val="20000"/>
              </a:spcBef>
              <a:buClr>
                <a:schemeClr val="tx2"/>
              </a:buClr>
              <a:buSzPct val="70000"/>
              <a:buFont typeface="Wingdings" pitchFamily="2" charset="2"/>
              <a:buNone/>
            </a:pPr>
            <a:r>
              <a:rPr lang="en-US" altLang="zh-CN" sz="2000" b="1" dirty="0">
                <a:solidFill>
                  <a:srgbClr val="0000CC"/>
                </a:solidFill>
                <a:latin typeface="Consolas" panose="020B0609020204030204" pitchFamily="49" charset="0"/>
                <a:ea typeface="+mj-ea"/>
                <a:cs typeface="Consolas" panose="020B0609020204030204" pitchFamily="49" charset="0"/>
              </a:rPr>
              <a:t>#  </a:t>
            </a:r>
            <a:r>
              <a:rPr lang="zh-CN" altLang="en-US" sz="2000" b="1" dirty="0">
                <a:solidFill>
                  <a:srgbClr val="0000CC"/>
                </a:solidFill>
                <a:latin typeface="Consolas" panose="020B0609020204030204" pitchFamily="49" charset="0"/>
                <a:ea typeface="+mj-ea"/>
                <a:cs typeface="Consolas" panose="020B0609020204030204" pitchFamily="49" charset="0"/>
              </a:rPr>
              <a:t>把 </a:t>
            </a:r>
            <a:r>
              <a:rPr lang="en-US" altLang="zh-CN" sz="2000" b="1" dirty="0">
                <a:solidFill>
                  <a:srgbClr val="0000CC"/>
                </a:solidFill>
                <a:latin typeface="Consolas" panose="020B0609020204030204" pitchFamily="49" charset="0"/>
                <a:ea typeface="+mj-ea"/>
                <a:cs typeface="Consolas" panose="020B0609020204030204" pitchFamily="49" charset="0"/>
              </a:rPr>
              <a:t>word</a:t>
            </a:r>
            <a:r>
              <a:rPr lang="zh-CN" altLang="en-US" sz="2000" b="1" dirty="0">
                <a:solidFill>
                  <a:srgbClr val="0000CC"/>
                </a:solidFill>
                <a:latin typeface="Consolas" panose="020B0609020204030204" pitchFamily="49" charset="0"/>
                <a:ea typeface="+mj-ea"/>
                <a:cs typeface="Consolas" panose="020B0609020204030204" pitchFamily="49" charset="0"/>
              </a:rPr>
              <a:t>型数 </a:t>
            </a:r>
            <a:r>
              <a:rPr lang="en-US" altLang="zh-CN" sz="2000" b="1" dirty="0">
                <a:solidFill>
                  <a:srgbClr val="0000CC"/>
                </a:solidFill>
                <a:latin typeface="Consolas" panose="020B0609020204030204" pitchFamily="49" charset="0"/>
                <a:ea typeface="+mj-ea"/>
                <a:cs typeface="Consolas" panose="020B0609020204030204" pitchFamily="49" charset="0"/>
              </a:rPr>
              <a:t>4 </a:t>
            </a:r>
            <a:r>
              <a:rPr lang="zh-CN" altLang="en-US" sz="2000" b="1" dirty="0">
                <a:solidFill>
                  <a:srgbClr val="0000CC"/>
                </a:solidFill>
                <a:latin typeface="Consolas" panose="020B0609020204030204" pitchFamily="49" charset="0"/>
                <a:ea typeface="+mj-ea"/>
                <a:cs typeface="Consolas" panose="020B0609020204030204" pitchFamily="49" charset="0"/>
              </a:rPr>
              <a:t>载入</a:t>
            </a:r>
            <a:r>
              <a:rPr lang="en-US" altLang="zh-CN" sz="2000" b="1" dirty="0">
                <a:solidFill>
                  <a:srgbClr val="0000CC"/>
                </a:solidFill>
                <a:latin typeface="Consolas" panose="020B0609020204030204" pitchFamily="49" charset="0"/>
                <a:ea typeface="+mj-ea"/>
                <a:cs typeface="Consolas" panose="020B0609020204030204" pitchFamily="49" charset="0"/>
              </a:rPr>
              <a:t> $s1</a:t>
            </a:r>
          </a:p>
          <a:p>
            <a:pPr marL="342900" indent="-342900" algn="l">
              <a:spcBef>
                <a:spcPct val="20000"/>
              </a:spcBef>
              <a:buClr>
                <a:schemeClr val="tx2"/>
              </a:buClr>
              <a:buSzPct val="70000"/>
              <a:buFont typeface="Wingdings" pitchFamily="2" charset="2"/>
              <a:buNone/>
            </a:pPr>
            <a:r>
              <a:rPr lang="en-US" altLang="zh-CN" sz="2000" b="1" dirty="0">
                <a:solidFill>
                  <a:srgbClr val="0000CC"/>
                </a:solidFill>
                <a:latin typeface="Consolas" panose="020B0609020204030204" pitchFamily="49" charset="0"/>
                <a:ea typeface="+mj-ea"/>
                <a:cs typeface="Consolas" panose="020B0609020204030204" pitchFamily="49" charset="0"/>
              </a:rPr>
              <a:t>#   $s0=n!, n=4</a:t>
            </a:r>
          </a:p>
          <a:p>
            <a:pPr marL="342900" indent="-342900" algn="l">
              <a:spcBef>
                <a:spcPct val="20000"/>
              </a:spcBef>
              <a:buClr>
                <a:schemeClr val="tx2"/>
              </a:buClr>
              <a:buSzPct val="70000"/>
              <a:buFont typeface="Wingdings" pitchFamily="2" charset="2"/>
              <a:buNone/>
            </a:pPr>
            <a:r>
              <a:rPr lang="en-US" altLang="zh-CN" sz="2000" b="1" dirty="0">
                <a:solidFill>
                  <a:srgbClr val="0000CC"/>
                </a:solidFill>
                <a:latin typeface="Consolas" panose="020B0609020204030204" pitchFamily="49" charset="0"/>
                <a:ea typeface="+mj-ea"/>
                <a:cs typeface="Consolas" panose="020B0609020204030204" pitchFamily="49" charset="0"/>
              </a:rPr>
              <a:t>#   </a:t>
            </a:r>
            <a:r>
              <a:rPr lang="zh-CN" altLang="en-US" sz="2000" b="1" dirty="0">
                <a:solidFill>
                  <a:srgbClr val="0000CC"/>
                </a:solidFill>
                <a:latin typeface="Consolas" panose="020B0609020204030204" pitchFamily="49" charset="0"/>
                <a:ea typeface="+mj-ea"/>
                <a:cs typeface="Consolas" panose="020B0609020204030204" pitchFamily="49" charset="0"/>
              </a:rPr>
              <a:t>对应伪指令 </a:t>
            </a:r>
            <a:r>
              <a:rPr lang="en-US" altLang="zh-CN" sz="2000" b="1" dirty="0" err="1">
                <a:solidFill>
                  <a:srgbClr val="0000CC"/>
                </a:solidFill>
                <a:latin typeface="Consolas" panose="020B0609020204030204" pitchFamily="49" charset="0"/>
                <a:ea typeface="+mj-ea"/>
                <a:cs typeface="Consolas" panose="020B0609020204030204" pitchFamily="49" charset="0"/>
              </a:rPr>
              <a:t>subu</a:t>
            </a:r>
            <a:r>
              <a:rPr lang="en-US" altLang="zh-CN" sz="2000" b="1" dirty="0">
                <a:solidFill>
                  <a:srgbClr val="0000CC"/>
                </a:solidFill>
                <a:latin typeface="Consolas" panose="020B0609020204030204" pitchFamily="49" charset="0"/>
                <a:ea typeface="+mj-ea"/>
                <a:cs typeface="Consolas" panose="020B0609020204030204" pitchFamily="49" charset="0"/>
              </a:rPr>
              <a:t> </a:t>
            </a:r>
            <a:r>
              <a:rPr lang="en-US" altLang="zh-CN" sz="2000" dirty="0">
                <a:solidFill>
                  <a:srgbClr val="000099"/>
                </a:solidFill>
                <a:latin typeface="Consolas" panose="020B0609020204030204" pitchFamily="49" charset="0"/>
                <a:ea typeface="+mj-ea"/>
                <a:cs typeface="Consolas" panose="020B0609020204030204" pitchFamily="49" charset="0"/>
              </a:rPr>
              <a:t>$s1,$s1,1</a:t>
            </a:r>
            <a:endParaRPr lang="en-US" altLang="zh-CN" sz="2000" b="1" dirty="0">
              <a:solidFill>
                <a:srgbClr val="000099"/>
              </a:solidFill>
              <a:latin typeface="Consolas" panose="020B0609020204030204" pitchFamily="49" charset="0"/>
              <a:ea typeface="+mj-ea"/>
              <a:cs typeface="Consolas" panose="020B0609020204030204" pitchFamily="49" charset="0"/>
            </a:endParaRPr>
          </a:p>
          <a:p>
            <a:pPr marL="342900" indent="-342900" algn="l">
              <a:spcBef>
                <a:spcPct val="20000"/>
              </a:spcBef>
              <a:buClr>
                <a:schemeClr val="tx2"/>
              </a:buClr>
              <a:buSzPct val="70000"/>
              <a:buFont typeface="Wingdings" pitchFamily="2" charset="2"/>
              <a:buNone/>
            </a:pPr>
            <a:r>
              <a:rPr lang="en-US" altLang="zh-CN" sz="2000" b="1" dirty="0">
                <a:solidFill>
                  <a:srgbClr val="0000CC"/>
                </a:solidFill>
                <a:latin typeface="Consolas" panose="020B0609020204030204" pitchFamily="49" charset="0"/>
                <a:ea typeface="+mj-ea"/>
                <a:cs typeface="Consolas" panose="020B0609020204030204" pitchFamily="49" charset="0"/>
              </a:rPr>
              <a:t>#</a:t>
            </a:r>
          </a:p>
          <a:p>
            <a:pPr marL="342900" indent="-342900" algn="l">
              <a:spcBef>
                <a:spcPct val="20000"/>
              </a:spcBef>
              <a:buClr>
                <a:schemeClr val="tx2"/>
              </a:buClr>
              <a:buSzPct val="70000"/>
              <a:buFont typeface="Wingdings" pitchFamily="2" charset="2"/>
              <a:buNone/>
            </a:pPr>
            <a:r>
              <a:rPr lang="en-US" altLang="zh-CN" sz="2000" b="1" dirty="0">
                <a:solidFill>
                  <a:srgbClr val="0000CC"/>
                </a:solidFill>
                <a:latin typeface="Consolas" panose="020B0609020204030204" pitchFamily="49" charset="0"/>
                <a:ea typeface="+mj-ea"/>
                <a:cs typeface="Consolas" panose="020B0609020204030204" pitchFamily="49" charset="0"/>
              </a:rPr>
              <a:t>#   f=n!=24</a:t>
            </a:r>
          </a:p>
          <a:p>
            <a:pPr marL="342900" indent="-342900" algn="l">
              <a:spcBef>
                <a:spcPct val="20000"/>
              </a:spcBef>
              <a:buClr>
                <a:schemeClr val="tx2"/>
              </a:buClr>
              <a:buSzPct val="70000"/>
              <a:buFont typeface="Wingdings" pitchFamily="2" charset="2"/>
              <a:buNone/>
            </a:pPr>
            <a:r>
              <a:rPr lang="en-US" altLang="zh-CN" sz="2000" b="1" dirty="0">
                <a:solidFill>
                  <a:srgbClr val="0000CC"/>
                </a:solidFill>
                <a:latin typeface="Consolas" panose="020B0609020204030204" pitchFamily="49" charset="0"/>
                <a:ea typeface="+mj-ea"/>
                <a:cs typeface="Consolas" panose="020B0609020204030204" pitchFamily="49" charset="0"/>
              </a:rPr>
              <a:t>#</a:t>
            </a:r>
            <a:r>
              <a:rPr lang="zh-CN" altLang="en-US" sz="2000" b="1" dirty="0">
                <a:solidFill>
                  <a:srgbClr val="0000CC"/>
                </a:solidFill>
                <a:latin typeface="Consolas" panose="020B0609020204030204" pitchFamily="49" charset="0"/>
                <a:ea typeface="+mj-ea"/>
                <a:cs typeface="Consolas" panose="020B0609020204030204" pitchFamily="49" charset="0"/>
              </a:rPr>
              <a:t>根据</a:t>
            </a:r>
            <a:r>
              <a:rPr lang="en-US" altLang="zh-CN" sz="2000" b="1" dirty="0" err="1">
                <a:solidFill>
                  <a:srgbClr val="0000CC"/>
                </a:solidFill>
                <a:latin typeface="Consolas" panose="020B0609020204030204" pitchFamily="49" charset="0"/>
                <a:ea typeface="+mj-ea"/>
                <a:cs typeface="Consolas" panose="020B0609020204030204" pitchFamily="49" charset="0"/>
              </a:rPr>
              <a:t>ra</a:t>
            </a:r>
            <a:r>
              <a:rPr lang="zh-CN" altLang="en-US" sz="2000" b="1" dirty="0">
                <a:solidFill>
                  <a:srgbClr val="0000CC"/>
                </a:solidFill>
                <a:latin typeface="Consolas" panose="020B0609020204030204" pitchFamily="49" charset="0"/>
                <a:ea typeface="+mj-ea"/>
                <a:cs typeface="Consolas" panose="020B0609020204030204" pitchFamily="49" charset="0"/>
              </a:rPr>
              <a:t>寄存器中的返回地址返回</a:t>
            </a:r>
          </a:p>
        </p:txBody>
      </p:sp>
      <p:sp>
        <p:nvSpPr>
          <p:cNvPr id="7" name="Rectangle 2">
            <a:extLst>
              <a:ext uri="{FF2B5EF4-FFF2-40B4-BE49-F238E27FC236}">
                <a16:creationId xmlns:a16="http://schemas.microsoft.com/office/drawing/2014/main" id="{290F48EE-105E-C344-AF8A-46231665D3C8}"/>
              </a:ext>
            </a:extLst>
          </p:cNvPr>
          <p:cNvSpPr/>
          <p:nvPr/>
        </p:nvSpPr>
        <p:spPr>
          <a:xfrm>
            <a:off x="4669536" y="318484"/>
            <a:ext cx="4474464" cy="646331"/>
          </a:xfrm>
          <a:prstGeom prst="rect">
            <a:avLst/>
          </a:prstGeom>
        </p:spPr>
        <p:txBody>
          <a:bodyPr wrap="square">
            <a:spAutoFit/>
          </a:bodyPr>
          <a:lstStyle/>
          <a:p>
            <a:pPr algn="l"/>
            <a:r>
              <a:rPr lang="zh-CN" altLang="en-US" b="1" dirty="0">
                <a:solidFill>
                  <a:schemeClr val="tx1"/>
                </a:solidFill>
                <a:latin typeface="+mn-lt"/>
                <a:ea typeface="+mj-ea"/>
              </a:rPr>
              <a:t>这是另一个可执行的版本，这里</a:t>
            </a:r>
            <a:r>
              <a:rPr lang="en-US" altLang="zh-CN" b="1" dirty="0">
                <a:solidFill>
                  <a:schemeClr val="tx1"/>
                </a:solidFill>
                <a:latin typeface="+mn-lt"/>
                <a:ea typeface="+mj-ea"/>
              </a:rPr>
              <a:t>fact</a:t>
            </a:r>
            <a:r>
              <a:rPr lang="zh-CN" altLang="en-US" b="1" dirty="0">
                <a:solidFill>
                  <a:schemeClr val="tx1"/>
                </a:solidFill>
                <a:latin typeface="+mn-lt"/>
                <a:ea typeface="+mj-ea"/>
              </a:rPr>
              <a:t>是接在</a:t>
            </a:r>
            <a:r>
              <a:rPr lang="en-US" altLang="zh-CN" b="1" dirty="0">
                <a:solidFill>
                  <a:schemeClr val="tx1"/>
                </a:solidFill>
                <a:latin typeface="+mn-lt"/>
                <a:ea typeface="+mj-ea"/>
              </a:rPr>
              <a:t>main</a:t>
            </a:r>
            <a:r>
              <a:rPr lang="zh-CN" altLang="en-US" b="1" dirty="0">
                <a:solidFill>
                  <a:schemeClr val="tx1"/>
                </a:solidFill>
                <a:latin typeface="+mn-lt"/>
                <a:ea typeface="+mj-ea"/>
              </a:rPr>
              <a:t>后面的，没有用跳转指令直接运行</a:t>
            </a:r>
          </a:p>
        </p:txBody>
      </p:sp>
      <p:sp>
        <p:nvSpPr>
          <p:cNvPr id="3" name="Title 4">
            <a:extLst>
              <a:ext uri="{FF2B5EF4-FFF2-40B4-BE49-F238E27FC236}">
                <a16:creationId xmlns:a16="http://schemas.microsoft.com/office/drawing/2014/main" id="{2690B3FD-C7A8-9880-CED6-AA0B5B6C07BD}"/>
              </a:ext>
            </a:extLst>
          </p:cNvPr>
          <p:cNvSpPr txBox="1">
            <a:spLocks/>
          </p:cNvSpPr>
          <p:nvPr/>
        </p:nvSpPr>
        <p:spPr bwMode="auto">
          <a:xfrm>
            <a:off x="457200" y="108531"/>
            <a:ext cx="4348976"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pPr algn="l"/>
            <a:r>
              <a:rPr lang="zh-CN" altLang="en-US" sz="4000" dirty="0"/>
              <a:t>能运行的版本（</a:t>
            </a:r>
            <a:r>
              <a:rPr lang="en-US" altLang="zh-CN" sz="4000" dirty="0"/>
              <a:t>2</a:t>
            </a:r>
            <a:r>
              <a:rPr lang="zh-CN" altLang="en-US" sz="4000" dirty="0"/>
              <a:t>）</a:t>
            </a:r>
            <a:endParaRPr lang="en-CN" kern="0" dirty="0"/>
          </a:p>
        </p:txBody>
      </p:sp>
    </p:spTree>
    <p:extLst>
      <p:ext uri="{BB962C8B-B14F-4D97-AF65-F5344CB8AC3E}">
        <p14:creationId xmlns:p14="http://schemas.microsoft.com/office/powerpoint/2010/main" val="6991924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8403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8403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84039">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684039">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84039">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84039">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684039">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684039">
                                            <p:txEl>
                                              <p:pRg st="7" end="7"/>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84039">
                                            <p:txEl>
                                              <p:pRg st="8" end="8"/>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84039">
                                            <p:txEl>
                                              <p:pRg st="9" end="9"/>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84039">
                                            <p:txEl>
                                              <p:pRg st="10" end="10"/>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84039">
                                            <p:txEl>
                                              <p:pRg st="11" end="11"/>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684039">
                                            <p:txEl>
                                              <p:pRg st="12" end="12"/>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684039">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0BE5D8EC-495A-4823-AE68-813447A17BC9}"/>
              </a:ext>
            </a:extLst>
          </p:cNvPr>
          <p:cNvSpPr>
            <a:spLocks noGrp="1"/>
          </p:cNvSpPr>
          <p:nvPr>
            <p:ph type="sldNum" sz="quarter" idx="12"/>
          </p:nvPr>
        </p:nvSpPr>
        <p:spPr/>
        <p:txBody>
          <a:bodyPr/>
          <a:lstStyle/>
          <a:p>
            <a:pPr>
              <a:defRPr/>
            </a:pPr>
            <a:fld id="{ECD5A6D5-D27A-4A28-A3F6-493C4D03C27D}" type="slidenum">
              <a:rPr lang="zh-CN" altLang="en-US"/>
              <a:pPr>
                <a:defRPr/>
              </a:pPr>
              <a:t>122</a:t>
            </a:fld>
            <a:endParaRPr lang="en-US" altLang="zh-CN"/>
          </a:p>
        </p:txBody>
      </p:sp>
      <p:sp>
        <p:nvSpPr>
          <p:cNvPr id="16389" name="Rectangle 3"/>
          <p:cNvSpPr>
            <a:spLocks noGrp="1" noChangeArrowheads="1"/>
          </p:cNvSpPr>
          <p:nvPr>
            <p:ph idx="4294967295"/>
          </p:nvPr>
        </p:nvSpPr>
        <p:spPr>
          <a:xfrm>
            <a:off x="546410" y="1457633"/>
            <a:ext cx="8229600" cy="4787591"/>
          </a:xfrm>
        </p:spPr>
        <p:txBody>
          <a:bodyPr>
            <a:normAutofit/>
          </a:bodyPr>
          <a:lstStyle/>
          <a:p>
            <a:pPr eaLnBrk="1" hangingPunct="1"/>
            <a:r>
              <a:rPr lang="zh-CN" altLang="en-US" sz="2600" b="1" dirty="0">
                <a:solidFill>
                  <a:srgbClr val="0432FF"/>
                </a:solidFill>
              </a:rPr>
              <a:t>变量存储在主存储器内</a:t>
            </a:r>
            <a:r>
              <a:rPr lang="zh-CN" altLang="en-US" sz="2600" dirty="0"/>
              <a:t>（而不是寄存器内）</a:t>
            </a:r>
          </a:p>
          <a:p>
            <a:pPr marL="628650" lvl="1" indent="-228600" eaLnBrk="1" hangingPunct="1"/>
            <a:r>
              <a:rPr lang="zh-CN" altLang="en-US" sz="2200" dirty="0"/>
              <a:t>因为我们通常有很多的变量要存，不止</a:t>
            </a:r>
            <a:r>
              <a:rPr lang="en-US" altLang="zh-CN" sz="2200" dirty="0"/>
              <a:t>32</a:t>
            </a:r>
            <a:r>
              <a:rPr lang="zh-CN" altLang="en-US" sz="2200" dirty="0"/>
              <a:t>个</a:t>
            </a:r>
          </a:p>
          <a:p>
            <a:pPr eaLnBrk="1" hangingPunct="1"/>
            <a:r>
              <a:rPr lang="zh-CN" altLang="en-US" sz="2600" dirty="0"/>
              <a:t>为了实现功能</a:t>
            </a:r>
            <a:r>
              <a:rPr lang="en-US" altLang="zh-CN" sz="2600" dirty="0"/>
              <a:t>, </a:t>
            </a:r>
            <a:r>
              <a:rPr lang="zh-CN" altLang="en-US" sz="2600" dirty="0"/>
              <a:t>用</a:t>
            </a:r>
            <a:r>
              <a:rPr lang="en-US" altLang="zh-CN" sz="2600" dirty="0" err="1"/>
              <a:t>lw</a:t>
            </a:r>
            <a:r>
              <a:rPr lang="en-US" altLang="zh-CN" sz="2600" dirty="0"/>
              <a:t> </a:t>
            </a:r>
            <a:r>
              <a:rPr lang="zh-CN" altLang="en-US" sz="2600" dirty="0"/>
              <a:t>语句将变量加载到寄存器中</a:t>
            </a:r>
            <a:r>
              <a:rPr lang="en-US" altLang="zh-CN" sz="2600" dirty="0"/>
              <a:t>, </a:t>
            </a:r>
            <a:r>
              <a:rPr lang="zh-CN" altLang="en-US" sz="2600" dirty="0"/>
              <a:t>对寄存器进行操作</a:t>
            </a:r>
            <a:r>
              <a:rPr lang="en-US" altLang="zh-CN" sz="2600" dirty="0"/>
              <a:t>, </a:t>
            </a:r>
            <a:r>
              <a:rPr lang="zh-CN" altLang="en-US" sz="2600" dirty="0"/>
              <a:t>然后再把结果</a:t>
            </a:r>
            <a:r>
              <a:rPr lang="en-US" altLang="zh-CN" sz="2600" dirty="0" err="1"/>
              <a:t>sw</a:t>
            </a:r>
            <a:r>
              <a:rPr lang="zh-CN" altLang="en-US" sz="2600" dirty="0"/>
              <a:t>回去</a:t>
            </a:r>
          </a:p>
          <a:p>
            <a:pPr eaLnBrk="1" hangingPunct="1"/>
            <a:r>
              <a:rPr lang="zh-CN" altLang="en-US" sz="2600" b="1" dirty="0">
                <a:solidFill>
                  <a:srgbClr val="0432FF"/>
                </a:solidFill>
              </a:rPr>
              <a:t>对于比较长的操作</a:t>
            </a:r>
            <a:r>
              <a:rPr lang="en-US" altLang="zh-CN" sz="2600" b="1" dirty="0">
                <a:solidFill>
                  <a:srgbClr val="0432FF"/>
                </a:solidFill>
              </a:rPr>
              <a:t>(e.g., loops):</a:t>
            </a:r>
          </a:p>
          <a:p>
            <a:pPr marL="628650" lvl="1" indent="-228600" eaLnBrk="1" hangingPunct="1"/>
            <a:r>
              <a:rPr lang="zh-CN" altLang="en-US" sz="2200" dirty="0"/>
              <a:t>让变量在寄存器中保留时间越长越好</a:t>
            </a:r>
            <a:endParaRPr lang="en-US" altLang="zh-CN" sz="2200" dirty="0"/>
          </a:p>
          <a:p>
            <a:pPr marL="628650" lvl="1" indent="-228600" eaLnBrk="1" hangingPunct="1"/>
            <a:r>
              <a:rPr lang="en-US" altLang="zh-CN" sz="2200" dirty="0" err="1"/>
              <a:t>lw</a:t>
            </a:r>
            <a:r>
              <a:rPr lang="en-US" altLang="zh-CN" sz="2200" dirty="0"/>
              <a:t> and </a:t>
            </a:r>
            <a:r>
              <a:rPr lang="en-US" altLang="zh-CN" sz="2200" dirty="0" err="1"/>
              <a:t>sw</a:t>
            </a:r>
            <a:r>
              <a:rPr lang="en-US" altLang="zh-CN" sz="2200" dirty="0"/>
              <a:t> </a:t>
            </a:r>
            <a:r>
              <a:rPr lang="zh-CN" altLang="en-US" sz="2200" dirty="0"/>
              <a:t>只在一块代码开始和结束时使用</a:t>
            </a:r>
          </a:p>
          <a:p>
            <a:pPr marL="628650" lvl="1" indent="-228600" eaLnBrk="1" hangingPunct="1"/>
            <a:r>
              <a:rPr lang="zh-CN" altLang="en-US" sz="2200" dirty="0"/>
              <a:t>节省指令</a:t>
            </a:r>
            <a:endParaRPr lang="en-US" altLang="zh-CN" sz="2200" dirty="0"/>
          </a:p>
          <a:p>
            <a:pPr marL="628650" lvl="1" indent="-228600" eaLnBrk="1" hangingPunct="1"/>
            <a:r>
              <a:rPr lang="zh-CN" altLang="en-US" sz="2200" dirty="0"/>
              <a:t>而且事实上</a:t>
            </a:r>
            <a:r>
              <a:rPr lang="en-US" altLang="zh-CN" sz="2200" dirty="0"/>
              <a:t>LW and SW </a:t>
            </a:r>
            <a:r>
              <a:rPr lang="zh-CN" altLang="en-US" sz="2200" dirty="0"/>
              <a:t>比寄存器操作要慢得多得多！</a:t>
            </a:r>
          </a:p>
          <a:p>
            <a:pPr eaLnBrk="1" hangingPunct="1"/>
            <a:r>
              <a:rPr lang="zh-CN" altLang="en-US" sz="2600" dirty="0"/>
              <a:t>由于一条指令只能采用两个输入</a:t>
            </a:r>
            <a:r>
              <a:rPr lang="en-US" altLang="zh-CN" sz="2600" dirty="0"/>
              <a:t>,</a:t>
            </a:r>
            <a:r>
              <a:rPr lang="zh-CN" altLang="en-US" sz="2600" dirty="0"/>
              <a:t>所以必须采用临时寄存器计算复杂的问题</a:t>
            </a:r>
            <a:r>
              <a:rPr lang="en-US" altLang="zh-CN" sz="2600" dirty="0"/>
              <a:t>e.g., (</a:t>
            </a:r>
            <a:r>
              <a:rPr lang="en-US" altLang="zh-CN" sz="2600" dirty="0" err="1"/>
              <a:t>x+y</a:t>
            </a:r>
            <a:r>
              <a:rPr lang="en-US" altLang="zh-CN" sz="2600" dirty="0"/>
              <a:t>)+(x-y)</a:t>
            </a:r>
            <a:endParaRPr lang="zh-CN" altLang="en-US" sz="2600" dirty="0"/>
          </a:p>
        </p:txBody>
      </p:sp>
      <p:sp>
        <p:nvSpPr>
          <p:cNvPr id="2" name="Title 4">
            <a:extLst>
              <a:ext uri="{FF2B5EF4-FFF2-40B4-BE49-F238E27FC236}">
                <a16:creationId xmlns:a16="http://schemas.microsoft.com/office/drawing/2014/main" id="{ED416FC5-0AEE-8886-DC00-AA37B6253DEC}"/>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dirty="0"/>
              <a:t>编程指南：变量</a:t>
            </a:r>
            <a:endParaRPr lang="en-CN" kern="0" dirty="0"/>
          </a:p>
        </p:txBody>
      </p:sp>
    </p:spTree>
    <p:extLst>
      <p:ext uri="{BB962C8B-B14F-4D97-AF65-F5344CB8AC3E}">
        <p14:creationId xmlns:p14="http://schemas.microsoft.com/office/powerpoint/2010/main" val="207410634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5">
            <a:extLst>
              <a:ext uri="{FF2B5EF4-FFF2-40B4-BE49-F238E27FC236}">
                <a16:creationId xmlns:a16="http://schemas.microsoft.com/office/drawing/2014/main" id="{28072B52-59CC-2544-AE34-7DBFFA37FF93}"/>
              </a:ext>
            </a:extLst>
          </p:cNvPr>
          <p:cNvSpPr>
            <a:spLocks noChangeArrowheads="1"/>
          </p:cNvSpPr>
          <p:nvPr/>
        </p:nvSpPr>
        <p:spPr bwMode="auto">
          <a:xfrm>
            <a:off x="4419600" y="4257354"/>
            <a:ext cx="3925095" cy="256000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l">
              <a:spcBef>
                <a:spcPct val="20000"/>
              </a:spcBef>
              <a:buClr>
                <a:schemeClr val="tx2"/>
              </a:buClr>
              <a:buSzPct val="70000"/>
              <a:buFont typeface="Wingdings" pitchFamily="2" charset="2"/>
              <a:buNone/>
            </a:pPr>
            <a:r>
              <a:rPr lang="en-US" altLang="zh-CN" sz="2000" dirty="0">
                <a:solidFill>
                  <a:srgbClr val="0000CC"/>
                </a:solidFill>
                <a:latin typeface="Consolas" panose="020B0609020204030204" pitchFamily="49" charset="0"/>
              </a:rPr>
              <a:t>#s1 get 4</a:t>
            </a:r>
          </a:p>
          <a:p>
            <a:pPr marL="342900" indent="-342900" algn="l">
              <a:spcBef>
                <a:spcPct val="20000"/>
              </a:spcBef>
              <a:buClr>
                <a:schemeClr val="tx2"/>
              </a:buClr>
              <a:buSzPct val="70000"/>
              <a:buFont typeface="Wingdings" pitchFamily="2" charset="2"/>
              <a:buNone/>
            </a:pPr>
            <a:endParaRPr lang="zh-CN" altLang="en-US" sz="2000" dirty="0">
              <a:solidFill>
                <a:srgbClr val="0000CC"/>
              </a:solidFill>
              <a:latin typeface="Consolas" panose="020B0609020204030204" pitchFamily="49" charset="0"/>
            </a:endParaRPr>
          </a:p>
          <a:p>
            <a:pPr marL="342900" indent="-342900" algn="l">
              <a:spcBef>
                <a:spcPct val="20000"/>
              </a:spcBef>
              <a:buClr>
                <a:schemeClr val="tx2"/>
              </a:buClr>
              <a:buSzPct val="70000"/>
              <a:buFont typeface="Wingdings" pitchFamily="2" charset="2"/>
              <a:buNone/>
            </a:pPr>
            <a:endParaRPr lang="zh-CN" altLang="en-US" sz="2000" dirty="0">
              <a:solidFill>
                <a:srgbClr val="0000CC"/>
              </a:solidFill>
              <a:latin typeface="Consolas" panose="020B0609020204030204" pitchFamily="49" charset="0"/>
            </a:endParaRPr>
          </a:p>
          <a:p>
            <a:pPr marL="342900" indent="-342900" algn="l">
              <a:spcBef>
                <a:spcPct val="20000"/>
              </a:spcBef>
              <a:buClr>
                <a:schemeClr val="tx2"/>
              </a:buClr>
              <a:buSzPct val="70000"/>
              <a:buFont typeface="Wingdings" pitchFamily="2" charset="2"/>
              <a:buNone/>
            </a:pPr>
            <a:endParaRPr lang="zh-CN" altLang="en-US" sz="2000" dirty="0">
              <a:solidFill>
                <a:srgbClr val="0000CC"/>
              </a:solidFill>
              <a:latin typeface="Consolas" panose="020B0609020204030204" pitchFamily="49" charset="0"/>
            </a:endParaRPr>
          </a:p>
          <a:p>
            <a:pPr marL="342900" indent="-342900" algn="l">
              <a:spcBef>
                <a:spcPct val="20000"/>
              </a:spcBef>
              <a:buClr>
                <a:schemeClr val="tx2"/>
              </a:buClr>
              <a:buSzPct val="70000"/>
              <a:buFont typeface="Wingdings" pitchFamily="2" charset="2"/>
              <a:buNone/>
            </a:pPr>
            <a:r>
              <a:rPr lang="en-US" altLang="zh-CN" sz="2000" dirty="0">
                <a:solidFill>
                  <a:srgbClr val="0000CC"/>
                </a:solidFill>
                <a:latin typeface="Consolas" panose="020B0609020204030204" pitchFamily="49" charset="0"/>
              </a:rPr>
              <a:t>#s0 hold result</a:t>
            </a:r>
            <a:endParaRPr lang="zh-CN" altLang="en-US" sz="2000" dirty="0">
              <a:solidFill>
                <a:srgbClr val="0000CC"/>
              </a:solidFill>
              <a:latin typeface="Consolas" panose="020B0609020204030204" pitchFamily="49" charset="0"/>
            </a:endParaRPr>
          </a:p>
          <a:p>
            <a:pPr marL="342900" indent="-342900" algn="l">
              <a:spcBef>
                <a:spcPct val="20000"/>
              </a:spcBef>
              <a:buClr>
                <a:schemeClr val="tx2"/>
              </a:buClr>
              <a:buSzPct val="70000"/>
              <a:buFont typeface="Wingdings" pitchFamily="2" charset="2"/>
              <a:buNone/>
            </a:pPr>
            <a:r>
              <a:rPr lang="en-US" altLang="zh-CN" sz="2000" dirty="0">
                <a:solidFill>
                  <a:srgbClr val="0000CC"/>
                </a:solidFill>
                <a:latin typeface="Consolas" panose="020B0609020204030204" pitchFamily="49" charset="0"/>
              </a:rPr>
              <a:t>#return result in s0</a:t>
            </a:r>
          </a:p>
        </p:txBody>
      </p:sp>
      <p:sp>
        <p:nvSpPr>
          <p:cNvPr id="12" name="灯片编号占位符 3">
            <a:extLst>
              <a:ext uri="{FF2B5EF4-FFF2-40B4-BE49-F238E27FC236}">
                <a16:creationId xmlns:a16="http://schemas.microsoft.com/office/drawing/2014/main" id="{02F2321A-F4F9-479F-BF27-0C60B16549B7}"/>
              </a:ext>
            </a:extLst>
          </p:cNvPr>
          <p:cNvSpPr>
            <a:spLocks noGrp="1"/>
          </p:cNvSpPr>
          <p:nvPr>
            <p:ph type="sldNum" sz="quarter" idx="12"/>
          </p:nvPr>
        </p:nvSpPr>
        <p:spPr/>
        <p:txBody>
          <a:bodyPr/>
          <a:lstStyle/>
          <a:p>
            <a:fld id="{14659731-6BD7-46E7-8D3C-2F3AC07E20B1}" type="slidenum">
              <a:rPr lang="en-US" altLang="zh-CN" smtClean="0"/>
              <a:pPr/>
              <a:t>123</a:t>
            </a:fld>
            <a:endParaRPr lang="en-US" altLang="zh-CN" dirty="0"/>
          </a:p>
        </p:txBody>
      </p:sp>
      <p:sp>
        <p:nvSpPr>
          <p:cNvPr id="7" name="Rectangle 3">
            <a:extLst>
              <a:ext uri="{FF2B5EF4-FFF2-40B4-BE49-F238E27FC236}">
                <a16:creationId xmlns:a16="http://schemas.microsoft.com/office/drawing/2014/main" id="{26419F72-6483-C74E-8AB4-62BA0D812A65}"/>
              </a:ext>
            </a:extLst>
          </p:cNvPr>
          <p:cNvSpPr>
            <a:spLocks noGrp="1" noChangeArrowheads="1"/>
          </p:cNvSpPr>
          <p:nvPr>
            <p:ph idx="4294967295"/>
          </p:nvPr>
        </p:nvSpPr>
        <p:spPr>
          <a:xfrm>
            <a:off x="0" y="1825625"/>
            <a:ext cx="7886700" cy="4351338"/>
          </a:xfrm>
        </p:spPr>
        <p:txBody>
          <a:bodyPr/>
          <a:lstStyle/>
          <a:p>
            <a:pPr eaLnBrk="1" hangingPunct="1"/>
            <a:endParaRPr lang="en-US" altLang="zh-CN" sz="3000" dirty="0"/>
          </a:p>
          <a:p>
            <a:pPr eaLnBrk="1" hangingPunct="1"/>
            <a:endParaRPr lang="zh-CN" altLang="en-US" dirty="0"/>
          </a:p>
        </p:txBody>
      </p:sp>
      <p:sp>
        <p:nvSpPr>
          <p:cNvPr id="10" name="Rectangle 4">
            <a:extLst>
              <a:ext uri="{FF2B5EF4-FFF2-40B4-BE49-F238E27FC236}">
                <a16:creationId xmlns:a16="http://schemas.microsoft.com/office/drawing/2014/main" id="{BC37ADF5-EB82-3F44-9EAC-11EB302CAB98}"/>
              </a:ext>
            </a:extLst>
          </p:cNvPr>
          <p:cNvSpPr>
            <a:spLocks noChangeArrowheads="1"/>
          </p:cNvSpPr>
          <p:nvPr/>
        </p:nvSpPr>
        <p:spPr bwMode="auto">
          <a:xfrm>
            <a:off x="513713" y="1397633"/>
            <a:ext cx="6872926" cy="5391150"/>
          </a:xfrm>
          <a:prstGeom prst="rect">
            <a:avLst/>
          </a:prstGeom>
          <a:noFill/>
          <a:ln>
            <a:noFill/>
          </a:ln>
        </p:spPr>
        <p:txBody>
          <a:bodyPr/>
          <a:lstStyle/>
          <a:p>
            <a:pPr marL="342900" indent="-342900" algn="l">
              <a:spcBef>
                <a:spcPct val="20000"/>
              </a:spcBef>
              <a:buClr>
                <a:schemeClr val="tx2"/>
              </a:buClr>
              <a:buSzPct val="70000"/>
              <a:buFont typeface="Wingdings" pitchFamily="2" charset="2"/>
              <a:buNone/>
            </a:pPr>
            <a:r>
              <a:rPr lang="en-US" altLang="zh-CN" sz="2000" i="1" dirty="0">
                <a:solidFill>
                  <a:schemeClr val="tx1"/>
                </a:solidFill>
                <a:latin typeface="Consolas" panose="020B0609020204030204" pitchFamily="49" charset="0"/>
              </a:rPr>
              <a:t>		.data 0x10000000 </a:t>
            </a:r>
          </a:p>
          <a:p>
            <a:pPr marL="342900" indent="-342900" algn="l">
              <a:spcBef>
                <a:spcPct val="20000"/>
              </a:spcBef>
              <a:buClr>
                <a:schemeClr val="tx2"/>
              </a:buClr>
              <a:buSzPct val="70000"/>
              <a:buFont typeface="Wingdings" pitchFamily="2" charset="2"/>
              <a:buNone/>
            </a:pPr>
            <a:r>
              <a:rPr lang="en-US" altLang="zh-CN" sz="2000" i="1" dirty="0">
                <a:solidFill>
                  <a:schemeClr val="tx1"/>
                </a:solidFill>
                <a:latin typeface="Consolas" panose="020B0609020204030204" pitchFamily="49" charset="0"/>
              </a:rPr>
              <a:t>		.word 4,0</a:t>
            </a:r>
          </a:p>
          <a:p>
            <a:pPr marL="342900" indent="-342900" algn="l">
              <a:spcBef>
                <a:spcPct val="20000"/>
              </a:spcBef>
              <a:buClr>
                <a:schemeClr val="tx2"/>
              </a:buClr>
              <a:buSzPct val="70000"/>
              <a:buFont typeface="Wingdings" pitchFamily="2" charset="2"/>
              <a:buNone/>
            </a:pPr>
            <a:r>
              <a:rPr lang="en-US" altLang="zh-CN" sz="2000" i="1" dirty="0">
                <a:solidFill>
                  <a:schemeClr val="tx1"/>
                </a:solidFill>
                <a:latin typeface="Consolas" panose="020B0609020204030204" pitchFamily="49" charset="0"/>
              </a:rPr>
              <a:t>		.text</a:t>
            </a:r>
          </a:p>
          <a:p>
            <a:pPr marL="342900" indent="-342900" algn="l">
              <a:spcBef>
                <a:spcPct val="20000"/>
              </a:spcBef>
              <a:buClr>
                <a:schemeClr val="tx2"/>
              </a:buClr>
              <a:buSzPct val="70000"/>
            </a:pPr>
            <a:r>
              <a:rPr lang="en-US" altLang="zh-CN" sz="2000" i="1" dirty="0">
                <a:solidFill>
                  <a:schemeClr val="tx1"/>
                </a:solidFill>
                <a:latin typeface="Consolas" panose="020B0609020204030204" pitchFamily="49" charset="0"/>
              </a:rPr>
              <a:t>main:	</a:t>
            </a:r>
            <a:r>
              <a:rPr lang="en-US" altLang="zh-CN" sz="2000" i="1" dirty="0" err="1">
                <a:solidFill>
                  <a:schemeClr val="bg1">
                    <a:lumMod val="50000"/>
                  </a:schemeClr>
                </a:solidFill>
                <a:latin typeface="Consolas" panose="020B0609020204030204" pitchFamily="49" charset="0"/>
              </a:rPr>
              <a:t>addu</a:t>
            </a:r>
            <a:r>
              <a:rPr lang="en-US" altLang="zh-CN" sz="2000" i="1" dirty="0">
                <a:solidFill>
                  <a:schemeClr val="bg1">
                    <a:lumMod val="50000"/>
                  </a:schemeClr>
                </a:solidFill>
                <a:latin typeface="Consolas" panose="020B0609020204030204" pitchFamily="49" charset="0"/>
              </a:rPr>
              <a:t>  $s3,$ra,$0</a:t>
            </a:r>
          </a:p>
          <a:p>
            <a:pPr marL="342900" indent="-342900" algn="l">
              <a:spcBef>
                <a:spcPct val="20000"/>
              </a:spcBef>
              <a:buClr>
                <a:schemeClr val="tx2"/>
              </a:buClr>
              <a:buSzPct val="70000"/>
              <a:buFont typeface="Wingdings" pitchFamily="2" charset="2"/>
              <a:buNone/>
            </a:pPr>
            <a:r>
              <a:rPr lang="en-US" altLang="zh-CN" sz="2000" i="1" dirty="0">
                <a:solidFill>
                  <a:schemeClr val="tx1"/>
                </a:solidFill>
                <a:latin typeface="Consolas" panose="020B0609020204030204" pitchFamily="49" charset="0"/>
              </a:rPr>
              <a:t>		</a:t>
            </a:r>
            <a:r>
              <a:rPr lang="en-US" altLang="zh-CN" sz="2000" i="1" dirty="0" err="1">
                <a:solidFill>
                  <a:schemeClr val="tx1"/>
                </a:solidFill>
                <a:latin typeface="Consolas" panose="020B0609020204030204" pitchFamily="49" charset="0"/>
              </a:rPr>
              <a:t>ori</a:t>
            </a:r>
            <a:r>
              <a:rPr lang="en-US" altLang="zh-CN" sz="2000" i="1" dirty="0">
                <a:solidFill>
                  <a:schemeClr val="tx1"/>
                </a:solidFill>
                <a:latin typeface="Consolas" panose="020B0609020204030204" pitchFamily="49" charset="0"/>
              </a:rPr>
              <a:t>      $s6,$0,0x1000</a:t>
            </a:r>
          </a:p>
          <a:p>
            <a:pPr marL="342900" indent="-342900" algn="l">
              <a:spcBef>
                <a:spcPct val="20000"/>
              </a:spcBef>
              <a:buClr>
                <a:schemeClr val="tx2"/>
              </a:buClr>
              <a:buSzPct val="70000"/>
              <a:buFont typeface="Wingdings" pitchFamily="2" charset="2"/>
              <a:buNone/>
            </a:pPr>
            <a:r>
              <a:rPr lang="en-US" altLang="zh-CN" sz="2000" i="1" dirty="0">
                <a:solidFill>
                  <a:schemeClr val="tx1"/>
                </a:solidFill>
                <a:latin typeface="Consolas" panose="020B0609020204030204" pitchFamily="49" charset="0"/>
              </a:rPr>
              <a:t>		</a:t>
            </a:r>
            <a:r>
              <a:rPr lang="en-US" altLang="zh-CN" sz="2000" i="1" dirty="0" err="1">
                <a:solidFill>
                  <a:schemeClr val="tx1"/>
                </a:solidFill>
                <a:latin typeface="Consolas" panose="020B0609020204030204" pitchFamily="49" charset="0"/>
              </a:rPr>
              <a:t>sll</a:t>
            </a:r>
            <a:r>
              <a:rPr lang="en-US" altLang="zh-CN" sz="2000" i="1" dirty="0">
                <a:solidFill>
                  <a:schemeClr val="tx1"/>
                </a:solidFill>
                <a:latin typeface="Consolas" panose="020B0609020204030204" pitchFamily="49" charset="0"/>
              </a:rPr>
              <a:t>       $s6,$s6,16</a:t>
            </a:r>
          </a:p>
          <a:p>
            <a:pPr marL="342900" indent="-342900" algn="l">
              <a:spcBef>
                <a:spcPct val="20000"/>
              </a:spcBef>
              <a:buClr>
                <a:schemeClr val="tx2"/>
              </a:buClr>
              <a:buSzPct val="70000"/>
              <a:buFont typeface="Wingdings" pitchFamily="2" charset="2"/>
              <a:buNone/>
            </a:pPr>
            <a:r>
              <a:rPr lang="en-US" altLang="zh-CN" sz="2000" i="1" dirty="0">
                <a:solidFill>
                  <a:schemeClr val="tx1"/>
                </a:solidFill>
                <a:latin typeface="Consolas" panose="020B0609020204030204" pitchFamily="49" charset="0"/>
              </a:rPr>
              <a:t>		</a:t>
            </a:r>
            <a:r>
              <a:rPr lang="en-US" altLang="zh-CN" sz="2000" i="1" dirty="0" err="1">
                <a:solidFill>
                  <a:schemeClr val="tx1"/>
                </a:solidFill>
                <a:latin typeface="Consolas" panose="020B0609020204030204" pitchFamily="49" charset="0"/>
              </a:rPr>
              <a:t>addiu</a:t>
            </a:r>
            <a:r>
              <a:rPr lang="en-US" altLang="zh-CN" sz="2000" i="1" dirty="0">
                <a:solidFill>
                  <a:schemeClr val="tx1"/>
                </a:solidFill>
                <a:latin typeface="Consolas" panose="020B0609020204030204" pitchFamily="49" charset="0"/>
              </a:rPr>
              <a:t> $s5,$s6,4</a:t>
            </a:r>
          </a:p>
          <a:p>
            <a:pPr marL="342900" indent="-342900" algn="l">
              <a:spcBef>
                <a:spcPct val="20000"/>
              </a:spcBef>
              <a:buClr>
                <a:schemeClr val="tx2"/>
              </a:buClr>
              <a:buSzPct val="70000"/>
              <a:buFont typeface="Wingdings" pitchFamily="2" charset="2"/>
              <a:buNone/>
            </a:pPr>
            <a:r>
              <a:rPr lang="en-US" altLang="zh-CN" sz="2000" i="1" dirty="0">
                <a:solidFill>
                  <a:schemeClr val="tx1"/>
                </a:solidFill>
                <a:latin typeface="Consolas" panose="020B0609020204030204" pitchFamily="49" charset="0"/>
              </a:rPr>
              <a:t>fact:	</a:t>
            </a:r>
            <a:r>
              <a:rPr lang="en-US" altLang="zh-CN" sz="2000" i="1" dirty="0" err="1">
                <a:solidFill>
                  <a:schemeClr val="tx1"/>
                </a:solidFill>
                <a:latin typeface="Consolas" panose="020B0609020204030204" pitchFamily="49" charset="0"/>
              </a:rPr>
              <a:t>addiu</a:t>
            </a:r>
            <a:r>
              <a:rPr lang="en-US" altLang="zh-CN" sz="2000" i="1" dirty="0">
                <a:solidFill>
                  <a:schemeClr val="tx1"/>
                </a:solidFill>
                <a:latin typeface="Consolas" panose="020B0609020204030204" pitchFamily="49" charset="0"/>
              </a:rPr>
              <a:t> $s0,$0,1</a:t>
            </a:r>
          </a:p>
          <a:p>
            <a:pPr marL="342900" indent="-342900" algn="l">
              <a:spcBef>
                <a:spcPct val="20000"/>
              </a:spcBef>
              <a:buClr>
                <a:schemeClr val="tx2"/>
              </a:buClr>
              <a:buSzPct val="70000"/>
              <a:buFont typeface="Wingdings" pitchFamily="2" charset="2"/>
              <a:buNone/>
            </a:pPr>
            <a:r>
              <a:rPr lang="en-US" altLang="zh-CN" sz="2000" i="1" dirty="0">
                <a:solidFill>
                  <a:schemeClr val="tx1"/>
                </a:solidFill>
                <a:latin typeface="Consolas" panose="020B0609020204030204" pitchFamily="49" charset="0"/>
              </a:rPr>
              <a:t>		</a:t>
            </a:r>
            <a:r>
              <a:rPr lang="en-US" altLang="zh-CN" sz="2000" i="1" dirty="0" err="1">
                <a:solidFill>
                  <a:schemeClr val="tx1"/>
                </a:solidFill>
                <a:latin typeface="Consolas" panose="020B0609020204030204" pitchFamily="49" charset="0"/>
              </a:rPr>
              <a:t>lw</a:t>
            </a:r>
            <a:r>
              <a:rPr lang="en-US" altLang="zh-CN" sz="2000" i="1" dirty="0">
                <a:solidFill>
                  <a:schemeClr val="tx1"/>
                </a:solidFill>
                <a:latin typeface="Consolas" panose="020B0609020204030204" pitchFamily="49" charset="0"/>
              </a:rPr>
              <a:t>       $s1,0($s6)</a:t>
            </a:r>
          </a:p>
          <a:p>
            <a:pPr marL="342900" indent="-342900" algn="l">
              <a:spcBef>
                <a:spcPct val="20000"/>
              </a:spcBef>
              <a:buClr>
                <a:schemeClr val="tx2"/>
              </a:buClr>
              <a:buSzPct val="70000"/>
              <a:buFont typeface="Wingdings" pitchFamily="2" charset="2"/>
              <a:buNone/>
            </a:pPr>
            <a:r>
              <a:rPr lang="en-US" altLang="zh-CN" sz="2000" i="1" dirty="0">
                <a:solidFill>
                  <a:schemeClr val="tx1"/>
                </a:solidFill>
                <a:latin typeface="Consolas" panose="020B0609020204030204" pitchFamily="49" charset="0"/>
              </a:rPr>
              <a:t>loop:	</a:t>
            </a:r>
            <a:r>
              <a:rPr lang="en-US" altLang="zh-CN" sz="2000" i="1" dirty="0" err="1">
                <a:solidFill>
                  <a:schemeClr val="tx1"/>
                </a:solidFill>
                <a:latin typeface="Consolas" panose="020B0609020204030204" pitchFamily="49" charset="0"/>
              </a:rPr>
              <a:t>mul</a:t>
            </a:r>
            <a:r>
              <a:rPr lang="en-US" altLang="zh-CN" sz="2000" i="1" dirty="0">
                <a:solidFill>
                  <a:schemeClr val="tx1"/>
                </a:solidFill>
                <a:latin typeface="Consolas" panose="020B0609020204030204" pitchFamily="49" charset="0"/>
              </a:rPr>
              <a:t>     $s0,$s1,$s0</a:t>
            </a:r>
          </a:p>
          <a:p>
            <a:pPr marL="342900" indent="-342900" algn="l">
              <a:spcBef>
                <a:spcPct val="20000"/>
              </a:spcBef>
              <a:buClr>
                <a:schemeClr val="tx2"/>
              </a:buClr>
              <a:buSzPct val="70000"/>
              <a:buFont typeface="Wingdings" pitchFamily="2" charset="2"/>
              <a:buNone/>
            </a:pPr>
            <a:r>
              <a:rPr lang="en-US" altLang="zh-CN" sz="2000" i="1" dirty="0">
                <a:solidFill>
                  <a:schemeClr val="tx1"/>
                </a:solidFill>
                <a:latin typeface="Consolas" panose="020B0609020204030204" pitchFamily="49" charset="0"/>
              </a:rPr>
              <a:t>		</a:t>
            </a:r>
            <a:r>
              <a:rPr lang="en-US" altLang="zh-CN" sz="2000" i="1" dirty="0" err="1">
                <a:solidFill>
                  <a:schemeClr val="tx1"/>
                </a:solidFill>
                <a:latin typeface="Consolas" panose="020B0609020204030204" pitchFamily="49" charset="0"/>
              </a:rPr>
              <a:t>addi</a:t>
            </a:r>
            <a:r>
              <a:rPr lang="en-US" altLang="zh-CN" sz="2000" i="1" dirty="0">
                <a:solidFill>
                  <a:schemeClr val="tx1"/>
                </a:solidFill>
                <a:latin typeface="Consolas" panose="020B0609020204030204" pitchFamily="49" charset="0"/>
              </a:rPr>
              <a:t>    $s1,$s1,-1</a:t>
            </a:r>
          </a:p>
          <a:p>
            <a:pPr marL="342900" indent="-342900" algn="l">
              <a:spcBef>
                <a:spcPct val="20000"/>
              </a:spcBef>
              <a:buClr>
                <a:schemeClr val="tx2"/>
              </a:buClr>
              <a:buSzPct val="70000"/>
              <a:buFont typeface="Wingdings" pitchFamily="2" charset="2"/>
              <a:buNone/>
            </a:pPr>
            <a:r>
              <a:rPr lang="en-US" altLang="zh-CN" sz="2000" i="1" dirty="0">
                <a:solidFill>
                  <a:schemeClr val="tx1"/>
                </a:solidFill>
                <a:latin typeface="Consolas" panose="020B0609020204030204" pitchFamily="49" charset="0"/>
              </a:rPr>
              <a:t>		</a:t>
            </a:r>
            <a:r>
              <a:rPr lang="en-US" altLang="zh-CN" sz="2000" i="1" dirty="0" err="1">
                <a:solidFill>
                  <a:schemeClr val="tx1"/>
                </a:solidFill>
                <a:latin typeface="Consolas" panose="020B0609020204030204" pitchFamily="49" charset="0"/>
              </a:rPr>
              <a:t>bnez</a:t>
            </a:r>
            <a:r>
              <a:rPr lang="en-US" altLang="zh-CN" sz="2000" i="1" dirty="0">
                <a:solidFill>
                  <a:schemeClr val="tx1"/>
                </a:solidFill>
                <a:latin typeface="Consolas" panose="020B0609020204030204" pitchFamily="49" charset="0"/>
              </a:rPr>
              <a:t>   $s1,loop</a:t>
            </a:r>
          </a:p>
          <a:p>
            <a:pPr marL="342900" indent="-342900" algn="l">
              <a:spcBef>
                <a:spcPct val="20000"/>
              </a:spcBef>
              <a:buClr>
                <a:schemeClr val="tx2"/>
              </a:buClr>
              <a:buSzPct val="70000"/>
              <a:buFont typeface="Wingdings" pitchFamily="2" charset="2"/>
              <a:buNone/>
            </a:pPr>
            <a:r>
              <a:rPr lang="en-US" altLang="zh-CN" sz="2000" i="1" dirty="0">
                <a:solidFill>
                  <a:schemeClr val="tx1"/>
                </a:solidFill>
                <a:latin typeface="Consolas" panose="020B0609020204030204" pitchFamily="49" charset="0"/>
              </a:rPr>
              <a:t>		</a:t>
            </a:r>
            <a:r>
              <a:rPr lang="en-US" altLang="zh-CN" sz="2000" i="1" dirty="0" err="1">
                <a:solidFill>
                  <a:schemeClr val="tx1"/>
                </a:solidFill>
                <a:latin typeface="Consolas" panose="020B0609020204030204" pitchFamily="49" charset="0"/>
              </a:rPr>
              <a:t>sw</a:t>
            </a:r>
            <a:r>
              <a:rPr lang="en-US" altLang="zh-CN" sz="2000" i="1" dirty="0">
                <a:solidFill>
                  <a:schemeClr val="tx1"/>
                </a:solidFill>
                <a:latin typeface="Consolas" panose="020B0609020204030204" pitchFamily="49" charset="0"/>
              </a:rPr>
              <a:t>      $s0,0($s5)</a:t>
            </a:r>
          </a:p>
          <a:p>
            <a:pPr marL="342900" indent="-342900" algn="l">
              <a:spcBef>
                <a:spcPct val="20000"/>
              </a:spcBef>
              <a:buClr>
                <a:schemeClr val="tx2"/>
              </a:buClr>
              <a:buSzPct val="70000"/>
              <a:buFont typeface="Wingdings" pitchFamily="2" charset="2"/>
              <a:buNone/>
            </a:pPr>
            <a:r>
              <a:rPr lang="en-US" altLang="zh-CN" sz="2000" i="1" dirty="0">
                <a:solidFill>
                  <a:schemeClr val="tx1"/>
                </a:solidFill>
                <a:latin typeface="Consolas" panose="020B0609020204030204" pitchFamily="49" charset="0"/>
              </a:rPr>
              <a:t>		</a:t>
            </a:r>
            <a:r>
              <a:rPr lang="en-US" altLang="zh-CN" sz="2000" i="1" dirty="0" err="1">
                <a:solidFill>
                  <a:schemeClr val="tx1"/>
                </a:solidFill>
                <a:latin typeface="Consolas" panose="020B0609020204030204" pitchFamily="49" charset="0"/>
              </a:rPr>
              <a:t>jr</a:t>
            </a:r>
            <a:r>
              <a:rPr lang="en-US" altLang="zh-CN" sz="2000" i="1" dirty="0">
                <a:solidFill>
                  <a:schemeClr val="tx1"/>
                </a:solidFill>
                <a:latin typeface="Consolas" panose="020B0609020204030204" pitchFamily="49" charset="0"/>
              </a:rPr>
              <a:t>         $</a:t>
            </a:r>
            <a:r>
              <a:rPr lang="en-US" altLang="zh-CN" sz="2000" i="1" dirty="0" err="1">
                <a:solidFill>
                  <a:schemeClr val="tx1"/>
                </a:solidFill>
                <a:latin typeface="Consolas" panose="020B0609020204030204" pitchFamily="49" charset="0"/>
              </a:rPr>
              <a:t>ra</a:t>
            </a:r>
            <a:endParaRPr lang="zh-CN" altLang="en-US" sz="2000" i="1" dirty="0">
              <a:solidFill>
                <a:schemeClr val="tx1"/>
              </a:solidFill>
              <a:latin typeface="Consolas" panose="020B0609020204030204" pitchFamily="49" charset="0"/>
            </a:endParaRPr>
          </a:p>
        </p:txBody>
      </p:sp>
      <p:sp>
        <p:nvSpPr>
          <p:cNvPr id="13" name="Oval 10">
            <a:extLst>
              <a:ext uri="{FF2B5EF4-FFF2-40B4-BE49-F238E27FC236}">
                <a16:creationId xmlns:a16="http://schemas.microsoft.com/office/drawing/2014/main" id="{B12BDAC9-F3A3-3644-A971-6A8AC5DE7E31}"/>
              </a:ext>
            </a:extLst>
          </p:cNvPr>
          <p:cNvSpPr>
            <a:spLocks noChangeArrowheads="1"/>
          </p:cNvSpPr>
          <p:nvPr/>
        </p:nvSpPr>
        <p:spPr bwMode="auto">
          <a:xfrm>
            <a:off x="982979" y="2906712"/>
            <a:ext cx="3337560" cy="914400"/>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nchor="ctr">
            <a:spAutoFit/>
          </a:bodyPr>
          <a:lstStyle/>
          <a:p>
            <a:endParaRPr lang="zh-CN" altLang="en-US"/>
          </a:p>
        </p:txBody>
      </p:sp>
      <p:sp>
        <p:nvSpPr>
          <p:cNvPr id="14" name="AutoShape 11">
            <a:extLst>
              <a:ext uri="{FF2B5EF4-FFF2-40B4-BE49-F238E27FC236}">
                <a16:creationId xmlns:a16="http://schemas.microsoft.com/office/drawing/2014/main" id="{FA72A864-3F0C-CD4E-8DA3-AC907F24207D}"/>
              </a:ext>
            </a:extLst>
          </p:cNvPr>
          <p:cNvSpPr>
            <a:spLocks noChangeArrowheads="1"/>
          </p:cNvSpPr>
          <p:nvPr/>
        </p:nvSpPr>
        <p:spPr bwMode="auto">
          <a:xfrm>
            <a:off x="4419600" y="3705414"/>
            <a:ext cx="3313113" cy="484505"/>
          </a:xfrm>
          <a:prstGeom prst="wedgeRectCallout">
            <a:avLst>
              <a:gd name="adj1" fmla="val -49888"/>
              <a:gd name="adj2" fmla="val -92011"/>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algn="ctr"/>
            <a:r>
              <a:rPr lang="en-US" altLang="zh-CN" sz="2400" i="1" dirty="0" err="1">
                <a:solidFill>
                  <a:srgbClr val="FF0000"/>
                </a:solidFill>
                <a:latin typeface="Consolas" panose="020B0609020204030204" pitchFamily="49" charset="0"/>
              </a:rPr>
              <a:t>lui</a:t>
            </a:r>
            <a:r>
              <a:rPr lang="en-US" altLang="zh-CN" sz="2400" i="1" dirty="0">
                <a:solidFill>
                  <a:srgbClr val="FF0000"/>
                </a:solidFill>
                <a:latin typeface="Consolas" panose="020B0609020204030204" pitchFamily="49" charset="0"/>
              </a:rPr>
              <a:t> $s6, 0x1000</a:t>
            </a:r>
          </a:p>
        </p:txBody>
      </p:sp>
      <p:sp>
        <p:nvSpPr>
          <p:cNvPr id="15" name="AutoShape 11">
            <a:extLst>
              <a:ext uri="{FF2B5EF4-FFF2-40B4-BE49-F238E27FC236}">
                <a16:creationId xmlns:a16="http://schemas.microsoft.com/office/drawing/2014/main" id="{5B956175-1AB5-9C49-B4D1-0B6BE0398CDA}"/>
              </a:ext>
            </a:extLst>
          </p:cNvPr>
          <p:cNvSpPr>
            <a:spLocks noChangeArrowheads="1"/>
          </p:cNvSpPr>
          <p:nvPr/>
        </p:nvSpPr>
        <p:spPr bwMode="auto">
          <a:xfrm>
            <a:off x="4615813" y="1655472"/>
            <a:ext cx="4261486" cy="1172022"/>
          </a:xfrm>
          <a:prstGeom prst="wedgeRectCallout">
            <a:avLst>
              <a:gd name="adj1" fmla="val -67201"/>
              <a:gd name="adj2" fmla="val 36168"/>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r>
              <a:rPr lang="zh-CN" altLang="en-US" sz="1800" b="0" dirty="0">
                <a:solidFill>
                  <a:schemeClr val="tx1"/>
                </a:solidFill>
                <a:latin typeface="+mn-lt"/>
                <a:ea typeface="+mj-ea"/>
              </a:rPr>
              <a:t>在程序起始处保存</a:t>
            </a:r>
            <a:r>
              <a:rPr lang="en-US" altLang="zh-CN" sz="1800" b="0" dirty="0" err="1">
                <a:solidFill>
                  <a:schemeClr val="tx1"/>
                </a:solidFill>
                <a:latin typeface="+mn-lt"/>
                <a:ea typeface="+mj-ea"/>
              </a:rPr>
              <a:t>ra</a:t>
            </a:r>
            <a:r>
              <a:rPr lang="zh-CN" altLang="en-US" sz="1800" b="0" dirty="0">
                <a:solidFill>
                  <a:schemeClr val="tx1"/>
                </a:solidFill>
                <a:latin typeface="+mn-lt"/>
                <a:ea typeface="+mj-ea"/>
              </a:rPr>
              <a:t>是一种习惯，目的是避免在程序中有</a:t>
            </a:r>
            <a:r>
              <a:rPr lang="en-US" altLang="zh-CN" sz="1800" b="0" dirty="0" err="1">
                <a:solidFill>
                  <a:schemeClr val="tx1"/>
                </a:solidFill>
                <a:latin typeface="+mn-lt"/>
                <a:ea typeface="+mj-ea"/>
              </a:rPr>
              <a:t>jal</a:t>
            </a:r>
            <a:r>
              <a:rPr lang="zh-CN" altLang="en-US" sz="1800" b="0" dirty="0">
                <a:solidFill>
                  <a:schemeClr val="tx1"/>
                </a:solidFill>
                <a:latin typeface="+mn-lt"/>
                <a:ea typeface="+mj-ea"/>
              </a:rPr>
              <a:t>指令修改了</a:t>
            </a:r>
            <a:r>
              <a:rPr lang="en-US" altLang="zh-CN" sz="1800" b="0" dirty="0" err="1">
                <a:solidFill>
                  <a:schemeClr val="tx1"/>
                </a:solidFill>
                <a:latin typeface="+mn-lt"/>
                <a:ea typeface="+mj-ea"/>
              </a:rPr>
              <a:t>ra</a:t>
            </a:r>
            <a:r>
              <a:rPr lang="zh-CN" altLang="en-US" sz="1800" b="0" dirty="0">
                <a:solidFill>
                  <a:schemeClr val="tx1"/>
                </a:solidFill>
                <a:latin typeface="+mn-lt"/>
                <a:ea typeface="+mj-ea"/>
              </a:rPr>
              <a:t>，我们跳不回去了，本程序中没有用可删除以节省寄存器和指令数。</a:t>
            </a:r>
            <a:endParaRPr lang="en-US" altLang="zh-CN" sz="1800" b="0" dirty="0">
              <a:solidFill>
                <a:schemeClr val="tx1"/>
              </a:solidFill>
              <a:latin typeface="+mn-lt"/>
              <a:ea typeface="+mj-ea"/>
            </a:endParaRPr>
          </a:p>
        </p:txBody>
      </p:sp>
      <p:sp>
        <p:nvSpPr>
          <p:cNvPr id="2" name="Title 4">
            <a:extLst>
              <a:ext uri="{FF2B5EF4-FFF2-40B4-BE49-F238E27FC236}">
                <a16:creationId xmlns:a16="http://schemas.microsoft.com/office/drawing/2014/main" id="{B71EB971-739F-02E5-237D-6DD60EFE8443}"/>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dirty="0"/>
              <a:t>编程指南：变量</a:t>
            </a:r>
            <a:endParaRPr lang="en-CN" kern="0" dirty="0"/>
          </a:p>
        </p:txBody>
      </p:sp>
    </p:spTree>
    <p:extLst>
      <p:ext uri="{BB962C8B-B14F-4D97-AF65-F5344CB8AC3E}">
        <p14:creationId xmlns:p14="http://schemas.microsoft.com/office/powerpoint/2010/main" val="500129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checkerboard(across)">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checkerboard(across)">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checkerboard(across)">
                                      <p:cBhvr>
                                        <p:cTn id="1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10">
            <a:extLst>
              <a:ext uri="{FF2B5EF4-FFF2-40B4-BE49-F238E27FC236}">
                <a16:creationId xmlns:a16="http://schemas.microsoft.com/office/drawing/2014/main" id="{CDCA2C65-AF0C-4D15-983F-9A9B2C782091}"/>
              </a:ext>
            </a:extLst>
          </p:cNvPr>
          <p:cNvSpPr txBox="1">
            <a:spLocks noChangeArrowheads="1"/>
          </p:cNvSpPr>
          <p:nvPr/>
        </p:nvSpPr>
        <p:spPr bwMode="auto">
          <a:xfrm>
            <a:off x="4755580" y="1342129"/>
            <a:ext cx="4187825" cy="5249923"/>
          </a:xfrm>
          <a:prstGeom prst="rect">
            <a:avLst/>
          </a:prstGeom>
          <a:solidFill>
            <a:schemeClr val="bg1"/>
          </a:solidFill>
          <a:ln w="19050">
            <a:noFill/>
            <a:miter lim="800000"/>
            <a:headEnd/>
            <a:tailEnd type="none" w="lg" len="lg"/>
          </a:ln>
          <a:effectLst/>
        </p:spPr>
        <p:txBody>
          <a:bodyPr lIns="45720" rIns="45720"/>
          <a:lstStyle>
            <a:lvl1pPr eaLnBrk="0" hangingPunct="0">
              <a:defRPr>
                <a:solidFill>
                  <a:schemeClr val="tx1"/>
                </a:solidFill>
                <a:latin typeface="Verdana" pitchFamily="34" charset="0"/>
                <a:ea typeface="宋体" charset="-122"/>
              </a:defRPr>
            </a:lvl1pPr>
            <a:lvl2pPr marL="742950" indent="-285750" eaLnBrk="0" hangingPunct="0">
              <a:defRPr>
                <a:solidFill>
                  <a:schemeClr val="tx1"/>
                </a:solidFill>
                <a:latin typeface="Verdana" pitchFamily="34" charset="0"/>
                <a:ea typeface="宋体" charset="-122"/>
              </a:defRPr>
            </a:lvl2pPr>
            <a:lvl3pPr marL="1143000" indent="-228600" eaLnBrk="0" hangingPunct="0">
              <a:defRPr>
                <a:solidFill>
                  <a:schemeClr val="tx1"/>
                </a:solidFill>
                <a:latin typeface="Verdana" pitchFamily="34" charset="0"/>
                <a:ea typeface="宋体" charset="-122"/>
              </a:defRPr>
            </a:lvl3pPr>
            <a:lvl4pPr marL="1600200" indent="-228600" eaLnBrk="0" hangingPunct="0">
              <a:defRPr>
                <a:solidFill>
                  <a:schemeClr val="tx1"/>
                </a:solidFill>
                <a:latin typeface="Verdana" pitchFamily="34" charset="0"/>
                <a:ea typeface="宋体" charset="-122"/>
              </a:defRPr>
            </a:lvl4pPr>
            <a:lvl5pPr marL="2057400" indent="-228600" eaLnBrk="0" hangingPunct="0">
              <a:defRPr>
                <a:solidFill>
                  <a:schemeClr val="tx1"/>
                </a:solidFill>
                <a:latin typeface="Verdana" pitchFamily="34" charset="0"/>
                <a:ea typeface="宋体" charset="-122"/>
              </a:defRPr>
            </a:lvl5pPr>
            <a:lvl6pPr marL="2514600" indent="-228600" eaLnBrk="0" fontAlgn="base" hangingPunct="0">
              <a:spcBef>
                <a:spcPct val="0"/>
              </a:spcBef>
              <a:spcAft>
                <a:spcPct val="0"/>
              </a:spcAft>
              <a:defRPr>
                <a:solidFill>
                  <a:schemeClr val="tx1"/>
                </a:solidFill>
                <a:latin typeface="Verdana" pitchFamily="34" charset="0"/>
                <a:ea typeface="宋体" charset="-122"/>
              </a:defRPr>
            </a:lvl6pPr>
            <a:lvl7pPr marL="2971800" indent="-228600" eaLnBrk="0" fontAlgn="base" hangingPunct="0">
              <a:spcBef>
                <a:spcPct val="0"/>
              </a:spcBef>
              <a:spcAft>
                <a:spcPct val="0"/>
              </a:spcAft>
              <a:defRPr>
                <a:solidFill>
                  <a:schemeClr val="tx1"/>
                </a:solidFill>
                <a:latin typeface="Verdana" pitchFamily="34" charset="0"/>
                <a:ea typeface="宋体" charset="-122"/>
              </a:defRPr>
            </a:lvl7pPr>
            <a:lvl8pPr marL="3429000" indent="-228600" eaLnBrk="0" fontAlgn="base" hangingPunct="0">
              <a:spcBef>
                <a:spcPct val="0"/>
              </a:spcBef>
              <a:spcAft>
                <a:spcPct val="0"/>
              </a:spcAft>
              <a:defRPr>
                <a:solidFill>
                  <a:schemeClr val="tx1"/>
                </a:solidFill>
                <a:latin typeface="Verdana" pitchFamily="34" charset="0"/>
                <a:ea typeface="宋体" charset="-122"/>
              </a:defRPr>
            </a:lvl8pPr>
            <a:lvl9pPr marL="3886200" indent="-228600" eaLnBrk="0" fontAlgn="base" hangingPunct="0">
              <a:spcBef>
                <a:spcPct val="0"/>
              </a:spcBef>
              <a:spcAft>
                <a:spcPct val="0"/>
              </a:spcAft>
              <a:defRPr>
                <a:solidFill>
                  <a:schemeClr val="tx1"/>
                </a:solidFill>
                <a:latin typeface="Verdana" pitchFamily="34" charset="0"/>
                <a:ea typeface="宋体" charset="-122"/>
              </a:defRPr>
            </a:lvl9pPr>
          </a:lstStyle>
          <a:p>
            <a:pPr algn="l" eaLnBrk="1" hangingPunct="1">
              <a:buFont typeface="Wingdings" pitchFamily="2" charset="2"/>
              <a:buNone/>
            </a:pPr>
            <a:r>
              <a:rPr lang="en-US" altLang="zh-CN" sz="1400" b="1" dirty="0">
                <a:latin typeface="Consolas" panose="020B0609020204030204" pitchFamily="49" charset="0"/>
              </a:rPr>
              <a:t>	.text</a:t>
            </a:r>
          </a:p>
          <a:p>
            <a:pPr algn="l" eaLnBrk="1" hangingPunct="1">
              <a:buFont typeface="Wingdings" pitchFamily="2" charset="2"/>
              <a:buNone/>
            </a:pPr>
            <a:r>
              <a:rPr lang="en-US" altLang="zh-CN" sz="1400" b="1" dirty="0">
                <a:latin typeface="Consolas" panose="020B0609020204030204" pitchFamily="49" charset="0"/>
              </a:rPr>
              <a:t>main:	</a:t>
            </a:r>
            <a:r>
              <a:rPr lang="en-US" altLang="zh-CN" sz="1400" b="1" dirty="0" err="1">
                <a:solidFill>
                  <a:schemeClr val="tx1">
                    <a:lumMod val="50000"/>
                    <a:lumOff val="50000"/>
                  </a:schemeClr>
                </a:solidFill>
                <a:latin typeface="Consolas" panose="020B0609020204030204" pitchFamily="49" charset="0"/>
              </a:rPr>
              <a:t>addu</a:t>
            </a:r>
            <a:r>
              <a:rPr lang="en-US" altLang="zh-CN" sz="1400" b="1" dirty="0">
                <a:solidFill>
                  <a:schemeClr val="tx1">
                    <a:lumMod val="50000"/>
                    <a:lumOff val="50000"/>
                  </a:schemeClr>
                </a:solidFill>
                <a:latin typeface="Consolas" panose="020B0609020204030204" pitchFamily="49" charset="0"/>
              </a:rPr>
              <a:t>  $s3,$ra,$0</a:t>
            </a:r>
          </a:p>
          <a:p>
            <a:pPr algn="l" eaLnBrk="1" hangingPunct="1">
              <a:buFont typeface="Wingdings" pitchFamily="2" charset="2"/>
              <a:buNone/>
            </a:pPr>
            <a:r>
              <a:rPr lang="en-US" altLang="zh-CN" sz="1400" b="1" dirty="0">
                <a:latin typeface="Consolas" panose="020B0609020204030204" pitchFamily="49" charset="0"/>
              </a:rPr>
              <a:t>  	</a:t>
            </a:r>
            <a:r>
              <a:rPr lang="en-US" altLang="zh-CN" sz="1400" b="1" dirty="0" err="1">
                <a:latin typeface="Consolas" panose="020B0609020204030204" pitchFamily="49" charset="0"/>
              </a:rPr>
              <a:t>ori</a:t>
            </a:r>
            <a:r>
              <a:rPr lang="en-US" altLang="zh-CN" sz="1400" b="1" dirty="0">
                <a:latin typeface="Consolas" panose="020B0609020204030204" pitchFamily="49" charset="0"/>
              </a:rPr>
              <a:t>     $s6,$0,0x1000</a:t>
            </a:r>
          </a:p>
          <a:p>
            <a:pPr algn="l" eaLnBrk="1" hangingPunct="1">
              <a:buFont typeface="Wingdings" pitchFamily="2" charset="2"/>
              <a:buNone/>
            </a:pPr>
            <a:r>
              <a:rPr lang="en-US" altLang="zh-CN" sz="1400" b="1" dirty="0">
                <a:latin typeface="Consolas" panose="020B0609020204030204" pitchFamily="49" charset="0"/>
              </a:rPr>
              <a:t>   	</a:t>
            </a:r>
            <a:r>
              <a:rPr lang="en-US" altLang="zh-CN" sz="1400" b="1" dirty="0" err="1">
                <a:latin typeface="Consolas" panose="020B0609020204030204" pitchFamily="49" charset="0"/>
              </a:rPr>
              <a:t>sll</a:t>
            </a:r>
            <a:r>
              <a:rPr lang="en-US" altLang="zh-CN" sz="1400" b="1" dirty="0">
                <a:latin typeface="Consolas" panose="020B0609020204030204" pitchFamily="49" charset="0"/>
              </a:rPr>
              <a:t>      $s6,$s6,16</a:t>
            </a:r>
          </a:p>
          <a:p>
            <a:pPr algn="l" eaLnBrk="1" hangingPunct="1">
              <a:buFont typeface="Wingdings" pitchFamily="2" charset="2"/>
              <a:buNone/>
            </a:pPr>
            <a:r>
              <a:rPr lang="en-US" altLang="zh-CN" sz="1400" b="1" dirty="0">
                <a:latin typeface="Consolas" panose="020B0609020204030204" pitchFamily="49" charset="0"/>
              </a:rPr>
              <a:t>   	</a:t>
            </a:r>
            <a:r>
              <a:rPr lang="en-US" altLang="zh-CN" sz="1400" b="1" dirty="0" err="1">
                <a:latin typeface="Consolas" panose="020B0609020204030204" pitchFamily="49" charset="0"/>
              </a:rPr>
              <a:t>addiu</a:t>
            </a:r>
            <a:r>
              <a:rPr lang="en-US" altLang="zh-CN" sz="1400" b="1" dirty="0">
                <a:latin typeface="Consolas" panose="020B0609020204030204" pitchFamily="49" charset="0"/>
              </a:rPr>
              <a:t> $s4,$s6,0x0200</a:t>
            </a:r>
          </a:p>
          <a:p>
            <a:pPr algn="l" eaLnBrk="1" hangingPunct="1">
              <a:buFont typeface="Wingdings" pitchFamily="2" charset="2"/>
              <a:buNone/>
            </a:pPr>
            <a:r>
              <a:rPr lang="en-US" altLang="zh-CN" sz="1400" b="1" dirty="0">
                <a:latin typeface="Consolas" panose="020B0609020204030204" pitchFamily="49" charset="0"/>
              </a:rPr>
              <a:t>   	</a:t>
            </a:r>
            <a:r>
              <a:rPr lang="en-US" altLang="zh-CN" sz="1400" b="1" dirty="0" err="1">
                <a:latin typeface="Consolas" panose="020B0609020204030204" pitchFamily="49" charset="0"/>
              </a:rPr>
              <a:t>addiu</a:t>
            </a:r>
            <a:r>
              <a:rPr lang="en-US" altLang="zh-CN" sz="1400" b="1" dirty="0">
                <a:latin typeface="Consolas" panose="020B0609020204030204" pitchFamily="49" charset="0"/>
              </a:rPr>
              <a:t> $s5,$s6,0x0204	</a:t>
            </a:r>
          </a:p>
          <a:p>
            <a:pPr algn="l" eaLnBrk="1" hangingPunct="1">
              <a:buFont typeface="Wingdings" pitchFamily="2" charset="2"/>
              <a:buNone/>
            </a:pPr>
            <a:r>
              <a:rPr lang="en-US" altLang="zh-CN" sz="1400" b="1" dirty="0">
                <a:latin typeface="Consolas" panose="020B0609020204030204" pitchFamily="49" charset="0"/>
              </a:rPr>
              <a:t>   	</a:t>
            </a:r>
            <a:r>
              <a:rPr lang="en-US" altLang="zh-CN" sz="1400" b="1" dirty="0" err="1">
                <a:latin typeface="Consolas" panose="020B0609020204030204" pitchFamily="49" charset="0"/>
              </a:rPr>
              <a:t>beq</a:t>
            </a:r>
            <a:r>
              <a:rPr lang="en-US" altLang="zh-CN" sz="1400" b="1" dirty="0">
                <a:latin typeface="Consolas" panose="020B0609020204030204" pitchFamily="49" charset="0"/>
              </a:rPr>
              <a:t>    $0,$0,</a:t>
            </a:r>
            <a:r>
              <a:rPr lang="en-US" altLang="zh-CN" sz="1400" b="1" dirty="0">
                <a:solidFill>
                  <a:srgbClr val="0000FF"/>
                </a:solidFill>
                <a:latin typeface="Consolas" panose="020B0609020204030204" pitchFamily="49" charset="0"/>
              </a:rPr>
              <a:t> fact</a:t>
            </a:r>
            <a:r>
              <a:rPr lang="en-US" altLang="zh-CN" sz="1400" b="1" dirty="0">
                <a:latin typeface="Consolas" panose="020B0609020204030204" pitchFamily="49" charset="0"/>
              </a:rPr>
              <a:t>        </a:t>
            </a:r>
          </a:p>
          <a:p>
            <a:pPr algn="l" eaLnBrk="1" hangingPunct="1">
              <a:buFont typeface="Wingdings" pitchFamily="2" charset="2"/>
              <a:buNone/>
            </a:pPr>
            <a:r>
              <a:rPr lang="en-US" altLang="zh-CN" sz="1400" b="1" dirty="0">
                <a:latin typeface="Consolas" panose="020B0609020204030204" pitchFamily="49" charset="0"/>
              </a:rPr>
              <a:t>result:  </a:t>
            </a:r>
            <a:r>
              <a:rPr lang="en-US" altLang="zh-CN" sz="1400" b="1" dirty="0" err="1">
                <a:latin typeface="Consolas" panose="020B0609020204030204" pitchFamily="49" charset="0"/>
              </a:rPr>
              <a:t>sw</a:t>
            </a:r>
            <a:r>
              <a:rPr lang="en-US" altLang="zh-CN" sz="1400" b="1" dirty="0">
                <a:latin typeface="Consolas" panose="020B0609020204030204" pitchFamily="49" charset="0"/>
              </a:rPr>
              <a:t>     $s0,0($s5) </a:t>
            </a:r>
          </a:p>
          <a:p>
            <a:pPr algn="l" eaLnBrk="1" hangingPunct="1">
              <a:buFont typeface="Wingdings" pitchFamily="2" charset="2"/>
              <a:buNone/>
            </a:pPr>
            <a:r>
              <a:rPr lang="en-US" altLang="zh-CN" sz="1400" b="1" dirty="0">
                <a:latin typeface="Consolas" panose="020B0609020204030204" pitchFamily="49" charset="0"/>
              </a:rPr>
              <a:t>           </a:t>
            </a:r>
            <a:r>
              <a:rPr lang="en-US" altLang="zh-CN" sz="1400" b="1" dirty="0" err="1">
                <a:solidFill>
                  <a:schemeClr val="tx1">
                    <a:lumMod val="50000"/>
                    <a:lumOff val="50000"/>
                  </a:schemeClr>
                </a:solidFill>
                <a:latin typeface="Consolas" panose="020B0609020204030204" pitchFamily="49" charset="0"/>
              </a:rPr>
              <a:t>addu</a:t>
            </a:r>
            <a:r>
              <a:rPr lang="en-US" altLang="zh-CN" sz="1400" b="1" dirty="0">
                <a:solidFill>
                  <a:schemeClr val="tx1">
                    <a:lumMod val="50000"/>
                    <a:lumOff val="50000"/>
                  </a:schemeClr>
                </a:solidFill>
                <a:latin typeface="Consolas" panose="020B0609020204030204" pitchFamily="49" charset="0"/>
              </a:rPr>
              <a:t>  $ra,$s3,$0</a:t>
            </a:r>
          </a:p>
          <a:p>
            <a:pPr algn="l" eaLnBrk="1" hangingPunct="1">
              <a:buFont typeface="Wingdings" pitchFamily="2" charset="2"/>
              <a:buNone/>
            </a:pPr>
            <a:r>
              <a:rPr lang="en-US" altLang="zh-CN" sz="1400" b="1" dirty="0">
                <a:latin typeface="Consolas" panose="020B0609020204030204" pitchFamily="49" charset="0"/>
              </a:rPr>
              <a:t>          	</a:t>
            </a:r>
            <a:r>
              <a:rPr lang="en-US" altLang="zh-CN" sz="1400" b="1" dirty="0" err="1">
                <a:latin typeface="Consolas" panose="020B0609020204030204" pitchFamily="49" charset="0"/>
              </a:rPr>
              <a:t>jr</a:t>
            </a:r>
            <a:r>
              <a:rPr lang="en-US" altLang="zh-CN" sz="1400" b="1" dirty="0">
                <a:latin typeface="Consolas" panose="020B0609020204030204" pitchFamily="49" charset="0"/>
              </a:rPr>
              <a:t>       $</a:t>
            </a:r>
            <a:r>
              <a:rPr lang="en-US" altLang="zh-CN" sz="1400" b="1" dirty="0" err="1">
                <a:latin typeface="Consolas" panose="020B0609020204030204" pitchFamily="49" charset="0"/>
              </a:rPr>
              <a:t>ra</a:t>
            </a:r>
            <a:endParaRPr lang="en-US" altLang="zh-CN" sz="1400" b="1" dirty="0">
              <a:latin typeface="Consolas" panose="020B0609020204030204" pitchFamily="49" charset="0"/>
            </a:endParaRPr>
          </a:p>
          <a:p>
            <a:pPr algn="l" eaLnBrk="1" hangingPunct="1">
              <a:spcBef>
                <a:spcPct val="25000"/>
              </a:spcBef>
              <a:buFont typeface="Wingdings" pitchFamily="2" charset="2"/>
              <a:buNone/>
            </a:pPr>
            <a:r>
              <a:rPr lang="en-US" altLang="zh-CN" sz="1400" b="1" dirty="0">
                <a:solidFill>
                  <a:srgbClr val="FF0000"/>
                </a:solidFill>
                <a:latin typeface="Consolas" panose="020B0609020204030204" pitchFamily="49" charset="0"/>
              </a:rPr>
              <a:t> 	.text 0x00400100</a:t>
            </a:r>
            <a:endParaRPr lang="en-US" altLang="zh-CN" sz="1400" b="1" dirty="0">
              <a:latin typeface="Consolas" panose="020B0609020204030204" pitchFamily="49" charset="0"/>
            </a:endParaRPr>
          </a:p>
          <a:p>
            <a:pPr algn="l" eaLnBrk="1" hangingPunct="1">
              <a:spcBef>
                <a:spcPct val="20000"/>
              </a:spcBef>
              <a:buClr>
                <a:schemeClr val="tx2"/>
              </a:buClr>
              <a:buSzPct val="70000"/>
              <a:buFont typeface="Wingdings" pitchFamily="2" charset="2"/>
              <a:buNone/>
            </a:pPr>
            <a:r>
              <a:rPr lang="en-US" altLang="zh-CN" sz="1400" b="1" dirty="0">
                <a:solidFill>
                  <a:srgbClr val="0000FF"/>
                </a:solidFill>
                <a:latin typeface="Consolas" panose="020B0609020204030204" pitchFamily="49" charset="0"/>
              </a:rPr>
              <a:t>fact:</a:t>
            </a:r>
            <a:r>
              <a:rPr lang="en-US" altLang="zh-CN" sz="1400" b="1" dirty="0">
                <a:latin typeface="Consolas" panose="020B0609020204030204" pitchFamily="49" charset="0"/>
              </a:rPr>
              <a:t>	</a:t>
            </a:r>
            <a:r>
              <a:rPr lang="en-US" altLang="zh-CN" sz="1400" b="1" dirty="0" err="1">
                <a:latin typeface="Consolas" panose="020B0609020204030204" pitchFamily="49" charset="0"/>
              </a:rPr>
              <a:t>sw</a:t>
            </a:r>
            <a:r>
              <a:rPr lang="en-US" altLang="zh-CN" sz="1400" b="1" dirty="0">
                <a:latin typeface="Consolas" panose="020B0609020204030204" pitchFamily="49" charset="0"/>
              </a:rPr>
              <a:t>     $ra,0($s7)</a:t>
            </a:r>
          </a:p>
          <a:p>
            <a:pPr algn="l" eaLnBrk="1" hangingPunct="1">
              <a:spcBef>
                <a:spcPct val="20000"/>
              </a:spcBef>
              <a:buClr>
                <a:schemeClr val="tx2"/>
              </a:buClr>
              <a:buSzPct val="70000"/>
              <a:buFont typeface="Wingdings" pitchFamily="2" charset="2"/>
              <a:buNone/>
            </a:pPr>
            <a:r>
              <a:rPr lang="en-US" altLang="zh-CN" sz="1400" b="1" dirty="0">
                <a:latin typeface="Consolas" panose="020B0609020204030204" pitchFamily="49" charset="0"/>
              </a:rPr>
              <a:t>  	</a:t>
            </a:r>
            <a:r>
              <a:rPr lang="en-US" altLang="zh-CN" sz="1400" b="1" dirty="0" err="1">
                <a:latin typeface="Consolas" panose="020B0609020204030204" pitchFamily="49" charset="0"/>
              </a:rPr>
              <a:t>addiu</a:t>
            </a:r>
            <a:r>
              <a:rPr lang="en-US" altLang="zh-CN" sz="1400" b="1" dirty="0">
                <a:latin typeface="Consolas" panose="020B0609020204030204" pitchFamily="49" charset="0"/>
              </a:rPr>
              <a:t> $s0,$0,1</a:t>
            </a:r>
          </a:p>
          <a:p>
            <a:pPr algn="l" eaLnBrk="1" hangingPunct="1">
              <a:spcBef>
                <a:spcPct val="20000"/>
              </a:spcBef>
              <a:buClr>
                <a:schemeClr val="tx2"/>
              </a:buClr>
              <a:buSzPct val="70000"/>
              <a:buFont typeface="Wingdings" pitchFamily="2" charset="2"/>
              <a:buNone/>
            </a:pPr>
            <a:r>
              <a:rPr lang="en-US" altLang="zh-CN" sz="1400" b="1" dirty="0">
                <a:latin typeface="Consolas" panose="020B0609020204030204" pitchFamily="49" charset="0"/>
              </a:rPr>
              <a:t>           </a:t>
            </a:r>
            <a:r>
              <a:rPr lang="en-US" altLang="zh-CN" sz="1400" b="1" dirty="0" err="1">
                <a:latin typeface="Consolas" panose="020B0609020204030204" pitchFamily="49" charset="0"/>
              </a:rPr>
              <a:t>lw</a:t>
            </a:r>
            <a:r>
              <a:rPr lang="en-US" altLang="zh-CN" sz="1400" b="1" dirty="0">
                <a:latin typeface="Consolas" panose="020B0609020204030204" pitchFamily="49" charset="0"/>
              </a:rPr>
              <a:t>      $s1,0($s4)</a:t>
            </a:r>
            <a:r>
              <a:rPr lang="en-US" altLang="zh-CN" sz="1400" b="1" dirty="0">
                <a:solidFill>
                  <a:schemeClr val="accent1"/>
                </a:solidFill>
                <a:latin typeface="Consolas" panose="020B0609020204030204" pitchFamily="49" charset="0"/>
              </a:rPr>
              <a:t>    </a:t>
            </a:r>
            <a:r>
              <a:rPr lang="en-US" altLang="zh-CN" sz="1400" b="1" dirty="0">
                <a:solidFill>
                  <a:srgbClr val="0000CC"/>
                </a:solidFill>
                <a:latin typeface="Consolas" panose="020B0609020204030204" pitchFamily="49" charset="0"/>
              </a:rPr>
              <a:t>#$s0=n!</a:t>
            </a:r>
          </a:p>
          <a:p>
            <a:pPr algn="l" eaLnBrk="1" hangingPunct="1">
              <a:spcBef>
                <a:spcPct val="20000"/>
              </a:spcBef>
              <a:buClr>
                <a:schemeClr val="tx2"/>
              </a:buClr>
              <a:buSzPct val="70000"/>
              <a:buFont typeface="Wingdings" pitchFamily="2" charset="2"/>
              <a:buNone/>
            </a:pPr>
            <a:r>
              <a:rPr lang="en-US" altLang="zh-CN" sz="1400" b="1" dirty="0">
                <a:latin typeface="Consolas" panose="020B0609020204030204" pitchFamily="49" charset="0"/>
              </a:rPr>
              <a:t>loop:	</a:t>
            </a:r>
            <a:r>
              <a:rPr lang="en-US" altLang="zh-CN" sz="1400" b="1" dirty="0" err="1">
                <a:latin typeface="Consolas" panose="020B0609020204030204" pitchFamily="49" charset="0"/>
              </a:rPr>
              <a:t>mul</a:t>
            </a:r>
            <a:r>
              <a:rPr lang="en-US" altLang="zh-CN" sz="1400" b="1" dirty="0">
                <a:latin typeface="Consolas" panose="020B0609020204030204" pitchFamily="49" charset="0"/>
              </a:rPr>
              <a:t>    $s0,$s1,$s0</a:t>
            </a:r>
          </a:p>
          <a:p>
            <a:pPr algn="l" eaLnBrk="1" hangingPunct="1">
              <a:spcBef>
                <a:spcPct val="20000"/>
              </a:spcBef>
              <a:buClr>
                <a:schemeClr val="tx2"/>
              </a:buClr>
              <a:buSzPct val="70000"/>
              <a:buFont typeface="Wingdings" pitchFamily="2" charset="2"/>
              <a:buNone/>
            </a:pPr>
            <a:r>
              <a:rPr lang="en-US" altLang="zh-CN" sz="1400" b="1" dirty="0">
                <a:latin typeface="Consolas" panose="020B0609020204030204" pitchFamily="49" charset="0"/>
              </a:rPr>
              <a:t>	</a:t>
            </a:r>
            <a:r>
              <a:rPr lang="en-US" altLang="zh-CN" sz="1400" b="1" dirty="0" err="1">
                <a:latin typeface="Consolas" panose="020B0609020204030204" pitchFamily="49" charset="0"/>
              </a:rPr>
              <a:t>addi</a:t>
            </a:r>
            <a:r>
              <a:rPr lang="en-US" altLang="zh-CN" sz="1400" b="1" dirty="0">
                <a:latin typeface="Consolas" panose="020B0609020204030204" pitchFamily="49" charset="0"/>
              </a:rPr>
              <a:t>   $s1,$s1,-1</a:t>
            </a:r>
          </a:p>
          <a:p>
            <a:pPr algn="l" eaLnBrk="1" hangingPunct="1">
              <a:spcBef>
                <a:spcPct val="20000"/>
              </a:spcBef>
              <a:buClr>
                <a:schemeClr val="tx2"/>
              </a:buClr>
              <a:buSzPct val="70000"/>
              <a:buFont typeface="Wingdings" pitchFamily="2" charset="2"/>
              <a:buNone/>
            </a:pPr>
            <a:r>
              <a:rPr lang="en-US" altLang="zh-CN" sz="1400" b="1" dirty="0">
                <a:latin typeface="Consolas" panose="020B0609020204030204" pitchFamily="49" charset="0"/>
              </a:rPr>
              <a:t>	</a:t>
            </a:r>
            <a:r>
              <a:rPr lang="en-US" altLang="zh-CN" sz="1400" b="1" dirty="0" err="1">
                <a:latin typeface="Consolas" panose="020B0609020204030204" pitchFamily="49" charset="0"/>
              </a:rPr>
              <a:t>bnez</a:t>
            </a:r>
            <a:r>
              <a:rPr lang="en-US" altLang="zh-CN" sz="1400" b="1" dirty="0">
                <a:latin typeface="Consolas" panose="020B0609020204030204" pitchFamily="49" charset="0"/>
              </a:rPr>
              <a:t>   $s1,loop      </a:t>
            </a:r>
            <a:r>
              <a:rPr lang="en-US" altLang="zh-CN" sz="1400" b="1" dirty="0">
                <a:solidFill>
                  <a:srgbClr val="0000CC"/>
                </a:solidFill>
                <a:latin typeface="Consolas" panose="020B0609020204030204" pitchFamily="49" charset="0"/>
              </a:rPr>
              <a:t>#f=n!</a:t>
            </a:r>
          </a:p>
          <a:p>
            <a:pPr algn="l" eaLnBrk="1" hangingPunct="1">
              <a:spcBef>
                <a:spcPct val="20000"/>
              </a:spcBef>
              <a:buClr>
                <a:schemeClr val="tx2"/>
              </a:buClr>
              <a:buSzPct val="70000"/>
              <a:buFont typeface="Wingdings" pitchFamily="2" charset="2"/>
              <a:buNone/>
            </a:pPr>
            <a:r>
              <a:rPr lang="en-US" altLang="zh-CN" sz="1400" b="1" dirty="0">
                <a:latin typeface="Consolas" panose="020B0609020204030204" pitchFamily="49" charset="0"/>
              </a:rPr>
              <a:t>	j        result       	</a:t>
            </a:r>
          </a:p>
          <a:p>
            <a:pPr algn="l" eaLnBrk="1" hangingPunct="1">
              <a:spcBef>
                <a:spcPct val="30000"/>
              </a:spcBef>
              <a:buClr>
                <a:schemeClr val="tx2"/>
              </a:buClr>
              <a:buSzPct val="70000"/>
              <a:buFont typeface="Wingdings" pitchFamily="2" charset="2"/>
              <a:buNone/>
            </a:pPr>
            <a:r>
              <a:rPr lang="en-US" altLang="zh-CN" sz="1400" b="1" dirty="0">
                <a:latin typeface="Consolas" panose="020B0609020204030204" pitchFamily="49" charset="0"/>
              </a:rPr>
              <a:t>          </a:t>
            </a:r>
            <a:r>
              <a:rPr lang="en-US" altLang="zh-CN" sz="1400" b="1" dirty="0">
                <a:solidFill>
                  <a:srgbClr val="FF0000"/>
                </a:solidFill>
                <a:latin typeface="Consolas" panose="020B0609020204030204" pitchFamily="49" charset="0"/>
              </a:rPr>
              <a:t>.data 0x10000200</a:t>
            </a:r>
          </a:p>
          <a:p>
            <a:pPr algn="l" eaLnBrk="1" hangingPunct="1">
              <a:spcBef>
                <a:spcPct val="20000"/>
              </a:spcBef>
              <a:buClr>
                <a:schemeClr val="tx2"/>
              </a:buClr>
              <a:buSzPct val="70000"/>
              <a:buFont typeface="Wingdings" pitchFamily="2" charset="2"/>
              <a:buNone/>
            </a:pPr>
            <a:r>
              <a:rPr lang="en-US" altLang="zh-CN" sz="1400" b="1" dirty="0">
                <a:latin typeface="Consolas" panose="020B0609020204030204" pitchFamily="49" charset="0"/>
              </a:rPr>
              <a:t>n:      .word 4</a:t>
            </a:r>
          </a:p>
          <a:p>
            <a:pPr algn="l" eaLnBrk="1" hangingPunct="1">
              <a:spcBef>
                <a:spcPct val="20000"/>
              </a:spcBef>
              <a:buClr>
                <a:schemeClr val="tx2"/>
              </a:buClr>
              <a:buSzPct val="70000"/>
              <a:buFont typeface="Wingdings" pitchFamily="2" charset="2"/>
              <a:buNone/>
            </a:pPr>
            <a:r>
              <a:rPr lang="en-US" altLang="zh-CN" sz="1400" b="1" dirty="0">
                <a:latin typeface="Consolas" panose="020B0609020204030204" pitchFamily="49" charset="0"/>
              </a:rPr>
              <a:t>f:       .word 0</a:t>
            </a:r>
          </a:p>
        </p:txBody>
      </p:sp>
      <p:sp>
        <p:nvSpPr>
          <p:cNvPr id="10" name="灯片编号占位符 3">
            <a:extLst>
              <a:ext uri="{FF2B5EF4-FFF2-40B4-BE49-F238E27FC236}">
                <a16:creationId xmlns:a16="http://schemas.microsoft.com/office/drawing/2014/main" id="{B480ED64-7A49-4A22-96EF-A125A5A232A4}"/>
              </a:ext>
            </a:extLst>
          </p:cNvPr>
          <p:cNvSpPr>
            <a:spLocks noGrp="1"/>
          </p:cNvSpPr>
          <p:nvPr>
            <p:ph type="sldNum" sz="quarter" idx="12"/>
          </p:nvPr>
        </p:nvSpPr>
        <p:spPr/>
        <p:txBody>
          <a:bodyPr/>
          <a:lstStyle/>
          <a:p>
            <a:fld id="{14659731-6BD7-46E7-8D3C-2F3AC07E20B1}" type="slidenum">
              <a:rPr lang="en-US" altLang="zh-CN" smtClean="0"/>
              <a:pPr/>
              <a:t>124</a:t>
            </a:fld>
            <a:endParaRPr lang="en-US" altLang="zh-CN" dirty="0"/>
          </a:p>
        </p:txBody>
      </p:sp>
      <p:sp>
        <p:nvSpPr>
          <p:cNvPr id="18437" name="Rectangle 3"/>
          <p:cNvSpPr>
            <a:spLocks noGrp="1" noChangeArrowheads="1"/>
          </p:cNvSpPr>
          <p:nvPr>
            <p:ph idx="4294967295"/>
          </p:nvPr>
        </p:nvSpPr>
        <p:spPr>
          <a:xfrm>
            <a:off x="434898" y="1395353"/>
            <a:ext cx="4187825" cy="5256213"/>
          </a:xfrm>
        </p:spPr>
        <p:txBody>
          <a:bodyPr>
            <a:normAutofit/>
          </a:bodyPr>
          <a:lstStyle/>
          <a:p>
            <a:pPr eaLnBrk="1" hangingPunct="1"/>
            <a:r>
              <a:rPr lang="zh-CN" altLang="en-US" sz="2400" dirty="0">
                <a:ea typeface="+mj-ea"/>
              </a:rPr>
              <a:t>在符号汇编语句中</a:t>
            </a:r>
            <a:r>
              <a:rPr lang="en-US" altLang="zh-CN" sz="2400" dirty="0">
                <a:ea typeface="+mj-ea"/>
              </a:rPr>
              <a:t>,</a:t>
            </a:r>
            <a:r>
              <a:rPr lang="zh-CN" altLang="en-US" sz="2400" dirty="0">
                <a:ea typeface="+mj-ea"/>
              </a:rPr>
              <a:t>分支语句的目标位置是用绝对地址方式写的</a:t>
            </a:r>
          </a:p>
          <a:p>
            <a:pPr marL="628650" lvl="1" indent="-228600" eaLnBrk="1" hangingPunct="1"/>
            <a:r>
              <a:rPr lang="en-US" altLang="zh-CN" sz="2000" dirty="0">
                <a:ea typeface="+mj-ea"/>
              </a:rPr>
              <a:t>e.g., </a:t>
            </a:r>
            <a:r>
              <a:rPr lang="en-US" altLang="zh-CN" sz="2000" b="1" dirty="0" err="1">
                <a:latin typeface="Consolas" panose="020B0609020204030204" pitchFamily="49" charset="0"/>
                <a:ea typeface="+mj-ea"/>
                <a:cs typeface="Consolas" panose="020B0609020204030204" pitchFamily="49" charset="0"/>
              </a:rPr>
              <a:t>beq</a:t>
            </a:r>
            <a:r>
              <a:rPr lang="en-US" altLang="zh-CN" sz="2000" b="1" dirty="0">
                <a:latin typeface="Consolas" panose="020B0609020204030204" pitchFamily="49" charset="0"/>
                <a:ea typeface="+mj-ea"/>
                <a:cs typeface="Consolas" panose="020B0609020204030204" pitchFamily="49" charset="0"/>
              </a:rPr>
              <a:t> $0,$0,fact</a:t>
            </a:r>
            <a:endParaRPr lang="en-US" altLang="zh-CN" sz="2000" dirty="0">
              <a:latin typeface="Consolas" panose="020B0609020204030204" pitchFamily="49" charset="0"/>
              <a:ea typeface="+mj-ea"/>
              <a:cs typeface="Consolas" panose="020B0609020204030204" pitchFamily="49" charset="0"/>
            </a:endParaRPr>
          </a:p>
          <a:p>
            <a:pPr marL="400050" lvl="1" indent="0" eaLnBrk="1" hangingPunct="1">
              <a:buNone/>
            </a:pPr>
            <a:r>
              <a:rPr lang="en-US" altLang="zh-CN" sz="2000" dirty="0">
                <a:ea typeface="+mj-ea"/>
              </a:rPr>
              <a:t>means </a:t>
            </a:r>
            <a:r>
              <a:rPr lang="en-US" altLang="zh-CN" sz="2000" dirty="0">
                <a:solidFill>
                  <a:srgbClr val="FF0000"/>
                </a:solidFill>
                <a:ea typeface="+mj-ea"/>
              </a:rPr>
              <a:t>PC </a:t>
            </a:r>
            <a:r>
              <a:rPr lang="en-US" altLang="zh-CN" sz="2000" dirty="0">
                <a:solidFill>
                  <a:srgbClr val="FF0000"/>
                </a:solidFill>
                <a:ea typeface="+mj-ea"/>
                <a:sym typeface="Wingdings" pitchFamily="2" charset="2"/>
              </a:rPr>
              <a:t></a:t>
            </a:r>
            <a:r>
              <a:rPr lang="en-US" altLang="zh-CN" sz="2000" dirty="0">
                <a:solidFill>
                  <a:srgbClr val="FF0000"/>
                </a:solidFill>
                <a:ea typeface="+mj-ea"/>
                <a:sym typeface="Symbol" pitchFamily="18" charset="2"/>
              </a:rPr>
              <a:t> 0x00400100</a:t>
            </a:r>
            <a:endParaRPr lang="en-US" altLang="zh-CN" sz="2000" i="1" dirty="0">
              <a:solidFill>
                <a:srgbClr val="FF0000"/>
              </a:solidFill>
              <a:ea typeface="+mj-ea"/>
            </a:endParaRPr>
          </a:p>
          <a:p>
            <a:pPr eaLnBrk="1" hangingPunct="1"/>
            <a:r>
              <a:rPr lang="zh-CN" altLang="en-US" sz="2400" dirty="0">
                <a:ea typeface="+mj-ea"/>
              </a:rPr>
              <a:t>不过在实现中</a:t>
            </a:r>
            <a:r>
              <a:rPr lang="en-US" altLang="zh-CN" sz="2400" dirty="0">
                <a:ea typeface="+mj-ea"/>
              </a:rPr>
              <a:t>,</a:t>
            </a:r>
            <a:r>
              <a:rPr lang="zh-CN" altLang="en-US" sz="2400" dirty="0">
                <a:ea typeface="+mj-ea"/>
              </a:rPr>
              <a:t>要用相对于</a:t>
            </a:r>
            <a:r>
              <a:rPr lang="en-US" altLang="zh-CN" sz="2400" dirty="0">
                <a:ea typeface="+mj-ea"/>
              </a:rPr>
              <a:t>PC</a:t>
            </a:r>
            <a:r>
              <a:rPr lang="zh-CN" altLang="en-US" sz="2400" dirty="0">
                <a:ea typeface="+mj-ea"/>
              </a:rPr>
              <a:t>的地址来定义</a:t>
            </a:r>
          </a:p>
          <a:p>
            <a:pPr marL="628650" lvl="1" indent="-228600" eaLnBrk="1" hangingPunct="1"/>
            <a:r>
              <a:rPr lang="en-US" altLang="zh-CN" sz="2000" dirty="0">
                <a:ea typeface="+mj-ea"/>
              </a:rPr>
              <a:t>e.g., </a:t>
            </a:r>
            <a:r>
              <a:rPr lang="en-US" altLang="zh-CN" sz="2000" b="1" dirty="0" err="1">
                <a:latin typeface="Consolas" panose="020B0609020204030204" pitchFamily="49" charset="0"/>
                <a:ea typeface="+mj-ea"/>
                <a:cs typeface="Consolas" panose="020B0609020204030204" pitchFamily="49" charset="0"/>
              </a:rPr>
              <a:t>beq</a:t>
            </a:r>
            <a:r>
              <a:rPr lang="en-US" altLang="zh-CN" sz="2000" b="1" dirty="0">
                <a:latin typeface="Consolas" panose="020B0609020204030204" pitchFamily="49" charset="0"/>
                <a:ea typeface="+mj-ea"/>
                <a:cs typeface="Consolas" panose="020B0609020204030204" pitchFamily="49" charset="0"/>
              </a:rPr>
              <a:t> $0,$0,0x</a:t>
            </a:r>
            <a:r>
              <a:rPr lang="en-US" altLang="zh-CN" sz="2000" dirty="0">
                <a:latin typeface="Consolas" panose="020B0609020204030204" pitchFamily="49" charset="0"/>
                <a:ea typeface="+mj-ea"/>
                <a:cs typeface="Consolas" panose="020B0609020204030204" pitchFamily="49" charset="0"/>
              </a:rPr>
              <a:t>??</a:t>
            </a:r>
          </a:p>
          <a:p>
            <a:pPr marL="400050" lvl="1" indent="0" eaLnBrk="1" hangingPunct="1">
              <a:buNone/>
            </a:pPr>
            <a:r>
              <a:rPr lang="en-US" altLang="zh-CN" sz="2000" dirty="0">
                <a:ea typeface="+mj-ea"/>
              </a:rPr>
              <a:t>means </a:t>
            </a:r>
            <a:r>
              <a:rPr lang="en-US" altLang="zh-CN" sz="2000" dirty="0">
                <a:solidFill>
                  <a:srgbClr val="FF0000"/>
                </a:solidFill>
                <a:ea typeface="+mj-ea"/>
              </a:rPr>
              <a:t>PC </a:t>
            </a:r>
            <a:r>
              <a:rPr lang="en-US" altLang="zh-CN" sz="2000" dirty="0">
                <a:solidFill>
                  <a:srgbClr val="FF0000"/>
                </a:solidFill>
                <a:ea typeface="+mj-ea"/>
                <a:sym typeface="Wingdings" pitchFamily="2" charset="2"/>
              </a:rPr>
              <a:t></a:t>
            </a:r>
            <a:r>
              <a:rPr lang="en-US" altLang="zh-CN" sz="2000" dirty="0">
                <a:solidFill>
                  <a:srgbClr val="FF0000"/>
                </a:solidFill>
                <a:ea typeface="+mj-ea"/>
                <a:sym typeface="Symbol" pitchFamily="18" charset="2"/>
              </a:rPr>
              <a:t> 0x00400100 ?</a:t>
            </a:r>
            <a:endParaRPr lang="en-US" altLang="zh-CN" sz="2000" i="1" dirty="0">
              <a:solidFill>
                <a:srgbClr val="FF0000"/>
              </a:solidFill>
              <a:ea typeface="+mj-ea"/>
            </a:endParaRPr>
          </a:p>
        </p:txBody>
      </p:sp>
      <p:sp>
        <p:nvSpPr>
          <p:cNvPr id="4" name="TextBox 3"/>
          <p:cNvSpPr txBox="1"/>
          <p:nvPr/>
        </p:nvSpPr>
        <p:spPr>
          <a:xfrm>
            <a:off x="1040333" y="5231814"/>
            <a:ext cx="2875507" cy="461665"/>
          </a:xfrm>
          <a:prstGeom prst="rect">
            <a:avLst/>
          </a:prstGeom>
          <a:ln>
            <a:solidFill>
              <a:srgbClr val="0432FF"/>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altLang="en-US" sz="2400" b="1" dirty="0">
                <a:latin typeface="+mj-ea"/>
                <a:ea typeface="+mj-ea"/>
              </a:rPr>
              <a:t>需要计算出偏移量</a:t>
            </a:r>
          </a:p>
        </p:txBody>
      </p:sp>
      <p:sp>
        <p:nvSpPr>
          <p:cNvPr id="2" name="Title 4">
            <a:extLst>
              <a:ext uri="{FF2B5EF4-FFF2-40B4-BE49-F238E27FC236}">
                <a16:creationId xmlns:a16="http://schemas.microsoft.com/office/drawing/2014/main" id="{AB6A39C1-0F41-A242-D3B1-794BAC51B8FF}"/>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dirty="0"/>
              <a:t>编程指南：分支</a:t>
            </a:r>
            <a:endParaRPr lang="en-CN" kern="0" dirty="0"/>
          </a:p>
        </p:txBody>
      </p:sp>
    </p:spTree>
    <p:extLst>
      <p:ext uri="{BB962C8B-B14F-4D97-AF65-F5344CB8AC3E}">
        <p14:creationId xmlns:p14="http://schemas.microsoft.com/office/powerpoint/2010/main" val="4215143529"/>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a:extLst>
              <a:ext uri="{FF2B5EF4-FFF2-40B4-BE49-F238E27FC236}">
                <a16:creationId xmlns:a16="http://schemas.microsoft.com/office/drawing/2014/main" id="{26C22451-9A92-4726-8F26-2903ABA231EB}"/>
              </a:ext>
            </a:extLst>
          </p:cNvPr>
          <p:cNvSpPr>
            <a:spLocks noGrp="1"/>
          </p:cNvSpPr>
          <p:nvPr>
            <p:ph type="sldNum" sz="quarter" idx="12"/>
          </p:nvPr>
        </p:nvSpPr>
        <p:spPr/>
        <p:txBody>
          <a:bodyPr/>
          <a:lstStyle/>
          <a:p>
            <a:fld id="{14659731-6BD7-46E7-8D3C-2F3AC07E20B1}" type="slidenum">
              <a:rPr lang="en-US" altLang="zh-CN" smtClean="0"/>
              <a:pPr/>
              <a:t>125</a:t>
            </a:fld>
            <a:endParaRPr lang="en-US" altLang="zh-CN" dirty="0"/>
          </a:p>
        </p:txBody>
      </p:sp>
      <p:sp>
        <p:nvSpPr>
          <p:cNvPr id="690179" name="Rectangle 3"/>
          <p:cNvSpPr>
            <a:spLocks noGrp="1" noChangeArrowheads="1"/>
          </p:cNvSpPr>
          <p:nvPr>
            <p:ph idx="4294967295"/>
          </p:nvPr>
        </p:nvSpPr>
        <p:spPr>
          <a:xfrm>
            <a:off x="457199" y="1435331"/>
            <a:ext cx="8352263" cy="5010073"/>
          </a:xfrm>
        </p:spPr>
        <p:txBody>
          <a:bodyPr>
            <a:normAutofit/>
          </a:bodyPr>
          <a:lstStyle/>
          <a:p>
            <a:pPr eaLnBrk="1" hangingPunct="1"/>
            <a:r>
              <a:rPr lang="zh-CN" altLang="en-US" sz="2800" b="1" dirty="0">
                <a:solidFill>
                  <a:srgbClr val="0432FF"/>
                </a:solidFill>
                <a:ea typeface="+mj-ea"/>
              </a:rPr>
              <a:t>偏移量 </a:t>
            </a:r>
            <a:r>
              <a:rPr lang="en-US" altLang="zh-CN" sz="2800" b="1" dirty="0">
                <a:solidFill>
                  <a:srgbClr val="0432FF"/>
                </a:solidFill>
                <a:ea typeface="+mj-ea"/>
              </a:rPr>
              <a:t>=</a:t>
            </a:r>
            <a:r>
              <a:rPr lang="en-US" altLang="zh-CN" sz="2800" dirty="0">
                <a:solidFill>
                  <a:srgbClr val="0432FF"/>
                </a:solidFill>
                <a:ea typeface="+mj-ea"/>
              </a:rPr>
              <a:t> </a:t>
            </a:r>
            <a:r>
              <a:rPr lang="zh-CN" altLang="en-US" sz="2800" dirty="0">
                <a:ea typeface="+mj-ea"/>
              </a:rPr>
              <a:t>从下一条指令对应的</a:t>
            </a:r>
            <a:r>
              <a:rPr lang="en-US" altLang="zh-CN" sz="2800" dirty="0">
                <a:ea typeface="+mj-ea"/>
              </a:rPr>
              <a:t>PC</a:t>
            </a:r>
            <a:r>
              <a:rPr lang="zh-CN" altLang="en-US" sz="2800" dirty="0">
                <a:ea typeface="+mj-ea"/>
              </a:rPr>
              <a:t>开始到标号位置还有多少条指令</a:t>
            </a:r>
            <a:endParaRPr lang="en-US" altLang="zh-CN" sz="2800" dirty="0">
              <a:ea typeface="+mj-ea"/>
            </a:endParaRPr>
          </a:p>
          <a:p>
            <a:pPr lvl="1" eaLnBrk="1" hangingPunct="1"/>
            <a:r>
              <a:rPr lang="en-US" altLang="zh-CN" sz="2400" dirty="0">
                <a:ea typeface="+mj-ea"/>
              </a:rPr>
              <a:t>e.g., </a:t>
            </a:r>
            <a:r>
              <a:rPr lang="en-US" altLang="zh-CN" sz="2400" b="1" dirty="0" err="1">
                <a:ea typeface="+mj-ea"/>
              </a:rPr>
              <a:t>beq</a:t>
            </a:r>
            <a:r>
              <a:rPr lang="en-US" altLang="zh-CN" sz="2400" b="1" dirty="0">
                <a:ea typeface="+mj-ea"/>
              </a:rPr>
              <a:t> $0,$0,fact</a:t>
            </a:r>
            <a:r>
              <a:rPr lang="zh-CN" altLang="en-US" sz="2400" dirty="0">
                <a:ea typeface="+mj-ea"/>
              </a:rPr>
              <a:t>如果位于地址 </a:t>
            </a:r>
            <a:r>
              <a:rPr lang="en-US" altLang="zh-CN" sz="2400" dirty="0">
                <a:solidFill>
                  <a:srgbClr val="0432FF"/>
                </a:solidFill>
                <a:ea typeface="+mj-ea"/>
              </a:rPr>
              <a:t>0x00400000</a:t>
            </a:r>
            <a:r>
              <a:rPr lang="en-US" altLang="zh-CN" sz="2400" dirty="0">
                <a:ea typeface="+mj-ea"/>
              </a:rPr>
              <a:t> </a:t>
            </a:r>
            <a:r>
              <a:rPr lang="zh-CN" altLang="en-US" sz="2400" dirty="0">
                <a:ea typeface="+mj-ea"/>
              </a:rPr>
              <a:t>的话</a:t>
            </a:r>
          </a:p>
          <a:p>
            <a:pPr lvl="1" eaLnBrk="1" hangingPunct="1">
              <a:buFont typeface="Wingdings" pitchFamily="2" charset="2"/>
              <a:buNone/>
            </a:pPr>
            <a:r>
              <a:rPr lang="en-US" altLang="zh-CN" sz="2000" dirty="0">
                <a:ea typeface="+mj-ea"/>
              </a:rPr>
              <a:t>    word displacement=</a:t>
            </a:r>
            <a:r>
              <a:rPr lang="en-US" altLang="zh-CN" sz="2000" b="1" dirty="0">
                <a:ea typeface="+mj-ea"/>
              </a:rPr>
              <a:t>(target - (&lt;PC&gt;+4)) / 4</a:t>
            </a:r>
          </a:p>
          <a:p>
            <a:pPr lvl="1" eaLnBrk="1" hangingPunct="1">
              <a:buFont typeface="Wingdings" pitchFamily="2" charset="2"/>
              <a:buNone/>
            </a:pPr>
            <a:r>
              <a:rPr lang="en-US" altLang="zh-CN" sz="2000" b="1" dirty="0">
                <a:ea typeface="+mj-ea"/>
              </a:rPr>
              <a:t>                                     =(0x00400100 - 0x00400004)/4</a:t>
            </a:r>
          </a:p>
          <a:p>
            <a:pPr lvl="1" eaLnBrk="1" hangingPunct="1">
              <a:buFont typeface="Wingdings" pitchFamily="2" charset="2"/>
              <a:buNone/>
            </a:pPr>
            <a:r>
              <a:rPr lang="en-US" altLang="zh-CN" sz="2000" b="1" dirty="0">
                <a:ea typeface="+mj-ea"/>
              </a:rPr>
              <a:t>                                     =0xfc/4=</a:t>
            </a:r>
            <a:r>
              <a:rPr lang="en-US" altLang="zh-CN" sz="2000" b="1" dirty="0">
                <a:solidFill>
                  <a:srgbClr val="0432FF"/>
                </a:solidFill>
                <a:ea typeface="+mj-ea"/>
              </a:rPr>
              <a:t>0x3f</a:t>
            </a:r>
            <a:r>
              <a:rPr lang="en-US" altLang="zh-CN" sz="2000" dirty="0">
                <a:ea typeface="+mj-ea"/>
              </a:rPr>
              <a:t> </a:t>
            </a:r>
          </a:p>
          <a:p>
            <a:pPr lvl="1" eaLnBrk="1" hangingPunct="1"/>
            <a:r>
              <a:rPr lang="zh-CN" altLang="en-US" sz="2400" dirty="0">
                <a:ea typeface="+mj-ea"/>
              </a:rPr>
              <a:t>偏移量为</a:t>
            </a:r>
            <a:r>
              <a:rPr lang="en-US" altLang="zh-CN" sz="2400" dirty="0">
                <a:ea typeface="+mj-ea"/>
              </a:rPr>
              <a:t>0</a:t>
            </a:r>
            <a:r>
              <a:rPr lang="zh-CN" altLang="en-US" sz="2400" dirty="0">
                <a:ea typeface="+mj-ea"/>
              </a:rPr>
              <a:t>则表示执行下一条指令不产生任何跳转</a:t>
            </a:r>
            <a:endParaRPr lang="zh-CN" altLang="en-US" sz="2000" dirty="0">
              <a:ea typeface="+mj-ea"/>
            </a:endParaRPr>
          </a:p>
          <a:p>
            <a:pPr eaLnBrk="1" hangingPunct="1">
              <a:spcBef>
                <a:spcPct val="50000"/>
              </a:spcBef>
            </a:pPr>
            <a:r>
              <a:rPr lang="zh-CN" altLang="en-US" sz="2800" b="1" dirty="0">
                <a:solidFill>
                  <a:srgbClr val="0432FF"/>
                </a:solidFill>
                <a:ea typeface="+mj-ea"/>
              </a:rPr>
              <a:t>为什么在代码中用相对的偏移量</a:t>
            </a:r>
            <a:r>
              <a:rPr lang="en-US" altLang="zh-CN" sz="2800" b="1" dirty="0">
                <a:solidFill>
                  <a:srgbClr val="0432FF"/>
                </a:solidFill>
                <a:ea typeface="+mj-ea"/>
              </a:rPr>
              <a:t>?</a:t>
            </a:r>
          </a:p>
          <a:p>
            <a:pPr lvl="1" eaLnBrk="1" hangingPunct="1"/>
            <a:r>
              <a:rPr lang="en-US" altLang="zh-CN" sz="2400" dirty="0" err="1">
                <a:ea typeface="+mj-ea"/>
              </a:rPr>
              <a:t>relocatable</a:t>
            </a:r>
            <a:r>
              <a:rPr lang="en-US" altLang="zh-CN" sz="2400" dirty="0">
                <a:ea typeface="+mj-ea"/>
              </a:rPr>
              <a:t> </a:t>
            </a:r>
            <a:r>
              <a:rPr lang="zh-CN" altLang="en-US" sz="2400" dirty="0">
                <a:ea typeface="+mj-ea"/>
              </a:rPr>
              <a:t>代码</a:t>
            </a:r>
            <a:r>
              <a:rPr lang="en-US" altLang="zh-CN" sz="2400" dirty="0">
                <a:ea typeface="+mj-ea"/>
              </a:rPr>
              <a:t>(</a:t>
            </a:r>
            <a:r>
              <a:rPr lang="zh-CN" altLang="en-US" sz="2400" dirty="0">
                <a:ea typeface="+mj-ea"/>
              </a:rPr>
              <a:t>可重新定位的</a:t>
            </a:r>
            <a:r>
              <a:rPr lang="en-US" altLang="zh-CN" sz="2400" dirty="0">
                <a:ea typeface="+mj-ea"/>
              </a:rPr>
              <a:t>)</a:t>
            </a:r>
          </a:p>
          <a:p>
            <a:pPr lvl="1" eaLnBrk="1" hangingPunct="1"/>
            <a:r>
              <a:rPr lang="zh-CN" altLang="en-US" sz="2400" dirty="0">
                <a:ea typeface="+mj-ea"/>
              </a:rPr>
              <a:t>分支语句可以在每次被加载到内存不同位置的情况下正常工作</a:t>
            </a:r>
          </a:p>
        </p:txBody>
      </p:sp>
      <p:sp>
        <p:nvSpPr>
          <p:cNvPr id="2" name="Title 4">
            <a:extLst>
              <a:ext uri="{FF2B5EF4-FFF2-40B4-BE49-F238E27FC236}">
                <a16:creationId xmlns:a16="http://schemas.microsoft.com/office/drawing/2014/main" id="{BD01C262-6C44-9D5C-FBC1-AA0E45A03E44}"/>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b="1" dirty="0"/>
              <a:t>分支语句中的偏移量的使用</a:t>
            </a:r>
            <a:endParaRPr lang="en-CN" kern="0" dirty="0"/>
          </a:p>
        </p:txBody>
      </p:sp>
    </p:spTree>
    <p:extLst>
      <p:ext uri="{BB962C8B-B14F-4D97-AF65-F5344CB8AC3E}">
        <p14:creationId xmlns:p14="http://schemas.microsoft.com/office/powerpoint/2010/main" val="17577639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90179">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90179">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90179">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90179">
                                            <p:txEl>
                                              <p:pRg st="4" end="4"/>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690179">
                                            <p:txEl>
                                              <p:pRg st="5" end="5"/>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690179">
                                            <p:txEl>
                                              <p:pRg st="7" end="7"/>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69017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a:extLst>
              <a:ext uri="{FF2B5EF4-FFF2-40B4-BE49-F238E27FC236}">
                <a16:creationId xmlns:a16="http://schemas.microsoft.com/office/drawing/2014/main" id="{15AAAA7A-7073-4884-8B70-E6379160A1EF}"/>
              </a:ext>
            </a:extLst>
          </p:cNvPr>
          <p:cNvSpPr>
            <a:spLocks noGrp="1"/>
          </p:cNvSpPr>
          <p:nvPr>
            <p:ph type="sldNum" sz="quarter" idx="12"/>
          </p:nvPr>
        </p:nvSpPr>
        <p:spPr/>
        <p:txBody>
          <a:bodyPr/>
          <a:lstStyle/>
          <a:p>
            <a:fld id="{14659731-6BD7-46E7-8D3C-2F3AC07E20B1}" type="slidenum">
              <a:rPr lang="en-US" altLang="zh-CN" smtClean="0"/>
              <a:pPr/>
              <a:t>126</a:t>
            </a:fld>
            <a:endParaRPr lang="en-US" altLang="zh-CN" dirty="0"/>
          </a:p>
        </p:txBody>
      </p:sp>
      <p:sp>
        <p:nvSpPr>
          <p:cNvPr id="21510" name="Rectangle 4"/>
          <p:cNvSpPr>
            <a:spLocks noGrp="1" noChangeArrowheads="1"/>
          </p:cNvSpPr>
          <p:nvPr>
            <p:ph idx="4294967295"/>
          </p:nvPr>
        </p:nvSpPr>
        <p:spPr>
          <a:xfrm>
            <a:off x="457200" y="1357273"/>
            <a:ext cx="8608741" cy="4742443"/>
          </a:xfrm>
          <a:noFill/>
        </p:spPr>
        <p:txBody>
          <a:bodyPr lIns="92075" tIns="46038" rIns="92075" bIns="46038"/>
          <a:lstStyle/>
          <a:p>
            <a:pPr eaLnBrk="1" hangingPunct="1"/>
            <a:r>
              <a:rPr lang="zh-CN" altLang="en-US" sz="2800" dirty="0"/>
              <a:t>分支</a:t>
            </a:r>
          </a:p>
          <a:p>
            <a:pPr marL="628650" lvl="1" indent="-228600" eaLnBrk="1" hangingPunct="1"/>
            <a:r>
              <a:rPr lang="zh-CN" altLang="en-US" sz="2400" dirty="0"/>
              <a:t>如果和</a:t>
            </a:r>
            <a:r>
              <a:rPr lang="en-US" altLang="zh-CN" sz="2400" dirty="0"/>
              <a:t>0</a:t>
            </a:r>
            <a:r>
              <a:rPr lang="zh-CN" altLang="en-US" sz="2400" dirty="0"/>
              <a:t>比较</a:t>
            </a:r>
            <a:r>
              <a:rPr lang="en-US" altLang="zh-CN" sz="2400" dirty="0"/>
              <a:t>, </a:t>
            </a:r>
            <a:r>
              <a:rPr lang="zh-CN" altLang="en-US" sz="2400" dirty="0"/>
              <a:t>则直接使用</a:t>
            </a:r>
            <a:r>
              <a:rPr lang="en-US" altLang="zh-CN" sz="2400" dirty="0" err="1"/>
              <a:t>blez,bgez,bltz,bgtz,bnez</a:t>
            </a:r>
            <a:r>
              <a:rPr lang="en-US" altLang="zh-CN" sz="2400" dirty="0"/>
              <a:t>(</a:t>
            </a:r>
            <a:r>
              <a:rPr lang="zh-CN" altLang="en-US" sz="2400" dirty="0"/>
              <a:t>指令</a:t>
            </a:r>
            <a:r>
              <a:rPr lang="en-US" altLang="zh-CN" sz="2400" dirty="0"/>
              <a:t>)</a:t>
            </a:r>
          </a:p>
          <a:p>
            <a:pPr marL="971550" lvl="2" eaLnBrk="1" hangingPunct="1"/>
            <a:r>
              <a:rPr lang="en-US" altLang="zh-CN" sz="2400" dirty="0"/>
              <a:t>e.g., loop example before</a:t>
            </a:r>
          </a:p>
          <a:p>
            <a:pPr marL="628650" lvl="1" indent="-228600" eaLnBrk="1" hangingPunct="1"/>
            <a:r>
              <a:rPr lang="zh-CN" altLang="en-US" sz="2400" dirty="0"/>
              <a:t>更复杂的比较</a:t>
            </a:r>
            <a:r>
              <a:rPr lang="en-US" altLang="zh-CN" sz="2400" dirty="0"/>
              <a:t>, </a:t>
            </a:r>
            <a:r>
              <a:rPr lang="zh-CN" altLang="en-US" sz="2400" dirty="0"/>
              <a:t>采用比较指令（如</a:t>
            </a:r>
            <a:r>
              <a:rPr lang="en-US" altLang="zh-CN" sz="2400" dirty="0" err="1"/>
              <a:t>slt</a:t>
            </a:r>
            <a:r>
              <a:rPr lang="zh-CN" altLang="en-US" sz="2400" dirty="0"/>
              <a:t>）</a:t>
            </a:r>
            <a:r>
              <a:rPr lang="en-US" altLang="zh-CN" sz="2400" dirty="0"/>
              <a:t>, </a:t>
            </a:r>
            <a:r>
              <a:rPr lang="zh-CN" altLang="en-US" sz="2400" dirty="0"/>
              <a:t>然后再用与</a:t>
            </a:r>
            <a:r>
              <a:rPr lang="en-US" altLang="zh-CN" sz="2400" dirty="0"/>
              <a:t>0</a:t>
            </a:r>
            <a:r>
              <a:rPr lang="zh-CN" altLang="en-US" sz="2400" dirty="0"/>
              <a:t>比较</a:t>
            </a:r>
            <a:endParaRPr lang="en-US" altLang="zh-CN" sz="2400" dirty="0"/>
          </a:p>
          <a:p>
            <a:pPr eaLnBrk="1" hangingPunct="1"/>
            <a:r>
              <a:rPr lang="en-US" altLang="zh-CN" sz="2400" dirty="0"/>
              <a:t>Example: </a:t>
            </a:r>
            <a:r>
              <a:rPr lang="en-US" altLang="zh-CN" sz="2400" b="1" dirty="0">
                <a:solidFill>
                  <a:srgbClr val="0000CC"/>
                </a:solidFill>
              </a:rPr>
              <a:t>	</a:t>
            </a:r>
            <a:r>
              <a:rPr lang="en-US" altLang="zh-CN" sz="2400" b="1" i="1" dirty="0">
                <a:latin typeface="Consolas" panose="020B0609020204030204" pitchFamily="49" charset="0"/>
              </a:rPr>
              <a:t>test2</a:t>
            </a:r>
          </a:p>
          <a:p>
            <a:pPr eaLnBrk="1" hangingPunct="1">
              <a:spcBef>
                <a:spcPct val="0"/>
              </a:spcBef>
              <a:buFont typeface="Wingdings" pitchFamily="2" charset="2"/>
              <a:buNone/>
            </a:pPr>
            <a:r>
              <a:rPr lang="en-US" altLang="zh-CN" sz="2400" b="1" i="1" dirty="0">
                <a:latin typeface="Consolas" panose="020B0609020204030204" pitchFamily="49" charset="0"/>
              </a:rPr>
              <a:t>        if (x &gt;= 0)</a:t>
            </a:r>
          </a:p>
          <a:p>
            <a:pPr marL="628650" lvl="1" indent="-228600" eaLnBrk="1" hangingPunct="1">
              <a:spcBef>
                <a:spcPct val="0"/>
              </a:spcBef>
              <a:buFont typeface="Wingdings" pitchFamily="2" charset="2"/>
              <a:buNone/>
            </a:pPr>
            <a:r>
              <a:rPr lang="en-US" altLang="zh-CN" sz="2400" b="1" i="1" dirty="0">
                <a:latin typeface="Consolas" panose="020B0609020204030204" pitchFamily="49" charset="0"/>
              </a:rPr>
              <a:t>				y = x;</a:t>
            </a:r>
          </a:p>
          <a:p>
            <a:pPr marL="628650" lvl="1" indent="-228600" eaLnBrk="1" hangingPunct="1">
              <a:spcBef>
                <a:spcPct val="0"/>
              </a:spcBef>
              <a:buFont typeface="Wingdings" pitchFamily="2" charset="2"/>
              <a:buNone/>
            </a:pPr>
            <a:r>
              <a:rPr lang="en-US" altLang="zh-CN" sz="2400" b="1" i="1" dirty="0">
                <a:latin typeface="Consolas" panose="020B0609020204030204" pitchFamily="49" charset="0"/>
              </a:rPr>
              <a:t>			else</a:t>
            </a:r>
          </a:p>
          <a:p>
            <a:pPr marL="628650" lvl="1" indent="-228600" eaLnBrk="1" hangingPunct="1">
              <a:spcBef>
                <a:spcPct val="0"/>
              </a:spcBef>
              <a:buFont typeface="Wingdings" pitchFamily="2" charset="2"/>
              <a:buNone/>
            </a:pPr>
            <a:r>
              <a:rPr lang="en-US" altLang="zh-CN" sz="2400" b="1" i="1" dirty="0">
                <a:latin typeface="Consolas" panose="020B0609020204030204" pitchFamily="49" charset="0"/>
              </a:rPr>
              <a:t>				y = -x;</a:t>
            </a:r>
            <a:endParaRPr lang="en-US" altLang="zh-CN" sz="2400" i="1" dirty="0">
              <a:latin typeface="Consolas" panose="020B0609020204030204" pitchFamily="49" charset="0"/>
            </a:endParaRPr>
          </a:p>
        </p:txBody>
      </p:sp>
      <p:sp>
        <p:nvSpPr>
          <p:cNvPr id="2" name="Title 4">
            <a:extLst>
              <a:ext uri="{FF2B5EF4-FFF2-40B4-BE49-F238E27FC236}">
                <a16:creationId xmlns:a16="http://schemas.microsoft.com/office/drawing/2014/main" id="{7F747E23-105C-B29A-0E56-11857BF8DE3C}"/>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b="1" dirty="0"/>
              <a:t>编程指南：分支</a:t>
            </a:r>
            <a:endParaRPr lang="en-CN" kern="0" dirty="0"/>
          </a:p>
        </p:txBody>
      </p:sp>
    </p:spTree>
    <p:extLst>
      <p:ext uri="{BB962C8B-B14F-4D97-AF65-F5344CB8AC3E}">
        <p14:creationId xmlns:p14="http://schemas.microsoft.com/office/powerpoint/2010/main" val="369558177"/>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灯片编号占位符 3">
            <a:extLst>
              <a:ext uri="{FF2B5EF4-FFF2-40B4-BE49-F238E27FC236}">
                <a16:creationId xmlns:a16="http://schemas.microsoft.com/office/drawing/2014/main" id="{C32D65B6-951D-4893-A13C-5BC7FA564AD7}"/>
              </a:ext>
            </a:extLst>
          </p:cNvPr>
          <p:cNvSpPr>
            <a:spLocks noGrp="1"/>
          </p:cNvSpPr>
          <p:nvPr>
            <p:ph type="sldNum" sz="quarter" idx="12"/>
          </p:nvPr>
        </p:nvSpPr>
        <p:spPr/>
        <p:txBody>
          <a:bodyPr/>
          <a:lstStyle/>
          <a:p>
            <a:fld id="{14659731-6BD7-46E7-8D3C-2F3AC07E20B1}" type="slidenum">
              <a:rPr lang="en-US" altLang="zh-CN" smtClean="0"/>
              <a:pPr/>
              <a:t>127</a:t>
            </a:fld>
            <a:endParaRPr lang="en-US" altLang="zh-CN" dirty="0"/>
          </a:p>
        </p:txBody>
      </p:sp>
      <p:sp>
        <p:nvSpPr>
          <p:cNvPr id="22533" name="Text Box 4"/>
          <p:cNvSpPr txBox="1">
            <a:spLocks noChangeArrowheads="1"/>
          </p:cNvSpPr>
          <p:nvPr/>
        </p:nvSpPr>
        <p:spPr bwMode="auto">
          <a:xfrm>
            <a:off x="5330609" y="743081"/>
            <a:ext cx="3581400"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lIns="45720" rIns="45720"/>
          <a:lstStyle>
            <a:lvl1pPr eaLnBrk="0" hangingPunct="0">
              <a:defRPr>
                <a:solidFill>
                  <a:schemeClr val="tx1"/>
                </a:solidFill>
                <a:latin typeface="Verdana" pitchFamily="34" charset="0"/>
                <a:ea typeface="宋体" charset="-122"/>
              </a:defRPr>
            </a:lvl1pPr>
            <a:lvl2pPr marL="742950" indent="-285750" eaLnBrk="0" hangingPunct="0">
              <a:defRPr>
                <a:solidFill>
                  <a:schemeClr val="tx1"/>
                </a:solidFill>
                <a:latin typeface="Verdana" pitchFamily="34" charset="0"/>
                <a:ea typeface="宋体" charset="-122"/>
              </a:defRPr>
            </a:lvl2pPr>
            <a:lvl3pPr marL="1143000" indent="-228600" eaLnBrk="0" hangingPunct="0">
              <a:defRPr>
                <a:solidFill>
                  <a:schemeClr val="tx1"/>
                </a:solidFill>
                <a:latin typeface="Verdana" pitchFamily="34" charset="0"/>
                <a:ea typeface="宋体" charset="-122"/>
              </a:defRPr>
            </a:lvl3pPr>
            <a:lvl4pPr marL="1600200" indent="-228600" eaLnBrk="0" hangingPunct="0">
              <a:defRPr>
                <a:solidFill>
                  <a:schemeClr val="tx1"/>
                </a:solidFill>
                <a:latin typeface="Verdana" pitchFamily="34" charset="0"/>
                <a:ea typeface="宋体" charset="-122"/>
              </a:defRPr>
            </a:lvl4pPr>
            <a:lvl5pPr marL="2057400" indent="-228600" eaLnBrk="0" hangingPunct="0">
              <a:defRPr>
                <a:solidFill>
                  <a:schemeClr val="tx1"/>
                </a:solidFill>
                <a:latin typeface="Verdana" pitchFamily="34" charset="0"/>
                <a:ea typeface="宋体" charset="-122"/>
              </a:defRPr>
            </a:lvl5pPr>
            <a:lvl6pPr marL="2514600" indent="-228600" eaLnBrk="0" fontAlgn="base" hangingPunct="0">
              <a:spcBef>
                <a:spcPct val="0"/>
              </a:spcBef>
              <a:spcAft>
                <a:spcPct val="0"/>
              </a:spcAft>
              <a:defRPr>
                <a:solidFill>
                  <a:schemeClr val="tx1"/>
                </a:solidFill>
                <a:latin typeface="Verdana" pitchFamily="34" charset="0"/>
                <a:ea typeface="宋体" charset="-122"/>
              </a:defRPr>
            </a:lvl6pPr>
            <a:lvl7pPr marL="2971800" indent="-228600" eaLnBrk="0" fontAlgn="base" hangingPunct="0">
              <a:spcBef>
                <a:spcPct val="0"/>
              </a:spcBef>
              <a:spcAft>
                <a:spcPct val="0"/>
              </a:spcAft>
              <a:defRPr>
                <a:solidFill>
                  <a:schemeClr val="tx1"/>
                </a:solidFill>
                <a:latin typeface="Verdana" pitchFamily="34" charset="0"/>
                <a:ea typeface="宋体" charset="-122"/>
              </a:defRPr>
            </a:lvl7pPr>
            <a:lvl8pPr marL="3429000" indent="-228600" eaLnBrk="0" fontAlgn="base" hangingPunct="0">
              <a:spcBef>
                <a:spcPct val="0"/>
              </a:spcBef>
              <a:spcAft>
                <a:spcPct val="0"/>
              </a:spcAft>
              <a:defRPr>
                <a:solidFill>
                  <a:schemeClr val="tx1"/>
                </a:solidFill>
                <a:latin typeface="Verdana" pitchFamily="34" charset="0"/>
                <a:ea typeface="宋体" charset="-122"/>
              </a:defRPr>
            </a:lvl8pPr>
            <a:lvl9pPr marL="3886200" indent="-228600" eaLnBrk="0" fontAlgn="base" hangingPunct="0">
              <a:spcBef>
                <a:spcPct val="0"/>
              </a:spcBef>
              <a:spcAft>
                <a:spcPct val="0"/>
              </a:spcAft>
              <a:defRPr>
                <a:solidFill>
                  <a:schemeClr val="tx1"/>
                </a:solidFill>
                <a:latin typeface="Verdana" pitchFamily="34" charset="0"/>
                <a:ea typeface="宋体" charset="-122"/>
              </a:defRPr>
            </a:lvl9pPr>
          </a:lstStyle>
          <a:p>
            <a:pPr>
              <a:spcBef>
                <a:spcPct val="50000"/>
              </a:spcBef>
            </a:pPr>
            <a:r>
              <a:rPr lang="zh-CN" altLang="en-US" b="1">
                <a:solidFill>
                  <a:schemeClr val="accent2"/>
                </a:solidFill>
                <a:latin typeface="Comic Sans MS" pitchFamily="66" charset="0"/>
              </a:rPr>
              <a:t>      </a:t>
            </a:r>
          </a:p>
        </p:txBody>
      </p:sp>
      <p:sp>
        <p:nvSpPr>
          <p:cNvPr id="22535" name="Rectangle 8"/>
          <p:cNvSpPr>
            <a:spLocks noChangeArrowheads="1"/>
          </p:cNvSpPr>
          <p:nvPr/>
        </p:nvSpPr>
        <p:spPr bwMode="auto">
          <a:xfrm>
            <a:off x="539750" y="188913"/>
            <a:ext cx="727392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sz="2800" b="1">
              <a:solidFill>
                <a:schemeClr val="tx2"/>
              </a:solidFill>
              <a:latin typeface="Arial" charset="0"/>
            </a:endParaRPr>
          </a:p>
        </p:txBody>
      </p:sp>
      <p:grpSp>
        <p:nvGrpSpPr>
          <p:cNvPr id="4" name="组合 3">
            <a:extLst>
              <a:ext uri="{FF2B5EF4-FFF2-40B4-BE49-F238E27FC236}">
                <a16:creationId xmlns:a16="http://schemas.microsoft.com/office/drawing/2014/main" id="{47DEC54A-241C-B69D-4EA1-007417C1E6B3}"/>
              </a:ext>
            </a:extLst>
          </p:cNvPr>
          <p:cNvGrpSpPr/>
          <p:nvPr/>
        </p:nvGrpSpPr>
        <p:grpSpPr>
          <a:xfrm>
            <a:off x="457200" y="1402577"/>
            <a:ext cx="7799770" cy="5327649"/>
            <a:chOff x="288924" y="1106581"/>
            <a:chExt cx="7799770" cy="5327649"/>
          </a:xfrm>
        </p:grpSpPr>
        <p:sp>
          <p:nvSpPr>
            <p:cNvPr id="3" name="矩形 2">
              <a:extLst>
                <a:ext uri="{FF2B5EF4-FFF2-40B4-BE49-F238E27FC236}">
                  <a16:creationId xmlns:a16="http://schemas.microsoft.com/office/drawing/2014/main" id="{D4AA86B9-8BF4-184C-B459-72C116480A73}"/>
                </a:ext>
              </a:extLst>
            </p:cNvPr>
            <p:cNvSpPr/>
            <p:nvPr/>
          </p:nvSpPr>
          <p:spPr>
            <a:xfrm>
              <a:off x="1081278" y="3770405"/>
              <a:ext cx="2914650" cy="792163"/>
            </a:xfrm>
            <a:prstGeom prst="rect">
              <a:avLst/>
            </a:prstGeom>
            <a:solidFill>
              <a:schemeClr val="bg1"/>
            </a:solidFill>
            <a:ln w="635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highlight>
                  <a:srgbClr val="FFFF00"/>
                </a:highlight>
              </a:endParaRPr>
            </a:p>
          </p:txBody>
        </p:sp>
        <p:sp>
          <p:nvSpPr>
            <p:cNvPr id="22534" name="Text Box 5"/>
            <p:cNvSpPr txBox="1">
              <a:spLocks noChangeArrowheads="1"/>
            </p:cNvSpPr>
            <p:nvPr/>
          </p:nvSpPr>
          <p:spPr bwMode="auto">
            <a:xfrm>
              <a:off x="288924" y="1106581"/>
              <a:ext cx="4067175" cy="5327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lIns="45720" rIns="45720"/>
            <a:lstStyle>
              <a:lvl1pPr eaLnBrk="0" hangingPunct="0">
                <a:defRPr>
                  <a:solidFill>
                    <a:schemeClr val="tx1"/>
                  </a:solidFill>
                  <a:latin typeface="Verdana" pitchFamily="34" charset="0"/>
                  <a:ea typeface="宋体" charset="-122"/>
                </a:defRPr>
              </a:lvl1pPr>
              <a:lvl2pPr marL="742950" indent="-285750" eaLnBrk="0" hangingPunct="0">
                <a:defRPr>
                  <a:solidFill>
                    <a:schemeClr val="tx1"/>
                  </a:solidFill>
                  <a:latin typeface="Verdana" pitchFamily="34" charset="0"/>
                  <a:ea typeface="宋体" charset="-122"/>
                </a:defRPr>
              </a:lvl2pPr>
              <a:lvl3pPr marL="1143000" indent="-228600" eaLnBrk="0" hangingPunct="0">
                <a:defRPr>
                  <a:solidFill>
                    <a:schemeClr val="tx1"/>
                  </a:solidFill>
                  <a:latin typeface="Verdana" pitchFamily="34" charset="0"/>
                  <a:ea typeface="宋体" charset="-122"/>
                </a:defRPr>
              </a:lvl3pPr>
              <a:lvl4pPr marL="1600200" indent="-228600" eaLnBrk="0" hangingPunct="0">
                <a:defRPr>
                  <a:solidFill>
                    <a:schemeClr val="tx1"/>
                  </a:solidFill>
                  <a:latin typeface="Verdana" pitchFamily="34" charset="0"/>
                  <a:ea typeface="宋体" charset="-122"/>
                </a:defRPr>
              </a:lvl4pPr>
              <a:lvl5pPr marL="2057400" indent="-228600" eaLnBrk="0" hangingPunct="0">
                <a:defRPr>
                  <a:solidFill>
                    <a:schemeClr val="tx1"/>
                  </a:solidFill>
                  <a:latin typeface="Verdana" pitchFamily="34" charset="0"/>
                  <a:ea typeface="宋体" charset="-122"/>
                </a:defRPr>
              </a:lvl5pPr>
              <a:lvl6pPr marL="2514600" indent="-228600" eaLnBrk="0" fontAlgn="base" hangingPunct="0">
                <a:spcBef>
                  <a:spcPct val="0"/>
                </a:spcBef>
                <a:spcAft>
                  <a:spcPct val="0"/>
                </a:spcAft>
                <a:defRPr>
                  <a:solidFill>
                    <a:schemeClr val="tx1"/>
                  </a:solidFill>
                  <a:latin typeface="Verdana" pitchFamily="34" charset="0"/>
                  <a:ea typeface="宋体" charset="-122"/>
                </a:defRPr>
              </a:lvl6pPr>
              <a:lvl7pPr marL="2971800" indent="-228600" eaLnBrk="0" fontAlgn="base" hangingPunct="0">
                <a:spcBef>
                  <a:spcPct val="0"/>
                </a:spcBef>
                <a:spcAft>
                  <a:spcPct val="0"/>
                </a:spcAft>
                <a:defRPr>
                  <a:solidFill>
                    <a:schemeClr val="tx1"/>
                  </a:solidFill>
                  <a:latin typeface="Verdana" pitchFamily="34" charset="0"/>
                  <a:ea typeface="宋体" charset="-122"/>
                </a:defRPr>
              </a:lvl7pPr>
              <a:lvl8pPr marL="3429000" indent="-228600" eaLnBrk="0" fontAlgn="base" hangingPunct="0">
                <a:spcBef>
                  <a:spcPct val="0"/>
                </a:spcBef>
                <a:spcAft>
                  <a:spcPct val="0"/>
                </a:spcAft>
                <a:defRPr>
                  <a:solidFill>
                    <a:schemeClr val="tx1"/>
                  </a:solidFill>
                  <a:latin typeface="Verdana" pitchFamily="34" charset="0"/>
                  <a:ea typeface="宋体" charset="-122"/>
                </a:defRPr>
              </a:lvl8pPr>
              <a:lvl9pPr marL="3886200" indent="-228600" eaLnBrk="0" fontAlgn="base" hangingPunct="0">
                <a:spcBef>
                  <a:spcPct val="0"/>
                </a:spcBef>
                <a:spcAft>
                  <a:spcPct val="0"/>
                </a:spcAft>
                <a:defRPr>
                  <a:solidFill>
                    <a:schemeClr val="tx1"/>
                  </a:solidFill>
                  <a:latin typeface="Verdana" pitchFamily="34" charset="0"/>
                  <a:ea typeface="宋体" charset="-122"/>
                </a:defRPr>
              </a:lvl9pPr>
            </a:lstStyle>
            <a:p>
              <a:pPr algn="l" eaLnBrk="1" hangingPunct="1">
                <a:lnSpc>
                  <a:spcPct val="110000"/>
                </a:lnSpc>
              </a:pPr>
              <a:r>
                <a:rPr lang="zh-CN" altLang="en-US" sz="2000" b="1" i="1" dirty="0">
                  <a:latin typeface="Consolas" panose="020B0609020204030204" pitchFamily="49" charset="0"/>
                </a:rPr>
                <a:t>	.data 0x10000000</a:t>
              </a:r>
            </a:p>
            <a:p>
              <a:pPr algn="l" eaLnBrk="1" hangingPunct="1">
                <a:lnSpc>
                  <a:spcPct val="110000"/>
                </a:lnSpc>
              </a:pPr>
              <a:r>
                <a:rPr lang="zh-CN" altLang="en-US" sz="2000" b="1" i="1" dirty="0">
                  <a:latin typeface="Consolas" panose="020B0609020204030204" pitchFamily="49" charset="0"/>
                </a:rPr>
                <a:t>	.word -6,0</a:t>
              </a:r>
            </a:p>
            <a:p>
              <a:pPr algn="l" eaLnBrk="1" hangingPunct="1">
                <a:lnSpc>
                  <a:spcPct val="110000"/>
                </a:lnSpc>
              </a:pPr>
              <a:r>
                <a:rPr lang="zh-CN" altLang="en-US" sz="2000" b="1" i="1" dirty="0">
                  <a:latin typeface="Consolas" panose="020B0609020204030204" pitchFamily="49" charset="0"/>
                </a:rPr>
                <a:t>	.text</a:t>
              </a:r>
            </a:p>
            <a:p>
              <a:pPr algn="l" eaLnBrk="1" hangingPunct="1">
                <a:lnSpc>
                  <a:spcPct val="110000"/>
                </a:lnSpc>
              </a:pPr>
              <a:r>
                <a:rPr lang="zh-CN" altLang="en-US" sz="2000" b="1" i="1" dirty="0">
                  <a:latin typeface="Consolas" panose="020B0609020204030204" pitchFamily="49" charset="0"/>
                </a:rPr>
                <a:t>main:	</a:t>
              </a:r>
              <a:endParaRPr lang="en-US" altLang="zh-CN" sz="2000" b="1" i="1" dirty="0">
                <a:latin typeface="Consolas" panose="020B0609020204030204" pitchFamily="49" charset="0"/>
              </a:endParaRPr>
            </a:p>
            <a:p>
              <a:pPr algn="l" eaLnBrk="1" hangingPunct="1">
                <a:lnSpc>
                  <a:spcPct val="110000"/>
                </a:lnSpc>
              </a:pPr>
              <a:r>
                <a:rPr lang="zh-CN" altLang="en-US" sz="2000" b="1" i="1" dirty="0">
                  <a:latin typeface="Consolas" panose="020B0609020204030204" pitchFamily="49" charset="0"/>
                </a:rPr>
                <a:t>	ori     $s6,$0,0x1000</a:t>
              </a:r>
            </a:p>
            <a:p>
              <a:pPr algn="l" eaLnBrk="1" hangingPunct="1">
                <a:lnSpc>
                  <a:spcPct val="110000"/>
                </a:lnSpc>
              </a:pPr>
              <a:r>
                <a:rPr lang="zh-CN" altLang="en-US" sz="2000" b="1" i="1" dirty="0">
                  <a:latin typeface="Consolas" panose="020B0609020204030204" pitchFamily="49" charset="0"/>
                </a:rPr>
                <a:t>	sll      $s6,$s6,16</a:t>
              </a:r>
            </a:p>
            <a:p>
              <a:pPr algn="l" eaLnBrk="1" hangingPunct="1">
                <a:lnSpc>
                  <a:spcPct val="110000"/>
                </a:lnSpc>
              </a:pPr>
              <a:r>
                <a:rPr lang="zh-CN" altLang="en-US" sz="2000" b="1" i="1" dirty="0">
                  <a:latin typeface="Consolas" panose="020B0609020204030204" pitchFamily="49" charset="0"/>
                </a:rPr>
                <a:t>	addiu $s5,$s6,4</a:t>
              </a:r>
            </a:p>
            <a:p>
              <a:pPr algn="l" eaLnBrk="1" hangingPunct="1">
                <a:lnSpc>
                  <a:spcPct val="110000"/>
                </a:lnSpc>
              </a:pPr>
              <a:r>
                <a:rPr lang="zh-CN" altLang="en-US" sz="2000" b="1" i="1" dirty="0">
                  <a:latin typeface="Consolas" panose="020B0609020204030204" pitchFamily="49" charset="0"/>
                </a:rPr>
                <a:t>	lw      $s0,0($s6)</a:t>
              </a:r>
            </a:p>
            <a:p>
              <a:pPr algn="l" eaLnBrk="1" hangingPunct="1">
                <a:lnSpc>
                  <a:spcPct val="110000"/>
                </a:lnSpc>
              </a:pPr>
              <a:r>
                <a:rPr lang="zh-CN" altLang="en-US" sz="2000" b="1" i="1" dirty="0">
                  <a:latin typeface="Consolas" panose="020B0609020204030204" pitchFamily="49" charset="0"/>
                </a:rPr>
                <a:t>	sl</a:t>
              </a:r>
              <a:r>
                <a:rPr lang="en-US" altLang="zh-CN" sz="2000" b="1" i="1" dirty="0">
                  <a:latin typeface="Consolas" panose="020B0609020204030204" pitchFamily="49" charset="0"/>
                </a:rPr>
                <a:t>t      $s2,$0,$s0</a:t>
              </a:r>
            </a:p>
            <a:p>
              <a:pPr algn="l" eaLnBrk="1" hangingPunct="1">
                <a:lnSpc>
                  <a:spcPct val="110000"/>
                </a:lnSpc>
              </a:pPr>
              <a:r>
                <a:rPr lang="zh-CN" altLang="en-US" sz="2000" b="1" i="1" dirty="0">
                  <a:latin typeface="Consolas" panose="020B0609020204030204" pitchFamily="49" charset="0"/>
                </a:rPr>
                <a:t>	beqz  $s2,else</a:t>
              </a:r>
            </a:p>
            <a:p>
              <a:pPr algn="l" eaLnBrk="1" hangingPunct="1">
                <a:lnSpc>
                  <a:spcPct val="110000"/>
                </a:lnSpc>
              </a:pPr>
              <a:r>
                <a:rPr lang="zh-CN" altLang="en-US" sz="2000" b="1" i="1" dirty="0">
                  <a:latin typeface="Consolas" panose="020B0609020204030204" pitchFamily="49" charset="0"/>
                </a:rPr>
                <a:t>	move $s1,$s0</a:t>
              </a:r>
            </a:p>
            <a:p>
              <a:pPr algn="l" eaLnBrk="1" hangingPunct="1">
                <a:lnSpc>
                  <a:spcPct val="110000"/>
                </a:lnSpc>
              </a:pPr>
              <a:r>
                <a:rPr lang="zh-CN" altLang="en-US" sz="2000" b="1" i="1" dirty="0">
                  <a:latin typeface="Consolas" panose="020B0609020204030204" pitchFamily="49" charset="0"/>
                </a:rPr>
                <a:t>	j done</a:t>
              </a:r>
            </a:p>
            <a:p>
              <a:pPr algn="l" eaLnBrk="1" hangingPunct="1">
                <a:lnSpc>
                  <a:spcPct val="110000"/>
                </a:lnSpc>
              </a:pPr>
              <a:r>
                <a:rPr lang="zh-CN" altLang="en-US" sz="2000" b="1" i="1" dirty="0">
                  <a:latin typeface="Consolas" panose="020B0609020204030204" pitchFamily="49" charset="0"/>
                </a:rPr>
                <a:t>else:	sub    $s1,$0,$s0</a:t>
              </a:r>
            </a:p>
            <a:p>
              <a:pPr algn="l" eaLnBrk="1" hangingPunct="1">
                <a:lnSpc>
                  <a:spcPct val="110000"/>
                </a:lnSpc>
              </a:pPr>
              <a:r>
                <a:rPr lang="zh-CN" altLang="en-US" sz="2000" b="1" i="1" dirty="0">
                  <a:latin typeface="Consolas" panose="020B0609020204030204" pitchFamily="49" charset="0"/>
                </a:rPr>
                <a:t>done:	sw     $s1,0($s5)</a:t>
              </a:r>
            </a:p>
            <a:p>
              <a:pPr algn="l" eaLnBrk="1" hangingPunct="1">
                <a:lnSpc>
                  <a:spcPct val="110000"/>
                </a:lnSpc>
              </a:pPr>
              <a:r>
                <a:rPr lang="zh-CN" altLang="en-US" sz="2000" b="1" i="1" dirty="0">
                  <a:latin typeface="Consolas" panose="020B0609020204030204" pitchFamily="49" charset="0"/>
                </a:rPr>
                <a:t>	jr       $ra</a:t>
              </a:r>
              <a:endParaRPr lang="en-US" altLang="zh-CN" sz="2000" b="1" i="1" dirty="0">
                <a:latin typeface="Consolas" panose="020B0609020204030204" pitchFamily="49" charset="0"/>
              </a:endParaRPr>
            </a:p>
          </p:txBody>
        </p:sp>
        <p:sp>
          <p:nvSpPr>
            <p:cNvPr id="22536" name="Rectangle 12"/>
            <p:cNvSpPr>
              <a:spLocks noChangeArrowheads="1"/>
            </p:cNvSpPr>
            <p:nvPr/>
          </p:nvSpPr>
          <p:spPr bwMode="auto">
            <a:xfrm>
              <a:off x="4416806" y="1450967"/>
              <a:ext cx="3671888" cy="4155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2075" tIns="46038" rIns="92075" bIns="46038">
              <a:spAutoFit/>
            </a:bodyPr>
            <a:lstStyle/>
            <a:p>
              <a:pPr algn="l">
                <a:lnSpc>
                  <a:spcPct val="110000"/>
                </a:lnSpc>
              </a:pPr>
              <a:r>
                <a:rPr lang="en-US" altLang="zh-CN" sz="2000" b="1" dirty="0">
                  <a:solidFill>
                    <a:srgbClr val="0000CC"/>
                  </a:solidFill>
                  <a:latin typeface="Consolas" panose="020B0609020204030204" pitchFamily="49" charset="0"/>
                  <a:ea typeface="+mj-ea"/>
                  <a:cs typeface="Consolas" panose="020B0609020204030204" pitchFamily="49" charset="0"/>
                </a:rPr>
                <a:t>#x</a:t>
              </a:r>
              <a:r>
                <a:rPr lang="zh-CN" altLang="en-US" sz="2000" b="1" dirty="0">
                  <a:solidFill>
                    <a:srgbClr val="0000CC"/>
                  </a:solidFill>
                  <a:latin typeface="Consolas" panose="020B0609020204030204" pitchFamily="49" charset="0"/>
                  <a:ea typeface="+mj-ea"/>
                  <a:cs typeface="Consolas" panose="020B0609020204030204" pitchFamily="49" charset="0"/>
                </a:rPr>
                <a:t>：</a:t>
              </a:r>
              <a:r>
                <a:rPr lang="en-US" altLang="zh-CN" sz="2000" b="1" dirty="0">
                  <a:solidFill>
                    <a:srgbClr val="0000CC"/>
                  </a:solidFill>
                  <a:latin typeface="Consolas" panose="020B0609020204030204" pitchFamily="49" charset="0"/>
                  <a:ea typeface="+mj-ea"/>
                  <a:cs typeface="Consolas" panose="020B0609020204030204" pitchFamily="49" charset="0"/>
                </a:rPr>
                <a:t>-6,  y</a:t>
              </a:r>
              <a:r>
                <a:rPr lang="zh-CN" altLang="en-US" sz="2000" b="1" dirty="0">
                  <a:solidFill>
                    <a:srgbClr val="0000CC"/>
                  </a:solidFill>
                  <a:latin typeface="Consolas" panose="020B0609020204030204" pitchFamily="49" charset="0"/>
                  <a:ea typeface="+mj-ea"/>
                  <a:cs typeface="Consolas" panose="020B0609020204030204" pitchFamily="49" charset="0"/>
                </a:rPr>
                <a:t>：</a:t>
              </a:r>
              <a:r>
                <a:rPr lang="en-US" altLang="zh-CN" sz="2000" b="1" dirty="0">
                  <a:solidFill>
                    <a:srgbClr val="0000CC"/>
                  </a:solidFill>
                  <a:latin typeface="Consolas" panose="020B0609020204030204" pitchFamily="49" charset="0"/>
                  <a:ea typeface="+mj-ea"/>
                  <a:cs typeface="Consolas" panose="020B0609020204030204" pitchFamily="49" charset="0"/>
                </a:rPr>
                <a:t>0</a:t>
              </a:r>
            </a:p>
            <a:p>
              <a:pPr algn="l">
                <a:lnSpc>
                  <a:spcPct val="110000"/>
                </a:lnSpc>
              </a:pPr>
              <a:endParaRPr lang="zh-CN" altLang="en-US" sz="2000" b="1" dirty="0">
                <a:solidFill>
                  <a:srgbClr val="0000CC"/>
                </a:solidFill>
                <a:latin typeface="Consolas" panose="020B0609020204030204" pitchFamily="49" charset="0"/>
                <a:ea typeface="+mj-ea"/>
                <a:cs typeface="Consolas" panose="020B0609020204030204" pitchFamily="49" charset="0"/>
              </a:endParaRPr>
            </a:p>
            <a:p>
              <a:pPr algn="l">
                <a:lnSpc>
                  <a:spcPct val="110000"/>
                </a:lnSpc>
              </a:pPr>
              <a:r>
                <a:rPr lang="zh-CN" altLang="en-US" sz="2000" b="1" dirty="0">
                  <a:solidFill>
                    <a:srgbClr val="0000CC"/>
                  </a:solidFill>
                  <a:latin typeface="Consolas" panose="020B0609020204030204" pitchFamily="49" charset="0"/>
                  <a:ea typeface="+mj-ea"/>
                  <a:cs typeface="Consolas" panose="020B0609020204030204" pitchFamily="49" charset="0"/>
                </a:rPr>
                <a:t> </a:t>
              </a:r>
            </a:p>
            <a:p>
              <a:pPr algn="l">
                <a:lnSpc>
                  <a:spcPct val="110000"/>
                </a:lnSpc>
              </a:pPr>
              <a:r>
                <a:rPr lang="en-US" altLang="zh-CN" sz="2000" b="1" dirty="0">
                  <a:solidFill>
                    <a:srgbClr val="0000CC"/>
                  </a:solidFill>
                  <a:latin typeface="Consolas" panose="020B0609020204030204" pitchFamily="49" charset="0"/>
                  <a:ea typeface="+mj-ea"/>
                  <a:cs typeface="Consolas" panose="020B0609020204030204" pitchFamily="49" charset="0"/>
                </a:rPr>
                <a:t>#</a:t>
              </a:r>
              <a:r>
                <a:rPr lang="zh-CN" altLang="en-US" sz="2000" b="1" dirty="0">
                  <a:solidFill>
                    <a:srgbClr val="0000CC"/>
                  </a:solidFill>
                  <a:latin typeface="Consolas" panose="020B0609020204030204" pitchFamily="49" charset="0"/>
                  <a:ea typeface="+mj-ea"/>
                  <a:cs typeface="Consolas" panose="020B0609020204030204" pitchFamily="49" charset="0"/>
                </a:rPr>
                <a:t>计算内存中数据存放地址</a:t>
              </a:r>
              <a:endParaRPr lang="en-US" altLang="zh-CN" sz="2000" b="1" dirty="0">
                <a:solidFill>
                  <a:srgbClr val="0000CC"/>
                </a:solidFill>
                <a:latin typeface="Consolas" panose="020B0609020204030204" pitchFamily="49" charset="0"/>
                <a:ea typeface="+mj-ea"/>
                <a:cs typeface="Consolas" panose="020B0609020204030204" pitchFamily="49" charset="0"/>
              </a:endParaRPr>
            </a:p>
            <a:p>
              <a:pPr algn="l">
                <a:lnSpc>
                  <a:spcPct val="110000"/>
                </a:lnSpc>
              </a:pPr>
              <a:r>
                <a:rPr lang="zh-CN" altLang="en-US" sz="2000" b="1" dirty="0">
                  <a:solidFill>
                    <a:srgbClr val="0000CC"/>
                  </a:solidFill>
                  <a:latin typeface="Consolas" panose="020B0609020204030204" pitchFamily="49" charset="0"/>
                  <a:ea typeface="+mj-ea"/>
                  <a:cs typeface="Consolas" panose="020B0609020204030204" pitchFamily="49" charset="0"/>
                </a:rPr>
                <a:t>#$s6=x， </a:t>
              </a:r>
            </a:p>
            <a:p>
              <a:pPr algn="l">
                <a:lnSpc>
                  <a:spcPct val="110000"/>
                </a:lnSpc>
              </a:pPr>
              <a:r>
                <a:rPr lang="en-US" altLang="zh-CN" sz="2000" b="1" dirty="0">
                  <a:solidFill>
                    <a:srgbClr val="0000CC"/>
                  </a:solidFill>
                  <a:latin typeface="Consolas" panose="020B0609020204030204" pitchFamily="49" charset="0"/>
                  <a:ea typeface="+mj-ea"/>
                  <a:cs typeface="Consolas" panose="020B0609020204030204" pitchFamily="49" charset="0"/>
                </a:rPr>
                <a:t>#</a:t>
              </a:r>
              <a:r>
                <a:rPr lang="zh-CN" altLang="en-US" sz="2000" b="1" dirty="0">
                  <a:solidFill>
                    <a:srgbClr val="0000CC"/>
                  </a:solidFill>
                  <a:latin typeface="Consolas" panose="020B0609020204030204" pitchFamily="49" charset="0"/>
                  <a:ea typeface="+mj-ea"/>
                  <a:cs typeface="Consolas" panose="020B0609020204030204" pitchFamily="49" charset="0"/>
                </a:rPr>
                <a:t>$s5=y</a:t>
              </a:r>
            </a:p>
            <a:p>
              <a:pPr algn="l">
                <a:lnSpc>
                  <a:spcPct val="110000"/>
                </a:lnSpc>
              </a:pPr>
              <a:endParaRPr lang="zh-CN" altLang="en-US" sz="2000" b="1" dirty="0">
                <a:solidFill>
                  <a:srgbClr val="0000CC"/>
                </a:solidFill>
                <a:latin typeface="Consolas" panose="020B0609020204030204" pitchFamily="49" charset="0"/>
                <a:ea typeface="+mj-ea"/>
                <a:cs typeface="Consolas" panose="020B0609020204030204" pitchFamily="49" charset="0"/>
              </a:endParaRPr>
            </a:p>
            <a:p>
              <a:pPr algn="l">
                <a:lnSpc>
                  <a:spcPct val="110000"/>
                </a:lnSpc>
              </a:pPr>
              <a:r>
                <a:rPr lang="en-US" altLang="zh-CN" sz="2000" b="1" dirty="0">
                  <a:solidFill>
                    <a:srgbClr val="0000CC"/>
                  </a:solidFill>
                  <a:latin typeface="Consolas" panose="020B0609020204030204" pitchFamily="49" charset="0"/>
                  <a:ea typeface="+mj-ea"/>
                  <a:cs typeface="Consolas" panose="020B0609020204030204" pitchFamily="49" charset="0"/>
                </a:rPr>
                <a:t>#0&lt;x, $s2=1</a:t>
              </a:r>
            </a:p>
            <a:p>
              <a:pPr algn="l">
                <a:lnSpc>
                  <a:spcPct val="110000"/>
                </a:lnSpc>
              </a:pPr>
              <a:r>
                <a:rPr lang="en-US" altLang="zh-CN" sz="2000" b="1" dirty="0">
                  <a:solidFill>
                    <a:srgbClr val="0000CC"/>
                  </a:solidFill>
                  <a:latin typeface="Consolas" panose="020B0609020204030204" pitchFamily="49" charset="0"/>
                  <a:ea typeface="+mj-ea"/>
                  <a:cs typeface="Consolas" panose="020B0609020204030204" pitchFamily="49" charset="0"/>
                </a:rPr>
                <a:t>#$s2=0, </a:t>
              </a:r>
              <a:r>
                <a:rPr lang="zh-CN" altLang="en-US" sz="2000" b="1" dirty="0">
                  <a:solidFill>
                    <a:srgbClr val="0000CC"/>
                  </a:solidFill>
                  <a:latin typeface="Consolas" panose="020B0609020204030204" pitchFamily="49" charset="0"/>
                  <a:ea typeface="+mj-ea"/>
                  <a:cs typeface="Consolas" panose="020B0609020204030204" pitchFamily="49" charset="0"/>
                </a:rPr>
                <a:t>跳到</a:t>
              </a:r>
              <a:r>
                <a:rPr lang="en-US" altLang="zh-CN" sz="2000" b="1" dirty="0">
                  <a:solidFill>
                    <a:srgbClr val="0000CC"/>
                  </a:solidFill>
                  <a:latin typeface="Consolas" panose="020B0609020204030204" pitchFamily="49" charset="0"/>
                  <a:ea typeface="+mj-ea"/>
                  <a:cs typeface="Consolas" panose="020B0609020204030204" pitchFamily="49" charset="0"/>
                </a:rPr>
                <a:t>else</a:t>
              </a:r>
            </a:p>
            <a:p>
              <a:pPr algn="l">
                <a:lnSpc>
                  <a:spcPct val="110000"/>
                </a:lnSpc>
              </a:pPr>
              <a:r>
                <a:rPr lang="en-US" altLang="zh-CN" sz="2000" b="1" dirty="0">
                  <a:solidFill>
                    <a:srgbClr val="0000CC"/>
                  </a:solidFill>
                  <a:latin typeface="Consolas" panose="020B0609020204030204" pitchFamily="49" charset="0"/>
                  <a:ea typeface="+mj-ea"/>
                  <a:cs typeface="Consolas" panose="020B0609020204030204" pitchFamily="49" charset="0"/>
                </a:rPr>
                <a:t>#$s2=1, </a:t>
              </a:r>
              <a:r>
                <a:rPr lang="zh-CN" altLang="en-US" sz="2000" b="1" dirty="0">
                  <a:solidFill>
                    <a:srgbClr val="0000CC"/>
                  </a:solidFill>
                  <a:latin typeface="Consolas" panose="020B0609020204030204" pitchFamily="49" charset="0"/>
                  <a:ea typeface="+mj-ea"/>
                  <a:cs typeface="Consolas" panose="020B0609020204030204" pitchFamily="49" charset="0"/>
                </a:rPr>
                <a:t>跳到</a:t>
              </a:r>
              <a:r>
                <a:rPr lang="en-US" altLang="zh-CN" sz="2000" b="1" dirty="0">
                  <a:solidFill>
                    <a:srgbClr val="0000CC"/>
                  </a:solidFill>
                  <a:latin typeface="Consolas" panose="020B0609020204030204" pitchFamily="49" charset="0"/>
                  <a:ea typeface="+mj-ea"/>
                  <a:cs typeface="Consolas" panose="020B0609020204030204" pitchFamily="49" charset="0"/>
                </a:rPr>
                <a:t>done</a:t>
              </a:r>
            </a:p>
            <a:p>
              <a:pPr algn="l">
                <a:lnSpc>
                  <a:spcPct val="110000"/>
                </a:lnSpc>
              </a:pPr>
              <a:endParaRPr lang="en-US" altLang="zh-CN" sz="2000" b="1" dirty="0">
                <a:solidFill>
                  <a:srgbClr val="0000CC"/>
                </a:solidFill>
                <a:latin typeface="Consolas" panose="020B0609020204030204" pitchFamily="49" charset="0"/>
                <a:ea typeface="+mj-ea"/>
                <a:cs typeface="Consolas" panose="020B0609020204030204" pitchFamily="49" charset="0"/>
              </a:endParaRPr>
            </a:p>
            <a:p>
              <a:pPr algn="l">
                <a:lnSpc>
                  <a:spcPct val="110000"/>
                </a:lnSpc>
              </a:pPr>
              <a:endParaRPr lang="en-US" altLang="zh-CN" sz="2000" b="1" dirty="0">
                <a:solidFill>
                  <a:srgbClr val="0000CC"/>
                </a:solidFill>
                <a:latin typeface="Consolas" panose="020B0609020204030204" pitchFamily="49" charset="0"/>
                <a:ea typeface="+mj-ea"/>
                <a:cs typeface="Consolas" panose="020B0609020204030204" pitchFamily="49" charset="0"/>
              </a:endParaRPr>
            </a:p>
          </p:txBody>
        </p:sp>
      </p:grpSp>
      <p:sp>
        <p:nvSpPr>
          <p:cNvPr id="564237" name="Text Box 13"/>
          <p:cNvSpPr txBox="1">
            <a:spLocks noChangeArrowheads="1"/>
          </p:cNvSpPr>
          <p:nvPr/>
        </p:nvSpPr>
        <p:spPr bwMode="auto">
          <a:xfrm>
            <a:off x="5210969" y="5643033"/>
            <a:ext cx="268446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Verdana" pitchFamily="34" charset="0"/>
                <a:ea typeface="宋体" charset="-122"/>
              </a:defRPr>
            </a:lvl1pPr>
            <a:lvl2pPr marL="742950" indent="-285750" eaLnBrk="0" hangingPunct="0">
              <a:defRPr>
                <a:solidFill>
                  <a:schemeClr val="tx1"/>
                </a:solidFill>
                <a:latin typeface="Verdana" pitchFamily="34" charset="0"/>
                <a:ea typeface="宋体" charset="-122"/>
              </a:defRPr>
            </a:lvl2pPr>
            <a:lvl3pPr marL="1143000" indent="-228600" eaLnBrk="0" hangingPunct="0">
              <a:defRPr>
                <a:solidFill>
                  <a:schemeClr val="tx1"/>
                </a:solidFill>
                <a:latin typeface="Verdana" pitchFamily="34" charset="0"/>
                <a:ea typeface="宋体" charset="-122"/>
              </a:defRPr>
            </a:lvl3pPr>
            <a:lvl4pPr marL="1600200" indent="-228600" eaLnBrk="0" hangingPunct="0">
              <a:defRPr>
                <a:solidFill>
                  <a:schemeClr val="tx1"/>
                </a:solidFill>
                <a:latin typeface="Verdana" pitchFamily="34" charset="0"/>
                <a:ea typeface="宋体" charset="-122"/>
              </a:defRPr>
            </a:lvl4pPr>
            <a:lvl5pPr marL="2057400" indent="-228600" eaLnBrk="0" hangingPunct="0">
              <a:defRPr>
                <a:solidFill>
                  <a:schemeClr val="tx1"/>
                </a:solidFill>
                <a:latin typeface="Verdana" pitchFamily="34" charset="0"/>
                <a:ea typeface="宋体" charset="-122"/>
              </a:defRPr>
            </a:lvl5pPr>
            <a:lvl6pPr marL="2514600" indent="-228600" eaLnBrk="0" fontAlgn="base" hangingPunct="0">
              <a:spcBef>
                <a:spcPct val="0"/>
              </a:spcBef>
              <a:spcAft>
                <a:spcPct val="0"/>
              </a:spcAft>
              <a:defRPr>
                <a:solidFill>
                  <a:schemeClr val="tx1"/>
                </a:solidFill>
                <a:latin typeface="Verdana" pitchFamily="34" charset="0"/>
                <a:ea typeface="宋体" charset="-122"/>
              </a:defRPr>
            </a:lvl6pPr>
            <a:lvl7pPr marL="2971800" indent="-228600" eaLnBrk="0" fontAlgn="base" hangingPunct="0">
              <a:spcBef>
                <a:spcPct val="0"/>
              </a:spcBef>
              <a:spcAft>
                <a:spcPct val="0"/>
              </a:spcAft>
              <a:defRPr>
                <a:solidFill>
                  <a:schemeClr val="tx1"/>
                </a:solidFill>
                <a:latin typeface="Verdana" pitchFamily="34" charset="0"/>
                <a:ea typeface="宋体" charset="-122"/>
              </a:defRPr>
            </a:lvl7pPr>
            <a:lvl8pPr marL="3429000" indent="-228600" eaLnBrk="0" fontAlgn="base" hangingPunct="0">
              <a:spcBef>
                <a:spcPct val="0"/>
              </a:spcBef>
              <a:spcAft>
                <a:spcPct val="0"/>
              </a:spcAft>
              <a:defRPr>
                <a:solidFill>
                  <a:schemeClr val="tx1"/>
                </a:solidFill>
                <a:latin typeface="Verdana" pitchFamily="34" charset="0"/>
                <a:ea typeface="宋体" charset="-122"/>
              </a:defRPr>
            </a:lvl8pPr>
            <a:lvl9pPr marL="3886200" indent="-228600" eaLnBrk="0" fontAlgn="base" hangingPunct="0">
              <a:spcBef>
                <a:spcPct val="0"/>
              </a:spcBef>
              <a:spcAft>
                <a:spcPct val="0"/>
              </a:spcAft>
              <a:defRPr>
                <a:solidFill>
                  <a:schemeClr val="tx1"/>
                </a:solidFill>
                <a:latin typeface="Verdana" pitchFamily="34" charset="0"/>
                <a:ea typeface="宋体" charset="-122"/>
              </a:defRPr>
            </a:lvl9pPr>
          </a:lstStyle>
          <a:p>
            <a:pPr eaLnBrk="1" hangingPunct="1"/>
            <a:r>
              <a:rPr lang="zh-CN" altLang="en-US" sz="2800" b="1" dirty="0">
                <a:solidFill>
                  <a:srgbClr val="FF0000"/>
                </a:solidFill>
                <a:latin typeface="+mj-ea"/>
                <a:ea typeface="+mj-ea"/>
              </a:rPr>
              <a:t>功能：求绝对值</a:t>
            </a:r>
            <a:endParaRPr lang="en-US" altLang="zh-CN" sz="2800" b="1" dirty="0">
              <a:solidFill>
                <a:srgbClr val="FF0000"/>
              </a:solidFill>
              <a:latin typeface="+mj-ea"/>
              <a:ea typeface="+mj-ea"/>
            </a:endParaRPr>
          </a:p>
        </p:txBody>
      </p:sp>
      <p:sp>
        <p:nvSpPr>
          <p:cNvPr id="2" name="Title 4">
            <a:extLst>
              <a:ext uri="{FF2B5EF4-FFF2-40B4-BE49-F238E27FC236}">
                <a16:creationId xmlns:a16="http://schemas.microsoft.com/office/drawing/2014/main" id="{BFEB776E-0D16-F2B5-75FB-20F74CDF70F4}"/>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b="1" dirty="0"/>
              <a:t>编程指南：分支</a:t>
            </a:r>
            <a:endParaRPr lang="en-CN" kern="0" dirty="0"/>
          </a:p>
        </p:txBody>
      </p:sp>
    </p:spTree>
    <p:extLst>
      <p:ext uri="{BB962C8B-B14F-4D97-AF65-F5344CB8AC3E}">
        <p14:creationId xmlns:p14="http://schemas.microsoft.com/office/powerpoint/2010/main" val="12203364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64237"/>
                                        </p:tgtEl>
                                        <p:attrNameLst>
                                          <p:attrName>style.visibility</p:attrName>
                                        </p:attrNameLst>
                                      </p:cBhvr>
                                      <p:to>
                                        <p:strVal val="visible"/>
                                      </p:to>
                                    </p:set>
                                    <p:animEffect transition="in" filter="checkerboard(across)">
                                      <p:cBhvr>
                                        <p:cTn id="7" dur="500"/>
                                        <p:tgtEl>
                                          <p:spTgt spid="5642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4237" grpId="0"/>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a:extLst>
              <a:ext uri="{FF2B5EF4-FFF2-40B4-BE49-F238E27FC236}">
                <a16:creationId xmlns:a16="http://schemas.microsoft.com/office/drawing/2014/main" id="{0C9FBA0C-E363-4569-99AF-179050F44C05}"/>
              </a:ext>
            </a:extLst>
          </p:cNvPr>
          <p:cNvSpPr>
            <a:spLocks noGrp="1"/>
          </p:cNvSpPr>
          <p:nvPr>
            <p:ph type="sldNum" sz="quarter" idx="12"/>
          </p:nvPr>
        </p:nvSpPr>
        <p:spPr/>
        <p:txBody>
          <a:bodyPr/>
          <a:lstStyle/>
          <a:p>
            <a:fld id="{14659731-6BD7-46E7-8D3C-2F3AC07E20B1}" type="slidenum">
              <a:rPr lang="en-US" altLang="zh-CN" smtClean="0"/>
              <a:pPr/>
              <a:t>128</a:t>
            </a:fld>
            <a:endParaRPr lang="en-US" altLang="zh-CN" dirty="0"/>
          </a:p>
        </p:txBody>
      </p:sp>
      <p:sp>
        <p:nvSpPr>
          <p:cNvPr id="23557" name="Rectangle 3"/>
          <p:cNvSpPr>
            <a:spLocks noGrp="1" noChangeArrowheads="1"/>
          </p:cNvSpPr>
          <p:nvPr>
            <p:ph idx="4294967295"/>
          </p:nvPr>
        </p:nvSpPr>
        <p:spPr>
          <a:xfrm>
            <a:off x="457200" y="1302639"/>
            <a:ext cx="7886700" cy="3771166"/>
          </a:xfrm>
        </p:spPr>
        <p:txBody>
          <a:bodyPr/>
          <a:lstStyle/>
          <a:p>
            <a:pPr eaLnBrk="1" hangingPunct="1"/>
            <a:r>
              <a:rPr lang="zh-CN" altLang="en-US" sz="2800" dirty="0"/>
              <a:t>用 </a:t>
            </a:r>
            <a:r>
              <a:rPr lang="en-US" altLang="zh-CN" sz="2800" dirty="0"/>
              <a:t>.word</a:t>
            </a:r>
            <a:r>
              <a:rPr lang="zh-CN" altLang="en-US" sz="2800" dirty="0"/>
              <a:t>来给数组开辟空间</a:t>
            </a:r>
          </a:p>
          <a:p>
            <a:pPr marL="628650" lvl="1" indent="-228600" eaLnBrk="1" hangingPunct="1"/>
            <a:r>
              <a:rPr lang="zh-CN" altLang="en-US" sz="2400" b="1" dirty="0"/>
              <a:t>在编译时</a:t>
            </a:r>
            <a:r>
              <a:rPr lang="zh-CN" altLang="en-US" sz="2400" dirty="0">
                <a:solidFill>
                  <a:srgbClr val="FF0000"/>
                </a:solidFill>
              </a:rPr>
              <a:t>静态地</a:t>
            </a:r>
            <a:r>
              <a:rPr lang="zh-CN" altLang="en-US" sz="2400" dirty="0"/>
              <a:t>开辟</a:t>
            </a:r>
            <a:r>
              <a:rPr lang="en-US" altLang="zh-CN" sz="2400" dirty="0"/>
              <a:t>n*4 bytes, (n</a:t>
            </a:r>
            <a:r>
              <a:rPr lang="zh-CN" altLang="en-US" sz="2400" dirty="0"/>
              <a:t>个</a:t>
            </a:r>
            <a:r>
              <a:rPr lang="en-US" altLang="zh-CN" sz="2400" dirty="0"/>
              <a:t>32-bit </a:t>
            </a:r>
            <a:r>
              <a:rPr lang="zh-CN" altLang="en-US" sz="2400" dirty="0"/>
              <a:t>字</a:t>
            </a:r>
            <a:r>
              <a:rPr lang="en-US" altLang="zh-CN" sz="2400" dirty="0"/>
              <a:t>) </a:t>
            </a:r>
            <a:r>
              <a:rPr lang="zh-CN" altLang="en-US" sz="2400" dirty="0"/>
              <a:t> </a:t>
            </a:r>
            <a:endParaRPr lang="zh-CN" altLang="en-US" sz="2400" b="1" dirty="0"/>
          </a:p>
          <a:p>
            <a:pPr eaLnBrk="1" hangingPunct="1">
              <a:spcBef>
                <a:spcPct val="50000"/>
              </a:spcBef>
            </a:pPr>
            <a:r>
              <a:rPr lang="zh-CN" altLang="en-US" sz="2800" dirty="0"/>
              <a:t>使用</a:t>
            </a:r>
            <a:r>
              <a:rPr lang="en-US" altLang="zh-CN" sz="2800" dirty="0" err="1"/>
              <a:t>lw</a:t>
            </a:r>
            <a:r>
              <a:rPr lang="zh-CN" altLang="en-US" sz="2800" dirty="0"/>
              <a:t>和</a:t>
            </a:r>
            <a:r>
              <a:rPr lang="en-US" altLang="zh-CN" sz="2800" dirty="0" err="1"/>
              <a:t>sw</a:t>
            </a:r>
            <a:r>
              <a:rPr lang="zh-CN" altLang="en-US" sz="2800" dirty="0"/>
              <a:t>的</a:t>
            </a:r>
            <a:r>
              <a:rPr lang="en-US" altLang="zh-CN" sz="2800" dirty="0"/>
              <a:t>$A</a:t>
            </a:r>
            <a:r>
              <a:rPr lang="zh-CN" altLang="en-US" sz="2800" dirty="0"/>
              <a:t>和</a:t>
            </a:r>
            <a:r>
              <a:rPr lang="en-US" altLang="zh-CN" sz="2800" dirty="0"/>
              <a:t>$B</a:t>
            </a:r>
            <a:endParaRPr lang="zh-CN" altLang="en-US" sz="2800" dirty="0"/>
          </a:p>
          <a:p>
            <a:pPr lvl="2" eaLnBrk="1" hangingPunct="1">
              <a:buFont typeface="Wingdings" pitchFamily="2" charset="2"/>
              <a:buNone/>
            </a:pPr>
            <a:r>
              <a:rPr lang="en-US" altLang="zh-CN" dirty="0" err="1">
                <a:solidFill>
                  <a:srgbClr val="0000CC"/>
                </a:solidFill>
              </a:rPr>
              <a:t>lw</a:t>
            </a:r>
            <a:r>
              <a:rPr lang="en-US" altLang="zh-CN" sz="2400" b="1" dirty="0">
                <a:solidFill>
                  <a:srgbClr val="0000CC"/>
                </a:solidFill>
              </a:rPr>
              <a:t>    $temp</a:t>
            </a:r>
            <a:r>
              <a:rPr lang="en-US" altLang="zh-CN" sz="2400" dirty="0">
                <a:solidFill>
                  <a:srgbClr val="0000CC"/>
                </a:solidFill>
              </a:rPr>
              <a:t>, 0($A)		</a:t>
            </a:r>
            <a:r>
              <a:rPr lang="en-US" altLang="zh-CN" dirty="0">
                <a:solidFill>
                  <a:srgbClr val="0000CC"/>
                </a:solidFill>
              </a:rPr>
              <a:t> temp </a:t>
            </a:r>
            <a:r>
              <a:rPr lang="en-US" altLang="zh-CN" sz="2400" dirty="0">
                <a:solidFill>
                  <a:srgbClr val="0000CC"/>
                </a:solidFill>
              </a:rPr>
              <a:t>=A[0];</a:t>
            </a:r>
          </a:p>
          <a:p>
            <a:pPr lvl="2" eaLnBrk="1" hangingPunct="1">
              <a:buFont typeface="Wingdings" pitchFamily="2" charset="2"/>
              <a:buNone/>
            </a:pPr>
            <a:r>
              <a:rPr lang="en-US" altLang="zh-CN" dirty="0" err="1">
                <a:solidFill>
                  <a:srgbClr val="0000CC"/>
                </a:solidFill>
              </a:rPr>
              <a:t>sw</a:t>
            </a:r>
            <a:r>
              <a:rPr lang="en-US" altLang="zh-CN" sz="2400" b="1" dirty="0">
                <a:solidFill>
                  <a:srgbClr val="0000CC"/>
                </a:solidFill>
              </a:rPr>
              <a:t>    </a:t>
            </a:r>
            <a:r>
              <a:rPr lang="en-US" altLang="zh-CN" sz="2400" dirty="0">
                <a:solidFill>
                  <a:srgbClr val="0000CC"/>
                </a:solidFill>
              </a:rPr>
              <a:t>$temp, 8($B)		B[2]=</a:t>
            </a:r>
            <a:r>
              <a:rPr lang="en-US" altLang="zh-CN" dirty="0">
                <a:solidFill>
                  <a:srgbClr val="0000CC"/>
                </a:solidFill>
              </a:rPr>
              <a:t> temp</a:t>
            </a:r>
            <a:r>
              <a:rPr lang="en-US" altLang="zh-CN" sz="2400" dirty="0">
                <a:solidFill>
                  <a:srgbClr val="0000CC"/>
                </a:solidFill>
              </a:rPr>
              <a:t>;</a:t>
            </a:r>
          </a:p>
          <a:p>
            <a:pPr marL="628650" lvl="1" indent="-228600" eaLnBrk="1" hangingPunct="1"/>
            <a:r>
              <a:rPr lang="zh-CN" altLang="en-US" sz="2400" dirty="0"/>
              <a:t>将常数</a:t>
            </a:r>
            <a:r>
              <a:rPr lang="en-US" altLang="zh-CN" sz="2400" dirty="0"/>
              <a:t>0</a:t>
            </a:r>
            <a:r>
              <a:rPr lang="zh-CN" altLang="en-US" sz="2400" dirty="0"/>
              <a:t>，</a:t>
            </a:r>
            <a:r>
              <a:rPr lang="en-US" altLang="zh-CN" sz="2400" dirty="0"/>
              <a:t>8</a:t>
            </a:r>
            <a:r>
              <a:rPr lang="zh-CN" altLang="en-US" sz="2400" dirty="0"/>
              <a:t>作为地址偏移量</a:t>
            </a:r>
          </a:p>
          <a:p>
            <a:pPr marL="628650" lvl="1" indent="-228600" eaLnBrk="1" hangingPunct="1"/>
            <a:r>
              <a:rPr lang="zh-CN" altLang="en-US" sz="2400" dirty="0"/>
              <a:t>将寄存器</a:t>
            </a:r>
            <a:r>
              <a:rPr lang="en-US" altLang="zh-CN" sz="2400" b="1" dirty="0"/>
              <a:t>$A</a:t>
            </a:r>
            <a:r>
              <a:rPr lang="zh-CN" altLang="en-US" sz="2400" b="1" dirty="0"/>
              <a:t>和</a:t>
            </a:r>
            <a:r>
              <a:rPr lang="en-US" altLang="zh-CN" sz="2400" b="1" dirty="0"/>
              <a:t>$B</a:t>
            </a:r>
            <a:r>
              <a:rPr lang="zh-CN" altLang="en-US" sz="2400" dirty="0"/>
              <a:t>作为数组中的开始地址</a:t>
            </a:r>
            <a:r>
              <a:rPr lang="en-US" altLang="zh-CN" sz="2400" dirty="0"/>
              <a:t>(A[]</a:t>
            </a:r>
            <a:r>
              <a:rPr lang="zh-CN" altLang="en-US" sz="2400" dirty="0"/>
              <a:t>，</a:t>
            </a:r>
            <a:r>
              <a:rPr lang="en-US" altLang="zh-CN" sz="2400" dirty="0"/>
              <a:t>B[])</a:t>
            </a:r>
          </a:p>
        </p:txBody>
      </p:sp>
      <p:sp>
        <p:nvSpPr>
          <p:cNvPr id="2" name="矩形 1">
            <a:extLst>
              <a:ext uri="{FF2B5EF4-FFF2-40B4-BE49-F238E27FC236}">
                <a16:creationId xmlns:a16="http://schemas.microsoft.com/office/drawing/2014/main" id="{C327592F-3FC5-354B-BDFA-AD5FB34C3744}"/>
              </a:ext>
            </a:extLst>
          </p:cNvPr>
          <p:cNvSpPr/>
          <p:nvPr/>
        </p:nvSpPr>
        <p:spPr>
          <a:xfrm>
            <a:off x="1319218" y="5123113"/>
            <a:ext cx="6505563" cy="461665"/>
          </a:xfrm>
          <a:prstGeom prst="rect">
            <a:avLst/>
          </a:prstGeom>
        </p:spPr>
        <p:txBody>
          <a:bodyPr wrap="none">
            <a:spAutoFit/>
          </a:bodyPr>
          <a:lstStyle/>
          <a:p>
            <a:r>
              <a:rPr lang="zh-CN" altLang="en-US" sz="2400" b="1" dirty="0">
                <a:solidFill>
                  <a:srgbClr val="FF0000"/>
                </a:solidFill>
                <a:latin typeface="+mn-lt"/>
                <a:ea typeface="+mj-ea"/>
              </a:rPr>
              <a:t>注意这里</a:t>
            </a:r>
            <a:r>
              <a:rPr lang="en-US" altLang="zh-CN" sz="2400" b="1" dirty="0">
                <a:solidFill>
                  <a:srgbClr val="FF0000"/>
                </a:solidFill>
                <a:latin typeface="+mn-lt"/>
                <a:ea typeface="+mj-ea"/>
              </a:rPr>
              <a:t>$A,</a:t>
            </a:r>
            <a:r>
              <a:rPr lang="zh-CN" altLang="en-US" sz="2400" b="1" dirty="0">
                <a:solidFill>
                  <a:srgbClr val="FF0000"/>
                </a:solidFill>
                <a:latin typeface="+mn-lt"/>
                <a:ea typeface="+mj-ea"/>
              </a:rPr>
              <a:t> </a:t>
            </a:r>
            <a:r>
              <a:rPr lang="en-US" altLang="zh-CN" sz="2400" b="1" dirty="0">
                <a:solidFill>
                  <a:srgbClr val="FF0000"/>
                </a:solidFill>
                <a:latin typeface="+mn-lt"/>
                <a:ea typeface="+mj-ea"/>
              </a:rPr>
              <a:t>$B</a:t>
            </a:r>
            <a:r>
              <a:rPr lang="zh-CN" altLang="en-US" sz="2400" b="1" dirty="0">
                <a:solidFill>
                  <a:srgbClr val="FF0000"/>
                </a:solidFill>
                <a:latin typeface="+mn-lt"/>
                <a:ea typeface="+mj-ea"/>
              </a:rPr>
              <a:t>存的是地址，</a:t>
            </a:r>
            <a:r>
              <a:rPr lang="en-US" altLang="zh-CN" sz="2400" b="1" dirty="0">
                <a:solidFill>
                  <a:srgbClr val="FF0000"/>
                </a:solidFill>
                <a:latin typeface="+mn-lt"/>
                <a:ea typeface="+mj-ea"/>
              </a:rPr>
              <a:t>$temp</a:t>
            </a:r>
            <a:r>
              <a:rPr lang="zh-CN" altLang="en-US" sz="2400" b="1" dirty="0">
                <a:solidFill>
                  <a:srgbClr val="FF0000"/>
                </a:solidFill>
                <a:latin typeface="+mn-lt"/>
                <a:ea typeface="+mj-ea"/>
              </a:rPr>
              <a:t>存的是值</a:t>
            </a:r>
          </a:p>
        </p:txBody>
      </p:sp>
      <p:sp>
        <p:nvSpPr>
          <p:cNvPr id="3" name="Title 4">
            <a:extLst>
              <a:ext uri="{FF2B5EF4-FFF2-40B4-BE49-F238E27FC236}">
                <a16:creationId xmlns:a16="http://schemas.microsoft.com/office/drawing/2014/main" id="{2D5DB065-F00A-96E8-D4BD-DB949618B17A}"/>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b="1" dirty="0"/>
              <a:t>编程指南：数组</a:t>
            </a:r>
            <a:r>
              <a:rPr lang="en-US" altLang="zh-CN" b="1" dirty="0"/>
              <a:t>array</a:t>
            </a:r>
            <a:endParaRPr lang="en-CN" kern="0" dirty="0"/>
          </a:p>
        </p:txBody>
      </p:sp>
    </p:spTree>
    <p:extLst>
      <p:ext uri="{BB962C8B-B14F-4D97-AF65-F5344CB8AC3E}">
        <p14:creationId xmlns:p14="http://schemas.microsoft.com/office/powerpoint/2010/main" val="2140378553"/>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Rectangle 4"/>
          <p:cNvSpPr>
            <a:spLocks noChangeArrowheads="1"/>
          </p:cNvSpPr>
          <p:nvPr/>
        </p:nvSpPr>
        <p:spPr bwMode="auto">
          <a:xfrm>
            <a:off x="-1" y="1255237"/>
            <a:ext cx="9144001" cy="287337"/>
          </a:xfrm>
          <a:prstGeom prst="rect">
            <a:avLst/>
          </a:prstGeom>
          <a:solidFill>
            <a:schemeClr val="bg1"/>
          </a:solidFill>
          <a:ln w="12700">
            <a:solidFill>
              <a:schemeClr val="bg1"/>
            </a:solidFill>
            <a:miter lim="800000"/>
            <a:headEnd/>
            <a:tailEnd/>
          </a:ln>
        </p:spPr>
        <p:txBody>
          <a:bodyPr wrap="square" lIns="92075" tIns="46038" rIns="92075" bIns="46038" anchor="ctr">
            <a:spAutoFit/>
          </a:bodyPr>
          <a:lstStyle/>
          <a:p>
            <a:endParaRPr lang="zh-CN" altLang="en-US"/>
          </a:p>
        </p:txBody>
      </p:sp>
      <p:sp>
        <p:nvSpPr>
          <p:cNvPr id="8" name="灯片编号占位符 3">
            <a:extLst>
              <a:ext uri="{FF2B5EF4-FFF2-40B4-BE49-F238E27FC236}">
                <a16:creationId xmlns:a16="http://schemas.microsoft.com/office/drawing/2014/main" id="{5FE01C2D-2F91-4859-AF79-4E1D51D89E60}"/>
              </a:ext>
            </a:extLst>
          </p:cNvPr>
          <p:cNvSpPr>
            <a:spLocks noGrp="1"/>
          </p:cNvSpPr>
          <p:nvPr>
            <p:ph type="sldNum" sz="quarter" idx="12"/>
          </p:nvPr>
        </p:nvSpPr>
        <p:spPr/>
        <p:txBody>
          <a:bodyPr/>
          <a:lstStyle/>
          <a:p>
            <a:fld id="{14659731-6BD7-46E7-8D3C-2F3AC07E20B1}" type="slidenum">
              <a:rPr lang="en-US" altLang="zh-CN" smtClean="0"/>
              <a:pPr/>
              <a:t>129</a:t>
            </a:fld>
            <a:endParaRPr lang="en-US" altLang="zh-CN" dirty="0"/>
          </a:p>
        </p:txBody>
      </p:sp>
      <p:sp>
        <p:nvSpPr>
          <p:cNvPr id="24581" name="Rectangle 3"/>
          <p:cNvSpPr>
            <a:spLocks noGrp="1" noChangeArrowheads="1"/>
          </p:cNvSpPr>
          <p:nvPr>
            <p:ph idx="4294967295"/>
          </p:nvPr>
        </p:nvSpPr>
        <p:spPr>
          <a:xfrm>
            <a:off x="367784" y="1062685"/>
            <a:ext cx="8776216" cy="6628465"/>
          </a:xfrm>
        </p:spPr>
        <p:txBody>
          <a:bodyPr>
            <a:noAutofit/>
          </a:bodyPr>
          <a:lstStyle/>
          <a:p>
            <a:pPr eaLnBrk="1" hangingPunct="1">
              <a:lnSpc>
                <a:spcPct val="90000"/>
              </a:lnSpc>
              <a:buFont typeface="Wingdings" pitchFamily="2" charset="2"/>
              <a:buNone/>
            </a:pPr>
            <a:endParaRPr lang="en-US" altLang="zh-CN" sz="1800" i="1" dirty="0">
              <a:latin typeface="Consolas" panose="020B0609020204030204" pitchFamily="49" charset="0"/>
            </a:endParaRPr>
          </a:p>
          <a:p>
            <a:pPr eaLnBrk="1" hangingPunct="1">
              <a:lnSpc>
                <a:spcPct val="90000"/>
              </a:lnSpc>
              <a:buFont typeface="Wingdings" pitchFamily="2" charset="2"/>
              <a:buNone/>
            </a:pPr>
            <a:r>
              <a:rPr lang="en-US" altLang="zh-CN" sz="1800" i="1" dirty="0">
                <a:latin typeface="Consolas" panose="020B0609020204030204" pitchFamily="49" charset="0"/>
              </a:rPr>
              <a:t>		.data 0x10000000</a:t>
            </a:r>
          </a:p>
          <a:p>
            <a:pPr eaLnBrk="1" hangingPunct="1">
              <a:lnSpc>
                <a:spcPct val="90000"/>
              </a:lnSpc>
              <a:buFont typeface="Wingdings" pitchFamily="2" charset="2"/>
              <a:buNone/>
            </a:pPr>
            <a:r>
              <a:rPr lang="en-US" altLang="zh-CN" sz="1800" i="1" dirty="0">
                <a:latin typeface="Consolas" panose="020B0609020204030204" pitchFamily="49" charset="0"/>
              </a:rPr>
              <a:t>		.word 1,2,3,4,5,6,7,8,9,10,11,12,13,14,15,16,17</a:t>
            </a:r>
          </a:p>
          <a:p>
            <a:pPr eaLnBrk="1" hangingPunct="1">
              <a:lnSpc>
                <a:spcPct val="90000"/>
              </a:lnSpc>
              <a:buFont typeface="Wingdings" pitchFamily="2" charset="2"/>
              <a:buNone/>
            </a:pPr>
            <a:r>
              <a:rPr lang="en-US" altLang="zh-CN" sz="1800" i="1" dirty="0">
                <a:latin typeface="Consolas" panose="020B0609020204030204" pitchFamily="49" charset="0"/>
              </a:rPr>
              <a:t>		.text</a:t>
            </a:r>
          </a:p>
          <a:p>
            <a:pPr eaLnBrk="1" hangingPunct="1">
              <a:lnSpc>
                <a:spcPct val="90000"/>
              </a:lnSpc>
              <a:buFont typeface="Wingdings" pitchFamily="2" charset="2"/>
              <a:buNone/>
            </a:pPr>
            <a:r>
              <a:rPr lang="en-US" altLang="zh-CN" sz="1800" i="1" dirty="0">
                <a:latin typeface="Consolas" panose="020B0609020204030204" pitchFamily="49" charset="0"/>
              </a:rPr>
              <a:t>main:	</a:t>
            </a:r>
            <a:r>
              <a:rPr lang="en-US" altLang="zh-CN" sz="1800" i="1" dirty="0" err="1">
                <a:latin typeface="Consolas" panose="020B0609020204030204" pitchFamily="49" charset="0"/>
              </a:rPr>
              <a:t>addu</a:t>
            </a:r>
            <a:r>
              <a:rPr lang="en-US" altLang="zh-CN" sz="1800" i="1" dirty="0">
                <a:latin typeface="Consolas" panose="020B0609020204030204" pitchFamily="49" charset="0"/>
              </a:rPr>
              <a:t>  $s7,$ra,$0		</a:t>
            </a:r>
          </a:p>
          <a:p>
            <a:pPr eaLnBrk="1" hangingPunct="1">
              <a:lnSpc>
                <a:spcPct val="90000"/>
              </a:lnSpc>
              <a:buFont typeface="Wingdings" pitchFamily="2" charset="2"/>
              <a:buNone/>
            </a:pPr>
            <a:r>
              <a:rPr lang="en-US" altLang="zh-CN" sz="1800" i="1" dirty="0">
                <a:latin typeface="Consolas" panose="020B0609020204030204" pitchFamily="49" charset="0"/>
              </a:rPr>
              <a:t>		</a:t>
            </a:r>
            <a:r>
              <a:rPr lang="en-US" altLang="zh-CN" sz="1800" i="1" dirty="0" err="1">
                <a:latin typeface="Consolas" panose="020B0609020204030204" pitchFamily="49" charset="0"/>
              </a:rPr>
              <a:t>ori</a:t>
            </a:r>
            <a:r>
              <a:rPr lang="en-US" altLang="zh-CN" sz="1800" i="1" dirty="0">
                <a:latin typeface="Consolas" panose="020B0609020204030204" pitchFamily="49" charset="0"/>
              </a:rPr>
              <a:t>      $s5,$0,0x1000</a:t>
            </a:r>
          </a:p>
          <a:p>
            <a:pPr eaLnBrk="1" hangingPunct="1">
              <a:lnSpc>
                <a:spcPct val="90000"/>
              </a:lnSpc>
              <a:buFont typeface="Wingdings" pitchFamily="2" charset="2"/>
              <a:buNone/>
            </a:pPr>
            <a:r>
              <a:rPr lang="en-US" altLang="zh-CN" sz="1800" i="1" dirty="0">
                <a:latin typeface="Consolas" panose="020B0609020204030204" pitchFamily="49" charset="0"/>
              </a:rPr>
              <a:t>		</a:t>
            </a:r>
            <a:r>
              <a:rPr lang="en-US" altLang="zh-CN" sz="1800" i="1" dirty="0" err="1">
                <a:latin typeface="Consolas" panose="020B0609020204030204" pitchFamily="49" charset="0"/>
              </a:rPr>
              <a:t>sll</a:t>
            </a:r>
            <a:r>
              <a:rPr lang="en-US" altLang="zh-CN" sz="1800" i="1" dirty="0">
                <a:latin typeface="Consolas" panose="020B0609020204030204" pitchFamily="49" charset="0"/>
              </a:rPr>
              <a:t>       $s5,$s5,16          </a:t>
            </a:r>
            <a:r>
              <a:rPr lang="en-US" altLang="zh-CN" sz="1800" b="1" i="1" dirty="0">
                <a:solidFill>
                  <a:srgbClr val="FF0000"/>
                </a:solidFill>
                <a:latin typeface="Consolas" panose="020B0609020204030204" pitchFamily="49" charset="0"/>
              </a:rPr>
              <a:t>#$s5=A[ ]=0x10000000</a:t>
            </a:r>
            <a:r>
              <a:rPr lang="zh-CN" altLang="en-US" sz="1800" i="1" dirty="0">
                <a:solidFill>
                  <a:srgbClr val="FF0000"/>
                </a:solidFill>
                <a:latin typeface="Consolas" panose="020B0609020204030204" pitchFamily="49" charset="0"/>
              </a:rPr>
              <a:t>，</a:t>
            </a:r>
            <a:endParaRPr lang="en-US" altLang="zh-CN" sz="1800" i="1" dirty="0">
              <a:latin typeface="Consolas" panose="020B0609020204030204" pitchFamily="49" charset="0"/>
            </a:endParaRPr>
          </a:p>
          <a:p>
            <a:pPr eaLnBrk="1" hangingPunct="1">
              <a:lnSpc>
                <a:spcPct val="90000"/>
              </a:lnSpc>
              <a:buFont typeface="Wingdings" pitchFamily="2" charset="2"/>
              <a:buNone/>
            </a:pPr>
            <a:r>
              <a:rPr lang="en-US" altLang="zh-CN" sz="1800" i="1" dirty="0">
                <a:latin typeface="Consolas" panose="020B0609020204030204" pitchFamily="49" charset="0"/>
              </a:rPr>
              <a:t>		</a:t>
            </a:r>
            <a:r>
              <a:rPr lang="en-US" altLang="zh-CN" sz="1800" i="1" dirty="0" err="1">
                <a:latin typeface="Consolas" panose="020B0609020204030204" pitchFamily="49" charset="0"/>
              </a:rPr>
              <a:t>addiu</a:t>
            </a:r>
            <a:r>
              <a:rPr lang="en-US" altLang="zh-CN" sz="1800" i="1" dirty="0">
                <a:latin typeface="Consolas" panose="020B0609020204030204" pitchFamily="49" charset="0"/>
              </a:rPr>
              <a:t> $s6,$s5,0x400           </a:t>
            </a:r>
            <a:r>
              <a:rPr lang="en-US" altLang="zh-CN" sz="1800" b="1" i="1" dirty="0">
                <a:solidFill>
                  <a:srgbClr val="FF0000"/>
                </a:solidFill>
                <a:latin typeface="Consolas" panose="020B0609020204030204" pitchFamily="49" charset="0"/>
              </a:rPr>
              <a:t>#$s6=B[ ]=0x10000400</a:t>
            </a:r>
            <a:endParaRPr lang="en-US" altLang="zh-CN" sz="1800" b="1" i="1" dirty="0">
              <a:latin typeface="Consolas" panose="020B0609020204030204" pitchFamily="49" charset="0"/>
            </a:endParaRPr>
          </a:p>
          <a:p>
            <a:pPr eaLnBrk="1" hangingPunct="1">
              <a:lnSpc>
                <a:spcPct val="90000"/>
              </a:lnSpc>
              <a:buFont typeface="Wingdings" pitchFamily="2" charset="2"/>
              <a:buNone/>
            </a:pPr>
            <a:r>
              <a:rPr lang="en-US" altLang="zh-CN" sz="1800" i="1" dirty="0">
                <a:latin typeface="Consolas" panose="020B0609020204030204" pitchFamily="49" charset="0"/>
              </a:rPr>
              <a:t>		</a:t>
            </a:r>
            <a:r>
              <a:rPr lang="en-US" altLang="zh-CN" sz="1800" i="1" dirty="0" err="1">
                <a:latin typeface="Consolas" panose="020B0609020204030204" pitchFamily="49" charset="0"/>
              </a:rPr>
              <a:t>addiu</a:t>
            </a:r>
            <a:r>
              <a:rPr lang="en-US" altLang="zh-CN" sz="1800" i="1" dirty="0">
                <a:latin typeface="Consolas" panose="020B0609020204030204" pitchFamily="49" charset="0"/>
              </a:rPr>
              <a:t> $s0,$0,0x11             </a:t>
            </a:r>
            <a:r>
              <a:rPr lang="en-US" altLang="zh-CN" sz="1800" b="1" i="1" dirty="0">
                <a:solidFill>
                  <a:srgbClr val="FF0000"/>
                </a:solidFill>
                <a:latin typeface="Consolas" panose="020B0609020204030204" pitchFamily="49" charset="0"/>
              </a:rPr>
              <a:t>#Size(A)=Size(B)=0x11</a:t>
            </a:r>
          </a:p>
          <a:p>
            <a:pPr eaLnBrk="1" hangingPunct="1">
              <a:lnSpc>
                <a:spcPct val="90000"/>
              </a:lnSpc>
              <a:buFont typeface="Wingdings" pitchFamily="2" charset="2"/>
              <a:buNone/>
            </a:pPr>
            <a:r>
              <a:rPr lang="en-US" altLang="zh-CN" sz="1800" i="1" dirty="0">
                <a:latin typeface="Consolas" panose="020B0609020204030204" pitchFamily="49" charset="0"/>
              </a:rPr>
              <a:t>loop:	</a:t>
            </a:r>
            <a:r>
              <a:rPr lang="en-US" altLang="zh-CN" sz="1800" i="1" dirty="0" err="1">
                <a:latin typeface="Consolas" panose="020B0609020204030204" pitchFamily="49" charset="0"/>
              </a:rPr>
              <a:t>subu</a:t>
            </a:r>
            <a:r>
              <a:rPr lang="en-US" altLang="zh-CN" sz="1800" i="1" dirty="0">
                <a:latin typeface="Consolas" panose="020B0609020204030204" pitchFamily="49" charset="0"/>
              </a:rPr>
              <a:t>  $s0,$s0,1               </a:t>
            </a:r>
            <a:r>
              <a:rPr lang="en-US" altLang="zh-CN" sz="1800" b="1" i="1" dirty="0">
                <a:solidFill>
                  <a:srgbClr val="FF0000"/>
                </a:solidFill>
                <a:latin typeface="Consolas" panose="020B0609020204030204" pitchFamily="49" charset="0"/>
              </a:rPr>
              <a:t>#</a:t>
            </a:r>
            <a:r>
              <a:rPr lang="zh-CN" altLang="en-US" sz="1800" b="1" i="1" dirty="0">
                <a:solidFill>
                  <a:srgbClr val="FF0000"/>
                </a:solidFill>
                <a:latin typeface="Consolas" panose="020B0609020204030204" pitchFamily="49" charset="0"/>
              </a:rPr>
              <a:t>计数</a:t>
            </a:r>
            <a:endParaRPr lang="en-US" altLang="zh-CN" sz="1800" b="1" i="1" dirty="0">
              <a:solidFill>
                <a:srgbClr val="FF0000"/>
              </a:solidFill>
              <a:latin typeface="Consolas" panose="020B0609020204030204" pitchFamily="49" charset="0"/>
            </a:endParaRPr>
          </a:p>
          <a:p>
            <a:pPr eaLnBrk="1" hangingPunct="1">
              <a:lnSpc>
                <a:spcPct val="90000"/>
              </a:lnSpc>
              <a:buFont typeface="Wingdings" pitchFamily="2" charset="2"/>
              <a:buNone/>
            </a:pPr>
            <a:r>
              <a:rPr lang="en-US" altLang="zh-CN" sz="1800" i="1" dirty="0">
                <a:latin typeface="Consolas" panose="020B0609020204030204" pitchFamily="49" charset="0"/>
              </a:rPr>
              <a:t>		</a:t>
            </a:r>
            <a:r>
              <a:rPr lang="en-US" altLang="zh-CN" sz="1800" i="1" dirty="0" err="1">
                <a:latin typeface="Consolas" panose="020B0609020204030204" pitchFamily="49" charset="0"/>
              </a:rPr>
              <a:t>addiu</a:t>
            </a:r>
            <a:r>
              <a:rPr lang="en-US" altLang="zh-CN" sz="1800" i="1" dirty="0">
                <a:latin typeface="Consolas" panose="020B0609020204030204" pitchFamily="49" charset="0"/>
              </a:rPr>
              <a:t> $s1,$0,4</a:t>
            </a:r>
          </a:p>
          <a:p>
            <a:pPr eaLnBrk="1" hangingPunct="1">
              <a:lnSpc>
                <a:spcPct val="90000"/>
              </a:lnSpc>
              <a:buFont typeface="Wingdings" pitchFamily="2" charset="2"/>
              <a:buNone/>
            </a:pPr>
            <a:r>
              <a:rPr lang="en-US" altLang="zh-CN" sz="1800" i="1" dirty="0">
                <a:latin typeface="Consolas" panose="020B0609020204030204" pitchFamily="49" charset="0"/>
              </a:rPr>
              <a:t>		</a:t>
            </a:r>
            <a:r>
              <a:rPr lang="en-US" altLang="zh-CN" sz="1800" i="1" dirty="0" err="1">
                <a:latin typeface="Consolas" panose="020B0609020204030204" pitchFamily="49" charset="0"/>
              </a:rPr>
              <a:t>mul</a:t>
            </a:r>
            <a:r>
              <a:rPr lang="en-US" altLang="zh-CN" sz="1800" i="1" dirty="0">
                <a:latin typeface="Consolas" panose="020B0609020204030204" pitchFamily="49" charset="0"/>
              </a:rPr>
              <a:t>    $s2,$s1,$s0            </a:t>
            </a:r>
            <a:r>
              <a:rPr lang="en-US" altLang="zh-CN" sz="1800" b="1" i="1" dirty="0">
                <a:solidFill>
                  <a:srgbClr val="FF0000"/>
                </a:solidFill>
                <a:latin typeface="Consolas" panose="020B0609020204030204" pitchFamily="49" charset="0"/>
              </a:rPr>
              <a:t>#</a:t>
            </a:r>
            <a:r>
              <a:rPr lang="zh-CN" altLang="en-US" sz="1800" b="1" i="1" dirty="0">
                <a:solidFill>
                  <a:srgbClr val="FF0000"/>
                </a:solidFill>
                <a:latin typeface="Consolas" panose="020B0609020204030204" pitchFamily="49" charset="0"/>
              </a:rPr>
              <a:t>换算地址</a:t>
            </a:r>
            <a:endParaRPr lang="en-US" altLang="zh-CN" sz="1800" b="1" i="1" dirty="0">
              <a:solidFill>
                <a:srgbClr val="FF0000"/>
              </a:solidFill>
              <a:latin typeface="Consolas" panose="020B0609020204030204" pitchFamily="49" charset="0"/>
            </a:endParaRPr>
          </a:p>
          <a:p>
            <a:pPr eaLnBrk="1" hangingPunct="1">
              <a:lnSpc>
                <a:spcPct val="90000"/>
              </a:lnSpc>
              <a:buFont typeface="Wingdings" pitchFamily="2" charset="2"/>
              <a:buNone/>
            </a:pPr>
            <a:r>
              <a:rPr lang="en-US" altLang="zh-CN" sz="1800" i="1" dirty="0">
                <a:latin typeface="Consolas" panose="020B0609020204030204" pitchFamily="49" charset="0"/>
              </a:rPr>
              <a:t>		</a:t>
            </a:r>
            <a:r>
              <a:rPr lang="en-US" altLang="zh-CN" sz="1800" i="1" dirty="0" err="1">
                <a:latin typeface="Consolas" panose="020B0609020204030204" pitchFamily="49" charset="0"/>
              </a:rPr>
              <a:t>addu</a:t>
            </a:r>
            <a:r>
              <a:rPr lang="en-US" altLang="zh-CN" sz="1800" i="1" dirty="0">
                <a:latin typeface="Consolas" panose="020B0609020204030204" pitchFamily="49" charset="0"/>
              </a:rPr>
              <a:t>  $s3,$s2,$s5             </a:t>
            </a:r>
            <a:r>
              <a:rPr lang="en-US" altLang="zh-CN" sz="1800" b="1" i="1" dirty="0">
                <a:solidFill>
                  <a:srgbClr val="FF0000"/>
                </a:solidFill>
                <a:latin typeface="Consolas" panose="020B0609020204030204" pitchFamily="49" charset="0"/>
              </a:rPr>
              <a:t>#</a:t>
            </a:r>
            <a:r>
              <a:rPr lang="zh-CN" altLang="en-US" sz="1800" b="1" i="1" dirty="0">
                <a:solidFill>
                  <a:srgbClr val="FF0000"/>
                </a:solidFill>
                <a:latin typeface="Consolas" panose="020B0609020204030204" pitchFamily="49" charset="0"/>
              </a:rPr>
              <a:t>计算</a:t>
            </a:r>
            <a:r>
              <a:rPr lang="en-US" altLang="zh-CN" sz="1800" b="1" i="1" dirty="0">
                <a:solidFill>
                  <a:srgbClr val="FF0000"/>
                </a:solidFill>
                <a:latin typeface="Consolas" panose="020B0609020204030204" pitchFamily="49" charset="0"/>
              </a:rPr>
              <a:t>A[]</a:t>
            </a:r>
            <a:r>
              <a:rPr lang="zh-CN" altLang="en-US" sz="1800" b="1" i="1" dirty="0">
                <a:solidFill>
                  <a:srgbClr val="FF0000"/>
                </a:solidFill>
                <a:latin typeface="Consolas" panose="020B0609020204030204" pitchFamily="49" charset="0"/>
              </a:rPr>
              <a:t>偏移量</a:t>
            </a:r>
            <a:r>
              <a:rPr lang="en-US" altLang="zh-CN" sz="1800" b="1" i="1" dirty="0">
                <a:solidFill>
                  <a:srgbClr val="FF0000"/>
                </a:solidFill>
                <a:latin typeface="Consolas" panose="020B0609020204030204" pitchFamily="49" charset="0"/>
              </a:rPr>
              <a:t>,</a:t>
            </a:r>
            <a:r>
              <a:rPr lang="zh-CN" altLang="en-US" sz="1800" b="1" i="1" dirty="0">
                <a:solidFill>
                  <a:srgbClr val="FF0000"/>
                </a:solidFill>
                <a:latin typeface="Consolas" panose="020B0609020204030204" pitchFamily="49" charset="0"/>
              </a:rPr>
              <a:t>送到</a:t>
            </a:r>
            <a:r>
              <a:rPr lang="en-US" altLang="zh-CN" sz="1800" b="1" i="1" dirty="0">
                <a:solidFill>
                  <a:srgbClr val="FF0000"/>
                </a:solidFill>
                <a:latin typeface="Consolas" panose="020B0609020204030204" pitchFamily="49" charset="0"/>
              </a:rPr>
              <a:t>$s3</a:t>
            </a:r>
          </a:p>
          <a:p>
            <a:pPr eaLnBrk="1" hangingPunct="1">
              <a:lnSpc>
                <a:spcPct val="90000"/>
              </a:lnSpc>
              <a:buFont typeface="Wingdings" pitchFamily="2" charset="2"/>
              <a:buNone/>
            </a:pPr>
            <a:r>
              <a:rPr lang="en-US" altLang="zh-CN" sz="1800" i="1" dirty="0">
                <a:latin typeface="Consolas" panose="020B0609020204030204" pitchFamily="49" charset="0"/>
              </a:rPr>
              <a:t>		lw       $s4,0($s3)           </a:t>
            </a:r>
            <a:r>
              <a:rPr lang="en-US" altLang="zh-CN" sz="1800" b="1" i="1" dirty="0">
                <a:solidFill>
                  <a:srgbClr val="FF0000"/>
                </a:solidFill>
                <a:latin typeface="Consolas" panose="020B0609020204030204" pitchFamily="49" charset="0"/>
              </a:rPr>
              <a:t>#</a:t>
            </a:r>
            <a:r>
              <a:rPr lang="zh-CN" altLang="en-US" sz="1800" b="1" i="1" dirty="0">
                <a:solidFill>
                  <a:srgbClr val="FF0000"/>
                </a:solidFill>
                <a:latin typeface="Consolas" panose="020B0609020204030204" pitchFamily="49" charset="0"/>
              </a:rPr>
              <a:t>读出</a:t>
            </a:r>
            <a:r>
              <a:rPr lang="en-US" altLang="zh-CN" sz="1800" b="1" i="1" dirty="0">
                <a:solidFill>
                  <a:srgbClr val="FF0000"/>
                </a:solidFill>
                <a:latin typeface="Consolas" panose="020B0609020204030204" pitchFamily="49" charset="0"/>
              </a:rPr>
              <a:t>A[]</a:t>
            </a:r>
            <a:r>
              <a:rPr lang="zh-CN" altLang="en-US" sz="1800" b="1" i="1" dirty="0">
                <a:solidFill>
                  <a:srgbClr val="FF0000"/>
                </a:solidFill>
                <a:latin typeface="Consolas" panose="020B0609020204030204" pitchFamily="49" charset="0"/>
              </a:rPr>
              <a:t>中的值</a:t>
            </a:r>
          </a:p>
          <a:p>
            <a:pPr eaLnBrk="1" hangingPunct="1">
              <a:lnSpc>
                <a:spcPct val="90000"/>
              </a:lnSpc>
              <a:buFont typeface="Wingdings" pitchFamily="2" charset="2"/>
              <a:buNone/>
            </a:pPr>
            <a:r>
              <a:rPr lang="en-US" altLang="zh-CN" sz="1800" i="1" dirty="0">
                <a:latin typeface="Consolas" panose="020B0609020204030204" pitchFamily="49" charset="0"/>
              </a:rPr>
              <a:t>		</a:t>
            </a:r>
            <a:r>
              <a:rPr lang="en-US" altLang="zh-CN" sz="1800" i="1" dirty="0" err="1">
                <a:latin typeface="Consolas" panose="020B0609020204030204" pitchFamily="49" charset="0"/>
              </a:rPr>
              <a:t>addu</a:t>
            </a:r>
            <a:r>
              <a:rPr lang="en-US" altLang="zh-CN" sz="1800" i="1" dirty="0">
                <a:latin typeface="Consolas" panose="020B0609020204030204" pitchFamily="49" charset="0"/>
              </a:rPr>
              <a:t>  $s3,$s2,$s6             </a:t>
            </a:r>
            <a:r>
              <a:rPr lang="en-US" altLang="zh-CN" sz="1800" b="1" i="1" dirty="0">
                <a:solidFill>
                  <a:srgbClr val="FF0000"/>
                </a:solidFill>
                <a:latin typeface="Consolas" panose="020B0609020204030204" pitchFamily="49" charset="0"/>
              </a:rPr>
              <a:t>#</a:t>
            </a:r>
            <a:r>
              <a:rPr lang="zh-CN" altLang="en-US" sz="1800" b="1" i="1" dirty="0">
                <a:solidFill>
                  <a:srgbClr val="FF0000"/>
                </a:solidFill>
                <a:latin typeface="Consolas" panose="020B0609020204030204" pitchFamily="49" charset="0"/>
              </a:rPr>
              <a:t>计算</a:t>
            </a:r>
            <a:r>
              <a:rPr lang="en-US" altLang="zh-CN" sz="1800" b="1" i="1" dirty="0">
                <a:solidFill>
                  <a:srgbClr val="FF0000"/>
                </a:solidFill>
                <a:latin typeface="Consolas" panose="020B0609020204030204" pitchFamily="49" charset="0"/>
              </a:rPr>
              <a:t>B[]</a:t>
            </a:r>
            <a:r>
              <a:rPr lang="zh-CN" altLang="en-US" sz="1800" b="1" i="1" dirty="0">
                <a:solidFill>
                  <a:srgbClr val="FF0000"/>
                </a:solidFill>
                <a:latin typeface="Consolas" panose="020B0609020204030204" pitchFamily="49" charset="0"/>
              </a:rPr>
              <a:t>偏移量</a:t>
            </a:r>
            <a:r>
              <a:rPr lang="en-US" altLang="zh-CN" sz="1800" b="1" i="1" dirty="0">
                <a:solidFill>
                  <a:srgbClr val="FF0000"/>
                </a:solidFill>
                <a:latin typeface="Consolas" panose="020B0609020204030204" pitchFamily="49" charset="0"/>
              </a:rPr>
              <a:t>,</a:t>
            </a:r>
            <a:r>
              <a:rPr lang="zh-CN" altLang="en-US" sz="1800" b="1" i="1" dirty="0">
                <a:solidFill>
                  <a:srgbClr val="FF0000"/>
                </a:solidFill>
                <a:latin typeface="Consolas" panose="020B0609020204030204" pitchFamily="49" charset="0"/>
              </a:rPr>
              <a:t>送到</a:t>
            </a:r>
            <a:r>
              <a:rPr lang="en-US" altLang="zh-CN" sz="1800" b="1" i="1" dirty="0">
                <a:solidFill>
                  <a:srgbClr val="FF0000"/>
                </a:solidFill>
                <a:latin typeface="Consolas" panose="020B0609020204030204" pitchFamily="49" charset="0"/>
              </a:rPr>
              <a:t>$s3</a:t>
            </a:r>
            <a:endParaRPr lang="en-US" altLang="zh-CN" sz="1800" b="1" i="1" dirty="0">
              <a:latin typeface="Consolas" panose="020B0609020204030204" pitchFamily="49" charset="0"/>
            </a:endParaRPr>
          </a:p>
          <a:p>
            <a:pPr eaLnBrk="1" hangingPunct="1">
              <a:lnSpc>
                <a:spcPct val="90000"/>
              </a:lnSpc>
              <a:buFont typeface="Wingdings" pitchFamily="2" charset="2"/>
              <a:buNone/>
            </a:pPr>
            <a:r>
              <a:rPr lang="en-US" altLang="zh-CN" sz="1800" i="1" dirty="0">
                <a:latin typeface="Consolas" panose="020B0609020204030204" pitchFamily="49" charset="0"/>
              </a:rPr>
              <a:t>		</a:t>
            </a:r>
            <a:r>
              <a:rPr lang="en-US" altLang="zh-CN" sz="1800" i="1" dirty="0" err="1">
                <a:latin typeface="Consolas" panose="020B0609020204030204" pitchFamily="49" charset="0"/>
              </a:rPr>
              <a:t>sw</a:t>
            </a:r>
            <a:r>
              <a:rPr lang="en-US" altLang="zh-CN" sz="1800" i="1" dirty="0">
                <a:latin typeface="Consolas" panose="020B0609020204030204" pitchFamily="49" charset="0"/>
              </a:rPr>
              <a:t>      $s4,0($s3)            </a:t>
            </a:r>
            <a:r>
              <a:rPr lang="en-US" altLang="zh-CN" sz="1800" b="1" i="1" dirty="0">
                <a:solidFill>
                  <a:srgbClr val="FF0000"/>
                </a:solidFill>
                <a:latin typeface="Consolas" panose="020B0609020204030204" pitchFamily="49" charset="0"/>
              </a:rPr>
              <a:t>#</a:t>
            </a:r>
            <a:r>
              <a:rPr lang="zh-CN" altLang="en-US" sz="1800" b="1" i="1" dirty="0">
                <a:solidFill>
                  <a:srgbClr val="FF0000"/>
                </a:solidFill>
                <a:latin typeface="Consolas" panose="020B0609020204030204" pitchFamily="49" charset="0"/>
              </a:rPr>
              <a:t>写到</a:t>
            </a:r>
            <a:r>
              <a:rPr lang="en-US" altLang="zh-CN" sz="1800" b="1" i="1" dirty="0">
                <a:solidFill>
                  <a:srgbClr val="FF0000"/>
                </a:solidFill>
                <a:latin typeface="Consolas" panose="020B0609020204030204" pitchFamily="49" charset="0"/>
              </a:rPr>
              <a:t>B[]</a:t>
            </a:r>
            <a:r>
              <a:rPr lang="zh-CN" altLang="en-US" sz="1800" b="1" i="1" dirty="0">
                <a:solidFill>
                  <a:srgbClr val="FF0000"/>
                </a:solidFill>
                <a:latin typeface="Consolas" panose="020B0609020204030204" pitchFamily="49" charset="0"/>
              </a:rPr>
              <a:t>中去</a:t>
            </a:r>
            <a:endParaRPr lang="zh-CN" altLang="en-US" sz="1800" b="1" i="1" dirty="0">
              <a:latin typeface="Consolas" panose="020B0609020204030204" pitchFamily="49" charset="0"/>
            </a:endParaRPr>
          </a:p>
          <a:p>
            <a:pPr eaLnBrk="1" hangingPunct="1">
              <a:lnSpc>
                <a:spcPct val="90000"/>
              </a:lnSpc>
              <a:buFont typeface="Wingdings" pitchFamily="2" charset="2"/>
              <a:buNone/>
            </a:pPr>
            <a:r>
              <a:rPr lang="en-US" altLang="zh-CN" sz="1800" i="1" dirty="0">
                <a:latin typeface="Consolas" panose="020B0609020204030204" pitchFamily="49" charset="0"/>
              </a:rPr>
              <a:t>		</a:t>
            </a:r>
            <a:r>
              <a:rPr lang="en-US" altLang="zh-CN" sz="1800" i="1" dirty="0" err="1">
                <a:latin typeface="Consolas" panose="020B0609020204030204" pitchFamily="49" charset="0"/>
              </a:rPr>
              <a:t>bnez</a:t>
            </a:r>
            <a:r>
              <a:rPr lang="en-US" altLang="zh-CN" sz="1800" i="1" dirty="0">
                <a:latin typeface="Consolas" panose="020B0609020204030204" pitchFamily="49" charset="0"/>
              </a:rPr>
              <a:t>   $s0,loop</a:t>
            </a:r>
          </a:p>
          <a:p>
            <a:pPr eaLnBrk="1" hangingPunct="1">
              <a:lnSpc>
                <a:spcPct val="90000"/>
              </a:lnSpc>
              <a:buFont typeface="Wingdings" pitchFamily="2" charset="2"/>
              <a:buNone/>
            </a:pPr>
            <a:r>
              <a:rPr lang="en-US" altLang="zh-CN" sz="1800" i="1" dirty="0">
                <a:latin typeface="Consolas" panose="020B0609020204030204" pitchFamily="49" charset="0"/>
              </a:rPr>
              <a:t>		</a:t>
            </a:r>
            <a:r>
              <a:rPr lang="en-US" altLang="zh-CN" sz="1800" i="1" dirty="0" err="1">
                <a:latin typeface="Consolas" panose="020B0609020204030204" pitchFamily="49" charset="0"/>
              </a:rPr>
              <a:t>addu</a:t>
            </a:r>
            <a:r>
              <a:rPr lang="en-US" altLang="zh-CN" sz="1800" i="1" dirty="0">
                <a:latin typeface="Consolas" panose="020B0609020204030204" pitchFamily="49" charset="0"/>
              </a:rPr>
              <a:t>  $ra,$0,$s7              </a:t>
            </a:r>
            <a:r>
              <a:rPr lang="en-US" altLang="zh-CN" sz="1800" b="1" i="1" dirty="0">
                <a:solidFill>
                  <a:srgbClr val="FF0000"/>
                </a:solidFill>
                <a:latin typeface="Consolas" panose="020B0609020204030204" pitchFamily="49" charset="0"/>
              </a:rPr>
              <a:t>#</a:t>
            </a:r>
            <a:r>
              <a:rPr lang="zh-CN" altLang="en-US" sz="1800" b="1" i="1" dirty="0">
                <a:solidFill>
                  <a:srgbClr val="FF0000"/>
                </a:solidFill>
                <a:latin typeface="Consolas" panose="020B0609020204030204" pitchFamily="49" charset="0"/>
              </a:rPr>
              <a:t>返回调用程序</a:t>
            </a:r>
            <a:r>
              <a:rPr lang="en-US" altLang="zh-CN" sz="1800" i="1" dirty="0">
                <a:latin typeface="Consolas" panose="020B0609020204030204" pitchFamily="49" charset="0"/>
              </a:rPr>
              <a:t>  </a:t>
            </a:r>
          </a:p>
          <a:p>
            <a:pPr eaLnBrk="1" hangingPunct="1">
              <a:lnSpc>
                <a:spcPct val="90000"/>
              </a:lnSpc>
              <a:buFont typeface="Wingdings" pitchFamily="2" charset="2"/>
              <a:buNone/>
            </a:pPr>
            <a:r>
              <a:rPr lang="en-US" altLang="zh-CN" sz="1800" i="1" dirty="0">
                <a:latin typeface="Consolas" panose="020B0609020204030204" pitchFamily="49" charset="0"/>
              </a:rPr>
              <a:t>		</a:t>
            </a:r>
            <a:r>
              <a:rPr lang="en-US" altLang="zh-CN" sz="1800" i="1" dirty="0" err="1">
                <a:latin typeface="Consolas" panose="020B0609020204030204" pitchFamily="49" charset="0"/>
              </a:rPr>
              <a:t>jr</a:t>
            </a:r>
            <a:r>
              <a:rPr lang="en-US" altLang="zh-CN" sz="1800" i="1" dirty="0">
                <a:latin typeface="Consolas" panose="020B0609020204030204" pitchFamily="49" charset="0"/>
              </a:rPr>
              <a:t> $</a:t>
            </a:r>
            <a:r>
              <a:rPr lang="en-US" altLang="zh-CN" sz="1800" i="1" dirty="0" err="1">
                <a:latin typeface="Consolas" panose="020B0609020204030204" pitchFamily="49" charset="0"/>
              </a:rPr>
              <a:t>ra</a:t>
            </a:r>
            <a:endParaRPr lang="zh-CN" altLang="en-US" sz="1800" i="1" dirty="0">
              <a:latin typeface="Consolas" panose="020B0609020204030204" pitchFamily="49" charset="0"/>
            </a:endParaRPr>
          </a:p>
        </p:txBody>
      </p:sp>
      <p:sp>
        <p:nvSpPr>
          <p:cNvPr id="7" name="Rectangle 1">
            <a:extLst>
              <a:ext uri="{FF2B5EF4-FFF2-40B4-BE49-F238E27FC236}">
                <a16:creationId xmlns:a16="http://schemas.microsoft.com/office/drawing/2014/main" id="{2955A8C7-DE14-924A-9036-F3542B17CE6B}"/>
              </a:ext>
            </a:extLst>
          </p:cNvPr>
          <p:cNvSpPr/>
          <p:nvPr/>
        </p:nvSpPr>
        <p:spPr>
          <a:xfrm>
            <a:off x="4195888" y="2207485"/>
            <a:ext cx="5000136" cy="400110"/>
          </a:xfrm>
          <a:prstGeom prst="rect">
            <a:avLst/>
          </a:prstGeom>
        </p:spPr>
        <p:txBody>
          <a:bodyPr wrap="square">
            <a:spAutoFit/>
          </a:bodyPr>
          <a:lstStyle/>
          <a:p>
            <a:r>
              <a:rPr lang="zh-CN" altLang="en-US" sz="2000" b="1" dirty="0">
                <a:solidFill>
                  <a:srgbClr val="0432FF"/>
                </a:solidFill>
                <a:latin typeface="+mj-ea"/>
                <a:ea typeface="+mj-ea"/>
              </a:rPr>
              <a:t>功能：将数组</a:t>
            </a:r>
            <a:r>
              <a:rPr lang="en-US" sz="2000" b="1" dirty="0">
                <a:solidFill>
                  <a:srgbClr val="0432FF"/>
                </a:solidFill>
                <a:latin typeface="+mj-ea"/>
                <a:ea typeface="+mj-ea"/>
              </a:rPr>
              <a:t>A</a:t>
            </a:r>
            <a:r>
              <a:rPr lang="zh-CN" altLang="en-US" sz="2000" b="1" dirty="0">
                <a:solidFill>
                  <a:srgbClr val="0432FF"/>
                </a:solidFill>
                <a:latin typeface="+mj-ea"/>
                <a:ea typeface="+mj-ea"/>
              </a:rPr>
              <a:t>的值依次拷贝到数组</a:t>
            </a:r>
            <a:r>
              <a:rPr lang="en-US" sz="2000" b="1" dirty="0">
                <a:solidFill>
                  <a:srgbClr val="0432FF"/>
                </a:solidFill>
                <a:latin typeface="+mj-ea"/>
                <a:ea typeface="+mj-ea"/>
              </a:rPr>
              <a:t>B</a:t>
            </a:r>
            <a:r>
              <a:rPr lang="zh-CN" altLang="en-US" sz="2000" b="1" dirty="0">
                <a:solidFill>
                  <a:srgbClr val="0432FF"/>
                </a:solidFill>
                <a:latin typeface="+mj-ea"/>
                <a:ea typeface="+mj-ea"/>
              </a:rPr>
              <a:t>中</a:t>
            </a:r>
            <a:endParaRPr lang="x-none" sz="2000" b="1" dirty="0">
              <a:solidFill>
                <a:srgbClr val="0432FF"/>
              </a:solidFill>
              <a:latin typeface="+mj-ea"/>
              <a:ea typeface="+mj-ea"/>
            </a:endParaRPr>
          </a:p>
        </p:txBody>
      </p:sp>
      <p:sp>
        <p:nvSpPr>
          <p:cNvPr id="2" name="文本框 1">
            <a:extLst>
              <a:ext uri="{FF2B5EF4-FFF2-40B4-BE49-F238E27FC236}">
                <a16:creationId xmlns:a16="http://schemas.microsoft.com/office/drawing/2014/main" id="{0C6416FB-5449-A342-A45D-51222C266AAF}"/>
              </a:ext>
            </a:extLst>
          </p:cNvPr>
          <p:cNvSpPr txBox="1"/>
          <p:nvPr/>
        </p:nvSpPr>
        <p:spPr>
          <a:xfrm>
            <a:off x="4844297" y="1204020"/>
            <a:ext cx="3703319" cy="461665"/>
          </a:xfrm>
          <a:prstGeom prst="rect">
            <a:avLst/>
          </a:prstGeom>
          <a:noFill/>
        </p:spPr>
        <p:txBody>
          <a:bodyPr wrap="square" rtlCol="0">
            <a:spAutoFit/>
          </a:bodyPr>
          <a:lstStyle/>
          <a:p>
            <a:pPr algn="ctr"/>
            <a:r>
              <a:rPr kumimoji="1" lang="zh-CN" altLang="en-US" sz="2400" b="1" dirty="0">
                <a:solidFill>
                  <a:srgbClr val="FF0000"/>
                </a:solidFill>
                <a:latin typeface="+mn-lt"/>
                <a:ea typeface="+mj-ea"/>
              </a:rPr>
              <a:t>每个数</a:t>
            </a:r>
            <a:r>
              <a:rPr kumimoji="1" lang="en-US" altLang="zh-CN" sz="2400" b="1" dirty="0">
                <a:solidFill>
                  <a:srgbClr val="FF0000"/>
                </a:solidFill>
                <a:latin typeface="+mn-lt"/>
                <a:ea typeface="+mj-ea"/>
              </a:rPr>
              <a:t>4Bytes/1word</a:t>
            </a:r>
            <a:endParaRPr kumimoji="1" lang="zh-CN" altLang="en-US" sz="2400" b="1" dirty="0">
              <a:solidFill>
                <a:srgbClr val="FF0000"/>
              </a:solidFill>
              <a:latin typeface="+mn-lt"/>
              <a:ea typeface="+mj-ea"/>
            </a:endParaRPr>
          </a:p>
        </p:txBody>
      </p:sp>
      <p:sp>
        <p:nvSpPr>
          <p:cNvPr id="3" name="Title 4">
            <a:extLst>
              <a:ext uri="{FF2B5EF4-FFF2-40B4-BE49-F238E27FC236}">
                <a16:creationId xmlns:a16="http://schemas.microsoft.com/office/drawing/2014/main" id="{0327730D-AE18-DD6E-AA56-193E1500620E}"/>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b="1" dirty="0"/>
              <a:t>编程指南：数组</a:t>
            </a:r>
            <a:r>
              <a:rPr lang="en-US" altLang="zh-CN" b="1" dirty="0"/>
              <a:t>array</a:t>
            </a:r>
            <a:endParaRPr lang="en-CN" kern="0" dirty="0"/>
          </a:p>
        </p:txBody>
      </p:sp>
    </p:spTree>
    <p:extLst>
      <p:ext uri="{BB962C8B-B14F-4D97-AF65-F5344CB8AC3E}">
        <p14:creationId xmlns:p14="http://schemas.microsoft.com/office/powerpoint/2010/main" val="610638280"/>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a:extLst>
              <a:ext uri="{FF2B5EF4-FFF2-40B4-BE49-F238E27FC236}">
                <a16:creationId xmlns:a16="http://schemas.microsoft.com/office/drawing/2014/main" id="{94852D84-ED07-4F48-8AA4-6F0EBBCAE709}"/>
              </a:ext>
            </a:extLst>
          </p:cNvPr>
          <p:cNvSpPr>
            <a:spLocks noGrp="1"/>
          </p:cNvSpPr>
          <p:nvPr>
            <p:ph type="sldNum" sz="quarter" idx="12"/>
          </p:nvPr>
        </p:nvSpPr>
        <p:spPr/>
        <p:txBody>
          <a:bodyPr/>
          <a:lstStyle/>
          <a:p>
            <a:fld id="{14659731-6BD7-46E7-8D3C-2F3AC07E20B1}" type="slidenum">
              <a:rPr lang="en-US" altLang="zh-CN" smtClean="0"/>
              <a:pPr/>
              <a:t>130</a:t>
            </a:fld>
            <a:endParaRPr lang="en-US" altLang="zh-CN" dirty="0"/>
          </a:p>
        </p:txBody>
      </p:sp>
      <p:sp>
        <p:nvSpPr>
          <p:cNvPr id="25605" name="Rectangle 3"/>
          <p:cNvSpPr>
            <a:spLocks noGrp="1" noChangeArrowheads="1"/>
          </p:cNvSpPr>
          <p:nvPr>
            <p:ph idx="4294967295"/>
          </p:nvPr>
        </p:nvSpPr>
        <p:spPr>
          <a:xfrm>
            <a:off x="457200" y="1361765"/>
            <a:ext cx="7886700" cy="5121585"/>
          </a:xfrm>
        </p:spPr>
        <p:txBody>
          <a:bodyPr>
            <a:normAutofit fontScale="92500" lnSpcReduction="20000"/>
          </a:bodyPr>
          <a:lstStyle/>
          <a:p>
            <a:pPr>
              <a:lnSpc>
                <a:spcPct val="150000"/>
              </a:lnSpc>
            </a:pPr>
            <a:r>
              <a:rPr kumimoji="1" lang="zh-CN" altLang="en-US" sz="2600" b="1" dirty="0"/>
              <a:t>使用移位操作代替</a:t>
            </a:r>
            <a:r>
              <a:rPr kumimoji="1" lang="en-US" altLang="zh-CN" sz="2600" b="1" dirty="0" err="1"/>
              <a:t>mul</a:t>
            </a:r>
            <a:r>
              <a:rPr kumimoji="1" lang="zh-CN" altLang="en-US" sz="2600" b="1" dirty="0"/>
              <a:t>和</a:t>
            </a:r>
            <a:r>
              <a:rPr kumimoji="1" lang="en-US" altLang="zh-CN" sz="2600" b="1" dirty="0"/>
              <a:t>div</a:t>
            </a:r>
            <a:r>
              <a:rPr lang="zh-CN" altLang="en-US" sz="2600" dirty="0"/>
              <a:t>（</a:t>
            </a:r>
            <a:r>
              <a:rPr lang="en-US" altLang="zh-CN" sz="2600" dirty="0" err="1"/>
              <a:t>mul</a:t>
            </a:r>
            <a:r>
              <a:rPr lang="en-US" altLang="zh-CN" sz="2600" dirty="0"/>
              <a:t> </a:t>
            </a:r>
            <a:r>
              <a:rPr lang="zh-CN" altLang="en-US" sz="2600" dirty="0"/>
              <a:t>和 </a:t>
            </a:r>
            <a:r>
              <a:rPr lang="en-US" altLang="zh-CN" sz="2600" dirty="0"/>
              <a:t>div</a:t>
            </a:r>
            <a:r>
              <a:rPr lang="zh-CN" altLang="en-US" sz="2600" dirty="0"/>
              <a:t> 一般都比</a:t>
            </a:r>
            <a:r>
              <a:rPr lang="en-US" altLang="zh-CN" sz="2600" dirty="0" err="1"/>
              <a:t>sll</a:t>
            </a:r>
            <a:r>
              <a:rPr lang="zh-CN" altLang="en-US" sz="2600" dirty="0"/>
              <a:t>和</a:t>
            </a:r>
            <a:r>
              <a:rPr lang="en-US" altLang="zh-CN" sz="2600" dirty="0" err="1"/>
              <a:t>srl</a:t>
            </a:r>
            <a:r>
              <a:rPr lang="zh-CN" altLang="en-US" sz="2600" dirty="0"/>
              <a:t>慢）</a:t>
            </a:r>
            <a:endParaRPr kumimoji="1" lang="zh-CN" altLang="en-US" sz="2600" b="1" dirty="0"/>
          </a:p>
          <a:p>
            <a:pPr lvl="1">
              <a:lnSpc>
                <a:spcPct val="150000"/>
              </a:lnSpc>
            </a:pPr>
            <a:r>
              <a:rPr lang="en-US" altLang="zh-CN" sz="2200" dirty="0" err="1"/>
              <a:t>sllv</a:t>
            </a:r>
            <a:r>
              <a:rPr lang="en-US" altLang="zh-CN" sz="2200" b="1" dirty="0"/>
              <a:t> by </a:t>
            </a:r>
            <a:r>
              <a:rPr lang="en-US" altLang="zh-CN" sz="2200" dirty="0"/>
              <a:t>k</a:t>
            </a:r>
            <a:r>
              <a:rPr lang="en-US" altLang="zh-CN" sz="2200" b="1" dirty="0"/>
              <a:t> </a:t>
            </a:r>
            <a:r>
              <a:rPr lang="zh-CN" altLang="en-US" sz="2200" b="1" dirty="0"/>
              <a:t>等价于 </a:t>
            </a:r>
            <a:r>
              <a:rPr lang="en-US" altLang="zh-CN" sz="2200" dirty="0" err="1"/>
              <a:t>mul</a:t>
            </a:r>
            <a:r>
              <a:rPr lang="en-US" altLang="zh-CN" sz="2200" b="1" dirty="0"/>
              <a:t> by </a:t>
            </a:r>
            <a:r>
              <a:rPr lang="en-US" altLang="zh-CN" sz="2200" dirty="0"/>
              <a:t>2</a:t>
            </a:r>
            <a:r>
              <a:rPr lang="en-US" altLang="zh-CN" sz="2200" baseline="30000" dirty="0"/>
              <a:t>k</a:t>
            </a:r>
            <a:endParaRPr lang="en-US" altLang="zh-CN" sz="2200" b="1" dirty="0"/>
          </a:p>
          <a:p>
            <a:pPr lvl="1">
              <a:lnSpc>
                <a:spcPct val="150000"/>
              </a:lnSpc>
            </a:pPr>
            <a:r>
              <a:rPr lang="en-US" altLang="zh-CN" sz="2200" dirty="0" err="1"/>
              <a:t>srlv</a:t>
            </a:r>
            <a:r>
              <a:rPr lang="en-US" altLang="zh-CN" sz="2200" b="1" dirty="0"/>
              <a:t> by </a:t>
            </a:r>
            <a:r>
              <a:rPr lang="en-US" altLang="zh-CN" sz="2200" dirty="0"/>
              <a:t>k</a:t>
            </a:r>
            <a:r>
              <a:rPr lang="en-US" altLang="zh-CN" sz="2200" b="1" dirty="0"/>
              <a:t> </a:t>
            </a:r>
            <a:r>
              <a:rPr lang="zh-CN" altLang="en-US" sz="2200" b="1" dirty="0"/>
              <a:t>等价于 </a:t>
            </a:r>
            <a:r>
              <a:rPr lang="en-US" altLang="zh-CN" sz="2200" dirty="0"/>
              <a:t>div</a:t>
            </a:r>
            <a:r>
              <a:rPr lang="en-US" altLang="zh-CN" sz="2200" b="1" dirty="0"/>
              <a:t> by </a:t>
            </a:r>
            <a:r>
              <a:rPr lang="en-US" altLang="zh-CN" sz="2200" dirty="0"/>
              <a:t>2</a:t>
            </a:r>
            <a:r>
              <a:rPr lang="en-US" altLang="zh-CN" sz="2200" baseline="30000" dirty="0"/>
              <a:t>k</a:t>
            </a:r>
            <a:endParaRPr lang="en-US" altLang="zh-CN" sz="2200" b="1" dirty="0"/>
          </a:p>
          <a:p>
            <a:pPr eaLnBrk="1" hangingPunct="1">
              <a:lnSpc>
                <a:spcPct val="150000"/>
              </a:lnSpc>
            </a:pPr>
            <a:r>
              <a:rPr lang="zh-CN" altLang="en-US" sz="2600" dirty="0"/>
              <a:t>对于有符号数用 </a:t>
            </a:r>
            <a:r>
              <a:rPr lang="en-US" altLang="zh-CN" sz="2600" dirty="0" err="1"/>
              <a:t>sra</a:t>
            </a:r>
            <a:endParaRPr lang="en-US" altLang="zh-CN" sz="2600" b="1" dirty="0"/>
          </a:p>
          <a:p>
            <a:pPr marL="628650" lvl="1" indent="-228600" eaLnBrk="1" hangingPunct="1">
              <a:lnSpc>
                <a:spcPct val="150000"/>
              </a:lnSpc>
            </a:pPr>
            <a:r>
              <a:rPr lang="zh-CN" altLang="en-US" sz="2200" dirty="0"/>
              <a:t>高位用符号位填充</a:t>
            </a:r>
            <a:r>
              <a:rPr lang="en-US" altLang="zh-CN" sz="2200" dirty="0"/>
              <a:t>(</a:t>
            </a:r>
            <a:r>
              <a:rPr lang="zh-CN" altLang="en-US" sz="2200" dirty="0"/>
              <a:t>在</a:t>
            </a:r>
            <a:r>
              <a:rPr lang="en-US" altLang="zh-CN" sz="2200" dirty="0"/>
              <a:t>2</a:t>
            </a:r>
            <a:r>
              <a:rPr lang="zh-CN" altLang="en-US" sz="2200" dirty="0"/>
              <a:t>的补码表示情况下</a:t>
            </a:r>
            <a:r>
              <a:rPr lang="en-US" altLang="zh-CN" sz="2200" dirty="0"/>
              <a:t>)</a:t>
            </a:r>
          </a:p>
          <a:p>
            <a:pPr marL="628650" lvl="1" indent="-228600" eaLnBrk="1" hangingPunct="1">
              <a:lnSpc>
                <a:spcPct val="150000"/>
              </a:lnSpc>
            </a:pPr>
            <a:r>
              <a:rPr lang="en-US" altLang="zh-CN" sz="2200" dirty="0"/>
              <a:t>e.g.,  </a:t>
            </a:r>
            <a:br>
              <a:rPr lang="en-US" altLang="zh-CN" sz="2200" dirty="0"/>
            </a:br>
            <a:r>
              <a:rPr lang="en-US" altLang="zh-CN" sz="2200" b="1" dirty="0">
                <a:solidFill>
                  <a:srgbClr val="0000CC"/>
                </a:solidFill>
              </a:rPr>
              <a:t>R1 = -6 = 0b11</a:t>
            </a:r>
            <a:r>
              <a:rPr lang="en-US" altLang="zh-CN" sz="2200" b="1" dirty="0">
                <a:solidFill>
                  <a:srgbClr val="0000CC"/>
                </a:solidFill>
                <a:latin typeface="Arial" charset="0"/>
              </a:rPr>
              <a:t>…</a:t>
            </a:r>
            <a:r>
              <a:rPr lang="en-US" altLang="zh-CN" sz="2200" b="1" dirty="0">
                <a:solidFill>
                  <a:srgbClr val="0000CC"/>
                </a:solidFill>
              </a:rPr>
              <a:t>11010</a:t>
            </a:r>
            <a:br>
              <a:rPr lang="en-US" altLang="zh-CN" sz="2200" b="1" dirty="0">
                <a:solidFill>
                  <a:srgbClr val="0000CC"/>
                </a:solidFill>
              </a:rPr>
            </a:br>
            <a:r>
              <a:rPr lang="en-US" altLang="zh-CN" sz="2200" b="1" dirty="0">
                <a:solidFill>
                  <a:srgbClr val="0000CC"/>
                </a:solidFill>
              </a:rPr>
              <a:t>SRL   $R1,$R1,1 </a:t>
            </a:r>
            <a:r>
              <a:rPr lang="en-US" altLang="zh-CN" sz="2200" b="1" dirty="0">
                <a:solidFill>
                  <a:srgbClr val="0000CC"/>
                </a:solidFill>
                <a:sym typeface="Symbol" pitchFamily="18" charset="2"/>
              </a:rPr>
              <a:t> </a:t>
            </a:r>
            <a:r>
              <a:rPr lang="en-US" altLang="zh-CN" sz="2200" b="1" dirty="0">
                <a:solidFill>
                  <a:srgbClr val="0000CC"/>
                </a:solidFill>
              </a:rPr>
              <a:t>0b</a:t>
            </a:r>
            <a:r>
              <a:rPr lang="en-US" altLang="zh-CN" sz="2200" b="1" u="sng" dirty="0">
                <a:solidFill>
                  <a:srgbClr val="0000CC"/>
                </a:solidFill>
              </a:rPr>
              <a:t>0</a:t>
            </a:r>
            <a:r>
              <a:rPr lang="en-US" altLang="zh-CN" sz="2200" b="1" dirty="0">
                <a:solidFill>
                  <a:srgbClr val="0000CC"/>
                </a:solidFill>
              </a:rPr>
              <a:t>1</a:t>
            </a:r>
            <a:r>
              <a:rPr lang="en-US" altLang="zh-CN" sz="2200" b="1" dirty="0">
                <a:solidFill>
                  <a:srgbClr val="0000CC"/>
                </a:solidFill>
                <a:latin typeface="Arial" charset="0"/>
              </a:rPr>
              <a:t>…</a:t>
            </a:r>
            <a:r>
              <a:rPr lang="en-US" altLang="zh-CN" sz="2200" b="1" dirty="0">
                <a:solidFill>
                  <a:srgbClr val="0000CC"/>
                </a:solidFill>
              </a:rPr>
              <a:t>11101    </a:t>
            </a:r>
            <a:r>
              <a:rPr lang="en-US" altLang="zh-CN" sz="2200" b="1" dirty="0">
                <a:solidFill>
                  <a:srgbClr val="FF0000"/>
                </a:solidFill>
                <a:latin typeface="Arial Unicode MS"/>
                <a:ea typeface="Arial Unicode MS"/>
                <a:cs typeface="Arial Unicode MS"/>
              </a:rPr>
              <a:t>×</a:t>
            </a:r>
            <a:br>
              <a:rPr lang="en-US" altLang="zh-CN" sz="2200" b="1" dirty="0">
                <a:solidFill>
                  <a:srgbClr val="0000CC"/>
                </a:solidFill>
              </a:rPr>
            </a:br>
            <a:r>
              <a:rPr lang="en-US" altLang="zh-CN" sz="2200" b="1" dirty="0">
                <a:solidFill>
                  <a:srgbClr val="0000CC"/>
                </a:solidFill>
              </a:rPr>
              <a:t>SRA   $R1,$R1,1 </a:t>
            </a:r>
            <a:r>
              <a:rPr lang="en-US" altLang="zh-CN" sz="2200" b="1" dirty="0">
                <a:solidFill>
                  <a:srgbClr val="0000CC"/>
                </a:solidFill>
                <a:sym typeface="Symbol" pitchFamily="18" charset="2"/>
              </a:rPr>
              <a:t> </a:t>
            </a:r>
            <a:r>
              <a:rPr lang="en-US" altLang="zh-CN" sz="2200" b="1" dirty="0">
                <a:solidFill>
                  <a:srgbClr val="0000CC"/>
                </a:solidFill>
              </a:rPr>
              <a:t>0b</a:t>
            </a:r>
            <a:r>
              <a:rPr lang="en-US" altLang="zh-CN" sz="2200" b="1" u="sng" dirty="0">
                <a:solidFill>
                  <a:srgbClr val="0000CC"/>
                </a:solidFill>
              </a:rPr>
              <a:t>1</a:t>
            </a:r>
            <a:r>
              <a:rPr lang="en-US" altLang="zh-CN" sz="2200" b="1" dirty="0">
                <a:solidFill>
                  <a:srgbClr val="0000CC"/>
                </a:solidFill>
              </a:rPr>
              <a:t>1</a:t>
            </a:r>
            <a:r>
              <a:rPr lang="en-US" altLang="zh-CN" sz="2200" b="1" dirty="0">
                <a:solidFill>
                  <a:srgbClr val="0000CC"/>
                </a:solidFill>
                <a:latin typeface="Arial" charset="0"/>
              </a:rPr>
              <a:t>…</a:t>
            </a:r>
            <a:r>
              <a:rPr lang="en-US" altLang="zh-CN" sz="2200" b="1" dirty="0">
                <a:solidFill>
                  <a:srgbClr val="0000CC"/>
                </a:solidFill>
              </a:rPr>
              <a:t>11101=-3     </a:t>
            </a:r>
            <a:r>
              <a:rPr lang="en-US" altLang="zh-CN" sz="2200" dirty="0">
                <a:solidFill>
                  <a:srgbClr val="FF0000"/>
                </a:solidFill>
                <a:latin typeface="Arial Unicode MS"/>
                <a:ea typeface="Arial Unicode MS"/>
                <a:cs typeface="Arial Unicode MS"/>
              </a:rPr>
              <a:t>√</a:t>
            </a:r>
            <a:r>
              <a:rPr lang="en-US" altLang="zh-CN" sz="2200" dirty="0">
                <a:solidFill>
                  <a:srgbClr val="0000CC"/>
                </a:solidFill>
              </a:rPr>
              <a:t> </a:t>
            </a:r>
            <a:endParaRPr lang="en-US" altLang="zh-CN" sz="2200" b="1" dirty="0">
              <a:solidFill>
                <a:srgbClr val="0000CC"/>
              </a:solidFill>
            </a:endParaRPr>
          </a:p>
          <a:p>
            <a:pPr marL="628650" lvl="1" indent="-228600" eaLnBrk="1" hangingPunct="1">
              <a:lnSpc>
                <a:spcPct val="150000"/>
              </a:lnSpc>
            </a:pPr>
            <a:r>
              <a:rPr lang="zh-CN" altLang="en-US" sz="2200" dirty="0"/>
              <a:t>想想为什么这样是对的 </a:t>
            </a:r>
            <a:r>
              <a:rPr lang="en-US" altLang="zh-CN" sz="2200" dirty="0">
                <a:latin typeface="Arial" charset="0"/>
              </a:rPr>
              <a:t>…</a:t>
            </a:r>
            <a:endParaRPr lang="zh-CN" altLang="en-US" sz="2200" baseline="30000" dirty="0"/>
          </a:p>
        </p:txBody>
      </p:sp>
      <p:grpSp>
        <p:nvGrpSpPr>
          <p:cNvPr id="3" name="组合 2">
            <a:extLst>
              <a:ext uri="{FF2B5EF4-FFF2-40B4-BE49-F238E27FC236}">
                <a16:creationId xmlns:a16="http://schemas.microsoft.com/office/drawing/2014/main" id="{87493084-CF40-FF24-BC68-8C5EA1362538}"/>
              </a:ext>
            </a:extLst>
          </p:cNvPr>
          <p:cNvGrpSpPr/>
          <p:nvPr/>
        </p:nvGrpSpPr>
        <p:grpSpPr>
          <a:xfrm>
            <a:off x="4405503" y="2430874"/>
            <a:ext cx="3214497" cy="770084"/>
            <a:chOff x="4468368" y="1531057"/>
            <a:chExt cx="3214497" cy="770084"/>
          </a:xfrm>
        </p:grpSpPr>
        <p:sp>
          <p:nvSpPr>
            <p:cNvPr id="25607" name="Rectangle 9"/>
            <p:cNvSpPr>
              <a:spLocks noChangeArrowheads="1"/>
            </p:cNvSpPr>
            <p:nvPr/>
          </p:nvSpPr>
          <p:spPr bwMode="auto">
            <a:xfrm>
              <a:off x="4675632" y="1531057"/>
              <a:ext cx="3007233" cy="770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2075" tIns="46038" rIns="92075" bIns="46038">
              <a:spAutoFit/>
            </a:bodyPr>
            <a:lstStyle/>
            <a:p>
              <a:pPr>
                <a:spcBef>
                  <a:spcPct val="20000"/>
                </a:spcBef>
                <a:buClr>
                  <a:schemeClr val="accent2"/>
                </a:buClr>
                <a:buSzPct val="70000"/>
                <a:buFont typeface="Wingdings" pitchFamily="2" charset="2"/>
                <a:buNone/>
              </a:pPr>
              <a:r>
                <a:rPr lang="zh-CN" altLang="en-US" sz="2000" b="1" dirty="0">
                  <a:solidFill>
                    <a:srgbClr val="FF0000"/>
                  </a:solidFill>
                  <a:latin typeface="+mj-ea"/>
                  <a:ea typeface="+mj-ea"/>
                </a:rPr>
                <a:t>只对无符号数成立，</a:t>
              </a:r>
              <a:endParaRPr lang="en-US" altLang="zh-CN" sz="2000" b="1" dirty="0">
                <a:solidFill>
                  <a:srgbClr val="FF0000"/>
                </a:solidFill>
                <a:latin typeface="+mj-ea"/>
                <a:ea typeface="+mj-ea"/>
              </a:endParaRPr>
            </a:p>
            <a:p>
              <a:pPr>
                <a:spcBef>
                  <a:spcPct val="20000"/>
                </a:spcBef>
                <a:buClr>
                  <a:schemeClr val="accent2"/>
                </a:buClr>
                <a:buSzPct val="70000"/>
                <a:buFont typeface="Wingdings" pitchFamily="2" charset="2"/>
                <a:buNone/>
              </a:pPr>
              <a:r>
                <a:rPr lang="zh-CN" altLang="en-US" sz="2000" b="1" dirty="0">
                  <a:solidFill>
                    <a:srgbClr val="FF0000"/>
                  </a:solidFill>
                  <a:latin typeface="+mj-ea"/>
                  <a:ea typeface="+mj-ea"/>
                </a:rPr>
                <a:t>且没有超出数据表示范围</a:t>
              </a:r>
              <a:endParaRPr lang="en-US" altLang="zh-CN" sz="2000" b="1" dirty="0">
                <a:solidFill>
                  <a:srgbClr val="FF0000"/>
                </a:solidFill>
                <a:latin typeface="+mj-ea"/>
                <a:ea typeface="+mj-ea"/>
              </a:endParaRPr>
            </a:p>
          </p:txBody>
        </p:sp>
        <p:sp>
          <p:nvSpPr>
            <p:cNvPr id="25608" name="AutoShape 10"/>
            <p:cNvSpPr>
              <a:spLocks/>
            </p:cNvSpPr>
            <p:nvPr/>
          </p:nvSpPr>
          <p:spPr bwMode="auto">
            <a:xfrm>
              <a:off x="4468368" y="1651854"/>
              <a:ext cx="207264" cy="649287"/>
            </a:xfrm>
            <a:prstGeom prst="rightBrace">
              <a:avLst>
                <a:gd name="adj1" fmla="val 43116"/>
                <a:gd name="adj2" fmla="val 50000"/>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92075" tIns="46038" rIns="92075" bIns="46038" anchor="ctr">
              <a:spAutoFit/>
            </a:bodyPr>
            <a:lstStyle/>
            <a:p>
              <a:endParaRPr lang="zh-CN" altLang="en-US"/>
            </a:p>
          </p:txBody>
        </p:sp>
      </p:grpSp>
      <p:sp>
        <p:nvSpPr>
          <p:cNvPr id="2" name="Title 4">
            <a:extLst>
              <a:ext uri="{FF2B5EF4-FFF2-40B4-BE49-F238E27FC236}">
                <a16:creationId xmlns:a16="http://schemas.microsoft.com/office/drawing/2014/main" id="{A2B319C3-84B4-4176-5488-BE8260F6C6BA}"/>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b="1" dirty="0"/>
              <a:t>编程指南：数组</a:t>
            </a:r>
            <a:r>
              <a:rPr lang="en-US" altLang="zh-CN" b="1" dirty="0"/>
              <a:t>array</a:t>
            </a:r>
            <a:endParaRPr lang="en-CN" kern="0" dirty="0"/>
          </a:p>
        </p:txBody>
      </p:sp>
    </p:spTree>
    <p:extLst>
      <p:ext uri="{BB962C8B-B14F-4D97-AF65-F5344CB8AC3E}">
        <p14:creationId xmlns:p14="http://schemas.microsoft.com/office/powerpoint/2010/main" val="22714650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5605">
                                            <p:txEl>
                                              <p:pRg st="3" end="3"/>
                                            </p:txEl>
                                          </p:spTgt>
                                        </p:tgtEl>
                                        <p:attrNameLst>
                                          <p:attrName>style.visibility</p:attrName>
                                        </p:attrNameLst>
                                      </p:cBhvr>
                                      <p:to>
                                        <p:strVal val="visible"/>
                                      </p:to>
                                    </p:set>
                                    <p:anim calcmode="lin" valueType="num">
                                      <p:cBhvr additive="base">
                                        <p:cTn id="7" dur="500" fill="hold"/>
                                        <p:tgtEl>
                                          <p:spTgt spid="25605">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5605">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5605">
                                            <p:txEl>
                                              <p:pRg st="4" end="4"/>
                                            </p:txEl>
                                          </p:spTgt>
                                        </p:tgtEl>
                                        <p:attrNameLst>
                                          <p:attrName>style.visibility</p:attrName>
                                        </p:attrNameLst>
                                      </p:cBhvr>
                                      <p:to>
                                        <p:strVal val="visible"/>
                                      </p:to>
                                    </p:set>
                                    <p:anim calcmode="lin" valueType="num">
                                      <p:cBhvr additive="base">
                                        <p:cTn id="11" dur="500" fill="hold"/>
                                        <p:tgtEl>
                                          <p:spTgt spid="25605">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5605">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5605">
                                            <p:txEl>
                                              <p:pRg st="5" end="5"/>
                                            </p:txEl>
                                          </p:spTgt>
                                        </p:tgtEl>
                                        <p:attrNameLst>
                                          <p:attrName>style.visibility</p:attrName>
                                        </p:attrNameLst>
                                      </p:cBhvr>
                                      <p:to>
                                        <p:strVal val="visible"/>
                                      </p:to>
                                    </p:set>
                                    <p:anim calcmode="lin" valueType="num">
                                      <p:cBhvr additive="base">
                                        <p:cTn id="15" dur="500" fill="hold"/>
                                        <p:tgtEl>
                                          <p:spTgt spid="25605">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5605">
                                            <p:txEl>
                                              <p:pRg st="5" end="5"/>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5605">
                                            <p:txEl>
                                              <p:pRg st="6" end="6"/>
                                            </p:txEl>
                                          </p:spTgt>
                                        </p:tgtEl>
                                        <p:attrNameLst>
                                          <p:attrName>style.visibility</p:attrName>
                                        </p:attrNameLst>
                                      </p:cBhvr>
                                      <p:to>
                                        <p:strVal val="visible"/>
                                      </p:to>
                                    </p:set>
                                    <p:anim calcmode="lin" valueType="num">
                                      <p:cBhvr additive="base">
                                        <p:cTn id="19" dur="500" fill="hold"/>
                                        <p:tgtEl>
                                          <p:spTgt spid="25605">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560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5" name="Text Box 11"/>
          <p:cNvSpPr txBox="1">
            <a:spLocks noChangeArrowheads="1"/>
          </p:cNvSpPr>
          <p:nvPr/>
        </p:nvSpPr>
        <p:spPr bwMode="auto">
          <a:xfrm>
            <a:off x="457200" y="1253331"/>
            <a:ext cx="6437002" cy="533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lIns="45720" rIns="45720"/>
          <a:lstStyle>
            <a:lvl1pPr eaLnBrk="0" hangingPunct="0">
              <a:defRPr>
                <a:solidFill>
                  <a:schemeClr val="tx1"/>
                </a:solidFill>
                <a:latin typeface="Verdana" pitchFamily="34" charset="0"/>
                <a:ea typeface="宋体" charset="-122"/>
              </a:defRPr>
            </a:lvl1pPr>
            <a:lvl2pPr marL="742950" indent="-285750" eaLnBrk="0" hangingPunct="0">
              <a:defRPr>
                <a:solidFill>
                  <a:schemeClr val="tx1"/>
                </a:solidFill>
                <a:latin typeface="Verdana" pitchFamily="34" charset="0"/>
                <a:ea typeface="宋体" charset="-122"/>
              </a:defRPr>
            </a:lvl2pPr>
            <a:lvl3pPr marL="1143000" indent="-228600" eaLnBrk="0" hangingPunct="0">
              <a:defRPr>
                <a:solidFill>
                  <a:schemeClr val="tx1"/>
                </a:solidFill>
                <a:latin typeface="Verdana" pitchFamily="34" charset="0"/>
                <a:ea typeface="宋体" charset="-122"/>
              </a:defRPr>
            </a:lvl3pPr>
            <a:lvl4pPr marL="1600200" indent="-228600" eaLnBrk="0" hangingPunct="0">
              <a:defRPr>
                <a:solidFill>
                  <a:schemeClr val="tx1"/>
                </a:solidFill>
                <a:latin typeface="Verdana" pitchFamily="34" charset="0"/>
                <a:ea typeface="宋体" charset="-122"/>
              </a:defRPr>
            </a:lvl4pPr>
            <a:lvl5pPr marL="2057400" indent="-228600" eaLnBrk="0" hangingPunct="0">
              <a:defRPr>
                <a:solidFill>
                  <a:schemeClr val="tx1"/>
                </a:solidFill>
                <a:latin typeface="Verdana" pitchFamily="34" charset="0"/>
                <a:ea typeface="宋体" charset="-122"/>
              </a:defRPr>
            </a:lvl5pPr>
            <a:lvl6pPr marL="2514600" indent="-228600" eaLnBrk="0" fontAlgn="base" hangingPunct="0">
              <a:spcBef>
                <a:spcPct val="0"/>
              </a:spcBef>
              <a:spcAft>
                <a:spcPct val="0"/>
              </a:spcAft>
              <a:defRPr>
                <a:solidFill>
                  <a:schemeClr val="tx1"/>
                </a:solidFill>
                <a:latin typeface="Verdana" pitchFamily="34" charset="0"/>
                <a:ea typeface="宋体" charset="-122"/>
              </a:defRPr>
            </a:lvl6pPr>
            <a:lvl7pPr marL="2971800" indent="-228600" eaLnBrk="0" fontAlgn="base" hangingPunct="0">
              <a:spcBef>
                <a:spcPct val="0"/>
              </a:spcBef>
              <a:spcAft>
                <a:spcPct val="0"/>
              </a:spcAft>
              <a:defRPr>
                <a:solidFill>
                  <a:schemeClr val="tx1"/>
                </a:solidFill>
                <a:latin typeface="Verdana" pitchFamily="34" charset="0"/>
                <a:ea typeface="宋体" charset="-122"/>
              </a:defRPr>
            </a:lvl7pPr>
            <a:lvl8pPr marL="3429000" indent="-228600" eaLnBrk="0" fontAlgn="base" hangingPunct="0">
              <a:spcBef>
                <a:spcPct val="0"/>
              </a:spcBef>
              <a:spcAft>
                <a:spcPct val="0"/>
              </a:spcAft>
              <a:defRPr>
                <a:solidFill>
                  <a:schemeClr val="tx1"/>
                </a:solidFill>
                <a:latin typeface="Verdana" pitchFamily="34" charset="0"/>
                <a:ea typeface="宋体" charset="-122"/>
              </a:defRPr>
            </a:lvl8pPr>
            <a:lvl9pPr marL="3886200" indent="-228600" eaLnBrk="0" fontAlgn="base" hangingPunct="0">
              <a:spcBef>
                <a:spcPct val="0"/>
              </a:spcBef>
              <a:spcAft>
                <a:spcPct val="0"/>
              </a:spcAft>
              <a:defRPr>
                <a:solidFill>
                  <a:schemeClr val="tx1"/>
                </a:solidFill>
                <a:latin typeface="Verdana" pitchFamily="34" charset="0"/>
                <a:ea typeface="宋体" charset="-122"/>
              </a:defRPr>
            </a:lvl9pPr>
          </a:lstStyle>
          <a:p>
            <a:pPr algn="l" eaLnBrk="1" hangingPunct="1">
              <a:lnSpc>
                <a:spcPct val="140000"/>
              </a:lnSpc>
            </a:pPr>
            <a:r>
              <a:rPr lang="en-US" altLang="zh-CN" sz="2000" b="1" i="1" dirty="0">
                <a:latin typeface="Consolas" panose="020B0609020204030204" pitchFamily="49" charset="0"/>
                <a:ea typeface="Batang" pitchFamily="18" charset="-127"/>
              </a:rPr>
              <a:t>   </a:t>
            </a:r>
            <a:r>
              <a:rPr lang="en-US" altLang="zh-CN" sz="2000" b="1" i="1" dirty="0">
                <a:latin typeface="Consolas" panose="020B0609020204030204" pitchFamily="49" charset="0"/>
              </a:rPr>
              <a:t>add $s0,$0,$a2     # i = N</a:t>
            </a:r>
            <a:endParaRPr lang="en-US" altLang="zh-CN" sz="2000" b="1" i="1" dirty="0">
              <a:latin typeface="Consolas" panose="020B0609020204030204" pitchFamily="49" charset="0"/>
              <a:ea typeface="Batang" pitchFamily="18" charset="-127"/>
            </a:endParaRPr>
          </a:p>
          <a:p>
            <a:pPr algn="l" eaLnBrk="1" hangingPunct="1">
              <a:lnSpc>
                <a:spcPct val="140000"/>
              </a:lnSpc>
            </a:pPr>
            <a:r>
              <a:rPr lang="en-US" altLang="zh-CN" sz="2000" b="1" i="1" dirty="0">
                <a:latin typeface="Consolas" panose="020B0609020204030204" pitchFamily="49" charset="0"/>
                <a:ea typeface="Batang" pitchFamily="18" charset="-127"/>
              </a:rPr>
              <a:t>loop:</a:t>
            </a:r>
          </a:p>
          <a:p>
            <a:pPr algn="l" eaLnBrk="1" hangingPunct="1">
              <a:lnSpc>
                <a:spcPct val="140000"/>
              </a:lnSpc>
            </a:pPr>
            <a:r>
              <a:rPr lang="en-US" altLang="zh-CN" sz="2000" b="1" i="1" dirty="0">
                <a:latin typeface="Consolas" panose="020B0609020204030204" pitchFamily="49" charset="0"/>
                <a:ea typeface="Batang" pitchFamily="18" charset="-127"/>
              </a:rPr>
              <a:t>   </a:t>
            </a:r>
            <a:r>
              <a:rPr lang="en-US" altLang="zh-CN" sz="2000" b="1" i="1" dirty="0" err="1">
                <a:latin typeface="Consolas" panose="020B0609020204030204" pitchFamily="49" charset="0"/>
                <a:ea typeface="Batang" pitchFamily="18" charset="-127"/>
              </a:rPr>
              <a:t>subu</a:t>
            </a:r>
            <a:r>
              <a:rPr lang="en-US" altLang="zh-CN" sz="2000" b="1" i="1" dirty="0">
                <a:latin typeface="Consolas" panose="020B0609020204030204" pitchFamily="49" charset="0"/>
                <a:ea typeface="Batang" pitchFamily="18" charset="-127"/>
              </a:rPr>
              <a:t>   $s0 $s0,1       # i--  </a:t>
            </a:r>
          </a:p>
          <a:p>
            <a:pPr algn="l" eaLnBrk="1" hangingPunct="1">
              <a:lnSpc>
                <a:spcPct val="140000"/>
              </a:lnSpc>
            </a:pPr>
            <a:r>
              <a:rPr lang="en-US" altLang="zh-CN" sz="2000" b="1" i="1" dirty="0">
                <a:latin typeface="Consolas" panose="020B0609020204030204" pitchFamily="49" charset="0"/>
                <a:ea typeface="Batang" pitchFamily="18" charset="-127"/>
              </a:rPr>
              <a:t>   </a:t>
            </a:r>
            <a:r>
              <a:rPr lang="en-US" altLang="zh-CN" sz="2000" b="1" i="1" dirty="0" err="1">
                <a:solidFill>
                  <a:srgbClr val="FF0000"/>
                </a:solidFill>
                <a:latin typeface="Consolas" panose="020B0609020204030204" pitchFamily="49" charset="0"/>
                <a:ea typeface="Batang" pitchFamily="18" charset="-127"/>
              </a:rPr>
              <a:t>sll</a:t>
            </a:r>
            <a:r>
              <a:rPr lang="en-US" altLang="zh-CN" sz="2000" b="1" i="1" dirty="0">
                <a:solidFill>
                  <a:srgbClr val="FF0000"/>
                </a:solidFill>
                <a:latin typeface="Consolas" panose="020B0609020204030204" pitchFamily="49" charset="0"/>
                <a:ea typeface="Batang" pitchFamily="18" charset="-127"/>
              </a:rPr>
              <a:t>     $s2,$s0,2      </a:t>
            </a:r>
            <a:r>
              <a:rPr lang="en-US" altLang="zh-CN" sz="2000" b="1" i="1" dirty="0">
                <a:latin typeface="Consolas" panose="020B0609020204030204" pitchFamily="49" charset="0"/>
                <a:ea typeface="Batang" pitchFamily="18" charset="-127"/>
              </a:rPr>
              <a:t># </a:t>
            </a:r>
            <a:r>
              <a:rPr lang="en-US" altLang="zh-CN" sz="2000" b="1" i="1" dirty="0" err="1">
                <a:latin typeface="Consolas" panose="020B0609020204030204" pitchFamily="49" charset="0"/>
                <a:ea typeface="Batang" pitchFamily="18" charset="-127"/>
              </a:rPr>
              <a:t>dest</a:t>
            </a:r>
            <a:r>
              <a:rPr lang="en-US" altLang="zh-CN" sz="2000" b="1" i="1" dirty="0">
                <a:latin typeface="Consolas" panose="020B0609020204030204" pitchFamily="49" charset="0"/>
                <a:ea typeface="Batang" pitchFamily="18" charset="-127"/>
              </a:rPr>
              <a:t> = i*4</a:t>
            </a:r>
          </a:p>
          <a:p>
            <a:pPr algn="l" eaLnBrk="1" hangingPunct="1">
              <a:lnSpc>
                <a:spcPct val="140000"/>
              </a:lnSpc>
            </a:pPr>
            <a:r>
              <a:rPr lang="en-US" altLang="zh-CN" sz="2000" b="1" i="1" dirty="0">
                <a:latin typeface="Consolas" panose="020B0609020204030204" pitchFamily="49" charset="0"/>
                <a:ea typeface="Batang" pitchFamily="18" charset="-127"/>
              </a:rPr>
              <a:t>   </a:t>
            </a:r>
            <a:r>
              <a:rPr lang="en-US" altLang="zh-CN" sz="2000" b="1" i="1" dirty="0" err="1">
                <a:latin typeface="Consolas" panose="020B0609020204030204" pitchFamily="49" charset="0"/>
                <a:ea typeface="Batang" pitchFamily="18" charset="-127"/>
              </a:rPr>
              <a:t>sra</a:t>
            </a:r>
            <a:r>
              <a:rPr lang="en-US" altLang="zh-CN" sz="2000" b="1" i="1" dirty="0">
                <a:latin typeface="Consolas" panose="020B0609020204030204" pitchFamily="49" charset="0"/>
                <a:ea typeface="Batang" pitchFamily="18" charset="-127"/>
              </a:rPr>
              <a:t>    $t1,$s0,1       # $t1=floor(i/2)</a:t>
            </a:r>
          </a:p>
          <a:p>
            <a:pPr algn="l" eaLnBrk="1" hangingPunct="1">
              <a:lnSpc>
                <a:spcPct val="140000"/>
              </a:lnSpc>
            </a:pPr>
            <a:r>
              <a:rPr lang="en-US" altLang="zh-CN" sz="2000" b="1" i="1" dirty="0">
                <a:latin typeface="Consolas" panose="020B0609020204030204" pitchFamily="49" charset="0"/>
                <a:ea typeface="Batang" pitchFamily="18" charset="-127"/>
              </a:rPr>
              <a:t>   </a:t>
            </a:r>
            <a:r>
              <a:rPr lang="en-US" altLang="zh-CN" sz="2000" i="1" dirty="0" err="1">
                <a:solidFill>
                  <a:srgbClr val="FF0000"/>
                </a:solidFill>
                <a:latin typeface="Consolas" panose="020B0609020204030204" pitchFamily="49" charset="0"/>
                <a:ea typeface="Batang" pitchFamily="18" charset="-127"/>
              </a:rPr>
              <a:t>sll</a:t>
            </a:r>
            <a:r>
              <a:rPr lang="en-US" altLang="zh-CN" sz="2000" i="1" dirty="0">
                <a:solidFill>
                  <a:srgbClr val="FF0000"/>
                </a:solidFill>
                <a:latin typeface="Consolas" panose="020B0609020204030204" pitchFamily="49" charset="0"/>
                <a:ea typeface="Batang" pitchFamily="18" charset="-127"/>
              </a:rPr>
              <a:t>     $t1,$t1,2      </a:t>
            </a:r>
            <a:r>
              <a:rPr lang="en-US" altLang="zh-CN" sz="2000" b="1" i="1" dirty="0">
                <a:latin typeface="Consolas" panose="020B0609020204030204" pitchFamily="49" charset="0"/>
                <a:ea typeface="Batang" pitchFamily="18" charset="-127"/>
              </a:rPr>
              <a:t># $t1=$t1*4</a:t>
            </a:r>
          </a:p>
          <a:p>
            <a:pPr algn="l" eaLnBrk="1" hangingPunct="1">
              <a:lnSpc>
                <a:spcPct val="140000"/>
              </a:lnSpc>
            </a:pPr>
            <a:r>
              <a:rPr lang="zh-CN" altLang="en-US" sz="2000" b="1" i="1" dirty="0">
                <a:latin typeface="Consolas" panose="020B0609020204030204" pitchFamily="49" charset="0"/>
              </a:rPr>
              <a:t>   </a:t>
            </a:r>
            <a:r>
              <a:rPr lang="en-US" altLang="zh-CN" sz="2000" b="1" i="1" dirty="0">
                <a:latin typeface="Consolas" panose="020B0609020204030204" pitchFamily="49" charset="0"/>
              </a:rPr>
              <a:t>add   $t2,$t1,$a0</a:t>
            </a:r>
            <a:endParaRPr lang="en-US" altLang="zh-CN" sz="2000" b="1" i="1" dirty="0">
              <a:latin typeface="Consolas" panose="020B0609020204030204" pitchFamily="49" charset="0"/>
              <a:ea typeface="Batang" pitchFamily="18" charset="-127"/>
            </a:endParaRPr>
          </a:p>
          <a:p>
            <a:pPr algn="l" eaLnBrk="1" hangingPunct="1">
              <a:lnSpc>
                <a:spcPct val="140000"/>
              </a:lnSpc>
            </a:pPr>
            <a:r>
              <a:rPr lang="en-US" altLang="zh-CN" sz="2000" b="1" i="1" dirty="0">
                <a:latin typeface="Consolas" panose="020B0609020204030204" pitchFamily="49" charset="0"/>
                <a:ea typeface="Batang" pitchFamily="18" charset="-127"/>
              </a:rPr>
              <a:t>   lw     $s4,0($t2)      # $s4=A[i/2]</a:t>
            </a:r>
          </a:p>
          <a:p>
            <a:pPr algn="l" eaLnBrk="1" hangingPunct="1">
              <a:lnSpc>
                <a:spcPct val="140000"/>
              </a:lnSpc>
            </a:pPr>
            <a:r>
              <a:rPr lang="en-US" altLang="zh-CN" sz="2000" b="1" i="1" dirty="0">
                <a:latin typeface="Consolas" panose="020B0609020204030204" pitchFamily="49" charset="0"/>
              </a:rPr>
              <a:t>   add   $t3,$s2,$a1</a:t>
            </a:r>
            <a:endParaRPr lang="en-US" altLang="zh-CN" sz="2000" b="1" i="1" dirty="0">
              <a:latin typeface="Consolas" panose="020B0609020204030204" pitchFamily="49" charset="0"/>
              <a:ea typeface="Batang" pitchFamily="18" charset="-127"/>
            </a:endParaRPr>
          </a:p>
          <a:p>
            <a:pPr algn="l" eaLnBrk="1" hangingPunct="1">
              <a:lnSpc>
                <a:spcPct val="140000"/>
              </a:lnSpc>
            </a:pPr>
            <a:r>
              <a:rPr lang="en-US" altLang="zh-CN" sz="2000" b="1" i="1" dirty="0">
                <a:latin typeface="Consolas" panose="020B0609020204030204" pitchFamily="49" charset="0"/>
                <a:ea typeface="Batang" pitchFamily="18" charset="-127"/>
              </a:rPr>
              <a:t>   </a:t>
            </a:r>
            <a:r>
              <a:rPr lang="en-US" altLang="zh-CN" sz="2000" b="1" i="1" dirty="0" err="1">
                <a:latin typeface="Consolas" panose="020B0609020204030204" pitchFamily="49" charset="0"/>
                <a:ea typeface="Batang" pitchFamily="18" charset="-127"/>
              </a:rPr>
              <a:t>sw</a:t>
            </a:r>
            <a:r>
              <a:rPr lang="en-US" altLang="zh-CN" sz="2000" b="1" i="1" dirty="0">
                <a:latin typeface="Consolas" panose="020B0609020204030204" pitchFamily="49" charset="0"/>
                <a:ea typeface="Batang" pitchFamily="18" charset="-127"/>
              </a:rPr>
              <a:t>    $s4,0($t3)       # B[i] = </a:t>
            </a:r>
            <a:r>
              <a:rPr lang="en-US" altLang="zh-CN" sz="2000" b="1" i="1" dirty="0">
                <a:latin typeface="Consolas" panose="020B0609020204030204" pitchFamily="49" charset="0"/>
              </a:rPr>
              <a:t>$s4</a:t>
            </a:r>
            <a:endParaRPr lang="en-US" altLang="zh-CN" sz="2000" b="1" i="1" dirty="0">
              <a:latin typeface="Consolas" panose="020B0609020204030204" pitchFamily="49" charset="0"/>
              <a:ea typeface="Batang" pitchFamily="18" charset="-127"/>
            </a:endParaRPr>
          </a:p>
          <a:p>
            <a:pPr algn="l" eaLnBrk="1" hangingPunct="1">
              <a:lnSpc>
                <a:spcPct val="140000"/>
              </a:lnSpc>
            </a:pPr>
            <a:r>
              <a:rPr lang="en-US" altLang="zh-CN" sz="2000" b="1" i="1" dirty="0">
                <a:latin typeface="Consolas" panose="020B0609020204030204" pitchFamily="49" charset="0"/>
                <a:ea typeface="Batang" pitchFamily="18" charset="-127"/>
              </a:rPr>
              <a:t>   </a:t>
            </a:r>
            <a:r>
              <a:rPr lang="en-US" altLang="zh-CN" sz="2000" b="1" i="1" dirty="0" err="1">
                <a:latin typeface="Consolas" panose="020B0609020204030204" pitchFamily="49" charset="0"/>
                <a:ea typeface="Batang" pitchFamily="18" charset="-127"/>
              </a:rPr>
              <a:t>bnez</a:t>
            </a:r>
            <a:r>
              <a:rPr lang="en-US" altLang="zh-CN" sz="2000" b="1" i="1" dirty="0">
                <a:latin typeface="Consolas" panose="020B0609020204030204" pitchFamily="49" charset="0"/>
                <a:ea typeface="Batang" pitchFamily="18" charset="-127"/>
              </a:rPr>
              <a:t>  $s0,loop         # while(i!=0) loop</a:t>
            </a:r>
          </a:p>
          <a:p>
            <a:pPr algn="l" eaLnBrk="1" hangingPunct="1">
              <a:lnSpc>
                <a:spcPct val="140000"/>
              </a:lnSpc>
            </a:pPr>
            <a:r>
              <a:rPr lang="en-US" altLang="zh-CN" sz="2000" b="1" i="1" dirty="0">
                <a:latin typeface="Consolas" panose="020B0609020204030204" pitchFamily="49" charset="0"/>
                <a:ea typeface="Batang" pitchFamily="18" charset="-127"/>
              </a:rPr>
              <a:t>done: …</a:t>
            </a:r>
          </a:p>
        </p:txBody>
      </p:sp>
      <p:sp>
        <p:nvSpPr>
          <p:cNvPr id="14" name="灯片编号占位符 3">
            <a:extLst>
              <a:ext uri="{FF2B5EF4-FFF2-40B4-BE49-F238E27FC236}">
                <a16:creationId xmlns:a16="http://schemas.microsoft.com/office/drawing/2014/main" id="{E9E70929-06E7-4111-A6D9-B7198C0A1660}"/>
              </a:ext>
            </a:extLst>
          </p:cNvPr>
          <p:cNvSpPr>
            <a:spLocks noGrp="1"/>
          </p:cNvSpPr>
          <p:nvPr>
            <p:ph type="sldNum" sz="quarter" idx="12"/>
          </p:nvPr>
        </p:nvSpPr>
        <p:spPr/>
        <p:txBody>
          <a:bodyPr/>
          <a:lstStyle/>
          <a:p>
            <a:fld id="{14659731-6BD7-46E7-8D3C-2F3AC07E20B1}" type="slidenum">
              <a:rPr lang="en-US" altLang="zh-CN" smtClean="0"/>
              <a:pPr/>
              <a:t>131</a:t>
            </a:fld>
            <a:endParaRPr lang="en-US" altLang="zh-CN" dirty="0"/>
          </a:p>
        </p:txBody>
      </p:sp>
      <p:sp>
        <p:nvSpPr>
          <p:cNvPr id="13" name="Rectangle 12">
            <a:extLst>
              <a:ext uri="{FF2B5EF4-FFF2-40B4-BE49-F238E27FC236}">
                <a16:creationId xmlns:a16="http://schemas.microsoft.com/office/drawing/2014/main" id="{335CC20C-98C7-4E42-B233-AB7E5EF8A1BE}"/>
              </a:ext>
            </a:extLst>
          </p:cNvPr>
          <p:cNvSpPr>
            <a:spLocks noGrp="1" noChangeArrowheads="1"/>
          </p:cNvSpPr>
          <p:nvPr/>
        </p:nvSpPr>
        <p:spPr bwMode="auto">
          <a:xfrm>
            <a:off x="6382102" y="2513054"/>
            <a:ext cx="2475796" cy="428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b="1">
                <a:solidFill>
                  <a:schemeClr val="tx2"/>
                </a:solidFill>
                <a:latin typeface="+mj-lt"/>
                <a:ea typeface="+mj-ea"/>
                <a:cs typeface="+mj-cs"/>
              </a:defRPr>
            </a:lvl1pPr>
            <a:lvl2pPr algn="ctr" rtl="0" fontAlgn="base">
              <a:spcBef>
                <a:spcPct val="0"/>
              </a:spcBef>
              <a:spcAft>
                <a:spcPct val="0"/>
              </a:spcAft>
              <a:defRPr sz="4400" b="1">
                <a:solidFill>
                  <a:schemeClr val="tx2"/>
                </a:solidFill>
                <a:latin typeface="Arial" charset="0"/>
                <a:ea typeface="宋体" charset="-122"/>
              </a:defRPr>
            </a:lvl2pPr>
            <a:lvl3pPr algn="ctr" rtl="0" fontAlgn="base">
              <a:spcBef>
                <a:spcPct val="0"/>
              </a:spcBef>
              <a:spcAft>
                <a:spcPct val="0"/>
              </a:spcAft>
              <a:defRPr sz="4400" b="1">
                <a:solidFill>
                  <a:schemeClr val="tx2"/>
                </a:solidFill>
                <a:latin typeface="Arial" charset="0"/>
                <a:ea typeface="宋体" charset="-122"/>
              </a:defRPr>
            </a:lvl3pPr>
            <a:lvl4pPr algn="ctr" rtl="0" fontAlgn="base">
              <a:spcBef>
                <a:spcPct val="0"/>
              </a:spcBef>
              <a:spcAft>
                <a:spcPct val="0"/>
              </a:spcAft>
              <a:defRPr sz="4400" b="1">
                <a:solidFill>
                  <a:schemeClr val="tx2"/>
                </a:solidFill>
                <a:latin typeface="Arial" charset="0"/>
                <a:ea typeface="宋体" charset="-122"/>
              </a:defRPr>
            </a:lvl4pPr>
            <a:lvl5pPr algn="ctr" rtl="0" fontAlgn="base">
              <a:spcBef>
                <a:spcPct val="0"/>
              </a:spcBef>
              <a:spcAft>
                <a:spcPct val="0"/>
              </a:spcAft>
              <a:defRPr sz="4400" b="1">
                <a:solidFill>
                  <a:schemeClr val="tx2"/>
                </a:solidFill>
                <a:latin typeface="Arial" charset="0"/>
                <a:ea typeface="宋体" charset="-122"/>
              </a:defRPr>
            </a:lvl5pPr>
            <a:lvl6pPr marL="457200" algn="ctr" rtl="0" fontAlgn="base">
              <a:spcBef>
                <a:spcPct val="0"/>
              </a:spcBef>
              <a:spcAft>
                <a:spcPct val="0"/>
              </a:spcAft>
              <a:defRPr sz="4400" b="1">
                <a:solidFill>
                  <a:schemeClr val="tx2"/>
                </a:solidFill>
                <a:latin typeface="Arial" charset="0"/>
                <a:ea typeface="宋体" charset="-122"/>
              </a:defRPr>
            </a:lvl6pPr>
            <a:lvl7pPr marL="914400" algn="ctr" rtl="0" fontAlgn="base">
              <a:spcBef>
                <a:spcPct val="0"/>
              </a:spcBef>
              <a:spcAft>
                <a:spcPct val="0"/>
              </a:spcAft>
              <a:defRPr sz="4400" b="1">
                <a:solidFill>
                  <a:schemeClr val="tx2"/>
                </a:solidFill>
                <a:latin typeface="Arial" charset="0"/>
                <a:ea typeface="宋体" charset="-122"/>
              </a:defRPr>
            </a:lvl7pPr>
            <a:lvl8pPr marL="1371600" algn="ctr" rtl="0" fontAlgn="base">
              <a:spcBef>
                <a:spcPct val="0"/>
              </a:spcBef>
              <a:spcAft>
                <a:spcPct val="0"/>
              </a:spcAft>
              <a:defRPr sz="4400" b="1">
                <a:solidFill>
                  <a:schemeClr val="tx2"/>
                </a:solidFill>
                <a:latin typeface="Arial" charset="0"/>
                <a:ea typeface="宋体" charset="-122"/>
              </a:defRPr>
            </a:lvl8pPr>
            <a:lvl9pPr marL="1828800" algn="ctr" rtl="0" fontAlgn="base">
              <a:spcBef>
                <a:spcPct val="0"/>
              </a:spcBef>
              <a:spcAft>
                <a:spcPct val="0"/>
              </a:spcAft>
              <a:defRPr sz="4400" b="1">
                <a:solidFill>
                  <a:schemeClr val="tx2"/>
                </a:solidFill>
                <a:latin typeface="Arial" charset="0"/>
                <a:ea typeface="宋体" charset="-122"/>
              </a:defRPr>
            </a:lvl9pPr>
          </a:lstStyle>
          <a:p>
            <a:pPr eaLnBrk="1" hangingPunct="1"/>
            <a:r>
              <a:rPr lang="zh-CN" altLang="en-US" sz="2400" b="1" dirty="0">
                <a:solidFill>
                  <a:srgbClr val="0432FF"/>
                </a:solidFill>
              </a:rPr>
              <a:t>用移位代替乘法</a:t>
            </a:r>
          </a:p>
        </p:txBody>
      </p:sp>
      <p:sp>
        <p:nvSpPr>
          <p:cNvPr id="2" name="Title 4">
            <a:extLst>
              <a:ext uri="{FF2B5EF4-FFF2-40B4-BE49-F238E27FC236}">
                <a16:creationId xmlns:a16="http://schemas.microsoft.com/office/drawing/2014/main" id="{1F9AC8D9-F313-75B2-D109-BA405B005DE2}"/>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b="1" dirty="0"/>
              <a:t>编程指南：数组</a:t>
            </a:r>
            <a:r>
              <a:rPr lang="en-US" altLang="zh-CN" b="1" dirty="0"/>
              <a:t>array</a:t>
            </a:r>
            <a:endParaRPr lang="en-CN" kern="0" dirty="0"/>
          </a:p>
        </p:txBody>
      </p:sp>
    </p:spTree>
    <p:extLst>
      <p:ext uri="{BB962C8B-B14F-4D97-AF65-F5344CB8AC3E}">
        <p14:creationId xmlns:p14="http://schemas.microsoft.com/office/powerpoint/2010/main" val="3161434872"/>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651D4F76-2488-AE4F-90CA-A1132BAC735F}"/>
              </a:ext>
            </a:extLst>
          </p:cNvPr>
          <p:cNvSpPr>
            <a:spLocks noGrp="1"/>
          </p:cNvSpPr>
          <p:nvPr>
            <p:ph type="sldNum" sz="quarter" idx="12"/>
          </p:nvPr>
        </p:nvSpPr>
        <p:spPr/>
        <p:txBody>
          <a:bodyPr/>
          <a:lstStyle/>
          <a:p>
            <a:fld id="{14659731-6BD7-46E7-8D3C-2F3AC07E20B1}" type="slidenum">
              <a:rPr lang="en-US" altLang="zh-CN" smtClean="0"/>
              <a:pPr/>
              <a:t>132</a:t>
            </a:fld>
            <a:endParaRPr lang="en-US" altLang="zh-CN"/>
          </a:p>
        </p:txBody>
      </p:sp>
      <p:sp>
        <p:nvSpPr>
          <p:cNvPr id="3" name="内容占位符 2">
            <a:extLst>
              <a:ext uri="{FF2B5EF4-FFF2-40B4-BE49-F238E27FC236}">
                <a16:creationId xmlns:a16="http://schemas.microsoft.com/office/drawing/2014/main" id="{BE08BE39-9FE5-184B-91CF-D7AFC988823D}"/>
              </a:ext>
            </a:extLst>
          </p:cNvPr>
          <p:cNvSpPr>
            <a:spLocks noGrp="1"/>
          </p:cNvSpPr>
          <p:nvPr>
            <p:ph idx="4294967295"/>
          </p:nvPr>
        </p:nvSpPr>
        <p:spPr>
          <a:xfrm>
            <a:off x="362414" y="1425902"/>
            <a:ext cx="8419171" cy="4351338"/>
          </a:xfrm>
        </p:spPr>
        <p:txBody>
          <a:bodyPr/>
          <a:lstStyle/>
          <a:p>
            <a:r>
              <a:rPr lang="zh-CN" altLang="en-US" sz="2800" dirty="0"/>
              <a:t>过程调用的定义以及使用栈的作用</a:t>
            </a:r>
          </a:p>
          <a:p>
            <a:r>
              <a:rPr lang="zh-CN" altLang="en-US" sz="2800" dirty="0"/>
              <a:t>过程的栈如何构成的（过程调用帧的组成部分以及顺序）</a:t>
            </a:r>
            <a:endParaRPr lang="en-US" altLang="zh-CN" sz="2800" dirty="0"/>
          </a:p>
          <a:p>
            <a:r>
              <a:rPr lang="zh-CN" altLang="en-US" sz="2800" dirty="0"/>
              <a:t>简单参数传递和返回值传递规则</a:t>
            </a:r>
            <a:endParaRPr lang="en-US" altLang="zh-CN" sz="2800" dirty="0"/>
          </a:p>
          <a:p>
            <a:r>
              <a:rPr lang="zh-CN" altLang="en-US" sz="2800" dirty="0"/>
              <a:t>例程分析。具体的过程调用中，变量是如何进栈出栈的</a:t>
            </a:r>
            <a:endParaRPr lang="en-US" altLang="zh-CN" sz="2800" dirty="0"/>
          </a:p>
        </p:txBody>
      </p:sp>
      <p:sp>
        <p:nvSpPr>
          <p:cNvPr id="2" name="文本框 1">
            <a:extLst>
              <a:ext uri="{FF2B5EF4-FFF2-40B4-BE49-F238E27FC236}">
                <a16:creationId xmlns:a16="http://schemas.microsoft.com/office/drawing/2014/main" id="{5E7556C7-A59C-D245-9EAB-4A6E626B256D}"/>
              </a:ext>
            </a:extLst>
          </p:cNvPr>
          <p:cNvSpPr txBox="1"/>
          <p:nvPr/>
        </p:nvSpPr>
        <p:spPr>
          <a:xfrm>
            <a:off x="1321960" y="4649786"/>
            <a:ext cx="8067367" cy="523220"/>
          </a:xfrm>
          <a:prstGeom prst="rect">
            <a:avLst/>
          </a:prstGeom>
          <a:noFill/>
        </p:spPr>
        <p:txBody>
          <a:bodyPr wrap="square" rtlCol="0">
            <a:spAutoFit/>
          </a:bodyPr>
          <a:lstStyle/>
          <a:p>
            <a:r>
              <a:rPr kumimoji="1" lang="zh-CN" altLang="en-US" sz="2800" b="1" dirty="0">
                <a:solidFill>
                  <a:srgbClr val="FF0000"/>
                </a:solidFill>
                <a:latin typeface="+mj-ea"/>
                <a:ea typeface="+mj-ea"/>
              </a:rPr>
              <a:t>重点是过程调用中的常用约定和编程方法</a:t>
            </a:r>
          </a:p>
        </p:txBody>
      </p:sp>
      <p:sp>
        <p:nvSpPr>
          <p:cNvPr id="5" name="Title 4">
            <a:extLst>
              <a:ext uri="{FF2B5EF4-FFF2-40B4-BE49-F238E27FC236}">
                <a16:creationId xmlns:a16="http://schemas.microsoft.com/office/drawing/2014/main" id="{F015B1A8-77AF-C85D-ED36-C3114B4B18F5}"/>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dirty="0"/>
              <a:t>编程指南：过程调用</a:t>
            </a:r>
            <a:endParaRPr lang="en-CN" kern="0" dirty="0"/>
          </a:p>
        </p:txBody>
      </p:sp>
    </p:spTree>
    <p:extLst>
      <p:ext uri="{BB962C8B-B14F-4D97-AF65-F5344CB8AC3E}">
        <p14:creationId xmlns:p14="http://schemas.microsoft.com/office/powerpoint/2010/main" val="52553396"/>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1E1FC9D9-2E06-F64E-9459-1C6450F704A1}"/>
              </a:ext>
            </a:extLst>
          </p:cNvPr>
          <p:cNvSpPr>
            <a:spLocks noGrp="1"/>
          </p:cNvSpPr>
          <p:nvPr>
            <p:ph type="sldNum" sz="quarter" idx="12"/>
          </p:nvPr>
        </p:nvSpPr>
        <p:spPr/>
        <p:txBody>
          <a:bodyPr/>
          <a:lstStyle/>
          <a:p>
            <a:fld id="{14659731-6BD7-46E7-8D3C-2F3AC07E20B1}" type="slidenum">
              <a:rPr lang="en-US" altLang="zh-CN" smtClean="0"/>
              <a:pPr/>
              <a:t>133</a:t>
            </a:fld>
            <a:endParaRPr lang="en-US" altLang="zh-CN"/>
          </a:p>
        </p:txBody>
      </p:sp>
      <p:sp>
        <p:nvSpPr>
          <p:cNvPr id="2" name="Content Placeholder 1">
            <a:extLst>
              <a:ext uri="{FF2B5EF4-FFF2-40B4-BE49-F238E27FC236}">
                <a16:creationId xmlns:a16="http://schemas.microsoft.com/office/drawing/2014/main" id="{95B75E4D-68F4-46A4-9530-E3048E8392E1}"/>
              </a:ext>
            </a:extLst>
          </p:cNvPr>
          <p:cNvSpPr>
            <a:spLocks noGrp="1"/>
          </p:cNvSpPr>
          <p:nvPr>
            <p:ph idx="4294967295"/>
          </p:nvPr>
        </p:nvSpPr>
        <p:spPr>
          <a:xfrm>
            <a:off x="457200" y="1347322"/>
            <a:ext cx="7886700" cy="4351338"/>
          </a:xfrm>
        </p:spPr>
        <p:txBody>
          <a:bodyPr/>
          <a:lstStyle/>
          <a:p>
            <a:r>
              <a:rPr kumimoji="1" lang="zh-CN" altLang="en-US" sz="2800" dirty="0">
                <a:solidFill>
                  <a:srgbClr val="FF0000"/>
                </a:solidFill>
                <a:ea typeface="+mj-ea"/>
                <a:cs typeface="+mn-cs"/>
              </a:rPr>
              <a:t>参数寄存器和者临时寄存器入栈</a:t>
            </a:r>
            <a:r>
              <a:rPr kumimoji="1" lang="zh-CN" altLang="en-US" sz="2800" dirty="0">
                <a:solidFill>
                  <a:schemeClr val="tx1"/>
                </a:solidFill>
                <a:ea typeface="+mj-ea"/>
              </a:rPr>
              <a:t>：调用后还需使用的参数寄存器</a:t>
            </a:r>
            <a:r>
              <a:rPr kumimoji="1" lang="en-US" altLang="zh-CN" sz="2800" dirty="0">
                <a:solidFill>
                  <a:schemeClr val="tx1"/>
                </a:solidFill>
                <a:ea typeface="+mj-ea"/>
              </a:rPr>
              <a:t>$a0</a:t>
            </a:r>
            <a:r>
              <a:rPr kumimoji="1" lang="zh-CN" altLang="en-US" sz="2800" dirty="0">
                <a:solidFill>
                  <a:schemeClr val="tx1"/>
                </a:solidFill>
                <a:ea typeface="+mj-ea"/>
              </a:rPr>
              <a:t>～</a:t>
            </a:r>
            <a:r>
              <a:rPr kumimoji="1" lang="en-US" altLang="zh-CN" sz="2800" dirty="0">
                <a:solidFill>
                  <a:schemeClr val="tx1"/>
                </a:solidFill>
                <a:ea typeface="+mj-ea"/>
              </a:rPr>
              <a:t>$a3</a:t>
            </a:r>
            <a:r>
              <a:rPr kumimoji="1" lang="zh-CN" altLang="en-US" sz="2800" dirty="0">
                <a:solidFill>
                  <a:schemeClr val="tx1"/>
                </a:solidFill>
                <a:ea typeface="+mj-ea"/>
              </a:rPr>
              <a:t>和临时寄存器</a:t>
            </a:r>
            <a:r>
              <a:rPr kumimoji="1" lang="en-US" altLang="zh-CN" sz="2800" dirty="0">
                <a:solidFill>
                  <a:schemeClr val="tx1"/>
                </a:solidFill>
                <a:ea typeface="+mj-ea"/>
              </a:rPr>
              <a:t>$t0</a:t>
            </a:r>
            <a:r>
              <a:rPr kumimoji="1" lang="zh-CN" altLang="en-US" sz="2800" dirty="0">
                <a:solidFill>
                  <a:schemeClr val="tx1"/>
                </a:solidFill>
                <a:ea typeface="+mj-ea"/>
              </a:rPr>
              <a:t>～</a:t>
            </a:r>
            <a:r>
              <a:rPr kumimoji="1" lang="en-US" altLang="zh-CN" sz="2800" dirty="0">
                <a:solidFill>
                  <a:schemeClr val="tx1"/>
                </a:solidFill>
                <a:ea typeface="+mj-ea"/>
              </a:rPr>
              <a:t>$t9</a:t>
            </a:r>
            <a:r>
              <a:rPr kumimoji="1" lang="zh-CN" altLang="en-US" sz="2800" dirty="0">
                <a:solidFill>
                  <a:schemeClr val="tx1"/>
                </a:solidFill>
                <a:ea typeface="+mj-ea"/>
              </a:rPr>
              <a:t>压栈。这些寄存器可能会被子程序修改（按约定，子程序不负责维护），所以返回后如仍需使用就需要主程序来备份。</a:t>
            </a:r>
            <a:endParaRPr kumimoji="1" lang="en-US" altLang="zh-CN" sz="2800" dirty="0">
              <a:solidFill>
                <a:schemeClr val="tx1"/>
              </a:solidFill>
              <a:ea typeface="+mj-ea"/>
            </a:endParaRPr>
          </a:p>
        </p:txBody>
      </p:sp>
      <p:sp>
        <p:nvSpPr>
          <p:cNvPr id="10" name="TextBox 5">
            <a:extLst>
              <a:ext uri="{FF2B5EF4-FFF2-40B4-BE49-F238E27FC236}">
                <a16:creationId xmlns:a16="http://schemas.microsoft.com/office/drawing/2014/main" id="{7C191D79-E806-8B44-85AD-58B780EA0719}"/>
              </a:ext>
            </a:extLst>
          </p:cNvPr>
          <p:cNvSpPr txBox="1">
            <a:spLocks noChangeArrowheads="1"/>
          </p:cNvSpPr>
          <p:nvPr/>
        </p:nvSpPr>
        <p:spPr bwMode="auto">
          <a:xfrm>
            <a:off x="759940" y="4209586"/>
            <a:ext cx="7624119" cy="954107"/>
          </a:xfrm>
          <a:prstGeom prst="rect">
            <a:avLst/>
          </a:prstGeom>
          <a:noFill/>
          <a:ln>
            <a:noFill/>
          </a:ln>
          <a:extLst>
            <a:ext uri="{909E8E84-426E-40dd-AFC4-6F175D3DCCD1}">
              <a14:hiddenFill xmlns:lc="http://schemas.openxmlformats.org/drawingml/2006/lockedCanvas" xmlns:a14="http://schemas.microsoft.com/office/drawing/2010/main" xmlns="">
                <a:solidFill>
                  <a:srgbClr val="FFFFFF"/>
                </a:solidFill>
              </a14:hiddenFill>
            </a:ext>
            <a:ext uri="{91240B29-F687-4f45-9708-019B960494DF}">
              <a14:hiddenLine xmlns:lc="http://schemas.openxmlformats.org/drawingml/2006/lockedCanvas" xmlns:a14="http://schemas.microsoft.com/office/drawing/2010/main" xmlns="" w="9525">
                <a:solidFill>
                  <a:srgbClr val="000000"/>
                </a:solidFill>
                <a:miter lim="800000"/>
                <a:headEnd/>
                <a:tailEnd/>
              </a14:hiddenLine>
            </a:ext>
          </a:extLst>
        </p:spPr>
        <p:txBody>
          <a:bodyPr wrap="square">
            <a:spAutoFit/>
          </a:bodyPr>
          <a:ls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a:lstStyle>
          <a:p>
            <a:r>
              <a:rPr kumimoji="1" lang="zh-CN" altLang="en-US" sz="2800" b="1" dirty="0">
                <a:latin typeface="+mj-ea"/>
                <a:ea typeface="+mj-ea"/>
              </a:rPr>
              <a:t>对于</a:t>
            </a:r>
            <a:r>
              <a:rPr kumimoji="1" lang="zh-CN" altLang="en-US" sz="2800" b="1" dirty="0">
                <a:solidFill>
                  <a:srgbClr val="FF0000"/>
                </a:solidFill>
                <a:latin typeface="+mj-ea"/>
                <a:ea typeface="+mj-ea"/>
              </a:rPr>
              <a:t>叶过程</a:t>
            </a:r>
            <a:r>
              <a:rPr kumimoji="1" lang="zh-CN" altLang="en-US" sz="2800" b="1" dirty="0">
                <a:latin typeface="+mj-ea"/>
                <a:ea typeface="+mj-ea"/>
              </a:rPr>
              <a:t>，参数寄存器和临时寄存器的数值不需要入栈保存！</a:t>
            </a:r>
            <a:endParaRPr kumimoji="1" lang="en-US" altLang="zh-CN" sz="2800" b="1" dirty="0">
              <a:latin typeface="+mj-ea"/>
              <a:ea typeface="+mj-ea"/>
            </a:endParaRPr>
          </a:p>
        </p:txBody>
      </p:sp>
      <p:sp>
        <p:nvSpPr>
          <p:cNvPr id="3" name="Title 4">
            <a:extLst>
              <a:ext uri="{FF2B5EF4-FFF2-40B4-BE49-F238E27FC236}">
                <a16:creationId xmlns:a16="http://schemas.microsoft.com/office/drawing/2014/main" id="{05616737-C47B-3BC4-8416-DF6856338825}"/>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dirty="0"/>
              <a:t>编程指南：过程调用</a:t>
            </a:r>
            <a:endParaRPr lang="en-CN" kern="0" dirty="0"/>
          </a:p>
        </p:txBody>
      </p:sp>
    </p:spTree>
    <p:extLst>
      <p:ext uri="{BB962C8B-B14F-4D97-AF65-F5344CB8AC3E}">
        <p14:creationId xmlns:p14="http://schemas.microsoft.com/office/powerpoint/2010/main" val="3473996043"/>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1E1FC9D9-2E06-F64E-9459-1C6450F704A1}"/>
              </a:ext>
            </a:extLst>
          </p:cNvPr>
          <p:cNvSpPr>
            <a:spLocks noGrp="1"/>
          </p:cNvSpPr>
          <p:nvPr>
            <p:ph type="sldNum" sz="quarter" idx="12"/>
          </p:nvPr>
        </p:nvSpPr>
        <p:spPr/>
        <p:txBody>
          <a:bodyPr/>
          <a:lstStyle/>
          <a:p>
            <a:fld id="{14659731-6BD7-46E7-8D3C-2F3AC07E20B1}" type="slidenum">
              <a:rPr lang="en-US" altLang="zh-CN" smtClean="0"/>
              <a:pPr/>
              <a:t>134</a:t>
            </a:fld>
            <a:endParaRPr lang="en-US" altLang="zh-CN"/>
          </a:p>
        </p:txBody>
      </p:sp>
      <p:sp>
        <p:nvSpPr>
          <p:cNvPr id="2" name="Content Placeholder 1">
            <a:extLst>
              <a:ext uri="{FF2B5EF4-FFF2-40B4-BE49-F238E27FC236}">
                <a16:creationId xmlns:a16="http://schemas.microsoft.com/office/drawing/2014/main" id="{95B75E4D-68F4-46A4-9530-E3048E8392E1}"/>
              </a:ext>
            </a:extLst>
          </p:cNvPr>
          <p:cNvSpPr>
            <a:spLocks noGrp="1"/>
          </p:cNvSpPr>
          <p:nvPr>
            <p:ph idx="4294967295"/>
          </p:nvPr>
        </p:nvSpPr>
        <p:spPr>
          <a:xfrm>
            <a:off x="345688" y="1390727"/>
            <a:ext cx="7886700" cy="4351338"/>
          </a:xfrm>
        </p:spPr>
        <p:txBody>
          <a:bodyPr/>
          <a:lstStyle/>
          <a:p>
            <a:r>
              <a:rPr kumimoji="1" lang="zh-CN" altLang="en-US" sz="2800" dirty="0">
                <a:solidFill>
                  <a:srgbClr val="FF0000"/>
                </a:solidFill>
                <a:ea typeface="+mj-ea"/>
                <a:cs typeface="+mn-cs"/>
              </a:rPr>
              <a:t>返回地址入栈</a:t>
            </a:r>
            <a:r>
              <a:rPr kumimoji="1" lang="zh-CN" altLang="en-US" sz="2800" dirty="0">
                <a:ea typeface="+mj-ea"/>
                <a:cs typeface="+mn-cs"/>
              </a:rPr>
              <a:t>：存储返回地址寄存器</a:t>
            </a:r>
            <a:r>
              <a:rPr kumimoji="1" lang="en-US" altLang="zh-CN" sz="2800" dirty="0">
                <a:ea typeface="+mj-ea"/>
                <a:cs typeface="+mn-cs"/>
              </a:rPr>
              <a:t>$</a:t>
            </a:r>
            <a:r>
              <a:rPr kumimoji="1" lang="en-US" altLang="zh-CN" sz="2800" dirty="0" err="1">
                <a:ea typeface="+mj-ea"/>
                <a:cs typeface="+mn-cs"/>
              </a:rPr>
              <a:t>ra</a:t>
            </a:r>
            <a:r>
              <a:rPr kumimoji="1" lang="zh-CN" altLang="en-US" sz="2800" dirty="0">
                <a:ea typeface="+mj-ea"/>
                <a:cs typeface="+mn-cs"/>
              </a:rPr>
              <a:t>的值（从子程序返回后，主程序要执行的下一条指令的地址）。</a:t>
            </a:r>
            <a:r>
              <a:rPr kumimoji="1" lang="zh-CN" altLang="en-US" sz="2800" dirty="0">
                <a:solidFill>
                  <a:srgbClr val="0432FF"/>
                </a:solidFill>
                <a:ea typeface="+mj-ea"/>
                <a:cs typeface="+mn-cs"/>
              </a:rPr>
              <a:t>此值在当前过程执行开始时</a:t>
            </a:r>
            <a:r>
              <a:rPr kumimoji="1" lang="zh-CN" altLang="en-CN" sz="2800" dirty="0">
                <a:solidFill>
                  <a:srgbClr val="0432FF"/>
                </a:solidFill>
                <a:ea typeface="+mj-ea"/>
                <a:cs typeface="+mn-cs"/>
              </a:rPr>
              <a:t>入栈</a:t>
            </a:r>
            <a:r>
              <a:rPr kumimoji="1" lang="zh-CN" altLang="en-US" sz="2800" dirty="0">
                <a:ea typeface="+mj-ea"/>
                <a:cs typeface="+mn-cs"/>
              </a:rPr>
              <a:t>，并</a:t>
            </a:r>
            <a:r>
              <a:rPr kumimoji="1" lang="zh-CN" altLang="en-US" sz="2800" dirty="0">
                <a:solidFill>
                  <a:srgbClr val="FF0000"/>
                </a:solidFill>
                <a:ea typeface="+mj-ea"/>
                <a:cs typeface="+mn-cs"/>
              </a:rPr>
              <a:t>在当前过程返回之前复制回</a:t>
            </a:r>
            <a:r>
              <a:rPr kumimoji="1" lang="en-US" altLang="zh-CN" sz="2800" dirty="0">
                <a:solidFill>
                  <a:srgbClr val="FF0000"/>
                </a:solidFill>
                <a:ea typeface="+mj-ea"/>
                <a:cs typeface="+mn-cs"/>
              </a:rPr>
              <a:t>$</a:t>
            </a:r>
            <a:r>
              <a:rPr kumimoji="1" lang="en-US" altLang="zh-CN" sz="2800" dirty="0" err="1">
                <a:solidFill>
                  <a:srgbClr val="FF0000"/>
                </a:solidFill>
                <a:ea typeface="+mj-ea"/>
                <a:cs typeface="+mn-cs"/>
              </a:rPr>
              <a:t>ra</a:t>
            </a:r>
            <a:r>
              <a:rPr kumimoji="1" lang="zh-CN" altLang="en-US" sz="2800" dirty="0">
                <a:solidFill>
                  <a:srgbClr val="FF0000"/>
                </a:solidFill>
                <a:ea typeface="+mj-ea"/>
                <a:cs typeface="+mn-cs"/>
              </a:rPr>
              <a:t>寄存器</a:t>
            </a:r>
            <a:r>
              <a:rPr kumimoji="1" lang="zh-CN" altLang="en-US" sz="2800" dirty="0">
                <a:ea typeface="+mj-ea"/>
                <a:cs typeface="+mn-cs"/>
              </a:rPr>
              <a:t>，以</a:t>
            </a:r>
            <a:r>
              <a:rPr kumimoji="1" lang="zh-CN" altLang="en-US" sz="2800" dirty="0">
                <a:solidFill>
                  <a:srgbClr val="0432FF"/>
                </a:solidFill>
                <a:ea typeface="+mj-ea"/>
                <a:cs typeface="+mn-cs"/>
              </a:rPr>
              <a:t>保存</a:t>
            </a:r>
            <a:r>
              <a:rPr kumimoji="1" lang="zh-CN" altLang="en-US" sz="2800" dirty="0">
                <a:ea typeface="+mj-ea"/>
                <a:cs typeface="+mn-cs"/>
              </a:rPr>
              <a:t>和</a:t>
            </a:r>
            <a:r>
              <a:rPr kumimoji="1" lang="zh-CN" altLang="en-US" sz="2800" dirty="0">
                <a:solidFill>
                  <a:srgbClr val="FF0000"/>
                </a:solidFill>
                <a:ea typeface="+mj-ea"/>
                <a:cs typeface="+mn-cs"/>
              </a:rPr>
              <a:t>恢复</a:t>
            </a:r>
            <a:r>
              <a:rPr kumimoji="1" lang="zh-CN" altLang="en-US" sz="2800" dirty="0">
                <a:ea typeface="+mj-ea"/>
                <a:cs typeface="+mn-cs"/>
              </a:rPr>
              <a:t>该过程的返回地址</a:t>
            </a:r>
          </a:p>
        </p:txBody>
      </p:sp>
      <p:sp>
        <p:nvSpPr>
          <p:cNvPr id="3" name="Title 4">
            <a:extLst>
              <a:ext uri="{FF2B5EF4-FFF2-40B4-BE49-F238E27FC236}">
                <a16:creationId xmlns:a16="http://schemas.microsoft.com/office/drawing/2014/main" id="{90CECE06-312F-334D-7E7B-D065BFC1AF5B}"/>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dirty="0"/>
              <a:t>编程指南：过程调用</a:t>
            </a:r>
            <a:endParaRPr lang="en-CN" kern="0" dirty="0"/>
          </a:p>
        </p:txBody>
      </p:sp>
    </p:spTree>
    <p:extLst>
      <p:ext uri="{BB962C8B-B14F-4D97-AF65-F5344CB8AC3E}">
        <p14:creationId xmlns:p14="http://schemas.microsoft.com/office/powerpoint/2010/main" val="930062444"/>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1E1FC9D9-2E06-F64E-9459-1C6450F704A1}"/>
              </a:ext>
            </a:extLst>
          </p:cNvPr>
          <p:cNvSpPr>
            <a:spLocks noGrp="1"/>
          </p:cNvSpPr>
          <p:nvPr>
            <p:ph type="sldNum" sz="quarter" idx="12"/>
          </p:nvPr>
        </p:nvSpPr>
        <p:spPr/>
        <p:txBody>
          <a:bodyPr/>
          <a:lstStyle/>
          <a:p>
            <a:fld id="{14659731-6BD7-46E7-8D3C-2F3AC07E20B1}" type="slidenum">
              <a:rPr lang="en-US" altLang="zh-CN" smtClean="0"/>
              <a:pPr/>
              <a:t>135</a:t>
            </a:fld>
            <a:endParaRPr lang="en-US" altLang="zh-CN"/>
          </a:p>
        </p:txBody>
      </p:sp>
      <p:sp>
        <p:nvSpPr>
          <p:cNvPr id="2" name="Content Placeholder 1">
            <a:extLst>
              <a:ext uri="{FF2B5EF4-FFF2-40B4-BE49-F238E27FC236}">
                <a16:creationId xmlns:a16="http://schemas.microsoft.com/office/drawing/2014/main" id="{95B75E4D-68F4-46A4-9530-E3048E8392E1}"/>
              </a:ext>
            </a:extLst>
          </p:cNvPr>
          <p:cNvSpPr>
            <a:spLocks noGrp="1"/>
          </p:cNvSpPr>
          <p:nvPr>
            <p:ph idx="4294967295"/>
          </p:nvPr>
        </p:nvSpPr>
        <p:spPr>
          <a:xfrm>
            <a:off x="379141" y="1346122"/>
            <a:ext cx="7886700" cy="4351338"/>
          </a:xfrm>
        </p:spPr>
        <p:txBody>
          <a:bodyPr/>
          <a:lstStyle/>
          <a:p>
            <a:r>
              <a:rPr kumimoji="1" lang="zh-CN" altLang="en-US" sz="2800" dirty="0">
                <a:solidFill>
                  <a:srgbClr val="FF0000"/>
                </a:solidFill>
                <a:ea typeface="+mj-ea"/>
              </a:rPr>
              <a:t>保存寄存器（</a:t>
            </a:r>
            <a:r>
              <a:rPr kumimoji="1" lang="en-US" altLang="zh-CN" sz="2800" dirty="0">
                <a:solidFill>
                  <a:srgbClr val="FF0000"/>
                </a:solidFill>
                <a:ea typeface="+mj-ea"/>
              </a:rPr>
              <a:t>$s0-$s7</a:t>
            </a:r>
            <a:r>
              <a:rPr kumimoji="1" lang="zh-CN" altLang="en-US" sz="2800" dirty="0">
                <a:solidFill>
                  <a:srgbClr val="FF0000"/>
                </a:solidFill>
                <a:ea typeface="+mj-ea"/>
              </a:rPr>
              <a:t>）的值入栈</a:t>
            </a:r>
            <a:r>
              <a:rPr kumimoji="1" lang="zh-CN" altLang="en-US" sz="2800" dirty="0">
                <a:ea typeface="+mn-ea"/>
              </a:rPr>
              <a:t>：</a:t>
            </a:r>
            <a:r>
              <a:rPr kumimoji="1" lang="zh-CN" altLang="en-US" sz="2800" dirty="0"/>
              <a:t>存储当前过程想要使用的保存寄存器</a:t>
            </a:r>
            <a:r>
              <a:rPr kumimoji="1" lang="en-US" altLang="zh-CN" sz="2800" dirty="0"/>
              <a:t>($s0</a:t>
            </a:r>
            <a:r>
              <a:rPr kumimoji="1" lang="zh-CN" altLang="en-US" sz="2800" dirty="0"/>
              <a:t>到</a:t>
            </a:r>
            <a:r>
              <a:rPr kumimoji="1" lang="en-US" altLang="zh-CN" sz="2800" dirty="0"/>
              <a:t>$s7)</a:t>
            </a:r>
            <a:r>
              <a:rPr kumimoji="1" lang="zh-CN" altLang="en-US" sz="2800" dirty="0"/>
              <a:t>的值。</a:t>
            </a:r>
            <a:r>
              <a:rPr kumimoji="1" lang="zh-CN" altLang="en-US" sz="2800" dirty="0">
                <a:solidFill>
                  <a:srgbClr val="0432FF"/>
                </a:solidFill>
              </a:rPr>
              <a:t>主程序默认子程序会维护，所以子程序</a:t>
            </a:r>
            <a:r>
              <a:rPr kumimoji="1" lang="zh-CN" altLang="en-CN" sz="2800" dirty="0">
                <a:solidFill>
                  <a:srgbClr val="0432FF"/>
                </a:solidFill>
              </a:rPr>
              <a:t>如要</a:t>
            </a:r>
            <a:r>
              <a:rPr kumimoji="1" lang="zh-CN" altLang="en-US" sz="2800" dirty="0">
                <a:solidFill>
                  <a:srgbClr val="0432FF"/>
                </a:solidFill>
              </a:rPr>
              <a:t>使用</a:t>
            </a:r>
            <a:r>
              <a:rPr kumimoji="1" lang="en-US" altLang="zh-CN" sz="2800" dirty="0">
                <a:solidFill>
                  <a:srgbClr val="0432FF"/>
                </a:solidFill>
              </a:rPr>
              <a:t>/</a:t>
            </a:r>
            <a:r>
              <a:rPr kumimoji="1" lang="zh-CN" altLang="en-US" sz="2800" dirty="0">
                <a:solidFill>
                  <a:srgbClr val="0432FF"/>
                </a:solidFill>
              </a:rPr>
              <a:t>修改其值，需要先备份</a:t>
            </a:r>
            <a:r>
              <a:rPr kumimoji="1" lang="zh-CN" altLang="en-CN" sz="2800" dirty="0">
                <a:solidFill>
                  <a:srgbClr val="0432FF"/>
                </a:solidFill>
              </a:rPr>
              <a:t>再恢复</a:t>
            </a:r>
            <a:r>
              <a:rPr kumimoji="1" lang="zh-CN" altLang="en-US" sz="2800" dirty="0"/>
              <a:t>：在进入当前过程时，将保存寄存器的值</a:t>
            </a:r>
            <a:r>
              <a:rPr kumimoji="1" lang="en-US" altLang="zh-CN" sz="2800" dirty="0"/>
              <a:t>($s0</a:t>
            </a:r>
            <a:r>
              <a:rPr kumimoji="1" lang="zh-CN" altLang="en-US" sz="2800" dirty="0"/>
              <a:t>到</a:t>
            </a:r>
            <a:r>
              <a:rPr kumimoji="1" lang="en-US" altLang="zh-CN" sz="2800" dirty="0"/>
              <a:t>$s7)</a:t>
            </a:r>
            <a:r>
              <a:rPr kumimoji="1" lang="zh-CN" altLang="en-US" sz="2800" dirty="0"/>
              <a:t>复制到这部分空间中；此后，当前过程可以随意更改保存寄存器的值。但是当该过程</a:t>
            </a:r>
            <a:r>
              <a:rPr kumimoji="1" lang="zh-CN" altLang="en-US" sz="2800" dirty="0">
                <a:solidFill>
                  <a:srgbClr val="FF0000"/>
                </a:solidFill>
              </a:rPr>
              <a:t>调用结束、返回之前</a:t>
            </a:r>
            <a:r>
              <a:rPr kumimoji="1" lang="zh-CN" altLang="en-US" sz="2800" dirty="0"/>
              <a:t>，将这些值从栈中复制回原始的保存寄存器，使其值变成和调用该过程前相同。</a:t>
            </a:r>
          </a:p>
        </p:txBody>
      </p:sp>
      <p:sp>
        <p:nvSpPr>
          <p:cNvPr id="3" name="Title 4">
            <a:extLst>
              <a:ext uri="{FF2B5EF4-FFF2-40B4-BE49-F238E27FC236}">
                <a16:creationId xmlns:a16="http://schemas.microsoft.com/office/drawing/2014/main" id="{CF92A5F9-DB0F-7960-BC99-A11C060C320C}"/>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dirty="0"/>
              <a:t>编程指南：过程调用</a:t>
            </a:r>
            <a:endParaRPr lang="en-CN" kern="0" dirty="0"/>
          </a:p>
        </p:txBody>
      </p:sp>
    </p:spTree>
    <p:extLst>
      <p:ext uri="{BB962C8B-B14F-4D97-AF65-F5344CB8AC3E}">
        <p14:creationId xmlns:p14="http://schemas.microsoft.com/office/powerpoint/2010/main" val="4056074782"/>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1E1FC9D9-2E06-F64E-9459-1C6450F704A1}"/>
              </a:ext>
            </a:extLst>
          </p:cNvPr>
          <p:cNvSpPr>
            <a:spLocks noGrp="1"/>
          </p:cNvSpPr>
          <p:nvPr>
            <p:ph type="sldNum" sz="quarter" idx="12"/>
          </p:nvPr>
        </p:nvSpPr>
        <p:spPr/>
        <p:txBody>
          <a:bodyPr/>
          <a:lstStyle/>
          <a:p>
            <a:fld id="{14659731-6BD7-46E7-8D3C-2F3AC07E20B1}" type="slidenum">
              <a:rPr lang="en-US" altLang="zh-CN" smtClean="0"/>
              <a:pPr/>
              <a:t>136</a:t>
            </a:fld>
            <a:endParaRPr lang="en-US" altLang="zh-CN"/>
          </a:p>
        </p:txBody>
      </p:sp>
      <p:sp>
        <p:nvSpPr>
          <p:cNvPr id="2" name="Content Placeholder 1">
            <a:extLst>
              <a:ext uri="{FF2B5EF4-FFF2-40B4-BE49-F238E27FC236}">
                <a16:creationId xmlns:a16="http://schemas.microsoft.com/office/drawing/2014/main" id="{95B75E4D-68F4-46A4-9530-E3048E8392E1}"/>
              </a:ext>
            </a:extLst>
          </p:cNvPr>
          <p:cNvSpPr>
            <a:spLocks noGrp="1"/>
          </p:cNvSpPr>
          <p:nvPr>
            <p:ph idx="4294967295"/>
          </p:nvPr>
        </p:nvSpPr>
        <p:spPr>
          <a:xfrm>
            <a:off x="457200" y="1346123"/>
            <a:ext cx="7886700" cy="4351338"/>
          </a:xfrm>
        </p:spPr>
        <p:txBody>
          <a:bodyPr/>
          <a:lstStyle/>
          <a:p>
            <a:r>
              <a:rPr kumimoji="1" lang="zh-CN" altLang="en-US" sz="2800" kern="1200" dirty="0"/>
              <a:t>参数传递规则</a:t>
            </a:r>
            <a:endParaRPr kumimoji="1" lang="en-US" altLang="zh-CN" sz="2800" kern="1200" dirty="0"/>
          </a:p>
          <a:p>
            <a:pPr marL="360000" indent="0">
              <a:buNone/>
            </a:pPr>
            <a:r>
              <a:rPr kumimoji="1" lang="zh-CN" altLang="en-US" sz="2400" kern="1200" dirty="0"/>
              <a:t>简单参数传递规则：前四个参数通过寄存器（</a:t>
            </a:r>
            <a:r>
              <a:rPr kumimoji="1" lang="en-US" altLang="zh-CN" sz="2400" kern="1200" dirty="0"/>
              <a:t>$a0-$a3</a:t>
            </a:r>
            <a:r>
              <a:rPr kumimoji="1" lang="zh-CN" altLang="en-US" sz="2400" kern="1200" dirty="0"/>
              <a:t>）传递，更多的参数通过栈传递。复杂参数（结构体、联合体、可变参数传递见参考资料）</a:t>
            </a:r>
            <a:endParaRPr kumimoji="1" lang="en-US" altLang="zh-CN" sz="2400" kern="1200" dirty="0"/>
          </a:p>
          <a:p>
            <a:r>
              <a:rPr kumimoji="1" lang="zh-CN" altLang="en-US" sz="2800" kern="1200" dirty="0"/>
              <a:t>返回值的传递规则</a:t>
            </a:r>
            <a:endParaRPr kumimoji="1" lang="en-US" altLang="zh-CN" sz="2800" kern="1200" dirty="0"/>
          </a:p>
          <a:p>
            <a:pPr marL="360000" indent="0">
              <a:buNone/>
            </a:pPr>
            <a:r>
              <a:rPr kumimoji="1" lang="zh-CN" altLang="zh-CN" sz="2400" kern="1200" dirty="0"/>
              <a:t>在返回基本数据类型的情况下，与常规参数传递一样，有专用的寄存器约定为传递返回值，整型在通用寄存器</a:t>
            </a:r>
            <a:r>
              <a:rPr kumimoji="1" lang="en-US" altLang="zh-CN" sz="2400" kern="1200" dirty="0"/>
              <a:t>$v0</a:t>
            </a:r>
            <a:r>
              <a:rPr kumimoji="1" lang="zh-CN" altLang="zh-CN" sz="2400" kern="1200" dirty="0"/>
              <a:t>中返回，浮点在</a:t>
            </a:r>
            <a:r>
              <a:rPr kumimoji="1" lang="zh-CN" altLang="zh-CN" sz="2400" kern="1200" dirty="0">
                <a:solidFill>
                  <a:srgbClr val="FF0000"/>
                </a:solidFill>
              </a:rPr>
              <a:t>浮点寄存器</a:t>
            </a:r>
            <a:r>
              <a:rPr kumimoji="1" lang="en-US" altLang="zh-CN" sz="2400" kern="1200" dirty="0">
                <a:solidFill>
                  <a:srgbClr val="FF0000"/>
                </a:solidFill>
              </a:rPr>
              <a:t>$f0</a:t>
            </a:r>
            <a:r>
              <a:rPr kumimoji="1" lang="zh-CN" altLang="zh-CN" sz="2400" kern="1200" dirty="0"/>
              <a:t>中返回。</a:t>
            </a:r>
            <a:endParaRPr kumimoji="1" lang="zh-CN" altLang="en-US" sz="2400" kern="1200" dirty="0"/>
          </a:p>
        </p:txBody>
      </p:sp>
      <p:sp>
        <p:nvSpPr>
          <p:cNvPr id="5" name="Title 4">
            <a:extLst>
              <a:ext uri="{FF2B5EF4-FFF2-40B4-BE49-F238E27FC236}">
                <a16:creationId xmlns:a16="http://schemas.microsoft.com/office/drawing/2014/main" id="{EA3B0592-9B98-25EA-E6AA-440342C53024}"/>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dirty="0"/>
              <a:t>编程指南：过程调用</a:t>
            </a:r>
            <a:endParaRPr lang="en-CN" kern="0" dirty="0"/>
          </a:p>
        </p:txBody>
      </p:sp>
    </p:spTree>
    <p:extLst>
      <p:ext uri="{BB962C8B-B14F-4D97-AF65-F5344CB8AC3E}">
        <p14:creationId xmlns:p14="http://schemas.microsoft.com/office/powerpoint/2010/main" val="6265526"/>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灯片编号占位符 3">
            <a:extLst>
              <a:ext uri="{FF2B5EF4-FFF2-40B4-BE49-F238E27FC236}">
                <a16:creationId xmlns:a16="http://schemas.microsoft.com/office/drawing/2014/main" id="{F09C93A6-41D7-4B47-A78F-E636A9553D6B}"/>
              </a:ext>
            </a:extLst>
          </p:cNvPr>
          <p:cNvSpPr>
            <a:spLocks noGrp="1"/>
          </p:cNvSpPr>
          <p:nvPr>
            <p:ph type="sldNum" sz="quarter" idx="12"/>
          </p:nvPr>
        </p:nvSpPr>
        <p:spPr/>
        <p:txBody>
          <a:bodyPr/>
          <a:lstStyle/>
          <a:p>
            <a:fld id="{14659731-6BD7-46E7-8D3C-2F3AC07E20B1}" type="slidenum">
              <a:rPr lang="en-US" altLang="zh-CN" smtClean="0"/>
              <a:pPr/>
              <a:t>137</a:t>
            </a:fld>
            <a:endParaRPr lang="en-US" altLang="zh-CN"/>
          </a:p>
        </p:txBody>
      </p:sp>
      <p:sp>
        <p:nvSpPr>
          <p:cNvPr id="29702" name="Rectangle 4"/>
          <p:cNvSpPr>
            <a:spLocks noGrp="1" noChangeArrowheads="1"/>
          </p:cNvSpPr>
          <p:nvPr>
            <p:ph idx="4294967295"/>
          </p:nvPr>
        </p:nvSpPr>
        <p:spPr>
          <a:xfrm>
            <a:off x="339212" y="1302211"/>
            <a:ext cx="5041438" cy="5256213"/>
          </a:xfrm>
          <a:noFill/>
        </p:spPr>
        <p:txBody>
          <a:bodyPr lIns="92075" tIns="46038" rIns="92075" bIns="46038"/>
          <a:lstStyle/>
          <a:p>
            <a:pPr eaLnBrk="1" hangingPunct="1"/>
            <a:r>
              <a:rPr lang="zh-CN" altLang="en-US" sz="2400" dirty="0"/>
              <a:t>我们需要存储</a:t>
            </a:r>
            <a:r>
              <a:rPr lang="en-US" altLang="zh-CN" sz="2400" dirty="0"/>
              <a:t>:</a:t>
            </a:r>
          </a:p>
          <a:p>
            <a:pPr lvl="1" eaLnBrk="1" hangingPunct="1"/>
            <a:r>
              <a:rPr lang="zh-CN" altLang="en-US" sz="2000" dirty="0"/>
              <a:t>返回地址</a:t>
            </a:r>
            <a:r>
              <a:rPr lang="en-US" altLang="zh-CN" sz="2000" dirty="0"/>
              <a:t>(old </a:t>
            </a:r>
            <a:r>
              <a:rPr lang="en-US" altLang="zh-CN" sz="2000" dirty="0" err="1"/>
              <a:t>ra</a:t>
            </a:r>
            <a:r>
              <a:rPr lang="en-US" altLang="zh-CN" sz="2000" dirty="0"/>
              <a:t>)</a:t>
            </a:r>
          </a:p>
          <a:p>
            <a:pPr lvl="1" eaLnBrk="1" hangingPunct="1"/>
            <a:r>
              <a:rPr lang="zh-CN" altLang="en-US" sz="2000" dirty="0"/>
              <a:t>参数 </a:t>
            </a:r>
            <a:r>
              <a:rPr lang="en-US" altLang="zh-CN" sz="2000" dirty="0">
                <a:solidFill>
                  <a:srgbClr val="1C069E"/>
                </a:solidFill>
              </a:rPr>
              <a:t>n </a:t>
            </a:r>
            <a:r>
              <a:rPr lang="en-US" altLang="zh-CN" sz="2000" dirty="0"/>
              <a:t>in </a:t>
            </a:r>
            <a:r>
              <a:rPr lang="en-US" altLang="zh-CN" sz="2000" dirty="0">
                <a:solidFill>
                  <a:srgbClr val="1C069E"/>
                </a:solidFill>
              </a:rPr>
              <a:t>fact(n)</a:t>
            </a:r>
          </a:p>
          <a:p>
            <a:pPr lvl="1" eaLnBrk="1" hangingPunct="1"/>
            <a:r>
              <a:rPr lang="zh-CN" altLang="en-US" sz="2000" dirty="0"/>
              <a:t>临时</a:t>
            </a:r>
            <a:r>
              <a:rPr lang="en-US" altLang="zh-CN" sz="2000" dirty="0"/>
              <a:t>/</a:t>
            </a:r>
            <a:r>
              <a:rPr lang="zh-CN" altLang="en-US" sz="2000" dirty="0"/>
              <a:t>局部的变量 （在</a:t>
            </a:r>
            <a:r>
              <a:rPr lang="en-US" altLang="zh-CN" sz="2000" dirty="0">
                <a:solidFill>
                  <a:srgbClr val="1C069E"/>
                </a:solidFill>
              </a:rPr>
              <a:t>f</a:t>
            </a:r>
            <a:r>
              <a:rPr lang="zh-CN" altLang="en-US" sz="2000" dirty="0">
                <a:solidFill>
                  <a:srgbClr val="1C069E"/>
                </a:solidFill>
              </a:rPr>
              <a:t>执行过程中）</a:t>
            </a:r>
          </a:p>
          <a:p>
            <a:pPr lvl="1" eaLnBrk="1" hangingPunct="1"/>
            <a:r>
              <a:rPr lang="zh-CN" altLang="en-US" sz="2000" dirty="0"/>
              <a:t>被破坏的寄存器</a:t>
            </a:r>
          </a:p>
          <a:p>
            <a:pPr lvl="1" eaLnBrk="1" hangingPunct="1"/>
            <a:endParaRPr lang="zh-CN" altLang="en-US" sz="1900" dirty="0">
              <a:solidFill>
                <a:schemeClr val="accent2"/>
              </a:solidFill>
            </a:endParaRPr>
          </a:p>
          <a:p>
            <a:pPr eaLnBrk="1" hangingPunct="1"/>
            <a:r>
              <a:rPr lang="zh-CN" altLang="en-US" sz="2400" dirty="0"/>
              <a:t>想法</a:t>
            </a:r>
            <a:r>
              <a:rPr lang="en-US" altLang="zh-CN" sz="2400" dirty="0"/>
              <a:t>: </a:t>
            </a:r>
            <a:r>
              <a:rPr lang="zh-CN" altLang="en-US" sz="2400" dirty="0"/>
              <a:t>存在栈里</a:t>
            </a:r>
            <a:r>
              <a:rPr lang="en-US" altLang="zh-CN" sz="2400" dirty="0"/>
              <a:t>!</a:t>
            </a:r>
          </a:p>
          <a:p>
            <a:pPr lvl="1" eaLnBrk="1" hangingPunct="1"/>
            <a:r>
              <a:rPr lang="zh-CN" altLang="en-US" sz="2000" dirty="0"/>
              <a:t>增长</a:t>
            </a:r>
            <a:r>
              <a:rPr lang="en-US" altLang="zh-CN" sz="2000" dirty="0"/>
              <a:t>(PUSH </a:t>
            </a:r>
            <a:r>
              <a:rPr lang="zh-CN" altLang="en-US" sz="2000" dirty="0"/>
              <a:t>进去</a:t>
            </a:r>
            <a:r>
              <a:rPr lang="en-US" altLang="zh-CN" sz="2000" dirty="0"/>
              <a:t>) </a:t>
            </a:r>
            <a:r>
              <a:rPr lang="zh-CN" altLang="en-US" sz="2000" dirty="0"/>
              <a:t>栈，（每次调用函数时）</a:t>
            </a:r>
          </a:p>
          <a:p>
            <a:pPr lvl="1" eaLnBrk="1" hangingPunct="1"/>
            <a:r>
              <a:rPr lang="zh-CN" altLang="en-US" sz="2000" dirty="0"/>
              <a:t>缩减栈</a:t>
            </a:r>
            <a:r>
              <a:rPr lang="en-US" altLang="zh-CN" sz="2000" dirty="0"/>
              <a:t>(POP </a:t>
            </a:r>
            <a:r>
              <a:rPr lang="zh-CN" altLang="en-US" sz="2000" dirty="0"/>
              <a:t>出来</a:t>
            </a:r>
            <a:r>
              <a:rPr lang="en-US" altLang="zh-CN" sz="2000" dirty="0"/>
              <a:t>) </a:t>
            </a:r>
            <a:r>
              <a:rPr lang="zh-CN" altLang="en-US" sz="2000" dirty="0"/>
              <a:t>（每次返回时）</a:t>
            </a:r>
          </a:p>
          <a:p>
            <a:pPr lvl="1" eaLnBrk="1" hangingPunct="1"/>
            <a:r>
              <a:rPr lang="zh-CN" altLang="en-US" sz="2000" dirty="0"/>
              <a:t>每次调用都有自己的</a:t>
            </a:r>
            <a:r>
              <a:rPr lang="zh-CN" altLang="en-US" sz="2000" dirty="0">
                <a:latin typeface="Comic Sans MS" pitchFamily="66" charset="0"/>
              </a:rPr>
              <a:t>“过程调用</a:t>
            </a:r>
            <a:r>
              <a:rPr lang="zh-CN" altLang="en-US" sz="2000" dirty="0"/>
              <a:t>帧</a:t>
            </a:r>
            <a:r>
              <a:rPr lang="zh-CN" altLang="en-US" sz="2000" dirty="0">
                <a:latin typeface="Comic Sans MS" pitchFamily="66" charset="0"/>
              </a:rPr>
              <a:t>”</a:t>
            </a:r>
            <a:endParaRPr lang="zh-CN" altLang="en-US" sz="2000" dirty="0"/>
          </a:p>
        </p:txBody>
      </p:sp>
      <p:sp>
        <p:nvSpPr>
          <p:cNvPr id="29728" name="Oval 30"/>
          <p:cNvSpPr>
            <a:spLocks noChangeArrowheads="1"/>
          </p:cNvSpPr>
          <p:nvPr/>
        </p:nvSpPr>
        <p:spPr bwMode="auto">
          <a:xfrm>
            <a:off x="7192761" y="2767587"/>
            <a:ext cx="1724482" cy="799646"/>
          </a:xfrm>
          <a:prstGeom prst="rect">
            <a:avLst/>
          </a:prstGeom>
          <a:solidFill>
            <a:schemeClr val="bg2">
              <a:lumMod val="20000"/>
              <a:lumOff val="80000"/>
            </a:schemeClr>
          </a:solidFill>
          <a:ln w="19050">
            <a:noFill/>
            <a:round/>
            <a:headEnd/>
            <a:tailEnd type="none" w="lg" len="lg"/>
          </a:ln>
        </p:spPr>
        <p:txBody>
          <a:bodyPr wrap="none" lIns="0" tIns="0" rIns="0" bIns="0" anchor="ctr"/>
          <a:lstStyle/>
          <a:p>
            <a:pPr algn="ctr" eaLnBrk="0" hangingPunct="0"/>
            <a:r>
              <a:rPr lang="zh-CN" altLang="en-US" sz="2400" b="1" dirty="0">
                <a:solidFill>
                  <a:schemeClr val="tx1"/>
                </a:solidFill>
                <a:latin typeface="+mn-lt"/>
                <a:ea typeface="+mj-ea"/>
                <a:cs typeface="Consolas" panose="020B0609020204030204" pitchFamily="49" charset="0"/>
              </a:rPr>
              <a:t>例如</a:t>
            </a:r>
            <a:endParaRPr lang="zh-CN" altLang="en-US" b="1" dirty="0">
              <a:solidFill>
                <a:schemeClr val="tx1"/>
              </a:solidFill>
              <a:latin typeface="+mn-lt"/>
              <a:ea typeface="+mj-ea"/>
              <a:cs typeface="Consolas" panose="020B0609020204030204" pitchFamily="49" charset="0"/>
            </a:endParaRPr>
          </a:p>
          <a:p>
            <a:pPr algn="ctr" eaLnBrk="0" hangingPunct="0"/>
            <a:r>
              <a:rPr lang="zh-CN" altLang="en-US" sz="2400" b="1" dirty="0">
                <a:solidFill>
                  <a:schemeClr val="tx1"/>
                </a:solidFill>
                <a:latin typeface="+mn-lt"/>
                <a:ea typeface="+mj-ea"/>
                <a:cs typeface="Consolas" panose="020B0609020204030204" pitchFamily="49" charset="0"/>
              </a:rPr>
              <a:t>调用</a:t>
            </a:r>
            <a:r>
              <a:rPr lang="en-US" altLang="zh-CN" sz="2400" b="1" dirty="0">
                <a:solidFill>
                  <a:schemeClr val="tx1"/>
                </a:solidFill>
                <a:latin typeface="+mn-lt"/>
                <a:ea typeface="+mj-ea"/>
                <a:cs typeface="Consolas" panose="020B0609020204030204" pitchFamily="49" charset="0"/>
              </a:rPr>
              <a:t>fact(2)</a:t>
            </a:r>
            <a:endParaRPr lang="en-US" altLang="zh-CN" b="1" dirty="0">
              <a:solidFill>
                <a:schemeClr val="tx1"/>
              </a:solidFill>
              <a:latin typeface="+mn-lt"/>
              <a:ea typeface="+mj-ea"/>
              <a:cs typeface="Consolas" panose="020B0609020204030204" pitchFamily="49" charset="0"/>
            </a:endParaRPr>
          </a:p>
        </p:txBody>
      </p:sp>
      <p:sp>
        <p:nvSpPr>
          <p:cNvPr id="35" name="Rectangle 23">
            <a:extLst>
              <a:ext uri="{FF2B5EF4-FFF2-40B4-BE49-F238E27FC236}">
                <a16:creationId xmlns:a16="http://schemas.microsoft.com/office/drawing/2014/main" id="{F6AC55A4-4FC4-42A9-B254-67833D3532B5}"/>
              </a:ext>
            </a:extLst>
          </p:cNvPr>
          <p:cNvSpPr>
            <a:spLocks noChangeArrowheads="1"/>
          </p:cNvSpPr>
          <p:nvPr/>
        </p:nvSpPr>
        <p:spPr bwMode="auto">
          <a:xfrm>
            <a:off x="5111468" y="1282357"/>
            <a:ext cx="3731791" cy="203196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spAutoFit/>
          </a:bodyPr>
          <a:lstStyle/>
          <a:p>
            <a:pPr algn="l" eaLnBrk="0" hangingPunct="0"/>
            <a:r>
              <a:rPr lang="en-US" altLang="zh-CN" sz="1800" b="1" i="1" dirty="0" err="1">
                <a:solidFill>
                  <a:srgbClr val="1C069E"/>
                </a:solidFill>
                <a:latin typeface="Consolas" panose="020B0609020204030204" pitchFamily="49" charset="0"/>
              </a:rPr>
              <a:t>int</a:t>
            </a:r>
            <a:r>
              <a:rPr lang="en-US" altLang="zh-CN" sz="1800" b="1" i="1" dirty="0">
                <a:solidFill>
                  <a:srgbClr val="1C069E"/>
                </a:solidFill>
                <a:latin typeface="Consolas" panose="020B0609020204030204" pitchFamily="49" charset="0"/>
              </a:rPr>
              <a:t> fact( </a:t>
            </a:r>
            <a:r>
              <a:rPr lang="en-US" altLang="zh-CN" sz="1800" b="1" i="1" dirty="0" err="1">
                <a:solidFill>
                  <a:srgbClr val="1C069E"/>
                </a:solidFill>
                <a:latin typeface="Consolas" panose="020B0609020204030204" pitchFamily="49" charset="0"/>
              </a:rPr>
              <a:t>int</a:t>
            </a:r>
            <a:r>
              <a:rPr lang="en-US" altLang="zh-CN" sz="1800" b="1" i="1" dirty="0">
                <a:solidFill>
                  <a:srgbClr val="1C069E"/>
                </a:solidFill>
                <a:latin typeface="Consolas" panose="020B0609020204030204" pitchFamily="49" charset="0"/>
              </a:rPr>
              <a:t> n )</a:t>
            </a:r>
          </a:p>
          <a:p>
            <a:pPr algn="l" eaLnBrk="0" hangingPunct="0"/>
            <a:r>
              <a:rPr lang="en-US" altLang="zh-CN" sz="1800" b="1" i="1" dirty="0">
                <a:solidFill>
                  <a:srgbClr val="1C069E"/>
                </a:solidFill>
                <a:latin typeface="Consolas" panose="020B0609020204030204" pitchFamily="49" charset="0"/>
              </a:rPr>
              <a:t>{</a:t>
            </a:r>
          </a:p>
          <a:p>
            <a:pPr algn="l" eaLnBrk="0" hangingPunct="0"/>
            <a:r>
              <a:rPr lang="en-US" altLang="zh-CN" sz="1800" b="1" i="1" dirty="0">
                <a:solidFill>
                  <a:srgbClr val="1C069E"/>
                </a:solidFill>
                <a:latin typeface="Consolas" panose="020B0609020204030204" pitchFamily="49" charset="0"/>
              </a:rPr>
              <a:t>   if (n &gt; 0)</a:t>
            </a:r>
          </a:p>
          <a:p>
            <a:pPr algn="l" eaLnBrk="0" hangingPunct="0"/>
            <a:r>
              <a:rPr lang="en-US" altLang="zh-CN" sz="1800" b="1" i="1" dirty="0">
                <a:solidFill>
                  <a:srgbClr val="1C069E"/>
                </a:solidFill>
                <a:latin typeface="Consolas" panose="020B0609020204030204" pitchFamily="49" charset="0"/>
              </a:rPr>
              <a:t>     return fact( n-1 ) * n;</a:t>
            </a:r>
          </a:p>
          <a:p>
            <a:pPr algn="l" eaLnBrk="0" hangingPunct="0"/>
            <a:r>
              <a:rPr lang="en-US" altLang="zh-CN" sz="1800" b="1" i="1" dirty="0">
                <a:solidFill>
                  <a:srgbClr val="1C069E"/>
                </a:solidFill>
                <a:latin typeface="Consolas" panose="020B0609020204030204" pitchFamily="49" charset="0"/>
              </a:rPr>
              <a:t>   else</a:t>
            </a:r>
          </a:p>
          <a:p>
            <a:pPr algn="l" eaLnBrk="0" hangingPunct="0"/>
            <a:r>
              <a:rPr lang="en-US" altLang="zh-CN" sz="1800" b="1" i="1" dirty="0">
                <a:solidFill>
                  <a:srgbClr val="1C069E"/>
                </a:solidFill>
                <a:latin typeface="Consolas" panose="020B0609020204030204" pitchFamily="49" charset="0"/>
              </a:rPr>
              <a:t>     return 1 ;</a:t>
            </a:r>
          </a:p>
          <a:p>
            <a:pPr algn="l" eaLnBrk="0" hangingPunct="0"/>
            <a:r>
              <a:rPr lang="en-US" altLang="zh-CN" sz="1800" b="1" i="1" dirty="0">
                <a:solidFill>
                  <a:srgbClr val="1C069E"/>
                </a:solidFill>
                <a:latin typeface="Consolas" panose="020B0609020204030204" pitchFamily="49" charset="0"/>
              </a:rPr>
              <a:t>}</a:t>
            </a:r>
          </a:p>
        </p:txBody>
      </p:sp>
      <p:sp>
        <p:nvSpPr>
          <p:cNvPr id="2" name="Title 4">
            <a:extLst>
              <a:ext uri="{FF2B5EF4-FFF2-40B4-BE49-F238E27FC236}">
                <a16:creationId xmlns:a16="http://schemas.microsoft.com/office/drawing/2014/main" id="{9F92B80D-E2F8-51FE-09CD-9857D89281EB}"/>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dirty="0"/>
              <a:t>编程指南：过程调用</a:t>
            </a:r>
            <a:endParaRPr lang="en-CN" kern="0" dirty="0"/>
          </a:p>
        </p:txBody>
      </p:sp>
      <p:sp>
        <p:nvSpPr>
          <p:cNvPr id="29" name="Rectangle 5">
            <a:extLst>
              <a:ext uri="{FF2B5EF4-FFF2-40B4-BE49-F238E27FC236}">
                <a16:creationId xmlns:a16="http://schemas.microsoft.com/office/drawing/2014/main" id="{E3F74366-7636-0922-67AC-2D04727BBDD3}"/>
              </a:ext>
            </a:extLst>
          </p:cNvPr>
          <p:cNvSpPr>
            <a:spLocks noChangeArrowheads="1"/>
          </p:cNvSpPr>
          <p:nvPr/>
        </p:nvSpPr>
        <p:spPr bwMode="auto">
          <a:xfrm>
            <a:off x="7543259" y="3518382"/>
            <a:ext cx="750205"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2000" b="1" i="1" dirty="0">
                <a:solidFill>
                  <a:srgbClr val="1C069E"/>
                </a:solidFill>
                <a:latin typeface="Consolas" panose="020B0609020204030204" pitchFamily="49" charset="0"/>
                <a:ea typeface="+mn-ea"/>
                <a:cs typeface="Consolas" panose="020B0609020204030204" pitchFamily="49" charset="0"/>
              </a:rPr>
              <a:t>&lt;SP&gt;</a:t>
            </a:r>
          </a:p>
        </p:txBody>
      </p:sp>
      <p:sp>
        <p:nvSpPr>
          <p:cNvPr id="30" name="Line 6">
            <a:extLst>
              <a:ext uri="{FF2B5EF4-FFF2-40B4-BE49-F238E27FC236}">
                <a16:creationId xmlns:a16="http://schemas.microsoft.com/office/drawing/2014/main" id="{2C8527E8-4F91-6D73-AB61-1201AFE316D7}"/>
              </a:ext>
            </a:extLst>
          </p:cNvPr>
          <p:cNvSpPr>
            <a:spLocks noChangeShapeType="1"/>
          </p:cNvSpPr>
          <p:nvPr/>
        </p:nvSpPr>
        <p:spPr bwMode="auto">
          <a:xfrm>
            <a:off x="5866400" y="3647788"/>
            <a:ext cx="0" cy="2979736"/>
          </a:xfrm>
          <a:prstGeom prst="line">
            <a:avLst/>
          </a:prstGeom>
          <a:noFill/>
          <a:ln w="254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31" name="Line 7">
            <a:extLst>
              <a:ext uri="{FF2B5EF4-FFF2-40B4-BE49-F238E27FC236}">
                <a16:creationId xmlns:a16="http://schemas.microsoft.com/office/drawing/2014/main" id="{6D65F565-529A-1390-8F49-8A52DA6D09EB}"/>
              </a:ext>
            </a:extLst>
          </p:cNvPr>
          <p:cNvSpPr>
            <a:spLocks noChangeShapeType="1"/>
          </p:cNvSpPr>
          <p:nvPr/>
        </p:nvSpPr>
        <p:spPr bwMode="auto">
          <a:xfrm>
            <a:off x="7238000" y="3647787"/>
            <a:ext cx="0" cy="2979737"/>
          </a:xfrm>
          <a:prstGeom prst="line">
            <a:avLst/>
          </a:prstGeom>
          <a:noFill/>
          <a:ln w="254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33" name="Line 8">
            <a:extLst>
              <a:ext uri="{FF2B5EF4-FFF2-40B4-BE49-F238E27FC236}">
                <a16:creationId xmlns:a16="http://schemas.microsoft.com/office/drawing/2014/main" id="{22AF34C9-4F54-68C8-D302-43334F4687FF}"/>
              </a:ext>
            </a:extLst>
          </p:cNvPr>
          <p:cNvSpPr>
            <a:spLocks noChangeShapeType="1"/>
          </p:cNvSpPr>
          <p:nvPr/>
        </p:nvSpPr>
        <p:spPr bwMode="auto">
          <a:xfrm>
            <a:off x="5871163" y="4022438"/>
            <a:ext cx="1366837" cy="0"/>
          </a:xfrm>
          <a:prstGeom prst="line">
            <a:avLst/>
          </a:prstGeom>
          <a:noFill/>
          <a:ln w="127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34" name="Line 9">
            <a:extLst>
              <a:ext uri="{FF2B5EF4-FFF2-40B4-BE49-F238E27FC236}">
                <a16:creationId xmlns:a16="http://schemas.microsoft.com/office/drawing/2014/main" id="{F8960E83-57CF-D322-F55D-F01E02ECFFBB}"/>
              </a:ext>
            </a:extLst>
          </p:cNvPr>
          <p:cNvSpPr>
            <a:spLocks noChangeShapeType="1"/>
          </p:cNvSpPr>
          <p:nvPr/>
        </p:nvSpPr>
        <p:spPr bwMode="auto">
          <a:xfrm>
            <a:off x="5871163" y="4713000"/>
            <a:ext cx="1366837" cy="0"/>
          </a:xfrm>
          <a:prstGeom prst="line">
            <a:avLst/>
          </a:prstGeom>
          <a:noFill/>
          <a:ln w="508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37" name="Line 10">
            <a:extLst>
              <a:ext uri="{FF2B5EF4-FFF2-40B4-BE49-F238E27FC236}">
                <a16:creationId xmlns:a16="http://schemas.microsoft.com/office/drawing/2014/main" id="{2F3952F9-E976-36B0-650E-E286CF0C73E0}"/>
              </a:ext>
            </a:extLst>
          </p:cNvPr>
          <p:cNvSpPr>
            <a:spLocks noChangeShapeType="1"/>
          </p:cNvSpPr>
          <p:nvPr/>
        </p:nvSpPr>
        <p:spPr bwMode="auto">
          <a:xfrm>
            <a:off x="5871163" y="4398675"/>
            <a:ext cx="1366837" cy="0"/>
          </a:xfrm>
          <a:prstGeom prst="line">
            <a:avLst/>
          </a:prstGeom>
          <a:noFill/>
          <a:ln w="127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38" name="Line 11">
            <a:extLst>
              <a:ext uri="{FF2B5EF4-FFF2-40B4-BE49-F238E27FC236}">
                <a16:creationId xmlns:a16="http://schemas.microsoft.com/office/drawing/2014/main" id="{702EE1FB-0CF6-BB0D-55B3-9DF2F8ED0D74}"/>
              </a:ext>
            </a:extLst>
          </p:cNvPr>
          <p:cNvSpPr>
            <a:spLocks noChangeShapeType="1"/>
          </p:cNvSpPr>
          <p:nvPr/>
        </p:nvSpPr>
        <p:spPr bwMode="auto">
          <a:xfrm>
            <a:off x="5871163" y="3709700"/>
            <a:ext cx="1366837" cy="0"/>
          </a:xfrm>
          <a:prstGeom prst="line">
            <a:avLst/>
          </a:prstGeom>
          <a:noFill/>
          <a:ln w="508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39" name="Line 12">
            <a:extLst>
              <a:ext uri="{FF2B5EF4-FFF2-40B4-BE49-F238E27FC236}">
                <a16:creationId xmlns:a16="http://schemas.microsoft.com/office/drawing/2014/main" id="{90BD09A1-95EE-796B-6AD2-44E8D3F0558E}"/>
              </a:ext>
            </a:extLst>
          </p:cNvPr>
          <p:cNvSpPr>
            <a:spLocks noChangeShapeType="1"/>
          </p:cNvSpPr>
          <p:nvPr/>
        </p:nvSpPr>
        <p:spPr bwMode="auto">
          <a:xfrm>
            <a:off x="5871163" y="5025738"/>
            <a:ext cx="1366837" cy="0"/>
          </a:xfrm>
          <a:prstGeom prst="line">
            <a:avLst/>
          </a:prstGeom>
          <a:noFill/>
          <a:ln w="127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40" name="Line 13">
            <a:extLst>
              <a:ext uri="{FF2B5EF4-FFF2-40B4-BE49-F238E27FC236}">
                <a16:creationId xmlns:a16="http://schemas.microsoft.com/office/drawing/2014/main" id="{12B3092C-5F90-FE44-B132-80BE397ED982}"/>
              </a:ext>
            </a:extLst>
          </p:cNvPr>
          <p:cNvSpPr>
            <a:spLocks noChangeShapeType="1"/>
          </p:cNvSpPr>
          <p:nvPr/>
        </p:nvSpPr>
        <p:spPr bwMode="auto">
          <a:xfrm>
            <a:off x="5871163" y="5338475"/>
            <a:ext cx="1366837" cy="0"/>
          </a:xfrm>
          <a:prstGeom prst="line">
            <a:avLst/>
          </a:prstGeom>
          <a:noFill/>
          <a:ln w="127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41" name="Line 14">
            <a:extLst>
              <a:ext uri="{FF2B5EF4-FFF2-40B4-BE49-F238E27FC236}">
                <a16:creationId xmlns:a16="http://schemas.microsoft.com/office/drawing/2014/main" id="{48116574-E46F-EE91-F437-F745D61F4A1B}"/>
              </a:ext>
            </a:extLst>
          </p:cNvPr>
          <p:cNvSpPr>
            <a:spLocks noChangeShapeType="1"/>
          </p:cNvSpPr>
          <p:nvPr/>
        </p:nvSpPr>
        <p:spPr bwMode="auto">
          <a:xfrm>
            <a:off x="5871163" y="5652800"/>
            <a:ext cx="1366837" cy="0"/>
          </a:xfrm>
          <a:prstGeom prst="line">
            <a:avLst/>
          </a:prstGeom>
          <a:noFill/>
          <a:ln w="508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42" name="Line 15">
            <a:extLst>
              <a:ext uri="{FF2B5EF4-FFF2-40B4-BE49-F238E27FC236}">
                <a16:creationId xmlns:a16="http://schemas.microsoft.com/office/drawing/2014/main" id="{7A3C463D-1DA4-4C0C-3FAC-B50AB5AD626D}"/>
              </a:ext>
            </a:extLst>
          </p:cNvPr>
          <p:cNvSpPr>
            <a:spLocks noChangeShapeType="1"/>
          </p:cNvSpPr>
          <p:nvPr/>
        </p:nvSpPr>
        <p:spPr bwMode="auto">
          <a:xfrm>
            <a:off x="5871163" y="5967125"/>
            <a:ext cx="1366837" cy="0"/>
          </a:xfrm>
          <a:prstGeom prst="line">
            <a:avLst/>
          </a:prstGeom>
          <a:noFill/>
          <a:ln w="127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43" name="Line 16">
            <a:extLst>
              <a:ext uri="{FF2B5EF4-FFF2-40B4-BE49-F238E27FC236}">
                <a16:creationId xmlns:a16="http://schemas.microsoft.com/office/drawing/2014/main" id="{98A3DB0D-F4EC-B86A-E89B-AE5DA6BC071D}"/>
              </a:ext>
            </a:extLst>
          </p:cNvPr>
          <p:cNvSpPr>
            <a:spLocks noChangeShapeType="1"/>
          </p:cNvSpPr>
          <p:nvPr/>
        </p:nvSpPr>
        <p:spPr bwMode="auto">
          <a:xfrm>
            <a:off x="5871163" y="6279863"/>
            <a:ext cx="1366837" cy="0"/>
          </a:xfrm>
          <a:prstGeom prst="line">
            <a:avLst/>
          </a:prstGeom>
          <a:noFill/>
          <a:ln w="127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44" name="Rectangle 17">
            <a:extLst>
              <a:ext uri="{FF2B5EF4-FFF2-40B4-BE49-F238E27FC236}">
                <a16:creationId xmlns:a16="http://schemas.microsoft.com/office/drawing/2014/main" id="{5874BB88-F465-647A-0D12-7164716106E9}"/>
              </a:ext>
            </a:extLst>
          </p:cNvPr>
          <p:cNvSpPr>
            <a:spLocks noChangeArrowheads="1"/>
          </p:cNvSpPr>
          <p:nvPr/>
        </p:nvSpPr>
        <p:spPr bwMode="auto">
          <a:xfrm>
            <a:off x="6155932" y="5962363"/>
            <a:ext cx="859211"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1600" b="1">
                <a:solidFill>
                  <a:srgbClr val="1C069E"/>
                </a:solidFill>
                <a:latin typeface="Consolas" panose="020B0609020204030204" pitchFamily="49" charset="0"/>
                <a:ea typeface="+mn-ea"/>
                <a:cs typeface="Consolas" panose="020B0609020204030204" pitchFamily="49" charset="0"/>
              </a:rPr>
              <a:t>unused</a:t>
            </a:r>
          </a:p>
        </p:txBody>
      </p:sp>
      <p:sp>
        <p:nvSpPr>
          <p:cNvPr id="45" name="Line 18">
            <a:extLst>
              <a:ext uri="{FF2B5EF4-FFF2-40B4-BE49-F238E27FC236}">
                <a16:creationId xmlns:a16="http://schemas.microsoft.com/office/drawing/2014/main" id="{E16691B0-25B2-BB37-6BAC-D0FAFBDBDA6D}"/>
              </a:ext>
            </a:extLst>
          </p:cNvPr>
          <p:cNvSpPr>
            <a:spLocks noChangeShapeType="1"/>
          </p:cNvSpPr>
          <p:nvPr/>
        </p:nvSpPr>
        <p:spPr bwMode="auto">
          <a:xfrm>
            <a:off x="5707650" y="3870038"/>
            <a:ext cx="0" cy="2168525"/>
          </a:xfrm>
          <a:prstGeom prst="line">
            <a:avLst/>
          </a:prstGeom>
          <a:noFill/>
          <a:ln w="25400">
            <a:solidFill>
              <a:srgbClr val="0000FF"/>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46" name="Rectangle 19">
            <a:extLst>
              <a:ext uri="{FF2B5EF4-FFF2-40B4-BE49-F238E27FC236}">
                <a16:creationId xmlns:a16="http://schemas.microsoft.com/office/drawing/2014/main" id="{6359973B-FD1E-2FB4-B78B-83F24C07DDE7}"/>
              </a:ext>
            </a:extLst>
          </p:cNvPr>
          <p:cNvSpPr>
            <a:spLocks noChangeArrowheads="1"/>
          </p:cNvSpPr>
          <p:nvPr/>
        </p:nvSpPr>
        <p:spPr bwMode="auto">
          <a:xfrm>
            <a:off x="5578277" y="3227986"/>
            <a:ext cx="1905000"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pPr algn="ctr" eaLnBrk="0" hangingPunct="0"/>
            <a:r>
              <a:rPr lang="zh-CN" altLang="en-US" sz="2000" b="1" dirty="0">
                <a:solidFill>
                  <a:srgbClr val="FF3300"/>
                </a:solidFill>
                <a:latin typeface="Consolas" panose="020B0609020204030204" pitchFamily="49" charset="0"/>
                <a:ea typeface="+mn-ea"/>
                <a:cs typeface="Consolas" panose="020B0609020204030204" pitchFamily="49" charset="0"/>
              </a:rPr>
              <a:t>主存储器</a:t>
            </a:r>
          </a:p>
        </p:txBody>
      </p:sp>
      <p:sp>
        <p:nvSpPr>
          <p:cNvPr id="47" name="Line 20">
            <a:extLst>
              <a:ext uri="{FF2B5EF4-FFF2-40B4-BE49-F238E27FC236}">
                <a16:creationId xmlns:a16="http://schemas.microsoft.com/office/drawing/2014/main" id="{E6B59749-6AC8-2CD0-8871-0A76727F810D}"/>
              </a:ext>
            </a:extLst>
          </p:cNvPr>
          <p:cNvSpPr>
            <a:spLocks noChangeShapeType="1"/>
          </p:cNvSpPr>
          <p:nvPr/>
        </p:nvSpPr>
        <p:spPr bwMode="auto">
          <a:xfrm flipH="1">
            <a:off x="7255581" y="3700969"/>
            <a:ext cx="304800" cy="0"/>
          </a:xfrm>
          <a:prstGeom prst="line">
            <a:avLst/>
          </a:prstGeom>
          <a:noFill/>
          <a:ln w="25400" cap="rnd">
            <a:solidFill>
              <a:srgbClr val="FF0000"/>
            </a:solidFill>
            <a:round/>
            <a:headEnd w="med" len="lg"/>
            <a:tailEnd type="triangle" w="med" len="lg"/>
          </a:ln>
          <a:extLst>
            <a:ext uri="{909E8E84-426E-40DD-AFC4-6F175D3DCCD1}">
              <a14:hiddenFill xmlns:a14="http://schemas.microsoft.com/office/drawing/2010/main">
                <a:noFill/>
              </a14:hiddenFill>
            </a:ext>
          </a:extLst>
        </p:spPr>
        <p:txBody>
          <a:bodyPr wrap="none" anchor="ctr">
            <a:spAutoFit/>
          </a:bodyPr>
          <a:lstStyle/>
          <a:p>
            <a:pPr algn="ctr"/>
            <a:endParaRPr lang="zh-CN" altLang="en-US" sz="4600" b="1">
              <a:solidFill>
                <a:srgbClr val="FF3300"/>
              </a:solidFill>
              <a:latin typeface="Consolas" panose="020B0609020204030204" pitchFamily="49" charset="0"/>
              <a:ea typeface="+mn-ea"/>
              <a:cs typeface="Consolas" panose="020B0609020204030204" pitchFamily="49" charset="0"/>
            </a:endParaRPr>
          </a:p>
        </p:txBody>
      </p:sp>
      <p:sp>
        <p:nvSpPr>
          <p:cNvPr id="48" name="Rectangle 21">
            <a:extLst>
              <a:ext uri="{FF2B5EF4-FFF2-40B4-BE49-F238E27FC236}">
                <a16:creationId xmlns:a16="http://schemas.microsoft.com/office/drawing/2014/main" id="{5817701A-175A-A0DC-4861-AEBC87034113}"/>
              </a:ext>
            </a:extLst>
          </p:cNvPr>
          <p:cNvSpPr>
            <a:spLocks noChangeArrowheads="1"/>
          </p:cNvSpPr>
          <p:nvPr/>
        </p:nvSpPr>
        <p:spPr bwMode="auto">
          <a:xfrm>
            <a:off x="6155932" y="5667088"/>
            <a:ext cx="859211"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1600" b="1">
                <a:solidFill>
                  <a:srgbClr val="1C069E"/>
                </a:solidFill>
                <a:latin typeface="Consolas" panose="020B0609020204030204" pitchFamily="49" charset="0"/>
                <a:ea typeface="+mn-ea"/>
                <a:cs typeface="Consolas" panose="020B0609020204030204" pitchFamily="49" charset="0"/>
              </a:rPr>
              <a:t>unused</a:t>
            </a:r>
          </a:p>
        </p:txBody>
      </p:sp>
      <p:sp>
        <p:nvSpPr>
          <p:cNvPr id="49" name="Rectangle 22">
            <a:extLst>
              <a:ext uri="{FF2B5EF4-FFF2-40B4-BE49-F238E27FC236}">
                <a16:creationId xmlns:a16="http://schemas.microsoft.com/office/drawing/2014/main" id="{C1FF3014-2278-D01E-9A7D-0C7F8773CC65}"/>
              </a:ext>
            </a:extLst>
          </p:cNvPr>
          <p:cNvSpPr>
            <a:spLocks noChangeArrowheads="1"/>
          </p:cNvSpPr>
          <p:nvPr/>
        </p:nvSpPr>
        <p:spPr bwMode="auto">
          <a:xfrm rot="16200000">
            <a:off x="4538656" y="4514212"/>
            <a:ext cx="1753686"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zh-CN" altLang="en-US" sz="2000" b="1" dirty="0">
                <a:solidFill>
                  <a:srgbClr val="FF3300"/>
                </a:solidFill>
                <a:latin typeface="Consolas" panose="020B0609020204030204" pitchFamily="49" charset="0"/>
                <a:ea typeface="+mn-ea"/>
                <a:cs typeface="Consolas" panose="020B0609020204030204" pitchFamily="49" charset="0"/>
              </a:rPr>
              <a:t>地址减小方向</a:t>
            </a:r>
            <a:endParaRPr lang="en-US" altLang="zh-CN" sz="2000" b="1" dirty="0">
              <a:solidFill>
                <a:srgbClr val="FF3300"/>
              </a:solidFill>
              <a:latin typeface="Consolas" panose="020B0609020204030204" pitchFamily="49" charset="0"/>
              <a:ea typeface="+mn-ea"/>
              <a:cs typeface="Consolas" panose="020B0609020204030204" pitchFamily="49" charset="0"/>
            </a:endParaRPr>
          </a:p>
        </p:txBody>
      </p:sp>
      <p:sp>
        <p:nvSpPr>
          <p:cNvPr id="50" name="Rectangle 24">
            <a:extLst>
              <a:ext uri="{FF2B5EF4-FFF2-40B4-BE49-F238E27FC236}">
                <a16:creationId xmlns:a16="http://schemas.microsoft.com/office/drawing/2014/main" id="{71EEC78A-7DCE-B2A9-1937-6C2F226CC5A1}"/>
              </a:ext>
            </a:extLst>
          </p:cNvPr>
          <p:cNvSpPr>
            <a:spLocks noChangeArrowheads="1"/>
          </p:cNvSpPr>
          <p:nvPr/>
        </p:nvSpPr>
        <p:spPr bwMode="auto">
          <a:xfrm>
            <a:off x="6152757" y="5319425"/>
            <a:ext cx="859211"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1600" b="1">
                <a:solidFill>
                  <a:srgbClr val="1C069E"/>
                </a:solidFill>
                <a:latin typeface="Consolas" panose="020B0609020204030204" pitchFamily="49" charset="0"/>
                <a:ea typeface="+mn-ea"/>
                <a:cs typeface="Consolas" panose="020B0609020204030204" pitchFamily="49" charset="0"/>
              </a:rPr>
              <a:t>unused</a:t>
            </a:r>
          </a:p>
        </p:txBody>
      </p:sp>
      <p:sp>
        <p:nvSpPr>
          <p:cNvPr id="51" name="Rectangle 25">
            <a:extLst>
              <a:ext uri="{FF2B5EF4-FFF2-40B4-BE49-F238E27FC236}">
                <a16:creationId xmlns:a16="http://schemas.microsoft.com/office/drawing/2014/main" id="{EAC93A01-E187-A3B9-B27D-817AAB054836}"/>
              </a:ext>
            </a:extLst>
          </p:cNvPr>
          <p:cNvSpPr>
            <a:spLocks noChangeArrowheads="1"/>
          </p:cNvSpPr>
          <p:nvPr/>
        </p:nvSpPr>
        <p:spPr bwMode="auto">
          <a:xfrm>
            <a:off x="6149582" y="4971763"/>
            <a:ext cx="859211"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1600" b="1">
                <a:solidFill>
                  <a:srgbClr val="1C069E"/>
                </a:solidFill>
                <a:latin typeface="Consolas" panose="020B0609020204030204" pitchFamily="49" charset="0"/>
                <a:ea typeface="+mn-ea"/>
                <a:cs typeface="Consolas" panose="020B0609020204030204" pitchFamily="49" charset="0"/>
              </a:rPr>
              <a:t>unused</a:t>
            </a:r>
          </a:p>
        </p:txBody>
      </p:sp>
      <p:sp>
        <p:nvSpPr>
          <p:cNvPr id="52" name="Rectangle 26">
            <a:extLst>
              <a:ext uri="{FF2B5EF4-FFF2-40B4-BE49-F238E27FC236}">
                <a16:creationId xmlns:a16="http://schemas.microsoft.com/office/drawing/2014/main" id="{D82810EA-2B3F-7565-5056-566271260449}"/>
              </a:ext>
            </a:extLst>
          </p:cNvPr>
          <p:cNvSpPr>
            <a:spLocks noChangeArrowheads="1"/>
          </p:cNvSpPr>
          <p:nvPr/>
        </p:nvSpPr>
        <p:spPr bwMode="auto">
          <a:xfrm>
            <a:off x="6146407" y="4709825"/>
            <a:ext cx="859211"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1600" b="1">
                <a:solidFill>
                  <a:srgbClr val="1C069E"/>
                </a:solidFill>
                <a:latin typeface="Consolas" panose="020B0609020204030204" pitchFamily="49" charset="0"/>
                <a:ea typeface="+mn-ea"/>
                <a:cs typeface="Consolas" panose="020B0609020204030204" pitchFamily="49" charset="0"/>
              </a:rPr>
              <a:t>unused</a:t>
            </a:r>
          </a:p>
        </p:txBody>
      </p:sp>
      <p:sp>
        <p:nvSpPr>
          <p:cNvPr id="53" name="Rectangle 27">
            <a:extLst>
              <a:ext uri="{FF2B5EF4-FFF2-40B4-BE49-F238E27FC236}">
                <a16:creationId xmlns:a16="http://schemas.microsoft.com/office/drawing/2014/main" id="{1D99A734-924A-013B-5307-75ACB3BCD634}"/>
              </a:ext>
            </a:extLst>
          </p:cNvPr>
          <p:cNvSpPr>
            <a:spLocks noChangeArrowheads="1"/>
          </p:cNvSpPr>
          <p:nvPr/>
        </p:nvSpPr>
        <p:spPr bwMode="auto">
          <a:xfrm>
            <a:off x="6155932" y="4360575"/>
            <a:ext cx="859211"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1600" b="1" dirty="0">
                <a:solidFill>
                  <a:srgbClr val="1C069E"/>
                </a:solidFill>
                <a:latin typeface="Consolas" panose="020B0609020204030204" pitchFamily="49" charset="0"/>
                <a:ea typeface="+mn-ea"/>
                <a:cs typeface="Consolas" panose="020B0609020204030204" pitchFamily="49" charset="0"/>
              </a:rPr>
              <a:t>unused</a:t>
            </a:r>
          </a:p>
        </p:txBody>
      </p:sp>
      <p:sp>
        <p:nvSpPr>
          <p:cNvPr id="54" name="Rectangle 28">
            <a:extLst>
              <a:ext uri="{FF2B5EF4-FFF2-40B4-BE49-F238E27FC236}">
                <a16:creationId xmlns:a16="http://schemas.microsoft.com/office/drawing/2014/main" id="{1FE186F2-5F25-6BB4-1DFD-291DC048D345}"/>
              </a:ext>
            </a:extLst>
          </p:cNvPr>
          <p:cNvSpPr>
            <a:spLocks noChangeArrowheads="1"/>
          </p:cNvSpPr>
          <p:nvPr/>
        </p:nvSpPr>
        <p:spPr bwMode="auto">
          <a:xfrm>
            <a:off x="6152757" y="4038767"/>
            <a:ext cx="859211"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1600" b="1" dirty="0">
                <a:solidFill>
                  <a:srgbClr val="1C069E"/>
                </a:solidFill>
                <a:latin typeface="Consolas" panose="020B0609020204030204" pitchFamily="49" charset="0"/>
                <a:ea typeface="+mn-ea"/>
                <a:cs typeface="Consolas" panose="020B0609020204030204" pitchFamily="49" charset="0"/>
              </a:rPr>
              <a:t>unused</a:t>
            </a:r>
          </a:p>
        </p:txBody>
      </p:sp>
      <p:sp>
        <p:nvSpPr>
          <p:cNvPr id="55" name="Rectangle 29">
            <a:extLst>
              <a:ext uri="{FF2B5EF4-FFF2-40B4-BE49-F238E27FC236}">
                <a16:creationId xmlns:a16="http://schemas.microsoft.com/office/drawing/2014/main" id="{4935F432-3D8D-2371-50B4-423E4C13521B}"/>
              </a:ext>
            </a:extLst>
          </p:cNvPr>
          <p:cNvSpPr>
            <a:spLocks noChangeArrowheads="1"/>
          </p:cNvSpPr>
          <p:nvPr/>
        </p:nvSpPr>
        <p:spPr bwMode="auto">
          <a:xfrm>
            <a:off x="6149582" y="3750975"/>
            <a:ext cx="859211"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1600" b="1">
                <a:solidFill>
                  <a:srgbClr val="1C069E"/>
                </a:solidFill>
                <a:latin typeface="Consolas" panose="020B0609020204030204" pitchFamily="49" charset="0"/>
                <a:ea typeface="+mn-ea"/>
                <a:cs typeface="Consolas" panose="020B0609020204030204" pitchFamily="49" charset="0"/>
              </a:rPr>
              <a:t>unused</a:t>
            </a:r>
          </a:p>
        </p:txBody>
      </p:sp>
      <p:sp>
        <p:nvSpPr>
          <p:cNvPr id="56" name="Rectangle 17">
            <a:extLst>
              <a:ext uri="{FF2B5EF4-FFF2-40B4-BE49-F238E27FC236}">
                <a16:creationId xmlns:a16="http://schemas.microsoft.com/office/drawing/2014/main" id="{F4B70A31-0FC6-B323-AD68-2161C8798624}"/>
              </a:ext>
            </a:extLst>
          </p:cNvPr>
          <p:cNvSpPr>
            <a:spLocks noChangeArrowheads="1"/>
          </p:cNvSpPr>
          <p:nvPr/>
        </p:nvSpPr>
        <p:spPr bwMode="auto">
          <a:xfrm>
            <a:off x="6146407" y="6303222"/>
            <a:ext cx="859211"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1600" b="1" dirty="0">
                <a:solidFill>
                  <a:srgbClr val="1C069E"/>
                </a:solidFill>
                <a:latin typeface="Consolas" panose="020B0609020204030204" pitchFamily="49" charset="0"/>
                <a:ea typeface="+mn-ea"/>
                <a:cs typeface="Consolas" panose="020B0609020204030204" pitchFamily="49" charset="0"/>
              </a:rPr>
              <a:t>unused</a:t>
            </a:r>
          </a:p>
        </p:txBody>
      </p:sp>
    </p:spTree>
    <p:extLst>
      <p:ext uri="{BB962C8B-B14F-4D97-AF65-F5344CB8AC3E}">
        <p14:creationId xmlns:p14="http://schemas.microsoft.com/office/powerpoint/2010/main" val="580245801"/>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灯片编号占位符 3">
            <a:extLst>
              <a:ext uri="{FF2B5EF4-FFF2-40B4-BE49-F238E27FC236}">
                <a16:creationId xmlns:a16="http://schemas.microsoft.com/office/drawing/2014/main" id="{F09C93A6-41D7-4B47-A78F-E636A9553D6B}"/>
              </a:ext>
            </a:extLst>
          </p:cNvPr>
          <p:cNvSpPr>
            <a:spLocks noGrp="1"/>
          </p:cNvSpPr>
          <p:nvPr>
            <p:ph type="sldNum" sz="quarter" idx="12"/>
          </p:nvPr>
        </p:nvSpPr>
        <p:spPr/>
        <p:txBody>
          <a:bodyPr/>
          <a:lstStyle/>
          <a:p>
            <a:fld id="{14659731-6BD7-46E7-8D3C-2F3AC07E20B1}" type="slidenum">
              <a:rPr lang="en-US" altLang="zh-CN" smtClean="0"/>
              <a:pPr/>
              <a:t>138</a:t>
            </a:fld>
            <a:endParaRPr lang="en-US" altLang="zh-CN"/>
          </a:p>
        </p:txBody>
      </p:sp>
      <p:sp>
        <p:nvSpPr>
          <p:cNvPr id="29702" name="Rectangle 4"/>
          <p:cNvSpPr>
            <a:spLocks noGrp="1" noChangeArrowheads="1"/>
          </p:cNvSpPr>
          <p:nvPr>
            <p:ph idx="4294967295"/>
          </p:nvPr>
        </p:nvSpPr>
        <p:spPr>
          <a:xfrm>
            <a:off x="339212" y="1302211"/>
            <a:ext cx="5041438" cy="5256213"/>
          </a:xfrm>
          <a:noFill/>
        </p:spPr>
        <p:txBody>
          <a:bodyPr lIns="92075" tIns="46038" rIns="92075" bIns="46038"/>
          <a:lstStyle/>
          <a:p>
            <a:pPr eaLnBrk="1" hangingPunct="1"/>
            <a:r>
              <a:rPr lang="zh-CN" altLang="en-US" sz="2400" dirty="0"/>
              <a:t>我们需要存储</a:t>
            </a:r>
            <a:r>
              <a:rPr lang="en-US" altLang="zh-CN" sz="2400" dirty="0"/>
              <a:t>:</a:t>
            </a:r>
          </a:p>
          <a:p>
            <a:pPr lvl="1" eaLnBrk="1" hangingPunct="1"/>
            <a:r>
              <a:rPr lang="zh-CN" altLang="en-US" sz="2000" dirty="0"/>
              <a:t>返回地址</a:t>
            </a:r>
            <a:r>
              <a:rPr lang="en-US" altLang="zh-CN" sz="2000" dirty="0"/>
              <a:t>(old </a:t>
            </a:r>
            <a:r>
              <a:rPr lang="en-US" altLang="zh-CN" sz="2000" dirty="0" err="1"/>
              <a:t>ra</a:t>
            </a:r>
            <a:r>
              <a:rPr lang="en-US" altLang="zh-CN" sz="2000" dirty="0"/>
              <a:t>)</a:t>
            </a:r>
          </a:p>
          <a:p>
            <a:pPr lvl="1" eaLnBrk="1" hangingPunct="1"/>
            <a:r>
              <a:rPr lang="zh-CN" altLang="en-US" sz="2000" dirty="0"/>
              <a:t>参数 </a:t>
            </a:r>
            <a:r>
              <a:rPr lang="en-US" altLang="zh-CN" sz="2000" dirty="0">
                <a:solidFill>
                  <a:srgbClr val="1C069E"/>
                </a:solidFill>
              </a:rPr>
              <a:t>n </a:t>
            </a:r>
            <a:r>
              <a:rPr lang="en-US" altLang="zh-CN" sz="2000" dirty="0"/>
              <a:t>in </a:t>
            </a:r>
            <a:r>
              <a:rPr lang="en-US" altLang="zh-CN" sz="2000" dirty="0">
                <a:solidFill>
                  <a:srgbClr val="1C069E"/>
                </a:solidFill>
              </a:rPr>
              <a:t>fact(n)</a:t>
            </a:r>
          </a:p>
          <a:p>
            <a:pPr lvl="1" eaLnBrk="1" hangingPunct="1"/>
            <a:r>
              <a:rPr lang="zh-CN" altLang="en-US" sz="2000" dirty="0"/>
              <a:t>临时</a:t>
            </a:r>
            <a:r>
              <a:rPr lang="en-US" altLang="zh-CN" sz="2000" dirty="0"/>
              <a:t>/</a:t>
            </a:r>
            <a:r>
              <a:rPr lang="zh-CN" altLang="en-US" sz="2000" dirty="0"/>
              <a:t>局部的变量 （在</a:t>
            </a:r>
            <a:r>
              <a:rPr lang="en-US" altLang="zh-CN" sz="2000" dirty="0">
                <a:solidFill>
                  <a:srgbClr val="1C069E"/>
                </a:solidFill>
              </a:rPr>
              <a:t>f</a:t>
            </a:r>
            <a:r>
              <a:rPr lang="zh-CN" altLang="en-US" sz="2000" dirty="0">
                <a:solidFill>
                  <a:srgbClr val="1C069E"/>
                </a:solidFill>
              </a:rPr>
              <a:t>执行过程中）</a:t>
            </a:r>
          </a:p>
          <a:p>
            <a:pPr lvl="1" eaLnBrk="1" hangingPunct="1"/>
            <a:r>
              <a:rPr lang="zh-CN" altLang="en-US" sz="2000" dirty="0"/>
              <a:t>被破坏的寄存器</a:t>
            </a:r>
          </a:p>
          <a:p>
            <a:pPr lvl="1" eaLnBrk="1" hangingPunct="1"/>
            <a:endParaRPr lang="zh-CN" altLang="en-US" sz="1900" dirty="0">
              <a:solidFill>
                <a:schemeClr val="accent2"/>
              </a:solidFill>
            </a:endParaRPr>
          </a:p>
          <a:p>
            <a:pPr eaLnBrk="1" hangingPunct="1"/>
            <a:r>
              <a:rPr lang="zh-CN" altLang="en-US" sz="2400" dirty="0"/>
              <a:t>想法</a:t>
            </a:r>
            <a:r>
              <a:rPr lang="en-US" altLang="zh-CN" sz="2400" dirty="0"/>
              <a:t>: </a:t>
            </a:r>
            <a:r>
              <a:rPr lang="zh-CN" altLang="en-US" sz="2400" dirty="0"/>
              <a:t>存在栈里</a:t>
            </a:r>
            <a:r>
              <a:rPr lang="en-US" altLang="zh-CN" sz="2400" dirty="0"/>
              <a:t>!</a:t>
            </a:r>
          </a:p>
          <a:p>
            <a:pPr lvl="1" eaLnBrk="1" hangingPunct="1"/>
            <a:r>
              <a:rPr lang="zh-CN" altLang="en-US" sz="2000" dirty="0"/>
              <a:t>增长</a:t>
            </a:r>
            <a:r>
              <a:rPr lang="en-US" altLang="zh-CN" sz="2000" dirty="0"/>
              <a:t>(PUSH </a:t>
            </a:r>
            <a:r>
              <a:rPr lang="zh-CN" altLang="en-US" sz="2000" dirty="0"/>
              <a:t>进去</a:t>
            </a:r>
            <a:r>
              <a:rPr lang="en-US" altLang="zh-CN" sz="2000" dirty="0"/>
              <a:t>) </a:t>
            </a:r>
            <a:r>
              <a:rPr lang="zh-CN" altLang="en-US" sz="2000" dirty="0"/>
              <a:t>栈，（每次调用函数时）</a:t>
            </a:r>
          </a:p>
          <a:p>
            <a:pPr lvl="1" eaLnBrk="1" hangingPunct="1"/>
            <a:r>
              <a:rPr lang="zh-CN" altLang="en-US" sz="2000" dirty="0"/>
              <a:t>缩减栈</a:t>
            </a:r>
            <a:r>
              <a:rPr lang="en-US" altLang="zh-CN" sz="2000" dirty="0"/>
              <a:t>(POP </a:t>
            </a:r>
            <a:r>
              <a:rPr lang="zh-CN" altLang="en-US" sz="2000" dirty="0"/>
              <a:t>出来</a:t>
            </a:r>
            <a:r>
              <a:rPr lang="en-US" altLang="zh-CN" sz="2000" dirty="0"/>
              <a:t>) </a:t>
            </a:r>
            <a:r>
              <a:rPr lang="zh-CN" altLang="en-US" sz="2000" dirty="0"/>
              <a:t>（每次返回时）</a:t>
            </a:r>
          </a:p>
          <a:p>
            <a:pPr lvl="1" eaLnBrk="1" hangingPunct="1"/>
            <a:r>
              <a:rPr lang="zh-CN" altLang="en-US" sz="2000" dirty="0"/>
              <a:t>每次调用都有自己的</a:t>
            </a:r>
            <a:r>
              <a:rPr lang="zh-CN" altLang="en-US" sz="2000" dirty="0">
                <a:latin typeface="Comic Sans MS" pitchFamily="66" charset="0"/>
              </a:rPr>
              <a:t>“过程调用</a:t>
            </a:r>
            <a:r>
              <a:rPr lang="zh-CN" altLang="en-US" sz="2000" dirty="0"/>
              <a:t>帧</a:t>
            </a:r>
            <a:r>
              <a:rPr lang="zh-CN" altLang="en-US" sz="2000" dirty="0">
                <a:latin typeface="Comic Sans MS" pitchFamily="66" charset="0"/>
              </a:rPr>
              <a:t>”</a:t>
            </a:r>
            <a:endParaRPr lang="zh-CN" altLang="en-US" sz="2000" dirty="0"/>
          </a:p>
        </p:txBody>
      </p:sp>
      <p:sp>
        <p:nvSpPr>
          <p:cNvPr id="29728" name="Oval 30"/>
          <p:cNvSpPr>
            <a:spLocks noChangeArrowheads="1"/>
          </p:cNvSpPr>
          <p:nvPr/>
        </p:nvSpPr>
        <p:spPr bwMode="auto">
          <a:xfrm>
            <a:off x="7192761" y="2767587"/>
            <a:ext cx="1724482" cy="799646"/>
          </a:xfrm>
          <a:prstGeom prst="rect">
            <a:avLst/>
          </a:prstGeom>
          <a:solidFill>
            <a:schemeClr val="bg2">
              <a:lumMod val="20000"/>
              <a:lumOff val="80000"/>
            </a:schemeClr>
          </a:solidFill>
          <a:ln w="19050">
            <a:noFill/>
            <a:round/>
            <a:headEnd/>
            <a:tailEnd type="none" w="lg" len="lg"/>
          </a:ln>
        </p:spPr>
        <p:txBody>
          <a:bodyPr wrap="none" lIns="0" tIns="0" rIns="0" bIns="0" anchor="ctr"/>
          <a:lstStyle/>
          <a:p>
            <a:pPr algn="ctr" eaLnBrk="0" hangingPunct="0"/>
            <a:r>
              <a:rPr lang="zh-CN" altLang="en-US" sz="2400" b="1" dirty="0">
                <a:solidFill>
                  <a:schemeClr val="tx1"/>
                </a:solidFill>
                <a:latin typeface="+mn-lt"/>
                <a:ea typeface="+mj-ea"/>
                <a:cs typeface="Consolas" panose="020B0609020204030204" pitchFamily="49" charset="0"/>
              </a:rPr>
              <a:t>例如</a:t>
            </a:r>
            <a:endParaRPr lang="zh-CN" altLang="en-US" b="1" dirty="0">
              <a:solidFill>
                <a:schemeClr val="tx1"/>
              </a:solidFill>
              <a:latin typeface="+mn-lt"/>
              <a:ea typeface="+mj-ea"/>
              <a:cs typeface="Consolas" panose="020B0609020204030204" pitchFamily="49" charset="0"/>
            </a:endParaRPr>
          </a:p>
          <a:p>
            <a:pPr algn="ctr" eaLnBrk="0" hangingPunct="0"/>
            <a:r>
              <a:rPr lang="zh-CN" altLang="en-US" sz="2400" b="1" dirty="0">
                <a:solidFill>
                  <a:schemeClr val="tx1"/>
                </a:solidFill>
                <a:latin typeface="+mn-lt"/>
                <a:ea typeface="+mj-ea"/>
                <a:cs typeface="Consolas" panose="020B0609020204030204" pitchFamily="49" charset="0"/>
              </a:rPr>
              <a:t>调用</a:t>
            </a:r>
            <a:r>
              <a:rPr lang="en-US" altLang="zh-CN" sz="2400" b="1" dirty="0">
                <a:solidFill>
                  <a:schemeClr val="tx1"/>
                </a:solidFill>
                <a:latin typeface="+mn-lt"/>
                <a:ea typeface="+mj-ea"/>
                <a:cs typeface="Consolas" panose="020B0609020204030204" pitchFamily="49" charset="0"/>
              </a:rPr>
              <a:t>fact(2)</a:t>
            </a:r>
            <a:endParaRPr lang="en-US" altLang="zh-CN" b="1" dirty="0">
              <a:solidFill>
                <a:schemeClr val="tx1"/>
              </a:solidFill>
              <a:latin typeface="+mn-lt"/>
              <a:ea typeface="+mj-ea"/>
              <a:cs typeface="Consolas" panose="020B0609020204030204" pitchFamily="49" charset="0"/>
            </a:endParaRPr>
          </a:p>
        </p:txBody>
      </p:sp>
      <p:sp>
        <p:nvSpPr>
          <p:cNvPr id="35" name="Rectangle 23">
            <a:extLst>
              <a:ext uri="{FF2B5EF4-FFF2-40B4-BE49-F238E27FC236}">
                <a16:creationId xmlns:a16="http://schemas.microsoft.com/office/drawing/2014/main" id="{F6AC55A4-4FC4-42A9-B254-67833D3532B5}"/>
              </a:ext>
            </a:extLst>
          </p:cNvPr>
          <p:cNvSpPr>
            <a:spLocks noChangeArrowheads="1"/>
          </p:cNvSpPr>
          <p:nvPr/>
        </p:nvSpPr>
        <p:spPr bwMode="auto">
          <a:xfrm>
            <a:off x="5111468" y="1282357"/>
            <a:ext cx="3731791" cy="203196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spAutoFit/>
          </a:bodyPr>
          <a:lstStyle/>
          <a:p>
            <a:pPr algn="l" eaLnBrk="0" hangingPunct="0"/>
            <a:r>
              <a:rPr lang="en-US" altLang="zh-CN" sz="1800" b="1" i="1" dirty="0" err="1">
                <a:solidFill>
                  <a:srgbClr val="1C069E"/>
                </a:solidFill>
                <a:latin typeface="Consolas" panose="020B0609020204030204" pitchFamily="49" charset="0"/>
              </a:rPr>
              <a:t>int</a:t>
            </a:r>
            <a:r>
              <a:rPr lang="en-US" altLang="zh-CN" sz="1800" b="1" i="1" dirty="0">
                <a:solidFill>
                  <a:srgbClr val="1C069E"/>
                </a:solidFill>
                <a:latin typeface="Consolas" panose="020B0609020204030204" pitchFamily="49" charset="0"/>
              </a:rPr>
              <a:t> fact( </a:t>
            </a:r>
            <a:r>
              <a:rPr lang="en-US" altLang="zh-CN" sz="1800" b="1" i="1" dirty="0" err="1">
                <a:solidFill>
                  <a:srgbClr val="1C069E"/>
                </a:solidFill>
                <a:latin typeface="Consolas" panose="020B0609020204030204" pitchFamily="49" charset="0"/>
              </a:rPr>
              <a:t>int</a:t>
            </a:r>
            <a:r>
              <a:rPr lang="en-US" altLang="zh-CN" sz="1800" b="1" i="1" dirty="0">
                <a:solidFill>
                  <a:srgbClr val="1C069E"/>
                </a:solidFill>
                <a:latin typeface="Consolas" panose="020B0609020204030204" pitchFamily="49" charset="0"/>
              </a:rPr>
              <a:t> n )</a:t>
            </a:r>
          </a:p>
          <a:p>
            <a:pPr algn="l" eaLnBrk="0" hangingPunct="0"/>
            <a:r>
              <a:rPr lang="en-US" altLang="zh-CN" sz="1800" b="1" i="1" dirty="0">
                <a:solidFill>
                  <a:srgbClr val="1C069E"/>
                </a:solidFill>
                <a:latin typeface="Consolas" panose="020B0609020204030204" pitchFamily="49" charset="0"/>
              </a:rPr>
              <a:t>{</a:t>
            </a:r>
          </a:p>
          <a:p>
            <a:pPr algn="l" eaLnBrk="0" hangingPunct="0"/>
            <a:r>
              <a:rPr lang="en-US" altLang="zh-CN" sz="1800" b="1" i="1" dirty="0">
                <a:solidFill>
                  <a:srgbClr val="1C069E"/>
                </a:solidFill>
                <a:latin typeface="Consolas" panose="020B0609020204030204" pitchFamily="49" charset="0"/>
              </a:rPr>
              <a:t>   if (n &gt; 0)</a:t>
            </a:r>
          </a:p>
          <a:p>
            <a:pPr algn="l" eaLnBrk="0" hangingPunct="0"/>
            <a:r>
              <a:rPr lang="en-US" altLang="zh-CN" sz="1800" b="1" i="1" dirty="0">
                <a:solidFill>
                  <a:srgbClr val="1C069E"/>
                </a:solidFill>
                <a:latin typeface="Consolas" panose="020B0609020204030204" pitchFamily="49" charset="0"/>
              </a:rPr>
              <a:t>     return fact( n-1 ) * n;</a:t>
            </a:r>
          </a:p>
          <a:p>
            <a:pPr algn="l" eaLnBrk="0" hangingPunct="0"/>
            <a:r>
              <a:rPr lang="en-US" altLang="zh-CN" sz="1800" b="1" i="1" dirty="0">
                <a:solidFill>
                  <a:srgbClr val="1C069E"/>
                </a:solidFill>
                <a:latin typeface="Consolas" panose="020B0609020204030204" pitchFamily="49" charset="0"/>
              </a:rPr>
              <a:t>   else</a:t>
            </a:r>
          </a:p>
          <a:p>
            <a:pPr algn="l" eaLnBrk="0" hangingPunct="0"/>
            <a:r>
              <a:rPr lang="en-US" altLang="zh-CN" sz="1800" b="1" i="1" dirty="0">
                <a:solidFill>
                  <a:srgbClr val="1C069E"/>
                </a:solidFill>
                <a:latin typeface="Consolas" panose="020B0609020204030204" pitchFamily="49" charset="0"/>
              </a:rPr>
              <a:t>     return 1 ;</a:t>
            </a:r>
          </a:p>
          <a:p>
            <a:pPr algn="l" eaLnBrk="0" hangingPunct="0"/>
            <a:r>
              <a:rPr lang="en-US" altLang="zh-CN" sz="1800" b="1" i="1" dirty="0">
                <a:solidFill>
                  <a:srgbClr val="1C069E"/>
                </a:solidFill>
                <a:latin typeface="Consolas" panose="020B0609020204030204" pitchFamily="49" charset="0"/>
              </a:rPr>
              <a:t>}</a:t>
            </a:r>
          </a:p>
        </p:txBody>
      </p:sp>
      <p:sp>
        <p:nvSpPr>
          <p:cNvPr id="2" name="Title 4">
            <a:extLst>
              <a:ext uri="{FF2B5EF4-FFF2-40B4-BE49-F238E27FC236}">
                <a16:creationId xmlns:a16="http://schemas.microsoft.com/office/drawing/2014/main" id="{9F92B80D-E2F8-51FE-09CD-9857D89281EB}"/>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dirty="0"/>
              <a:t>编程指南：过程调用</a:t>
            </a:r>
            <a:endParaRPr lang="en-CN" kern="0" dirty="0"/>
          </a:p>
        </p:txBody>
      </p:sp>
      <p:sp>
        <p:nvSpPr>
          <p:cNvPr id="3" name="Rectangle 5">
            <a:extLst>
              <a:ext uri="{FF2B5EF4-FFF2-40B4-BE49-F238E27FC236}">
                <a16:creationId xmlns:a16="http://schemas.microsoft.com/office/drawing/2014/main" id="{EF9164D0-7826-6CD5-92B6-240652347EF3}"/>
              </a:ext>
            </a:extLst>
          </p:cNvPr>
          <p:cNvSpPr>
            <a:spLocks noChangeArrowheads="1"/>
          </p:cNvSpPr>
          <p:nvPr/>
        </p:nvSpPr>
        <p:spPr bwMode="auto">
          <a:xfrm>
            <a:off x="7543259" y="4524369"/>
            <a:ext cx="750205"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2000" b="1" i="1" dirty="0">
                <a:solidFill>
                  <a:srgbClr val="1C069E"/>
                </a:solidFill>
                <a:latin typeface="Consolas" panose="020B0609020204030204" pitchFamily="49" charset="0"/>
                <a:ea typeface="+mn-ea"/>
                <a:cs typeface="Consolas" panose="020B0609020204030204" pitchFamily="49" charset="0"/>
              </a:rPr>
              <a:t>&lt;SP&gt;</a:t>
            </a:r>
          </a:p>
        </p:txBody>
      </p:sp>
      <p:sp>
        <p:nvSpPr>
          <p:cNvPr id="4" name="Line 6">
            <a:extLst>
              <a:ext uri="{FF2B5EF4-FFF2-40B4-BE49-F238E27FC236}">
                <a16:creationId xmlns:a16="http://schemas.microsoft.com/office/drawing/2014/main" id="{C8FB902B-3713-A725-A764-0B9DEE444FDC}"/>
              </a:ext>
            </a:extLst>
          </p:cNvPr>
          <p:cNvSpPr>
            <a:spLocks noChangeShapeType="1"/>
          </p:cNvSpPr>
          <p:nvPr/>
        </p:nvSpPr>
        <p:spPr bwMode="auto">
          <a:xfrm>
            <a:off x="5866400" y="3647788"/>
            <a:ext cx="0" cy="2979736"/>
          </a:xfrm>
          <a:prstGeom prst="line">
            <a:avLst/>
          </a:prstGeom>
          <a:noFill/>
          <a:ln w="254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5" name="Line 7">
            <a:extLst>
              <a:ext uri="{FF2B5EF4-FFF2-40B4-BE49-F238E27FC236}">
                <a16:creationId xmlns:a16="http://schemas.microsoft.com/office/drawing/2014/main" id="{9E78860C-83D0-6E33-E4D5-2A63E68D699B}"/>
              </a:ext>
            </a:extLst>
          </p:cNvPr>
          <p:cNvSpPr>
            <a:spLocks noChangeShapeType="1"/>
          </p:cNvSpPr>
          <p:nvPr/>
        </p:nvSpPr>
        <p:spPr bwMode="auto">
          <a:xfrm>
            <a:off x="7238000" y="3647787"/>
            <a:ext cx="0" cy="2979737"/>
          </a:xfrm>
          <a:prstGeom prst="line">
            <a:avLst/>
          </a:prstGeom>
          <a:noFill/>
          <a:ln w="254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6" name="Line 8">
            <a:extLst>
              <a:ext uri="{FF2B5EF4-FFF2-40B4-BE49-F238E27FC236}">
                <a16:creationId xmlns:a16="http://schemas.microsoft.com/office/drawing/2014/main" id="{0D350CB7-3CDB-8C0B-C08C-0B1A0831D5BA}"/>
              </a:ext>
            </a:extLst>
          </p:cNvPr>
          <p:cNvSpPr>
            <a:spLocks noChangeShapeType="1"/>
          </p:cNvSpPr>
          <p:nvPr/>
        </p:nvSpPr>
        <p:spPr bwMode="auto">
          <a:xfrm>
            <a:off x="5871163" y="4022438"/>
            <a:ext cx="1366837" cy="0"/>
          </a:xfrm>
          <a:prstGeom prst="line">
            <a:avLst/>
          </a:prstGeom>
          <a:noFill/>
          <a:ln w="127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7" name="Line 9">
            <a:extLst>
              <a:ext uri="{FF2B5EF4-FFF2-40B4-BE49-F238E27FC236}">
                <a16:creationId xmlns:a16="http://schemas.microsoft.com/office/drawing/2014/main" id="{AADC6B8D-EBC2-B70C-5F2F-90A4689292FB}"/>
              </a:ext>
            </a:extLst>
          </p:cNvPr>
          <p:cNvSpPr>
            <a:spLocks noChangeShapeType="1"/>
          </p:cNvSpPr>
          <p:nvPr/>
        </p:nvSpPr>
        <p:spPr bwMode="auto">
          <a:xfrm>
            <a:off x="5871163" y="4713000"/>
            <a:ext cx="1366837" cy="0"/>
          </a:xfrm>
          <a:prstGeom prst="line">
            <a:avLst/>
          </a:prstGeom>
          <a:noFill/>
          <a:ln w="508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8" name="Line 10">
            <a:extLst>
              <a:ext uri="{FF2B5EF4-FFF2-40B4-BE49-F238E27FC236}">
                <a16:creationId xmlns:a16="http://schemas.microsoft.com/office/drawing/2014/main" id="{38227DDA-CA7C-C030-2633-76CF24A45192}"/>
              </a:ext>
            </a:extLst>
          </p:cNvPr>
          <p:cNvSpPr>
            <a:spLocks noChangeShapeType="1"/>
          </p:cNvSpPr>
          <p:nvPr/>
        </p:nvSpPr>
        <p:spPr bwMode="auto">
          <a:xfrm>
            <a:off x="5871163" y="4398675"/>
            <a:ext cx="1366837" cy="0"/>
          </a:xfrm>
          <a:prstGeom prst="line">
            <a:avLst/>
          </a:prstGeom>
          <a:noFill/>
          <a:ln w="127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9" name="Line 11">
            <a:extLst>
              <a:ext uri="{FF2B5EF4-FFF2-40B4-BE49-F238E27FC236}">
                <a16:creationId xmlns:a16="http://schemas.microsoft.com/office/drawing/2014/main" id="{F72D7DE3-BC72-369D-C9FA-1B8903FBF26E}"/>
              </a:ext>
            </a:extLst>
          </p:cNvPr>
          <p:cNvSpPr>
            <a:spLocks noChangeShapeType="1"/>
          </p:cNvSpPr>
          <p:nvPr/>
        </p:nvSpPr>
        <p:spPr bwMode="auto">
          <a:xfrm>
            <a:off x="5871163" y="3709700"/>
            <a:ext cx="1366837" cy="0"/>
          </a:xfrm>
          <a:prstGeom prst="line">
            <a:avLst/>
          </a:prstGeom>
          <a:noFill/>
          <a:ln w="508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10" name="Line 12">
            <a:extLst>
              <a:ext uri="{FF2B5EF4-FFF2-40B4-BE49-F238E27FC236}">
                <a16:creationId xmlns:a16="http://schemas.microsoft.com/office/drawing/2014/main" id="{DB6AB169-8D62-8158-2CE6-FA769CF4681A}"/>
              </a:ext>
            </a:extLst>
          </p:cNvPr>
          <p:cNvSpPr>
            <a:spLocks noChangeShapeType="1"/>
          </p:cNvSpPr>
          <p:nvPr/>
        </p:nvSpPr>
        <p:spPr bwMode="auto">
          <a:xfrm>
            <a:off x="5871163" y="5025738"/>
            <a:ext cx="1366837" cy="0"/>
          </a:xfrm>
          <a:prstGeom prst="line">
            <a:avLst/>
          </a:prstGeom>
          <a:noFill/>
          <a:ln w="127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11" name="Line 13">
            <a:extLst>
              <a:ext uri="{FF2B5EF4-FFF2-40B4-BE49-F238E27FC236}">
                <a16:creationId xmlns:a16="http://schemas.microsoft.com/office/drawing/2014/main" id="{E36ABF4B-D2AD-CC55-9125-C2DA358385F4}"/>
              </a:ext>
            </a:extLst>
          </p:cNvPr>
          <p:cNvSpPr>
            <a:spLocks noChangeShapeType="1"/>
          </p:cNvSpPr>
          <p:nvPr/>
        </p:nvSpPr>
        <p:spPr bwMode="auto">
          <a:xfrm>
            <a:off x="5871163" y="5338475"/>
            <a:ext cx="1366837" cy="0"/>
          </a:xfrm>
          <a:prstGeom prst="line">
            <a:avLst/>
          </a:prstGeom>
          <a:noFill/>
          <a:ln w="127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12" name="Line 14">
            <a:extLst>
              <a:ext uri="{FF2B5EF4-FFF2-40B4-BE49-F238E27FC236}">
                <a16:creationId xmlns:a16="http://schemas.microsoft.com/office/drawing/2014/main" id="{207A6413-57CF-76E0-0790-1ED18B7D8360}"/>
              </a:ext>
            </a:extLst>
          </p:cNvPr>
          <p:cNvSpPr>
            <a:spLocks noChangeShapeType="1"/>
          </p:cNvSpPr>
          <p:nvPr/>
        </p:nvSpPr>
        <p:spPr bwMode="auto">
          <a:xfrm>
            <a:off x="5871163" y="5652800"/>
            <a:ext cx="1366837" cy="0"/>
          </a:xfrm>
          <a:prstGeom prst="line">
            <a:avLst/>
          </a:prstGeom>
          <a:noFill/>
          <a:ln w="508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13" name="Line 15">
            <a:extLst>
              <a:ext uri="{FF2B5EF4-FFF2-40B4-BE49-F238E27FC236}">
                <a16:creationId xmlns:a16="http://schemas.microsoft.com/office/drawing/2014/main" id="{510EEB9B-6616-46D9-19BD-34F609E5B544}"/>
              </a:ext>
            </a:extLst>
          </p:cNvPr>
          <p:cNvSpPr>
            <a:spLocks noChangeShapeType="1"/>
          </p:cNvSpPr>
          <p:nvPr/>
        </p:nvSpPr>
        <p:spPr bwMode="auto">
          <a:xfrm>
            <a:off x="5871163" y="5967125"/>
            <a:ext cx="1366837" cy="0"/>
          </a:xfrm>
          <a:prstGeom prst="line">
            <a:avLst/>
          </a:prstGeom>
          <a:noFill/>
          <a:ln w="127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14" name="Line 16">
            <a:extLst>
              <a:ext uri="{FF2B5EF4-FFF2-40B4-BE49-F238E27FC236}">
                <a16:creationId xmlns:a16="http://schemas.microsoft.com/office/drawing/2014/main" id="{C2C0E95E-2AD7-7CDB-6A16-0D6A32D7184C}"/>
              </a:ext>
            </a:extLst>
          </p:cNvPr>
          <p:cNvSpPr>
            <a:spLocks noChangeShapeType="1"/>
          </p:cNvSpPr>
          <p:nvPr/>
        </p:nvSpPr>
        <p:spPr bwMode="auto">
          <a:xfrm>
            <a:off x="5871163" y="6279863"/>
            <a:ext cx="1366837" cy="0"/>
          </a:xfrm>
          <a:prstGeom prst="line">
            <a:avLst/>
          </a:prstGeom>
          <a:noFill/>
          <a:ln w="127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15" name="Rectangle 17">
            <a:extLst>
              <a:ext uri="{FF2B5EF4-FFF2-40B4-BE49-F238E27FC236}">
                <a16:creationId xmlns:a16="http://schemas.microsoft.com/office/drawing/2014/main" id="{BAE9076B-27B0-8007-B6B3-5F35EB66CDAD}"/>
              </a:ext>
            </a:extLst>
          </p:cNvPr>
          <p:cNvSpPr>
            <a:spLocks noChangeArrowheads="1"/>
          </p:cNvSpPr>
          <p:nvPr/>
        </p:nvSpPr>
        <p:spPr bwMode="auto">
          <a:xfrm>
            <a:off x="6155932" y="5962363"/>
            <a:ext cx="859211"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1600" b="1">
                <a:solidFill>
                  <a:srgbClr val="1C069E"/>
                </a:solidFill>
                <a:latin typeface="Consolas" panose="020B0609020204030204" pitchFamily="49" charset="0"/>
                <a:ea typeface="+mn-ea"/>
                <a:cs typeface="Consolas" panose="020B0609020204030204" pitchFamily="49" charset="0"/>
              </a:rPr>
              <a:t>unused</a:t>
            </a:r>
          </a:p>
        </p:txBody>
      </p:sp>
      <p:sp>
        <p:nvSpPr>
          <p:cNvPr id="16" name="Line 18">
            <a:extLst>
              <a:ext uri="{FF2B5EF4-FFF2-40B4-BE49-F238E27FC236}">
                <a16:creationId xmlns:a16="http://schemas.microsoft.com/office/drawing/2014/main" id="{FE0600EE-10A9-0DA7-EA21-1F09366DAC45}"/>
              </a:ext>
            </a:extLst>
          </p:cNvPr>
          <p:cNvSpPr>
            <a:spLocks noChangeShapeType="1"/>
          </p:cNvSpPr>
          <p:nvPr/>
        </p:nvSpPr>
        <p:spPr bwMode="auto">
          <a:xfrm>
            <a:off x="5707650" y="3870038"/>
            <a:ext cx="0" cy="2168525"/>
          </a:xfrm>
          <a:prstGeom prst="line">
            <a:avLst/>
          </a:prstGeom>
          <a:noFill/>
          <a:ln w="25400">
            <a:solidFill>
              <a:srgbClr val="0000FF"/>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17" name="Rectangle 19">
            <a:extLst>
              <a:ext uri="{FF2B5EF4-FFF2-40B4-BE49-F238E27FC236}">
                <a16:creationId xmlns:a16="http://schemas.microsoft.com/office/drawing/2014/main" id="{EAC4B05B-110C-D656-9BFB-01BDC7AA090D}"/>
              </a:ext>
            </a:extLst>
          </p:cNvPr>
          <p:cNvSpPr>
            <a:spLocks noChangeArrowheads="1"/>
          </p:cNvSpPr>
          <p:nvPr/>
        </p:nvSpPr>
        <p:spPr bwMode="auto">
          <a:xfrm>
            <a:off x="5578277" y="3227986"/>
            <a:ext cx="1905000"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pPr algn="ctr" eaLnBrk="0" hangingPunct="0"/>
            <a:r>
              <a:rPr lang="zh-CN" altLang="en-US" sz="2000" b="1" dirty="0">
                <a:solidFill>
                  <a:srgbClr val="FF3300"/>
                </a:solidFill>
                <a:latin typeface="Consolas" panose="020B0609020204030204" pitchFamily="49" charset="0"/>
                <a:ea typeface="+mn-ea"/>
                <a:cs typeface="Consolas" panose="020B0609020204030204" pitchFamily="49" charset="0"/>
              </a:rPr>
              <a:t>主存储器</a:t>
            </a:r>
          </a:p>
        </p:txBody>
      </p:sp>
      <p:sp>
        <p:nvSpPr>
          <p:cNvPr id="18" name="Line 20">
            <a:extLst>
              <a:ext uri="{FF2B5EF4-FFF2-40B4-BE49-F238E27FC236}">
                <a16:creationId xmlns:a16="http://schemas.microsoft.com/office/drawing/2014/main" id="{DFA6AFBD-51F9-FA8B-3A64-DEF6C32D6ACA}"/>
              </a:ext>
            </a:extLst>
          </p:cNvPr>
          <p:cNvSpPr>
            <a:spLocks noChangeShapeType="1"/>
          </p:cNvSpPr>
          <p:nvPr/>
        </p:nvSpPr>
        <p:spPr bwMode="auto">
          <a:xfrm flipH="1">
            <a:off x="7255581" y="4706956"/>
            <a:ext cx="304800" cy="0"/>
          </a:xfrm>
          <a:prstGeom prst="line">
            <a:avLst/>
          </a:prstGeom>
          <a:noFill/>
          <a:ln w="25400" cap="rnd">
            <a:solidFill>
              <a:srgbClr val="FF0000"/>
            </a:solidFill>
            <a:round/>
            <a:headEnd w="med" len="lg"/>
            <a:tailEnd type="triangle" w="med" len="lg"/>
          </a:ln>
          <a:extLst>
            <a:ext uri="{909E8E84-426E-40DD-AFC4-6F175D3DCCD1}">
              <a14:hiddenFill xmlns:a14="http://schemas.microsoft.com/office/drawing/2010/main">
                <a:noFill/>
              </a14:hiddenFill>
            </a:ext>
          </a:extLst>
        </p:spPr>
        <p:txBody>
          <a:bodyPr wrap="none" anchor="ctr">
            <a:spAutoFit/>
          </a:bodyPr>
          <a:lstStyle/>
          <a:p>
            <a:pPr algn="ctr"/>
            <a:endParaRPr lang="zh-CN" altLang="en-US" sz="4600" b="1">
              <a:solidFill>
                <a:srgbClr val="FF3300"/>
              </a:solidFill>
              <a:latin typeface="Consolas" panose="020B0609020204030204" pitchFamily="49" charset="0"/>
              <a:ea typeface="+mn-ea"/>
              <a:cs typeface="Consolas" panose="020B0609020204030204" pitchFamily="49" charset="0"/>
            </a:endParaRPr>
          </a:p>
        </p:txBody>
      </p:sp>
      <p:sp>
        <p:nvSpPr>
          <p:cNvPr id="19" name="Rectangle 21">
            <a:extLst>
              <a:ext uri="{FF2B5EF4-FFF2-40B4-BE49-F238E27FC236}">
                <a16:creationId xmlns:a16="http://schemas.microsoft.com/office/drawing/2014/main" id="{85AD38C9-D842-25FA-880A-9EB639C7F476}"/>
              </a:ext>
            </a:extLst>
          </p:cNvPr>
          <p:cNvSpPr>
            <a:spLocks noChangeArrowheads="1"/>
          </p:cNvSpPr>
          <p:nvPr/>
        </p:nvSpPr>
        <p:spPr bwMode="auto">
          <a:xfrm>
            <a:off x="6155932" y="5667088"/>
            <a:ext cx="859211"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1600" b="1">
                <a:solidFill>
                  <a:srgbClr val="1C069E"/>
                </a:solidFill>
                <a:latin typeface="Consolas" panose="020B0609020204030204" pitchFamily="49" charset="0"/>
                <a:ea typeface="+mn-ea"/>
                <a:cs typeface="Consolas" panose="020B0609020204030204" pitchFamily="49" charset="0"/>
              </a:rPr>
              <a:t>unused</a:t>
            </a:r>
          </a:p>
        </p:txBody>
      </p:sp>
      <p:sp>
        <p:nvSpPr>
          <p:cNvPr id="20" name="Rectangle 22">
            <a:extLst>
              <a:ext uri="{FF2B5EF4-FFF2-40B4-BE49-F238E27FC236}">
                <a16:creationId xmlns:a16="http://schemas.microsoft.com/office/drawing/2014/main" id="{0968BE00-554B-910D-CA51-57FF1316406F}"/>
              </a:ext>
            </a:extLst>
          </p:cNvPr>
          <p:cNvSpPr>
            <a:spLocks noChangeArrowheads="1"/>
          </p:cNvSpPr>
          <p:nvPr/>
        </p:nvSpPr>
        <p:spPr bwMode="auto">
          <a:xfrm rot="16200000">
            <a:off x="4538656" y="4514212"/>
            <a:ext cx="1753686"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zh-CN" altLang="en-US" sz="2000" b="1" dirty="0">
                <a:solidFill>
                  <a:srgbClr val="FF3300"/>
                </a:solidFill>
                <a:latin typeface="Consolas" panose="020B0609020204030204" pitchFamily="49" charset="0"/>
                <a:ea typeface="+mn-ea"/>
                <a:cs typeface="Consolas" panose="020B0609020204030204" pitchFamily="49" charset="0"/>
              </a:rPr>
              <a:t>地址减小方向</a:t>
            </a:r>
            <a:endParaRPr lang="en-US" altLang="zh-CN" sz="2000" b="1" dirty="0">
              <a:solidFill>
                <a:srgbClr val="FF3300"/>
              </a:solidFill>
              <a:latin typeface="Consolas" panose="020B0609020204030204" pitchFamily="49" charset="0"/>
              <a:ea typeface="+mn-ea"/>
              <a:cs typeface="Consolas" panose="020B0609020204030204" pitchFamily="49" charset="0"/>
            </a:endParaRPr>
          </a:p>
        </p:txBody>
      </p:sp>
      <p:sp>
        <p:nvSpPr>
          <p:cNvPr id="21" name="Rectangle 24">
            <a:extLst>
              <a:ext uri="{FF2B5EF4-FFF2-40B4-BE49-F238E27FC236}">
                <a16:creationId xmlns:a16="http://schemas.microsoft.com/office/drawing/2014/main" id="{445F69E4-04F6-6FF3-7E34-41BE3051267D}"/>
              </a:ext>
            </a:extLst>
          </p:cNvPr>
          <p:cNvSpPr>
            <a:spLocks noChangeArrowheads="1"/>
          </p:cNvSpPr>
          <p:nvPr/>
        </p:nvSpPr>
        <p:spPr bwMode="auto">
          <a:xfrm>
            <a:off x="6152757" y="5319425"/>
            <a:ext cx="859211"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1600" b="1">
                <a:solidFill>
                  <a:srgbClr val="1C069E"/>
                </a:solidFill>
                <a:latin typeface="Consolas" panose="020B0609020204030204" pitchFamily="49" charset="0"/>
                <a:ea typeface="+mn-ea"/>
                <a:cs typeface="Consolas" panose="020B0609020204030204" pitchFamily="49" charset="0"/>
              </a:rPr>
              <a:t>unused</a:t>
            </a:r>
          </a:p>
        </p:txBody>
      </p:sp>
      <p:sp>
        <p:nvSpPr>
          <p:cNvPr id="22" name="Rectangle 25">
            <a:extLst>
              <a:ext uri="{FF2B5EF4-FFF2-40B4-BE49-F238E27FC236}">
                <a16:creationId xmlns:a16="http://schemas.microsoft.com/office/drawing/2014/main" id="{AD8C51E2-1C3C-4798-0E75-09C160433147}"/>
              </a:ext>
            </a:extLst>
          </p:cNvPr>
          <p:cNvSpPr>
            <a:spLocks noChangeArrowheads="1"/>
          </p:cNvSpPr>
          <p:nvPr/>
        </p:nvSpPr>
        <p:spPr bwMode="auto">
          <a:xfrm>
            <a:off x="6149582" y="4971763"/>
            <a:ext cx="859211"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1600" b="1">
                <a:solidFill>
                  <a:srgbClr val="1C069E"/>
                </a:solidFill>
                <a:latin typeface="Consolas" panose="020B0609020204030204" pitchFamily="49" charset="0"/>
                <a:ea typeface="+mn-ea"/>
                <a:cs typeface="Consolas" panose="020B0609020204030204" pitchFamily="49" charset="0"/>
              </a:rPr>
              <a:t>unused</a:t>
            </a:r>
          </a:p>
        </p:txBody>
      </p:sp>
      <p:sp>
        <p:nvSpPr>
          <p:cNvPr id="23" name="Rectangle 26">
            <a:extLst>
              <a:ext uri="{FF2B5EF4-FFF2-40B4-BE49-F238E27FC236}">
                <a16:creationId xmlns:a16="http://schemas.microsoft.com/office/drawing/2014/main" id="{D9F9A370-F898-D4BE-25F9-36F12591A0DA}"/>
              </a:ext>
            </a:extLst>
          </p:cNvPr>
          <p:cNvSpPr>
            <a:spLocks noChangeArrowheads="1"/>
          </p:cNvSpPr>
          <p:nvPr/>
        </p:nvSpPr>
        <p:spPr bwMode="auto">
          <a:xfrm>
            <a:off x="6146407" y="4709825"/>
            <a:ext cx="859211"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1600" b="1">
                <a:solidFill>
                  <a:srgbClr val="1C069E"/>
                </a:solidFill>
                <a:latin typeface="Consolas" panose="020B0609020204030204" pitchFamily="49" charset="0"/>
                <a:ea typeface="+mn-ea"/>
                <a:cs typeface="Consolas" panose="020B0609020204030204" pitchFamily="49" charset="0"/>
              </a:rPr>
              <a:t>unused</a:t>
            </a:r>
          </a:p>
        </p:txBody>
      </p:sp>
      <p:sp>
        <p:nvSpPr>
          <p:cNvPr id="24" name="Rectangle 27">
            <a:extLst>
              <a:ext uri="{FF2B5EF4-FFF2-40B4-BE49-F238E27FC236}">
                <a16:creationId xmlns:a16="http://schemas.microsoft.com/office/drawing/2014/main" id="{5C024334-A7C6-B3FD-A0FD-3BA744477E83}"/>
              </a:ext>
            </a:extLst>
          </p:cNvPr>
          <p:cNvSpPr>
            <a:spLocks noChangeArrowheads="1"/>
          </p:cNvSpPr>
          <p:nvPr/>
        </p:nvSpPr>
        <p:spPr bwMode="auto">
          <a:xfrm>
            <a:off x="5987619" y="4360575"/>
            <a:ext cx="1195841"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1600" b="1" dirty="0">
                <a:solidFill>
                  <a:srgbClr val="1C069E"/>
                </a:solidFill>
                <a:latin typeface="Consolas" panose="020B0609020204030204" pitchFamily="49" charset="0"/>
                <a:ea typeface="+mn-ea"/>
                <a:cs typeface="Consolas" panose="020B0609020204030204" pitchFamily="49" charset="0"/>
              </a:rPr>
              <a:t>temp vars</a:t>
            </a:r>
          </a:p>
        </p:txBody>
      </p:sp>
      <p:sp>
        <p:nvSpPr>
          <p:cNvPr id="25" name="Rectangle 28">
            <a:extLst>
              <a:ext uri="{FF2B5EF4-FFF2-40B4-BE49-F238E27FC236}">
                <a16:creationId xmlns:a16="http://schemas.microsoft.com/office/drawing/2014/main" id="{3B8A7AA5-6CFB-0700-A01B-415BB57F4BBD}"/>
              </a:ext>
            </a:extLst>
          </p:cNvPr>
          <p:cNvSpPr>
            <a:spLocks noChangeArrowheads="1"/>
          </p:cNvSpPr>
          <p:nvPr/>
        </p:nvSpPr>
        <p:spPr bwMode="auto">
          <a:xfrm>
            <a:off x="5872235" y="4038767"/>
            <a:ext cx="1420261"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1600" b="1" dirty="0">
                <a:solidFill>
                  <a:srgbClr val="1C069E"/>
                </a:solidFill>
                <a:latin typeface="Consolas" panose="020B0609020204030204" pitchFamily="49" charset="0"/>
                <a:ea typeface="+mn-ea"/>
                <a:cs typeface="Consolas" panose="020B0609020204030204" pitchFamily="49" charset="0"/>
              </a:rPr>
              <a:t>return addr</a:t>
            </a:r>
          </a:p>
        </p:txBody>
      </p:sp>
      <p:sp>
        <p:nvSpPr>
          <p:cNvPr id="26" name="Rectangle 29">
            <a:extLst>
              <a:ext uri="{FF2B5EF4-FFF2-40B4-BE49-F238E27FC236}">
                <a16:creationId xmlns:a16="http://schemas.microsoft.com/office/drawing/2014/main" id="{C6AD0C25-31A5-3917-76AE-508ED524BE46}"/>
              </a:ext>
            </a:extLst>
          </p:cNvPr>
          <p:cNvSpPr>
            <a:spLocks noChangeArrowheads="1"/>
          </p:cNvSpPr>
          <p:nvPr/>
        </p:nvSpPr>
        <p:spPr bwMode="auto">
          <a:xfrm>
            <a:off x="6430107" y="3750975"/>
            <a:ext cx="298160"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1600" b="1" dirty="0">
                <a:solidFill>
                  <a:srgbClr val="1C069E"/>
                </a:solidFill>
                <a:latin typeface="Consolas" panose="020B0609020204030204" pitchFamily="49" charset="0"/>
                <a:ea typeface="+mn-ea"/>
                <a:cs typeface="Consolas" panose="020B0609020204030204" pitchFamily="49" charset="0"/>
              </a:rPr>
              <a:t>2</a:t>
            </a:r>
          </a:p>
        </p:txBody>
      </p:sp>
      <p:sp>
        <p:nvSpPr>
          <p:cNvPr id="27" name="Rectangle 17">
            <a:extLst>
              <a:ext uri="{FF2B5EF4-FFF2-40B4-BE49-F238E27FC236}">
                <a16:creationId xmlns:a16="http://schemas.microsoft.com/office/drawing/2014/main" id="{CB6E80D7-7F3C-3279-FBE6-950C7319BD9C}"/>
              </a:ext>
            </a:extLst>
          </p:cNvPr>
          <p:cNvSpPr>
            <a:spLocks noChangeArrowheads="1"/>
          </p:cNvSpPr>
          <p:nvPr/>
        </p:nvSpPr>
        <p:spPr bwMode="auto">
          <a:xfrm>
            <a:off x="6146407" y="6303222"/>
            <a:ext cx="859211"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1600" b="1" dirty="0">
                <a:solidFill>
                  <a:srgbClr val="1C069E"/>
                </a:solidFill>
                <a:latin typeface="Consolas" panose="020B0609020204030204" pitchFamily="49" charset="0"/>
                <a:ea typeface="+mn-ea"/>
                <a:cs typeface="Consolas" panose="020B0609020204030204" pitchFamily="49" charset="0"/>
              </a:rPr>
              <a:t>unused</a:t>
            </a:r>
          </a:p>
        </p:txBody>
      </p:sp>
      <p:sp>
        <p:nvSpPr>
          <p:cNvPr id="28" name="Rectangle 33">
            <a:extLst>
              <a:ext uri="{FF2B5EF4-FFF2-40B4-BE49-F238E27FC236}">
                <a16:creationId xmlns:a16="http://schemas.microsoft.com/office/drawing/2014/main" id="{6C1A909B-C885-D242-D513-E1C261CB7895}"/>
              </a:ext>
            </a:extLst>
          </p:cNvPr>
          <p:cNvSpPr>
            <a:spLocks noChangeArrowheads="1"/>
          </p:cNvSpPr>
          <p:nvPr/>
        </p:nvSpPr>
        <p:spPr bwMode="auto">
          <a:xfrm>
            <a:off x="7299912" y="3773441"/>
            <a:ext cx="175240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a:lstStyle>
          <a:p>
            <a:pPr eaLnBrk="0" hangingPunct="0"/>
            <a:r>
              <a:rPr lang="en-US" altLang="zh-CN" sz="2000" b="1" dirty="0">
                <a:solidFill>
                  <a:srgbClr val="FF0000"/>
                </a:solidFill>
                <a:latin typeface="Consolas" panose="020B0609020204030204" pitchFamily="49" charset="0"/>
                <a:ea typeface="+mn-ea"/>
                <a:cs typeface="Consolas" panose="020B0609020204030204" pitchFamily="49" charset="0"/>
              </a:rPr>
              <a:t>fact(2)</a:t>
            </a:r>
          </a:p>
          <a:p>
            <a:pPr eaLnBrk="0" hangingPunct="0"/>
            <a:r>
              <a:rPr lang="zh-CN" altLang="en-US" sz="2000" b="1" dirty="0">
                <a:solidFill>
                  <a:srgbClr val="FF0000"/>
                </a:solidFill>
                <a:latin typeface="Consolas" panose="020B0609020204030204" pitchFamily="49" charset="0"/>
                <a:ea typeface="+mn-ea"/>
                <a:cs typeface="Consolas" panose="020B0609020204030204" pitchFamily="49" charset="0"/>
              </a:rPr>
              <a:t>的过程调用帧</a:t>
            </a:r>
            <a:endParaRPr lang="zh-CN" altLang="en-US" sz="1600" b="1" dirty="0">
              <a:solidFill>
                <a:srgbClr val="FF0000"/>
              </a:solidFill>
              <a:latin typeface="Consolas" panose="020B0609020204030204" pitchFamily="49" charset="0"/>
              <a:ea typeface="+mn-ea"/>
              <a:cs typeface="Consolas" panose="020B0609020204030204" pitchFamily="49" charset="0"/>
            </a:endParaRPr>
          </a:p>
        </p:txBody>
      </p:sp>
    </p:spTree>
    <p:extLst>
      <p:ext uri="{BB962C8B-B14F-4D97-AF65-F5344CB8AC3E}">
        <p14:creationId xmlns:p14="http://schemas.microsoft.com/office/powerpoint/2010/main" val="1357393298"/>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灯片编号占位符 3">
            <a:extLst>
              <a:ext uri="{FF2B5EF4-FFF2-40B4-BE49-F238E27FC236}">
                <a16:creationId xmlns:a16="http://schemas.microsoft.com/office/drawing/2014/main" id="{F09C93A6-41D7-4B47-A78F-E636A9553D6B}"/>
              </a:ext>
            </a:extLst>
          </p:cNvPr>
          <p:cNvSpPr>
            <a:spLocks noGrp="1"/>
          </p:cNvSpPr>
          <p:nvPr>
            <p:ph type="sldNum" sz="quarter" idx="12"/>
          </p:nvPr>
        </p:nvSpPr>
        <p:spPr/>
        <p:txBody>
          <a:bodyPr/>
          <a:lstStyle/>
          <a:p>
            <a:fld id="{14659731-6BD7-46E7-8D3C-2F3AC07E20B1}" type="slidenum">
              <a:rPr lang="en-US" altLang="zh-CN" smtClean="0"/>
              <a:pPr/>
              <a:t>139</a:t>
            </a:fld>
            <a:endParaRPr lang="en-US" altLang="zh-CN"/>
          </a:p>
        </p:txBody>
      </p:sp>
      <p:sp>
        <p:nvSpPr>
          <p:cNvPr id="29702" name="Rectangle 4"/>
          <p:cNvSpPr>
            <a:spLocks noGrp="1" noChangeArrowheads="1"/>
          </p:cNvSpPr>
          <p:nvPr>
            <p:ph idx="4294967295"/>
          </p:nvPr>
        </p:nvSpPr>
        <p:spPr>
          <a:xfrm>
            <a:off x="339212" y="1302211"/>
            <a:ext cx="5041438" cy="5256213"/>
          </a:xfrm>
          <a:noFill/>
        </p:spPr>
        <p:txBody>
          <a:bodyPr lIns="92075" tIns="46038" rIns="92075" bIns="46038"/>
          <a:lstStyle/>
          <a:p>
            <a:pPr eaLnBrk="1" hangingPunct="1"/>
            <a:r>
              <a:rPr lang="zh-CN" altLang="en-US" sz="2400" dirty="0"/>
              <a:t>我们需要存储</a:t>
            </a:r>
            <a:r>
              <a:rPr lang="en-US" altLang="zh-CN" sz="2400" dirty="0"/>
              <a:t>:</a:t>
            </a:r>
          </a:p>
          <a:p>
            <a:pPr lvl="1" eaLnBrk="1" hangingPunct="1"/>
            <a:r>
              <a:rPr lang="zh-CN" altLang="en-US" sz="2000" dirty="0"/>
              <a:t>返回地址</a:t>
            </a:r>
            <a:r>
              <a:rPr lang="en-US" altLang="zh-CN" sz="2000" dirty="0"/>
              <a:t>(old </a:t>
            </a:r>
            <a:r>
              <a:rPr lang="en-US" altLang="zh-CN" sz="2000" dirty="0" err="1"/>
              <a:t>ra</a:t>
            </a:r>
            <a:r>
              <a:rPr lang="en-US" altLang="zh-CN" sz="2000" dirty="0"/>
              <a:t>)</a:t>
            </a:r>
          </a:p>
          <a:p>
            <a:pPr lvl="1" eaLnBrk="1" hangingPunct="1"/>
            <a:r>
              <a:rPr lang="zh-CN" altLang="en-US" sz="2000" dirty="0"/>
              <a:t>参数 </a:t>
            </a:r>
            <a:r>
              <a:rPr lang="en-US" altLang="zh-CN" sz="2000" dirty="0">
                <a:solidFill>
                  <a:srgbClr val="1C069E"/>
                </a:solidFill>
              </a:rPr>
              <a:t>n </a:t>
            </a:r>
            <a:r>
              <a:rPr lang="en-US" altLang="zh-CN" sz="2000" dirty="0"/>
              <a:t>in </a:t>
            </a:r>
            <a:r>
              <a:rPr lang="en-US" altLang="zh-CN" sz="2000" dirty="0">
                <a:solidFill>
                  <a:srgbClr val="1C069E"/>
                </a:solidFill>
              </a:rPr>
              <a:t>fact(n)</a:t>
            </a:r>
          </a:p>
          <a:p>
            <a:pPr lvl="1" eaLnBrk="1" hangingPunct="1"/>
            <a:r>
              <a:rPr lang="zh-CN" altLang="en-US" sz="2000" dirty="0"/>
              <a:t>临时</a:t>
            </a:r>
            <a:r>
              <a:rPr lang="en-US" altLang="zh-CN" sz="2000" dirty="0"/>
              <a:t>/</a:t>
            </a:r>
            <a:r>
              <a:rPr lang="zh-CN" altLang="en-US" sz="2000" dirty="0"/>
              <a:t>局部的变量 （在</a:t>
            </a:r>
            <a:r>
              <a:rPr lang="en-US" altLang="zh-CN" sz="2000" dirty="0">
                <a:solidFill>
                  <a:srgbClr val="1C069E"/>
                </a:solidFill>
              </a:rPr>
              <a:t>f</a:t>
            </a:r>
            <a:r>
              <a:rPr lang="zh-CN" altLang="en-US" sz="2000" dirty="0">
                <a:solidFill>
                  <a:srgbClr val="1C069E"/>
                </a:solidFill>
              </a:rPr>
              <a:t>执行过程中）</a:t>
            </a:r>
          </a:p>
          <a:p>
            <a:pPr lvl="1" eaLnBrk="1" hangingPunct="1"/>
            <a:r>
              <a:rPr lang="zh-CN" altLang="en-US" sz="2000" dirty="0"/>
              <a:t>被破坏的寄存器</a:t>
            </a:r>
          </a:p>
          <a:p>
            <a:pPr lvl="1" eaLnBrk="1" hangingPunct="1"/>
            <a:endParaRPr lang="zh-CN" altLang="en-US" sz="1900" dirty="0">
              <a:solidFill>
                <a:schemeClr val="accent2"/>
              </a:solidFill>
            </a:endParaRPr>
          </a:p>
          <a:p>
            <a:pPr eaLnBrk="1" hangingPunct="1"/>
            <a:r>
              <a:rPr lang="zh-CN" altLang="en-US" sz="2400" dirty="0"/>
              <a:t>想法</a:t>
            </a:r>
            <a:r>
              <a:rPr lang="en-US" altLang="zh-CN" sz="2400" dirty="0"/>
              <a:t>: </a:t>
            </a:r>
            <a:r>
              <a:rPr lang="zh-CN" altLang="en-US" sz="2400" dirty="0"/>
              <a:t>存在栈里</a:t>
            </a:r>
            <a:r>
              <a:rPr lang="en-US" altLang="zh-CN" sz="2400" dirty="0"/>
              <a:t>!</a:t>
            </a:r>
          </a:p>
          <a:p>
            <a:pPr lvl="1" eaLnBrk="1" hangingPunct="1"/>
            <a:r>
              <a:rPr lang="zh-CN" altLang="en-US" sz="2000" dirty="0"/>
              <a:t>增长</a:t>
            </a:r>
            <a:r>
              <a:rPr lang="en-US" altLang="zh-CN" sz="2000" dirty="0"/>
              <a:t>(PUSH </a:t>
            </a:r>
            <a:r>
              <a:rPr lang="zh-CN" altLang="en-US" sz="2000" dirty="0"/>
              <a:t>进去</a:t>
            </a:r>
            <a:r>
              <a:rPr lang="en-US" altLang="zh-CN" sz="2000" dirty="0"/>
              <a:t>) </a:t>
            </a:r>
            <a:r>
              <a:rPr lang="zh-CN" altLang="en-US" sz="2000" dirty="0"/>
              <a:t>栈，（每次调用函数时）</a:t>
            </a:r>
          </a:p>
          <a:p>
            <a:pPr lvl="1" eaLnBrk="1" hangingPunct="1"/>
            <a:r>
              <a:rPr lang="zh-CN" altLang="en-US" sz="2000" dirty="0"/>
              <a:t>缩减栈</a:t>
            </a:r>
            <a:r>
              <a:rPr lang="en-US" altLang="zh-CN" sz="2000" dirty="0"/>
              <a:t>(POP </a:t>
            </a:r>
            <a:r>
              <a:rPr lang="zh-CN" altLang="en-US" sz="2000" dirty="0"/>
              <a:t>出来</a:t>
            </a:r>
            <a:r>
              <a:rPr lang="en-US" altLang="zh-CN" sz="2000" dirty="0"/>
              <a:t>) </a:t>
            </a:r>
            <a:r>
              <a:rPr lang="zh-CN" altLang="en-US" sz="2000" dirty="0"/>
              <a:t>（每次返回时）</a:t>
            </a:r>
          </a:p>
          <a:p>
            <a:pPr lvl="1" eaLnBrk="1" hangingPunct="1"/>
            <a:r>
              <a:rPr lang="zh-CN" altLang="en-US" sz="2000" dirty="0"/>
              <a:t>每次调用都有自己的</a:t>
            </a:r>
            <a:r>
              <a:rPr lang="zh-CN" altLang="en-US" sz="2000" dirty="0">
                <a:latin typeface="Comic Sans MS" pitchFamily="66" charset="0"/>
              </a:rPr>
              <a:t>“过程调用</a:t>
            </a:r>
            <a:r>
              <a:rPr lang="zh-CN" altLang="en-US" sz="2000" dirty="0"/>
              <a:t>帧</a:t>
            </a:r>
            <a:r>
              <a:rPr lang="zh-CN" altLang="en-US" sz="2000" dirty="0">
                <a:latin typeface="Comic Sans MS" pitchFamily="66" charset="0"/>
              </a:rPr>
              <a:t>”</a:t>
            </a:r>
            <a:endParaRPr lang="zh-CN" altLang="en-US" sz="2000" dirty="0"/>
          </a:p>
        </p:txBody>
      </p:sp>
      <p:sp>
        <p:nvSpPr>
          <p:cNvPr id="29728" name="Oval 30"/>
          <p:cNvSpPr>
            <a:spLocks noChangeArrowheads="1"/>
          </p:cNvSpPr>
          <p:nvPr/>
        </p:nvSpPr>
        <p:spPr bwMode="auto">
          <a:xfrm>
            <a:off x="7192761" y="2767587"/>
            <a:ext cx="1724482" cy="799646"/>
          </a:xfrm>
          <a:prstGeom prst="rect">
            <a:avLst/>
          </a:prstGeom>
          <a:solidFill>
            <a:schemeClr val="bg2">
              <a:lumMod val="20000"/>
              <a:lumOff val="80000"/>
            </a:schemeClr>
          </a:solidFill>
          <a:ln w="19050">
            <a:noFill/>
            <a:round/>
            <a:headEnd/>
            <a:tailEnd type="none" w="lg" len="lg"/>
          </a:ln>
        </p:spPr>
        <p:txBody>
          <a:bodyPr wrap="none" lIns="0" tIns="0" rIns="0" bIns="0" anchor="ctr"/>
          <a:lstStyle/>
          <a:p>
            <a:pPr algn="ctr" eaLnBrk="0" hangingPunct="0"/>
            <a:r>
              <a:rPr lang="zh-CN" altLang="en-US" sz="2400" b="1" dirty="0">
                <a:solidFill>
                  <a:schemeClr val="tx1"/>
                </a:solidFill>
                <a:latin typeface="+mn-lt"/>
                <a:ea typeface="+mj-ea"/>
                <a:cs typeface="Consolas" panose="020B0609020204030204" pitchFamily="49" charset="0"/>
              </a:rPr>
              <a:t>例如</a:t>
            </a:r>
            <a:endParaRPr lang="zh-CN" altLang="en-US" b="1" dirty="0">
              <a:solidFill>
                <a:schemeClr val="tx1"/>
              </a:solidFill>
              <a:latin typeface="+mn-lt"/>
              <a:ea typeface="+mj-ea"/>
              <a:cs typeface="Consolas" panose="020B0609020204030204" pitchFamily="49" charset="0"/>
            </a:endParaRPr>
          </a:p>
          <a:p>
            <a:pPr algn="ctr" eaLnBrk="0" hangingPunct="0"/>
            <a:r>
              <a:rPr lang="zh-CN" altLang="en-US" sz="2400" b="1" dirty="0">
                <a:solidFill>
                  <a:schemeClr val="tx1"/>
                </a:solidFill>
                <a:latin typeface="+mn-lt"/>
                <a:ea typeface="+mj-ea"/>
                <a:cs typeface="Consolas" panose="020B0609020204030204" pitchFamily="49" charset="0"/>
              </a:rPr>
              <a:t>调用</a:t>
            </a:r>
            <a:r>
              <a:rPr lang="en-US" altLang="zh-CN" sz="2400" b="1" dirty="0">
                <a:solidFill>
                  <a:schemeClr val="tx1"/>
                </a:solidFill>
                <a:latin typeface="+mn-lt"/>
                <a:ea typeface="+mj-ea"/>
                <a:cs typeface="Consolas" panose="020B0609020204030204" pitchFamily="49" charset="0"/>
              </a:rPr>
              <a:t>fact(2)</a:t>
            </a:r>
            <a:endParaRPr lang="en-US" altLang="zh-CN" b="1" dirty="0">
              <a:solidFill>
                <a:schemeClr val="tx1"/>
              </a:solidFill>
              <a:latin typeface="+mn-lt"/>
              <a:ea typeface="+mj-ea"/>
              <a:cs typeface="Consolas" panose="020B0609020204030204" pitchFamily="49" charset="0"/>
            </a:endParaRPr>
          </a:p>
        </p:txBody>
      </p:sp>
      <p:sp>
        <p:nvSpPr>
          <p:cNvPr id="35" name="Rectangle 23">
            <a:extLst>
              <a:ext uri="{FF2B5EF4-FFF2-40B4-BE49-F238E27FC236}">
                <a16:creationId xmlns:a16="http://schemas.microsoft.com/office/drawing/2014/main" id="{F6AC55A4-4FC4-42A9-B254-67833D3532B5}"/>
              </a:ext>
            </a:extLst>
          </p:cNvPr>
          <p:cNvSpPr>
            <a:spLocks noChangeArrowheads="1"/>
          </p:cNvSpPr>
          <p:nvPr/>
        </p:nvSpPr>
        <p:spPr bwMode="auto">
          <a:xfrm>
            <a:off x="5111468" y="1282357"/>
            <a:ext cx="3731791" cy="203196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spAutoFit/>
          </a:bodyPr>
          <a:lstStyle/>
          <a:p>
            <a:pPr algn="l" eaLnBrk="0" hangingPunct="0"/>
            <a:r>
              <a:rPr lang="en-US" altLang="zh-CN" sz="1800" b="1" i="1" dirty="0" err="1">
                <a:solidFill>
                  <a:srgbClr val="1C069E"/>
                </a:solidFill>
                <a:latin typeface="Consolas" panose="020B0609020204030204" pitchFamily="49" charset="0"/>
              </a:rPr>
              <a:t>int</a:t>
            </a:r>
            <a:r>
              <a:rPr lang="en-US" altLang="zh-CN" sz="1800" b="1" i="1" dirty="0">
                <a:solidFill>
                  <a:srgbClr val="1C069E"/>
                </a:solidFill>
                <a:latin typeface="Consolas" panose="020B0609020204030204" pitchFamily="49" charset="0"/>
              </a:rPr>
              <a:t> fact( </a:t>
            </a:r>
            <a:r>
              <a:rPr lang="en-US" altLang="zh-CN" sz="1800" b="1" i="1" dirty="0" err="1">
                <a:solidFill>
                  <a:srgbClr val="1C069E"/>
                </a:solidFill>
                <a:latin typeface="Consolas" panose="020B0609020204030204" pitchFamily="49" charset="0"/>
              </a:rPr>
              <a:t>int</a:t>
            </a:r>
            <a:r>
              <a:rPr lang="en-US" altLang="zh-CN" sz="1800" b="1" i="1" dirty="0">
                <a:solidFill>
                  <a:srgbClr val="1C069E"/>
                </a:solidFill>
                <a:latin typeface="Consolas" panose="020B0609020204030204" pitchFamily="49" charset="0"/>
              </a:rPr>
              <a:t> n )</a:t>
            </a:r>
          </a:p>
          <a:p>
            <a:pPr algn="l" eaLnBrk="0" hangingPunct="0"/>
            <a:r>
              <a:rPr lang="en-US" altLang="zh-CN" sz="1800" b="1" i="1" dirty="0">
                <a:solidFill>
                  <a:srgbClr val="1C069E"/>
                </a:solidFill>
                <a:latin typeface="Consolas" panose="020B0609020204030204" pitchFamily="49" charset="0"/>
              </a:rPr>
              <a:t>{</a:t>
            </a:r>
          </a:p>
          <a:p>
            <a:pPr algn="l" eaLnBrk="0" hangingPunct="0"/>
            <a:r>
              <a:rPr lang="en-US" altLang="zh-CN" sz="1800" b="1" i="1" dirty="0">
                <a:solidFill>
                  <a:srgbClr val="1C069E"/>
                </a:solidFill>
                <a:latin typeface="Consolas" panose="020B0609020204030204" pitchFamily="49" charset="0"/>
              </a:rPr>
              <a:t>   if (n &gt; 0)</a:t>
            </a:r>
          </a:p>
          <a:p>
            <a:pPr algn="l" eaLnBrk="0" hangingPunct="0"/>
            <a:r>
              <a:rPr lang="en-US" altLang="zh-CN" sz="1800" b="1" i="1" dirty="0">
                <a:solidFill>
                  <a:srgbClr val="1C069E"/>
                </a:solidFill>
                <a:latin typeface="Consolas" panose="020B0609020204030204" pitchFamily="49" charset="0"/>
              </a:rPr>
              <a:t>     return fact( n-1 ) * n;</a:t>
            </a:r>
          </a:p>
          <a:p>
            <a:pPr algn="l" eaLnBrk="0" hangingPunct="0"/>
            <a:r>
              <a:rPr lang="en-US" altLang="zh-CN" sz="1800" b="1" i="1" dirty="0">
                <a:solidFill>
                  <a:srgbClr val="1C069E"/>
                </a:solidFill>
                <a:latin typeface="Consolas" panose="020B0609020204030204" pitchFamily="49" charset="0"/>
              </a:rPr>
              <a:t>   else</a:t>
            </a:r>
          </a:p>
          <a:p>
            <a:pPr algn="l" eaLnBrk="0" hangingPunct="0"/>
            <a:r>
              <a:rPr lang="en-US" altLang="zh-CN" sz="1800" b="1" i="1" dirty="0">
                <a:solidFill>
                  <a:srgbClr val="1C069E"/>
                </a:solidFill>
                <a:latin typeface="Consolas" panose="020B0609020204030204" pitchFamily="49" charset="0"/>
              </a:rPr>
              <a:t>     return 1 ;</a:t>
            </a:r>
          </a:p>
          <a:p>
            <a:pPr algn="l" eaLnBrk="0" hangingPunct="0"/>
            <a:r>
              <a:rPr lang="en-US" altLang="zh-CN" sz="1800" b="1" i="1" dirty="0">
                <a:solidFill>
                  <a:srgbClr val="1C069E"/>
                </a:solidFill>
                <a:latin typeface="Consolas" panose="020B0609020204030204" pitchFamily="49" charset="0"/>
              </a:rPr>
              <a:t>}</a:t>
            </a:r>
          </a:p>
        </p:txBody>
      </p:sp>
      <p:sp>
        <p:nvSpPr>
          <p:cNvPr id="2" name="Title 4">
            <a:extLst>
              <a:ext uri="{FF2B5EF4-FFF2-40B4-BE49-F238E27FC236}">
                <a16:creationId xmlns:a16="http://schemas.microsoft.com/office/drawing/2014/main" id="{9F92B80D-E2F8-51FE-09CD-9857D89281EB}"/>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dirty="0"/>
              <a:t>编程指南：过程调用</a:t>
            </a:r>
            <a:endParaRPr lang="en-CN" kern="0" dirty="0"/>
          </a:p>
        </p:txBody>
      </p:sp>
      <p:sp>
        <p:nvSpPr>
          <p:cNvPr id="3" name="Rectangle 5">
            <a:extLst>
              <a:ext uri="{FF2B5EF4-FFF2-40B4-BE49-F238E27FC236}">
                <a16:creationId xmlns:a16="http://schemas.microsoft.com/office/drawing/2014/main" id="{C097837B-E429-CA7B-FD69-E013021F4A59}"/>
              </a:ext>
            </a:extLst>
          </p:cNvPr>
          <p:cNvSpPr>
            <a:spLocks noChangeArrowheads="1"/>
          </p:cNvSpPr>
          <p:nvPr/>
        </p:nvSpPr>
        <p:spPr bwMode="auto">
          <a:xfrm>
            <a:off x="7543259" y="5466712"/>
            <a:ext cx="750205"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2000" b="1" i="1" dirty="0">
                <a:solidFill>
                  <a:srgbClr val="1C069E"/>
                </a:solidFill>
                <a:latin typeface="Consolas" panose="020B0609020204030204" pitchFamily="49" charset="0"/>
                <a:ea typeface="+mn-ea"/>
                <a:cs typeface="Consolas" panose="020B0609020204030204" pitchFamily="49" charset="0"/>
              </a:rPr>
              <a:t>&lt;SP&gt;</a:t>
            </a:r>
          </a:p>
        </p:txBody>
      </p:sp>
      <p:sp>
        <p:nvSpPr>
          <p:cNvPr id="4" name="Line 6">
            <a:extLst>
              <a:ext uri="{FF2B5EF4-FFF2-40B4-BE49-F238E27FC236}">
                <a16:creationId xmlns:a16="http://schemas.microsoft.com/office/drawing/2014/main" id="{B4E51B8E-5979-0C5C-FFD9-F662C52C039F}"/>
              </a:ext>
            </a:extLst>
          </p:cNvPr>
          <p:cNvSpPr>
            <a:spLocks noChangeShapeType="1"/>
          </p:cNvSpPr>
          <p:nvPr/>
        </p:nvSpPr>
        <p:spPr bwMode="auto">
          <a:xfrm>
            <a:off x="5866400" y="3647788"/>
            <a:ext cx="0" cy="2979736"/>
          </a:xfrm>
          <a:prstGeom prst="line">
            <a:avLst/>
          </a:prstGeom>
          <a:noFill/>
          <a:ln w="254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5" name="Line 7">
            <a:extLst>
              <a:ext uri="{FF2B5EF4-FFF2-40B4-BE49-F238E27FC236}">
                <a16:creationId xmlns:a16="http://schemas.microsoft.com/office/drawing/2014/main" id="{507FB5AD-4641-28C9-7D00-4DA25429E2E9}"/>
              </a:ext>
            </a:extLst>
          </p:cNvPr>
          <p:cNvSpPr>
            <a:spLocks noChangeShapeType="1"/>
          </p:cNvSpPr>
          <p:nvPr/>
        </p:nvSpPr>
        <p:spPr bwMode="auto">
          <a:xfrm>
            <a:off x="7238000" y="3647787"/>
            <a:ext cx="0" cy="2979737"/>
          </a:xfrm>
          <a:prstGeom prst="line">
            <a:avLst/>
          </a:prstGeom>
          <a:noFill/>
          <a:ln w="254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6" name="Line 8">
            <a:extLst>
              <a:ext uri="{FF2B5EF4-FFF2-40B4-BE49-F238E27FC236}">
                <a16:creationId xmlns:a16="http://schemas.microsoft.com/office/drawing/2014/main" id="{5B57F011-5923-3C65-860E-0530EEB8C616}"/>
              </a:ext>
            </a:extLst>
          </p:cNvPr>
          <p:cNvSpPr>
            <a:spLocks noChangeShapeType="1"/>
          </p:cNvSpPr>
          <p:nvPr/>
        </p:nvSpPr>
        <p:spPr bwMode="auto">
          <a:xfrm>
            <a:off x="5871163" y="4022438"/>
            <a:ext cx="1366837" cy="0"/>
          </a:xfrm>
          <a:prstGeom prst="line">
            <a:avLst/>
          </a:prstGeom>
          <a:noFill/>
          <a:ln w="127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7" name="Line 9">
            <a:extLst>
              <a:ext uri="{FF2B5EF4-FFF2-40B4-BE49-F238E27FC236}">
                <a16:creationId xmlns:a16="http://schemas.microsoft.com/office/drawing/2014/main" id="{84B9DF21-29F9-EBB1-4887-CBCD247A502C}"/>
              </a:ext>
            </a:extLst>
          </p:cNvPr>
          <p:cNvSpPr>
            <a:spLocks noChangeShapeType="1"/>
          </p:cNvSpPr>
          <p:nvPr/>
        </p:nvSpPr>
        <p:spPr bwMode="auto">
          <a:xfrm>
            <a:off x="5871163" y="4713000"/>
            <a:ext cx="1366837" cy="0"/>
          </a:xfrm>
          <a:prstGeom prst="line">
            <a:avLst/>
          </a:prstGeom>
          <a:noFill/>
          <a:ln w="508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8" name="Line 10">
            <a:extLst>
              <a:ext uri="{FF2B5EF4-FFF2-40B4-BE49-F238E27FC236}">
                <a16:creationId xmlns:a16="http://schemas.microsoft.com/office/drawing/2014/main" id="{129470E1-A07C-0C99-2C7D-417588D84EFC}"/>
              </a:ext>
            </a:extLst>
          </p:cNvPr>
          <p:cNvSpPr>
            <a:spLocks noChangeShapeType="1"/>
          </p:cNvSpPr>
          <p:nvPr/>
        </p:nvSpPr>
        <p:spPr bwMode="auto">
          <a:xfrm>
            <a:off x="5871163" y="4398675"/>
            <a:ext cx="1366837" cy="0"/>
          </a:xfrm>
          <a:prstGeom prst="line">
            <a:avLst/>
          </a:prstGeom>
          <a:noFill/>
          <a:ln w="127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9" name="Line 11">
            <a:extLst>
              <a:ext uri="{FF2B5EF4-FFF2-40B4-BE49-F238E27FC236}">
                <a16:creationId xmlns:a16="http://schemas.microsoft.com/office/drawing/2014/main" id="{24C11CDF-2A09-892B-A6B5-4A74FBA5E2C0}"/>
              </a:ext>
            </a:extLst>
          </p:cNvPr>
          <p:cNvSpPr>
            <a:spLocks noChangeShapeType="1"/>
          </p:cNvSpPr>
          <p:nvPr/>
        </p:nvSpPr>
        <p:spPr bwMode="auto">
          <a:xfrm>
            <a:off x="5871163" y="3709700"/>
            <a:ext cx="1366837" cy="0"/>
          </a:xfrm>
          <a:prstGeom prst="line">
            <a:avLst/>
          </a:prstGeom>
          <a:noFill/>
          <a:ln w="508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10" name="Line 12">
            <a:extLst>
              <a:ext uri="{FF2B5EF4-FFF2-40B4-BE49-F238E27FC236}">
                <a16:creationId xmlns:a16="http://schemas.microsoft.com/office/drawing/2014/main" id="{F0D7EB4F-B02E-04D5-25C8-671DF4B6EAF0}"/>
              </a:ext>
            </a:extLst>
          </p:cNvPr>
          <p:cNvSpPr>
            <a:spLocks noChangeShapeType="1"/>
          </p:cNvSpPr>
          <p:nvPr/>
        </p:nvSpPr>
        <p:spPr bwMode="auto">
          <a:xfrm>
            <a:off x="5871163" y="5025738"/>
            <a:ext cx="1366837" cy="0"/>
          </a:xfrm>
          <a:prstGeom prst="line">
            <a:avLst/>
          </a:prstGeom>
          <a:noFill/>
          <a:ln w="127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11" name="Line 13">
            <a:extLst>
              <a:ext uri="{FF2B5EF4-FFF2-40B4-BE49-F238E27FC236}">
                <a16:creationId xmlns:a16="http://schemas.microsoft.com/office/drawing/2014/main" id="{A91054CE-BBF2-AC87-FBEE-3ECC1EC74E4B}"/>
              </a:ext>
            </a:extLst>
          </p:cNvPr>
          <p:cNvSpPr>
            <a:spLocks noChangeShapeType="1"/>
          </p:cNvSpPr>
          <p:nvPr/>
        </p:nvSpPr>
        <p:spPr bwMode="auto">
          <a:xfrm>
            <a:off x="5871163" y="5338475"/>
            <a:ext cx="1366837" cy="0"/>
          </a:xfrm>
          <a:prstGeom prst="line">
            <a:avLst/>
          </a:prstGeom>
          <a:noFill/>
          <a:ln w="127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12" name="Line 14">
            <a:extLst>
              <a:ext uri="{FF2B5EF4-FFF2-40B4-BE49-F238E27FC236}">
                <a16:creationId xmlns:a16="http://schemas.microsoft.com/office/drawing/2014/main" id="{0A4C7DDB-4328-77AD-E684-C7DF40BFC75A}"/>
              </a:ext>
            </a:extLst>
          </p:cNvPr>
          <p:cNvSpPr>
            <a:spLocks noChangeShapeType="1"/>
          </p:cNvSpPr>
          <p:nvPr/>
        </p:nvSpPr>
        <p:spPr bwMode="auto">
          <a:xfrm>
            <a:off x="5871163" y="5652800"/>
            <a:ext cx="1366837" cy="0"/>
          </a:xfrm>
          <a:prstGeom prst="line">
            <a:avLst/>
          </a:prstGeom>
          <a:noFill/>
          <a:ln w="508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13" name="Line 15">
            <a:extLst>
              <a:ext uri="{FF2B5EF4-FFF2-40B4-BE49-F238E27FC236}">
                <a16:creationId xmlns:a16="http://schemas.microsoft.com/office/drawing/2014/main" id="{80BEE929-A322-3C05-B11A-3BD3BD059E9E}"/>
              </a:ext>
            </a:extLst>
          </p:cNvPr>
          <p:cNvSpPr>
            <a:spLocks noChangeShapeType="1"/>
          </p:cNvSpPr>
          <p:nvPr/>
        </p:nvSpPr>
        <p:spPr bwMode="auto">
          <a:xfrm>
            <a:off x="5871163" y="5967125"/>
            <a:ext cx="1366837" cy="0"/>
          </a:xfrm>
          <a:prstGeom prst="line">
            <a:avLst/>
          </a:prstGeom>
          <a:noFill/>
          <a:ln w="127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14" name="Line 16">
            <a:extLst>
              <a:ext uri="{FF2B5EF4-FFF2-40B4-BE49-F238E27FC236}">
                <a16:creationId xmlns:a16="http://schemas.microsoft.com/office/drawing/2014/main" id="{DA66016E-B417-6C09-E461-10A33C6D5D34}"/>
              </a:ext>
            </a:extLst>
          </p:cNvPr>
          <p:cNvSpPr>
            <a:spLocks noChangeShapeType="1"/>
          </p:cNvSpPr>
          <p:nvPr/>
        </p:nvSpPr>
        <p:spPr bwMode="auto">
          <a:xfrm>
            <a:off x="5871163" y="6279863"/>
            <a:ext cx="1366837" cy="0"/>
          </a:xfrm>
          <a:prstGeom prst="line">
            <a:avLst/>
          </a:prstGeom>
          <a:noFill/>
          <a:ln w="127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15" name="Rectangle 17">
            <a:extLst>
              <a:ext uri="{FF2B5EF4-FFF2-40B4-BE49-F238E27FC236}">
                <a16:creationId xmlns:a16="http://schemas.microsoft.com/office/drawing/2014/main" id="{C26BEE34-C68E-2D4F-D96F-6F92586F0861}"/>
              </a:ext>
            </a:extLst>
          </p:cNvPr>
          <p:cNvSpPr>
            <a:spLocks noChangeArrowheads="1"/>
          </p:cNvSpPr>
          <p:nvPr/>
        </p:nvSpPr>
        <p:spPr bwMode="auto">
          <a:xfrm>
            <a:off x="6155932" y="5962363"/>
            <a:ext cx="859211"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1600" b="1">
                <a:solidFill>
                  <a:srgbClr val="1C069E"/>
                </a:solidFill>
                <a:latin typeface="Consolas" panose="020B0609020204030204" pitchFamily="49" charset="0"/>
                <a:ea typeface="+mn-ea"/>
                <a:cs typeface="Consolas" panose="020B0609020204030204" pitchFamily="49" charset="0"/>
              </a:rPr>
              <a:t>unused</a:t>
            </a:r>
          </a:p>
        </p:txBody>
      </p:sp>
      <p:sp>
        <p:nvSpPr>
          <p:cNvPr id="16" name="Line 18">
            <a:extLst>
              <a:ext uri="{FF2B5EF4-FFF2-40B4-BE49-F238E27FC236}">
                <a16:creationId xmlns:a16="http://schemas.microsoft.com/office/drawing/2014/main" id="{B1D9ED6C-3565-2828-59EB-71299AEE3749}"/>
              </a:ext>
            </a:extLst>
          </p:cNvPr>
          <p:cNvSpPr>
            <a:spLocks noChangeShapeType="1"/>
          </p:cNvSpPr>
          <p:nvPr/>
        </p:nvSpPr>
        <p:spPr bwMode="auto">
          <a:xfrm>
            <a:off x="5707650" y="3870038"/>
            <a:ext cx="0" cy="2168525"/>
          </a:xfrm>
          <a:prstGeom prst="line">
            <a:avLst/>
          </a:prstGeom>
          <a:noFill/>
          <a:ln w="25400">
            <a:solidFill>
              <a:srgbClr val="0000FF"/>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17" name="Rectangle 19">
            <a:extLst>
              <a:ext uri="{FF2B5EF4-FFF2-40B4-BE49-F238E27FC236}">
                <a16:creationId xmlns:a16="http://schemas.microsoft.com/office/drawing/2014/main" id="{382A4070-7D93-253A-0E4D-24E1F729B964}"/>
              </a:ext>
            </a:extLst>
          </p:cNvPr>
          <p:cNvSpPr>
            <a:spLocks noChangeArrowheads="1"/>
          </p:cNvSpPr>
          <p:nvPr/>
        </p:nvSpPr>
        <p:spPr bwMode="auto">
          <a:xfrm>
            <a:off x="5578277" y="3227986"/>
            <a:ext cx="1905000"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pPr algn="ctr" eaLnBrk="0" hangingPunct="0"/>
            <a:r>
              <a:rPr lang="zh-CN" altLang="en-US" sz="2000" b="1" dirty="0">
                <a:solidFill>
                  <a:srgbClr val="FF3300"/>
                </a:solidFill>
                <a:latin typeface="Consolas" panose="020B0609020204030204" pitchFamily="49" charset="0"/>
                <a:ea typeface="+mn-ea"/>
                <a:cs typeface="Consolas" panose="020B0609020204030204" pitchFamily="49" charset="0"/>
              </a:rPr>
              <a:t>主存储器</a:t>
            </a:r>
          </a:p>
        </p:txBody>
      </p:sp>
      <p:sp>
        <p:nvSpPr>
          <p:cNvPr id="18" name="Line 20">
            <a:extLst>
              <a:ext uri="{FF2B5EF4-FFF2-40B4-BE49-F238E27FC236}">
                <a16:creationId xmlns:a16="http://schemas.microsoft.com/office/drawing/2014/main" id="{E7CB67B5-D1C8-3B07-177C-3EEF9D85C061}"/>
              </a:ext>
            </a:extLst>
          </p:cNvPr>
          <p:cNvSpPr>
            <a:spLocks noChangeShapeType="1"/>
          </p:cNvSpPr>
          <p:nvPr/>
        </p:nvSpPr>
        <p:spPr bwMode="auto">
          <a:xfrm flipH="1">
            <a:off x="7255581" y="5649299"/>
            <a:ext cx="304800" cy="0"/>
          </a:xfrm>
          <a:prstGeom prst="line">
            <a:avLst/>
          </a:prstGeom>
          <a:noFill/>
          <a:ln w="25400" cap="rnd">
            <a:solidFill>
              <a:srgbClr val="FF0000"/>
            </a:solidFill>
            <a:round/>
            <a:headEnd w="med" len="lg"/>
            <a:tailEnd type="triangle" w="med" len="lg"/>
          </a:ln>
          <a:extLst>
            <a:ext uri="{909E8E84-426E-40DD-AFC4-6F175D3DCCD1}">
              <a14:hiddenFill xmlns:a14="http://schemas.microsoft.com/office/drawing/2010/main">
                <a:noFill/>
              </a14:hiddenFill>
            </a:ext>
          </a:extLst>
        </p:spPr>
        <p:txBody>
          <a:bodyPr wrap="none" anchor="ctr">
            <a:spAutoFit/>
          </a:bodyPr>
          <a:lstStyle/>
          <a:p>
            <a:pPr algn="ctr"/>
            <a:endParaRPr lang="zh-CN" altLang="en-US" sz="4600" b="1">
              <a:solidFill>
                <a:srgbClr val="FF3300"/>
              </a:solidFill>
              <a:latin typeface="Consolas" panose="020B0609020204030204" pitchFamily="49" charset="0"/>
              <a:ea typeface="+mn-ea"/>
              <a:cs typeface="Consolas" panose="020B0609020204030204" pitchFamily="49" charset="0"/>
            </a:endParaRPr>
          </a:p>
        </p:txBody>
      </p:sp>
      <p:sp>
        <p:nvSpPr>
          <p:cNvPr id="19" name="Rectangle 21">
            <a:extLst>
              <a:ext uri="{FF2B5EF4-FFF2-40B4-BE49-F238E27FC236}">
                <a16:creationId xmlns:a16="http://schemas.microsoft.com/office/drawing/2014/main" id="{E592E1A8-B97D-6115-6CBB-A499DAD18D94}"/>
              </a:ext>
            </a:extLst>
          </p:cNvPr>
          <p:cNvSpPr>
            <a:spLocks noChangeArrowheads="1"/>
          </p:cNvSpPr>
          <p:nvPr/>
        </p:nvSpPr>
        <p:spPr bwMode="auto">
          <a:xfrm>
            <a:off x="6155932" y="5667088"/>
            <a:ext cx="859211"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1600" b="1">
                <a:solidFill>
                  <a:srgbClr val="1C069E"/>
                </a:solidFill>
                <a:latin typeface="Consolas" panose="020B0609020204030204" pitchFamily="49" charset="0"/>
                <a:ea typeface="+mn-ea"/>
                <a:cs typeface="Consolas" panose="020B0609020204030204" pitchFamily="49" charset="0"/>
              </a:rPr>
              <a:t>unused</a:t>
            </a:r>
          </a:p>
        </p:txBody>
      </p:sp>
      <p:sp>
        <p:nvSpPr>
          <p:cNvPr id="20" name="Rectangle 22">
            <a:extLst>
              <a:ext uri="{FF2B5EF4-FFF2-40B4-BE49-F238E27FC236}">
                <a16:creationId xmlns:a16="http://schemas.microsoft.com/office/drawing/2014/main" id="{A8644C26-4CE8-196F-546F-0582150177DB}"/>
              </a:ext>
            </a:extLst>
          </p:cNvPr>
          <p:cNvSpPr>
            <a:spLocks noChangeArrowheads="1"/>
          </p:cNvSpPr>
          <p:nvPr/>
        </p:nvSpPr>
        <p:spPr bwMode="auto">
          <a:xfrm rot="16200000">
            <a:off x="4538656" y="4514212"/>
            <a:ext cx="1753686"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zh-CN" altLang="en-US" sz="2000" b="1" dirty="0">
                <a:solidFill>
                  <a:srgbClr val="FF3300"/>
                </a:solidFill>
                <a:latin typeface="Consolas" panose="020B0609020204030204" pitchFamily="49" charset="0"/>
                <a:ea typeface="+mn-ea"/>
                <a:cs typeface="Consolas" panose="020B0609020204030204" pitchFamily="49" charset="0"/>
              </a:rPr>
              <a:t>地址减小方向</a:t>
            </a:r>
            <a:endParaRPr lang="en-US" altLang="zh-CN" sz="2000" b="1" dirty="0">
              <a:solidFill>
                <a:srgbClr val="FF3300"/>
              </a:solidFill>
              <a:latin typeface="Consolas" panose="020B0609020204030204" pitchFamily="49" charset="0"/>
              <a:ea typeface="+mn-ea"/>
              <a:cs typeface="Consolas" panose="020B0609020204030204" pitchFamily="49" charset="0"/>
            </a:endParaRPr>
          </a:p>
        </p:txBody>
      </p:sp>
      <p:sp>
        <p:nvSpPr>
          <p:cNvPr id="21" name="Rectangle 24">
            <a:extLst>
              <a:ext uri="{FF2B5EF4-FFF2-40B4-BE49-F238E27FC236}">
                <a16:creationId xmlns:a16="http://schemas.microsoft.com/office/drawing/2014/main" id="{848221DB-CE3C-1D08-C496-80CC70A1088C}"/>
              </a:ext>
            </a:extLst>
          </p:cNvPr>
          <p:cNvSpPr>
            <a:spLocks noChangeArrowheads="1"/>
          </p:cNvSpPr>
          <p:nvPr/>
        </p:nvSpPr>
        <p:spPr bwMode="auto">
          <a:xfrm>
            <a:off x="5984442" y="5319425"/>
            <a:ext cx="1195841"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1600" b="1" dirty="0">
                <a:solidFill>
                  <a:srgbClr val="1C069E"/>
                </a:solidFill>
                <a:latin typeface="Consolas" panose="020B0609020204030204" pitchFamily="49" charset="0"/>
                <a:ea typeface="+mn-ea"/>
                <a:cs typeface="Consolas" panose="020B0609020204030204" pitchFamily="49" charset="0"/>
              </a:rPr>
              <a:t>temp vars</a:t>
            </a:r>
          </a:p>
        </p:txBody>
      </p:sp>
      <p:sp>
        <p:nvSpPr>
          <p:cNvPr id="22" name="Rectangle 25">
            <a:extLst>
              <a:ext uri="{FF2B5EF4-FFF2-40B4-BE49-F238E27FC236}">
                <a16:creationId xmlns:a16="http://schemas.microsoft.com/office/drawing/2014/main" id="{8E619F20-5959-1B75-76B1-5DA07334B701}"/>
              </a:ext>
            </a:extLst>
          </p:cNvPr>
          <p:cNvSpPr>
            <a:spLocks noChangeArrowheads="1"/>
          </p:cNvSpPr>
          <p:nvPr/>
        </p:nvSpPr>
        <p:spPr bwMode="auto">
          <a:xfrm>
            <a:off x="5869058" y="4971763"/>
            <a:ext cx="1420261"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1600" b="1" dirty="0">
                <a:solidFill>
                  <a:srgbClr val="1C069E"/>
                </a:solidFill>
                <a:latin typeface="Consolas" panose="020B0609020204030204" pitchFamily="49" charset="0"/>
                <a:ea typeface="+mn-ea"/>
                <a:cs typeface="Consolas" panose="020B0609020204030204" pitchFamily="49" charset="0"/>
              </a:rPr>
              <a:t>return addr</a:t>
            </a:r>
          </a:p>
        </p:txBody>
      </p:sp>
      <p:sp>
        <p:nvSpPr>
          <p:cNvPr id="23" name="Rectangle 26">
            <a:extLst>
              <a:ext uri="{FF2B5EF4-FFF2-40B4-BE49-F238E27FC236}">
                <a16:creationId xmlns:a16="http://schemas.microsoft.com/office/drawing/2014/main" id="{ECEC0AD0-DDF8-9171-A1B0-52420B68907B}"/>
              </a:ext>
            </a:extLst>
          </p:cNvPr>
          <p:cNvSpPr>
            <a:spLocks noChangeArrowheads="1"/>
          </p:cNvSpPr>
          <p:nvPr/>
        </p:nvSpPr>
        <p:spPr bwMode="auto">
          <a:xfrm>
            <a:off x="6426932" y="4709825"/>
            <a:ext cx="298160"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1600" b="1" dirty="0">
                <a:solidFill>
                  <a:srgbClr val="1C069E"/>
                </a:solidFill>
                <a:latin typeface="Consolas" panose="020B0609020204030204" pitchFamily="49" charset="0"/>
                <a:ea typeface="+mn-ea"/>
                <a:cs typeface="Consolas" panose="020B0609020204030204" pitchFamily="49" charset="0"/>
              </a:rPr>
              <a:t>1</a:t>
            </a:r>
          </a:p>
        </p:txBody>
      </p:sp>
      <p:sp>
        <p:nvSpPr>
          <p:cNvPr id="24" name="Rectangle 27">
            <a:extLst>
              <a:ext uri="{FF2B5EF4-FFF2-40B4-BE49-F238E27FC236}">
                <a16:creationId xmlns:a16="http://schemas.microsoft.com/office/drawing/2014/main" id="{C58831F8-2F80-3F01-734A-782BFC92D608}"/>
              </a:ext>
            </a:extLst>
          </p:cNvPr>
          <p:cNvSpPr>
            <a:spLocks noChangeArrowheads="1"/>
          </p:cNvSpPr>
          <p:nvPr/>
        </p:nvSpPr>
        <p:spPr bwMode="auto">
          <a:xfrm>
            <a:off x="5987619" y="4360575"/>
            <a:ext cx="1195841"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1600" b="1" dirty="0">
                <a:solidFill>
                  <a:srgbClr val="1C069E"/>
                </a:solidFill>
                <a:latin typeface="Consolas" panose="020B0609020204030204" pitchFamily="49" charset="0"/>
                <a:ea typeface="+mn-ea"/>
                <a:cs typeface="Consolas" panose="020B0609020204030204" pitchFamily="49" charset="0"/>
              </a:rPr>
              <a:t>temp vars</a:t>
            </a:r>
          </a:p>
        </p:txBody>
      </p:sp>
      <p:sp>
        <p:nvSpPr>
          <p:cNvPr id="25" name="Rectangle 28">
            <a:extLst>
              <a:ext uri="{FF2B5EF4-FFF2-40B4-BE49-F238E27FC236}">
                <a16:creationId xmlns:a16="http://schemas.microsoft.com/office/drawing/2014/main" id="{D34C4BE9-8DD2-40CC-215D-615B5140C34F}"/>
              </a:ext>
            </a:extLst>
          </p:cNvPr>
          <p:cNvSpPr>
            <a:spLocks noChangeArrowheads="1"/>
          </p:cNvSpPr>
          <p:nvPr/>
        </p:nvSpPr>
        <p:spPr bwMode="auto">
          <a:xfrm>
            <a:off x="5872235" y="4038767"/>
            <a:ext cx="1420261"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1600" b="1" dirty="0">
                <a:solidFill>
                  <a:srgbClr val="1C069E"/>
                </a:solidFill>
                <a:latin typeface="Consolas" panose="020B0609020204030204" pitchFamily="49" charset="0"/>
                <a:ea typeface="+mn-ea"/>
                <a:cs typeface="Consolas" panose="020B0609020204030204" pitchFamily="49" charset="0"/>
              </a:rPr>
              <a:t>return addr</a:t>
            </a:r>
          </a:p>
        </p:txBody>
      </p:sp>
      <p:sp>
        <p:nvSpPr>
          <p:cNvPr id="26" name="Rectangle 29">
            <a:extLst>
              <a:ext uri="{FF2B5EF4-FFF2-40B4-BE49-F238E27FC236}">
                <a16:creationId xmlns:a16="http://schemas.microsoft.com/office/drawing/2014/main" id="{E580AF8A-0ECB-0FDE-9BE1-12FBE24AF755}"/>
              </a:ext>
            </a:extLst>
          </p:cNvPr>
          <p:cNvSpPr>
            <a:spLocks noChangeArrowheads="1"/>
          </p:cNvSpPr>
          <p:nvPr/>
        </p:nvSpPr>
        <p:spPr bwMode="auto">
          <a:xfrm>
            <a:off x="6430107" y="3750975"/>
            <a:ext cx="298160"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1600" b="1" dirty="0">
                <a:solidFill>
                  <a:srgbClr val="1C069E"/>
                </a:solidFill>
                <a:latin typeface="Consolas" panose="020B0609020204030204" pitchFamily="49" charset="0"/>
                <a:ea typeface="+mn-ea"/>
                <a:cs typeface="Consolas" panose="020B0609020204030204" pitchFamily="49" charset="0"/>
              </a:rPr>
              <a:t>2</a:t>
            </a:r>
          </a:p>
        </p:txBody>
      </p:sp>
      <p:sp>
        <p:nvSpPr>
          <p:cNvPr id="27" name="Rectangle 17">
            <a:extLst>
              <a:ext uri="{FF2B5EF4-FFF2-40B4-BE49-F238E27FC236}">
                <a16:creationId xmlns:a16="http://schemas.microsoft.com/office/drawing/2014/main" id="{8323E223-E030-2B6A-A0BD-E90CC7672C8A}"/>
              </a:ext>
            </a:extLst>
          </p:cNvPr>
          <p:cNvSpPr>
            <a:spLocks noChangeArrowheads="1"/>
          </p:cNvSpPr>
          <p:nvPr/>
        </p:nvSpPr>
        <p:spPr bwMode="auto">
          <a:xfrm>
            <a:off x="6146407" y="6303222"/>
            <a:ext cx="859211"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1600" b="1" dirty="0">
                <a:solidFill>
                  <a:srgbClr val="1C069E"/>
                </a:solidFill>
                <a:latin typeface="Consolas" panose="020B0609020204030204" pitchFamily="49" charset="0"/>
                <a:ea typeface="+mn-ea"/>
                <a:cs typeface="Consolas" panose="020B0609020204030204" pitchFamily="49" charset="0"/>
              </a:rPr>
              <a:t>unused</a:t>
            </a:r>
          </a:p>
        </p:txBody>
      </p:sp>
      <p:sp>
        <p:nvSpPr>
          <p:cNvPr id="28" name="Rectangle 33">
            <a:extLst>
              <a:ext uri="{FF2B5EF4-FFF2-40B4-BE49-F238E27FC236}">
                <a16:creationId xmlns:a16="http://schemas.microsoft.com/office/drawing/2014/main" id="{6EF632FD-DECF-3948-4AB2-3D7236DBD57D}"/>
              </a:ext>
            </a:extLst>
          </p:cNvPr>
          <p:cNvSpPr>
            <a:spLocks noChangeArrowheads="1"/>
          </p:cNvSpPr>
          <p:nvPr/>
        </p:nvSpPr>
        <p:spPr bwMode="auto">
          <a:xfrm>
            <a:off x="7299912" y="3773441"/>
            <a:ext cx="175240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a:lstStyle>
          <a:p>
            <a:pPr eaLnBrk="0" hangingPunct="0"/>
            <a:r>
              <a:rPr lang="en-US" altLang="zh-CN" sz="2000" b="1" dirty="0">
                <a:solidFill>
                  <a:srgbClr val="FF0000"/>
                </a:solidFill>
                <a:latin typeface="Consolas" panose="020B0609020204030204" pitchFamily="49" charset="0"/>
                <a:ea typeface="+mn-ea"/>
                <a:cs typeface="Consolas" panose="020B0609020204030204" pitchFamily="49" charset="0"/>
              </a:rPr>
              <a:t>fact(2)</a:t>
            </a:r>
          </a:p>
          <a:p>
            <a:pPr eaLnBrk="0" hangingPunct="0"/>
            <a:r>
              <a:rPr lang="zh-CN" altLang="en-US" sz="2000" b="1" dirty="0">
                <a:solidFill>
                  <a:srgbClr val="FF0000"/>
                </a:solidFill>
                <a:latin typeface="Consolas" panose="020B0609020204030204" pitchFamily="49" charset="0"/>
                <a:ea typeface="+mn-ea"/>
                <a:cs typeface="Consolas" panose="020B0609020204030204" pitchFamily="49" charset="0"/>
              </a:rPr>
              <a:t>的过程调用帧</a:t>
            </a:r>
            <a:endParaRPr lang="zh-CN" altLang="en-US" sz="1600" b="1" dirty="0">
              <a:solidFill>
                <a:srgbClr val="FF0000"/>
              </a:solidFill>
              <a:latin typeface="Consolas" panose="020B0609020204030204" pitchFamily="49" charset="0"/>
              <a:ea typeface="+mn-ea"/>
              <a:cs typeface="Consolas" panose="020B0609020204030204" pitchFamily="49" charset="0"/>
            </a:endParaRPr>
          </a:p>
        </p:txBody>
      </p:sp>
      <p:sp>
        <p:nvSpPr>
          <p:cNvPr id="32" name="Rectangle 34">
            <a:extLst>
              <a:ext uri="{FF2B5EF4-FFF2-40B4-BE49-F238E27FC236}">
                <a16:creationId xmlns:a16="http://schemas.microsoft.com/office/drawing/2014/main" id="{190D26A0-3713-8107-EC08-1F0D81A6E391}"/>
              </a:ext>
            </a:extLst>
          </p:cNvPr>
          <p:cNvSpPr>
            <a:spLocks noChangeArrowheads="1"/>
          </p:cNvSpPr>
          <p:nvPr/>
        </p:nvSpPr>
        <p:spPr bwMode="auto">
          <a:xfrm>
            <a:off x="7306968" y="4757455"/>
            <a:ext cx="175240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a:lstStyle>
          <a:p>
            <a:pPr eaLnBrk="0" hangingPunct="0"/>
            <a:r>
              <a:rPr lang="en-US" altLang="zh-CN" sz="2000" b="1" dirty="0">
                <a:solidFill>
                  <a:srgbClr val="FF0000"/>
                </a:solidFill>
                <a:latin typeface="Consolas" panose="020B0609020204030204" pitchFamily="49" charset="0"/>
                <a:ea typeface="+mn-ea"/>
                <a:cs typeface="Consolas" panose="020B0609020204030204" pitchFamily="49" charset="0"/>
              </a:rPr>
              <a:t>fact(1)</a:t>
            </a:r>
          </a:p>
          <a:p>
            <a:pPr eaLnBrk="0" hangingPunct="0"/>
            <a:r>
              <a:rPr lang="zh-CN" altLang="en-US" sz="2000" b="1" dirty="0">
                <a:solidFill>
                  <a:srgbClr val="FF0000"/>
                </a:solidFill>
                <a:latin typeface="Consolas" panose="020B0609020204030204" pitchFamily="49" charset="0"/>
                <a:ea typeface="+mn-ea"/>
                <a:cs typeface="Consolas" panose="020B0609020204030204" pitchFamily="49" charset="0"/>
              </a:rPr>
              <a:t>的过程调用帧</a:t>
            </a:r>
            <a:endParaRPr lang="zh-CN" altLang="en-US" sz="1600" b="1" dirty="0">
              <a:solidFill>
                <a:srgbClr val="FF0000"/>
              </a:solidFill>
              <a:latin typeface="Consolas" panose="020B0609020204030204" pitchFamily="49" charset="0"/>
              <a:ea typeface="+mn-ea"/>
              <a:cs typeface="Consolas" panose="020B0609020204030204" pitchFamily="49" charset="0"/>
            </a:endParaRPr>
          </a:p>
        </p:txBody>
      </p:sp>
    </p:spTree>
    <p:extLst>
      <p:ext uri="{BB962C8B-B14F-4D97-AF65-F5344CB8AC3E}">
        <p14:creationId xmlns:p14="http://schemas.microsoft.com/office/powerpoint/2010/main" val="708999814"/>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灯片编号占位符 3">
            <a:extLst>
              <a:ext uri="{FF2B5EF4-FFF2-40B4-BE49-F238E27FC236}">
                <a16:creationId xmlns:a16="http://schemas.microsoft.com/office/drawing/2014/main" id="{F09C93A6-41D7-4B47-A78F-E636A9553D6B}"/>
              </a:ext>
            </a:extLst>
          </p:cNvPr>
          <p:cNvSpPr>
            <a:spLocks noGrp="1"/>
          </p:cNvSpPr>
          <p:nvPr>
            <p:ph type="sldNum" sz="quarter" idx="12"/>
          </p:nvPr>
        </p:nvSpPr>
        <p:spPr/>
        <p:txBody>
          <a:bodyPr/>
          <a:lstStyle/>
          <a:p>
            <a:fld id="{14659731-6BD7-46E7-8D3C-2F3AC07E20B1}" type="slidenum">
              <a:rPr lang="en-US" altLang="zh-CN" smtClean="0"/>
              <a:pPr/>
              <a:t>140</a:t>
            </a:fld>
            <a:endParaRPr lang="en-US" altLang="zh-CN"/>
          </a:p>
        </p:txBody>
      </p:sp>
      <p:sp>
        <p:nvSpPr>
          <p:cNvPr id="29702" name="Rectangle 4"/>
          <p:cNvSpPr>
            <a:spLocks noGrp="1" noChangeArrowheads="1"/>
          </p:cNvSpPr>
          <p:nvPr>
            <p:ph idx="4294967295"/>
          </p:nvPr>
        </p:nvSpPr>
        <p:spPr>
          <a:xfrm>
            <a:off x="339212" y="1302211"/>
            <a:ext cx="5041438" cy="5256213"/>
          </a:xfrm>
          <a:noFill/>
        </p:spPr>
        <p:txBody>
          <a:bodyPr lIns="92075" tIns="46038" rIns="92075" bIns="46038"/>
          <a:lstStyle/>
          <a:p>
            <a:pPr eaLnBrk="1" hangingPunct="1"/>
            <a:r>
              <a:rPr lang="zh-CN" altLang="en-US" sz="2400" dirty="0"/>
              <a:t>我们需要存储</a:t>
            </a:r>
            <a:r>
              <a:rPr lang="en-US" altLang="zh-CN" sz="2400" dirty="0"/>
              <a:t>:</a:t>
            </a:r>
          </a:p>
          <a:p>
            <a:pPr lvl="1" eaLnBrk="1" hangingPunct="1"/>
            <a:r>
              <a:rPr lang="zh-CN" altLang="en-US" sz="2000" dirty="0"/>
              <a:t>返回地址</a:t>
            </a:r>
            <a:r>
              <a:rPr lang="en-US" altLang="zh-CN" sz="2000" dirty="0"/>
              <a:t>(old </a:t>
            </a:r>
            <a:r>
              <a:rPr lang="en-US" altLang="zh-CN" sz="2000" dirty="0" err="1"/>
              <a:t>ra</a:t>
            </a:r>
            <a:r>
              <a:rPr lang="en-US" altLang="zh-CN" sz="2000" dirty="0"/>
              <a:t>)</a:t>
            </a:r>
          </a:p>
          <a:p>
            <a:pPr lvl="1" eaLnBrk="1" hangingPunct="1"/>
            <a:r>
              <a:rPr lang="zh-CN" altLang="en-US" sz="2000" dirty="0"/>
              <a:t>参数 </a:t>
            </a:r>
            <a:r>
              <a:rPr lang="en-US" altLang="zh-CN" sz="2000" dirty="0">
                <a:solidFill>
                  <a:srgbClr val="1C069E"/>
                </a:solidFill>
              </a:rPr>
              <a:t>n </a:t>
            </a:r>
            <a:r>
              <a:rPr lang="en-US" altLang="zh-CN" sz="2000" dirty="0"/>
              <a:t>in </a:t>
            </a:r>
            <a:r>
              <a:rPr lang="en-US" altLang="zh-CN" sz="2000" dirty="0">
                <a:solidFill>
                  <a:srgbClr val="1C069E"/>
                </a:solidFill>
              </a:rPr>
              <a:t>fact(n)</a:t>
            </a:r>
          </a:p>
          <a:p>
            <a:pPr lvl="1" eaLnBrk="1" hangingPunct="1"/>
            <a:r>
              <a:rPr lang="zh-CN" altLang="en-US" sz="2000" dirty="0"/>
              <a:t>临时</a:t>
            </a:r>
            <a:r>
              <a:rPr lang="en-US" altLang="zh-CN" sz="2000" dirty="0"/>
              <a:t>/</a:t>
            </a:r>
            <a:r>
              <a:rPr lang="zh-CN" altLang="en-US" sz="2000" dirty="0"/>
              <a:t>局部的变量 （在</a:t>
            </a:r>
            <a:r>
              <a:rPr lang="en-US" altLang="zh-CN" sz="2000" dirty="0">
                <a:solidFill>
                  <a:srgbClr val="1C069E"/>
                </a:solidFill>
              </a:rPr>
              <a:t>f</a:t>
            </a:r>
            <a:r>
              <a:rPr lang="zh-CN" altLang="en-US" sz="2000" dirty="0">
                <a:solidFill>
                  <a:srgbClr val="1C069E"/>
                </a:solidFill>
              </a:rPr>
              <a:t>执行过程中）</a:t>
            </a:r>
          </a:p>
          <a:p>
            <a:pPr lvl="1" eaLnBrk="1" hangingPunct="1"/>
            <a:r>
              <a:rPr lang="zh-CN" altLang="en-US" sz="2000" dirty="0"/>
              <a:t>被破坏的寄存器</a:t>
            </a:r>
          </a:p>
          <a:p>
            <a:pPr lvl="1" eaLnBrk="1" hangingPunct="1"/>
            <a:endParaRPr lang="zh-CN" altLang="en-US" sz="1900" dirty="0">
              <a:solidFill>
                <a:schemeClr val="accent2"/>
              </a:solidFill>
            </a:endParaRPr>
          </a:p>
          <a:p>
            <a:pPr eaLnBrk="1" hangingPunct="1"/>
            <a:r>
              <a:rPr lang="zh-CN" altLang="en-US" sz="2400" dirty="0"/>
              <a:t>想法</a:t>
            </a:r>
            <a:r>
              <a:rPr lang="en-US" altLang="zh-CN" sz="2400" dirty="0"/>
              <a:t>: </a:t>
            </a:r>
            <a:r>
              <a:rPr lang="zh-CN" altLang="en-US" sz="2400" dirty="0"/>
              <a:t>存在栈里</a:t>
            </a:r>
            <a:r>
              <a:rPr lang="en-US" altLang="zh-CN" sz="2400" dirty="0"/>
              <a:t>!</a:t>
            </a:r>
          </a:p>
          <a:p>
            <a:pPr lvl="1" eaLnBrk="1" hangingPunct="1"/>
            <a:r>
              <a:rPr lang="zh-CN" altLang="en-US" sz="2000" dirty="0"/>
              <a:t>增长</a:t>
            </a:r>
            <a:r>
              <a:rPr lang="en-US" altLang="zh-CN" sz="2000" dirty="0"/>
              <a:t>(PUSH </a:t>
            </a:r>
            <a:r>
              <a:rPr lang="zh-CN" altLang="en-US" sz="2000" dirty="0"/>
              <a:t>进去</a:t>
            </a:r>
            <a:r>
              <a:rPr lang="en-US" altLang="zh-CN" sz="2000" dirty="0"/>
              <a:t>) </a:t>
            </a:r>
            <a:r>
              <a:rPr lang="zh-CN" altLang="en-US" sz="2000" dirty="0"/>
              <a:t>栈，（每次调用函数时）</a:t>
            </a:r>
          </a:p>
          <a:p>
            <a:pPr lvl="1" eaLnBrk="1" hangingPunct="1"/>
            <a:r>
              <a:rPr lang="zh-CN" altLang="en-US" sz="2000" dirty="0"/>
              <a:t>缩减栈</a:t>
            </a:r>
            <a:r>
              <a:rPr lang="en-US" altLang="zh-CN" sz="2000" dirty="0"/>
              <a:t>(POP </a:t>
            </a:r>
            <a:r>
              <a:rPr lang="zh-CN" altLang="en-US" sz="2000" dirty="0"/>
              <a:t>出来</a:t>
            </a:r>
            <a:r>
              <a:rPr lang="en-US" altLang="zh-CN" sz="2000" dirty="0"/>
              <a:t>) </a:t>
            </a:r>
            <a:r>
              <a:rPr lang="zh-CN" altLang="en-US" sz="2000" dirty="0"/>
              <a:t>（每次返回时）</a:t>
            </a:r>
          </a:p>
          <a:p>
            <a:pPr lvl="1" eaLnBrk="1" hangingPunct="1"/>
            <a:r>
              <a:rPr lang="zh-CN" altLang="en-US" sz="2000" dirty="0"/>
              <a:t>每次调用都有自己的</a:t>
            </a:r>
            <a:r>
              <a:rPr lang="zh-CN" altLang="en-US" sz="2000" dirty="0">
                <a:latin typeface="Comic Sans MS" pitchFamily="66" charset="0"/>
              </a:rPr>
              <a:t>“过程调用</a:t>
            </a:r>
            <a:r>
              <a:rPr lang="zh-CN" altLang="en-US" sz="2000" dirty="0"/>
              <a:t>帧</a:t>
            </a:r>
            <a:r>
              <a:rPr lang="zh-CN" altLang="en-US" sz="2000" dirty="0">
                <a:latin typeface="Comic Sans MS" pitchFamily="66" charset="0"/>
              </a:rPr>
              <a:t>”</a:t>
            </a:r>
            <a:endParaRPr lang="zh-CN" altLang="en-US" sz="2000" dirty="0"/>
          </a:p>
        </p:txBody>
      </p:sp>
      <p:sp>
        <p:nvSpPr>
          <p:cNvPr id="29728" name="Oval 30"/>
          <p:cNvSpPr>
            <a:spLocks noChangeArrowheads="1"/>
          </p:cNvSpPr>
          <p:nvPr/>
        </p:nvSpPr>
        <p:spPr bwMode="auto">
          <a:xfrm>
            <a:off x="7192761" y="2767587"/>
            <a:ext cx="1724482" cy="799646"/>
          </a:xfrm>
          <a:prstGeom prst="rect">
            <a:avLst/>
          </a:prstGeom>
          <a:solidFill>
            <a:schemeClr val="bg2">
              <a:lumMod val="20000"/>
              <a:lumOff val="80000"/>
            </a:schemeClr>
          </a:solidFill>
          <a:ln w="19050">
            <a:noFill/>
            <a:round/>
            <a:headEnd/>
            <a:tailEnd type="none" w="lg" len="lg"/>
          </a:ln>
        </p:spPr>
        <p:txBody>
          <a:bodyPr wrap="none" lIns="0" tIns="0" rIns="0" bIns="0" anchor="ctr"/>
          <a:lstStyle/>
          <a:p>
            <a:pPr algn="ctr" eaLnBrk="0" hangingPunct="0"/>
            <a:r>
              <a:rPr lang="zh-CN" altLang="en-US" sz="2400" b="1" dirty="0">
                <a:solidFill>
                  <a:schemeClr val="tx1"/>
                </a:solidFill>
                <a:latin typeface="+mn-lt"/>
                <a:ea typeface="+mj-ea"/>
                <a:cs typeface="Consolas" panose="020B0609020204030204" pitchFamily="49" charset="0"/>
              </a:rPr>
              <a:t>例如</a:t>
            </a:r>
            <a:endParaRPr lang="zh-CN" altLang="en-US" b="1" dirty="0">
              <a:solidFill>
                <a:schemeClr val="tx1"/>
              </a:solidFill>
              <a:latin typeface="+mn-lt"/>
              <a:ea typeface="+mj-ea"/>
              <a:cs typeface="Consolas" panose="020B0609020204030204" pitchFamily="49" charset="0"/>
            </a:endParaRPr>
          </a:p>
          <a:p>
            <a:pPr algn="ctr" eaLnBrk="0" hangingPunct="0"/>
            <a:r>
              <a:rPr lang="zh-CN" altLang="en-US" sz="2400" b="1" dirty="0">
                <a:solidFill>
                  <a:schemeClr val="tx1"/>
                </a:solidFill>
                <a:latin typeface="+mn-lt"/>
                <a:ea typeface="+mj-ea"/>
                <a:cs typeface="Consolas" panose="020B0609020204030204" pitchFamily="49" charset="0"/>
              </a:rPr>
              <a:t>调用</a:t>
            </a:r>
            <a:r>
              <a:rPr lang="en-US" altLang="zh-CN" sz="2400" b="1" dirty="0">
                <a:solidFill>
                  <a:schemeClr val="tx1"/>
                </a:solidFill>
                <a:latin typeface="+mn-lt"/>
                <a:ea typeface="+mj-ea"/>
                <a:cs typeface="Consolas" panose="020B0609020204030204" pitchFamily="49" charset="0"/>
              </a:rPr>
              <a:t>fact(2)</a:t>
            </a:r>
            <a:endParaRPr lang="en-US" altLang="zh-CN" b="1" dirty="0">
              <a:solidFill>
                <a:schemeClr val="tx1"/>
              </a:solidFill>
              <a:latin typeface="+mn-lt"/>
              <a:ea typeface="+mj-ea"/>
              <a:cs typeface="Consolas" panose="020B0609020204030204" pitchFamily="49" charset="0"/>
            </a:endParaRPr>
          </a:p>
        </p:txBody>
      </p:sp>
      <p:sp>
        <p:nvSpPr>
          <p:cNvPr id="35" name="Rectangle 23">
            <a:extLst>
              <a:ext uri="{FF2B5EF4-FFF2-40B4-BE49-F238E27FC236}">
                <a16:creationId xmlns:a16="http://schemas.microsoft.com/office/drawing/2014/main" id="{F6AC55A4-4FC4-42A9-B254-67833D3532B5}"/>
              </a:ext>
            </a:extLst>
          </p:cNvPr>
          <p:cNvSpPr>
            <a:spLocks noChangeArrowheads="1"/>
          </p:cNvSpPr>
          <p:nvPr/>
        </p:nvSpPr>
        <p:spPr bwMode="auto">
          <a:xfrm>
            <a:off x="5111468" y="1282357"/>
            <a:ext cx="3731791" cy="203196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spAutoFit/>
          </a:bodyPr>
          <a:lstStyle/>
          <a:p>
            <a:pPr algn="l" eaLnBrk="0" hangingPunct="0"/>
            <a:r>
              <a:rPr lang="en-US" altLang="zh-CN" sz="1800" b="1" i="1" dirty="0" err="1">
                <a:solidFill>
                  <a:srgbClr val="1C069E"/>
                </a:solidFill>
                <a:latin typeface="Consolas" panose="020B0609020204030204" pitchFamily="49" charset="0"/>
              </a:rPr>
              <a:t>int</a:t>
            </a:r>
            <a:r>
              <a:rPr lang="en-US" altLang="zh-CN" sz="1800" b="1" i="1" dirty="0">
                <a:solidFill>
                  <a:srgbClr val="1C069E"/>
                </a:solidFill>
                <a:latin typeface="Consolas" panose="020B0609020204030204" pitchFamily="49" charset="0"/>
              </a:rPr>
              <a:t> fact( </a:t>
            </a:r>
            <a:r>
              <a:rPr lang="en-US" altLang="zh-CN" sz="1800" b="1" i="1" dirty="0" err="1">
                <a:solidFill>
                  <a:srgbClr val="1C069E"/>
                </a:solidFill>
                <a:latin typeface="Consolas" panose="020B0609020204030204" pitchFamily="49" charset="0"/>
              </a:rPr>
              <a:t>int</a:t>
            </a:r>
            <a:r>
              <a:rPr lang="en-US" altLang="zh-CN" sz="1800" b="1" i="1" dirty="0">
                <a:solidFill>
                  <a:srgbClr val="1C069E"/>
                </a:solidFill>
                <a:latin typeface="Consolas" panose="020B0609020204030204" pitchFamily="49" charset="0"/>
              </a:rPr>
              <a:t> n )</a:t>
            </a:r>
          </a:p>
          <a:p>
            <a:pPr algn="l" eaLnBrk="0" hangingPunct="0"/>
            <a:r>
              <a:rPr lang="en-US" altLang="zh-CN" sz="1800" b="1" i="1" dirty="0">
                <a:solidFill>
                  <a:srgbClr val="1C069E"/>
                </a:solidFill>
                <a:latin typeface="Consolas" panose="020B0609020204030204" pitchFamily="49" charset="0"/>
              </a:rPr>
              <a:t>{</a:t>
            </a:r>
          </a:p>
          <a:p>
            <a:pPr algn="l" eaLnBrk="0" hangingPunct="0"/>
            <a:r>
              <a:rPr lang="en-US" altLang="zh-CN" sz="1800" b="1" i="1" dirty="0">
                <a:solidFill>
                  <a:srgbClr val="1C069E"/>
                </a:solidFill>
                <a:latin typeface="Consolas" panose="020B0609020204030204" pitchFamily="49" charset="0"/>
              </a:rPr>
              <a:t>   if (n &gt; 0)</a:t>
            </a:r>
          </a:p>
          <a:p>
            <a:pPr algn="l" eaLnBrk="0" hangingPunct="0"/>
            <a:r>
              <a:rPr lang="en-US" altLang="zh-CN" sz="1800" b="1" i="1" dirty="0">
                <a:solidFill>
                  <a:srgbClr val="1C069E"/>
                </a:solidFill>
                <a:latin typeface="Consolas" panose="020B0609020204030204" pitchFamily="49" charset="0"/>
              </a:rPr>
              <a:t>     return fact( n-1 ) * n;</a:t>
            </a:r>
          </a:p>
          <a:p>
            <a:pPr algn="l" eaLnBrk="0" hangingPunct="0"/>
            <a:r>
              <a:rPr lang="en-US" altLang="zh-CN" sz="1800" b="1" i="1" dirty="0">
                <a:solidFill>
                  <a:srgbClr val="1C069E"/>
                </a:solidFill>
                <a:latin typeface="Consolas" panose="020B0609020204030204" pitchFamily="49" charset="0"/>
              </a:rPr>
              <a:t>   else</a:t>
            </a:r>
          </a:p>
          <a:p>
            <a:pPr algn="l" eaLnBrk="0" hangingPunct="0"/>
            <a:r>
              <a:rPr lang="en-US" altLang="zh-CN" sz="1800" b="1" i="1" dirty="0">
                <a:solidFill>
                  <a:srgbClr val="1C069E"/>
                </a:solidFill>
                <a:latin typeface="Consolas" panose="020B0609020204030204" pitchFamily="49" charset="0"/>
              </a:rPr>
              <a:t>     return 1 ;</a:t>
            </a:r>
          </a:p>
          <a:p>
            <a:pPr algn="l" eaLnBrk="0" hangingPunct="0"/>
            <a:r>
              <a:rPr lang="en-US" altLang="zh-CN" sz="1800" b="1" i="1" dirty="0">
                <a:solidFill>
                  <a:srgbClr val="1C069E"/>
                </a:solidFill>
                <a:latin typeface="Consolas" panose="020B0609020204030204" pitchFamily="49" charset="0"/>
              </a:rPr>
              <a:t>}</a:t>
            </a:r>
          </a:p>
        </p:txBody>
      </p:sp>
      <p:sp>
        <p:nvSpPr>
          <p:cNvPr id="2" name="Title 4">
            <a:extLst>
              <a:ext uri="{FF2B5EF4-FFF2-40B4-BE49-F238E27FC236}">
                <a16:creationId xmlns:a16="http://schemas.microsoft.com/office/drawing/2014/main" id="{9F92B80D-E2F8-51FE-09CD-9857D89281EB}"/>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dirty="0"/>
              <a:t>编程指南：过程调用</a:t>
            </a:r>
            <a:endParaRPr lang="en-CN" kern="0" dirty="0"/>
          </a:p>
        </p:txBody>
      </p:sp>
      <p:sp>
        <p:nvSpPr>
          <p:cNvPr id="3" name="Rectangle 5">
            <a:extLst>
              <a:ext uri="{FF2B5EF4-FFF2-40B4-BE49-F238E27FC236}">
                <a16:creationId xmlns:a16="http://schemas.microsoft.com/office/drawing/2014/main" id="{A629A11D-1D64-737D-548A-2F097C93DC63}"/>
              </a:ext>
            </a:extLst>
          </p:cNvPr>
          <p:cNvSpPr>
            <a:spLocks noChangeArrowheads="1"/>
          </p:cNvSpPr>
          <p:nvPr/>
        </p:nvSpPr>
        <p:spPr bwMode="auto">
          <a:xfrm>
            <a:off x="7543259" y="6398321"/>
            <a:ext cx="750205"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2000" b="1" i="1" dirty="0">
                <a:solidFill>
                  <a:srgbClr val="1C069E"/>
                </a:solidFill>
                <a:latin typeface="Consolas" panose="020B0609020204030204" pitchFamily="49" charset="0"/>
                <a:ea typeface="+mn-ea"/>
                <a:cs typeface="Consolas" panose="020B0609020204030204" pitchFamily="49" charset="0"/>
              </a:rPr>
              <a:t>&lt;SP&gt;</a:t>
            </a:r>
          </a:p>
        </p:txBody>
      </p:sp>
      <p:sp>
        <p:nvSpPr>
          <p:cNvPr id="4" name="Line 6">
            <a:extLst>
              <a:ext uri="{FF2B5EF4-FFF2-40B4-BE49-F238E27FC236}">
                <a16:creationId xmlns:a16="http://schemas.microsoft.com/office/drawing/2014/main" id="{8EFEDB72-D2D7-ABB1-DC57-6CCB415BA513}"/>
              </a:ext>
            </a:extLst>
          </p:cNvPr>
          <p:cNvSpPr>
            <a:spLocks noChangeShapeType="1"/>
          </p:cNvSpPr>
          <p:nvPr/>
        </p:nvSpPr>
        <p:spPr bwMode="auto">
          <a:xfrm>
            <a:off x="5866400" y="3647788"/>
            <a:ext cx="0" cy="2979736"/>
          </a:xfrm>
          <a:prstGeom prst="line">
            <a:avLst/>
          </a:prstGeom>
          <a:noFill/>
          <a:ln w="254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5" name="Line 7">
            <a:extLst>
              <a:ext uri="{FF2B5EF4-FFF2-40B4-BE49-F238E27FC236}">
                <a16:creationId xmlns:a16="http://schemas.microsoft.com/office/drawing/2014/main" id="{EFD926DD-222F-7EAF-6A51-BD2347017C9A}"/>
              </a:ext>
            </a:extLst>
          </p:cNvPr>
          <p:cNvSpPr>
            <a:spLocks noChangeShapeType="1"/>
          </p:cNvSpPr>
          <p:nvPr/>
        </p:nvSpPr>
        <p:spPr bwMode="auto">
          <a:xfrm>
            <a:off x="7238000" y="3647787"/>
            <a:ext cx="0" cy="2979737"/>
          </a:xfrm>
          <a:prstGeom prst="line">
            <a:avLst/>
          </a:prstGeom>
          <a:noFill/>
          <a:ln w="254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6" name="Line 8">
            <a:extLst>
              <a:ext uri="{FF2B5EF4-FFF2-40B4-BE49-F238E27FC236}">
                <a16:creationId xmlns:a16="http://schemas.microsoft.com/office/drawing/2014/main" id="{C7625231-ADBA-9CDA-FF27-573936F6D19A}"/>
              </a:ext>
            </a:extLst>
          </p:cNvPr>
          <p:cNvSpPr>
            <a:spLocks noChangeShapeType="1"/>
          </p:cNvSpPr>
          <p:nvPr/>
        </p:nvSpPr>
        <p:spPr bwMode="auto">
          <a:xfrm>
            <a:off x="5871163" y="4022438"/>
            <a:ext cx="1366837" cy="0"/>
          </a:xfrm>
          <a:prstGeom prst="line">
            <a:avLst/>
          </a:prstGeom>
          <a:noFill/>
          <a:ln w="127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7" name="Line 9">
            <a:extLst>
              <a:ext uri="{FF2B5EF4-FFF2-40B4-BE49-F238E27FC236}">
                <a16:creationId xmlns:a16="http://schemas.microsoft.com/office/drawing/2014/main" id="{BAC11B97-A680-C840-15F9-EFFFD253AD0E}"/>
              </a:ext>
            </a:extLst>
          </p:cNvPr>
          <p:cNvSpPr>
            <a:spLocks noChangeShapeType="1"/>
          </p:cNvSpPr>
          <p:nvPr/>
        </p:nvSpPr>
        <p:spPr bwMode="auto">
          <a:xfrm>
            <a:off x="5871163" y="4713000"/>
            <a:ext cx="1366837" cy="0"/>
          </a:xfrm>
          <a:prstGeom prst="line">
            <a:avLst/>
          </a:prstGeom>
          <a:noFill/>
          <a:ln w="508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8" name="Line 10">
            <a:extLst>
              <a:ext uri="{FF2B5EF4-FFF2-40B4-BE49-F238E27FC236}">
                <a16:creationId xmlns:a16="http://schemas.microsoft.com/office/drawing/2014/main" id="{B0137B3A-1D7B-087C-655D-F7FACE8CCDE8}"/>
              </a:ext>
            </a:extLst>
          </p:cNvPr>
          <p:cNvSpPr>
            <a:spLocks noChangeShapeType="1"/>
          </p:cNvSpPr>
          <p:nvPr/>
        </p:nvSpPr>
        <p:spPr bwMode="auto">
          <a:xfrm>
            <a:off x="5871163" y="4398675"/>
            <a:ext cx="1366837" cy="0"/>
          </a:xfrm>
          <a:prstGeom prst="line">
            <a:avLst/>
          </a:prstGeom>
          <a:noFill/>
          <a:ln w="127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9" name="Line 11">
            <a:extLst>
              <a:ext uri="{FF2B5EF4-FFF2-40B4-BE49-F238E27FC236}">
                <a16:creationId xmlns:a16="http://schemas.microsoft.com/office/drawing/2014/main" id="{20E8C2A3-45CC-17EC-D08D-9A7B7B2D3AEE}"/>
              </a:ext>
            </a:extLst>
          </p:cNvPr>
          <p:cNvSpPr>
            <a:spLocks noChangeShapeType="1"/>
          </p:cNvSpPr>
          <p:nvPr/>
        </p:nvSpPr>
        <p:spPr bwMode="auto">
          <a:xfrm>
            <a:off x="5871163" y="3709700"/>
            <a:ext cx="1366837" cy="0"/>
          </a:xfrm>
          <a:prstGeom prst="line">
            <a:avLst/>
          </a:prstGeom>
          <a:noFill/>
          <a:ln w="508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10" name="Line 12">
            <a:extLst>
              <a:ext uri="{FF2B5EF4-FFF2-40B4-BE49-F238E27FC236}">
                <a16:creationId xmlns:a16="http://schemas.microsoft.com/office/drawing/2014/main" id="{56500851-FB1A-FEF3-CED0-1972B3943971}"/>
              </a:ext>
            </a:extLst>
          </p:cNvPr>
          <p:cNvSpPr>
            <a:spLocks noChangeShapeType="1"/>
          </p:cNvSpPr>
          <p:nvPr/>
        </p:nvSpPr>
        <p:spPr bwMode="auto">
          <a:xfrm>
            <a:off x="5871163" y="5025738"/>
            <a:ext cx="1366837" cy="0"/>
          </a:xfrm>
          <a:prstGeom prst="line">
            <a:avLst/>
          </a:prstGeom>
          <a:noFill/>
          <a:ln w="127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11" name="Line 13">
            <a:extLst>
              <a:ext uri="{FF2B5EF4-FFF2-40B4-BE49-F238E27FC236}">
                <a16:creationId xmlns:a16="http://schemas.microsoft.com/office/drawing/2014/main" id="{A3EEEB2F-36B2-DF16-4D19-7BFBCFA37A76}"/>
              </a:ext>
            </a:extLst>
          </p:cNvPr>
          <p:cNvSpPr>
            <a:spLocks noChangeShapeType="1"/>
          </p:cNvSpPr>
          <p:nvPr/>
        </p:nvSpPr>
        <p:spPr bwMode="auto">
          <a:xfrm>
            <a:off x="5871163" y="5338475"/>
            <a:ext cx="1366837" cy="0"/>
          </a:xfrm>
          <a:prstGeom prst="line">
            <a:avLst/>
          </a:prstGeom>
          <a:noFill/>
          <a:ln w="127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12" name="Line 14">
            <a:extLst>
              <a:ext uri="{FF2B5EF4-FFF2-40B4-BE49-F238E27FC236}">
                <a16:creationId xmlns:a16="http://schemas.microsoft.com/office/drawing/2014/main" id="{0DB32D36-FD20-6A5E-F3FE-9F9455D72B4E}"/>
              </a:ext>
            </a:extLst>
          </p:cNvPr>
          <p:cNvSpPr>
            <a:spLocks noChangeShapeType="1"/>
          </p:cNvSpPr>
          <p:nvPr/>
        </p:nvSpPr>
        <p:spPr bwMode="auto">
          <a:xfrm>
            <a:off x="5871163" y="5652800"/>
            <a:ext cx="1366837" cy="0"/>
          </a:xfrm>
          <a:prstGeom prst="line">
            <a:avLst/>
          </a:prstGeom>
          <a:noFill/>
          <a:ln w="508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13" name="Line 15">
            <a:extLst>
              <a:ext uri="{FF2B5EF4-FFF2-40B4-BE49-F238E27FC236}">
                <a16:creationId xmlns:a16="http://schemas.microsoft.com/office/drawing/2014/main" id="{083BEE1A-F276-6A62-AD35-0A516B66515A}"/>
              </a:ext>
            </a:extLst>
          </p:cNvPr>
          <p:cNvSpPr>
            <a:spLocks noChangeShapeType="1"/>
          </p:cNvSpPr>
          <p:nvPr/>
        </p:nvSpPr>
        <p:spPr bwMode="auto">
          <a:xfrm>
            <a:off x="5871163" y="5967125"/>
            <a:ext cx="1366837" cy="0"/>
          </a:xfrm>
          <a:prstGeom prst="line">
            <a:avLst/>
          </a:prstGeom>
          <a:noFill/>
          <a:ln w="127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14" name="Line 16">
            <a:extLst>
              <a:ext uri="{FF2B5EF4-FFF2-40B4-BE49-F238E27FC236}">
                <a16:creationId xmlns:a16="http://schemas.microsoft.com/office/drawing/2014/main" id="{A988CD9B-82BB-D840-AD2B-F39E4B56FB2F}"/>
              </a:ext>
            </a:extLst>
          </p:cNvPr>
          <p:cNvSpPr>
            <a:spLocks noChangeShapeType="1"/>
          </p:cNvSpPr>
          <p:nvPr/>
        </p:nvSpPr>
        <p:spPr bwMode="auto">
          <a:xfrm>
            <a:off x="5871163" y="6279863"/>
            <a:ext cx="1366837" cy="0"/>
          </a:xfrm>
          <a:prstGeom prst="line">
            <a:avLst/>
          </a:prstGeom>
          <a:noFill/>
          <a:ln w="127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15" name="Rectangle 17">
            <a:extLst>
              <a:ext uri="{FF2B5EF4-FFF2-40B4-BE49-F238E27FC236}">
                <a16:creationId xmlns:a16="http://schemas.microsoft.com/office/drawing/2014/main" id="{01AEB461-674A-F1A4-E2E4-F1E0BADDEE73}"/>
              </a:ext>
            </a:extLst>
          </p:cNvPr>
          <p:cNvSpPr>
            <a:spLocks noChangeArrowheads="1"/>
          </p:cNvSpPr>
          <p:nvPr/>
        </p:nvSpPr>
        <p:spPr bwMode="auto">
          <a:xfrm>
            <a:off x="5875408" y="5962363"/>
            <a:ext cx="1420261"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1600" b="1" dirty="0">
                <a:solidFill>
                  <a:srgbClr val="1C069E"/>
                </a:solidFill>
                <a:latin typeface="Consolas" panose="020B0609020204030204" pitchFamily="49" charset="0"/>
                <a:ea typeface="+mn-ea"/>
                <a:cs typeface="Consolas" panose="020B0609020204030204" pitchFamily="49" charset="0"/>
              </a:rPr>
              <a:t>return addr</a:t>
            </a:r>
          </a:p>
        </p:txBody>
      </p:sp>
      <p:sp>
        <p:nvSpPr>
          <p:cNvPr id="16" name="Line 18">
            <a:extLst>
              <a:ext uri="{FF2B5EF4-FFF2-40B4-BE49-F238E27FC236}">
                <a16:creationId xmlns:a16="http://schemas.microsoft.com/office/drawing/2014/main" id="{F9F72BE1-653A-2231-249D-6099CE169784}"/>
              </a:ext>
            </a:extLst>
          </p:cNvPr>
          <p:cNvSpPr>
            <a:spLocks noChangeShapeType="1"/>
          </p:cNvSpPr>
          <p:nvPr/>
        </p:nvSpPr>
        <p:spPr bwMode="auto">
          <a:xfrm>
            <a:off x="5707650" y="3870038"/>
            <a:ext cx="0" cy="2168525"/>
          </a:xfrm>
          <a:prstGeom prst="line">
            <a:avLst/>
          </a:prstGeom>
          <a:noFill/>
          <a:ln w="25400">
            <a:solidFill>
              <a:srgbClr val="0000FF"/>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17" name="Rectangle 19">
            <a:extLst>
              <a:ext uri="{FF2B5EF4-FFF2-40B4-BE49-F238E27FC236}">
                <a16:creationId xmlns:a16="http://schemas.microsoft.com/office/drawing/2014/main" id="{98924A83-66AE-4EA3-345F-BB96D1D87F14}"/>
              </a:ext>
            </a:extLst>
          </p:cNvPr>
          <p:cNvSpPr>
            <a:spLocks noChangeArrowheads="1"/>
          </p:cNvSpPr>
          <p:nvPr/>
        </p:nvSpPr>
        <p:spPr bwMode="auto">
          <a:xfrm>
            <a:off x="5578277" y="3227986"/>
            <a:ext cx="1905000"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pPr algn="ctr" eaLnBrk="0" hangingPunct="0"/>
            <a:r>
              <a:rPr lang="zh-CN" altLang="en-US" sz="2000" b="1" dirty="0">
                <a:solidFill>
                  <a:srgbClr val="FF3300"/>
                </a:solidFill>
                <a:latin typeface="Consolas" panose="020B0609020204030204" pitchFamily="49" charset="0"/>
                <a:ea typeface="+mn-ea"/>
                <a:cs typeface="Consolas" panose="020B0609020204030204" pitchFamily="49" charset="0"/>
              </a:rPr>
              <a:t>主存储器</a:t>
            </a:r>
          </a:p>
        </p:txBody>
      </p:sp>
      <p:sp>
        <p:nvSpPr>
          <p:cNvPr id="18" name="Line 20">
            <a:extLst>
              <a:ext uri="{FF2B5EF4-FFF2-40B4-BE49-F238E27FC236}">
                <a16:creationId xmlns:a16="http://schemas.microsoft.com/office/drawing/2014/main" id="{133088A6-86FC-9E26-625A-AD80F951A34B}"/>
              </a:ext>
            </a:extLst>
          </p:cNvPr>
          <p:cNvSpPr>
            <a:spLocks noChangeShapeType="1"/>
          </p:cNvSpPr>
          <p:nvPr/>
        </p:nvSpPr>
        <p:spPr bwMode="auto">
          <a:xfrm flipH="1">
            <a:off x="7255581" y="6580908"/>
            <a:ext cx="304800" cy="0"/>
          </a:xfrm>
          <a:prstGeom prst="line">
            <a:avLst/>
          </a:prstGeom>
          <a:noFill/>
          <a:ln w="25400" cap="rnd">
            <a:solidFill>
              <a:srgbClr val="FF0000"/>
            </a:solidFill>
            <a:round/>
            <a:headEnd w="med" len="lg"/>
            <a:tailEnd type="triangle" w="med" len="lg"/>
          </a:ln>
          <a:extLst>
            <a:ext uri="{909E8E84-426E-40DD-AFC4-6F175D3DCCD1}">
              <a14:hiddenFill xmlns:a14="http://schemas.microsoft.com/office/drawing/2010/main">
                <a:noFill/>
              </a14:hiddenFill>
            </a:ext>
          </a:extLst>
        </p:spPr>
        <p:txBody>
          <a:bodyPr wrap="none" anchor="ctr">
            <a:spAutoFit/>
          </a:bodyPr>
          <a:lstStyle/>
          <a:p>
            <a:pPr algn="ctr"/>
            <a:endParaRPr lang="zh-CN" altLang="en-US" sz="4600" b="1">
              <a:solidFill>
                <a:srgbClr val="FF3300"/>
              </a:solidFill>
              <a:latin typeface="Consolas" panose="020B0609020204030204" pitchFamily="49" charset="0"/>
              <a:ea typeface="+mn-ea"/>
              <a:cs typeface="Consolas" panose="020B0609020204030204" pitchFamily="49" charset="0"/>
            </a:endParaRPr>
          </a:p>
        </p:txBody>
      </p:sp>
      <p:sp>
        <p:nvSpPr>
          <p:cNvPr id="19" name="Rectangle 21">
            <a:extLst>
              <a:ext uri="{FF2B5EF4-FFF2-40B4-BE49-F238E27FC236}">
                <a16:creationId xmlns:a16="http://schemas.microsoft.com/office/drawing/2014/main" id="{09A4C84B-8C0E-7E7A-3527-0266F7A4B245}"/>
              </a:ext>
            </a:extLst>
          </p:cNvPr>
          <p:cNvSpPr>
            <a:spLocks noChangeArrowheads="1"/>
          </p:cNvSpPr>
          <p:nvPr/>
        </p:nvSpPr>
        <p:spPr bwMode="auto">
          <a:xfrm>
            <a:off x="6436457" y="5667088"/>
            <a:ext cx="298160"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1600" b="1" dirty="0">
                <a:solidFill>
                  <a:srgbClr val="1C069E"/>
                </a:solidFill>
                <a:latin typeface="Consolas" panose="020B0609020204030204" pitchFamily="49" charset="0"/>
                <a:ea typeface="+mn-ea"/>
                <a:cs typeface="Consolas" panose="020B0609020204030204" pitchFamily="49" charset="0"/>
              </a:rPr>
              <a:t>0</a:t>
            </a:r>
          </a:p>
        </p:txBody>
      </p:sp>
      <p:sp>
        <p:nvSpPr>
          <p:cNvPr id="20" name="Rectangle 22">
            <a:extLst>
              <a:ext uri="{FF2B5EF4-FFF2-40B4-BE49-F238E27FC236}">
                <a16:creationId xmlns:a16="http://schemas.microsoft.com/office/drawing/2014/main" id="{07716227-2F9A-8961-CD82-9DCAB9F3EAEE}"/>
              </a:ext>
            </a:extLst>
          </p:cNvPr>
          <p:cNvSpPr>
            <a:spLocks noChangeArrowheads="1"/>
          </p:cNvSpPr>
          <p:nvPr/>
        </p:nvSpPr>
        <p:spPr bwMode="auto">
          <a:xfrm rot="16200000">
            <a:off x="4538656" y="4514212"/>
            <a:ext cx="1753686"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zh-CN" altLang="en-US" sz="2000" b="1" dirty="0">
                <a:solidFill>
                  <a:srgbClr val="FF3300"/>
                </a:solidFill>
                <a:latin typeface="Consolas" panose="020B0609020204030204" pitchFamily="49" charset="0"/>
                <a:ea typeface="+mn-ea"/>
                <a:cs typeface="Consolas" panose="020B0609020204030204" pitchFamily="49" charset="0"/>
              </a:rPr>
              <a:t>地址减小方向</a:t>
            </a:r>
            <a:endParaRPr lang="en-US" altLang="zh-CN" sz="2000" b="1" dirty="0">
              <a:solidFill>
                <a:srgbClr val="FF3300"/>
              </a:solidFill>
              <a:latin typeface="Consolas" panose="020B0609020204030204" pitchFamily="49" charset="0"/>
              <a:ea typeface="+mn-ea"/>
              <a:cs typeface="Consolas" panose="020B0609020204030204" pitchFamily="49" charset="0"/>
            </a:endParaRPr>
          </a:p>
        </p:txBody>
      </p:sp>
      <p:sp>
        <p:nvSpPr>
          <p:cNvPr id="21" name="Rectangle 24">
            <a:extLst>
              <a:ext uri="{FF2B5EF4-FFF2-40B4-BE49-F238E27FC236}">
                <a16:creationId xmlns:a16="http://schemas.microsoft.com/office/drawing/2014/main" id="{8D6BDC6B-323C-A14F-E512-FDA6D8E60017}"/>
              </a:ext>
            </a:extLst>
          </p:cNvPr>
          <p:cNvSpPr>
            <a:spLocks noChangeArrowheads="1"/>
          </p:cNvSpPr>
          <p:nvPr/>
        </p:nvSpPr>
        <p:spPr bwMode="auto">
          <a:xfrm>
            <a:off x="5984442" y="5319425"/>
            <a:ext cx="1195841"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1600" b="1" dirty="0">
                <a:solidFill>
                  <a:srgbClr val="1C069E"/>
                </a:solidFill>
                <a:latin typeface="Consolas" panose="020B0609020204030204" pitchFamily="49" charset="0"/>
                <a:ea typeface="+mn-ea"/>
                <a:cs typeface="Consolas" panose="020B0609020204030204" pitchFamily="49" charset="0"/>
              </a:rPr>
              <a:t>temp vars</a:t>
            </a:r>
          </a:p>
        </p:txBody>
      </p:sp>
      <p:sp>
        <p:nvSpPr>
          <p:cNvPr id="22" name="Rectangle 25">
            <a:extLst>
              <a:ext uri="{FF2B5EF4-FFF2-40B4-BE49-F238E27FC236}">
                <a16:creationId xmlns:a16="http://schemas.microsoft.com/office/drawing/2014/main" id="{B76C8BC8-AD0C-1030-DB4A-E52D2DAD596C}"/>
              </a:ext>
            </a:extLst>
          </p:cNvPr>
          <p:cNvSpPr>
            <a:spLocks noChangeArrowheads="1"/>
          </p:cNvSpPr>
          <p:nvPr/>
        </p:nvSpPr>
        <p:spPr bwMode="auto">
          <a:xfrm>
            <a:off x="5869058" y="4971763"/>
            <a:ext cx="1420261"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1600" b="1" dirty="0">
                <a:solidFill>
                  <a:srgbClr val="1C069E"/>
                </a:solidFill>
                <a:latin typeface="Consolas" panose="020B0609020204030204" pitchFamily="49" charset="0"/>
                <a:ea typeface="+mn-ea"/>
                <a:cs typeface="Consolas" panose="020B0609020204030204" pitchFamily="49" charset="0"/>
              </a:rPr>
              <a:t>return addr</a:t>
            </a:r>
          </a:p>
        </p:txBody>
      </p:sp>
      <p:sp>
        <p:nvSpPr>
          <p:cNvPr id="23" name="Rectangle 26">
            <a:extLst>
              <a:ext uri="{FF2B5EF4-FFF2-40B4-BE49-F238E27FC236}">
                <a16:creationId xmlns:a16="http://schemas.microsoft.com/office/drawing/2014/main" id="{972623A2-EF84-A7A2-2929-3BA8627F38FD}"/>
              </a:ext>
            </a:extLst>
          </p:cNvPr>
          <p:cNvSpPr>
            <a:spLocks noChangeArrowheads="1"/>
          </p:cNvSpPr>
          <p:nvPr/>
        </p:nvSpPr>
        <p:spPr bwMode="auto">
          <a:xfrm>
            <a:off x="6426932" y="4709825"/>
            <a:ext cx="298160"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1600" b="1" dirty="0">
                <a:solidFill>
                  <a:srgbClr val="1C069E"/>
                </a:solidFill>
                <a:latin typeface="Consolas" panose="020B0609020204030204" pitchFamily="49" charset="0"/>
                <a:ea typeface="+mn-ea"/>
                <a:cs typeface="Consolas" panose="020B0609020204030204" pitchFamily="49" charset="0"/>
              </a:rPr>
              <a:t>1</a:t>
            </a:r>
          </a:p>
        </p:txBody>
      </p:sp>
      <p:sp>
        <p:nvSpPr>
          <p:cNvPr id="24" name="Rectangle 27">
            <a:extLst>
              <a:ext uri="{FF2B5EF4-FFF2-40B4-BE49-F238E27FC236}">
                <a16:creationId xmlns:a16="http://schemas.microsoft.com/office/drawing/2014/main" id="{DB0E3CB7-6C41-3FAB-3EF0-D8D61B8A5ADA}"/>
              </a:ext>
            </a:extLst>
          </p:cNvPr>
          <p:cNvSpPr>
            <a:spLocks noChangeArrowheads="1"/>
          </p:cNvSpPr>
          <p:nvPr/>
        </p:nvSpPr>
        <p:spPr bwMode="auto">
          <a:xfrm>
            <a:off x="5987619" y="4360575"/>
            <a:ext cx="1195841"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1600" b="1" dirty="0">
                <a:solidFill>
                  <a:srgbClr val="1C069E"/>
                </a:solidFill>
                <a:latin typeface="Consolas" panose="020B0609020204030204" pitchFamily="49" charset="0"/>
                <a:ea typeface="+mn-ea"/>
                <a:cs typeface="Consolas" panose="020B0609020204030204" pitchFamily="49" charset="0"/>
              </a:rPr>
              <a:t>temp vars</a:t>
            </a:r>
          </a:p>
        </p:txBody>
      </p:sp>
      <p:sp>
        <p:nvSpPr>
          <p:cNvPr id="25" name="Rectangle 28">
            <a:extLst>
              <a:ext uri="{FF2B5EF4-FFF2-40B4-BE49-F238E27FC236}">
                <a16:creationId xmlns:a16="http://schemas.microsoft.com/office/drawing/2014/main" id="{463F21C4-2424-E717-E0FE-62133E7B4454}"/>
              </a:ext>
            </a:extLst>
          </p:cNvPr>
          <p:cNvSpPr>
            <a:spLocks noChangeArrowheads="1"/>
          </p:cNvSpPr>
          <p:nvPr/>
        </p:nvSpPr>
        <p:spPr bwMode="auto">
          <a:xfrm>
            <a:off x="5872235" y="4038767"/>
            <a:ext cx="1420261"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1600" b="1" dirty="0">
                <a:solidFill>
                  <a:srgbClr val="1C069E"/>
                </a:solidFill>
                <a:latin typeface="Consolas" panose="020B0609020204030204" pitchFamily="49" charset="0"/>
                <a:ea typeface="+mn-ea"/>
                <a:cs typeface="Consolas" panose="020B0609020204030204" pitchFamily="49" charset="0"/>
              </a:rPr>
              <a:t>return addr</a:t>
            </a:r>
          </a:p>
        </p:txBody>
      </p:sp>
      <p:sp>
        <p:nvSpPr>
          <p:cNvPr id="26" name="Rectangle 29">
            <a:extLst>
              <a:ext uri="{FF2B5EF4-FFF2-40B4-BE49-F238E27FC236}">
                <a16:creationId xmlns:a16="http://schemas.microsoft.com/office/drawing/2014/main" id="{ACC86095-7858-370F-1826-61DD75D25D8F}"/>
              </a:ext>
            </a:extLst>
          </p:cNvPr>
          <p:cNvSpPr>
            <a:spLocks noChangeArrowheads="1"/>
          </p:cNvSpPr>
          <p:nvPr/>
        </p:nvSpPr>
        <p:spPr bwMode="auto">
          <a:xfrm>
            <a:off x="6430107" y="3750975"/>
            <a:ext cx="298160"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1600" b="1" dirty="0">
                <a:solidFill>
                  <a:srgbClr val="1C069E"/>
                </a:solidFill>
                <a:latin typeface="Consolas" panose="020B0609020204030204" pitchFamily="49" charset="0"/>
                <a:ea typeface="+mn-ea"/>
                <a:cs typeface="Consolas" panose="020B0609020204030204" pitchFamily="49" charset="0"/>
              </a:rPr>
              <a:t>2</a:t>
            </a:r>
          </a:p>
        </p:txBody>
      </p:sp>
      <p:sp>
        <p:nvSpPr>
          <p:cNvPr id="27" name="Rectangle 17">
            <a:extLst>
              <a:ext uri="{FF2B5EF4-FFF2-40B4-BE49-F238E27FC236}">
                <a16:creationId xmlns:a16="http://schemas.microsoft.com/office/drawing/2014/main" id="{CEA5DB71-F46B-3F91-EF87-310AC1F90CE7}"/>
              </a:ext>
            </a:extLst>
          </p:cNvPr>
          <p:cNvSpPr>
            <a:spLocks noChangeArrowheads="1"/>
          </p:cNvSpPr>
          <p:nvPr/>
        </p:nvSpPr>
        <p:spPr bwMode="auto">
          <a:xfrm>
            <a:off x="5978092" y="6303222"/>
            <a:ext cx="1195841"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1600" b="1" dirty="0">
                <a:solidFill>
                  <a:srgbClr val="1C069E"/>
                </a:solidFill>
                <a:latin typeface="Consolas" panose="020B0609020204030204" pitchFamily="49" charset="0"/>
                <a:ea typeface="+mn-ea"/>
                <a:cs typeface="Consolas" panose="020B0609020204030204" pitchFamily="49" charset="0"/>
              </a:rPr>
              <a:t>temp vars</a:t>
            </a:r>
          </a:p>
        </p:txBody>
      </p:sp>
      <p:sp>
        <p:nvSpPr>
          <p:cNvPr id="28" name="Rectangle 33">
            <a:extLst>
              <a:ext uri="{FF2B5EF4-FFF2-40B4-BE49-F238E27FC236}">
                <a16:creationId xmlns:a16="http://schemas.microsoft.com/office/drawing/2014/main" id="{AFC81746-70FC-306C-60DE-EC7C126CEB92}"/>
              </a:ext>
            </a:extLst>
          </p:cNvPr>
          <p:cNvSpPr>
            <a:spLocks noChangeArrowheads="1"/>
          </p:cNvSpPr>
          <p:nvPr/>
        </p:nvSpPr>
        <p:spPr bwMode="auto">
          <a:xfrm>
            <a:off x="7299912" y="3773441"/>
            <a:ext cx="175240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a:lstStyle>
          <a:p>
            <a:pPr eaLnBrk="0" hangingPunct="0"/>
            <a:r>
              <a:rPr lang="en-US" altLang="zh-CN" sz="2000" b="1" dirty="0">
                <a:solidFill>
                  <a:srgbClr val="FF0000"/>
                </a:solidFill>
                <a:latin typeface="Consolas" panose="020B0609020204030204" pitchFamily="49" charset="0"/>
                <a:ea typeface="+mn-ea"/>
                <a:cs typeface="Consolas" panose="020B0609020204030204" pitchFamily="49" charset="0"/>
              </a:rPr>
              <a:t>fact(2)</a:t>
            </a:r>
          </a:p>
          <a:p>
            <a:pPr eaLnBrk="0" hangingPunct="0"/>
            <a:r>
              <a:rPr lang="zh-CN" altLang="en-US" sz="2000" b="1" dirty="0">
                <a:solidFill>
                  <a:srgbClr val="FF0000"/>
                </a:solidFill>
                <a:latin typeface="Consolas" panose="020B0609020204030204" pitchFamily="49" charset="0"/>
                <a:ea typeface="+mn-ea"/>
                <a:cs typeface="Consolas" panose="020B0609020204030204" pitchFamily="49" charset="0"/>
              </a:rPr>
              <a:t>的过程调用帧</a:t>
            </a:r>
            <a:endParaRPr lang="zh-CN" altLang="en-US" sz="1600" b="1" dirty="0">
              <a:solidFill>
                <a:srgbClr val="FF0000"/>
              </a:solidFill>
              <a:latin typeface="Consolas" panose="020B0609020204030204" pitchFamily="49" charset="0"/>
              <a:ea typeface="+mn-ea"/>
              <a:cs typeface="Consolas" panose="020B0609020204030204" pitchFamily="49" charset="0"/>
            </a:endParaRPr>
          </a:p>
        </p:txBody>
      </p:sp>
      <p:sp>
        <p:nvSpPr>
          <p:cNvPr id="32" name="Rectangle 34">
            <a:extLst>
              <a:ext uri="{FF2B5EF4-FFF2-40B4-BE49-F238E27FC236}">
                <a16:creationId xmlns:a16="http://schemas.microsoft.com/office/drawing/2014/main" id="{2F1A820B-F958-8EBB-5E2D-D6B6B46AE52B}"/>
              </a:ext>
            </a:extLst>
          </p:cNvPr>
          <p:cNvSpPr>
            <a:spLocks noChangeArrowheads="1"/>
          </p:cNvSpPr>
          <p:nvPr/>
        </p:nvSpPr>
        <p:spPr bwMode="auto">
          <a:xfrm>
            <a:off x="7306968" y="4757455"/>
            <a:ext cx="175240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a:lstStyle>
          <a:p>
            <a:pPr eaLnBrk="0" hangingPunct="0"/>
            <a:r>
              <a:rPr lang="en-US" altLang="zh-CN" sz="2000" b="1" dirty="0">
                <a:solidFill>
                  <a:srgbClr val="FF0000"/>
                </a:solidFill>
                <a:latin typeface="Consolas" panose="020B0609020204030204" pitchFamily="49" charset="0"/>
                <a:ea typeface="+mn-ea"/>
                <a:cs typeface="Consolas" panose="020B0609020204030204" pitchFamily="49" charset="0"/>
              </a:rPr>
              <a:t>fact(1)</a:t>
            </a:r>
          </a:p>
          <a:p>
            <a:pPr eaLnBrk="0" hangingPunct="0"/>
            <a:r>
              <a:rPr lang="zh-CN" altLang="en-US" sz="2000" b="1" dirty="0">
                <a:solidFill>
                  <a:srgbClr val="FF0000"/>
                </a:solidFill>
                <a:latin typeface="Consolas" panose="020B0609020204030204" pitchFamily="49" charset="0"/>
                <a:ea typeface="+mn-ea"/>
                <a:cs typeface="Consolas" panose="020B0609020204030204" pitchFamily="49" charset="0"/>
              </a:rPr>
              <a:t>的过程调用帧</a:t>
            </a:r>
            <a:endParaRPr lang="zh-CN" altLang="en-US" sz="1600" b="1" dirty="0">
              <a:solidFill>
                <a:srgbClr val="FF0000"/>
              </a:solidFill>
              <a:latin typeface="Consolas" panose="020B0609020204030204" pitchFamily="49" charset="0"/>
              <a:ea typeface="+mn-ea"/>
              <a:cs typeface="Consolas" panose="020B0609020204030204" pitchFamily="49" charset="0"/>
            </a:endParaRPr>
          </a:p>
        </p:txBody>
      </p:sp>
      <p:sp>
        <p:nvSpPr>
          <p:cNvPr id="57" name="Rectangle 35">
            <a:extLst>
              <a:ext uri="{FF2B5EF4-FFF2-40B4-BE49-F238E27FC236}">
                <a16:creationId xmlns:a16="http://schemas.microsoft.com/office/drawing/2014/main" id="{44B1C1B7-8B96-149D-F3B9-8A71ED3927AE}"/>
              </a:ext>
            </a:extLst>
          </p:cNvPr>
          <p:cNvSpPr>
            <a:spLocks noChangeArrowheads="1"/>
          </p:cNvSpPr>
          <p:nvPr/>
        </p:nvSpPr>
        <p:spPr bwMode="auto">
          <a:xfrm>
            <a:off x="7313254" y="5639388"/>
            <a:ext cx="175240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a:lstStyle>
          <a:p>
            <a:pPr eaLnBrk="0" hangingPunct="0"/>
            <a:r>
              <a:rPr lang="en-US" altLang="zh-CN" sz="2000" b="1" dirty="0">
                <a:solidFill>
                  <a:srgbClr val="FF0000"/>
                </a:solidFill>
                <a:latin typeface="Consolas" panose="020B0609020204030204" pitchFamily="49" charset="0"/>
                <a:ea typeface="+mn-ea"/>
                <a:cs typeface="Consolas" panose="020B0609020204030204" pitchFamily="49" charset="0"/>
              </a:rPr>
              <a:t>fact(0)</a:t>
            </a:r>
          </a:p>
          <a:p>
            <a:pPr eaLnBrk="0" hangingPunct="0"/>
            <a:r>
              <a:rPr lang="zh-CN" altLang="en-US" sz="2000" b="1" dirty="0">
                <a:solidFill>
                  <a:srgbClr val="FF0000"/>
                </a:solidFill>
                <a:latin typeface="Consolas" panose="020B0609020204030204" pitchFamily="49" charset="0"/>
                <a:ea typeface="+mn-ea"/>
                <a:cs typeface="Consolas" panose="020B0609020204030204" pitchFamily="49" charset="0"/>
              </a:rPr>
              <a:t>的过程调用帧</a:t>
            </a:r>
            <a:endParaRPr lang="zh-CN" altLang="en-US" sz="1600" b="1" dirty="0">
              <a:solidFill>
                <a:srgbClr val="FF0000"/>
              </a:solidFill>
              <a:latin typeface="Consolas" panose="020B0609020204030204" pitchFamily="49" charset="0"/>
              <a:ea typeface="+mn-ea"/>
              <a:cs typeface="Consolas" panose="020B0609020204030204" pitchFamily="49" charset="0"/>
            </a:endParaRPr>
          </a:p>
        </p:txBody>
      </p:sp>
    </p:spTree>
    <p:extLst>
      <p:ext uri="{BB962C8B-B14F-4D97-AF65-F5344CB8AC3E}">
        <p14:creationId xmlns:p14="http://schemas.microsoft.com/office/powerpoint/2010/main" val="920796120"/>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灯片编号占位符 3">
            <a:extLst>
              <a:ext uri="{FF2B5EF4-FFF2-40B4-BE49-F238E27FC236}">
                <a16:creationId xmlns:a16="http://schemas.microsoft.com/office/drawing/2014/main" id="{F09C93A6-41D7-4B47-A78F-E636A9553D6B}"/>
              </a:ext>
            </a:extLst>
          </p:cNvPr>
          <p:cNvSpPr>
            <a:spLocks noGrp="1"/>
          </p:cNvSpPr>
          <p:nvPr>
            <p:ph type="sldNum" sz="quarter" idx="12"/>
          </p:nvPr>
        </p:nvSpPr>
        <p:spPr/>
        <p:txBody>
          <a:bodyPr/>
          <a:lstStyle/>
          <a:p>
            <a:fld id="{14659731-6BD7-46E7-8D3C-2F3AC07E20B1}" type="slidenum">
              <a:rPr lang="en-US" altLang="zh-CN" smtClean="0"/>
              <a:pPr/>
              <a:t>141</a:t>
            </a:fld>
            <a:endParaRPr lang="en-US" altLang="zh-CN"/>
          </a:p>
        </p:txBody>
      </p:sp>
      <p:sp>
        <p:nvSpPr>
          <p:cNvPr id="29702" name="Rectangle 4"/>
          <p:cNvSpPr>
            <a:spLocks noGrp="1" noChangeArrowheads="1"/>
          </p:cNvSpPr>
          <p:nvPr>
            <p:ph idx="4294967295"/>
          </p:nvPr>
        </p:nvSpPr>
        <p:spPr>
          <a:xfrm>
            <a:off x="339212" y="1302211"/>
            <a:ext cx="5041438" cy="5256213"/>
          </a:xfrm>
          <a:noFill/>
        </p:spPr>
        <p:txBody>
          <a:bodyPr lIns="92075" tIns="46038" rIns="92075" bIns="46038"/>
          <a:lstStyle/>
          <a:p>
            <a:pPr eaLnBrk="1" hangingPunct="1"/>
            <a:r>
              <a:rPr lang="zh-CN" altLang="en-US" sz="2400" dirty="0"/>
              <a:t>我们需要存储</a:t>
            </a:r>
            <a:r>
              <a:rPr lang="en-US" altLang="zh-CN" sz="2400" dirty="0"/>
              <a:t>:</a:t>
            </a:r>
          </a:p>
          <a:p>
            <a:pPr lvl="1" eaLnBrk="1" hangingPunct="1"/>
            <a:r>
              <a:rPr lang="zh-CN" altLang="en-US" sz="2000" dirty="0"/>
              <a:t>返回地址</a:t>
            </a:r>
            <a:r>
              <a:rPr lang="en-US" altLang="zh-CN" sz="2000" dirty="0"/>
              <a:t>(old </a:t>
            </a:r>
            <a:r>
              <a:rPr lang="en-US" altLang="zh-CN" sz="2000" dirty="0" err="1"/>
              <a:t>ra</a:t>
            </a:r>
            <a:r>
              <a:rPr lang="en-US" altLang="zh-CN" sz="2000" dirty="0"/>
              <a:t>)</a:t>
            </a:r>
          </a:p>
          <a:p>
            <a:pPr lvl="1" eaLnBrk="1" hangingPunct="1"/>
            <a:r>
              <a:rPr lang="zh-CN" altLang="en-US" sz="2000" dirty="0"/>
              <a:t>参数 </a:t>
            </a:r>
            <a:r>
              <a:rPr lang="en-US" altLang="zh-CN" sz="2000" dirty="0">
                <a:solidFill>
                  <a:srgbClr val="1C069E"/>
                </a:solidFill>
              </a:rPr>
              <a:t>n </a:t>
            </a:r>
            <a:r>
              <a:rPr lang="en-US" altLang="zh-CN" sz="2000" dirty="0"/>
              <a:t>in </a:t>
            </a:r>
            <a:r>
              <a:rPr lang="en-US" altLang="zh-CN" sz="2000" dirty="0">
                <a:solidFill>
                  <a:srgbClr val="1C069E"/>
                </a:solidFill>
              </a:rPr>
              <a:t>fact(n)</a:t>
            </a:r>
          </a:p>
          <a:p>
            <a:pPr lvl="1" eaLnBrk="1" hangingPunct="1"/>
            <a:r>
              <a:rPr lang="zh-CN" altLang="en-US" sz="2000" dirty="0"/>
              <a:t>临时</a:t>
            </a:r>
            <a:r>
              <a:rPr lang="en-US" altLang="zh-CN" sz="2000" dirty="0"/>
              <a:t>/</a:t>
            </a:r>
            <a:r>
              <a:rPr lang="zh-CN" altLang="en-US" sz="2000" dirty="0"/>
              <a:t>局部的变量 （在</a:t>
            </a:r>
            <a:r>
              <a:rPr lang="en-US" altLang="zh-CN" sz="2000" dirty="0">
                <a:solidFill>
                  <a:srgbClr val="1C069E"/>
                </a:solidFill>
              </a:rPr>
              <a:t>f</a:t>
            </a:r>
            <a:r>
              <a:rPr lang="zh-CN" altLang="en-US" sz="2000" dirty="0">
                <a:solidFill>
                  <a:srgbClr val="1C069E"/>
                </a:solidFill>
              </a:rPr>
              <a:t>执行过程中）</a:t>
            </a:r>
          </a:p>
          <a:p>
            <a:pPr lvl="1" eaLnBrk="1" hangingPunct="1"/>
            <a:r>
              <a:rPr lang="zh-CN" altLang="en-US" sz="2000" dirty="0"/>
              <a:t>被破坏的寄存器</a:t>
            </a:r>
          </a:p>
          <a:p>
            <a:pPr lvl="1" eaLnBrk="1" hangingPunct="1"/>
            <a:endParaRPr lang="zh-CN" altLang="en-US" sz="1900" dirty="0">
              <a:solidFill>
                <a:schemeClr val="accent2"/>
              </a:solidFill>
            </a:endParaRPr>
          </a:p>
          <a:p>
            <a:pPr eaLnBrk="1" hangingPunct="1"/>
            <a:r>
              <a:rPr lang="zh-CN" altLang="en-US" sz="2400" dirty="0"/>
              <a:t>想法</a:t>
            </a:r>
            <a:r>
              <a:rPr lang="en-US" altLang="zh-CN" sz="2400" dirty="0"/>
              <a:t>: </a:t>
            </a:r>
            <a:r>
              <a:rPr lang="zh-CN" altLang="en-US" sz="2400" dirty="0"/>
              <a:t>存在栈里</a:t>
            </a:r>
            <a:r>
              <a:rPr lang="en-US" altLang="zh-CN" sz="2400" dirty="0"/>
              <a:t>!</a:t>
            </a:r>
          </a:p>
          <a:p>
            <a:pPr lvl="1" eaLnBrk="1" hangingPunct="1"/>
            <a:r>
              <a:rPr lang="zh-CN" altLang="en-US" sz="2000" dirty="0"/>
              <a:t>增长</a:t>
            </a:r>
            <a:r>
              <a:rPr lang="en-US" altLang="zh-CN" sz="2000" dirty="0"/>
              <a:t>(PUSH </a:t>
            </a:r>
            <a:r>
              <a:rPr lang="zh-CN" altLang="en-US" sz="2000" dirty="0"/>
              <a:t>进去</a:t>
            </a:r>
            <a:r>
              <a:rPr lang="en-US" altLang="zh-CN" sz="2000" dirty="0"/>
              <a:t>) </a:t>
            </a:r>
            <a:r>
              <a:rPr lang="zh-CN" altLang="en-US" sz="2000" dirty="0"/>
              <a:t>栈，（每次调用函数时）</a:t>
            </a:r>
          </a:p>
          <a:p>
            <a:pPr lvl="1" eaLnBrk="1" hangingPunct="1"/>
            <a:r>
              <a:rPr lang="zh-CN" altLang="en-US" sz="2000" dirty="0"/>
              <a:t>缩减栈</a:t>
            </a:r>
            <a:r>
              <a:rPr lang="en-US" altLang="zh-CN" sz="2000" dirty="0"/>
              <a:t>(POP </a:t>
            </a:r>
            <a:r>
              <a:rPr lang="zh-CN" altLang="en-US" sz="2000" dirty="0"/>
              <a:t>出来</a:t>
            </a:r>
            <a:r>
              <a:rPr lang="en-US" altLang="zh-CN" sz="2000" dirty="0"/>
              <a:t>) </a:t>
            </a:r>
            <a:r>
              <a:rPr lang="zh-CN" altLang="en-US" sz="2000" dirty="0"/>
              <a:t>（每次返回时）</a:t>
            </a:r>
          </a:p>
          <a:p>
            <a:pPr lvl="1" eaLnBrk="1" hangingPunct="1"/>
            <a:r>
              <a:rPr lang="zh-CN" altLang="en-US" sz="2000" dirty="0"/>
              <a:t>每次调用都有自己的</a:t>
            </a:r>
            <a:r>
              <a:rPr lang="zh-CN" altLang="en-US" sz="2000" dirty="0">
                <a:latin typeface="Comic Sans MS" pitchFamily="66" charset="0"/>
              </a:rPr>
              <a:t>“过程调用</a:t>
            </a:r>
            <a:r>
              <a:rPr lang="zh-CN" altLang="en-US" sz="2000" dirty="0"/>
              <a:t>帧</a:t>
            </a:r>
            <a:r>
              <a:rPr lang="zh-CN" altLang="en-US" sz="2000" dirty="0">
                <a:latin typeface="Comic Sans MS" pitchFamily="66" charset="0"/>
              </a:rPr>
              <a:t>”</a:t>
            </a:r>
            <a:endParaRPr lang="zh-CN" altLang="en-US" sz="2000" dirty="0"/>
          </a:p>
        </p:txBody>
      </p:sp>
      <p:sp>
        <p:nvSpPr>
          <p:cNvPr id="29728" name="Oval 30"/>
          <p:cNvSpPr>
            <a:spLocks noChangeArrowheads="1"/>
          </p:cNvSpPr>
          <p:nvPr/>
        </p:nvSpPr>
        <p:spPr bwMode="auto">
          <a:xfrm>
            <a:off x="7192761" y="2767587"/>
            <a:ext cx="1724482" cy="799646"/>
          </a:xfrm>
          <a:prstGeom prst="rect">
            <a:avLst/>
          </a:prstGeom>
          <a:solidFill>
            <a:schemeClr val="bg2">
              <a:lumMod val="20000"/>
              <a:lumOff val="80000"/>
            </a:schemeClr>
          </a:solidFill>
          <a:ln w="19050">
            <a:noFill/>
            <a:round/>
            <a:headEnd/>
            <a:tailEnd type="none" w="lg" len="lg"/>
          </a:ln>
        </p:spPr>
        <p:txBody>
          <a:bodyPr wrap="none" lIns="0" tIns="0" rIns="0" bIns="0" anchor="ctr"/>
          <a:lstStyle/>
          <a:p>
            <a:pPr algn="ctr" eaLnBrk="0" hangingPunct="0"/>
            <a:r>
              <a:rPr lang="zh-CN" altLang="en-US" sz="2400" b="1" dirty="0">
                <a:solidFill>
                  <a:schemeClr val="tx1"/>
                </a:solidFill>
                <a:latin typeface="+mn-lt"/>
                <a:ea typeface="+mj-ea"/>
                <a:cs typeface="Consolas" panose="020B0609020204030204" pitchFamily="49" charset="0"/>
              </a:rPr>
              <a:t>例如</a:t>
            </a:r>
            <a:endParaRPr lang="zh-CN" altLang="en-US" b="1" dirty="0">
              <a:solidFill>
                <a:schemeClr val="tx1"/>
              </a:solidFill>
              <a:latin typeface="+mn-lt"/>
              <a:ea typeface="+mj-ea"/>
              <a:cs typeface="Consolas" panose="020B0609020204030204" pitchFamily="49" charset="0"/>
            </a:endParaRPr>
          </a:p>
          <a:p>
            <a:pPr algn="ctr" eaLnBrk="0" hangingPunct="0"/>
            <a:r>
              <a:rPr lang="zh-CN" altLang="en-US" sz="2400" b="1" dirty="0">
                <a:solidFill>
                  <a:schemeClr val="tx1"/>
                </a:solidFill>
                <a:latin typeface="+mn-lt"/>
                <a:ea typeface="+mj-ea"/>
                <a:cs typeface="Consolas" panose="020B0609020204030204" pitchFamily="49" charset="0"/>
              </a:rPr>
              <a:t>调用</a:t>
            </a:r>
            <a:r>
              <a:rPr lang="en-US" altLang="zh-CN" sz="2400" b="1" dirty="0">
                <a:solidFill>
                  <a:schemeClr val="tx1"/>
                </a:solidFill>
                <a:latin typeface="+mn-lt"/>
                <a:ea typeface="+mj-ea"/>
                <a:cs typeface="Consolas" panose="020B0609020204030204" pitchFamily="49" charset="0"/>
              </a:rPr>
              <a:t>fact(2)</a:t>
            </a:r>
            <a:endParaRPr lang="en-US" altLang="zh-CN" b="1" dirty="0">
              <a:solidFill>
                <a:schemeClr val="tx1"/>
              </a:solidFill>
              <a:latin typeface="+mn-lt"/>
              <a:ea typeface="+mj-ea"/>
              <a:cs typeface="Consolas" panose="020B0609020204030204" pitchFamily="49" charset="0"/>
            </a:endParaRPr>
          </a:p>
        </p:txBody>
      </p:sp>
      <p:sp>
        <p:nvSpPr>
          <p:cNvPr id="35" name="Rectangle 23">
            <a:extLst>
              <a:ext uri="{FF2B5EF4-FFF2-40B4-BE49-F238E27FC236}">
                <a16:creationId xmlns:a16="http://schemas.microsoft.com/office/drawing/2014/main" id="{F6AC55A4-4FC4-42A9-B254-67833D3532B5}"/>
              </a:ext>
            </a:extLst>
          </p:cNvPr>
          <p:cNvSpPr>
            <a:spLocks noChangeArrowheads="1"/>
          </p:cNvSpPr>
          <p:nvPr/>
        </p:nvSpPr>
        <p:spPr bwMode="auto">
          <a:xfrm>
            <a:off x="5111468" y="1282357"/>
            <a:ext cx="3731791" cy="203196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spAutoFit/>
          </a:bodyPr>
          <a:lstStyle/>
          <a:p>
            <a:pPr algn="l" eaLnBrk="0" hangingPunct="0"/>
            <a:r>
              <a:rPr lang="en-US" altLang="zh-CN" sz="1800" b="1" i="1" dirty="0" err="1">
                <a:solidFill>
                  <a:srgbClr val="1C069E"/>
                </a:solidFill>
                <a:latin typeface="Consolas" panose="020B0609020204030204" pitchFamily="49" charset="0"/>
              </a:rPr>
              <a:t>int</a:t>
            </a:r>
            <a:r>
              <a:rPr lang="en-US" altLang="zh-CN" sz="1800" b="1" i="1" dirty="0">
                <a:solidFill>
                  <a:srgbClr val="1C069E"/>
                </a:solidFill>
                <a:latin typeface="Consolas" panose="020B0609020204030204" pitchFamily="49" charset="0"/>
              </a:rPr>
              <a:t> fact( </a:t>
            </a:r>
            <a:r>
              <a:rPr lang="en-US" altLang="zh-CN" sz="1800" b="1" i="1" dirty="0" err="1">
                <a:solidFill>
                  <a:srgbClr val="1C069E"/>
                </a:solidFill>
                <a:latin typeface="Consolas" panose="020B0609020204030204" pitchFamily="49" charset="0"/>
              </a:rPr>
              <a:t>int</a:t>
            </a:r>
            <a:r>
              <a:rPr lang="en-US" altLang="zh-CN" sz="1800" b="1" i="1" dirty="0">
                <a:solidFill>
                  <a:srgbClr val="1C069E"/>
                </a:solidFill>
                <a:latin typeface="Consolas" panose="020B0609020204030204" pitchFamily="49" charset="0"/>
              </a:rPr>
              <a:t> n )</a:t>
            </a:r>
          </a:p>
          <a:p>
            <a:pPr algn="l" eaLnBrk="0" hangingPunct="0"/>
            <a:r>
              <a:rPr lang="en-US" altLang="zh-CN" sz="1800" b="1" i="1" dirty="0">
                <a:solidFill>
                  <a:srgbClr val="1C069E"/>
                </a:solidFill>
                <a:latin typeface="Consolas" panose="020B0609020204030204" pitchFamily="49" charset="0"/>
              </a:rPr>
              <a:t>{</a:t>
            </a:r>
          </a:p>
          <a:p>
            <a:pPr algn="l" eaLnBrk="0" hangingPunct="0"/>
            <a:r>
              <a:rPr lang="en-US" altLang="zh-CN" sz="1800" b="1" i="1" dirty="0">
                <a:solidFill>
                  <a:srgbClr val="1C069E"/>
                </a:solidFill>
                <a:latin typeface="Consolas" panose="020B0609020204030204" pitchFamily="49" charset="0"/>
              </a:rPr>
              <a:t>   if (n &gt; 0)</a:t>
            </a:r>
          </a:p>
          <a:p>
            <a:pPr algn="l" eaLnBrk="0" hangingPunct="0"/>
            <a:r>
              <a:rPr lang="en-US" altLang="zh-CN" sz="1800" b="1" i="1" dirty="0">
                <a:solidFill>
                  <a:srgbClr val="1C069E"/>
                </a:solidFill>
                <a:latin typeface="Consolas" panose="020B0609020204030204" pitchFamily="49" charset="0"/>
              </a:rPr>
              <a:t>     return fact( n-1 ) * n;</a:t>
            </a:r>
          </a:p>
          <a:p>
            <a:pPr algn="l" eaLnBrk="0" hangingPunct="0"/>
            <a:r>
              <a:rPr lang="en-US" altLang="zh-CN" sz="1800" b="1" i="1" dirty="0">
                <a:solidFill>
                  <a:srgbClr val="1C069E"/>
                </a:solidFill>
                <a:latin typeface="Consolas" panose="020B0609020204030204" pitchFamily="49" charset="0"/>
              </a:rPr>
              <a:t>   else</a:t>
            </a:r>
          </a:p>
          <a:p>
            <a:pPr algn="l" eaLnBrk="0" hangingPunct="0"/>
            <a:r>
              <a:rPr lang="en-US" altLang="zh-CN" sz="1800" b="1" i="1" dirty="0">
                <a:solidFill>
                  <a:srgbClr val="1C069E"/>
                </a:solidFill>
                <a:latin typeface="Consolas" panose="020B0609020204030204" pitchFamily="49" charset="0"/>
              </a:rPr>
              <a:t>     return 1 ;</a:t>
            </a:r>
          </a:p>
          <a:p>
            <a:pPr algn="l" eaLnBrk="0" hangingPunct="0"/>
            <a:r>
              <a:rPr lang="en-US" altLang="zh-CN" sz="1800" b="1" i="1" dirty="0">
                <a:solidFill>
                  <a:srgbClr val="1C069E"/>
                </a:solidFill>
                <a:latin typeface="Consolas" panose="020B0609020204030204" pitchFamily="49" charset="0"/>
              </a:rPr>
              <a:t>}</a:t>
            </a:r>
          </a:p>
        </p:txBody>
      </p:sp>
      <p:sp>
        <p:nvSpPr>
          <p:cNvPr id="2" name="Title 4">
            <a:extLst>
              <a:ext uri="{FF2B5EF4-FFF2-40B4-BE49-F238E27FC236}">
                <a16:creationId xmlns:a16="http://schemas.microsoft.com/office/drawing/2014/main" id="{9F92B80D-E2F8-51FE-09CD-9857D89281EB}"/>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dirty="0"/>
              <a:t>编程指南：过程调用</a:t>
            </a:r>
            <a:endParaRPr lang="en-CN" kern="0" dirty="0"/>
          </a:p>
        </p:txBody>
      </p:sp>
      <p:sp>
        <p:nvSpPr>
          <p:cNvPr id="3" name="Rectangle 5">
            <a:extLst>
              <a:ext uri="{FF2B5EF4-FFF2-40B4-BE49-F238E27FC236}">
                <a16:creationId xmlns:a16="http://schemas.microsoft.com/office/drawing/2014/main" id="{CE84F2B9-4703-FBF8-5B21-FFD80617927B}"/>
              </a:ext>
            </a:extLst>
          </p:cNvPr>
          <p:cNvSpPr>
            <a:spLocks noChangeArrowheads="1"/>
          </p:cNvSpPr>
          <p:nvPr/>
        </p:nvSpPr>
        <p:spPr bwMode="auto">
          <a:xfrm>
            <a:off x="7543259" y="5466712"/>
            <a:ext cx="750205"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2000" b="1" i="1" dirty="0">
                <a:solidFill>
                  <a:srgbClr val="1C069E"/>
                </a:solidFill>
                <a:latin typeface="Consolas" panose="020B0609020204030204" pitchFamily="49" charset="0"/>
                <a:ea typeface="+mn-ea"/>
                <a:cs typeface="Consolas" panose="020B0609020204030204" pitchFamily="49" charset="0"/>
              </a:rPr>
              <a:t>&lt;SP&gt;</a:t>
            </a:r>
          </a:p>
        </p:txBody>
      </p:sp>
      <p:sp>
        <p:nvSpPr>
          <p:cNvPr id="4" name="Line 6">
            <a:extLst>
              <a:ext uri="{FF2B5EF4-FFF2-40B4-BE49-F238E27FC236}">
                <a16:creationId xmlns:a16="http://schemas.microsoft.com/office/drawing/2014/main" id="{ED240D5E-A611-AB10-49BF-21FAA27FAF76}"/>
              </a:ext>
            </a:extLst>
          </p:cNvPr>
          <p:cNvSpPr>
            <a:spLocks noChangeShapeType="1"/>
          </p:cNvSpPr>
          <p:nvPr/>
        </p:nvSpPr>
        <p:spPr bwMode="auto">
          <a:xfrm>
            <a:off x="5866400" y="3647788"/>
            <a:ext cx="0" cy="2979736"/>
          </a:xfrm>
          <a:prstGeom prst="line">
            <a:avLst/>
          </a:prstGeom>
          <a:noFill/>
          <a:ln w="254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5" name="Line 7">
            <a:extLst>
              <a:ext uri="{FF2B5EF4-FFF2-40B4-BE49-F238E27FC236}">
                <a16:creationId xmlns:a16="http://schemas.microsoft.com/office/drawing/2014/main" id="{6A8CB854-21B6-93F9-8CBD-FDEBFC91D4D4}"/>
              </a:ext>
            </a:extLst>
          </p:cNvPr>
          <p:cNvSpPr>
            <a:spLocks noChangeShapeType="1"/>
          </p:cNvSpPr>
          <p:nvPr/>
        </p:nvSpPr>
        <p:spPr bwMode="auto">
          <a:xfrm>
            <a:off x="7238000" y="3647787"/>
            <a:ext cx="0" cy="2979737"/>
          </a:xfrm>
          <a:prstGeom prst="line">
            <a:avLst/>
          </a:prstGeom>
          <a:noFill/>
          <a:ln w="254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6" name="Line 8">
            <a:extLst>
              <a:ext uri="{FF2B5EF4-FFF2-40B4-BE49-F238E27FC236}">
                <a16:creationId xmlns:a16="http://schemas.microsoft.com/office/drawing/2014/main" id="{CBA5ECE4-0203-EED8-C84A-C7A8FD5DC5C9}"/>
              </a:ext>
            </a:extLst>
          </p:cNvPr>
          <p:cNvSpPr>
            <a:spLocks noChangeShapeType="1"/>
          </p:cNvSpPr>
          <p:nvPr/>
        </p:nvSpPr>
        <p:spPr bwMode="auto">
          <a:xfrm>
            <a:off x="5871163" y="4022438"/>
            <a:ext cx="1366837" cy="0"/>
          </a:xfrm>
          <a:prstGeom prst="line">
            <a:avLst/>
          </a:prstGeom>
          <a:noFill/>
          <a:ln w="127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7" name="Line 9">
            <a:extLst>
              <a:ext uri="{FF2B5EF4-FFF2-40B4-BE49-F238E27FC236}">
                <a16:creationId xmlns:a16="http://schemas.microsoft.com/office/drawing/2014/main" id="{3F71E663-4185-46BF-8813-8C42F4D338D0}"/>
              </a:ext>
            </a:extLst>
          </p:cNvPr>
          <p:cNvSpPr>
            <a:spLocks noChangeShapeType="1"/>
          </p:cNvSpPr>
          <p:nvPr/>
        </p:nvSpPr>
        <p:spPr bwMode="auto">
          <a:xfrm>
            <a:off x="5871163" y="4713000"/>
            <a:ext cx="1366837" cy="0"/>
          </a:xfrm>
          <a:prstGeom prst="line">
            <a:avLst/>
          </a:prstGeom>
          <a:noFill/>
          <a:ln w="508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8" name="Line 10">
            <a:extLst>
              <a:ext uri="{FF2B5EF4-FFF2-40B4-BE49-F238E27FC236}">
                <a16:creationId xmlns:a16="http://schemas.microsoft.com/office/drawing/2014/main" id="{2035289B-7265-7CAE-AE70-C62E93EF9264}"/>
              </a:ext>
            </a:extLst>
          </p:cNvPr>
          <p:cNvSpPr>
            <a:spLocks noChangeShapeType="1"/>
          </p:cNvSpPr>
          <p:nvPr/>
        </p:nvSpPr>
        <p:spPr bwMode="auto">
          <a:xfrm>
            <a:off x="5871163" y="4398675"/>
            <a:ext cx="1366837" cy="0"/>
          </a:xfrm>
          <a:prstGeom prst="line">
            <a:avLst/>
          </a:prstGeom>
          <a:noFill/>
          <a:ln w="127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9" name="Line 11">
            <a:extLst>
              <a:ext uri="{FF2B5EF4-FFF2-40B4-BE49-F238E27FC236}">
                <a16:creationId xmlns:a16="http://schemas.microsoft.com/office/drawing/2014/main" id="{F4802378-08AE-374A-22D4-116DF54E14D3}"/>
              </a:ext>
            </a:extLst>
          </p:cNvPr>
          <p:cNvSpPr>
            <a:spLocks noChangeShapeType="1"/>
          </p:cNvSpPr>
          <p:nvPr/>
        </p:nvSpPr>
        <p:spPr bwMode="auto">
          <a:xfrm>
            <a:off x="5871163" y="3709700"/>
            <a:ext cx="1366837" cy="0"/>
          </a:xfrm>
          <a:prstGeom prst="line">
            <a:avLst/>
          </a:prstGeom>
          <a:noFill/>
          <a:ln w="508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10" name="Line 12">
            <a:extLst>
              <a:ext uri="{FF2B5EF4-FFF2-40B4-BE49-F238E27FC236}">
                <a16:creationId xmlns:a16="http://schemas.microsoft.com/office/drawing/2014/main" id="{1AF613A8-269F-033A-492B-9D4A67B7497B}"/>
              </a:ext>
            </a:extLst>
          </p:cNvPr>
          <p:cNvSpPr>
            <a:spLocks noChangeShapeType="1"/>
          </p:cNvSpPr>
          <p:nvPr/>
        </p:nvSpPr>
        <p:spPr bwMode="auto">
          <a:xfrm>
            <a:off x="5871163" y="5025738"/>
            <a:ext cx="1366837" cy="0"/>
          </a:xfrm>
          <a:prstGeom prst="line">
            <a:avLst/>
          </a:prstGeom>
          <a:noFill/>
          <a:ln w="127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11" name="Line 13">
            <a:extLst>
              <a:ext uri="{FF2B5EF4-FFF2-40B4-BE49-F238E27FC236}">
                <a16:creationId xmlns:a16="http://schemas.microsoft.com/office/drawing/2014/main" id="{E490952C-E500-4891-E497-6043B2284784}"/>
              </a:ext>
            </a:extLst>
          </p:cNvPr>
          <p:cNvSpPr>
            <a:spLocks noChangeShapeType="1"/>
          </p:cNvSpPr>
          <p:nvPr/>
        </p:nvSpPr>
        <p:spPr bwMode="auto">
          <a:xfrm>
            <a:off x="5871163" y="5338475"/>
            <a:ext cx="1366837" cy="0"/>
          </a:xfrm>
          <a:prstGeom prst="line">
            <a:avLst/>
          </a:prstGeom>
          <a:noFill/>
          <a:ln w="127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12" name="Line 14">
            <a:extLst>
              <a:ext uri="{FF2B5EF4-FFF2-40B4-BE49-F238E27FC236}">
                <a16:creationId xmlns:a16="http://schemas.microsoft.com/office/drawing/2014/main" id="{12BDFA90-11EE-D07E-3862-CD2EFA142F09}"/>
              </a:ext>
            </a:extLst>
          </p:cNvPr>
          <p:cNvSpPr>
            <a:spLocks noChangeShapeType="1"/>
          </p:cNvSpPr>
          <p:nvPr/>
        </p:nvSpPr>
        <p:spPr bwMode="auto">
          <a:xfrm>
            <a:off x="5871163" y="5652800"/>
            <a:ext cx="1366837" cy="0"/>
          </a:xfrm>
          <a:prstGeom prst="line">
            <a:avLst/>
          </a:prstGeom>
          <a:noFill/>
          <a:ln w="508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13" name="Line 15">
            <a:extLst>
              <a:ext uri="{FF2B5EF4-FFF2-40B4-BE49-F238E27FC236}">
                <a16:creationId xmlns:a16="http://schemas.microsoft.com/office/drawing/2014/main" id="{D0E67BD7-B96E-561A-CE99-E2996B494B02}"/>
              </a:ext>
            </a:extLst>
          </p:cNvPr>
          <p:cNvSpPr>
            <a:spLocks noChangeShapeType="1"/>
          </p:cNvSpPr>
          <p:nvPr/>
        </p:nvSpPr>
        <p:spPr bwMode="auto">
          <a:xfrm>
            <a:off x="5871163" y="5967125"/>
            <a:ext cx="1366837" cy="0"/>
          </a:xfrm>
          <a:prstGeom prst="line">
            <a:avLst/>
          </a:prstGeom>
          <a:noFill/>
          <a:ln w="127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14" name="Line 16">
            <a:extLst>
              <a:ext uri="{FF2B5EF4-FFF2-40B4-BE49-F238E27FC236}">
                <a16:creationId xmlns:a16="http://schemas.microsoft.com/office/drawing/2014/main" id="{392BDCBD-C16F-DEF7-75C7-323520A0EC87}"/>
              </a:ext>
            </a:extLst>
          </p:cNvPr>
          <p:cNvSpPr>
            <a:spLocks noChangeShapeType="1"/>
          </p:cNvSpPr>
          <p:nvPr/>
        </p:nvSpPr>
        <p:spPr bwMode="auto">
          <a:xfrm>
            <a:off x="5871163" y="6279863"/>
            <a:ext cx="1366837" cy="0"/>
          </a:xfrm>
          <a:prstGeom prst="line">
            <a:avLst/>
          </a:prstGeom>
          <a:noFill/>
          <a:ln w="127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15" name="Rectangle 17">
            <a:extLst>
              <a:ext uri="{FF2B5EF4-FFF2-40B4-BE49-F238E27FC236}">
                <a16:creationId xmlns:a16="http://schemas.microsoft.com/office/drawing/2014/main" id="{EA5328D2-3193-3F41-66A2-1008F5076965}"/>
              </a:ext>
            </a:extLst>
          </p:cNvPr>
          <p:cNvSpPr>
            <a:spLocks noChangeArrowheads="1"/>
          </p:cNvSpPr>
          <p:nvPr/>
        </p:nvSpPr>
        <p:spPr bwMode="auto">
          <a:xfrm>
            <a:off x="6155932" y="5962363"/>
            <a:ext cx="859211"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1600" b="1">
                <a:solidFill>
                  <a:srgbClr val="1C069E"/>
                </a:solidFill>
                <a:latin typeface="Consolas" panose="020B0609020204030204" pitchFamily="49" charset="0"/>
                <a:ea typeface="+mn-ea"/>
                <a:cs typeface="Consolas" panose="020B0609020204030204" pitchFamily="49" charset="0"/>
              </a:rPr>
              <a:t>unused</a:t>
            </a:r>
          </a:p>
        </p:txBody>
      </p:sp>
      <p:sp>
        <p:nvSpPr>
          <p:cNvPr id="16" name="Line 18">
            <a:extLst>
              <a:ext uri="{FF2B5EF4-FFF2-40B4-BE49-F238E27FC236}">
                <a16:creationId xmlns:a16="http://schemas.microsoft.com/office/drawing/2014/main" id="{F36DC071-9690-44A3-7028-9A332DE2979A}"/>
              </a:ext>
            </a:extLst>
          </p:cNvPr>
          <p:cNvSpPr>
            <a:spLocks noChangeShapeType="1"/>
          </p:cNvSpPr>
          <p:nvPr/>
        </p:nvSpPr>
        <p:spPr bwMode="auto">
          <a:xfrm>
            <a:off x="5707650" y="3870038"/>
            <a:ext cx="0" cy="2168525"/>
          </a:xfrm>
          <a:prstGeom prst="line">
            <a:avLst/>
          </a:prstGeom>
          <a:noFill/>
          <a:ln w="25400">
            <a:solidFill>
              <a:srgbClr val="0000FF"/>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17" name="Rectangle 19">
            <a:extLst>
              <a:ext uri="{FF2B5EF4-FFF2-40B4-BE49-F238E27FC236}">
                <a16:creationId xmlns:a16="http://schemas.microsoft.com/office/drawing/2014/main" id="{2D823C34-193A-9971-0F66-C5D5F652B66F}"/>
              </a:ext>
            </a:extLst>
          </p:cNvPr>
          <p:cNvSpPr>
            <a:spLocks noChangeArrowheads="1"/>
          </p:cNvSpPr>
          <p:nvPr/>
        </p:nvSpPr>
        <p:spPr bwMode="auto">
          <a:xfrm>
            <a:off x="5578277" y="3227986"/>
            <a:ext cx="1905000"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pPr algn="ctr" eaLnBrk="0" hangingPunct="0"/>
            <a:r>
              <a:rPr lang="zh-CN" altLang="en-US" sz="2000" b="1" dirty="0">
                <a:solidFill>
                  <a:srgbClr val="FF3300"/>
                </a:solidFill>
                <a:latin typeface="Consolas" panose="020B0609020204030204" pitchFamily="49" charset="0"/>
                <a:ea typeface="+mn-ea"/>
                <a:cs typeface="Consolas" panose="020B0609020204030204" pitchFamily="49" charset="0"/>
              </a:rPr>
              <a:t>主存储器</a:t>
            </a:r>
          </a:p>
        </p:txBody>
      </p:sp>
      <p:sp>
        <p:nvSpPr>
          <p:cNvPr id="18" name="Line 20">
            <a:extLst>
              <a:ext uri="{FF2B5EF4-FFF2-40B4-BE49-F238E27FC236}">
                <a16:creationId xmlns:a16="http://schemas.microsoft.com/office/drawing/2014/main" id="{83ED6AD6-999B-0EFF-8D25-6B76948CF0A1}"/>
              </a:ext>
            </a:extLst>
          </p:cNvPr>
          <p:cNvSpPr>
            <a:spLocks noChangeShapeType="1"/>
          </p:cNvSpPr>
          <p:nvPr/>
        </p:nvSpPr>
        <p:spPr bwMode="auto">
          <a:xfrm flipH="1">
            <a:off x="7255581" y="5649299"/>
            <a:ext cx="304800" cy="0"/>
          </a:xfrm>
          <a:prstGeom prst="line">
            <a:avLst/>
          </a:prstGeom>
          <a:noFill/>
          <a:ln w="25400" cap="rnd">
            <a:solidFill>
              <a:srgbClr val="FF0000"/>
            </a:solidFill>
            <a:round/>
            <a:headEnd w="med" len="lg"/>
            <a:tailEnd type="triangle" w="med" len="lg"/>
          </a:ln>
          <a:extLst>
            <a:ext uri="{909E8E84-426E-40DD-AFC4-6F175D3DCCD1}">
              <a14:hiddenFill xmlns:a14="http://schemas.microsoft.com/office/drawing/2010/main">
                <a:noFill/>
              </a14:hiddenFill>
            </a:ext>
          </a:extLst>
        </p:spPr>
        <p:txBody>
          <a:bodyPr wrap="none" anchor="ctr">
            <a:spAutoFit/>
          </a:bodyPr>
          <a:lstStyle/>
          <a:p>
            <a:pPr algn="ctr"/>
            <a:endParaRPr lang="zh-CN" altLang="en-US" sz="4600" b="1">
              <a:solidFill>
                <a:srgbClr val="FF3300"/>
              </a:solidFill>
              <a:latin typeface="Consolas" panose="020B0609020204030204" pitchFamily="49" charset="0"/>
              <a:ea typeface="+mn-ea"/>
              <a:cs typeface="Consolas" panose="020B0609020204030204" pitchFamily="49" charset="0"/>
            </a:endParaRPr>
          </a:p>
        </p:txBody>
      </p:sp>
      <p:sp>
        <p:nvSpPr>
          <p:cNvPr id="19" name="Rectangle 21">
            <a:extLst>
              <a:ext uri="{FF2B5EF4-FFF2-40B4-BE49-F238E27FC236}">
                <a16:creationId xmlns:a16="http://schemas.microsoft.com/office/drawing/2014/main" id="{50D698FE-5638-FC86-41E8-ACDA1DA64D87}"/>
              </a:ext>
            </a:extLst>
          </p:cNvPr>
          <p:cNvSpPr>
            <a:spLocks noChangeArrowheads="1"/>
          </p:cNvSpPr>
          <p:nvPr/>
        </p:nvSpPr>
        <p:spPr bwMode="auto">
          <a:xfrm>
            <a:off x="6155932" y="5667088"/>
            <a:ext cx="859211"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1600" b="1">
                <a:solidFill>
                  <a:srgbClr val="1C069E"/>
                </a:solidFill>
                <a:latin typeface="Consolas" panose="020B0609020204030204" pitchFamily="49" charset="0"/>
                <a:ea typeface="+mn-ea"/>
                <a:cs typeface="Consolas" panose="020B0609020204030204" pitchFamily="49" charset="0"/>
              </a:rPr>
              <a:t>unused</a:t>
            </a:r>
          </a:p>
        </p:txBody>
      </p:sp>
      <p:sp>
        <p:nvSpPr>
          <p:cNvPr id="20" name="Rectangle 22">
            <a:extLst>
              <a:ext uri="{FF2B5EF4-FFF2-40B4-BE49-F238E27FC236}">
                <a16:creationId xmlns:a16="http://schemas.microsoft.com/office/drawing/2014/main" id="{9767154E-EF3E-396C-B13F-14C9D3D74599}"/>
              </a:ext>
            </a:extLst>
          </p:cNvPr>
          <p:cNvSpPr>
            <a:spLocks noChangeArrowheads="1"/>
          </p:cNvSpPr>
          <p:nvPr/>
        </p:nvSpPr>
        <p:spPr bwMode="auto">
          <a:xfrm rot="16200000">
            <a:off x="4538656" y="4514212"/>
            <a:ext cx="1753686"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zh-CN" altLang="en-US" sz="2000" b="1" dirty="0">
                <a:solidFill>
                  <a:srgbClr val="FF3300"/>
                </a:solidFill>
                <a:latin typeface="Consolas" panose="020B0609020204030204" pitchFamily="49" charset="0"/>
                <a:ea typeface="+mn-ea"/>
                <a:cs typeface="Consolas" panose="020B0609020204030204" pitchFamily="49" charset="0"/>
              </a:rPr>
              <a:t>地址减小方向</a:t>
            </a:r>
            <a:endParaRPr lang="en-US" altLang="zh-CN" sz="2000" b="1" dirty="0">
              <a:solidFill>
                <a:srgbClr val="FF3300"/>
              </a:solidFill>
              <a:latin typeface="Consolas" panose="020B0609020204030204" pitchFamily="49" charset="0"/>
              <a:ea typeface="+mn-ea"/>
              <a:cs typeface="Consolas" panose="020B0609020204030204" pitchFamily="49" charset="0"/>
            </a:endParaRPr>
          </a:p>
        </p:txBody>
      </p:sp>
      <p:sp>
        <p:nvSpPr>
          <p:cNvPr id="21" name="Rectangle 24">
            <a:extLst>
              <a:ext uri="{FF2B5EF4-FFF2-40B4-BE49-F238E27FC236}">
                <a16:creationId xmlns:a16="http://schemas.microsoft.com/office/drawing/2014/main" id="{F669FE59-7023-D788-D874-80CD8C493FA8}"/>
              </a:ext>
            </a:extLst>
          </p:cNvPr>
          <p:cNvSpPr>
            <a:spLocks noChangeArrowheads="1"/>
          </p:cNvSpPr>
          <p:nvPr/>
        </p:nvSpPr>
        <p:spPr bwMode="auto">
          <a:xfrm>
            <a:off x="5984442" y="5319425"/>
            <a:ext cx="1195841"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1600" b="1" dirty="0">
                <a:solidFill>
                  <a:srgbClr val="1C069E"/>
                </a:solidFill>
                <a:latin typeface="Consolas" panose="020B0609020204030204" pitchFamily="49" charset="0"/>
                <a:ea typeface="+mn-ea"/>
                <a:cs typeface="Consolas" panose="020B0609020204030204" pitchFamily="49" charset="0"/>
              </a:rPr>
              <a:t>temp vars</a:t>
            </a:r>
          </a:p>
        </p:txBody>
      </p:sp>
      <p:sp>
        <p:nvSpPr>
          <p:cNvPr id="22" name="Rectangle 25">
            <a:extLst>
              <a:ext uri="{FF2B5EF4-FFF2-40B4-BE49-F238E27FC236}">
                <a16:creationId xmlns:a16="http://schemas.microsoft.com/office/drawing/2014/main" id="{ED37045A-1C69-5359-E456-BD95E3A2835B}"/>
              </a:ext>
            </a:extLst>
          </p:cNvPr>
          <p:cNvSpPr>
            <a:spLocks noChangeArrowheads="1"/>
          </p:cNvSpPr>
          <p:nvPr/>
        </p:nvSpPr>
        <p:spPr bwMode="auto">
          <a:xfrm>
            <a:off x="5869058" y="4971763"/>
            <a:ext cx="1420261"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1600" b="1" dirty="0">
                <a:solidFill>
                  <a:srgbClr val="1C069E"/>
                </a:solidFill>
                <a:latin typeface="Consolas" panose="020B0609020204030204" pitchFamily="49" charset="0"/>
                <a:ea typeface="+mn-ea"/>
                <a:cs typeface="Consolas" panose="020B0609020204030204" pitchFamily="49" charset="0"/>
              </a:rPr>
              <a:t>return addr</a:t>
            </a:r>
          </a:p>
        </p:txBody>
      </p:sp>
      <p:sp>
        <p:nvSpPr>
          <p:cNvPr id="23" name="Rectangle 26">
            <a:extLst>
              <a:ext uri="{FF2B5EF4-FFF2-40B4-BE49-F238E27FC236}">
                <a16:creationId xmlns:a16="http://schemas.microsoft.com/office/drawing/2014/main" id="{2FFA6E1F-8120-383D-92AA-A2EFEB648C54}"/>
              </a:ext>
            </a:extLst>
          </p:cNvPr>
          <p:cNvSpPr>
            <a:spLocks noChangeArrowheads="1"/>
          </p:cNvSpPr>
          <p:nvPr/>
        </p:nvSpPr>
        <p:spPr bwMode="auto">
          <a:xfrm>
            <a:off x="6426932" y="4709825"/>
            <a:ext cx="298160"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1600" b="1" dirty="0">
                <a:solidFill>
                  <a:srgbClr val="1C069E"/>
                </a:solidFill>
                <a:latin typeface="Consolas" panose="020B0609020204030204" pitchFamily="49" charset="0"/>
                <a:ea typeface="+mn-ea"/>
                <a:cs typeface="Consolas" panose="020B0609020204030204" pitchFamily="49" charset="0"/>
              </a:rPr>
              <a:t>1</a:t>
            </a:r>
          </a:p>
        </p:txBody>
      </p:sp>
      <p:sp>
        <p:nvSpPr>
          <p:cNvPr id="24" name="Rectangle 27">
            <a:extLst>
              <a:ext uri="{FF2B5EF4-FFF2-40B4-BE49-F238E27FC236}">
                <a16:creationId xmlns:a16="http://schemas.microsoft.com/office/drawing/2014/main" id="{CB4789CD-BAC3-4EFB-F6E0-C0E5B820AF55}"/>
              </a:ext>
            </a:extLst>
          </p:cNvPr>
          <p:cNvSpPr>
            <a:spLocks noChangeArrowheads="1"/>
          </p:cNvSpPr>
          <p:nvPr/>
        </p:nvSpPr>
        <p:spPr bwMode="auto">
          <a:xfrm>
            <a:off x="5987619" y="4360575"/>
            <a:ext cx="1195841"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1600" b="1" dirty="0">
                <a:solidFill>
                  <a:srgbClr val="1C069E"/>
                </a:solidFill>
                <a:latin typeface="Consolas" panose="020B0609020204030204" pitchFamily="49" charset="0"/>
                <a:ea typeface="+mn-ea"/>
                <a:cs typeface="Consolas" panose="020B0609020204030204" pitchFamily="49" charset="0"/>
              </a:rPr>
              <a:t>temp vars</a:t>
            </a:r>
          </a:p>
        </p:txBody>
      </p:sp>
      <p:sp>
        <p:nvSpPr>
          <p:cNvPr id="25" name="Rectangle 28">
            <a:extLst>
              <a:ext uri="{FF2B5EF4-FFF2-40B4-BE49-F238E27FC236}">
                <a16:creationId xmlns:a16="http://schemas.microsoft.com/office/drawing/2014/main" id="{CA0BFE08-7C13-A733-7E49-CA37564342B6}"/>
              </a:ext>
            </a:extLst>
          </p:cNvPr>
          <p:cNvSpPr>
            <a:spLocks noChangeArrowheads="1"/>
          </p:cNvSpPr>
          <p:nvPr/>
        </p:nvSpPr>
        <p:spPr bwMode="auto">
          <a:xfrm>
            <a:off x="5872235" y="4038767"/>
            <a:ext cx="1420261"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1600" b="1" dirty="0">
                <a:solidFill>
                  <a:srgbClr val="1C069E"/>
                </a:solidFill>
                <a:latin typeface="Consolas" panose="020B0609020204030204" pitchFamily="49" charset="0"/>
                <a:ea typeface="+mn-ea"/>
                <a:cs typeface="Consolas" panose="020B0609020204030204" pitchFamily="49" charset="0"/>
              </a:rPr>
              <a:t>return addr</a:t>
            </a:r>
          </a:p>
        </p:txBody>
      </p:sp>
      <p:sp>
        <p:nvSpPr>
          <p:cNvPr id="26" name="Rectangle 29">
            <a:extLst>
              <a:ext uri="{FF2B5EF4-FFF2-40B4-BE49-F238E27FC236}">
                <a16:creationId xmlns:a16="http://schemas.microsoft.com/office/drawing/2014/main" id="{C62F38CA-4C46-3C51-830C-C5E5A68FB1A7}"/>
              </a:ext>
            </a:extLst>
          </p:cNvPr>
          <p:cNvSpPr>
            <a:spLocks noChangeArrowheads="1"/>
          </p:cNvSpPr>
          <p:nvPr/>
        </p:nvSpPr>
        <p:spPr bwMode="auto">
          <a:xfrm>
            <a:off x="6430107" y="3750975"/>
            <a:ext cx="298160"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1600" b="1" dirty="0">
                <a:solidFill>
                  <a:srgbClr val="1C069E"/>
                </a:solidFill>
                <a:latin typeface="Consolas" panose="020B0609020204030204" pitchFamily="49" charset="0"/>
                <a:ea typeface="+mn-ea"/>
                <a:cs typeface="Consolas" panose="020B0609020204030204" pitchFamily="49" charset="0"/>
              </a:rPr>
              <a:t>2</a:t>
            </a:r>
          </a:p>
        </p:txBody>
      </p:sp>
      <p:sp>
        <p:nvSpPr>
          <p:cNvPr id="27" name="Rectangle 17">
            <a:extLst>
              <a:ext uri="{FF2B5EF4-FFF2-40B4-BE49-F238E27FC236}">
                <a16:creationId xmlns:a16="http://schemas.microsoft.com/office/drawing/2014/main" id="{8013DC7F-64FE-8816-C7A6-65F31C983DA1}"/>
              </a:ext>
            </a:extLst>
          </p:cNvPr>
          <p:cNvSpPr>
            <a:spLocks noChangeArrowheads="1"/>
          </p:cNvSpPr>
          <p:nvPr/>
        </p:nvSpPr>
        <p:spPr bwMode="auto">
          <a:xfrm>
            <a:off x="6146407" y="6303222"/>
            <a:ext cx="859211"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1600" b="1" dirty="0">
                <a:solidFill>
                  <a:srgbClr val="1C069E"/>
                </a:solidFill>
                <a:latin typeface="Consolas" panose="020B0609020204030204" pitchFamily="49" charset="0"/>
                <a:ea typeface="+mn-ea"/>
                <a:cs typeface="Consolas" panose="020B0609020204030204" pitchFamily="49" charset="0"/>
              </a:rPr>
              <a:t>unused</a:t>
            </a:r>
          </a:p>
        </p:txBody>
      </p:sp>
      <p:sp>
        <p:nvSpPr>
          <p:cNvPr id="28" name="Rectangle 33">
            <a:extLst>
              <a:ext uri="{FF2B5EF4-FFF2-40B4-BE49-F238E27FC236}">
                <a16:creationId xmlns:a16="http://schemas.microsoft.com/office/drawing/2014/main" id="{C752471A-5BAA-73FA-F597-FAFEB2835EBA}"/>
              </a:ext>
            </a:extLst>
          </p:cNvPr>
          <p:cNvSpPr>
            <a:spLocks noChangeArrowheads="1"/>
          </p:cNvSpPr>
          <p:nvPr/>
        </p:nvSpPr>
        <p:spPr bwMode="auto">
          <a:xfrm>
            <a:off x="7299912" y="3773441"/>
            <a:ext cx="175240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a:lstStyle>
          <a:p>
            <a:pPr eaLnBrk="0" hangingPunct="0"/>
            <a:r>
              <a:rPr lang="en-US" altLang="zh-CN" sz="2000" b="1" dirty="0">
                <a:solidFill>
                  <a:srgbClr val="FF0000"/>
                </a:solidFill>
                <a:latin typeface="Consolas" panose="020B0609020204030204" pitchFamily="49" charset="0"/>
                <a:ea typeface="+mn-ea"/>
                <a:cs typeface="Consolas" panose="020B0609020204030204" pitchFamily="49" charset="0"/>
              </a:rPr>
              <a:t>fact(2)</a:t>
            </a:r>
          </a:p>
          <a:p>
            <a:pPr eaLnBrk="0" hangingPunct="0"/>
            <a:r>
              <a:rPr lang="zh-CN" altLang="en-US" sz="2000" b="1" dirty="0">
                <a:solidFill>
                  <a:srgbClr val="FF0000"/>
                </a:solidFill>
                <a:latin typeface="Consolas" panose="020B0609020204030204" pitchFamily="49" charset="0"/>
                <a:ea typeface="+mn-ea"/>
                <a:cs typeface="Consolas" panose="020B0609020204030204" pitchFamily="49" charset="0"/>
              </a:rPr>
              <a:t>的过程调用帧</a:t>
            </a:r>
            <a:endParaRPr lang="zh-CN" altLang="en-US" sz="1600" b="1" dirty="0">
              <a:solidFill>
                <a:srgbClr val="FF0000"/>
              </a:solidFill>
              <a:latin typeface="Consolas" panose="020B0609020204030204" pitchFamily="49" charset="0"/>
              <a:ea typeface="+mn-ea"/>
              <a:cs typeface="Consolas" panose="020B0609020204030204" pitchFamily="49" charset="0"/>
            </a:endParaRPr>
          </a:p>
        </p:txBody>
      </p:sp>
      <p:sp>
        <p:nvSpPr>
          <p:cNvPr id="32" name="Rectangle 34">
            <a:extLst>
              <a:ext uri="{FF2B5EF4-FFF2-40B4-BE49-F238E27FC236}">
                <a16:creationId xmlns:a16="http://schemas.microsoft.com/office/drawing/2014/main" id="{69643610-8076-7764-14F9-9301331EB81E}"/>
              </a:ext>
            </a:extLst>
          </p:cNvPr>
          <p:cNvSpPr>
            <a:spLocks noChangeArrowheads="1"/>
          </p:cNvSpPr>
          <p:nvPr/>
        </p:nvSpPr>
        <p:spPr bwMode="auto">
          <a:xfrm>
            <a:off x="7306968" y="4757455"/>
            <a:ext cx="175240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a:lstStyle>
          <a:p>
            <a:pPr eaLnBrk="0" hangingPunct="0"/>
            <a:r>
              <a:rPr lang="en-US" altLang="zh-CN" sz="2000" b="1" dirty="0">
                <a:solidFill>
                  <a:srgbClr val="FF0000"/>
                </a:solidFill>
                <a:latin typeface="Consolas" panose="020B0609020204030204" pitchFamily="49" charset="0"/>
                <a:ea typeface="+mn-ea"/>
                <a:cs typeface="Consolas" panose="020B0609020204030204" pitchFamily="49" charset="0"/>
              </a:rPr>
              <a:t>fact(1)</a:t>
            </a:r>
          </a:p>
          <a:p>
            <a:pPr eaLnBrk="0" hangingPunct="0"/>
            <a:r>
              <a:rPr lang="zh-CN" altLang="en-US" sz="2000" b="1" dirty="0">
                <a:solidFill>
                  <a:srgbClr val="FF0000"/>
                </a:solidFill>
                <a:latin typeface="Consolas" panose="020B0609020204030204" pitchFamily="49" charset="0"/>
                <a:ea typeface="+mn-ea"/>
                <a:cs typeface="Consolas" panose="020B0609020204030204" pitchFamily="49" charset="0"/>
              </a:rPr>
              <a:t>的过程调用帧</a:t>
            </a:r>
            <a:endParaRPr lang="zh-CN" altLang="en-US" sz="1600" b="1" dirty="0">
              <a:solidFill>
                <a:srgbClr val="FF0000"/>
              </a:solidFill>
              <a:latin typeface="Consolas" panose="020B0609020204030204" pitchFamily="49" charset="0"/>
              <a:ea typeface="+mn-ea"/>
              <a:cs typeface="Consolas" panose="020B0609020204030204" pitchFamily="49" charset="0"/>
            </a:endParaRPr>
          </a:p>
        </p:txBody>
      </p:sp>
    </p:spTree>
    <p:extLst>
      <p:ext uri="{BB962C8B-B14F-4D97-AF65-F5344CB8AC3E}">
        <p14:creationId xmlns:p14="http://schemas.microsoft.com/office/powerpoint/2010/main" val="3022060615"/>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灯片编号占位符 3">
            <a:extLst>
              <a:ext uri="{FF2B5EF4-FFF2-40B4-BE49-F238E27FC236}">
                <a16:creationId xmlns:a16="http://schemas.microsoft.com/office/drawing/2014/main" id="{F09C93A6-41D7-4B47-A78F-E636A9553D6B}"/>
              </a:ext>
            </a:extLst>
          </p:cNvPr>
          <p:cNvSpPr>
            <a:spLocks noGrp="1"/>
          </p:cNvSpPr>
          <p:nvPr>
            <p:ph type="sldNum" sz="quarter" idx="12"/>
          </p:nvPr>
        </p:nvSpPr>
        <p:spPr/>
        <p:txBody>
          <a:bodyPr/>
          <a:lstStyle/>
          <a:p>
            <a:fld id="{14659731-6BD7-46E7-8D3C-2F3AC07E20B1}" type="slidenum">
              <a:rPr lang="en-US" altLang="zh-CN" smtClean="0"/>
              <a:pPr/>
              <a:t>142</a:t>
            </a:fld>
            <a:endParaRPr lang="en-US" altLang="zh-CN"/>
          </a:p>
        </p:txBody>
      </p:sp>
      <p:sp>
        <p:nvSpPr>
          <p:cNvPr id="29702" name="Rectangle 4"/>
          <p:cNvSpPr>
            <a:spLocks noGrp="1" noChangeArrowheads="1"/>
          </p:cNvSpPr>
          <p:nvPr>
            <p:ph idx="4294967295"/>
          </p:nvPr>
        </p:nvSpPr>
        <p:spPr>
          <a:xfrm>
            <a:off x="339212" y="1302211"/>
            <a:ext cx="5041438" cy="5256213"/>
          </a:xfrm>
          <a:noFill/>
        </p:spPr>
        <p:txBody>
          <a:bodyPr lIns="92075" tIns="46038" rIns="92075" bIns="46038"/>
          <a:lstStyle/>
          <a:p>
            <a:pPr eaLnBrk="1" hangingPunct="1"/>
            <a:r>
              <a:rPr lang="zh-CN" altLang="en-US" sz="2400" dirty="0"/>
              <a:t>我们需要存储</a:t>
            </a:r>
            <a:r>
              <a:rPr lang="en-US" altLang="zh-CN" sz="2400" dirty="0"/>
              <a:t>:</a:t>
            </a:r>
          </a:p>
          <a:p>
            <a:pPr lvl="1" eaLnBrk="1" hangingPunct="1"/>
            <a:r>
              <a:rPr lang="zh-CN" altLang="en-US" sz="2000" dirty="0"/>
              <a:t>返回地址</a:t>
            </a:r>
            <a:r>
              <a:rPr lang="en-US" altLang="zh-CN" sz="2000" dirty="0"/>
              <a:t>(old </a:t>
            </a:r>
            <a:r>
              <a:rPr lang="en-US" altLang="zh-CN" sz="2000" dirty="0" err="1"/>
              <a:t>ra</a:t>
            </a:r>
            <a:r>
              <a:rPr lang="en-US" altLang="zh-CN" sz="2000" dirty="0"/>
              <a:t>)</a:t>
            </a:r>
          </a:p>
          <a:p>
            <a:pPr lvl="1" eaLnBrk="1" hangingPunct="1"/>
            <a:r>
              <a:rPr lang="zh-CN" altLang="en-US" sz="2000" dirty="0"/>
              <a:t>参数 </a:t>
            </a:r>
            <a:r>
              <a:rPr lang="en-US" altLang="zh-CN" sz="2000" dirty="0">
                <a:solidFill>
                  <a:srgbClr val="1C069E"/>
                </a:solidFill>
              </a:rPr>
              <a:t>n </a:t>
            </a:r>
            <a:r>
              <a:rPr lang="en-US" altLang="zh-CN" sz="2000" dirty="0"/>
              <a:t>in </a:t>
            </a:r>
            <a:r>
              <a:rPr lang="en-US" altLang="zh-CN" sz="2000" dirty="0">
                <a:solidFill>
                  <a:srgbClr val="1C069E"/>
                </a:solidFill>
              </a:rPr>
              <a:t>fact(n)</a:t>
            </a:r>
          </a:p>
          <a:p>
            <a:pPr lvl="1" eaLnBrk="1" hangingPunct="1"/>
            <a:r>
              <a:rPr lang="zh-CN" altLang="en-US" sz="2000" dirty="0"/>
              <a:t>临时</a:t>
            </a:r>
            <a:r>
              <a:rPr lang="en-US" altLang="zh-CN" sz="2000" dirty="0"/>
              <a:t>/</a:t>
            </a:r>
            <a:r>
              <a:rPr lang="zh-CN" altLang="en-US" sz="2000" dirty="0"/>
              <a:t>局部的变量 （在</a:t>
            </a:r>
            <a:r>
              <a:rPr lang="en-US" altLang="zh-CN" sz="2000" dirty="0">
                <a:solidFill>
                  <a:srgbClr val="1C069E"/>
                </a:solidFill>
              </a:rPr>
              <a:t>f</a:t>
            </a:r>
            <a:r>
              <a:rPr lang="zh-CN" altLang="en-US" sz="2000" dirty="0">
                <a:solidFill>
                  <a:srgbClr val="1C069E"/>
                </a:solidFill>
              </a:rPr>
              <a:t>执行过程中）</a:t>
            </a:r>
          </a:p>
          <a:p>
            <a:pPr lvl="1" eaLnBrk="1" hangingPunct="1"/>
            <a:r>
              <a:rPr lang="zh-CN" altLang="en-US" sz="2000" dirty="0"/>
              <a:t>被破坏的寄存器</a:t>
            </a:r>
          </a:p>
          <a:p>
            <a:pPr lvl="1" eaLnBrk="1" hangingPunct="1"/>
            <a:endParaRPr lang="zh-CN" altLang="en-US" sz="1900" dirty="0">
              <a:solidFill>
                <a:schemeClr val="accent2"/>
              </a:solidFill>
            </a:endParaRPr>
          </a:p>
          <a:p>
            <a:pPr eaLnBrk="1" hangingPunct="1"/>
            <a:r>
              <a:rPr lang="zh-CN" altLang="en-US" sz="2400" dirty="0"/>
              <a:t>想法</a:t>
            </a:r>
            <a:r>
              <a:rPr lang="en-US" altLang="zh-CN" sz="2400" dirty="0"/>
              <a:t>: </a:t>
            </a:r>
            <a:r>
              <a:rPr lang="zh-CN" altLang="en-US" sz="2400" dirty="0"/>
              <a:t>存在栈里</a:t>
            </a:r>
            <a:r>
              <a:rPr lang="en-US" altLang="zh-CN" sz="2400" dirty="0"/>
              <a:t>!</a:t>
            </a:r>
          </a:p>
          <a:p>
            <a:pPr lvl="1" eaLnBrk="1" hangingPunct="1"/>
            <a:r>
              <a:rPr lang="zh-CN" altLang="en-US" sz="2000" dirty="0"/>
              <a:t>增长</a:t>
            </a:r>
            <a:r>
              <a:rPr lang="en-US" altLang="zh-CN" sz="2000" dirty="0"/>
              <a:t>(PUSH </a:t>
            </a:r>
            <a:r>
              <a:rPr lang="zh-CN" altLang="en-US" sz="2000" dirty="0"/>
              <a:t>进去</a:t>
            </a:r>
            <a:r>
              <a:rPr lang="en-US" altLang="zh-CN" sz="2000" dirty="0"/>
              <a:t>) </a:t>
            </a:r>
            <a:r>
              <a:rPr lang="zh-CN" altLang="en-US" sz="2000" dirty="0"/>
              <a:t>栈，（每次调用函数时）</a:t>
            </a:r>
          </a:p>
          <a:p>
            <a:pPr lvl="1" eaLnBrk="1" hangingPunct="1"/>
            <a:r>
              <a:rPr lang="zh-CN" altLang="en-US" sz="2000" dirty="0"/>
              <a:t>缩减栈</a:t>
            </a:r>
            <a:r>
              <a:rPr lang="en-US" altLang="zh-CN" sz="2000" dirty="0"/>
              <a:t>(POP </a:t>
            </a:r>
            <a:r>
              <a:rPr lang="zh-CN" altLang="en-US" sz="2000" dirty="0"/>
              <a:t>出来</a:t>
            </a:r>
            <a:r>
              <a:rPr lang="en-US" altLang="zh-CN" sz="2000" dirty="0"/>
              <a:t>) </a:t>
            </a:r>
            <a:r>
              <a:rPr lang="zh-CN" altLang="en-US" sz="2000" dirty="0"/>
              <a:t>（每次返回时）</a:t>
            </a:r>
          </a:p>
          <a:p>
            <a:pPr lvl="1" eaLnBrk="1" hangingPunct="1"/>
            <a:r>
              <a:rPr lang="zh-CN" altLang="en-US" sz="2000" dirty="0"/>
              <a:t>每次调用都有自己的</a:t>
            </a:r>
            <a:r>
              <a:rPr lang="zh-CN" altLang="en-US" sz="2000" dirty="0">
                <a:latin typeface="Comic Sans MS" pitchFamily="66" charset="0"/>
              </a:rPr>
              <a:t>“过程调用</a:t>
            </a:r>
            <a:r>
              <a:rPr lang="zh-CN" altLang="en-US" sz="2000" dirty="0"/>
              <a:t>帧</a:t>
            </a:r>
            <a:r>
              <a:rPr lang="zh-CN" altLang="en-US" sz="2000" dirty="0">
                <a:latin typeface="Comic Sans MS" pitchFamily="66" charset="0"/>
              </a:rPr>
              <a:t>”</a:t>
            </a:r>
            <a:endParaRPr lang="zh-CN" altLang="en-US" sz="2000" dirty="0"/>
          </a:p>
        </p:txBody>
      </p:sp>
      <p:sp>
        <p:nvSpPr>
          <p:cNvPr id="29728" name="Oval 30"/>
          <p:cNvSpPr>
            <a:spLocks noChangeArrowheads="1"/>
          </p:cNvSpPr>
          <p:nvPr/>
        </p:nvSpPr>
        <p:spPr bwMode="auto">
          <a:xfrm>
            <a:off x="7192761" y="2767587"/>
            <a:ext cx="1724482" cy="799646"/>
          </a:xfrm>
          <a:prstGeom prst="rect">
            <a:avLst/>
          </a:prstGeom>
          <a:solidFill>
            <a:schemeClr val="bg2">
              <a:lumMod val="20000"/>
              <a:lumOff val="80000"/>
            </a:schemeClr>
          </a:solidFill>
          <a:ln w="19050">
            <a:noFill/>
            <a:round/>
            <a:headEnd/>
            <a:tailEnd type="none" w="lg" len="lg"/>
          </a:ln>
        </p:spPr>
        <p:txBody>
          <a:bodyPr wrap="none" lIns="0" tIns="0" rIns="0" bIns="0" anchor="ctr"/>
          <a:lstStyle/>
          <a:p>
            <a:pPr algn="ctr" eaLnBrk="0" hangingPunct="0"/>
            <a:r>
              <a:rPr lang="zh-CN" altLang="en-US" sz="2400" b="1" dirty="0">
                <a:solidFill>
                  <a:schemeClr val="tx1"/>
                </a:solidFill>
                <a:latin typeface="+mn-lt"/>
                <a:ea typeface="+mj-ea"/>
                <a:cs typeface="Consolas" panose="020B0609020204030204" pitchFamily="49" charset="0"/>
              </a:rPr>
              <a:t>例如</a:t>
            </a:r>
            <a:endParaRPr lang="zh-CN" altLang="en-US" b="1" dirty="0">
              <a:solidFill>
                <a:schemeClr val="tx1"/>
              </a:solidFill>
              <a:latin typeface="+mn-lt"/>
              <a:ea typeface="+mj-ea"/>
              <a:cs typeface="Consolas" panose="020B0609020204030204" pitchFamily="49" charset="0"/>
            </a:endParaRPr>
          </a:p>
          <a:p>
            <a:pPr algn="ctr" eaLnBrk="0" hangingPunct="0"/>
            <a:r>
              <a:rPr lang="zh-CN" altLang="en-US" sz="2400" b="1" dirty="0">
                <a:solidFill>
                  <a:schemeClr val="tx1"/>
                </a:solidFill>
                <a:latin typeface="+mn-lt"/>
                <a:ea typeface="+mj-ea"/>
                <a:cs typeface="Consolas" panose="020B0609020204030204" pitchFamily="49" charset="0"/>
              </a:rPr>
              <a:t>调用</a:t>
            </a:r>
            <a:r>
              <a:rPr lang="en-US" altLang="zh-CN" sz="2400" b="1" dirty="0">
                <a:solidFill>
                  <a:schemeClr val="tx1"/>
                </a:solidFill>
                <a:latin typeface="+mn-lt"/>
                <a:ea typeface="+mj-ea"/>
                <a:cs typeface="Consolas" panose="020B0609020204030204" pitchFamily="49" charset="0"/>
              </a:rPr>
              <a:t>fact(2)</a:t>
            </a:r>
            <a:endParaRPr lang="en-US" altLang="zh-CN" b="1" dirty="0">
              <a:solidFill>
                <a:schemeClr val="tx1"/>
              </a:solidFill>
              <a:latin typeface="+mn-lt"/>
              <a:ea typeface="+mj-ea"/>
              <a:cs typeface="Consolas" panose="020B0609020204030204" pitchFamily="49" charset="0"/>
            </a:endParaRPr>
          </a:p>
        </p:txBody>
      </p:sp>
      <p:sp>
        <p:nvSpPr>
          <p:cNvPr id="35" name="Rectangle 23">
            <a:extLst>
              <a:ext uri="{FF2B5EF4-FFF2-40B4-BE49-F238E27FC236}">
                <a16:creationId xmlns:a16="http://schemas.microsoft.com/office/drawing/2014/main" id="{F6AC55A4-4FC4-42A9-B254-67833D3532B5}"/>
              </a:ext>
            </a:extLst>
          </p:cNvPr>
          <p:cNvSpPr>
            <a:spLocks noChangeArrowheads="1"/>
          </p:cNvSpPr>
          <p:nvPr/>
        </p:nvSpPr>
        <p:spPr bwMode="auto">
          <a:xfrm>
            <a:off x="5111468" y="1282357"/>
            <a:ext cx="3731791" cy="203196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spAutoFit/>
          </a:bodyPr>
          <a:lstStyle/>
          <a:p>
            <a:pPr algn="l" eaLnBrk="0" hangingPunct="0"/>
            <a:r>
              <a:rPr lang="en-US" altLang="zh-CN" sz="1800" b="1" i="1" dirty="0" err="1">
                <a:solidFill>
                  <a:srgbClr val="1C069E"/>
                </a:solidFill>
                <a:latin typeface="Consolas" panose="020B0609020204030204" pitchFamily="49" charset="0"/>
              </a:rPr>
              <a:t>int</a:t>
            </a:r>
            <a:r>
              <a:rPr lang="en-US" altLang="zh-CN" sz="1800" b="1" i="1" dirty="0">
                <a:solidFill>
                  <a:srgbClr val="1C069E"/>
                </a:solidFill>
                <a:latin typeface="Consolas" panose="020B0609020204030204" pitchFamily="49" charset="0"/>
              </a:rPr>
              <a:t> fact( </a:t>
            </a:r>
            <a:r>
              <a:rPr lang="en-US" altLang="zh-CN" sz="1800" b="1" i="1" dirty="0" err="1">
                <a:solidFill>
                  <a:srgbClr val="1C069E"/>
                </a:solidFill>
                <a:latin typeface="Consolas" panose="020B0609020204030204" pitchFamily="49" charset="0"/>
              </a:rPr>
              <a:t>int</a:t>
            </a:r>
            <a:r>
              <a:rPr lang="en-US" altLang="zh-CN" sz="1800" b="1" i="1" dirty="0">
                <a:solidFill>
                  <a:srgbClr val="1C069E"/>
                </a:solidFill>
                <a:latin typeface="Consolas" panose="020B0609020204030204" pitchFamily="49" charset="0"/>
              </a:rPr>
              <a:t> n )</a:t>
            </a:r>
          </a:p>
          <a:p>
            <a:pPr algn="l" eaLnBrk="0" hangingPunct="0"/>
            <a:r>
              <a:rPr lang="en-US" altLang="zh-CN" sz="1800" b="1" i="1" dirty="0">
                <a:solidFill>
                  <a:srgbClr val="1C069E"/>
                </a:solidFill>
                <a:latin typeface="Consolas" panose="020B0609020204030204" pitchFamily="49" charset="0"/>
              </a:rPr>
              <a:t>{</a:t>
            </a:r>
          </a:p>
          <a:p>
            <a:pPr algn="l" eaLnBrk="0" hangingPunct="0"/>
            <a:r>
              <a:rPr lang="en-US" altLang="zh-CN" sz="1800" b="1" i="1" dirty="0">
                <a:solidFill>
                  <a:srgbClr val="1C069E"/>
                </a:solidFill>
                <a:latin typeface="Consolas" panose="020B0609020204030204" pitchFamily="49" charset="0"/>
              </a:rPr>
              <a:t>   if (n &gt; 0)</a:t>
            </a:r>
          </a:p>
          <a:p>
            <a:pPr algn="l" eaLnBrk="0" hangingPunct="0"/>
            <a:r>
              <a:rPr lang="en-US" altLang="zh-CN" sz="1800" b="1" i="1" dirty="0">
                <a:solidFill>
                  <a:srgbClr val="1C069E"/>
                </a:solidFill>
                <a:latin typeface="Consolas" panose="020B0609020204030204" pitchFamily="49" charset="0"/>
              </a:rPr>
              <a:t>     return fact( n-1 ) * n;</a:t>
            </a:r>
          </a:p>
          <a:p>
            <a:pPr algn="l" eaLnBrk="0" hangingPunct="0"/>
            <a:r>
              <a:rPr lang="en-US" altLang="zh-CN" sz="1800" b="1" i="1" dirty="0">
                <a:solidFill>
                  <a:srgbClr val="1C069E"/>
                </a:solidFill>
                <a:latin typeface="Consolas" panose="020B0609020204030204" pitchFamily="49" charset="0"/>
              </a:rPr>
              <a:t>   else</a:t>
            </a:r>
          </a:p>
          <a:p>
            <a:pPr algn="l" eaLnBrk="0" hangingPunct="0"/>
            <a:r>
              <a:rPr lang="en-US" altLang="zh-CN" sz="1800" b="1" i="1" dirty="0">
                <a:solidFill>
                  <a:srgbClr val="1C069E"/>
                </a:solidFill>
                <a:latin typeface="Consolas" panose="020B0609020204030204" pitchFamily="49" charset="0"/>
              </a:rPr>
              <a:t>     return 1 ;</a:t>
            </a:r>
          </a:p>
          <a:p>
            <a:pPr algn="l" eaLnBrk="0" hangingPunct="0"/>
            <a:r>
              <a:rPr lang="en-US" altLang="zh-CN" sz="1800" b="1" i="1" dirty="0">
                <a:solidFill>
                  <a:srgbClr val="1C069E"/>
                </a:solidFill>
                <a:latin typeface="Consolas" panose="020B0609020204030204" pitchFamily="49" charset="0"/>
              </a:rPr>
              <a:t>}</a:t>
            </a:r>
          </a:p>
        </p:txBody>
      </p:sp>
      <p:sp>
        <p:nvSpPr>
          <p:cNvPr id="2" name="Title 4">
            <a:extLst>
              <a:ext uri="{FF2B5EF4-FFF2-40B4-BE49-F238E27FC236}">
                <a16:creationId xmlns:a16="http://schemas.microsoft.com/office/drawing/2014/main" id="{9F92B80D-E2F8-51FE-09CD-9857D89281EB}"/>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dirty="0"/>
              <a:t>编程指南：过程调用</a:t>
            </a:r>
            <a:endParaRPr lang="en-CN" kern="0" dirty="0"/>
          </a:p>
        </p:txBody>
      </p:sp>
      <p:sp>
        <p:nvSpPr>
          <p:cNvPr id="3" name="Rectangle 5">
            <a:extLst>
              <a:ext uri="{FF2B5EF4-FFF2-40B4-BE49-F238E27FC236}">
                <a16:creationId xmlns:a16="http://schemas.microsoft.com/office/drawing/2014/main" id="{A4FDB895-255F-0F18-1D30-F41A76433C6C}"/>
              </a:ext>
            </a:extLst>
          </p:cNvPr>
          <p:cNvSpPr>
            <a:spLocks noChangeArrowheads="1"/>
          </p:cNvSpPr>
          <p:nvPr/>
        </p:nvSpPr>
        <p:spPr bwMode="auto">
          <a:xfrm>
            <a:off x="7543259" y="4524369"/>
            <a:ext cx="750205"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2000" b="1" i="1" dirty="0">
                <a:solidFill>
                  <a:srgbClr val="1C069E"/>
                </a:solidFill>
                <a:latin typeface="Consolas" panose="020B0609020204030204" pitchFamily="49" charset="0"/>
                <a:ea typeface="+mn-ea"/>
                <a:cs typeface="Consolas" panose="020B0609020204030204" pitchFamily="49" charset="0"/>
              </a:rPr>
              <a:t>&lt;SP&gt;</a:t>
            </a:r>
          </a:p>
        </p:txBody>
      </p:sp>
      <p:sp>
        <p:nvSpPr>
          <p:cNvPr id="4" name="Line 6">
            <a:extLst>
              <a:ext uri="{FF2B5EF4-FFF2-40B4-BE49-F238E27FC236}">
                <a16:creationId xmlns:a16="http://schemas.microsoft.com/office/drawing/2014/main" id="{BCB5690B-7A76-14D3-0287-F9275A4B7914}"/>
              </a:ext>
            </a:extLst>
          </p:cNvPr>
          <p:cNvSpPr>
            <a:spLocks noChangeShapeType="1"/>
          </p:cNvSpPr>
          <p:nvPr/>
        </p:nvSpPr>
        <p:spPr bwMode="auto">
          <a:xfrm>
            <a:off x="5866400" y="3647788"/>
            <a:ext cx="0" cy="2979736"/>
          </a:xfrm>
          <a:prstGeom prst="line">
            <a:avLst/>
          </a:prstGeom>
          <a:noFill/>
          <a:ln w="254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5" name="Line 7">
            <a:extLst>
              <a:ext uri="{FF2B5EF4-FFF2-40B4-BE49-F238E27FC236}">
                <a16:creationId xmlns:a16="http://schemas.microsoft.com/office/drawing/2014/main" id="{82131235-F72A-7DDF-33C1-96FDCC9BDB90}"/>
              </a:ext>
            </a:extLst>
          </p:cNvPr>
          <p:cNvSpPr>
            <a:spLocks noChangeShapeType="1"/>
          </p:cNvSpPr>
          <p:nvPr/>
        </p:nvSpPr>
        <p:spPr bwMode="auto">
          <a:xfrm>
            <a:off x="7238000" y="3647787"/>
            <a:ext cx="0" cy="2979737"/>
          </a:xfrm>
          <a:prstGeom prst="line">
            <a:avLst/>
          </a:prstGeom>
          <a:noFill/>
          <a:ln w="254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6" name="Line 8">
            <a:extLst>
              <a:ext uri="{FF2B5EF4-FFF2-40B4-BE49-F238E27FC236}">
                <a16:creationId xmlns:a16="http://schemas.microsoft.com/office/drawing/2014/main" id="{7AB673E6-E215-8528-DE50-1B46BDA083B7}"/>
              </a:ext>
            </a:extLst>
          </p:cNvPr>
          <p:cNvSpPr>
            <a:spLocks noChangeShapeType="1"/>
          </p:cNvSpPr>
          <p:nvPr/>
        </p:nvSpPr>
        <p:spPr bwMode="auto">
          <a:xfrm>
            <a:off x="5871163" y="4022438"/>
            <a:ext cx="1366837" cy="0"/>
          </a:xfrm>
          <a:prstGeom prst="line">
            <a:avLst/>
          </a:prstGeom>
          <a:noFill/>
          <a:ln w="127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7" name="Line 9">
            <a:extLst>
              <a:ext uri="{FF2B5EF4-FFF2-40B4-BE49-F238E27FC236}">
                <a16:creationId xmlns:a16="http://schemas.microsoft.com/office/drawing/2014/main" id="{6F8A29CA-471A-16C2-4B28-4C6E698B832F}"/>
              </a:ext>
            </a:extLst>
          </p:cNvPr>
          <p:cNvSpPr>
            <a:spLocks noChangeShapeType="1"/>
          </p:cNvSpPr>
          <p:nvPr/>
        </p:nvSpPr>
        <p:spPr bwMode="auto">
          <a:xfrm>
            <a:off x="5871163" y="4713000"/>
            <a:ext cx="1366837" cy="0"/>
          </a:xfrm>
          <a:prstGeom prst="line">
            <a:avLst/>
          </a:prstGeom>
          <a:noFill/>
          <a:ln w="508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8" name="Line 10">
            <a:extLst>
              <a:ext uri="{FF2B5EF4-FFF2-40B4-BE49-F238E27FC236}">
                <a16:creationId xmlns:a16="http://schemas.microsoft.com/office/drawing/2014/main" id="{9B806BD4-07A7-5A94-5285-DDFD3E5780B4}"/>
              </a:ext>
            </a:extLst>
          </p:cNvPr>
          <p:cNvSpPr>
            <a:spLocks noChangeShapeType="1"/>
          </p:cNvSpPr>
          <p:nvPr/>
        </p:nvSpPr>
        <p:spPr bwMode="auto">
          <a:xfrm>
            <a:off x="5871163" y="4398675"/>
            <a:ext cx="1366837" cy="0"/>
          </a:xfrm>
          <a:prstGeom prst="line">
            <a:avLst/>
          </a:prstGeom>
          <a:noFill/>
          <a:ln w="127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9" name="Line 11">
            <a:extLst>
              <a:ext uri="{FF2B5EF4-FFF2-40B4-BE49-F238E27FC236}">
                <a16:creationId xmlns:a16="http://schemas.microsoft.com/office/drawing/2014/main" id="{E3A80454-C765-EC7D-87CD-2794CE811A93}"/>
              </a:ext>
            </a:extLst>
          </p:cNvPr>
          <p:cNvSpPr>
            <a:spLocks noChangeShapeType="1"/>
          </p:cNvSpPr>
          <p:nvPr/>
        </p:nvSpPr>
        <p:spPr bwMode="auto">
          <a:xfrm>
            <a:off x="5871163" y="3709700"/>
            <a:ext cx="1366837" cy="0"/>
          </a:xfrm>
          <a:prstGeom prst="line">
            <a:avLst/>
          </a:prstGeom>
          <a:noFill/>
          <a:ln w="508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10" name="Line 12">
            <a:extLst>
              <a:ext uri="{FF2B5EF4-FFF2-40B4-BE49-F238E27FC236}">
                <a16:creationId xmlns:a16="http://schemas.microsoft.com/office/drawing/2014/main" id="{2A1AC535-D196-7588-F625-BF05A1F03B25}"/>
              </a:ext>
            </a:extLst>
          </p:cNvPr>
          <p:cNvSpPr>
            <a:spLocks noChangeShapeType="1"/>
          </p:cNvSpPr>
          <p:nvPr/>
        </p:nvSpPr>
        <p:spPr bwMode="auto">
          <a:xfrm>
            <a:off x="5871163" y="5025738"/>
            <a:ext cx="1366837" cy="0"/>
          </a:xfrm>
          <a:prstGeom prst="line">
            <a:avLst/>
          </a:prstGeom>
          <a:noFill/>
          <a:ln w="127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11" name="Line 13">
            <a:extLst>
              <a:ext uri="{FF2B5EF4-FFF2-40B4-BE49-F238E27FC236}">
                <a16:creationId xmlns:a16="http://schemas.microsoft.com/office/drawing/2014/main" id="{69E44157-248B-D20F-76DB-2DD1CA0C20F5}"/>
              </a:ext>
            </a:extLst>
          </p:cNvPr>
          <p:cNvSpPr>
            <a:spLocks noChangeShapeType="1"/>
          </p:cNvSpPr>
          <p:nvPr/>
        </p:nvSpPr>
        <p:spPr bwMode="auto">
          <a:xfrm>
            <a:off x="5871163" y="5338475"/>
            <a:ext cx="1366837" cy="0"/>
          </a:xfrm>
          <a:prstGeom prst="line">
            <a:avLst/>
          </a:prstGeom>
          <a:noFill/>
          <a:ln w="127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12" name="Line 14">
            <a:extLst>
              <a:ext uri="{FF2B5EF4-FFF2-40B4-BE49-F238E27FC236}">
                <a16:creationId xmlns:a16="http://schemas.microsoft.com/office/drawing/2014/main" id="{D92F993A-CF98-2212-B9F4-CC8CA98E53E1}"/>
              </a:ext>
            </a:extLst>
          </p:cNvPr>
          <p:cNvSpPr>
            <a:spLocks noChangeShapeType="1"/>
          </p:cNvSpPr>
          <p:nvPr/>
        </p:nvSpPr>
        <p:spPr bwMode="auto">
          <a:xfrm>
            <a:off x="5871163" y="5652800"/>
            <a:ext cx="1366837" cy="0"/>
          </a:xfrm>
          <a:prstGeom prst="line">
            <a:avLst/>
          </a:prstGeom>
          <a:noFill/>
          <a:ln w="508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13" name="Line 15">
            <a:extLst>
              <a:ext uri="{FF2B5EF4-FFF2-40B4-BE49-F238E27FC236}">
                <a16:creationId xmlns:a16="http://schemas.microsoft.com/office/drawing/2014/main" id="{6E5EC96C-3A31-54D7-B920-9AAF10304578}"/>
              </a:ext>
            </a:extLst>
          </p:cNvPr>
          <p:cNvSpPr>
            <a:spLocks noChangeShapeType="1"/>
          </p:cNvSpPr>
          <p:nvPr/>
        </p:nvSpPr>
        <p:spPr bwMode="auto">
          <a:xfrm>
            <a:off x="5871163" y="5967125"/>
            <a:ext cx="1366837" cy="0"/>
          </a:xfrm>
          <a:prstGeom prst="line">
            <a:avLst/>
          </a:prstGeom>
          <a:noFill/>
          <a:ln w="127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14" name="Line 16">
            <a:extLst>
              <a:ext uri="{FF2B5EF4-FFF2-40B4-BE49-F238E27FC236}">
                <a16:creationId xmlns:a16="http://schemas.microsoft.com/office/drawing/2014/main" id="{CD6937C7-1789-CEE3-DE66-ADA96D6A0976}"/>
              </a:ext>
            </a:extLst>
          </p:cNvPr>
          <p:cNvSpPr>
            <a:spLocks noChangeShapeType="1"/>
          </p:cNvSpPr>
          <p:nvPr/>
        </p:nvSpPr>
        <p:spPr bwMode="auto">
          <a:xfrm>
            <a:off x="5871163" y="6279863"/>
            <a:ext cx="1366837" cy="0"/>
          </a:xfrm>
          <a:prstGeom prst="line">
            <a:avLst/>
          </a:prstGeom>
          <a:noFill/>
          <a:ln w="127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15" name="Rectangle 17">
            <a:extLst>
              <a:ext uri="{FF2B5EF4-FFF2-40B4-BE49-F238E27FC236}">
                <a16:creationId xmlns:a16="http://schemas.microsoft.com/office/drawing/2014/main" id="{9D68838C-FF69-D6CD-F405-555E50AD73E6}"/>
              </a:ext>
            </a:extLst>
          </p:cNvPr>
          <p:cNvSpPr>
            <a:spLocks noChangeArrowheads="1"/>
          </p:cNvSpPr>
          <p:nvPr/>
        </p:nvSpPr>
        <p:spPr bwMode="auto">
          <a:xfrm>
            <a:off x="6155932" y="5962363"/>
            <a:ext cx="859211"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1600" b="1">
                <a:solidFill>
                  <a:srgbClr val="1C069E"/>
                </a:solidFill>
                <a:latin typeface="Consolas" panose="020B0609020204030204" pitchFamily="49" charset="0"/>
                <a:ea typeface="+mn-ea"/>
                <a:cs typeface="Consolas" panose="020B0609020204030204" pitchFamily="49" charset="0"/>
              </a:rPr>
              <a:t>unused</a:t>
            </a:r>
          </a:p>
        </p:txBody>
      </p:sp>
      <p:sp>
        <p:nvSpPr>
          <p:cNvPr id="16" name="Line 18">
            <a:extLst>
              <a:ext uri="{FF2B5EF4-FFF2-40B4-BE49-F238E27FC236}">
                <a16:creationId xmlns:a16="http://schemas.microsoft.com/office/drawing/2014/main" id="{B7872ECC-ECE2-A6ED-B3A0-2BDAAD969103}"/>
              </a:ext>
            </a:extLst>
          </p:cNvPr>
          <p:cNvSpPr>
            <a:spLocks noChangeShapeType="1"/>
          </p:cNvSpPr>
          <p:nvPr/>
        </p:nvSpPr>
        <p:spPr bwMode="auto">
          <a:xfrm>
            <a:off x="5707650" y="3870038"/>
            <a:ext cx="0" cy="2168525"/>
          </a:xfrm>
          <a:prstGeom prst="line">
            <a:avLst/>
          </a:prstGeom>
          <a:noFill/>
          <a:ln w="25400">
            <a:solidFill>
              <a:srgbClr val="0000FF"/>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17" name="Rectangle 19">
            <a:extLst>
              <a:ext uri="{FF2B5EF4-FFF2-40B4-BE49-F238E27FC236}">
                <a16:creationId xmlns:a16="http://schemas.microsoft.com/office/drawing/2014/main" id="{C1DAE400-12BF-615A-7D43-BA58DD32A10B}"/>
              </a:ext>
            </a:extLst>
          </p:cNvPr>
          <p:cNvSpPr>
            <a:spLocks noChangeArrowheads="1"/>
          </p:cNvSpPr>
          <p:nvPr/>
        </p:nvSpPr>
        <p:spPr bwMode="auto">
          <a:xfrm>
            <a:off x="5578277" y="3227986"/>
            <a:ext cx="1905000"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pPr algn="ctr" eaLnBrk="0" hangingPunct="0"/>
            <a:r>
              <a:rPr lang="zh-CN" altLang="en-US" sz="2000" b="1" dirty="0">
                <a:solidFill>
                  <a:srgbClr val="FF3300"/>
                </a:solidFill>
                <a:latin typeface="Consolas" panose="020B0609020204030204" pitchFamily="49" charset="0"/>
                <a:ea typeface="+mn-ea"/>
                <a:cs typeface="Consolas" panose="020B0609020204030204" pitchFamily="49" charset="0"/>
              </a:rPr>
              <a:t>主存储器</a:t>
            </a:r>
          </a:p>
        </p:txBody>
      </p:sp>
      <p:sp>
        <p:nvSpPr>
          <p:cNvPr id="18" name="Line 20">
            <a:extLst>
              <a:ext uri="{FF2B5EF4-FFF2-40B4-BE49-F238E27FC236}">
                <a16:creationId xmlns:a16="http://schemas.microsoft.com/office/drawing/2014/main" id="{4E271A0C-2E2C-CE0B-4F1B-8C31EA34D671}"/>
              </a:ext>
            </a:extLst>
          </p:cNvPr>
          <p:cNvSpPr>
            <a:spLocks noChangeShapeType="1"/>
          </p:cNvSpPr>
          <p:nvPr/>
        </p:nvSpPr>
        <p:spPr bwMode="auto">
          <a:xfrm flipH="1">
            <a:off x="7255581" y="4706956"/>
            <a:ext cx="304800" cy="0"/>
          </a:xfrm>
          <a:prstGeom prst="line">
            <a:avLst/>
          </a:prstGeom>
          <a:noFill/>
          <a:ln w="25400" cap="rnd">
            <a:solidFill>
              <a:srgbClr val="FF0000"/>
            </a:solidFill>
            <a:round/>
            <a:headEnd w="med" len="lg"/>
            <a:tailEnd type="triangle" w="med" len="lg"/>
          </a:ln>
          <a:extLst>
            <a:ext uri="{909E8E84-426E-40DD-AFC4-6F175D3DCCD1}">
              <a14:hiddenFill xmlns:a14="http://schemas.microsoft.com/office/drawing/2010/main">
                <a:noFill/>
              </a14:hiddenFill>
            </a:ext>
          </a:extLst>
        </p:spPr>
        <p:txBody>
          <a:bodyPr wrap="none" anchor="ctr">
            <a:spAutoFit/>
          </a:bodyPr>
          <a:lstStyle/>
          <a:p>
            <a:pPr algn="ctr"/>
            <a:endParaRPr lang="zh-CN" altLang="en-US" sz="4600" b="1">
              <a:solidFill>
                <a:srgbClr val="FF3300"/>
              </a:solidFill>
              <a:latin typeface="Consolas" panose="020B0609020204030204" pitchFamily="49" charset="0"/>
              <a:ea typeface="+mn-ea"/>
              <a:cs typeface="Consolas" panose="020B0609020204030204" pitchFamily="49" charset="0"/>
            </a:endParaRPr>
          </a:p>
        </p:txBody>
      </p:sp>
      <p:sp>
        <p:nvSpPr>
          <p:cNvPr id="19" name="Rectangle 21">
            <a:extLst>
              <a:ext uri="{FF2B5EF4-FFF2-40B4-BE49-F238E27FC236}">
                <a16:creationId xmlns:a16="http://schemas.microsoft.com/office/drawing/2014/main" id="{577967A9-96B8-0D49-C98D-2E2CAF266890}"/>
              </a:ext>
            </a:extLst>
          </p:cNvPr>
          <p:cNvSpPr>
            <a:spLocks noChangeArrowheads="1"/>
          </p:cNvSpPr>
          <p:nvPr/>
        </p:nvSpPr>
        <p:spPr bwMode="auto">
          <a:xfrm>
            <a:off x="6155932" y="5667088"/>
            <a:ext cx="859211"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1600" b="1">
                <a:solidFill>
                  <a:srgbClr val="1C069E"/>
                </a:solidFill>
                <a:latin typeface="Consolas" panose="020B0609020204030204" pitchFamily="49" charset="0"/>
                <a:ea typeface="+mn-ea"/>
                <a:cs typeface="Consolas" panose="020B0609020204030204" pitchFamily="49" charset="0"/>
              </a:rPr>
              <a:t>unused</a:t>
            </a:r>
          </a:p>
        </p:txBody>
      </p:sp>
      <p:sp>
        <p:nvSpPr>
          <p:cNvPr id="20" name="Rectangle 22">
            <a:extLst>
              <a:ext uri="{FF2B5EF4-FFF2-40B4-BE49-F238E27FC236}">
                <a16:creationId xmlns:a16="http://schemas.microsoft.com/office/drawing/2014/main" id="{60B5E376-3405-FEFE-56C7-9AF3ACEDBAFF}"/>
              </a:ext>
            </a:extLst>
          </p:cNvPr>
          <p:cNvSpPr>
            <a:spLocks noChangeArrowheads="1"/>
          </p:cNvSpPr>
          <p:nvPr/>
        </p:nvSpPr>
        <p:spPr bwMode="auto">
          <a:xfrm rot="16200000">
            <a:off x="4538656" y="4514212"/>
            <a:ext cx="1753686"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zh-CN" altLang="en-US" sz="2000" b="1" dirty="0">
                <a:solidFill>
                  <a:srgbClr val="FF3300"/>
                </a:solidFill>
                <a:latin typeface="Consolas" panose="020B0609020204030204" pitchFamily="49" charset="0"/>
                <a:ea typeface="+mn-ea"/>
                <a:cs typeface="Consolas" panose="020B0609020204030204" pitchFamily="49" charset="0"/>
              </a:rPr>
              <a:t>地址减小方向</a:t>
            </a:r>
            <a:endParaRPr lang="en-US" altLang="zh-CN" sz="2000" b="1" dirty="0">
              <a:solidFill>
                <a:srgbClr val="FF3300"/>
              </a:solidFill>
              <a:latin typeface="Consolas" panose="020B0609020204030204" pitchFamily="49" charset="0"/>
              <a:ea typeface="+mn-ea"/>
              <a:cs typeface="Consolas" panose="020B0609020204030204" pitchFamily="49" charset="0"/>
            </a:endParaRPr>
          </a:p>
        </p:txBody>
      </p:sp>
      <p:sp>
        <p:nvSpPr>
          <p:cNvPr id="21" name="Rectangle 24">
            <a:extLst>
              <a:ext uri="{FF2B5EF4-FFF2-40B4-BE49-F238E27FC236}">
                <a16:creationId xmlns:a16="http://schemas.microsoft.com/office/drawing/2014/main" id="{E84ECE7F-C572-6F3F-3266-5864C1B0F560}"/>
              </a:ext>
            </a:extLst>
          </p:cNvPr>
          <p:cNvSpPr>
            <a:spLocks noChangeArrowheads="1"/>
          </p:cNvSpPr>
          <p:nvPr/>
        </p:nvSpPr>
        <p:spPr bwMode="auto">
          <a:xfrm>
            <a:off x="6152757" y="5319425"/>
            <a:ext cx="859211"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1600" b="1">
                <a:solidFill>
                  <a:srgbClr val="1C069E"/>
                </a:solidFill>
                <a:latin typeface="Consolas" panose="020B0609020204030204" pitchFamily="49" charset="0"/>
                <a:ea typeface="+mn-ea"/>
                <a:cs typeface="Consolas" panose="020B0609020204030204" pitchFamily="49" charset="0"/>
              </a:rPr>
              <a:t>unused</a:t>
            </a:r>
          </a:p>
        </p:txBody>
      </p:sp>
      <p:sp>
        <p:nvSpPr>
          <p:cNvPr id="22" name="Rectangle 25">
            <a:extLst>
              <a:ext uri="{FF2B5EF4-FFF2-40B4-BE49-F238E27FC236}">
                <a16:creationId xmlns:a16="http://schemas.microsoft.com/office/drawing/2014/main" id="{4B0CF2AF-BB73-DB94-6EDC-AC3FA54687F4}"/>
              </a:ext>
            </a:extLst>
          </p:cNvPr>
          <p:cNvSpPr>
            <a:spLocks noChangeArrowheads="1"/>
          </p:cNvSpPr>
          <p:nvPr/>
        </p:nvSpPr>
        <p:spPr bwMode="auto">
          <a:xfrm>
            <a:off x="6149582" y="4971763"/>
            <a:ext cx="859211"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1600" b="1">
                <a:solidFill>
                  <a:srgbClr val="1C069E"/>
                </a:solidFill>
                <a:latin typeface="Consolas" panose="020B0609020204030204" pitchFamily="49" charset="0"/>
                <a:ea typeface="+mn-ea"/>
                <a:cs typeface="Consolas" panose="020B0609020204030204" pitchFamily="49" charset="0"/>
              </a:rPr>
              <a:t>unused</a:t>
            </a:r>
          </a:p>
        </p:txBody>
      </p:sp>
      <p:sp>
        <p:nvSpPr>
          <p:cNvPr id="23" name="Rectangle 26">
            <a:extLst>
              <a:ext uri="{FF2B5EF4-FFF2-40B4-BE49-F238E27FC236}">
                <a16:creationId xmlns:a16="http://schemas.microsoft.com/office/drawing/2014/main" id="{B7C65E79-958B-C0B4-539D-60CF1B217A82}"/>
              </a:ext>
            </a:extLst>
          </p:cNvPr>
          <p:cNvSpPr>
            <a:spLocks noChangeArrowheads="1"/>
          </p:cNvSpPr>
          <p:nvPr/>
        </p:nvSpPr>
        <p:spPr bwMode="auto">
          <a:xfrm>
            <a:off x="6146407" y="4709825"/>
            <a:ext cx="859211"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1600" b="1">
                <a:solidFill>
                  <a:srgbClr val="1C069E"/>
                </a:solidFill>
                <a:latin typeface="Consolas" panose="020B0609020204030204" pitchFamily="49" charset="0"/>
                <a:ea typeface="+mn-ea"/>
                <a:cs typeface="Consolas" panose="020B0609020204030204" pitchFamily="49" charset="0"/>
              </a:rPr>
              <a:t>unused</a:t>
            </a:r>
          </a:p>
        </p:txBody>
      </p:sp>
      <p:sp>
        <p:nvSpPr>
          <p:cNvPr id="24" name="Rectangle 27">
            <a:extLst>
              <a:ext uri="{FF2B5EF4-FFF2-40B4-BE49-F238E27FC236}">
                <a16:creationId xmlns:a16="http://schemas.microsoft.com/office/drawing/2014/main" id="{7F984B2E-5AF9-ADE9-0163-F94139B4D0C7}"/>
              </a:ext>
            </a:extLst>
          </p:cNvPr>
          <p:cNvSpPr>
            <a:spLocks noChangeArrowheads="1"/>
          </p:cNvSpPr>
          <p:nvPr/>
        </p:nvSpPr>
        <p:spPr bwMode="auto">
          <a:xfrm>
            <a:off x="5987619" y="4360575"/>
            <a:ext cx="1195841"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1600" b="1" dirty="0">
                <a:solidFill>
                  <a:srgbClr val="1C069E"/>
                </a:solidFill>
                <a:latin typeface="Consolas" panose="020B0609020204030204" pitchFamily="49" charset="0"/>
                <a:ea typeface="+mn-ea"/>
                <a:cs typeface="Consolas" panose="020B0609020204030204" pitchFamily="49" charset="0"/>
              </a:rPr>
              <a:t>temp vars</a:t>
            </a:r>
          </a:p>
        </p:txBody>
      </p:sp>
      <p:sp>
        <p:nvSpPr>
          <p:cNvPr id="25" name="Rectangle 28">
            <a:extLst>
              <a:ext uri="{FF2B5EF4-FFF2-40B4-BE49-F238E27FC236}">
                <a16:creationId xmlns:a16="http://schemas.microsoft.com/office/drawing/2014/main" id="{FCCF6794-25AD-1859-C1B5-5DFB0A15FD3D}"/>
              </a:ext>
            </a:extLst>
          </p:cNvPr>
          <p:cNvSpPr>
            <a:spLocks noChangeArrowheads="1"/>
          </p:cNvSpPr>
          <p:nvPr/>
        </p:nvSpPr>
        <p:spPr bwMode="auto">
          <a:xfrm>
            <a:off x="5872235" y="4038767"/>
            <a:ext cx="1420261"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1600" b="1" dirty="0">
                <a:solidFill>
                  <a:srgbClr val="1C069E"/>
                </a:solidFill>
                <a:latin typeface="Consolas" panose="020B0609020204030204" pitchFamily="49" charset="0"/>
                <a:ea typeface="+mn-ea"/>
                <a:cs typeface="Consolas" panose="020B0609020204030204" pitchFamily="49" charset="0"/>
              </a:rPr>
              <a:t>return addr</a:t>
            </a:r>
          </a:p>
        </p:txBody>
      </p:sp>
      <p:sp>
        <p:nvSpPr>
          <p:cNvPr id="26" name="Rectangle 29">
            <a:extLst>
              <a:ext uri="{FF2B5EF4-FFF2-40B4-BE49-F238E27FC236}">
                <a16:creationId xmlns:a16="http://schemas.microsoft.com/office/drawing/2014/main" id="{24235758-C7E9-2D44-A722-E3985C54FACC}"/>
              </a:ext>
            </a:extLst>
          </p:cNvPr>
          <p:cNvSpPr>
            <a:spLocks noChangeArrowheads="1"/>
          </p:cNvSpPr>
          <p:nvPr/>
        </p:nvSpPr>
        <p:spPr bwMode="auto">
          <a:xfrm>
            <a:off x="6430107" y="3750975"/>
            <a:ext cx="298160"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1600" b="1" dirty="0">
                <a:solidFill>
                  <a:srgbClr val="1C069E"/>
                </a:solidFill>
                <a:latin typeface="Consolas" panose="020B0609020204030204" pitchFamily="49" charset="0"/>
                <a:ea typeface="+mn-ea"/>
                <a:cs typeface="Consolas" panose="020B0609020204030204" pitchFamily="49" charset="0"/>
              </a:rPr>
              <a:t>2</a:t>
            </a:r>
          </a:p>
        </p:txBody>
      </p:sp>
      <p:sp>
        <p:nvSpPr>
          <p:cNvPr id="27" name="Rectangle 17">
            <a:extLst>
              <a:ext uri="{FF2B5EF4-FFF2-40B4-BE49-F238E27FC236}">
                <a16:creationId xmlns:a16="http://schemas.microsoft.com/office/drawing/2014/main" id="{4B0A0907-D005-A6B3-300A-796DD30E6B33}"/>
              </a:ext>
            </a:extLst>
          </p:cNvPr>
          <p:cNvSpPr>
            <a:spLocks noChangeArrowheads="1"/>
          </p:cNvSpPr>
          <p:nvPr/>
        </p:nvSpPr>
        <p:spPr bwMode="auto">
          <a:xfrm>
            <a:off x="6146407" y="6303222"/>
            <a:ext cx="859211"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1600" b="1" dirty="0">
                <a:solidFill>
                  <a:srgbClr val="1C069E"/>
                </a:solidFill>
                <a:latin typeface="Consolas" panose="020B0609020204030204" pitchFamily="49" charset="0"/>
                <a:ea typeface="+mn-ea"/>
                <a:cs typeface="Consolas" panose="020B0609020204030204" pitchFamily="49" charset="0"/>
              </a:rPr>
              <a:t>unused</a:t>
            </a:r>
          </a:p>
        </p:txBody>
      </p:sp>
      <p:sp>
        <p:nvSpPr>
          <p:cNvPr id="28" name="Rectangle 33">
            <a:extLst>
              <a:ext uri="{FF2B5EF4-FFF2-40B4-BE49-F238E27FC236}">
                <a16:creationId xmlns:a16="http://schemas.microsoft.com/office/drawing/2014/main" id="{A3D6FB85-9418-4098-904C-ED86E3842657}"/>
              </a:ext>
            </a:extLst>
          </p:cNvPr>
          <p:cNvSpPr>
            <a:spLocks noChangeArrowheads="1"/>
          </p:cNvSpPr>
          <p:nvPr/>
        </p:nvSpPr>
        <p:spPr bwMode="auto">
          <a:xfrm>
            <a:off x="7299912" y="3773441"/>
            <a:ext cx="175240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a:lstStyle>
          <a:p>
            <a:pPr eaLnBrk="0" hangingPunct="0"/>
            <a:r>
              <a:rPr lang="en-US" altLang="zh-CN" sz="2000" b="1" dirty="0">
                <a:solidFill>
                  <a:srgbClr val="FF0000"/>
                </a:solidFill>
                <a:latin typeface="Consolas" panose="020B0609020204030204" pitchFamily="49" charset="0"/>
                <a:ea typeface="+mn-ea"/>
                <a:cs typeface="Consolas" panose="020B0609020204030204" pitchFamily="49" charset="0"/>
              </a:rPr>
              <a:t>fact(2)</a:t>
            </a:r>
          </a:p>
          <a:p>
            <a:pPr eaLnBrk="0" hangingPunct="0"/>
            <a:r>
              <a:rPr lang="zh-CN" altLang="en-US" sz="2000" b="1" dirty="0">
                <a:solidFill>
                  <a:srgbClr val="FF0000"/>
                </a:solidFill>
                <a:latin typeface="Consolas" panose="020B0609020204030204" pitchFamily="49" charset="0"/>
                <a:ea typeface="+mn-ea"/>
                <a:cs typeface="Consolas" panose="020B0609020204030204" pitchFamily="49" charset="0"/>
              </a:rPr>
              <a:t>的过程调用帧</a:t>
            </a:r>
            <a:endParaRPr lang="zh-CN" altLang="en-US" sz="1600" b="1" dirty="0">
              <a:solidFill>
                <a:srgbClr val="FF0000"/>
              </a:solidFill>
              <a:latin typeface="Consolas" panose="020B0609020204030204" pitchFamily="49" charset="0"/>
              <a:ea typeface="+mn-ea"/>
              <a:cs typeface="Consolas" panose="020B0609020204030204" pitchFamily="49" charset="0"/>
            </a:endParaRPr>
          </a:p>
        </p:txBody>
      </p:sp>
    </p:spTree>
    <p:extLst>
      <p:ext uri="{BB962C8B-B14F-4D97-AF65-F5344CB8AC3E}">
        <p14:creationId xmlns:p14="http://schemas.microsoft.com/office/powerpoint/2010/main" val="520146743"/>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灯片编号占位符 3">
            <a:extLst>
              <a:ext uri="{FF2B5EF4-FFF2-40B4-BE49-F238E27FC236}">
                <a16:creationId xmlns:a16="http://schemas.microsoft.com/office/drawing/2014/main" id="{F09C93A6-41D7-4B47-A78F-E636A9553D6B}"/>
              </a:ext>
            </a:extLst>
          </p:cNvPr>
          <p:cNvSpPr>
            <a:spLocks noGrp="1"/>
          </p:cNvSpPr>
          <p:nvPr>
            <p:ph type="sldNum" sz="quarter" idx="12"/>
          </p:nvPr>
        </p:nvSpPr>
        <p:spPr/>
        <p:txBody>
          <a:bodyPr/>
          <a:lstStyle/>
          <a:p>
            <a:fld id="{14659731-6BD7-46E7-8D3C-2F3AC07E20B1}" type="slidenum">
              <a:rPr lang="en-US" altLang="zh-CN" smtClean="0"/>
              <a:pPr/>
              <a:t>143</a:t>
            </a:fld>
            <a:endParaRPr lang="en-US" altLang="zh-CN"/>
          </a:p>
        </p:txBody>
      </p:sp>
      <p:sp>
        <p:nvSpPr>
          <p:cNvPr id="29702" name="Rectangle 4"/>
          <p:cNvSpPr>
            <a:spLocks noGrp="1" noChangeArrowheads="1"/>
          </p:cNvSpPr>
          <p:nvPr>
            <p:ph idx="4294967295"/>
          </p:nvPr>
        </p:nvSpPr>
        <p:spPr>
          <a:xfrm>
            <a:off x="339212" y="1302211"/>
            <a:ext cx="5041438" cy="5256213"/>
          </a:xfrm>
          <a:noFill/>
        </p:spPr>
        <p:txBody>
          <a:bodyPr lIns="92075" tIns="46038" rIns="92075" bIns="46038"/>
          <a:lstStyle/>
          <a:p>
            <a:pPr eaLnBrk="1" hangingPunct="1"/>
            <a:r>
              <a:rPr lang="zh-CN" altLang="en-US" sz="2400" dirty="0"/>
              <a:t>我们需要存储</a:t>
            </a:r>
            <a:r>
              <a:rPr lang="en-US" altLang="zh-CN" sz="2400" dirty="0"/>
              <a:t>:</a:t>
            </a:r>
          </a:p>
          <a:p>
            <a:pPr lvl="1" eaLnBrk="1" hangingPunct="1"/>
            <a:r>
              <a:rPr lang="zh-CN" altLang="en-US" sz="2000" dirty="0"/>
              <a:t>返回地址</a:t>
            </a:r>
            <a:r>
              <a:rPr lang="en-US" altLang="zh-CN" sz="2000" dirty="0"/>
              <a:t>(old </a:t>
            </a:r>
            <a:r>
              <a:rPr lang="en-US" altLang="zh-CN" sz="2000" dirty="0" err="1"/>
              <a:t>ra</a:t>
            </a:r>
            <a:r>
              <a:rPr lang="en-US" altLang="zh-CN" sz="2000" dirty="0"/>
              <a:t>)</a:t>
            </a:r>
          </a:p>
          <a:p>
            <a:pPr lvl="1" eaLnBrk="1" hangingPunct="1"/>
            <a:r>
              <a:rPr lang="zh-CN" altLang="en-US" sz="2000" dirty="0"/>
              <a:t>参数 </a:t>
            </a:r>
            <a:r>
              <a:rPr lang="en-US" altLang="zh-CN" sz="2000" dirty="0">
                <a:solidFill>
                  <a:srgbClr val="1C069E"/>
                </a:solidFill>
              </a:rPr>
              <a:t>n </a:t>
            </a:r>
            <a:r>
              <a:rPr lang="en-US" altLang="zh-CN" sz="2000" dirty="0"/>
              <a:t>in </a:t>
            </a:r>
            <a:r>
              <a:rPr lang="en-US" altLang="zh-CN" sz="2000" dirty="0">
                <a:solidFill>
                  <a:srgbClr val="1C069E"/>
                </a:solidFill>
              </a:rPr>
              <a:t>fact(n)</a:t>
            </a:r>
          </a:p>
          <a:p>
            <a:pPr lvl="1" eaLnBrk="1" hangingPunct="1"/>
            <a:r>
              <a:rPr lang="zh-CN" altLang="en-US" sz="2000" dirty="0"/>
              <a:t>临时</a:t>
            </a:r>
            <a:r>
              <a:rPr lang="en-US" altLang="zh-CN" sz="2000" dirty="0"/>
              <a:t>/</a:t>
            </a:r>
            <a:r>
              <a:rPr lang="zh-CN" altLang="en-US" sz="2000" dirty="0"/>
              <a:t>局部的变量 （在</a:t>
            </a:r>
            <a:r>
              <a:rPr lang="en-US" altLang="zh-CN" sz="2000" dirty="0">
                <a:solidFill>
                  <a:srgbClr val="1C069E"/>
                </a:solidFill>
              </a:rPr>
              <a:t>f</a:t>
            </a:r>
            <a:r>
              <a:rPr lang="zh-CN" altLang="en-US" sz="2000" dirty="0">
                <a:solidFill>
                  <a:srgbClr val="1C069E"/>
                </a:solidFill>
              </a:rPr>
              <a:t>执行过程中）</a:t>
            </a:r>
          </a:p>
          <a:p>
            <a:pPr lvl="1" eaLnBrk="1" hangingPunct="1"/>
            <a:r>
              <a:rPr lang="zh-CN" altLang="en-US" sz="2000" dirty="0"/>
              <a:t>被破坏的寄存器</a:t>
            </a:r>
          </a:p>
          <a:p>
            <a:pPr lvl="1" eaLnBrk="1" hangingPunct="1"/>
            <a:endParaRPr lang="zh-CN" altLang="en-US" sz="1900" dirty="0">
              <a:solidFill>
                <a:schemeClr val="accent2"/>
              </a:solidFill>
            </a:endParaRPr>
          </a:p>
          <a:p>
            <a:pPr eaLnBrk="1" hangingPunct="1"/>
            <a:r>
              <a:rPr lang="zh-CN" altLang="en-US" sz="2400" dirty="0"/>
              <a:t>想法</a:t>
            </a:r>
            <a:r>
              <a:rPr lang="en-US" altLang="zh-CN" sz="2400" dirty="0"/>
              <a:t>: </a:t>
            </a:r>
            <a:r>
              <a:rPr lang="zh-CN" altLang="en-US" sz="2400" dirty="0"/>
              <a:t>存在栈里</a:t>
            </a:r>
            <a:r>
              <a:rPr lang="en-US" altLang="zh-CN" sz="2400" dirty="0"/>
              <a:t>!</a:t>
            </a:r>
          </a:p>
          <a:p>
            <a:pPr lvl="1" eaLnBrk="1" hangingPunct="1"/>
            <a:r>
              <a:rPr lang="zh-CN" altLang="en-US" sz="2000" dirty="0"/>
              <a:t>增长</a:t>
            </a:r>
            <a:r>
              <a:rPr lang="en-US" altLang="zh-CN" sz="2000" dirty="0"/>
              <a:t>(PUSH </a:t>
            </a:r>
            <a:r>
              <a:rPr lang="zh-CN" altLang="en-US" sz="2000" dirty="0"/>
              <a:t>进去</a:t>
            </a:r>
            <a:r>
              <a:rPr lang="en-US" altLang="zh-CN" sz="2000" dirty="0"/>
              <a:t>) </a:t>
            </a:r>
            <a:r>
              <a:rPr lang="zh-CN" altLang="en-US" sz="2000" dirty="0"/>
              <a:t>栈，（每次调用函数时）</a:t>
            </a:r>
          </a:p>
          <a:p>
            <a:pPr lvl="1" eaLnBrk="1" hangingPunct="1"/>
            <a:r>
              <a:rPr lang="zh-CN" altLang="en-US" sz="2000" dirty="0"/>
              <a:t>缩减栈</a:t>
            </a:r>
            <a:r>
              <a:rPr lang="en-US" altLang="zh-CN" sz="2000" dirty="0"/>
              <a:t>(POP </a:t>
            </a:r>
            <a:r>
              <a:rPr lang="zh-CN" altLang="en-US" sz="2000" dirty="0"/>
              <a:t>出来</a:t>
            </a:r>
            <a:r>
              <a:rPr lang="en-US" altLang="zh-CN" sz="2000" dirty="0"/>
              <a:t>) </a:t>
            </a:r>
            <a:r>
              <a:rPr lang="zh-CN" altLang="en-US" sz="2000" dirty="0"/>
              <a:t>（每次返回时）</a:t>
            </a:r>
          </a:p>
          <a:p>
            <a:pPr lvl="1" eaLnBrk="1" hangingPunct="1"/>
            <a:r>
              <a:rPr lang="zh-CN" altLang="en-US" sz="2000" dirty="0"/>
              <a:t>每次调用都有自己的</a:t>
            </a:r>
            <a:r>
              <a:rPr lang="zh-CN" altLang="en-US" sz="2000" dirty="0">
                <a:latin typeface="Comic Sans MS" pitchFamily="66" charset="0"/>
              </a:rPr>
              <a:t>“过程调用</a:t>
            </a:r>
            <a:r>
              <a:rPr lang="zh-CN" altLang="en-US" sz="2000" dirty="0"/>
              <a:t>帧</a:t>
            </a:r>
            <a:r>
              <a:rPr lang="zh-CN" altLang="en-US" sz="2000" dirty="0">
                <a:latin typeface="Comic Sans MS" pitchFamily="66" charset="0"/>
              </a:rPr>
              <a:t>”</a:t>
            </a:r>
            <a:endParaRPr lang="zh-CN" altLang="en-US" sz="2000" dirty="0"/>
          </a:p>
        </p:txBody>
      </p:sp>
      <p:sp>
        <p:nvSpPr>
          <p:cNvPr id="29728" name="Oval 30"/>
          <p:cNvSpPr>
            <a:spLocks noChangeArrowheads="1"/>
          </p:cNvSpPr>
          <p:nvPr/>
        </p:nvSpPr>
        <p:spPr bwMode="auto">
          <a:xfrm>
            <a:off x="7192761" y="2767587"/>
            <a:ext cx="1724482" cy="799646"/>
          </a:xfrm>
          <a:prstGeom prst="rect">
            <a:avLst/>
          </a:prstGeom>
          <a:solidFill>
            <a:schemeClr val="bg2">
              <a:lumMod val="20000"/>
              <a:lumOff val="80000"/>
            </a:schemeClr>
          </a:solidFill>
          <a:ln w="19050">
            <a:noFill/>
            <a:round/>
            <a:headEnd/>
            <a:tailEnd type="none" w="lg" len="lg"/>
          </a:ln>
        </p:spPr>
        <p:txBody>
          <a:bodyPr wrap="none" lIns="0" tIns="0" rIns="0" bIns="0" anchor="ctr"/>
          <a:lstStyle/>
          <a:p>
            <a:pPr algn="ctr" eaLnBrk="0" hangingPunct="0"/>
            <a:r>
              <a:rPr lang="zh-CN" altLang="en-US" sz="2400" b="1" dirty="0">
                <a:solidFill>
                  <a:schemeClr val="tx1"/>
                </a:solidFill>
                <a:latin typeface="+mn-lt"/>
                <a:ea typeface="+mj-ea"/>
                <a:cs typeface="Consolas" panose="020B0609020204030204" pitchFamily="49" charset="0"/>
              </a:rPr>
              <a:t>例如</a:t>
            </a:r>
            <a:endParaRPr lang="zh-CN" altLang="en-US" b="1" dirty="0">
              <a:solidFill>
                <a:schemeClr val="tx1"/>
              </a:solidFill>
              <a:latin typeface="+mn-lt"/>
              <a:ea typeface="+mj-ea"/>
              <a:cs typeface="Consolas" panose="020B0609020204030204" pitchFamily="49" charset="0"/>
            </a:endParaRPr>
          </a:p>
          <a:p>
            <a:pPr algn="ctr" eaLnBrk="0" hangingPunct="0"/>
            <a:r>
              <a:rPr lang="zh-CN" altLang="en-US" sz="2400" b="1" dirty="0">
                <a:solidFill>
                  <a:schemeClr val="tx1"/>
                </a:solidFill>
                <a:latin typeface="+mn-lt"/>
                <a:ea typeface="+mj-ea"/>
                <a:cs typeface="Consolas" panose="020B0609020204030204" pitchFamily="49" charset="0"/>
              </a:rPr>
              <a:t>调用</a:t>
            </a:r>
            <a:r>
              <a:rPr lang="en-US" altLang="zh-CN" sz="2400" b="1" dirty="0">
                <a:solidFill>
                  <a:schemeClr val="tx1"/>
                </a:solidFill>
                <a:latin typeface="+mn-lt"/>
                <a:ea typeface="+mj-ea"/>
                <a:cs typeface="Consolas" panose="020B0609020204030204" pitchFamily="49" charset="0"/>
              </a:rPr>
              <a:t>fact(2)</a:t>
            </a:r>
            <a:endParaRPr lang="en-US" altLang="zh-CN" b="1" dirty="0">
              <a:solidFill>
                <a:schemeClr val="tx1"/>
              </a:solidFill>
              <a:latin typeface="+mn-lt"/>
              <a:ea typeface="+mj-ea"/>
              <a:cs typeface="Consolas" panose="020B0609020204030204" pitchFamily="49" charset="0"/>
            </a:endParaRPr>
          </a:p>
        </p:txBody>
      </p:sp>
      <p:sp>
        <p:nvSpPr>
          <p:cNvPr id="35" name="Rectangle 23">
            <a:extLst>
              <a:ext uri="{FF2B5EF4-FFF2-40B4-BE49-F238E27FC236}">
                <a16:creationId xmlns:a16="http://schemas.microsoft.com/office/drawing/2014/main" id="{F6AC55A4-4FC4-42A9-B254-67833D3532B5}"/>
              </a:ext>
            </a:extLst>
          </p:cNvPr>
          <p:cNvSpPr>
            <a:spLocks noChangeArrowheads="1"/>
          </p:cNvSpPr>
          <p:nvPr/>
        </p:nvSpPr>
        <p:spPr bwMode="auto">
          <a:xfrm>
            <a:off x="5111468" y="1282357"/>
            <a:ext cx="3731791" cy="203196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spAutoFit/>
          </a:bodyPr>
          <a:lstStyle/>
          <a:p>
            <a:pPr algn="l" eaLnBrk="0" hangingPunct="0"/>
            <a:r>
              <a:rPr lang="en-US" altLang="zh-CN" sz="1800" b="1" i="1" dirty="0" err="1">
                <a:solidFill>
                  <a:srgbClr val="1C069E"/>
                </a:solidFill>
                <a:latin typeface="Consolas" panose="020B0609020204030204" pitchFamily="49" charset="0"/>
              </a:rPr>
              <a:t>int</a:t>
            </a:r>
            <a:r>
              <a:rPr lang="en-US" altLang="zh-CN" sz="1800" b="1" i="1" dirty="0">
                <a:solidFill>
                  <a:srgbClr val="1C069E"/>
                </a:solidFill>
                <a:latin typeface="Consolas" panose="020B0609020204030204" pitchFamily="49" charset="0"/>
              </a:rPr>
              <a:t> fact( </a:t>
            </a:r>
            <a:r>
              <a:rPr lang="en-US" altLang="zh-CN" sz="1800" b="1" i="1" dirty="0" err="1">
                <a:solidFill>
                  <a:srgbClr val="1C069E"/>
                </a:solidFill>
                <a:latin typeface="Consolas" panose="020B0609020204030204" pitchFamily="49" charset="0"/>
              </a:rPr>
              <a:t>int</a:t>
            </a:r>
            <a:r>
              <a:rPr lang="en-US" altLang="zh-CN" sz="1800" b="1" i="1" dirty="0">
                <a:solidFill>
                  <a:srgbClr val="1C069E"/>
                </a:solidFill>
                <a:latin typeface="Consolas" panose="020B0609020204030204" pitchFamily="49" charset="0"/>
              </a:rPr>
              <a:t> n )</a:t>
            </a:r>
          </a:p>
          <a:p>
            <a:pPr algn="l" eaLnBrk="0" hangingPunct="0"/>
            <a:r>
              <a:rPr lang="en-US" altLang="zh-CN" sz="1800" b="1" i="1" dirty="0">
                <a:solidFill>
                  <a:srgbClr val="1C069E"/>
                </a:solidFill>
                <a:latin typeface="Consolas" panose="020B0609020204030204" pitchFamily="49" charset="0"/>
              </a:rPr>
              <a:t>{</a:t>
            </a:r>
          </a:p>
          <a:p>
            <a:pPr algn="l" eaLnBrk="0" hangingPunct="0"/>
            <a:r>
              <a:rPr lang="en-US" altLang="zh-CN" sz="1800" b="1" i="1" dirty="0">
                <a:solidFill>
                  <a:srgbClr val="1C069E"/>
                </a:solidFill>
                <a:latin typeface="Consolas" panose="020B0609020204030204" pitchFamily="49" charset="0"/>
              </a:rPr>
              <a:t>   if (n &gt; 0)</a:t>
            </a:r>
          </a:p>
          <a:p>
            <a:pPr algn="l" eaLnBrk="0" hangingPunct="0"/>
            <a:r>
              <a:rPr lang="en-US" altLang="zh-CN" sz="1800" b="1" i="1" dirty="0">
                <a:solidFill>
                  <a:srgbClr val="1C069E"/>
                </a:solidFill>
                <a:latin typeface="Consolas" panose="020B0609020204030204" pitchFamily="49" charset="0"/>
              </a:rPr>
              <a:t>     return fact( n-1 ) * n;</a:t>
            </a:r>
          </a:p>
          <a:p>
            <a:pPr algn="l" eaLnBrk="0" hangingPunct="0"/>
            <a:r>
              <a:rPr lang="en-US" altLang="zh-CN" sz="1800" b="1" i="1" dirty="0">
                <a:solidFill>
                  <a:srgbClr val="1C069E"/>
                </a:solidFill>
                <a:latin typeface="Consolas" panose="020B0609020204030204" pitchFamily="49" charset="0"/>
              </a:rPr>
              <a:t>   else</a:t>
            </a:r>
          </a:p>
          <a:p>
            <a:pPr algn="l" eaLnBrk="0" hangingPunct="0"/>
            <a:r>
              <a:rPr lang="en-US" altLang="zh-CN" sz="1800" b="1" i="1" dirty="0">
                <a:solidFill>
                  <a:srgbClr val="1C069E"/>
                </a:solidFill>
                <a:latin typeface="Consolas" panose="020B0609020204030204" pitchFamily="49" charset="0"/>
              </a:rPr>
              <a:t>     return 1 ;</a:t>
            </a:r>
          </a:p>
          <a:p>
            <a:pPr algn="l" eaLnBrk="0" hangingPunct="0"/>
            <a:r>
              <a:rPr lang="en-US" altLang="zh-CN" sz="1800" b="1" i="1" dirty="0">
                <a:solidFill>
                  <a:srgbClr val="1C069E"/>
                </a:solidFill>
                <a:latin typeface="Consolas" panose="020B0609020204030204" pitchFamily="49" charset="0"/>
              </a:rPr>
              <a:t>}</a:t>
            </a:r>
          </a:p>
        </p:txBody>
      </p:sp>
      <p:sp>
        <p:nvSpPr>
          <p:cNvPr id="2" name="Title 4">
            <a:extLst>
              <a:ext uri="{FF2B5EF4-FFF2-40B4-BE49-F238E27FC236}">
                <a16:creationId xmlns:a16="http://schemas.microsoft.com/office/drawing/2014/main" id="{9F92B80D-E2F8-51FE-09CD-9857D89281EB}"/>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dirty="0"/>
              <a:t>编程指南：过程调用</a:t>
            </a:r>
            <a:endParaRPr lang="en-CN" kern="0" dirty="0"/>
          </a:p>
        </p:txBody>
      </p:sp>
      <p:sp>
        <p:nvSpPr>
          <p:cNvPr id="3" name="Rectangle 5">
            <a:extLst>
              <a:ext uri="{FF2B5EF4-FFF2-40B4-BE49-F238E27FC236}">
                <a16:creationId xmlns:a16="http://schemas.microsoft.com/office/drawing/2014/main" id="{297BDB5F-F7D3-0BF4-2CC8-73E835EE87D2}"/>
              </a:ext>
            </a:extLst>
          </p:cNvPr>
          <p:cNvSpPr>
            <a:spLocks noChangeArrowheads="1"/>
          </p:cNvSpPr>
          <p:nvPr/>
        </p:nvSpPr>
        <p:spPr bwMode="auto">
          <a:xfrm>
            <a:off x="7543259" y="3518382"/>
            <a:ext cx="750205"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2000" b="1" i="1" dirty="0">
                <a:solidFill>
                  <a:srgbClr val="1C069E"/>
                </a:solidFill>
                <a:latin typeface="Consolas" panose="020B0609020204030204" pitchFamily="49" charset="0"/>
                <a:ea typeface="+mn-ea"/>
                <a:cs typeface="Consolas" panose="020B0609020204030204" pitchFamily="49" charset="0"/>
              </a:rPr>
              <a:t>&lt;SP&gt;</a:t>
            </a:r>
          </a:p>
        </p:txBody>
      </p:sp>
      <p:sp>
        <p:nvSpPr>
          <p:cNvPr id="4" name="Line 6">
            <a:extLst>
              <a:ext uri="{FF2B5EF4-FFF2-40B4-BE49-F238E27FC236}">
                <a16:creationId xmlns:a16="http://schemas.microsoft.com/office/drawing/2014/main" id="{D2CD994D-F0C1-D473-8782-B69DC17E5057}"/>
              </a:ext>
            </a:extLst>
          </p:cNvPr>
          <p:cNvSpPr>
            <a:spLocks noChangeShapeType="1"/>
          </p:cNvSpPr>
          <p:nvPr/>
        </p:nvSpPr>
        <p:spPr bwMode="auto">
          <a:xfrm>
            <a:off x="5866400" y="3647788"/>
            <a:ext cx="0" cy="2979736"/>
          </a:xfrm>
          <a:prstGeom prst="line">
            <a:avLst/>
          </a:prstGeom>
          <a:noFill/>
          <a:ln w="254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5" name="Line 7">
            <a:extLst>
              <a:ext uri="{FF2B5EF4-FFF2-40B4-BE49-F238E27FC236}">
                <a16:creationId xmlns:a16="http://schemas.microsoft.com/office/drawing/2014/main" id="{A3E2BB5D-297F-403D-D9AA-6119E7FBEDEE}"/>
              </a:ext>
            </a:extLst>
          </p:cNvPr>
          <p:cNvSpPr>
            <a:spLocks noChangeShapeType="1"/>
          </p:cNvSpPr>
          <p:nvPr/>
        </p:nvSpPr>
        <p:spPr bwMode="auto">
          <a:xfrm>
            <a:off x="7238000" y="3647787"/>
            <a:ext cx="0" cy="2979737"/>
          </a:xfrm>
          <a:prstGeom prst="line">
            <a:avLst/>
          </a:prstGeom>
          <a:noFill/>
          <a:ln w="254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6" name="Line 8">
            <a:extLst>
              <a:ext uri="{FF2B5EF4-FFF2-40B4-BE49-F238E27FC236}">
                <a16:creationId xmlns:a16="http://schemas.microsoft.com/office/drawing/2014/main" id="{E77C0F4A-E661-3967-2D84-F8AF7DA3E92E}"/>
              </a:ext>
            </a:extLst>
          </p:cNvPr>
          <p:cNvSpPr>
            <a:spLocks noChangeShapeType="1"/>
          </p:cNvSpPr>
          <p:nvPr/>
        </p:nvSpPr>
        <p:spPr bwMode="auto">
          <a:xfrm>
            <a:off x="5871163" y="4022438"/>
            <a:ext cx="1366837" cy="0"/>
          </a:xfrm>
          <a:prstGeom prst="line">
            <a:avLst/>
          </a:prstGeom>
          <a:noFill/>
          <a:ln w="127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7" name="Line 9">
            <a:extLst>
              <a:ext uri="{FF2B5EF4-FFF2-40B4-BE49-F238E27FC236}">
                <a16:creationId xmlns:a16="http://schemas.microsoft.com/office/drawing/2014/main" id="{1427F10E-4866-A38D-3782-A3666780E5E8}"/>
              </a:ext>
            </a:extLst>
          </p:cNvPr>
          <p:cNvSpPr>
            <a:spLocks noChangeShapeType="1"/>
          </p:cNvSpPr>
          <p:nvPr/>
        </p:nvSpPr>
        <p:spPr bwMode="auto">
          <a:xfrm>
            <a:off x="5871163" y="4713000"/>
            <a:ext cx="1366837" cy="0"/>
          </a:xfrm>
          <a:prstGeom prst="line">
            <a:avLst/>
          </a:prstGeom>
          <a:noFill/>
          <a:ln w="508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8" name="Line 10">
            <a:extLst>
              <a:ext uri="{FF2B5EF4-FFF2-40B4-BE49-F238E27FC236}">
                <a16:creationId xmlns:a16="http://schemas.microsoft.com/office/drawing/2014/main" id="{23A62282-B19E-CD13-B419-9AA539ED2143}"/>
              </a:ext>
            </a:extLst>
          </p:cNvPr>
          <p:cNvSpPr>
            <a:spLocks noChangeShapeType="1"/>
          </p:cNvSpPr>
          <p:nvPr/>
        </p:nvSpPr>
        <p:spPr bwMode="auto">
          <a:xfrm>
            <a:off x="5871163" y="4398675"/>
            <a:ext cx="1366837" cy="0"/>
          </a:xfrm>
          <a:prstGeom prst="line">
            <a:avLst/>
          </a:prstGeom>
          <a:noFill/>
          <a:ln w="127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9" name="Line 11">
            <a:extLst>
              <a:ext uri="{FF2B5EF4-FFF2-40B4-BE49-F238E27FC236}">
                <a16:creationId xmlns:a16="http://schemas.microsoft.com/office/drawing/2014/main" id="{A791706B-4CD5-A7F2-9D3A-43D84D1E62CD}"/>
              </a:ext>
            </a:extLst>
          </p:cNvPr>
          <p:cNvSpPr>
            <a:spLocks noChangeShapeType="1"/>
          </p:cNvSpPr>
          <p:nvPr/>
        </p:nvSpPr>
        <p:spPr bwMode="auto">
          <a:xfrm>
            <a:off x="5871163" y="3709700"/>
            <a:ext cx="1366837" cy="0"/>
          </a:xfrm>
          <a:prstGeom prst="line">
            <a:avLst/>
          </a:prstGeom>
          <a:noFill/>
          <a:ln w="508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10" name="Line 12">
            <a:extLst>
              <a:ext uri="{FF2B5EF4-FFF2-40B4-BE49-F238E27FC236}">
                <a16:creationId xmlns:a16="http://schemas.microsoft.com/office/drawing/2014/main" id="{EF7B3373-0AAA-02E4-E107-7564521EA31A}"/>
              </a:ext>
            </a:extLst>
          </p:cNvPr>
          <p:cNvSpPr>
            <a:spLocks noChangeShapeType="1"/>
          </p:cNvSpPr>
          <p:nvPr/>
        </p:nvSpPr>
        <p:spPr bwMode="auto">
          <a:xfrm>
            <a:off x="5871163" y="5025738"/>
            <a:ext cx="1366837" cy="0"/>
          </a:xfrm>
          <a:prstGeom prst="line">
            <a:avLst/>
          </a:prstGeom>
          <a:noFill/>
          <a:ln w="127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11" name="Line 13">
            <a:extLst>
              <a:ext uri="{FF2B5EF4-FFF2-40B4-BE49-F238E27FC236}">
                <a16:creationId xmlns:a16="http://schemas.microsoft.com/office/drawing/2014/main" id="{548776D4-6FC3-22B5-BA06-CC4321B3CBA4}"/>
              </a:ext>
            </a:extLst>
          </p:cNvPr>
          <p:cNvSpPr>
            <a:spLocks noChangeShapeType="1"/>
          </p:cNvSpPr>
          <p:nvPr/>
        </p:nvSpPr>
        <p:spPr bwMode="auto">
          <a:xfrm>
            <a:off x="5871163" y="5338475"/>
            <a:ext cx="1366837" cy="0"/>
          </a:xfrm>
          <a:prstGeom prst="line">
            <a:avLst/>
          </a:prstGeom>
          <a:noFill/>
          <a:ln w="127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12" name="Line 14">
            <a:extLst>
              <a:ext uri="{FF2B5EF4-FFF2-40B4-BE49-F238E27FC236}">
                <a16:creationId xmlns:a16="http://schemas.microsoft.com/office/drawing/2014/main" id="{55567B5E-9894-4A76-2C97-156D99F7CEAF}"/>
              </a:ext>
            </a:extLst>
          </p:cNvPr>
          <p:cNvSpPr>
            <a:spLocks noChangeShapeType="1"/>
          </p:cNvSpPr>
          <p:nvPr/>
        </p:nvSpPr>
        <p:spPr bwMode="auto">
          <a:xfrm>
            <a:off x="5871163" y="5652800"/>
            <a:ext cx="1366837" cy="0"/>
          </a:xfrm>
          <a:prstGeom prst="line">
            <a:avLst/>
          </a:prstGeom>
          <a:noFill/>
          <a:ln w="508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13" name="Line 15">
            <a:extLst>
              <a:ext uri="{FF2B5EF4-FFF2-40B4-BE49-F238E27FC236}">
                <a16:creationId xmlns:a16="http://schemas.microsoft.com/office/drawing/2014/main" id="{46BD82C2-9BA8-8113-D8C0-EDDA00BF7820}"/>
              </a:ext>
            </a:extLst>
          </p:cNvPr>
          <p:cNvSpPr>
            <a:spLocks noChangeShapeType="1"/>
          </p:cNvSpPr>
          <p:nvPr/>
        </p:nvSpPr>
        <p:spPr bwMode="auto">
          <a:xfrm>
            <a:off x="5871163" y="5967125"/>
            <a:ext cx="1366837" cy="0"/>
          </a:xfrm>
          <a:prstGeom prst="line">
            <a:avLst/>
          </a:prstGeom>
          <a:noFill/>
          <a:ln w="127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14" name="Line 16">
            <a:extLst>
              <a:ext uri="{FF2B5EF4-FFF2-40B4-BE49-F238E27FC236}">
                <a16:creationId xmlns:a16="http://schemas.microsoft.com/office/drawing/2014/main" id="{9365C9EC-564C-1E74-C493-9F4A85C916E3}"/>
              </a:ext>
            </a:extLst>
          </p:cNvPr>
          <p:cNvSpPr>
            <a:spLocks noChangeShapeType="1"/>
          </p:cNvSpPr>
          <p:nvPr/>
        </p:nvSpPr>
        <p:spPr bwMode="auto">
          <a:xfrm>
            <a:off x="5871163" y="6279863"/>
            <a:ext cx="1366837" cy="0"/>
          </a:xfrm>
          <a:prstGeom prst="line">
            <a:avLst/>
          </a:prstGeom>
          <a:noFill/>
          <a:ln w="12700">
            <a:solidFill>
              <a:srgbClr val="4F81BD"/>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15" name="Rectangle 17">
            <a:extLst>
              <a:ext uri="{FF2B5EF4-FFF2-40B4-BE49-F238E27FC236}">
                <a16:creationId xmlns:a16="http://schemas.microsoft.com/office/drawing/2014/main" id="{5A0970F8-6C95-8003-B01B-9B8572D4AF81}"/>
              </a:ext>
            </a:extLst>
          </p:cNvPr>
          <p:cNvSpPr>
            <a:spLocks noChangeArrowheads="1"/>
          </p:cNvSpPr>
          <p:nvPr/>
        </p:nvSpPr>
        <p:spPr bwMode="auto">
          <a:xfrm>
            <a:off x="6155932" y="5962363"/>
            <a:ext cx="859211"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1600" b="1">
                <a:solidFill>
                  <a:srgbClr val="1C069E"/>
                </a:solidFill>
                <a:latin typeface="Consolas" panose="020B0609020204030204" pitchFamily="49" charset="0"/>
                <a:ea typeface="+mn-ea"/>
                <a:cs typeface="Consolas" panose="020B0609020204030204" pitchFamily="49" charset="0"/>
              </a:rPr>
              <a:t>unused</a:t>
            </a:r>
          </a:p>
        </p:txBody>
      </p:sp>
      <p:sp>
        <p:nvSpPr>
          <p:cNvPr id="16" name="Line 18">
            <a:extLst>
              <a:ext uri="{FF2B5EF4-FFF2-40B4-BE49-F238E27FC236}">
                <a16:creationId xmlns:a16="http://schemas.microsoft.com/office/drawing/2014/main" id="{A517C94F-A24A-0879-3B31-A54D24BC309A}"/>
              </a:ext>
            </a:extLst>
          </p:cNvPr>
          <p:cNvSpPr>
            <a:spLocks noChangeShapeType="1"/>
          </p:cNvSpPr>
          <p:nvPr/>
        </p:nvSpPr>
        <p:spPr bwMode="auto">
          <a:xfrm>
            <a:off x="5707650" y="3870038"/>
            <a:ext cx="0" cy="2168525"/>
          </a:xfrm>
          <a:prstGeom prst="line">
            <a:avLst/>
          </a:prstGeom>
          <a:noFill/>
          <a:ln w="25400">
            <a:solidFill>
              <a:srgbClr val="0000FF"/>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600" b="1" i="0" u="none" strike="noStrike" kern="0" cap="none" spc="0" normalizeH="0" baseline="0" noProof="0">
              <a:ln>
                <a:noFill/>
              </a:ln>
              <a:solidFill>
                <a:srgbClr val="FF3300"/>
              </a:solidFill>
              <a:effectLst/>
              <a:uLnTx/>
              <a:uFillTx/>
              <a:latin typeface="Consolas" panose="020B0609020204030204" pitchFamily="49" charset="0"/>
              <a:ea typeface="+mn-ea"/>
              <a:cs typeface="Consolas" panose="020B0609020204030204" pitchFamily="49" charset="0"/>
            </a:endParaRPr>
          </a:p>
        </p:txBody>
      </p:sp>
      <p:sp>
        <p:nvSpPr>
          <p:cNvPr id="17" name="Rectangle 19">
            <a:extLst>
              <a:ext uri="{FF2B5EF4-FFF2-40B4-BE49-F238E27FC236}">
                <a16:creationId xmlns:a16="http://schemas.microsoft.com/office/drawing/2014/main" id="{E7BD633F-1169-907A-85BD-3D55BB56472F}"/>
              </a:ext>
            </a:extLst>
          </p:cNvPr>
          <p:cNvSpPr>
            <a:spLocks noChangeArrowheads="1"/>
          </p:cNvSpPr>
          <p:nvPr/>
        </p:nvSpPr>
        <p:spPr bwMode="auto">
          <a:xfrm>
            <a:off x="5578277" y="3227986"/>
            <a:ext cx="1905000"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pPr algn="ctr" eaLnBrk="0" hangingPunct="0"/>
            <a:r>
              <a:rPr lang="zh-CN" altLang="en-US" sz="2000" b="1" dirty="0">
                <a:solidFill>
                  <a:srgbClr val="FF3300"/>
                </a:solidFill>
                <a:latin typeface="Consolas" panose="020B0609020204030204" pitchFamily="49" charset="0"/>
                <a:ea typeface="+mn-ea"/>
                <a:cs typeface="Consolas" panose="020B0609020204030204" pitchFamily="49" charset="0"/>
              </a:rPr>
              <a:t>主存储器</a:t>
            </a:r>
          </a:p>
        </p:txBody>
      </p:sp>
      <p:sp>
        <p:nvSpPr>
          <p:cNvPr id="18" name="Line 20">
            <a:extLst>
              <a:ext uri="{FF2B5EF4-FFF2-40B4-BE49-F238E27FC236}">
                <a16:creationId xmlns:a16="http://schemas.microsoft.com/office/drawing/2014/main" id="{4E4C2691-0684-0509-0491-DE2A5416E6CA}"/>
              </a:ext>
            </a:extLst>
          </p:cNvPr>
          <p:cNvSpPr>
            <a:spLocks noChangeShapeType="1"/>
          </p:cNvSpPr>
          <p:nvPr/>
        </p:nvSpPr>
        <p:spPr bwMode="auto">
          <a:xfrm flipH="1">
            <a:off x="7255581" y="3700969"/>
            <a:ext cx="304800" cy="0"/>
          </a:xfrm>
          <a:prstGeom prst="line">
            <a:avLst/>
          </a:prstGeom>
          <a:noFill/>
          <a:ln w="25400" cap="rnd">
            <a:solidFill>
              <a:srgbClr val="FF0000"/>
            </a:solidFill>
            <a:round/>
            <a:headEnd w="med" len="lg"/>
            <a:tailEnd type="triangle" w="med" len="lg"/>
          </a:ln>
          <a:extLst>
            <a:ext uri="{909E8E84-426E-40DD-AFC4-6F175D3DCCD1}">
              <a14:hiddenFill xmlns:a14="http://schemas.microsoft.com/office/drawing/2010/main">
                <a:noFill/>
              </a14:hiddenFill>
            </a:ext>
          </a:extLst>
        </p:spPr>
        <p:txBody>
          <a:bodyPr wrap="none" anchor="ctr">
            <a:spAutoFit/>
          </a:bodyPr>
          <a:lstStyle/>
          <a:p>
            <a:pPr algn="ctr"/>
            <a:endParaRPr lang="zh-CN" altLang="en-US" sz="4600" b="1">
              <a:solidFill>
                <a:srgbClr val="FF3300"/>
              </a:solidFill>
              <a:latin typeface="Consolas" panose="020B0609020204030204" pitchFamily="49" charset="0"/>
              <a:ea typeface="+mn-ea"/>
              <a:cs typeface="Consolas" panose="020B0609020204030204" pitchFamily="49" charset="0"/>
            </a:endParaRPr>
          </a:p>
        </p:txBody>
      </p:sp>
      <p:sp>
        <p:nvSpPr>
          <p:cNvPr id="19" name="Rectangle 21">
            <a:extLst>
              <a:ext uri="{FF2B5EF4-FFF2-40B4-BE49-F238E27FC236}">
                <a16:creationId xmlns:a16="http://schemas.microsoft.com/office/drawing/2014/main" id="{4207D4F6-48BB-5357-5A9D-5BFF9AD068DE}"/>
              </a:ext>
            </a:extLst>
          </p:cNvPr>
          <p:cNvSpPr>
            <a:spLocks noChangeArrowheads="1"/>
          </p:cNvSpPr>
          <p:nvPr/>
        </p:nvSpPr>
        <p:spPr bwMode="auto">
          <a:xfrm>
            <a:off x="6155932" y="5667088"/>
            <a:ext cx="859211"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1600" b="1">
                <a:solidFill>
                  <a:srgbClr val="1C069E"/>
                </a:solidFill>
                <a:latin typeface="Consolas" panose="020B0609020204030204" pitchFamily="49" charset="0"/>
                <a:ea typeface="+mn-ea"/>
                <a:cs typeface="Consolas" panose="020B0609020204030204" pitchFamily="49" charset="0"/>
              </a:rPr>
              <a:t>unused</a:t>
            </a:r>
          </a:p>
        </p:txBody>
      </p:sp>
      <p:sp>
        <p:nvSpPr>
          <p:cNvPr id="20" name="Rectangle 22">
            <a:extLst>
              <a:ext uri="{FF2B5EF4-FFF2-40B4-BE49-F238E27FC236}">
                <a16:creationId xmlns:a16="http://schemas.microsoft.com/office/drawing/2014/main" id="{5E0EDFF5-729B-CE2F-679F-F2D094E5B67A}"/>
              </a:ext>
            </a:extLst>
          </p:cNvPr>
          <p:cNvSpPr>
            <a:spLocks noChangeArrowheads="1"/>
          </p:cNvSpPr>
          <p:nvPr/>
        </p:nvSpPr>
        <p:spPr bwMode="auto">
          <a:xfrm rot="16200000">
            <a:off x="4538656" y="4514212"/>
            <a:ext cx="1753686"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zh-CN" altLang="en-US" sz="2000" b="1" dirty="0">
                <a:solidFill>
                  <a:srgbClr val="FF3300"/>
                </a:solidFill>
                <a:latin typeface="Consolas" panose="020B0609020204030204" pitchFamily="49" charset="0"/>
                <a:ea typeface="+mn-ea"/>
                <a:cs typeface="Consolas" panose="020B0609020204030204" pitchFamily="49" charset="0"/>
              </a:rPr>
              <a:t>地址减小方向</a:t>
            </a:r>
            <a:endParaRPr lang="en-US" altLang="zh-CN" sz="2000" b="1" dirty="0">
              <a:solidFill>
                <a:srgbClr val="FF3300"/>
              </a:solidFill>
              <a:latin typeface="Consolas" panose="020B0609020204030204" pitchFamily="49" charset="0"/>
              <a:ea typeface="+mn-ea"/>
              <a:cs typeface="Consolas" panose="020B0609020204030204" pitchFamily="49" charset="0"/>
            </a:endParaRPr>
          </a:p>
        </p:txBody>
      </p:sp>
      <p:sp>
        <p:nvSpPr>
          <p:cNvPr id="21" name="Rectangle 24">
            <a:extLst>
              <a:ext uri="{FF2B5EF4-FFF2-40B4-BE49-F238E27FC236}">
                <a16:creationId xmlns:a16="http://schemas.microsoft.com/office/drawing/2014/main" id="{12E2AF6D-A76E-A921-BAB9-DAA018BB58C6}"/>
              </a:ext>
            </a:extLst>
          </p:cNvPr>
          <p:cNvSpPr>
            <a:spLocks noChangeArrowheads="1"/>
          </p:cNvSpPr>
          <p:nvPr/>
        </p:nvSpPr>
        <p:spPr bwMode="auto">
          <a:xfrm>
            <a:off x="6152757" y="5319425"/>
            <a:ext cx="859211"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1600" b="1">
                <a:solidFill>
                  <a:srgbClr val="1C069E"/>
                </a:solidFill>
                <a:latin typeface="Consolas" panose="020B0609020204030204" pitchFamily="49" charset="0"/>
                <a:ea typeface="+mn-ea"/>
                <a:cs typeface="Consolas" panose="020B0609020204030204" pitchFamily="49" charset="0"/>
              </a:rPr>
              <a:t>unused</a:t>
            </a:r>
          </a:p>
        </p:txBody>
      </p:sp>
      <p:sp>
        <p:nvSpPr>
          <p:cNvPr id="22" name="Rectangle 25">
            <a:extLst>
              <a:ext uri="{FF2B5EF4-FFF2-40B4-BE49-F238E27FC236}">
                <a16:creationId xmlns:a16="http://schemas.microsoft.com/office/drawing/2014/main" id="{FD7F5364-3BDC-3075-EA55-A18EDC57D15A}"/>
              </a:ext>
            </a:extLst>
          </p:cNvPr>
          <p:cNvSpPr>
            <a:spLocks noChangeArrowheads="1"/>
          </p:cNvSpPr>
          <p:nvPr/>
        </p:nvSpPr>
        <p:spPr bwMode="auto">
          <a:xfrm>
            <a:off x="6149582" y="4971763"/>
            <a:ext cx="859211"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1600" b="1">
                <a:solidFill>
                  <a:srgbClr val="1C069E"/>
                </a:solidFill>
                <a:latin typeface="Consolas" panose="020B0609020204030204" pitchFamily="49" charset="0"/>
                <a:ea typeface="+mn-ea"/>
                <a:cs typeface="Consolas" panose="020B0609020204030204" pitchFamily="49" charset="0"/>
              </a:rPr>
              <a:t>unused</a:t>
            </a:r>
          </a:p>
        </p:txBody>
      </p:sp>
      <p:sp>
        <p:nvSpPr>
          <p:cNvPr id="23" name="Rectangle 26">
            <a:extLst>
              <a:ext uri="{FF2B5EF4-FFF2-40B4-BE49-F238E27FC236}">
                <a16:creationId xmlns:a16="http://schemas.microsoft.com/office/drawing/2014/main" id="{A5334C06-3423-E771-DF25-984C55475B6F}"/>
              </a:ext>
            </a:extLst>
          </p:cNvPr>
          <p:cNvSpPr>
            <a:spLocks noChangeArrowheads="1"/>
          </p:cNvSpPr>
          <p:nvPr/>
        </p:nvSpPr>
        <p:spPr bwMode="auto">
          <a:xfrm>
            <a:off x="6146407" y="4709825"/>
            <a:ext cx="859211"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1600" b="1">
                <a:solidFill>
                  <a:srgbClr val="1C069E"/>
                </a:solidFill>
                <a:latin typeface="Consolas" panose="020B0609020204030204" pitchFamily="49" charset="0"/>
                <a:ea typeface="+mn-ea"/>
                <a:cs typeface="Consolas" panose="020B0609020204030204" pitchFamily="49" charset="0"/>
              </a:rPr>
              <a:t>unused</a:t>
            </a:r>
          </a:p>
        </p:txBody>
      </p:sp>
      <p:sp>
        <p:nvSpPr>
          <p:cNvPr id="24" name="Rectangle 27">
            <a:extLst>
              <a:ext uri="{FF2B5EF4-FFF2-40B4-BE49-F238E27FC236}">
                <a16:creationId xmlns:a16="http://schemas.microsoft.com/office/drawing/2014/main" id="{BCB9FD93-C325-B6C9-20D5-1D984FCC17C7}"/>
              </a:ext>
            </a:extLst>
          </p:cNvPr>
          <p:cNvSpPr>
            <a:spLocks noChangeArrowheads="1"/>
          </p:cNvSpPr>
          <p:nvPr/>
        </p:nvSpPr>
        <p:spPr bwMode="auto">
          <a:xfrm>
            <a:off x="6155932" y="4360575"/>
            <a:ext cx="859211"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1600" b="1" dirty="0">
                <a:solidFill>
                  <a:srgbClr val="1C069E"/>
                </a:solidFill>
                <a:latin typeface="Consolas" panose="020B0609020204030204" pitchFamily="49" charset="0"/>
                <a:ea typeface="+mn-ea"/>
                <a:cs typeface="Consolas" panose="020B0609020204030204" pitchFamily="49" charset="0"/>
              </a:rPr>
              <a:t>unused</a:t>
            </a:r>
          </a:p>
        </p:txBody>
      </p:sp>
      <p:sp>
        <p:nvSpPr>
          <p:cNvPr id="25" name="Rectangle 28">
            <a:extLst>
              <a:ext uri="{FF2B5EF4-FFF2-40B4-BE49-F238E27FC236}">
                <a16:creationId xmlns:a16="http://schemas.microsoft.com/office/drawing/2014/main" id="{925D1FCF-533A-DD7A-E1E4-09ACE9101CC3}"/>
              </a:ext>
            </a:extLst>
          </p:cNvPr>
          <p:cNvSpPr>
            <a:spLocks noChangeArrowheads="1"/>
          </p:cNvSpPr>
          <p:nvPr/>
        </p:nvSpPr>
        <p:spPr bwMode="auto">
          <a:xfrm>
            <a:off x="6152757" y="4038767"/>
            <a:ext cx="859211"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1600" b="1" dirty="0">
                <a:solidFill>
                  <a:srgbClr val="1C069E"/>
                </a:solidFill>
                <a:latin typeface="Consolas" panose="020B0609020204030204" pitchFamily="49" charset="0"/>
                <a:ea typeface="+mn-ea"/>
                <a:cs typeface="Consolas" panose="020B0609020204030204" pitchFamily="49" charset="0"/>
              </a:rPr>
              <a:t>unused</a:t>
            </a:r>
          </a:p>
        </p:txBody>
      </p:sp>
      <p:sp>
        <p:nvSpPr>
          <p:cNvPr id="26" name="Rectangle 29">
            <a:extLst>
              <a:ext uri="{FF2B5EF4-FFF2-40B4-BE49-F238E27FC236}">
                <a16:creationId xmlns:a16="http://schemas.microsoft.com/office/drawing/2014/main" id="{F3BACF50-70CB-2F80-FF02-1158F08D3EEC}"/>
              </a:ext>
            </a:extLst>
          </p:cNvPr>
          <p:cNvSpPr>
            <a:spLocks noChangeArrowheads="1"/>
          </p:cNvSpPr>
          <p:nvPr/>
        </p:nvSpPr>
        <p:spPr bwMode="auto">
          <a:xfrm>
            <a:off x="6149582" y="3750975"/>
            <a:ext cx="859211"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1600" b="1">
                <a:solidFill>
                  <a:srgbClr val="1C069E"/>
                </a:solidFill>
                <a:latin typeface="Consolas" panose="020B0609020204030204" pitchFamily="49" charset="0"/>
                <a:ea typeface="+mn-ea"/>
                <a:cs typeface="Consolas" panose="020B0609020204030204" pitchFamily="49" charset="0"/>
              </a:rPr>
              <a:t>unused</a:t>
            </a:r>
          </a:p>
        </p:txBody>
      </p:sp>
      <p:sp>
        <p:nvSpPr>
          <p:cNvPr id="27" name="Rectangle 17">
            <a:extLst>
              <a:ext uri="{FF2B5EF4-FFF2-40B4-BE49-F238E27FC236}">
                <a16:creationId xmlns:a16="http://schemas.microsoft.com/office/drawing/2014/main" id="{5A3F4F7B-C03E-C0FA-A836-09CC2AA1DDEF}"/>
              </a:ext>
            </a:extLst>
          </p:cNvPr>
          <p:cNvSpPr>
            <a:spLocks noChangeArrowheads="1"/>
          </p:cNvSpPr>
          <p:nvPr/>
        </p:nvSpPr>
        <p:spPr bwMode="auto">
          <a:xfrm>
            <a:off x="6146407" y="6303222"/>
            <a:ext cx="859211"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ltLang="zh-CN" sz="1600" b="1" dirty="0">
                <a:solidFill>
                  <a:srgbClr val="1C069E"/>
                </a:solidFill>
                <a:latin typeface="Consolas" panose="020B0609020204030204" pitchFamily="49" charset="0"/>
                <a:ea typeface="+mn-ea"/>
                <a:cs typeface="Consolas" panose="020B0609020204030204" pitchFamily="49" charset="0"/>
              </a:rPr>
              <a:t>unused</a:t>
            </a:r>
          </a:p>
        </p:txBody>
      </p:sp>
    </p:spTree>
    <p:extLst>
      <p:ext uri="{BB962C8B-B14F-4D97-AF65-F5344CB8AC3E}">
        <p14:creationId xmlns:p14="http://schemas.microsoft.com/office/powerpoint/2010/main" val="2944643309"/>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8463CA77-E33B-4341-88AF-692944936A4A}"/>
              </a:ext>
            </a:extLst>
          </p:cNvPr>
          <p:cNvSpPr>
            <a:spLocks noGrp="1"/>
          </p:cNvSpPr>
          <p:nvPr>
            <p:ph type="sldNum" sz="quarter" idx="12"/>
          </p:nvPr>
        </p:nvSpPr>
        <p:spPr/>
        <p:txBody>
          <a:bodyPr/>
          <a:lstStyle/>
          <a:p>
            <a:fld id="{14659731-6BD7-46E7-8D3C-2F3AC07E20B1}" type="slidenum">
              <a:rPr lang="en-US" altLang="zh-CN" smtClean="0"/>
              <a:pPr/>
              <a:t>144</a:t>
            </a:fld>
            <a:endParaRPr lang="en-US" altLang="zh-CN" dirty="0"/>
          </a:p>
        </p:txBody>
      </p:sp>
      <p:sp>
        <p:nvSpPr>
          <p:cNvPr id="3" name="内容占位符 2">
            <a:extLst>
              <a:ext uri="{FF2B5EF4-FFF2-40B4-BE49-F238E27FC236}">
                <a16:creationId xmlns:a16="http://schemas.microsoft.com/office/drawing/2014/main" id="{5170315C-7253-394B-8FBD-668F779C2F72}"/>
              </a:ext>
            </a:extLst>
          </p:cNvPr>
          <p:cNvSpPr>
            <a:spLocks noGrp="1"/>
          </p:cNvSpPr>
          <p:nvPr>
            <p:ph idx="4294967295"/>
          </p:nvPr>
        </p:nvSpPr>
        <p:spPr>
          <a:xfrm>
            <a:off x="457200" y="1363059"/>
            <a:ext cx="7886700" cy="4351338"/>
          </a:xfrm>
        </p:spPr>
        <p:txBody>
          <a:bodyPr/>
          <a:lstStyle/>
          <a:p>
            <a:r>
              <a:rPr kumimoji="1" lang="zh-CN" altLang="en-US" dirty="0"/>
              <a:t>一般来说，过程调用帧可能包含：</a:t>
            </a:r>
            <a:endParaRPr kumimoji="1" lang="en-US" altLang="zh-CN" dirty="0"/>
          </a:p>
          <a:p>
            <a:pPr marL="0" indent="0">
              <a:buNone/>
            </a:pPr>
            <a:r>
              <a:rPr kumimoji="1" lang="zh-CN" altLang="en-US" sz="2800" dirty="0"/>
              <a:t>（</a:t>
            </a:r>
            <a:r>
              <a:rPr kumimoji="1" lang="en-US" altLang="zh-CN" sz="2800" dirty="0"/>
              <a:t>1</a:t>
            </a:r>
            <a:r>
              <a:rPr kumimoji="1" lang="zh-CN" altLang="en-US" sz="2800" dirty="0"/>
              <a:t>）传递给该过程调用的子过程的参数</a:t>
            </a:r>
            <a:endParaRPr kumimoji="1" lang="en-US" altLang="zh-CN" sz="2800" dirty="0"/>
          </a:p>
          <a:p>
            <a:pPr marL="0" indent="0">
              <a:buNone/>
            </a:pPr>
            <a:r>
              <a:rPr kumimoji="1" lang="zh-CN" altLang="en-US" sz="2800" dirty="0"/>
              <a:t>（</a:t>
            </a:r>
            <a:r>
              <a:rPr kumimoji="1" lang="en-US" altLang="zh-CN" sz="2800" dirty="0"/>
              <a:t>2</a:t>
            </a:r>
            <a:r>
              <a:rPr kumimoji="1" lang="zh-CN" altLang="en-US" sz="2800" dirty="0"/>
              <a:t>）保存寄存器</a:t>
            </a:r>
            <a:r>
              <a:rPr kumimoji="1" lang="en-US" altLang="zh-CN" sz="2800" dirty="0"/>
              <a:t>($s0</a:t>
            </a:r>
            <a:r>
              <a:rPr kumimoji="1" lang="zh-CN" altLang="en-US" sz="2800" dirty="0"/>
              <a:t>到</a:t>
            </a:r>
            <a:r>
              <a:rPr kumimoji="1" lang="en-US" altLang="zh-CN" sz="2800" dirty="0"/>
              <a:t>$s7)</a:t>
            </a:r>
            <a:r>
              <a:rPr kumimoji="1" lang="zh-CN" altLang="en-US" sz="2800" dirty="0"/>
              <a:t>值</a:t>
            </a:r>
            <a:endParaRPr kumimoji="1" lang="en-US" altLang="zh-CN" sz="2800" dirty="0"/>
          </a:p>
          <a:p>
            <a:pPr marL="0" indent="0">
              <a:buNone/>
            </a:pPr>
            <a:r>
              <a:rPr kumimoji="1" lang="zh-CN" altLang="en-US" sz="2800" dirty="0"/>
              <a:t>（</a:t>
            </a:r>
            <a:r>
              <a:rPr kumimoji="1" lang="en-US" altLang="zh-CN" sz="2800" dirty="0"/>
              <a:t>3</a:t>
            </a:r>
            <a:r>
              <a:rPr kumimoji="1" lang="zh-CN" altLang="en-US" sz="2800" dirty="0"/>
              <a:t>）子过程返回地址 </a:t>
            </a:r>
            <a:r>
              <a:rPr kumimoji="1" lang="en-US" altLang="zh-CN" sz="2800" dirty="0"/>
              <a:t>($</a:t>
            </a:r>
            <a:r>
              <a:rPr kumimoji="1" lang="en-US" altLang="zh-CN" sz="2800" dirty="0" err="1"/>
              <a:t>ra</a:t>
            </a:r>
            <a:r>
              <a:rPr kumimoji="1" lang="en-US" altLang="zh-CN" sz="2800" dirty="0"/>
              <a:t>)</a:t>
            </a:r>
          </a:p>
          <a:p>
            <a:pPr marL="0" indent="0">
              <a:buNone/>
            </a:pPr>
            <a:r>
              <a:rPr kumimoji="1" lang="zh-CN" altLang="en-US" sz="2800" dirty="0"/>
              <a:t>（</a:t>
            </a:r>
            <a:r>
              <a:rPr kumimoji="1" lang="en-US" altLang="zh-CN" sz="2800" dirty="0"/>
              <a:t>4</a:t>
            </a:r>
            <a:r>
              <a:rPr kumimoji="1" lang="zh-CN" altLang="en-US" sz="2800" dirty="0"/>
              <a:t>）本地数据</a:t>
            </a:r>
            <a:endParaRPr kumimoji="1" lang="en-US" altLang="zh-CN" sz="2800" dirty="0"/>
          </a:p>
        </p:txBody>
      </p:sp>
      <p:sp>
        <p:nvSpPr>
          <p:cNvPr id="5" name="Title 4">
            <a:extLst>
              <a:ext uri="{FF2B5EF4-FFF2-40B4-BE49-F238E27FC236}">
                <a16:creationId xmlns:a16="http://schemas.microsoft.com/office/drawing/2014/main" id="{B1F90CDB-9009-7398-3CEC-5D28A7D58687}"/>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dirty="0"/>
              <a:t>编程指南：过程调用</a:t>
            </a:r>
            <a:endParaRPr lang="en-CN" kern="0" dirty="0"/>
          </a:p>
        </p:txBody>
      </p:sp>
    </p:spTree>
    <p:extLst>
      <p:ext uri="{BB962C8B-B14F-4D97-AF65-F5344CB8AC3E}">
        <p14:creationId xmlns:p14="http://schemas.microsoft.com/office/powerpoint/2010/main" val="2077101480"/>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FB90E21-5572-4C4B-A331-F833DEAAA9FF}"/>
              </a:ext>
            </a:extLst>
          </p:cNvPr>
          <p:cNvSpPr>
            <a:spLocks noGrp="1"/>
          </p:cNvSpPr>
          <p:nvPr>
            <p:ph type="sldNum" sz="quarter" idx="12"/>
          </p:nvPr>
        </p:nvSpPr>
        <p:spPr/>
        <p:txBody>
          <a:bodyPr/>
          <a:lstStyle/>
          <a:p>
            <a:fld id="{14659731-6BD7-46E7-8D3C-2F3AC07E20B1}" type="slidenum">
              <a:rPr lang="en-US" altLang="zh-CN" smtClean="0"/>
              <a:pPr/>
              <a:t>145</a:t>
            </a:fld>
            <a:endParaRPr lang="en-US" altLang="zh-CN"/>
          </a:p>
        </p:txBody>
      </p:sp>
      <p:pic>
        <p:nvPicPr>
          <p:cNvPr id="14" name="内容占位符 13">
            <a:extLst>
              <a:ext uri="{FF2B5EF4-FFF2-40B4-BE49-F238E27FC236}">
                <a16:creationId xmlns:a16="http://schemas.microsoft.com/office/drawing/2014/main" id="{D596ADD1-C87C-E44A-83AE-F54FD1CD368E}"/>
              </a:ext>
            </a:extLst>
          </p:cNvPr>
          <p:cNvPicPr>
            <a:picLocks noGrp="1" noChangeAspect="1"/>
          </p:cNvPicPr>
          <p:nvPr>
            <p:ph idx="4294967295"/>
          </p:nvPr>
        </p:nvPicPr>
        <p:blipFill>
          <a:blip r:embed="rId3">
            <a:extLst>
              <a:ext uri="{28A0092B-C50C-407E-A947-70E740481C1C}">
                <a14:useLocalDpi xmlns:a14="http://schemas.microsoft.com/office/drawing/2010/main" val="0"/>
              </a:ext>
            </a:extLst>
          </a:blip>
          <a:stretch>
            <a:fillRect/>
          </a:stretch>
        </p:blipFill>
        <p:spPr>
          <a:xfrm>
            <a:off x="223203" y="1371368"/>
            <a:ext cx="4100513" cy="5256213"/>
          </a:xfrm>
        </p:spPr>
      </p:pic>
      <p:sp>
        <p:nvSpPr>
          <p:cNvPr id="10" name="文本框 9">
            <a:extLst>
              <a:ext uri="{FF2B5EF4-FFF2-40B4-BE49-F238E27FC236}">
                <a16:creationId xmlns:a16="http://schemas.microsoft.com/office/drawing/2014/main" id="{D7D41D30-4FF3-8049-A41B-95C999196A25}"/>
              </a:ext>
            </a:extLst>
          </p:cNvPr>
          <p:cNvSpPr txBox="1"/>
          <p:nvPr/>
        </p:nvSpPr>
        <p:spPr>
          <a:xfrm>
            <a:off x="4647253" y="2857307"/>
            <a:ext cx="4100450" cy="3816429"/>
          </a:xfrm>
          <a:prstGeom prst="rect">
            <a:avLst/>
          </a:prstGeom>
          <a:noFill/>
        </p:spPr>
        <p:txBody>
          <a:bodyPr wrap="square" rtlCol="0">
            <a:spAutoFit/>
          </a:bodyPr>
          <a:lstStyle/>
          <a:p>
            <a:pPr algn="l"/>
            <a:r>
              <a:rPr kumimoji="1" lang="zh-CN" altLang="en-US" sz="2200" b="1" dirty="0">
                <a:solidFill>
                  <a:schemeClr val="tx1"/>
                </a:solidFill>
                <a:latin typeface="+mn-lt"/>
                <a:ea typeface="+mj-ea"/>
              </a:rPr>
              <a:t>把一个过程调用帧分为</a:t>
            </a:r>
            <a:r>
              <a:rPr kumimoji="1" lang="en-US" altLang="zh-CN" sz="2200" b="1" dirty="0">
                <a:solidFill>
                  <a:schemeClr val="tx1"/>
                </a:solidFill>
                <a:latin typeface="+mn-lt"/>
                <a:ea typeface="+mj-ea"/>
              </a:rPr>
              <a:t>5</a:t>
            </a:r>
            <a:r>
              <a:rPr kumimoji="1" lang="zh-CN" altLang="en-US" sz="2200" b="1" dirty="0">
                <a:solidFill>
                  <a:schemeClr val="tx1"/>
                </a:solidFill>
                <a:latin typeface="+mn-lt"/>
                <a:ea typeface="+mj-ea"/>
              </a:rPr>
              <a:t>部分：</a:t>
            </a:r>
            <a:endParaRPr kumimoji="1" lang="en-US" altLang="zh-CN" sz="2200" b="1" dirty="0">
              <a:solidFill>
                <a:schemeClr val="tx1"/>
              </a:solidFill>
              <a:latin typeface="+mn-lt"/>
              <a:ea typeface="+mj-ea"/>
            </a:endParaRPr>
          </a:p>
          <a:p>
            <a:pPr algn="l"/>
            <a:endParaRPr kumimoji="1" lang="en-US" altLang="zh-CN" sz="2200" b="1" dirty="0">
              <a:solidFill>
                <a:schemeClr val="tx1"/>
              </a:solidFill>
              <a:latin typeface="+mn-lt"/>
              <a:ea typeface="+mj-ea"/>
            </a:endParaRPr>
          </a:p>
          <a:p>
            <a:pPr algn="l"/>
            <a:r>
              <a:rPr kumimoji="1" lang="en-US" altLang="zh-CN" sz="2200" b="1" dirty="0">
                <a:solidFill>
                  <a:schemeClr val="tx1"/>
                </a:solidFill>
                <a:latin typeface="+mn-lt"/>
                <a:ea typeface="+mj-ea"/>
              </a:rPr>
              <a:t>1.</a:t>
            </a:r>
            <a:r>
              <a:rPr kumimoji="1" lang="zh-CN" altLang="en-US" sz="2200" b="1" dirty="0">
                <a:solidFill>
                  <a:schemeClr val="tx1"/>
                </a:solidFill>
                <a:latin typeface="+mn-lt"/>
                <a:ea typeface="+mj-ea"/>
              </a:rPr>
              <a:t> </a:t>
            </a:r>
            <a:r>
              <a:rPr kumimoji="1" lang="zh-CN" altLang="en-US" sz="2200" b="1" dirty="0">
                <a:solidFill>
                  <a:srgbClr val="0432FF"/>
                </a:solidFill>
                <a:latin typeface="+mn-lt"/>
                <a:ea typeface="+mj-ea"/>
              </a:rPr>
              <a:t>参数部分</a:t>
            </a:r>
            <a:r>
              <a:rPr kumimoji="1" lang="zh-CN" altLang="en-US" sz="2200" b="1" dirty="0">
                <a:solidFill>
                  <a:schemeClr val="tx1"/>
                </a:solidFill>
                <a:latin typeface="+mn-lt"/>
                <a:ea typeface="+mj-ea"/>
              </a:rPr>
              <a:t>：栈顶用来保存该过程传递给子过程的参数。前四个位置是不会被当前过程使用的，实际的参数通过对应的参数寄存器（</a:t>
            </a:r>
            <a:r>
              <a:rPr kumimoji="1" lang="en-US" altLang="zh-CN" sz="2200" b="1" dirty="0">
                <a:solidFill>
                  <a:schemeClr val="tx1"/>
                </a:solidFill>
                <a:latin typeface="+mn-lt"/>
                <a:ea typeface="+mj-ea"/>
              </a:rPr>
              <a:t>$a0 to $a3 </a:t>
            </a:r>
            <a:r>
              <a:rPr kumimoji="1" lang="zh-CN" altLang="en-US" sz="2200" b="1" dirty="0">
                <a:solidFill>
                  <a:schemeClr val="tx1"/>
                </a:solidFill>
                <a:latin typeface="+mn-lt"/>
                <a:ea typeface="+mj-ea"/>
              </a:rPr>
              <a:t>），传递给该过程的子过程。如果传递的参数超过</a:t>
            </a:r>
            <a:r>
              <a:rPr kumimoji="1" lang="en-US" altLang="zh-CN" sz="2200" b="1" dirty="0">
                <a:solidFill>
                  <a:schemeClr val="tx1"/>
                </a:solidFill>
                <a:latin typeface="+mn-lt"/>
                <a:ea typeface="+mj-ea"/>
              </a:rPr>
              <a:t>4</a:t>
            </a:r>
            <a:r>
              <a:rPr kumimoji="1" lang="zh-CN" altLang="en-US" sz="2200" b="1" dirty="0">
                <a:solidFill>
                  <a:schemeClr val="tx1"/>
                </a:solidFill>
                <a:latin typeface="+mn-lt"/>
                <a:ea typeface="+mj-ea"/>
              </a:rPr>
              <a:t>个，多出的参数会存储在</a:t>
            </a:r>
            <a:r>
              <a:rPr kumimoji="1" lang="en-US" altLang="zh-CN" sz="2200" b="1" dirty="0">
                <a:solidFill>
                  <a:schemeClr val="tx1"/>
                </a:solidFill>
                <a:latin typeface="+mn-lt"/>
                <a:ea typeface="+mj-ea"/>
              </a:rPr>
              <a:t>sp+16,</a:t>
            </a:r>
            <a:r>
              <a:rPr kumimoji="1" lang="zh-CN" altLang="en-US" sz="2200" b="1" dirty="0">
                <a:solidFill>
                  <a:schemeClr val="tx1"/>
                </a:solidFill>
                <a:latin typeface="+mn-lt"/>
                <a:ea typeface="+mj-ea"/>
              </a:rPr>
              <a:t> </a:t>
            </a:r>
            <a:r>
              <a:rPr kumimoji="1" lang="en-US" altLang="zh-CN" sz="2200" b="1" dirty="0">
                <a:solidFill>
                  <a:schemeClr val="tx1"/>
                </a:solidFill>
                <a:latin typeface="+mn-lt"/>
                <a:ea typeface="+mj-ea"/>
              </a:rPr>
              <a:t>sp+20,</a:t>
            </a:r>
            <a:r>
              <a:rPr kumimoji="1" lang="zh-CN" altLang="en-US" sz="2200" b="1" dirty="0">
                <a:solidFill>
                  <a:schemeClr val="tx1"/>
                </a:solidFill>
                <a:latin typeface="+mn-lt"/>
                <a:ea typeface="+mj-ea"/>
              </a:rPr>
              <a:t> </a:t>
            </a:r>
            <a:r>
              <a:rPr kumimoji="1" lang="en-US" altLang="zh-CN" sz="2200" b="1" dirty="0">
                <a:solidFill>
                  <a:schemeClr val="tx1"/>
                </a:solidFill>
                <a:latin typeface="+mn-lt"/>
                <a:ea typeface="+mj-ea"/>
              </a:rPr>
              <a:t>sp+24,</a:t>
            </a:r>
            <a:r>
              <a:rPr kumimoji="1" lang="zh-CN" altLang="en-US" sz="2200" b="1" dirty="0">
                <a:solidFill>
                  <a:schemeClr val="tx1"/>
                </a:solidFill>
                <a:latin typeface="+mn-lt"/>
                <a:ea typeface="+mj-ea"/>
              </a:rPr>
              <a:t> </a:t>
            </a:r>
            <a:r>
              <a:rPr kumimoji="1" lang="en-US" altLang="zh-CN" sz="2200" b="1" dirty="0">
                <a:solidFill>
                  <a:schemeClr val="tx1"/>
                </a:solidFill>
                <a:latin typeface="+mn-lt"/>
                <a:ea typeface="+mj-ea"/>
              </a:rPr>
              <a:t>……</a:t>
            </a:r>
            <a:endParaRPr kumimoji="1" lang="zh-CN" altLang="en-US" sz="2200" b="1" dirty="0">
              <a:solidFill>
                <a:schemeClr val="tx1"/>
              </a:solidFill>
              <a:latin typeface="+mn-lt"/>
              <a:ea typeface="+mj-ea"/>
            </a:endParaRPr>
          </a:p>
        </p:txBody>
      </p:sp>
      <p:pic>
        <p:nvPicPr>
          <p:cNvPr id="18" name="图片 17">
            <a:extLst>
              <a:ext uri="{FF2B5EF4-FFF2-40B4-BE49-F238E27FC236}">
                <a16:creationId xmlns:a16="http://schemas.microsoft.com/office/drawing/2014/main" id="{9D7B2C2E-E8F2-9948-B945-F3C142C5636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42598" y="1315544"/>
            <a:ext cx="2110950" cy="1479550"/>
          </a:xfrm>
          <a:prstGeom prst="rect">
            <a:avLst/>
          </a:prstGeom>
        </p:spPr>
      </p:pic>
      <p:cxnSp>
        <p:nvCxnSpPr>
          <p:cNvPr id="20" name="直线箭头连接符 19">
            <a:extLst>
              <a:ext uri="{FF2B5EF4-FFF2-40B4-BE49-F238E27FC236}">
                <a16:creationId xmlns:a16="http://schemas.microsoft.com/office/drawing/2014/main" id="{12FB2F7F-DC0B-4E4D-ACF0-8AB33EF626B2}"/>
              </a:ext>
            </a:extLst>
          </p:cNvPr>
          <p:cNvCxnSpPr>
            <a:cxnSpLocks/>
          </p:cNvCxnSpPr>
          <p:nvPr/>
        </p:nvCxnSpPr>
        <p:spPr>
          <a:xfrm flipH="1">
            <a:off x="4505333" y="1897401"/>
            <a:ext cx="1755648" cy="233485"/>
          </a:xfrm>
          <a:prstGeom prst="straightConnector1">
            <a:avLst/>
          </a:prstGeom>
          <a:ln w="508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 name="Title 4">
            <a:extLst>
              <a:ext uri="{FF2B5EF4-FFF2-40B4-BE49-F238E27FC236}">
                <a16:creationId xmlns:a16="http://schemas.microsoft.com/office/drawing/2014/main" id="{75ED8505-BE8C-02C7-4779-A14D43AD4B64}"/>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dirty="0"/>
              <a:t>编程指南：过程调用</a:t>
            </a:r>
            <a:endParaRPr lang="en-CN" kern="0" dirty="0"/>
          </a:p>
        </p:txBody>
      </p:sp>
    </p:spTree>
    <p:extLst>
      <p:ext uri="{BB962C8B-B14F-4D97-AF65-F5344CB8AC3E}">
        <p14:creationId xmlns:p14="http://schemas.microsoft.com/office/powerpoint/2010/main" val="2743153432"/>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FB90E21-5572-4C4B-A331-F833DEAAA9FF}"/>
              </a:ext>
            </a:extLst>
          </p:cNvPr>
          <p:cNvSpPr>
            <a:spLocks noGrp="1"/>
          </p:cNvSpPr>
          <p:nvPr>
            <p:ph type="sldNum" sz="quarter" idx="12"/>
          </p:nvPr>
        </p:nvSpPr>
        <p:spPr/>
        <p:txBody>
          <a:bodyPr/>
          <a:lstStyle/>
          <a:p>
            <a:fld id="{14659731-6BD7-46E7-8D3C-2F3AC07E20B1}" type="slidenum">
              <a:rPr lang="en-US" altLang="zh-CN" smtClean="0"/>
              <a:pPr/>
              <a:t>146</a:t>
            </a:fld>
            <a:endParaRPr lang="en-US" altLang="zh-CN"/>
          </a:p>
        </p:txBody>
      </p:sp>
      <p:pic>
        <p:nvPicPr>
          <p:cNvPr id="14" name="内容占位符 13">
            <a:extLst>
              <a:ext uri="{FF2B5EF4-FFF2-40B4-BE49-F238E27FC236}">
                <a16:creationId xmlns:a16="http://schemas.microsoft.com/office/drawing/2014/main" id="{D596ADD1-C87C-E44A-83AE-F54FD1CD368E}"/>
              </a:ext>
            </a:extLst>
          </p:cNvPr>
          <p:cNvPicPr>
            <a:picLocks noGrp="1" noChangeAspect="1"/>
          </p:cNvPicPr>
          <p:nvPr>
            <p:ph idx="4294967295"/>
          </p:nvPr>
        </p:nvPicPr>
        <p:blipFill>
          <a:blip r:embed="rId3">
            <a:extLst>
              <a:ext uri="{28A0092B-C50C-407E-A947-70E740481C1C}">
                <a14:useLocalDpi xmlns:a14="http://schemas.microsoft.com/office/drawing/2010/main" val="0"/>
              </a:ext>
            </a:extLst>
          </a:blip>
          <a:stretch>
            <a:fillRect/>
          </a:stretch>
        </p:blipFill>
        <p:spPr>
          <a:xfrm>
            <a:off x="223203" y="1371368"/>
            <a:ext cx="4100513" cy="5256213"/>
          </a:xfrm>
        </p:spPr>
      </p:pic>
      <p:sp>
        <p:nvSpPr>
          <p:cNvPr id="2" name="Title 4">
            <a:extLst>
              <a:ext uri="{FF2B5EF4-FFF2-40B4-BE49-F238E27FC236}">
                <a16:creationId xmlns:a16="http://schemas.microsoft.com/office/drawing/2014/main" id="{75ED8505-BE8C-02C7-4779-A14D43AD4B64}"/>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dirty="0"/>
              <a:t>编程指南：过程调用</a:t>
            </a:r>
            <a:endParaRPr lang="en-CN" kern="0" dirty="0"/>
          </a:p>
        </p:txBody>
      </p:sp>
      <p:sp>
        <p:nvSpPr>
          <p:cNvPr id="3" name="文本框 2">
            <a:extLst>
              <a:ext uri="{FF2B5EF4-FFF2-40B4-BE49-F238E27FC236}">
                <a16:creationId xmlns:a16="http://schemas.microsoft.com/office/drawing/2014/main" id="{C1F43B3C-3E07-B485-FEDC-9D6BF67B2CC6}"/>
              </a:ext>
            </a:extLst>
          </p:cNvPr>
          <p:cNvSpPr txBox="1"/>
          <p:nvPr/>
        </p:nvSpPr>
        <p:spPr>
          <a:xfrm>
            <a:off x="4502975" y="1371368"/>
            <a:ext cx="4417822" cy="5170646"/>
          </a:xfrm>
          <a:prstGeom prst="rect">
            <a:avLst/>
          </a:prstGeom>
          <a:noFill/>
        </p:spPr>
        <p:txBody>
          <a:bodyPr wrap="square" rtlCol="0">
            <a:spAutoFit/>
          </a:bodyPr>
          <a:lstStyle/>
          <a:p>
            <a:pPr algn="l"/>
            <a:r>
              <a:rPr kumimoji="1" lang="en-US" altLang="zh-CN" sz="2200" b="1" dirty="0">
                <a:solidFill>
                  <a:schemeClr val="tx1"/>
                </a:solidFill>
                <a:latin typeface="+mn-lt"/>
                <a:ea typeface="+mj-ea"/>
              </a:rPr>
              <a:t>2.</a:t>
            </a:r>
            <a:r>
              <a:rPr kumimoji="1" lang="zh-CN" altLang="en-US" sz="2200" b="1" dirty="0">
                <a:solidFill>
                  <a:schemeClr val="tx1"/>
                </a:solidFill>
                <a:latin typeface="+mn-lt"/>
                <a:ea typeface="+mj-ea"/>
              </a:rPr>
              <a:t> </a:t>
            </a:r>
            <a:r>
              <a:rPr kumimoji="1" lang="zh-CN" altLang="en-US" sz="2200" b="1" dirty="0">
                <a:solidFill>
                  <a:srgbClr val="0432FF"/>
                </a:solidFill>
                <a:latin typeface="+mn-lt"/>
                <a:ea typeface="+mj-ea"/>
              </a:rPr>
              <a:t>保存寄存器部分</a:t>
            </a:r>
            <a:r>
              <a:rPr kumimoji="1" lang="zh-CN" altLang="en-US" sz="2200" b="1" dirty="0">
                <a:solidFill>
                  <a:schemeClr val="tx1"/>
                </a:solidFill>
                <a:latin typeface="+mn-lt"/>
                <a:ea typeface="+mj-ea"/>
              </a:rPr>
              <a:t>：存储当前过程想要使用的任何保存寄存器</a:t>
            </a:r>
            <a:r>
              <a:rPr kumimoji="1" lang="en-US" altLang="zh-CN" sz="2200" b="1" dirty="0">
                <a:solidFill>
                  <a:schemeClr val="tx1"/>
                </a:solidFill>
                <a:latin typeface="+mn-lt"/>
                <a:ea typeface="+mj-ea"/>
              </a:rPr>
              <a:t>($s0</a:t>
            </a:r>
            <a:r>
              <a:rPr kumimoji="1" lang="zh-CN" altLang="en-US" sz="2200" b="1" dirty="0">
                <a:solidFill>
                  <a:schemeClr val="tx1"/>
                </a:solidFill>
                <a:latin typeface="+mn-lt"/>
                <a:ea typeface="+mj-ea"/>
              </a:rPr>
              <a:t>到</a:t>
            </a:r>
            <a:r>
              <a:rPr kumimoji="1" lang="en-US" altLang="zh-CN" sz="2200" b="1" dirty="0">
                <a:solidFill>
                  <a:schemeClr val="tx1"/>
                </a:solidFill>
                <a:latin typeface="+mn-lt"/>
                <a:ea typeface="+mj-ea"/>
              </a:rPr>
              <a:t>$s7)</a:t>
            </a:r>
            <a:r>
              <a:rPr kumimoji="1" lang="zh-CN" altLang="en-US" sz="2200" b="1" dirty="0">
                <a:solidFill>
                  <a:schemeClr val="tx1"/>
                </a:solidFill>
                <a:latin typeface="+mn-lt"/>
                <a:ea typeface="+mj-ea"/>
              </a:rPr>
              <a:t>的值。</a:t>
            </a:r>
            <a:endParaRPr kumimoji="1" lang="en-US" altLang="zh-CN" sz="2200" b="1" dirty="0">
              <a:solidFill>
                <a:schemeClr val="tx1"/>
              </a:solidFill>
              <a:latin typeface="+mn-lt"/>
              <a:ea typeface="+mj-ea"/>
            </a:endParaRPr>
          </a:p>
          <a:p>
            <a:pPr algn="l"/>
            <a:r>
              <a:rPr kumimoji="1" lang="zh-CN" altLang="en-US" sz="2200" b="1" dirty="0">
                <a:solidFill>
                  <a:schemeClr val="tx1"/>
                </a:solidFill>
                <a:latin typeface="+mn-lt"/>
                <a:ea typeface="+mj-ea"/>
              </a:rPr>
              <a:t>在进入当前过程时，将保存寄存器的值</a:t>
            </a:r>
            <a:r>
              <a:rPr kumimoji="1" lang="en-US" altLang="zh-CN" sz="2200" b="1" dirty="0">
                <a:solidFill>
                  <a:schemeClr val="tx1"/>
                </a:solidFill>
                <a:latin typeface="+mn-lt"/>
                <a:ea typeface="+mj-ea"/>
              </a:rPr>
              <a:t>($s0</a:t>
            </a:r>
            <a:r>
              <a:rPr kumimoji="1" lang="zh-CN" altLang="en-US" sz="2200" b="1" dirty="0">
                <a:solidFill>
                  <a:schemeClr val="tx1"/>
                </a:solidFill>
                <a:latin typeface="+mn-lt"/>
                <a:ea typeface="+mj-ea"/>
              </a:rPr>
              <a:t>到</a:t>
            </a:r>
            <a:r>
              <a:rPr kumimoji="1" lang="en-US" altLang="zh-CN" sz="2200" b="1" dirty="0">
                <a:solidFill>
                  <a:schemeClr val="tx1"/>
                </a:solidFill>
                <a:latin typeface="+mn-lt"/>
                <a:ea typeface="+mj-ea"/>
              </a:rPr>
              <a:t>$s7)</a:t>
            </a:r>
            <a:r>
              <a:rPr kumimoji="1" lang="zh-CN" altLang="en-US" sz="2200" b="1" dirty="0">
                <a:solidFill>
                  <a:schemeClr val="tx1"/>
                </a:solidFill>
                <a:latin typeface="+mn-lt"/>
                <a:ea typeface="+mj-ea"/>
              </a:rPr>
              <a:t>复制到这部分空间中，在执行该过程的过程中可能会更改这些寄存器的值。</a:t>
            </a:r>
            <a:endParaRPr kumimoji="1" lang="en-US" altLang="zh-CN" sz="2200" b="1" dirty="0">
              <a:solidFill>
                <a:schemeClr val="tx1"/>
              </a:solidFill>
              <a:latin typeface="+mn-lt"/>
              <a:ea typeface="+mj-ea"/>
            </a:endParaRPr>
          </a:p>
          <a:p>
            <a:pPr algn="l"/>
            <a:r>
              <a:rPr kumimoji="1" lang="zh-CN" altLang="en-US" sz="2200" b="1" dirty="0">
                <a:solidFill>
                  <a:schemeClr val="tx1"/>
                </a:solidFill>
                <a:latin typeface="+mn-lt"/>
                <a:ea typeface="+mj-ea"/>
              </a:rPr>
              <a:t>就在过程返回之前，它将这些值从栈中复制回原始的保存寄存器。在这期间，当前过程可以随意更改保存寄存器的值。但是当该过程调用结束，保存寄存器的值将变成和调用该过程前相同。</a:t>
            </a:r>
            <a:endParaRPr kumimoji="1" lang="en-US" altLang="zh-CN" sz="2200" b="1" dirty="0">
              <a:solidFill>
                <a:schemeClr val="tx1"/>
              </a:solidFill>
              <a:latin typeface="+mn-lt"/>
              <a:ea typeface="+mj-ea"/>
            </a:endParaRPr>
          </a:p>
          <a:p>
            <a:pPr algn="l"/>
            <a:r>
              <a:rPr kumimoji="1" lang="zh-CN" altLang="en-US" sz="2200" b="1" dirty="0">
                <a:solidFill>
                  <a:schemeClr val="tx1"/>
                </a:solidFill>
                <a:latin typeface="+mn-lt"/>
                <a:ea typeface="+mj-ea"/>
              </a:rPr>
              <a:t>作用是保证保存寄存器的值不被过程修改</a:t>
            </a:r>
          </a:p>
        </p:txBody>
      </p:sp>
    </p:spTree>
    <p:extLst>
      <p:ext uri="{BB962C8B-B14F-4D97-AF65-F5344CB8AC3E}">
        <p14:creationId xmlns:p14="http://schemas.microsoft.com/office/powerpoint/2010/main" val="1085562477"/>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FB90E21-5572-4C4B-A331-F833DEAAA9FF}"/>
              </a:ext>
            </a:extLst>
          </p:cNvPr>
          <p:cNvSpPr>
            <a:spLocks noGrp="1"/>
          </p:cNvSpPr>
          <p:nvPr>
            <p:ph type="sldNum" sz="quarter" idx="12"/>
          </p:nvPr>
        </p:nvSpPr>
        <p:spPr/>
        <p:txBody>
          <a:bodyPr/>
          <a:lstStyle/>
          <a:p>
            <a:fld id="{14659731-6BD7-46E7-8D3C-2F3AC07E20B1}" type="slidenum">
              <a:rPr lang="en-US" altLang="zh-CN" smtClean="0"/>
              <a:pPr/>
              <a:t>147</a:t>
            </a:fld>
            <a:endParaRPr lang="en-US" altLang="zh-CN"/>
          </a:p>
        </p:txBody>
      </p:sp>
      <p:pic>
        <p:nvPicPr>
          <p:cNvPr id="14" name="内容占位符 13">
            <a:extLst>
              <a:ext uri="{FF2B5EF4-FFF2-40B4-BE49-F238E27FC236}">
                <a16:creationId xmlns:a16="http://schemas.microsoft.com/office/drawing/2014/main" id="{D596ADD1-C87C-E44A-83AE-F54FD1CD368E}"/>
              </a:ext>
            </a:extLst>
          </p:cNvPr>
          <p:cNvPicPr>
            <a:picLocks noGrp="1" noChangeAspect="1"/>
          </p:cNvPicPr>
          <p:nvPr>
            <p:ph idx="4294967295"/>
          </p:nvPr>
        </p:nvPicPr>
        <p:blipFill>
          <a:blip r:embed="rId3">
            <a:extLst>
              <a:ext uri="{28A0092B-C50C-407E-A947-70E740481C1C}">
                <a14:useLocalDpi xmlns:a14="http://schemas.microsoft.com/office/drawing/2010/main" val="0"/>
              </a:ext>
            </a:extLst>
          </a:blip>
          <a:stretch>
            <a:fillRect/>
          </a:stretch>
        </p:blipFill>
        <p:spPr>
          <a:xfrm>
            <a:off x="223203" y="1371368"/>
            <a:ext cx="4100513" cy="5256213"/>
          </a:xfrm>
        </p:spPr>
      </p:pic>
      <p:sp>
        <p:nvSpPr>
          <p:cNvPr id="2" name="Title 4">
            <a:extLst>
              <a:ext uri="{FF2B5EF4-FFF2-40B4-BE49-F238E27FC236}">
                <a16:creationId xmlns:a16="http://schemas.microsoft.com/office/drawing/2014/main" id="{75ED8505-BE8C-02C7-4779-A14D43AD4B64}"/>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dirty="0"/>
              <a:t>编程指南：过程调用</a:t>
            </a:r>
            <a:endParaRPr lang="en-CN" kern="0" dirty="0"/>
          </a:p>
        </p:txBody>
      </p:sp>
      <p:sp>
        <p:nvSpPr>
          <p:cNvPr id="3" name="文本框 2">
            <a:extLst>
              <a:ext uri="{FF2B5EF4-FFF2-40B4-BE49-F238E27FC236}">
                <a16:creationId xmlns:a16="http://schemas.microsoft.com/office/drawing/2014/main" id="{A2F88982-0C2F-A4AD-8784-1561CD120C6E}"/>
              </a:ext>
            </a:extLst>
          </p:cNvPr>
          <p:cNvSpPr txBox="1"/>
          <p:nvPr/>
        </p:nvSpPr>
        <p:spPr>
          <a:xfrm>
            <a:off x="4820286" y="1625620"/>
            <a:ext cx="4100450" cy="2123658"/>
          </a:xfrm>
          <a:prstGeom prst="rect">
            <a:avLst/>
          </a:prstGeom>
          <a:noFill/>
        </p:spPr>
        <p:txBody>
          <a:bodyPr wrap="square" rtlCol="0">
            <a:spAutoFit/>
          </a:bodyPr>
          <a:lstStyle/>
          <a:p>
            <a:pPr algn="l"/>
            <a:r>
              <a:rPr kumimoji="1" lang="en-US" altLang="zh-CN" sz="2200" b="1" dirty="0">
                <a:solidFill>
                  <a:schemeClr val="tx1"/>
                </a:solidFill>
                <a:latin typeface="+mn-lt"/>
                <a:ea typeface="+mj-ea"/>
              </a:rPr>
              <a:t>3.</a:t>
            </a:r>
            <a:r>
              <a:rPr kumimoji="1" lang="zh-CN" altLang="en-US" sz="2200" b="1" dirty="0">
                <a:solidFill>
                  <a:schemeClr val="tx1"/>
                </a:solidFill>
                <a:latin typeface="+mn-lt"/>
                <a:ea typeface="+mj-ea"/>
              </a:rPr>
              <a:t> </a:t>
            </a:r>
            <a:r>
              <a:rPr kumimoji="1" lang="zh-CN" altLang="en-US" sz="2200" b="1" dirty="0">
                <a:solidFill>
                  <a:srgbClr val="0432FF"/>
                </a:solidFill>
                <a:latin typeface="+mn-lt"/>
                <a:ea typeface="+mj-ea"/>
              </a:rPr>
              <a:t>返回地址部分</a:t>
            </a:r>
            <a:r>
              <a:rPr kumimoji="1" lang="zh-CN" altLang="en-US" sz="2200" b="1" dirty="0">
                <a:solidFill>
                  <a:schemeClr val="tx1"/>
                </a:solidFill>
                <a:latin typeface="+mn-lt"/>
                <a:ea typeface="+mj-ea"/>
              </a:rPr>
              <a:t>：用于存储返回地址寄存器</a:t>
            </a:r>
            <a:r>
              <a:rPr kumimoji="1" lang="en-US" altLang="zh-CN" sz="2200" b="1" dirty="0">
                <a:solidFill>
                  <a:schemeClr val="tx1"/>
                </a:solidFill>
                <a:latin typeface="+mn-lt"/>
                <a:ea typeface="+mj-ea"/>
              </a:rPr>
              <a:t>$</a:t>
            </a:r>
            <a:r>
              <a:rPr kumimoji="1" lang="en-US" altLang="zh-CN" sz="2200" b="1" dirty="0" err="1">
                <a:solidFill>
                  <a:schemeClr val="tx1"/>
                </a:solidFill>
                <a:latin typeface="+mn-lt"/>
                <a:ea typeface="+mj-ea"/>
              </a:rPr>
              <a:t>ra</a:t>
            </a:r>
            <a:r>
              <a:rPr kumimoji="1" lang="zh-CN" altLang="en-US" sz="2200" b="1" dirty="0">
                <a:solidFill>
                  <a:schemeClr val="tx1"/>
                </a:solidFill>
                <a:latin typeface="+mn-lt"/>
                <a:ea typeface="+mj-ea"/>
              </a:rPr>
              <a:t>的值。</a:t>
            </a:r>
            <a:endParaRPr kumimoji="1" lang="en-US" altLang="zh-CN" sz="2200" b="1" dirty="0">
              <a:solidFill>
                <a:schemeClr val="tx1"/>
              </a:solidFill>
              <a:latin typeface="+mn-lt"/>
              <a:ea typeface="+mj-ea"/>
            </a:endParaRPr>
          </a:p>
          <a:p>
            <a:pPr algn="l"/>
            <a:r>
              <a:rPr kumimoji="1" lang="zh-CN" altLang="en-US" sz="2200" b="1" dirty="0">
                <a:solidFill>
                  <a:schemeClr val="tx1"/>
                </a:solidFill>
                <a:latin typeface="+mn-lt"/>
                <a:ea typeface="+mj-ea"/>
              </a:rPr>
              <a:t>此值在当前过程执行开始时复制到栈中，并在当前过程返回之前复制回</a:t>
            </a:r>
            <a:r>
              <a:rPr kumimoji="1" lang="en-US" altLang="zh-CN" sz="2200" b="1" dirty="0">
                <a:solidFill>
                  <a:schemeClr val="tx1"/>
                </a:solidFill>
                <a:latin typeface="+mn-lt"/>
                <a:ea typeface="+mj-ea"/>
              </a:rPr>
              <a:t>$</a:t>
            </a:r>
            <a:r>
              <a:rPr kumimoji="1" lang="en-US" altLang="zh-CN" sz="2200" b="1" dirty="0" err="1">
                <a:solidFill>
                  <a:schemeClr val="tx1"/>
                </a:solidFill>
                <a:latin typeface="+mn-lt"/>
                <a:ea typeface="+mj-ea"/>
              </a:rPr>
              <a:t>ra</a:t>
            </a:r>
            <a:r>
              <a:rPr kumimoji="1" lang="zh-CN" altLang="en-US" sz="2200" b="1" dirty="0">
                <a:solidFill>
                  <a:schemeClr val="tx1"/>
                </a:solidFill>
                <a:latin typeface="+mn-lt"/>
                <a:ea typeface="+mj-ea"/>
              </a:rPr>
              <a:t>寄存器。</a:t>
            </a:r>
            <a:endParaRPr kumimoji="1" lang="en-US" altLang="zh-CN" sz="2200" b="1" dirty="0">
              <a:solidFill>
                <a:schemeClr val="tx1"/>
              </a:solidFill>
              <a:latin typeface="+mn-lt"/>
              <a:ea typeface="+mj-ea"/>
            </a:endParaRPr>
          </a:p>
          <a:p>
            <a:pPr algn="l"/>
            <a:r>
              <a:rPr kumimoji="1" lang="zh-CN" altLang="en-US" sz="2200" b="1" dirty="0">
                <a:solidFill>
                  <a:schemeClr val="tx1"/>
                </a:solidFill>
                <a:latin typeface="+mn-lt"/>
                <a:ea typeface="+mj-ea"/>
              </a:rPr>
              <a:t>作用是保存该过程的返回地址</a:t>
            </a:r>
          </a:p>
        </p:txBody>
      </p:sp>
    </p:spTree>
    <p:extLst>
      <p:ext uri="{BB962C8B-B14F-4D97-AF65-F5344CB8AC3E}">
        <p14:creationId xmlns:p14="http://schemas.microsoft.com/office/powerpoint/2010/main" val="235096266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FB90E21-5572-4C4B-A331-F833DEAAA9FF}"/>
              </a:ext>
            </a:extLst>
          </p:cNvPr>
          <p:cNvSpPr>
            <a:spLocks noGrp="1"/>
          </p:cNvSpPr>
          <p:nvPr>
            <p:ph type="sldNum" sz="quarter" idx="12"/>
          </p:nvPr>
        </p:nvSpPr>
        <p:spPr/>
        <p:txBody>
          <a:bodyPr/>
          <a:lstStyle/>
          <a:p>
            <a:fld id="{14659731-6BD7-46E7-8D3C-2F3AC07E20B1}" type="slidenum">
              <a:rPr lang="en-US" altLang="zh-CN" smtClean="0"/>
              <a:pPr/>
              <a:t>148</a:t>
            </a:fld>
            <a:endParaRPr lang="en-US" altLang="zh-CN"/>
          </a:p>
        </p:txBody>
      </p:sp>
      <p:pic>
        <p:nvPicPr>
          <p:cNvPr id="14" name="内容占位符 13">
            <a:extLst>
              <a:ext uri="{FF2B5EF4-FFF2-40B4-BE49-F238E27FC236}">
                <a16:creationId xmlns:a16="http://schemas.microsoft.com/office/drawing/2014/main" id="{D596ADD1-C87C-E44A-83AE-F54FD1CD368E}"/>
              </a:ext>
            </a:extLst>
          </p:cNvPr>
          <p:cNvPicPr>
            <a:picLocks noGrp="1" noChangeAspect="1"/>
          </p:cNvPicPr>
          <p:nvPr>
            <p:ph idx="4294967295"/>
          </p:nvPr>
        </p:nvPicPr>
        <p:blipFill>
          <a:blip r:embed="rId3">
            <a:extLst>
              <a:ext uri="{28A0092B-C50C-407E-A947-70E740481C1C}">
                <a14:useLocalDpi xmlns:a14="http://schemas.microsoft.com/office/drawing/2010/main" val="0"/>
              </a:ext>
            </a:extLst>
          </a:blip>
          <a:stretch>
            <a:fillRect/>
          </a:stretch>
        </p:blipFill>
        <p:spPr>
          <a:xfrm>
            <a:off x="223203" y="1371368"/>
            <a:ext cx="4100513" cy="5256213"/>
          </a:xfrm>
        </p:spPr>
      </p:pic>
      <p:sp>
        <p:nvSpPr>
          <p:cNvPr id="2" name="Title 4">
            <a:extLst>
              <a:ext uri="{FF2B5EF4-FFF2-40B4-BE49-F238E27FC236}">
                <a16:creationId xmlns:a16="http://schemas.microsoft.com/office/drawing/2014/main" id="{75ED8505-BE8C-02C7-4779-A14D43AD4B64}"/>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dirty="0"/>
              <a:t>编程指南：过程调用</a:t>
            </a:r>
            <a:endParaRPr lang="en-CN" kern="0" dirty="0"/>
          </a:p>
        </p:txBody>
      </p:sp>
      <p:sp>
        <p:nvSpPr>
          <p:cNvPr id="3" name="文本框 2">
            <a:extLst>
              <a:ext uri="{FF2B5EF4-FFF2-40B4-BE49-F238E27FC236}">
                <a16:creationId xmlns:a16="http://schemas.microsoft.com/office/drawing/2014/main" id="{33C26A9A-6FF0-B5D2-E094-F211FDF7E6BA}"/>
              </a:ext>
            </a:extLst>
          </p:cNvPr>
          <p:cNvSpPr txBox="1"/>
          <p:nvPr/>
        </p:nvSpPr>
        <p:spPr>
          <a:xfrm>
            <a:off x="4731316" y="1468086"/>
            <a:ext cx="4100450" cy="1785104"/>
          </a:xfrm>
          <a:prstGeom prst="rect">
            <a:avLst/>
          </a:prstGeom>
          <a:noFill/>
        </p:spPr>
        <p:txBody>
          <a:bodyPr wrap="square" rtlCol="0">
            <a:spAutoFit/>
          </a:bodyPr>
          <a:lstStyle/>
          <a:p>
            <a:pPr algn="l"/>
            <a:r>
              <a:rPr kumimoji="1" lang="en-US" altLang="zh-CN" sz="2200" b="1" dirty="0">
                <a:solidFill>
                  <a:schemeClr val="tx1"/>
                </a:solidFill>
                <a:latin typeface="+mn-lt"/>
                <a:ea typeface="+mj-ea"/>
              </a:rPr>
              <a:t>4.</a:t>
            </a:r>
            <a:r>
              <a:rPr kumimoji="1" lang="zh-CN" altLang="en-US" sz="2200" b="1" dirty="0">
                <a:solidFill>
                  <a:srgbClr val="0432FF"/>
                </a:solidFill>
                <a:latin typeface="+mn-lt"/>
                <a:ea typeface="+mj-ea"/>
              </a:rPr>
              <a:t> 空白部分</a:t>
            </a:r>
            <a:r>
              <a:rPr kumimoji="1" lang="zh-CN" altLang="en-US" sz="2200" b="1" dirty="0">
                <a:solidFill>
                  <a:schemeClr val="tx1"/>
                </a:solidFill>
                <a:latin typeface="+mn-lt"/>
                <a:ea typeface="+mj-ea"/>
              </a:rPr>
              <a:t>：</a:t>
            </a:r>
            <a:r>
              <a:rPr kumimoji="1" lang="en-US" altLang="zh-CN" sz="2200" b="1" dirty="0">
                <a:solidFill>
                  <a:schemeClr val="tx1"/>
                </a:solidFill>
                <a:latin typeface="+mn-lt"/>
                <a:ea typeface="+mj-ea"/>
              </a:rPr>
              <a:t> </a:t>
            </a:r>
            <a:r>
              <a:rPr kumimoji="1" lang="zh-CN" altLang="en-US" sz="2200" b="1" dirty="0">
                <a:solidFill>
                  <a:schemeClr val="tx1"/>
                </a:solidFill>
                <a:latin typeface="+mn-lt"/>
                <a:ea typeface="+mj-ea"/>
              </a:rPr>
              <a:t>在栈中插入空白，以确保栈的大小总是</a:t>
            </a:r>
            <a:r>
              <a:rPr kumimoji="1" lang="en-US" altLang="zh-CN" sz="2200" b="1" dirty="0">
                <a:solidFill>
                  <a:schemeClr val="tx1"/>
                </a:solidFill>
                <a:latin typeface="+mn-lt"/>
                <a:ea typeface="+mj-ea"/>
              </a:rPr>
              <a:t>8</a:t>
            </a:r>
            <a:r>
              <a:rPr kumimoji="1" lang="zh-CN" altLang="en-US" sz="2200" b="1" dirty="0">
                <a:solidFill>
                  <a:schemeClr val="tx1"/>
                </a:solidFill>
                <a:latin typeface="+mn-lt"/>
                <a:ea typeface="+mj-ea"/>
              </a:rPr>
              <a:t>的倍数。它被插入到这里，以确保本地数据存储区域从双字节边界开始。</a:t>
            </a:r>
          </a:p>
        </p:txBody>
      </p:sp>
    </p:spTree>
    <p:extLst>
      <p:ext uri="{BB962C8B-B14F-4D97-AF65-F5344CB8AC3E}">
        <p14:creationId xmlns:p14="http://schemas.microsoft.com/office/powerpoint/2010/main" val="3203310808"/>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FB90E21-5572-4C4B-A331-F833DEAAA9FF}"/>
              </a:ext>
            </a:extLst>
          </p:cNvPr>
          <p:cNvSpPr>
            <a:spLocks noGrp="1"/>
          </p:cNvSpPr>
          <p:nvPr>
            <p:ph type="sldNum" sz="quarter" idx="12"/>
          </p:nvPr>
        </p:nvSpPr>
        <p:spPr/>
        <p:txBody>
          <a:bodyPr/>
          <a:lstStyle/>
          <a:p>
            <a:fld id="{14659731-6BD7-46E7-8D3C-2F3AC07E20B1}" type="slidenum">
              <a:rPr lang="en-US" altLang="zh-CN" smtClean="0"/>
              <a:pPr/>
              <a:t>149</a:t>
            </a:fld>
            <a:endParaRPr lang="en-US" altLang="zh-CN"/>
          </a:p>
        </p:txBody>
      </p:sp>
      <p:pic>
        <p:nvPicPr>
          <p:cNvPr id="14" name="内容占位符 13">
            <a:extLst>
              <a:ext uri="{FF2B5EF4-FFF2-40B4-BE49-F238E27FC236}">
                <a16:creationId xmlns:a16="http://schemas.microsoft.com/office/drawing/2014/main" id="{D596ADD1-C87C-E44A-83AE-F54FD1CD368E}"/>
              </a:ext>
            </a:extLst>
          </p:cNvPr>
          <p:cNvPicPr>
            <a:picLocks noGrp="1" noChangeAspect="1"/>
          </p:cNvPicPr>
          <p:nvPr>
            <p:ph idx="4294967295"/>
          </p:nvPr>
        </p:nvPicPr>
        <p:blipFill>
          <a:blip r:embed="rId3">
            <a:extLst>
              <a:ext uri="{28A0092B-C50C-407E-A947-70E740481C1C}">
                <a14:useLocalDpi xmlns:a14="http://schemas.microsoft.com/office/drawing/2010/main" val="0"/>
              </a:ext>
            </a:extLst>
          </a:blip>
          <a:stretch>
            <a:fillRect/>
          </a:stretch>
        </p:blipFill>
        <p:spPr>
          <a:xfrm>
            <a:off x="223203" y="1371368"/>
            <a:ext cx="4100513" cy="5256213"/>
          </a:xfrm>
        </p:spPr>
      </p:pic>
      <p:sp>
        <p:nvSpPr>
          <p:cNvPr id="2" name="Title 4">
            <a:extLst>
              <a:ext uri="{FF2B5EF4-FFF2-40B4-BE49-F238E27FC236}">
                <a16:creationId xmlns:a16="http://schemas.microsoft.com/office/drawing/2014/main" id="{75ED8505-BE8C-02C7-4779-A14D43AD4B64}"/>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dirty="0"/>
              <a:t>编程指南：过程调用</a:t>
            </a:r>
            <a:endParaRPr lang="en-CN" kern="0" dirty="0"/>
          </a:p>
        </p:txBody>
      </p:sp>
      <p:sp>
        <p:nvSpPr>
          <p:cNvPr id="5" name="文本框 4">
            <a:extLst>
              <a:ext uri="{FF2B5EF4-FFF2-40B4-BE49-F238E27FC236}">
                <a16:creationId xmlns:a16="http://schemas.microsoft.com/office/drawing/2014/main" id="{95634C0B-43CE-549B-1E61-8A1D189172CF}"/>
              </a:ext>
            </a:extLst>
          </p:cNvPr>
          <p:cNvSpPr txBox="1"/>
          <p:nvPr/>
        </p:nvSpPr>
        <p:spPr>
          <a:xfrm>
            <a:off x="4708774" y="1479237"/>
            <a:ext cx="4100450" cy="3139321"/>
          </a:xfrm>
          <a:prstGeom prst="rect">
            <a:avLst/>
          </a:prstGeom>
          <a:noFill/>
        </p:spPr>
        <p:txBody>
          <a:bodyPr wrap="square" rtlCol="0">
            <a:spAutoFit/>
          </a:bodyPr>
          <a:lstStyle/>
          <a:p>
            <a:pPr algn="l"/>
            <a:r>
              <a:rPr kumimoji="1" lang="en-US" altLang="zh-CN" sz="2200" b="1" dirty="0">
                <a:solidFill>
                  <a:schemeClr val="tx1"/>
                </a:solidFill>
                <a:latin typeface="+mn-lt"/>
                <a:ea typeface="+mj-ea"/>
              </a:rPr>
              <a:t>5.</a:t>
            </a:r>
            <a:r>
              <a:rPr kumimoji="1" lang="zh-CN" altLang="en-US" sz="2200" b="1" dirty="0">
                <a:solidFill>
                  <a:schemeClr val="tx1"/>
                </a:solidFill>
                <a:latin typeface="+mn-lt"/>
                <a:ea typeface="+mj-ea"/>
              </a:rPr>
              <a:t> </a:t>
            </a:r>
            <a:r>
              <a:rPr kumimoji="1" lang="zh-CN" altLang="en-US" sz="2200" b="1" dirty="0">
                <a:solidFill>
                  <a:srgbClr val="0432FF"/>
                </a:solidFill>
                <a:latin typeface="+mn-lt"/>
                <a:ea typeface="+mj-ea"/>
              </a:rPr>
              <a:t>本地数据部分</a:t>
            </a:r>
            <a:r>
              <a:rPr kumimoji="1" lang="zh-CN" altLang="en-US" sz="2200" b="1" dirty="0">
                <a:solidFill>
                  <a:schemeClr val="tx1"/>
                </a:solidFill>
                <a:latin typeface="+mn-lt"/>
                <a:ea typeface="+mj-ea"/>
              </a:rPr>
              <a:t>：用于本地变量存储。当前过程必须在此区域为其所有本地数据保留足够的存储字，包括存储任何临时寄存器值的空间</a:t>
            </a:r>
            <a:r>
              <a:rPr kumimoji="1" lang="en-US" altLang="zh-CN" sz="2200" b="1" dirty="0">
                <a:solidFill>
                  <a:schemeClr val="tx1"/>
                </a:solidFill>
                <a:latin typeface="+mn-lt"/>
                <a:ea typeface="+mj-ea"/>
              </a:rPr>
              <a:t>($t0</a:t>
            </a:r>
            <a:r>
              <a:rPr kumimoji="1" lang="zh-CN" altLang="en-US" sz="2200" b="1" dirty="0">
                <a:solidFill>
                  <a:schemeClr val="tx1"/>
                </a:solidFill>
                <a:latin typeface="+mn-lt"/>
                <a:ea typeface="+mj-ea"/>
              </a:rPr>
              <a:t>到</a:t>
            </a:r>
            <a:r>
              <a:rPr kumimoji="1" lang="en-US" altLang="zh-CN" sz="2200" b="1" dirty="0">
                <a:solidFill>
                  <a:schemeClr val="tx1"/>
                </a:solidFill>
                <a:latin typeface="+mn-lt"/>
                <a:ea typeface="+mj-ea"/>
              </a:rPr>
              <a:t>$t9)</a:t>
            </a:r>
            <a:r>
              <a:rPr kumimoji="1" lang="zh-CN" altLang="en-US" sz="2200" b="1" dirty="0">
                <a:solidFill>
                  <a:schemeClr val="tx1"/>
                </a:solidFill>
                <a:latin typeface="+mn-lt"/>
                <a:ea typeface="+mj-ea"/>
              </a:rPr>
              <a:t>，它需要在该过程调用期间保留这些值。还必须填充本地数据存储区域，使其大小总是</a:t>
            </a:r>
            <a:r>
              <a:rPr kumimoji="1" lang="en-US" altLang="zh-CN" sz="2200" b="1" dirty="0">
                <a:solidFill>
                  <a:schemeClr val="tx1"/>
                </a:solidFill>
                <a:latin typeface="+mn-lt"/>
                <a:ea typeface="+mj-ea"/>
              </a:rPr>
              <a:t>8</a:t>
            </a:r>
            <a:r>
              <a:rPr kumimoji="1" lang="zh-CN" altLang="en-US" sz="2200" b="1" dirty="0">
                <a:solidFill>
                  <a:schemeClr val="tx1"/>
                </a:solidFill>
                <a:latin typeface="+mn-lt"/>
                <a:ea typeface="+mj-ea"/>
              </a:rPr>
              <a:t>字节的倍数。</a:t>
            </a:r>
          </a:p>
        </p:txBody>
      </p:sp>
    </p:spTree>
    <p:extLst>
      <p:ext uri="{BB962C8B-B14F-4D97-AF65-F5344CB8AC3E}">
        <p14:creationId xmlns:p14="http://schemas.microsoft.com/office/powerpoint/2010/main" val="1848509161"/>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017EE2BB-A762-124A-A021-04A74C54D3C5}"/>
              </a:ext>
            </a:extLst>
          </p:cNvPr>
          <p:cNvSpPr>
            <a:spLocks noGrp="1"/>
          </p:cNvSpPr>
          <p:nvPr>
            <p:ph type="sldNum" sz="quarter" idx="12"/>
          </p:nvPr>
        </p:nvSpPr>
        <p:spPr/>
        <p:txBody>
          <a:bodyPr/>
          <a:lstStyle/>
          <a:p>
            <a:fld id="{14659731-6BD7-46E7-8D3C-2F3AC07E20B1}" type="slidenum">
              <a:rPr lang="en-US" altLang="zh-CN" smtClean="0"/>
              <a:pPr/>
              <a:t>150</a:t>
            </a:fld>
            <a:endParaRPr lang="en-US" altLang="zh-CN"/>
          </a:p>
        </p:txBody>
      </p:sp>
      <p:sp>
        <p:nvSpPr>
          <p:cNvPr id="3" name="内容占位符 2">
            <a:extLst>
              <a:ext uri="{FF2B5EF4-FFF2-40B4-BE49-F238E27FC236}">
                <a16:creationId xmlns:a16="http://schemas.microsoft.com/office/drawing/2014/main" id="{A9EDA526-C90E-A641-BD98-048C31C7794F}"/>
              </a:ext>
            </a:extLst>
          </p:cNvPr>
          <p:cNvSpPr>
            <a:spLocks noGrp="1"/>
          </p:cNvSpPr>
          <p:nvPr>
            <p:ph idx="4294967295"/>
          </p:nvPr>
        </p:nvSpPr>
        <p:spPr>
          <a:xfrm>
            <a:off x="457199" y="1379576"/>
            <a:ext cx="8229599" cy="4586326"/>
          </a:xfrm>
        </p:spPr>
        <p:txBody>
          <a:bodyPr/>
          <a:lstStyle/>
          <a:p>
            <a:r>
              <a:rPr kumimoji="1" lang="zh-CN" altLang="en-US" sz="2400" dirty="0"/>
              <a:t>额外的规则：</a:t>
            </a:r>
            <a:endParaRPr kumimoji="1" lang="en-US" altLang="zh-CN" sz="2400" dirty="0"/>
          </a:p>
          <a:p>
            <a:r>
              <a:rPr kumimoji="1" lang="zh-CN" altLang="en-US" sz="2400" dirty="0">
                <a:solidFill>
                  <a:srgbClr val="0432FF"/>
                </a:solidFill>
              </a:rPr>
              <a:t>栈指针的值必须在任何时候都是</a:t>
            </a:r>
            <a:r>
              <a:rPr kumimoji="1" lang="en-US" altLang="zh-CN" sz="2400" dirty="0">
                <a:solidFill>
                  <a:srgbClr val="0432FF"/>
                </a:solidFill>
              </a:rPr>
              <a:t>8</a:t>
            </a:r>
            <a:r>
              <a:rPr kumimoji="1" lang="zh-CN" altLang="en-US" sz="2400" dirty="0">
                <a:solidFill>
                  <a:srgbClr val="0432FF"/>
                </a:solidFill>
              </a:rPr>
              <a:t>的倍数</a:t>
            </a:r>
            <a:r>
              <a:rPr kumimoji="1" lang="zh-CN" altLang="en-US" sz="2400" dirty="0"/>
              <a:t>。这确保可以将</a:t>
            </a:r>
            <a:r>
              <a:rPr kumimoji="1" lang="en-US" altLang="zh-CN" sz="2400" dirty="0"/>
              <a:t>64</a:t>
            </a:r>
            <a:r>
              <a:rPr kumimoji="1" lang="zh-CN" altLang="en-US" sz="2400" dirty="0"/>
              <a:t>位数据对象入栈，而不会在运行时产生地址对齐错误。这意味着每个栈帧的大小必须是</a:t>
            </a:r>
            <a:r>
              <a:rPr kumimoji="1" lang="en-US" altLang="zh-CN" sz="2400" dirty="0"/>
              <a:t>8</a:t>
            </a:r>
            <a:r>
              <a:rPr kumimoji="1" lang="zh-CN" altLang="en-US" sz="2400" dirty="0"/>
              <a:t>的倍数。</a:t>
            </a:r>
            <a:endParaRPr kumimoji="1" lang="en-US" altLang="zh-CN" sz="2400" dirty="0"/>
          </a:p>
          <a:p>
            <a:r>
              <a:rPr kumimoji="1" lang="zh-CN" altLang="en-US" sz="2400" dirty="0"/>
              <a:t>参数寄存器</a:t>
            </a:r>
            <a:r>
              <a:rPr kumimoji="1" lang="en-US" altLang="zh-CN" sz="2400" dirty="0"/>
              <a:t>$a0-$a3</a:t>
            </a:r>
            <a:r>
              <a:rPr kumimoji="1" lang="zh-CN" altLang="en-US" sz="2400" dirty="0"/>
              <a:t>的值在过程调用中不需要保留。因此，允许过程更改任何参数寄存器的值，而不保存</a:t>
            </a:r>
            <a:r>
              <a:rPr kumimoji="1" lang="en-US" altLang="zh-CN" sz="2400" dirty="0"/>
              <a:t>/</a:t>
            </a:r>
            <a:r>
              <a:rPr kumimoji="1" lang="zh-CN" altLang="en-US" sz="2400" dirty="0"/>
              <a:t>恢复它们。</a:t>
            </a:r>
          </a:p>
          <a:p>
            <a:r>
              <a:rPr kumimoji="1" lang="zh-CN" altLang="en-US" sz="2400" dirty="0"/>
              <a:t>栈帧的参数部分的前四个字节被称为参数槽</a:t>
            </a:r>
            <a:r>
              <a:rPr kumimoji="1" lang="en-US" altLang="zh-CN" sz="2400" dirty="0"/>
              <a:t>——</a:t>
            </a:r>
            <a:r>
              <a:rPr kumimoji="1" lang="zh-CN" altLang="en-US" sz="2400" dirty="0"/>
              <a:t>用来存储四个参数</a:t>
            </a:r>
            <a:r>
              <a:rPr kumimoji="1" lang="en-US" altLang="zh-CN" sz="2400" dirty="0"/>
              <a:t>$a0-$a3</a:t>
            </a:r>
            <a:r>
              <a:rPr kumimoji="1" lang="zh-CN" altLang="en-US" sz="2400" dirty="0"/>
              <a:t>。值得注意的是，一个主调过程不会在前四个参数槽中存储任何内容，实际的参数以</a:t>
            </a:r>
            <a:r>
              <a:rPr kumimoji="1" lang="en-US" altLang="zh-CN" sz="2400" dirty="0"/>
              <a:t>$a0</a:t>
            </a:r>
            <a:r>
              <a:rPr kumimoji="1" lang="zh-CN" altLang="en-US" sz="2400" dirty="0"/>
              <a:t>到</a:t>
            </a:r>
            <a:r>
              <a:rPr kumimoji="1" lang="en-US" altLang="zh-CN" sz="2400" dirty="0"/>
              <a:t>$a3</a:t>
            </a:r>
            <a:r>
              <a:rPr kumimoji="1" lang="zh-CN" altLang="en-US" sz="2400" dirty="0"/>
              <a:t>的形式传递。但是，被调用的子过程如果想保存参数寄存器的值，可以选择将</a:t>
            </a:r>
            <a:r>
              <a:rPr kumimoji="1" lang="en-US" altLang="zh-CN" sz="2400" dirty="0"/>
              <a:t>$a0</a:t>
            </a:r>
            <a:r>
              <a:rPr kumimoji="1" lang="zh-CN" altLang="en-US" sz="2400" dirty="0"/>
              <a:t>到</a:t>
            </a:r>
            <a:r>
              <a:rPr kumimoji="1" lang="en-US" altLang="zh-CN" sz="2400" dirty="0"/>
              <a:t>$a3</a:t>
            </a:r>
            <a:r>
              <a:rPr kumimoji="1" lang="zh-CN" altLang="en-US" sz="2400" dirty="0"/>
              <a:t>的值复制到参数槽中。</a:t>
            </a:r>
            <a:endParaRPr kumimoji="1" lang="en-US" altLang="zh-CN" sz="2400" dirty="0"/>
          </a:p>
        </p:txBody>
      </p:sp>
      <p:sp>
        <p:nvSpPr>
          <p:cNvPr id="2" name="Title 4">
            <a:extLst>
              <a:ext uri="{FF2B5EF4-FFF2-40B4-BE49-F238E27FC236}">
                <a16:creationId xmlns:a16="http://schemas.microsoft.com/office/drawing/2014/main" id="{B180982A-5719-F46C-770D-171728FDEDB8}"/>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dirty="0"/>
              <a:t>编程指南：过程调用</a:t>
            </a:r>
            <a:endParaRPr lang="en-CN" kern="0" dirty="0"/>
          </a:p>
        </p:txBody>
      </p:sp>
    </p:spTree>
    <p:extLst>
      <p:ext uri="{BB962C8B-B14F-4D97-AF65-F5344CB8AC3E}">
        <p14:creationId xmlns:p14="http://schemas.microsoft.com/office/powerpoint/2010/main" val="1936079554"/>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D30B9581-D621-394F-9FE6-E87B92C5FCD1}"/>
              </a:ext>
            </a:extLst>
          </p:cNvPr>
          <p:cNvSpPr>
            <a:spLocks noGrp="1"/>
          </p:cNvSpPr>
          <p:nvPr>
            <p:ph type="sldNum" sz="quarter" idx="12"/>
          </p:nvPr>
        </p:nvSpPr>
        <p:spPr/>
        <p:txBody>
          <a:bodyPr/>
          <a:lstStyle/>
          <a:p>
            <a:fld id="{14659731-6BD7-46E7-8D3C-2F3AC07E20B1}" type="slidenum">
              <a:rPr lang="en-US" altLang="zh-CN" smtClean="0"/>
              <a:pPr/>
              <a:t>151</a:t>
            </a:fld>
            <a:endParaRPr lang="en-US" altLang="zh-CN"/>
          </a:p>
        </p:txBody>
      </p:sp>
      <p:sp>
        <p:nvSpPr>
          <p:cNvPr id="3" name="Content Placeholder 2">
            <a:extLst>
              <a:ext uri="{FF2B5EF4-FFF2-40B4-BE49-F238E27FC236}">
                <a16:creationId xmlns:a16="http://schemas.microsoft.com/office/drawing/2014/main" id="{476CCCEC-334A-469A-8A1B-34CF5EC07D4D}"/>
              </a:ext>
            </a:extLst>
          </p:cNvPr>
          <p:cNvSpPr>
            <a:spLocks noGrp="1"/>
          </p:cNvSpPr>
          <p:nvPr>
            <p:ph idx="4294967295"/>
          </p:nvPr>
        </p:nvSpPr>
        <p:spPr>
          <a:xfrm>
            <a:off x="423746" y="1389888"/>
            <a:ext cx="8408020" cy="4754433"/>
          </a:xfrm>
        </p:spPr>
        <p:txBody>
          <a:bodyPr/>
          <a:lstStyle/>
          <a:p>
            <a:r>
              <a:rPr kumimoji="1" lang="zh-CN" altLang="en-US" sz="2800" dirty="0">
                <a:latin typeface="+mj-ea"/>
                <a:ea typeface="+mj-ea"/>
              </a:rPr>
              <a:t>参数槽的一点说明：</a:t>
            </a:r>
            <a:endParaRPr kumimoji="1" lang="en-US" altLang="zh-CN" sz="2800" dirty="0">
              <a:latin typeface="+mj-ea"/>
              <a:ea typeface="+mj-ea"/>
            </a:endParaRPr>
          </a:p>
          <a:p>
            <a:pPr lvl="1"/>
            <a:r>
              <a:rPr kumimoji="1" lang="zh-CN" altLang="en-US" sz="2400" dirty="0">
                <a:latin typeface="+mj-ea"/>
                <a:ea typeface="+mj-ea"/>
              </a:rPr>
              <a:t>参数槽由调用者分配，但由被调用者使用</a:t>
            </a:r>
            <a:r>
              <a:rPr kumimoji="1" lang="en-US" altLang="zh-CN" sz="2400" dirty="0">
                <a:latin typeface="+mj-ea"/>
                <a:ea typeface="+mj-ea"/>
              </a:rPr>
              <a:t>!</a:t>
            </a:r>
          </a:p>
          <a:p>
            <a:pPr lvl="1"/>
            <a:r>
              <a:rPr kumimoji="1" lang="zh-CN" altLang="en-US" sz="2400" dirty="0">
                <a:latin typeface="+mj-ea"/>
                <a:ea typeface="+mj-ea"/>
              </a:rPr>
              <a:t>所有四个参数槽都是必需的，即使调用者知道它传递的参数少于四个。因此，在进入该过程时，如果需要，过程可以合法地将所有的参数寄存器存储到参数槽中。</a:t>
            </a:r>
            <a:endParaRPr kumimoji="1" lang="en-US" altLang="zh-CN" sz="2400" dirty="0">
              <a:latin typeface="+mj-ea"/>
              <a:ea typeface="+mj-ea"/>
            </a:endParaRPr>
          </a:p>
          <a:p>
            <a:pPr lvl="1"/>
            <a:r>
              <a:rPr kumimoji="1" lang="zh-CN" altLang="en-US" sz="2400" dirty="0">
                <a:latin typeface="+mj-ea"/>
                <a:ea typeface="+mj-ea"/>
              </a:rPr>
              <a:t>调用方必须在过程调用帧中为其调用的任何子过程分配最大参数数的空间</a:t>
            </a:r>
            <a:r>
              <a:rPr kumimoji="1" lang="en-US" altLang="zh-CN" sz="2400" dirty="0">
                <a:latin typeface="+mj-ea"/>
                <a:ea typeface="+mj-ea"/>
              </a:rPr>
              <a:t>(</a:t>
            </a:r>
            <a:r>
              <a:rPr kumimoji="1" lang="zh-CN" altLang="en-US" sz="2400" dirty="0">
                <a:latin typeface="+mj-ea"/>
                <a:ea typeface="+mj-ea"/>
              </a:rPr>
              <a:t>或者如果其调用的所有子过程的参数数都少于</a:t>
            </a:r>
            <a:r>
              <a:rPr kumimoji="1" lang="en-US" altLang="zh-CN" sz="2400" dirty="0">
                <a:latin typeface="+mj-ea"/>
                <a:ea typeface="+mj-ea"/>
              </a:rPr>
              <a:t>4</a:t>
            </a:r>
            <a:r>
              <a:rPr kumimoji="1" lang="zh-CN" altLang="en-US" sz="2400" dirty="0">
                <a:latin typeface="+mj-ea"/>
                <a:ea typeface="+mj-ea"/>
              </a:rPr>
              <a:t>个，为所有子过程都分配</a:t>
            </a:r>
            <a:r>
              <a:rPr kumimoji="1" lang="en-US" altLang="zh-CN" sz="2400" dirty="0">
                <a:latin typeface="+mj-ea"/>
                <a:ea typeface="+mj-ea"/>
              </a:rPr>
              <a:t>4</a:t>
            </a:r>
            <a:r>
              <a:rPr kumimoji="1" lang="zh-CN" altLang="en-US" sz="2400" dirty="0">
                <a:latin typeface="+mj-ea"/>
                <a:ea typeface="+mj-ea"/>
              </a:rPr>
              <a:t>个参数数</a:t>
            </a:r>
            <a:r>
              <a:rPr kumimoji="1" lang="en-US" altLang="zh-CN" sz="2400" dirty="0">
                <a:latin typeface="+mj-ea"/>
                <a:ea typeface="+mj-ea"/>
              </a:rPr>
              <a:t>)</a:t>
            </a:r>
            <a:r>
              <a:rPr kumimoji="1" lang="zh-CN" altLang="en-US" sz="2400" dirty="0">
                <a:latin typeface="+mj-ea"/>
                <a:ea typeface="+mj-ea"/>
              </a:rPr>
              <a:t>。</a:t>
            </a:r>
            <a:endParaRPr kumimoji="1" lang="en-US" altLang="zh-CN" sz="2400" dirty="0">
              <a:latin typeface="+mj-ea"/>
              <a:ea typeface="+mj-ea"/>
            </a:endParaRPr>
          </a:p>
        </p:txBody>
      </p:sp>
      <p:sp>
        <p:nvSpPr>
          <p:cNvPr id="2" name="Title 4">
            <a:extLst>
              <a:ext uri="{FF2B5EF4-FFF2-40B4-BE49-F238E27FC236}">
                <a16:creationId xmlns:a16="http://schemas.microsoft.com/office/drawing/2014/main" id="{B2A07A06-1B30-F48E-A510-C89197CAD7B2}"/>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dirty="0"/>
              <a:t>编程指南：过程调用</a:t>
            </a:r>
            <a:endParaRPr lang="en-CN" kern="0" dirty="0"/>
          </a:p>
        </p:txBody>
      </p:sp>
    </p:spTree>
    <p:extLst>
      <p:ext uri="{BB962C8B-B14F-4D97-AF65-F5344CB8AC3E}">
        <p14:creationId xmlns:p14="http://schemas.microsoft.com/office/powerpoint/2010/main" val="3287303678"/>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idx="4294967295"/>
          </p:nvPr>
        </p:nvSpPr>
        <p:spPr>
          <a:xfrm>
            <a:off x="457199" y="1346122"/>
            <a:ext cx="8095785" cy="4463663"/>
          </a:xfrm>
        </p:spPr>
        <p:txBody>
          <a:bodyPr/>
          <a:lstStyle/>
          <a:p>
            <a:r>
              <a:rPr lang="en-US" altLang="zh-CN" dirty="0"/>
              <a:t>MIPS</a:t>
            </a:r>
            <a:r>
              <a:rPr lang="zh-CN" altLang="en-US" dirty="0"/>
              <a:t>模拟器提供了通过系统调用指令</a:t>
            </a:r>
            <a:r>
              <a:rPr lang="en-US" altLang="zh-CN" dirty="0"/>
              <a:t>(</a:t>
            </a:r>
            <a:r>
              <a:rPr lang="en-US" altLang="zh-CN" dirty="0" err="1"/>
              <a:t>syscall</a:t>
            </a:r>
            <a:r>
              <a:rPr lang="en-US" altLang="zh-CN" dirty="0"/>
              <a:t>) </a:t>
            </a:r>
            <a:r>
              <a:rPr lang="zh-CN" altLang="en-US" dirty="0"/>
              <a:t>提供了一组类似操作系统的服务</a:t>
            </a:r>
          </a:p>
          <a:p>
            <a:r>
              <a:rPr lang="zh-CN" altLang="en-US" dirty="0"/>
              <a:t>调用方法：</a:t>
            </a:r>
          </a:p>
          <a:p>
            <a:pPr lvl="1"/>
            <a:r>
              <a:rPr lang="zh-CN" altLang="en-US" dirty="0"/>
              <a:t>将系统调用代码装入</a:t>
            </a:r>
            <a:r>
              <a:rPr lang="en-US" altLang="zh-CN" dirty="0"/>
              <a:t>$v0($2)</a:t>
            </a:r>
            <a:r>
              <a:rPr lang="zh-CN" altLang="en-US" dirty="0"/>
              <a:t>寄存器</a:t>
            </a:r>
          </a:p>
          <a:p>
            <a:pPr lvl="1"/>
            <a:r>
              <a:rPr lang="zh-CN" altLang="en-US" dirty="0"/>
              <a:t>将参数</a:t>
            </a:r>
            <a:r>
              <a:rPr lang="en-US" altLang="zh-CN" dirty="0"/>
              <a:t>(</a:t>
            </a:r>
            <a:r>
              <a:rPr lang="zh-CN" altLang="en-US" dirty="0"/>
              <a:t>如果有</a:t>
            </a:r>
            <a:r>
              <a:rPr lang="en-US" altLang="zh-CN" dirty="0"/>
              <a:t>)</a:t>
            </a:r>
            <a:r>
              <a:rPr lang="zh-CN" altLang="en-US" dirty="0"/>
              <a:t>装入</a:t>
            </a:r>
            <a:r>
              <a:rPr lang="en-US" altLang="zh-CN" dirty="0"/>
              <a:t>$a0($4)</a:t>
            </a:r>
            <a:r>
              <a:rPr lang="zh-CN" altLang="en-US" dirty="0"/>
              <a:t>～</a:t>
            </a:r>
            <a:r>
              <a:rPr lang="en-US" altLang="zh-CN" dirty="0"/>
              <a:t>$a3($7)</a:t>
            </a:r>
            <a:r>
              <a:rPr lang="zh-CN" altLang="en-US" dirty="0"/>
              <a:t>或</a:t>
            </a:r>
            <a:r>
              <a:rPr lang="en-US" altLang="zh-CN" dirty="0"/>
              <a:t>$f12</a:t>
            </a:r>
            <a:r>
              <a:rPr lang="zh-CN" altLang="en-US" dirty="0"/>
              <a:t>寄存器 </a:t>
            </a:r>
          </a:p>
          <a:p>
            <a:pPr lvl="1"/>
            <a:r>
              <a:rPr lang="en-US" altLang="zh-CN" dirty="0" err="1"/>
              <a:t>syscall</a:t>
            </a:r>
            <a:endParaRPr lang="en-US" altLang="zh-CN" dirty="0"/>
          </a:p>
          <a:p>
            <a:pPr lvl="1"/>
            <a:r>
              <a:rPr lang="zh-CN" altLang="en-US" dirty="0"/>
              <a:t>返回值保存在</a:t>
            </a:r>
            <a:r>
              <a:rPr lang="en-US" altLang="zh-CN" dirty="0"/>
              <a:t>$v0($2)</a:t>
            </a:r>
            <a:r>
              <a:rPr lang="zh-CN" altLang="en-US" dirty="0"/>
              <a:t>或</a:t>
            </a:r>
            <a:r>
              <a:rPr lang="en-US" altLang="zh-CN" dirty="0"/>
              <a:t>$f0</a:t>
            </a:r>
            <a:r>
              <a:rPr lang="zh-CN" altLang="en-US" dirty="0"/>
              <a:t>寄存器中</a:t>
            </a:r>
          </a:p>
        </p:txBody>
      </p:sp>
      <p:sp>
        <p:nvSpPr>
          <p:cNvPr id="2" name="Title 4">
            <a:extLst>
              <a:ext uri="{FF2B5EF4-FFF2-40B4-BE49-F238E27FC236}">
                <a16:creationId xmlns:a16="http://schemas.microsoft.com/office/drawing/2014/main" id="{D527F48D-4C95-9C49-EB13-456287F7F2C2}"/>
              </a:ext>
            </a:extLst>
          </p:cNvPr>
          <p:cNvSpPr txBox="1">
            <a:spLocks/>
          </p:cNvSpPr>
          <p:nvPr/>
        </p:nvSpPr>
        <p:spPr bwMode="auto">
          <a:xfrm>
            <a:off x="457200" y="108531"/>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dirty="0"/>
              <a:t>系统调用</a:t>
            </a:r>
            <a:endParaRPr lang="en-CN" kern="0" dirty="0"/>
          </a:p>
        </p:txBody>
      </p:sp>
      <p:sp>
        <p:nvSpPr>
          <p:cNvPr id="6" name="灯片编号占位符 3">
            <a:extLst>
              <a:ext uri="{FF2B5EF4-FFF2-40B4-BE49-F238E27FC236}">
                <a16:creationId xmlns:a16="http://schemas.microsoft.com/office/drawing/2014/main" id="{F12387B5-B4E7-7D5E-60A0-11815884AE28}"/>
              </a:ext>
            </a:extLst>
          </p:cNvPr>
          <p:cNvSpPr>
            <a:spLocks noGrp="1"/>
          </p:cNvSpPr>
          <p:nvPr>
            <p:ph type="sldNum" sz="quarter" idx="12"/>
          </p:nvPr>
        </p:nvSpPr>
        <p:spPr>
          <a:xfrm>
            <a:off x="6553200" y="6245225"/>
            <a:ext cx="2133600" cy="476250"/>
          </a:xfrm>
        </p:spPr>
        <p:txBody>
          <a:bodyPr/>
          <a:lstStyle/>
          <a:p>
            <a:fld id="{14659731-6BD7-46E7-8D3C-2F3AC07E20B1}" type="slidenum">
              <a:rPr lang="en-US" altLang="zh-CN" smtClean="0"/>
              <a:pPr/>
              <a:t>152</a:t>
            </a:fld>
            <a:endParaRPr lang="en-US" altLang="zh-CN"/>
          </a:p>
        </p:txBody>
      </p:sp>
    </p:spTree>
    <p:extLst>
      <p:ext uri="{BB962C8B-B14F-4D97-AF65-F5344CB8AC3E}">
        <p14:creationId xmlns:p14="http://schemas.microsoft.com/office/powerpoint/2010/main" val="3719037889"/>
      </p:ext>
    </p:extLst>
  </p:cSld>
  <p:clrMapOvr>
    <a:masterClrMapping/>
  </p:clrMapOvr>
</p:sld>
</file>

<file path=ppt/theme/theme1.xml><?xml version="1.0" encoding="utf-8"?>
<a:theme xmlns:a="http://schemas.openxmlformats.org/drawingml/2006/main" name="主题1">
  <a:themeElements>
    <a:clrScheme name="默认设计模板 13">
      <a:dk1>
        <a:srgbClr val="000000"/>
      </a:dk1>
      <a:lt1>
        <a:srgbClr val="FFFFFF"/>
      </a:lt1>
      <a:dk2>
        <a:srgbClr val="000000"/>
      </a:dk2>
      <a:lt2>
        <a:srgbClr val="808080"/>
      </a:lt2>
      <a:accent1>
        <a:srgbClr val="E70303"/>
      </a:accent1>
      <a:accent2>
        <a:srgbClr val="333399"/>
      </a:accent2>
      <a:accent3>
        <a:srgbClr val="FFFFFF"/>
      </a:accent3>
      <a:accent4>
        <a:srgbClr val="000000"/>
      </a:accent4>
      <a:accent5>
        <a:srgbClr val="F1AAAA"/>
      </a:accent5>
      <a:accent6>
        <a:srgbClr val="2D2D8A"/>
      </a:accent6>
      <a:hlink>
        <a:srgbClr val="009999"/>
      </a:hlink>
      <a:folHlink>
        <a:srgbClr val="99CC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默认设计模板 13">
        <a:dk1>
          <a:srgbClr val="000000"/>
        </a:dk1>
        <a:lt1>
          <a:srgbClr val="FFFFFF"/>
        </a:lt1>
        <a:dk2>
          <a:srgbClr val="000000"/>
        </a:dk2>
        <a:lt2>
          <a:srgbClr val="808080"/>
        </a:lt2>
        <a:accent1>
          <a:srgbClr val="E70303"/>
        </a:accent1>
        <a:accent2>
          <a:srgbClr val="333399"/>
        </a:accent2>
        <a:accent3>
          <a:srgbClr val="FFFFFF"/>
        </a:accent3>
        <a:accent4>
          <a:srgbClr val="000000"/>
        </a:accent4>
        <a:accent5>
          <a:srgbClr val="F1AAAA"/>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主题1" id="{CBBCF338-E9C6-411B-9CD4-D63697720D6D}" vid="{3C9D972D-53F0-48D8-886D-5B1C4DD1BF08}"/>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主题1</Template>
  <TotalTime>5144</TotalTime>
  <Words>17243</Words>
  <Application>Microsoft Office PowerPoint</Application>
  <PresentationFormat>全屏显示(4:3)</PresentationFormat>
  <Paragraphs>2725</Paragraphs>
  <Slides>152</Slides>
  <Notes>121</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152</vt:i4>
      </vt:variant>
    </vt:vector>
  </HeadingPairs>
  <TitlesOfParts>
    <vt:vector size="169" baseType="lpstr">
      <vt:lpstr>Arial Unicode MS</vt:lpstr>
      <vt:lpstr>Monaco</vt:lpstr>
      <vt:lpstr>SimHei</vt:lpstr>
      <vt:lpstr>SimHei</vt:lpstr>
      <vt:lpstr>宋体</vt:lpstr>
      <vt:lpstr>微软雅黑</vt:lpstr>
      <vt:lpstr>微软雅黑</vt:lpstr>
      <vt:lpstr>微软雅黑 (标题)</vt:lpstr>
      <vt:lpstr>Arial</vt:lpstr>
      <vt:lpstr>Comic Sans MS</vt:lpstr>
      <vt:lpstr>Consolas</vt:lpstr>
      <vt:lpstr>Courier New</vt:lpstr>
      <vt:lpstr>Helvetica</vt:lpstr>
      <vt:lpstr>Symbol</vt:lpstr>
      <vt:lpstr>Times New Roman</vt:lpstr>
      <vt:lpstr>Wingdings</vt:lpstr>
      <vt:lpstr>主题1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luorong</dc:creator>
  <cp:keywords/>
  <dc:description/>
  <cp:lastModifiedBy>禧瑞 杜</cp:lastModifiedBy>
  <cp:revision>449</cp:revision>
  <cp:lastPrinted>1601-01-01T00:00:00Z</cp:lastPrinted>
  <dcterms:created xsi:type="dcterms:W3CDTF">1601-01-01T00:00:00Z</dcterms:created>
  <dcterms:modified xsi:type="dcterms:W3CDTF">2024-06-06T12:56:17Z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