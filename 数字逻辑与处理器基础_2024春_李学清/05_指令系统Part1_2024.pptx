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ink/ink1.xml" ContentType="application/inkml+xml"/>
  <Override PartName="/ppt/notesSlides/notesSlide17.xml" ContentType="application/vnd.openxmlformats-officedocument.presentationml.notesSlide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notesSlides/notesSlide18.xml" ContentType="application/vnd.openxmlformats-officedocument.presentationml.notesSlide+xml"/>
  <Override PartName="/ppt/ink/ink6.xml" ContentType="application/inkml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ink/ink7.xml" ContentType="application/inkml+xml"/>
  <Override PartName="/ppt/notesSlides/notesSlide21.xml" ContentType="application/vnd.openxmlformats-officedocument.presentationml.notesSlide+xml"/>
  <Override PartName="/ppt/ink/ink8.xml" ContentType="application/inkml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ink/ink9.xml" ContentType="application/inkml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ink/ink10.xml" ContentType="application/inkml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ink/ink11.xml" ContentType="application/inkml+xml"/>
  <Override PartName="/ppt/ink/ink12.xml" ContentType="application/inkml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4" r:id="rId2"/>
  </p:sldMasterIdLst>
  <p:notesMasterIdLst>
    <p:notesMasterId r:id="rId84"/>
  </p:notesMasterIdLst>
  <p:sldIdLst>
    <p:sldId id="1984" r:id="rId3"/>
    <p:sldId id="1897" r:id="rId4"/>
    <p:sldId id="1898" r:id="rId5"/>
    <p:sldId id="1899" r:id="rId6"/>
    <p:sldId id="1900" r:id="rId7"/>
    <p:sldId id="1901" r:id="rId8"/>
    <p:sldId id="1902" r:id="rId9"/>
    <p:sldId id="1903" r:id="rId10"/>
    <p:sldId id="1904" r:id="rId11"/>
    <p:sldId id="1905" r:id="rId12"/>
    <p:sldId id="1906" r:id="rId13"/>
    <p:sldId id="1979" r:id="rId14"/>
    <p:sldId id="1908" r:id="rId15"/>
    <p:sldId id="1909" r:id="rId16"/>
    <p:sldId id="1910" r:id="rId17"/>
    <p:sldId id="1981" r:id="rId18"/>
    <p:sldId id="1980" r:id="rId19"/>
    <p:sldId id="1913" r:id="rId20"/>
    <p:sldId id="1914" r:id="rId21"/>
    <p:sldId id="1915" r:id="rId22"/>
    <p:sldId id="1916" r:id="rId23"/>
    <p:sldId id="1917" r:id="rId24"/>
    <p:sldId id="1918" r:id="rId25"/>
    <p:sldId id="1982" r:id="rId26"/>
    <p:sldId id="1919" r:id="rId27"/>
    <p:sldId id="1920" r:id="rId28"/>
    <p:sldId id="1921" r:id="rId29"/>
    <p:sldId id="1924" r:id="rId30"/>
    <p:sldId id="1925" r:id="rId31"/>
    <p:sldId id="1977" r:id="rId32"/>
    <p:sldId id="1928" r:id="rId33"/>
    <p:sldId id="1960" r:id="rId34"/>
    <p:sldId id="1929" r:id="rId35"/>
    <p:sldId id="1930" r:id="rId36"/>
    <p:sldId id="1932" r:id="rId37"/>
    <p:sldId id="1933" r:id="rId38"/>
    <p:sldId id="1934" r:id="rId39"/>
    <p:sldId id="1935" r:id="rId40"/>
    <p:sldId id="1936" r:id="rId41"/>
    <p:sldId id="1937" r:id="rId42"/>
    <p:sldId id="1938" r:id="rId43"/>
    <p:sldId id="1939" r:id="rId44"/>
    <p:sldId id="1940" r:id="rId45"/>
    <p:sldId id="1941" r:id="rId46"/>
    <p:sldId id="1978" r:id="rId47"/>
    <p:sldId id="1943" r:id="rId48"/>
    <p:sldId id="1944" r:id="rId49"/>
    <p:sldId id="1945" r:id="rId50"/>
    <p:sldId id="1946" r:id="rId51"/>
    <p:sldId id="1947" r:id="rId52"/>
    <p:sldId id="1948" r:id="rId53"/>
    <p:sldId id="1949" r:id="rId54"/>
    <p:sldId id="1951" r:id="rId55"/>
    <p:sldId id="1952" r:id="rId56"/>
    <p:sldId id="1953" r:id="rId57"/>
    <p:sldId id="1954" r:id="rId58"/>
    <p:sldId id="1955" r:id="rId59"/>
    <p:sldId id="1956" r:id="rId60"/>
    <p:sldId id="1957" r:id="rId61"/>
    <p:sldId id="1958" r:id="rId62"/>
    <p:sldId id="1959" r:id="rId63"/>
    <p:sldId id="1961" r:id="rId64"/>
    <p:sldId id="1962" r:id="rId65"/>
    <p:sldId id="1963" r:id="rId66"/>
    <p:sldId id="1964" r:id="rId67"/>
    <p:sldId id="1966" r:id="rId68"/>
    <p:sldId id="1967" r:id="rId69"/>
    <p:sldId id="1968" r:id="rId70"/>
    <p:sldId id="1969" r:id="rId71"/>
    <p:sldId id="1970" r:id="rId72"/>
    <p:sldId id="1983" r:id="rId73"/>
    <p:sldId id="1971" r:id="rId74"/>
    <p:sldId id="1972" r:id="rId75"/>
    <p:sldId id="1973" r:id="rId76"/>
    <p:sldId id="1974" r:id="rId77"/>
    <p:sldId id="1975" r:id="rId78"/>
    <p:sldId id="1896" r:id="rId79"/>
    <p:sldId id="1922" r:id="rId80"/>
    <p:sldId id="1923" r:id="rId81"/>
    <p:sldId id="1926" r:id="rId82"/>
    <p:sldId id="1931" r:id="rId83"/>
  </p:sldIdLst>
  <p:sldSz cx="9144000" cy="6858000" type="screen4x3"/>
  <p:notesSz cx="6858000" cy="9144000"/>
  <p:custDataLst>
    <p:tags r:id="rId85"/>
  </p:custDataLst>
  <p:defaultTextStyle>
    <a:defPPr>
      <a:defRPr lang="zh-CN"/>
    </a:defPPr>
    <a:lvl1pPr algn="ctr" rtl="0" fontAlgn="base">
      <a:spcBef>
        <a:spcPct val="0"/>
      </a:spcBef>
      <a:spcAft>
        <a:spcPct val="0"/>
      </a:spcAft>
      <a:defRPr sz="4600" b="1" kern="1200">
        <a:solidFill>
          <a:srgbClr val="FF3300"/>
        </a:solidFill>
        <a:latin typeface="Garamond" panose="02020404030301010803" pitchFamily="18" charset="0"/>
        <a:ea typeface="宋体" panose="02010600030101010101" pitchFamily="2" charset="-122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sz="4600" b="1" kern="1200">
        <a:solidFill>
          <a:srgbClr val="FF3300"/>
        </a:solidFill>
        <a:latin typeface="Garamond" panose="02020404030301010803" pitchFamily="18" charset="0"/>
        <a:ea typeface="宋体" panose="02010600030101010101" pitchFamily="2" charset="-122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sz="4600" b="1" kern="1200">
        <a:solidFill>
          <a:srgbClr val="FF3300"/>
        </a:solidFill>
        <a:latin typeface="Garamond" panose="02020404030301010803" pitchFamily="18" charset="0"/>
        <a:ea typeface="宋体" panose="02010600030101010101" pitchFamily="2" charset="-122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sz="4600" b="1" kern="1200">
        <a:solidFill>
          <a:srgbClr val="FF3300"/>
        </a:solidFill>
        <a:latin typeface="Garamond" panose="02020404030301010803" pitchFamily="18" charset="0"/>
        <a:ea typeface="宋体" panose="02010600030101010101" pitchFamily="2" charset="-122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sz="4600" b="1" kern="1200">
        <a:solidFill>
          <a:srgbClr val="FF3300"/>
        </a:solidFill>
        <a:latin typeface="Garamond" panose="02020404030301010803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4600" b="1" kern="1200">
        <a:solidFill>
          <a:srgbClr val="FF3300"/>
        </a:solidFill>
        <a:latin typeface="Garamond" panose="02020404030301010803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4600" b="1" kern="1200">
        <a:solidFill>
          <a:srgbClr val="FF3300"/>
        </a:solidFill>
        <a:latin typeface="Garamond" panose="02020404030301010803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4600" b="1" kern="1200">
        <a:solidFill>
          <a:srgbClr val="FF3300"/>
        </a:solidFill>
        <a:latin typeface="Garamond" panose="02020404030301010803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4600" b="1" kern="1200">
        <a:solidFill>
          <a:srgbClr val="FF3300"/>
        </a:solidFill>
        <a:latin typeface="Garamond" panose="02020404030301010803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022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66"/>
    <a:srgbClr val="0432FF"/>
    <a:srgbClr val="C7D9F2"/>
    <a:srgbClr val="376092"/>
    <a:srgbClr val="B0CAEA"/>
    <a:srgbClr val="CCC1DA"/>
    <a:srgbClr val="CC0099"/>
    <a:srgbClr val="3333FF"/>
    <a:srgbClr val="FF40FF"/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浅色样式 2 - 强调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389"/>
    <p:restoredTop sz="87619" autoAdjust="0"/>
  </p:normalViewPr>
  <p:slideViewPr>
    <p:cSldViewPr snapToGrid="0" showGuides="1">
      <p:cViewPr varScale="1">
        <p:scale>
          <a:sx n="107" d="100"/>
          <a:sy n="107" d="100"/>
        </p:scale>
        <p:origin x="1648" y="168"/>
      </p:cViewPr>
      <p:guideLst>
        <p:guide orient="horz" pos="3022"/>
        <p:guide pos="2880"/>
      </p:guideLst>
    </p:cSldViewPr>
  </p:slideViewPr>
  <p:notesTextViewPr>
    <p:cViewPr>
      <p:scale>
        <a:sx n="70" d="100"/>
        <a:sy n="7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notesMaster" Target="notesMasters/notesMaster1.xml"/><Relationship Id="rId89" Type="http://schemas.openxmlformats.org/officeDocument/2006/relationships/tableStyles" Target="tableStyles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5" Type="http://schemas.openxmlformats.org/officeDocument/2006/relationships/slide" Target="slides/slide3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slide" Target="slides/slide75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slide" Target="slides/slide78.xml"/><Relationship Id="rId85" Type="http://schemas.openxmlformats.org/officeDocument/2006/relationships/tags" Target="tags/tag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viewProps" Target="viewProps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920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72.86527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4-04-02T11:49:25.16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21202 3463 0,'0'27'47,"-53"-27"-16,1 0-31,26-27 16,-27 27-16,1-26 15,25 26 17,-25 0-32,-27 0 15,1 0-15,-1 0 16,26 0-16,27 0 16,-53 0-16,1 0 15,51 0-15,-25 0 16,26 0-16,-27 0 15,27 0-15,0 0 16,-53 26-16,27 1 16,25-27-16,-25 26 15,-1 0-15,27-26 16,-26 26-16,-1-26 16,1 27-16,25 25 15,-51-26-15,-1 1 16,53-1-16,0-26 15,-1 26 48,-25 79-47,26-52-16,-27-1 15,27 27-15,0-1 16,-27-25-16,27 26 15,26-27-15,0-26 63,0 53-63,0 26 16,0-26-16,0-1 15,52 1-15,1 26 16,26 0-16,-1-26 15,1 0-15,0-1 16,-27-25-16,-26-1 16,27-52-16,-1 0 15,1 26 1,-27 1-16,27-27 16,-27 0-1,26 0-15,1 0 16,-1 0-16,27 0 0,-27 0 15,1 0 1,26 0-16,-53 0 16,26 0-16,1 0 15,-27 0 1,27 0-16,157 0 31,-27 0-31,-52-27 0,-52 27 16,-26-26-16,25 0 15,-51 0-15,-1 26 16,-26-27-16,26 1 16,26 0-16,-25 26 15,25-26-15,27-27 16,0-25-16,-1-1 16,-25 0-16,-1 27 15,1 25-15,-1-51 16,1 25-16,-1-26 15,-26 1-15,1 52 16,-27-27-16,0 27 31,0-27-15,0 1 0,0 26-16,0-27 15,0 27-15,-27 0 16,1-1-1,26 1-15,-26-53 16,26 1-16,-26 25 16,-27-52-16,1-26 15,26 79-15,26-27 16,-27 26-16,-25 53 31,26-26 0,-27 26-31,27 0 94,-27 0-78,27 0-16,-26 0 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920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72.86527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4-04-03T00:59:30.46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21202 3463 0,'0'27'47,"-53"-27"-16,1 0-31,26-27 16,-27 27-16,1-26 15,25 26 17,-25 0-32,-27 0 15,1 0-15,-1 0 16,26 0-16,27 0 16,-53 0-16,1 0 15,51 0-15,-25 0 16,26 0-16,-27 0 15,27 0-15,0 0 16,-53 26-16,27 1 16,25-27-16,-25 26 15,-1 0-15,27-26 16,-26 26-16,-1-26 16,1 27-16,25 25 15,-51-26-15,-1 1 16,53-1-16,0-26 15,-1 26 48,-25 79-47,26-52-16,-27-1 15,27 27-15,0-1 16,-27-25-16,27 26 15,26-27-15,0-26 63,0 53-63,0 26 16,0-26-16,0-1 15,52 1-15,1 26 16,26 0-16,-1-26 15,1 0-15,0-1 16,-27-25-16,-26-1 16,27-52-16,-1 0 15,1 26 1,-27 1-16,27-27 16,-27 0-1,26 0-15,1 0 16,-1 0-16,27 0 0,-27 0 15,1 0 1,26 0-16,-53 0 16,26 0-16,1 0 15,-27 0 1,27 0-16,157 0 31,-27 0-31,-52-27 0,-52 27 16,-26-26-16,25 0 15,-51 0-15,-1 26 16,-26-27-16,26 1 16,26 0-16,-25 26 15,25-26-15,27-27 16,0-25-16,-1-1 16,-25 0-16,-1 27 15,1 25-15,-1-51 16,1 25-16,-1-26 15,-26 1-15,1 52 16,-27-27-16,0 27 31,0-27-15,0 1 0,0 26-16,0-27 15,0 27-15,-27 0 16,1-1-1,26 1-15,-26-53 16,26 1-16,-26 25 16,-27-52-16,1-26 15,26 79-15,26-27 16,-27 26-16,-25 53 31,26-26 0,-27 26-31,27 0 94,-27 0-78,27 0-16,-26 0 15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920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72.86527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4-04-03T00:59:34.53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21202 3463 0,'0'27'47,"-53"-27"-16,1 0-31,26-27 16,-27 27-16,1-26 15,25 26 17,-25 0-32,-27 0 15,1 0-15,-1 0 16,26 0-16,27 0 16,-53 0-16,1 0 15,51 0-15,-25 0 16,26 0-16,-27 0 15,27 0-15,0 0 16,-53 26-16,27 1 16,25-27-16,-25 26 15,-1 0-15,27-26 16,-26 26-16,-1-26 16,1 27-16,25 25 15,-51-26-15,-1 1 16,53-1-16,0-26 15,-1 26 48,-25 79-47,26-52-16,-27-1 15,27 27-15,0-1 16,-27-25-16,27 26 15,26-27-15,0-26 63,0 53-63,0 26 16,0-26-16,0-1 15,52 1-15,1 26 16,26 0-16,-1-26 15,1 0-15,0-1 16,-27-25-16,-26-1 16,27-52-16,-1 0 15,1 26 1,-27 1-16,27-27 16,-27 0-1,26 0-15,1 0 16,-1 0-16,27 0 0,-27 0 15,1 0 1,26 0-16,-53 0 16,26 0-16,1 0 15,-27 0 1,27 0-16,157 0 31,-27 0-31,-52-27 0,-52 27 16,-26-26-16,25 0 15,-51 0-15,-1 26 16,-26-27-16,26 1 16,26 0-16,-25 26 15,25-26-15,27-27 16,0-25-16,-1-1 16,-25 0-16,-1 27 15,1 25-15,-1-51 16,1 25-16,-1-26 15,-26 1-15,1 52 16,-27-27-16,0 27 31,0-27-15,0 1 0,0 26-16,0-27 15,0 27-15,-27 0 16,1-1-1,26 1-15,-26-53 16,26 1-16,-26 25 16,-27-52-16,1-26 15,26 79-15,26-27 16,-27 26-16,-25 53 31,26-26 0,-27 26-31,27 0 94,-27 0-78,27 0-16,-26 0 15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920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72.86527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4-04-03T00:59:36.75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21202 3463 0,'0'27'47,"-53"-27"-16,1 0-31,26-27 16,-27 27-16,1-26 15,25 26 17,-25 0-32,-27 0 15,1 0-15,-1 0 16,26 0-16,27 0 16,-53 0-16,1 0 15,51 0-15,-25 0 16,26 0-16,-27 0 15,27 0-15,0 0 16,-53 26-16,27 1 16,25-27-16,-25 26 15,-1 0-15,27-26 16,-26 26-16,-1-26 16,1 27-16,25 25 15,-51-26-15,-1 1 16,53-1-16,0-26 15,-1 26 48,-25 79-47,26-52-16,-27-1 15,27 27-15,0-1 16,-27-25-16,27 26 15,26-27-15,0-26 63,0 53-63,0 26 16,0-26-16,0-1 15,52 1-15,1 26 16,26 0-16,-1-26 15,1 0-15,0-1 16,-27-25-16,-26-1 16,27-52-16,-1 0 15,1 26 1,-27 1-16,27-27 16,-27 0-1,26 0-15,1 0 16,-1 0-16,27 0 0,-27 0 15,1 0 1,26 0-16,-53 0 16,26 0-16,1 0 15,-27 0 1,27 0-16,157 0 31,-27 0-31,-52-27 0,-52 27 16,-26-26-16,25 0 15,-51 0-15,-1 26 16,-26-27-16,26 1 16,26 0-16,-25 26 15,25-26-15,27-27 16,0-25-16,-1-1 16,-25 0-16,-1 27 15,1 25-15,-1-51 16,1 25-16,-1-26 15,-26 1-15,1 52 16,-27-27-16,0 27 31,0-27-15,0 1 0,0 26-16,0-27 15,0 27-15,-27 0 16,1-1-1,26 1-15,-26-53 16,26 1-16,-26 25 16,-27-52-16,1-26 15,26 79-15,26-27 16,-27 26-16,-25 53 31,26-26 0,-27 26-31,27 0 94,-27 0-78,27 0-16,-26 0 15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920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72.86527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4-04-03T00:59:39.45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21202 3463 0,'0'27'47,"-53"-27"-16,1 0-31,26-27 16,-27 27-16,1-26 15,25 26 17,-25 0-32,-27 0 15,1 0-15,-1 0 16,26 0-16,27 0 16,-53 0-16,1 0 15,51 0-15,-25 0 16,26 0-16,-27 0 15,27 0-15,0 0 16,-53 26-16,27 1 16,25-27-16,-25 26 15,-1 0-15,27-26 16,-26 26-16,-1-26 16,1 27-16,25 25 15,-51-26-15,-1 1 16,53-1-16,0-26 15,-1 26 48,-25 79-47,26-52-16,-27-1 15,27 27-15,0-1 16,-27-25-16,27 26 15,26-27-15,0-26 63,0 53-63,0 26 16,0-26-16,0-1 15,52 1-15,1 26 16,26 0-16,-1-26 15,1 0-15,0-1 16,-27-25-16,-26-1 16,27-52-16,-1 0 15,1 26 1,-27 1-16,27-27 16,-27 0-1,26 0-15,1 0 16,-1 0-16,27 0 0,-27 0 15,1 0 1,26 0-16,-53 0 16,26 0-16,1 0 15,-27 0 1,27 0-16,157 0 31,-27 0-31,-52-27 0,-52 27 16,-26-26-16,25 0 15,-51 0-15,-1 26 16,-26-27-16,26 1 16,26 0-16,-25 26 15,25-26-15,27-27 16,0-25-16,-1-1 16,-25 0-16,-1 27 15,1 25-15,-1-51 16,1 25-16,-1-26 15,-26 1-15,1 52 16,-27-27-16,0 27 31,0-27-15,0 1 0,0 26-16,0-27 15,0 27-15,-27 0 16,1-1-1,26 1-15,-26-53 16,26 1-16,-26 25 16,-27-52-16,1-26 15,26 79-15,26-27 16,-27 26-16,-25 53 31,26-26 0,-27 26-31,27 0 94,-27 0-78,27 0-16,-26 0 15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920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72.86527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4-04-03T00:59:49.89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21202 3463 0,'0'27'47,"-53"-27"-16,1 0-31,26-27 16,-27 27-16,1-26 15,25 26 17,-25 0-32,-27 0 15,1 0-15,-1 0 16,26 0-16,27 0 16,-53 0-16,1 0 15,51 0-15,-25 0 16,26 0-16,-27 0 15,27 0-15,0 0 16,-53 26-16,27 1 16,25-27-16,-25 26 15,-1 0-15,27-26 16,-26 26-16,-1-26 16,1 27-16,25 25 15,-51-26-15,-1 1 16,53-1-16,0-26 15,-1 26 48,-25 79-47,26-52-16,-27-1 15,27 27-15,0-1 16,-27-25-16,27 26 15,26-27-15,0-26 63,0 53-63,0 26 16,0-26-16,0-1 15,52 1-15,1 26 16,26 0-16,-1-26 15,1 0-15,0-1 16,-27-25-16,-26-1 16,27-52-16,-1 0 15,1 26 1,-27 1-16,27-27 16,-27 0-1,26 0-15,1 0 16,-1 0-16,27 0 0,-27 0 15,1 0 1,26 0-16,-53 0 16,26 0-16,1 0 15,-27 0 1,27 0-16,157 0 31,-27 0-31,-52-27 0,-52 27 16,-26-26-16,25 0 15,-51 0-15,-1 26 16,-26-27-16,26 1 16,26 0-16,-25 26 15,25-26-15,27-27 16,0-25-16,-1-1 16,-25 0-16,-1 27 15,1 25-15,-1-51 16,1 25-16,-1-26 15,-26 1-15,1 52 16,-27-27-16,0 27 31,0-27-15,0 1 0,0 26-16,0-27 15,0 27-15,-27 0 16,1-1-1,26 1-15,-26-53 16,26 1-16,-26 25 16,-27-52-16,1-26 15,26 79-15,26-27 16,-27 26-16,-25 53 31,26-26 0,-27 26-31,27 0 94,-27 0-78,27 0-16,-26 0 15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4095" units="cm"/>
          <inkml:channel name="Y" type="integer" max="4095" units="cm"/>
          <inkml:channel name="T" type="integer" max="2.14748E9" units="dev"/>
        </inkml:traceFormat>
        <inkml:channelProperties>
          <inkml:channelProperty channel="X" name="resolution" value="77.70399" units="1/cm"/>
          <inkml:channelProperty channel="Y" name="resolution" value="138.1579" units="1/cm"/>
          <inkml:channelProperty channel="T" name="resolution" value="1" units="1/dev"/>
        </inkml:channelProperties>
      </inkml:inkSource>
      <inkml:timestamp xml:id="ts0" timeString="2024-04-02T12:16:27.20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6456 16152 0,'86'0'16,"-61"0"0,73-7-1,-12 7 1,25-14-1,-12-13 1,110-84 0,-12-27-1,-13-28 1,-12 13 0,-36-54-1,-26-42 16,-23 13-15,-1 1 0,-37-14-1,0 14 1,-24 27 0,-13 201-1,0-41 1,1-35-1,36-56 1,25 28 0,36 21-1,1 28 1,-12-21 0,134-14-1,-36 14 16,62 21-15,11 27 0,25 8-1,-12 20 1,0 0 0,-12 21-1,12-7 1,-37 6-1,25-6 1,-38 0 0,14 0-1,-1-7 1,-173 0 0,100 0-1,23 7 16,-48-7-15,37-7 0,12 14-1,-13 0 1,-49-7 0,13 7-1,49-14 1,-25 7-1,-61-7 1,49 28 0,37-14-1,-25-7 1,0 20 0,-12-6-1,111-7 16,-74 21-15,-111-7 0,37-1-1,24 1 1,-24 0 0,-37 0-1,-24-7 1,-25-8-1,0 1 1,-13-7 0,-11 7-1,-1-7 1,0 0 0,1 0-1,-13 0 16,0 0-15</inkml:trace>
  <inkml:trace contextRef="#ctx0" brushRef="#br0" timeOffset="899.9">15290 12547 0,'0'14'15,"0"-8"1,0-6 0,0 0-1,12 21 1,25 35 0,61 27-1,13-7 1,-25-28-1,13 8 1,-1-15 0,25-6-1,-25-8 1,1-6 0,-38-14-1,1 41 16,-25-27-15,-13 0 0,1-7-1,-13 0 1,-12-7 0,-86 69-1,-37 14 1,-12 41-1,-74-6 1,209-125 0</inkml:trace>
  <inkml:trace contextRef="#ctx0" brushRef="#br0" timeOffset="9634.11">15942 13066 0,'37'27'15,"-50"-27"1,13 0 0,0 0-1,0 0 1,13 0 15,24 14-15,86 28-1,-13-21 1,26 34 0,60-34-1,14 20 1,-124-20-1,-12-7 1,159 55 0,-48-21-1,24-6 1,-172-35 0,12 14-1,0-1 16,1-6-15,-1 0 0,0-14-1,0-21 1,37-13 0,-12-15-1,0-48 1,-25 28-1,-12 14 1,-12 6 0,-1 8-1,25-91 1,-24 8 0,0-35-1,-13 55 1,25 14 15,0-7-15,-25-48-1,13-21 1,-1 6 0,-11 43-1,-13 54 1,12-6-1,0 21 1,-12-21 0,0-21-1,13 7 1,-1-14 0,-12 14-1,0 0 16,12 13-15,-12 22 0,12 13-1,-12-6 1,13 6 0,11-6-1,13 6 1,12 7-1,1 1 1,-13 6 0,-1 7-1,38 0 1,0 0 0,12-6-1,0 6 16,25 7-15,-49 7 0,-13-7-1,0 7 1,-24 0 0,12-7-1,-25 14 1,12-14-1,-24 7 1</inkml:trace>
  <inkml:trace contextRef="#ctx0" brushRef="#br0" timeOffset="10299.61">19239 10035 0,'-12'-14'16,"12"21"-1,0-7 1,-13 7 0,13 0-1,13 13 16,11 22-15,50 34 0,-12 7-1,-1 7 1,-12-28 0,-12-20-1,25 13 1,-1-6-1,1-15 1,-38-20 0,1 7-1,0-7 1,-1-7 0,-24-7 15,-24 13-16,-1 70 1,-61 104 0,-37 0-1,123-187 1</inkml:trace>
  <inkml:trace contextRef="#ctx0" brushRef="#br0" timeOffset="15034.44">20838 11377 0,'0'14'15,"0"-14"1,0 0 0,0 0-1,0 0 1,0 0 0,0 0-1,0 0 1,0 0-1,0 0 1,0 7 0,0 0-1,13 34 1,-1 49 0,0 35-1,0-1 16,-12-27-15,13-21 0,-13 28-1,12 35 1,-12 27 0,0-7-1,0-55 1,0-21-1,0-28 1,0-6 0,0 27-1,0 7 1,0 0 0,0-21-1,0-13 16,0-8-15,0-20 0,0-21-1</inkml:trace>
  <inkml:trace contextRef="#ctx0" brushRef="#br0" timeOffset="16033.72">20408 12353 0,'-13'0'16,"13"0"0,0 0-1,13 0 1,-13 7 0,12 21-1,13 13 1,11 14-1,1 56 1,13-14 0,-14-35-1,26-6 1,-25-8 0,0-13-1,-13-8 16,1 1-15,-13-7 0,1 13-1,-1-20 1,0 14 0,1 0-1,-13-8 1,12 1-1,0 0 1,-12-14 0,0 7-1,0-7 1,12-7 0,-12-7-1,74-21 16,99-41-15,-14-77 0,-159 146-1</inkml:trace>
  <inkml:trace contextRef="#ctx0" brushRef="#br0" timeOffset="22382.63">17799 13744 0,'-12'-90'15,"12"83"1,0 0 0,0 0-1,0 0 1,0-7 0,-12 7-1,12 1 16,0-1-15,0 0 0,0 7-1,0-7 1,0 0 0,0 0-1,0 7 1,0-7-1,0 7 1,0 0 0,12 0-1,25 0 1,25 0 0,36-7 15,-24 7-16,-13 7 1,1 0 0,24 7-1,25 0 1,36-7 0,-48-14-1,-1 20 1,-24-6-1,-13-7 1,50 28 0,37-35-1,-13 14 1,-49 14 0,-12-7-1,0 0 16,-13-1-15,13 1 0,-25-7-1,-24-7 1,0 7 0,-1-7-1,1 7 1,-25-7-1,0 0 1</inkml:trace>
  <inkml:trace contextRef="#ctx0" brushRef="#br0" timeOffset="23131.99">19460 13170 0,'-24'13'16,"24"-13"-1,0 0 1,0 0 0,0 0-1,12 14 16,0-7-15,13 21 0,0 6-1,-1 29 1,1-1 0,-1 14-1,26 0 1,-1-34-1,0 13 1,13-13 0,-26-15-1,1 1 1,-12-14 0,0-14-1,-13 14 16,0-14-15,0 14 0,-12-14-1,-24 6 1,-13 8 0,-25 7-1,-159 138 1,-25 56-1,246-215 1</inkml:trace>
  <inkml:trace contextRef="#ctx0" brushRef="#br0" timeOffset="41200.97">10922 14588 0,'-12'-27'15,"12"27"1,0 0 0,0 0-1,0 0 1,24 0-1,50 13 1,37-6 0,-37 0-1,135 35 1,37 62 0,0 96-1,-37-27 16,-37 14-15,-24 7 0,-49 48-1,-63-34 1,-36-15 0,-98 43-1,-25 27 1,-98-28-1,-50 49 1,-98 6 0,24-54-1,-73-29 1,12-41 0,12-13-1,-36-50 16,61-26-15,-50-84 0,63-42-1,-26-62 1,75-6 0,-1-15-1,50 15 1,24 6-1,25-27 1,49-1 0,37-6-1,37-1 1,98 126 0,0-1-1,1 7 16,-13 0-15,12 7 0,-12 0-1,12 14 1,-12 28 0,-24 117-1,24-55 1,-13-7-1,1-28 1,12-20 0,12-8-1,13-20 1,-25-14 15</inkml:trace>
  <inkml:trace contextRef="#ctx0" brushRef="#br0" timeOffset="41650.24">6518 16990 0,'24'-7'16,"-24"7"-1,-12 0 1,12 0 0,0 0-1,0 0 1,0 0-1,0 0 1,0 0 0,0 0-1,0 0 1,-12 0 0,-1 0-1,13 0 16,-12 0-15,12 0 0,-12 0-1,12 0 1,0 0 0,0 0-1,0 0 1,49 20-1,111 63 1,-160-83 0</inkml:trace>
  <inkml:trace contextRef="#ctx0" brushRef="#br0" timeOffset="64049.73">22413 11370 0,'0'0'16,"0"0"-1,0 0 1,0 0 0,0 0-1,0 0 16,-12 0-15,-1 21 0,-11 41-1,-1 77 1,1 34 0,-1-49-1,0 160 1,-12 0-1,37-153 1,0-27 0,-12 27-1,12 22 1,0-29 0,-12 1 15,12-56-16,0-20 1,0-8 0,0-20-1,0-21 1</inkml:trace>
  <inkml:trace contextRef="#ctx0" brushRef="#br0" timeOffset="64732.88">22192 11481 0,'-13'0'16,"13"0"0,0 0-1,0 0 1,0 0-1,0 0 1,13-7 0,-13 7-1,12-14 1,12 7 0,-11 0 15,-1 7-16,0-7 1,-12 7 0,0 0-1,0 0 1,0 0 0,0 0-1,-12 14 1,0 21-1,-25 83 1,-37 48 0,-12-63-1,24-13 1,38-48 0,24-21 15,0-21-16</inkml:trace>
  <inkml:trace contextRef="#ctx0" brushRef="#br0" timeOffset="65149.55">22425 11439 0,'13'0'15,"-13"0"1,0 0 0,0 0-1,0 0 1,0 0 0,0 0-1,0 0 16,0 0-15,0 7 0,0 0-1,24 7 1,38 28 0,-1 61-1,-12 8 1,1 7-1,-26-49 1,-24-69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4095" units="cm"/>
          <inkml:channel name="Y" type="integer" max="4095" units="cm"/>
          <inkml:channel name="T" type="integer" max="2.14748E9" units="dev"/>
        </inkml:traceFormat>
        <inkml:channelProperties>
          <inkml:channelProperty channel="X" name="resolution" value="77.70399" units="1/cm"/>
          <inkml:channelProperty channel="Y" name="resolution" value="138.1579" units="1/cm"/>
          <inkml:channelProperty channel="T" name="resolution" value="1" units="1/dev"/>
        </inkml:channelProperties>
      </inkml:inkSource>
      <inkml:timestamp xml:id="ts0" timeString="2024-04-02T12:14:44.92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5964 16187 0,'-12'0'0,"12"0"0,0 0 0,0 0 16,0 0-16,0 0 0,0 0 16,12 0-16,-12 0 0,37 0 15,37 0 1,-13 0 15,-11 0-15,48 7-1,0 0 1,25-7 0,0 0-1,-24 0 1,-38 0-1,26 0 1,-14-7 0,13 7-1,25-7 1,12 0 0,-49 0-1,0 0 16,-25-7-15,0-34 0,13-35-1,12-28 1,-13 14 0,-24 21-1,0 7 1,-25 27-1,1 8 1,-1 6 0,0 0-1,-12 14 1,12 1 0,-12 13 15</inkml:trace>
  <inkml:trace contextRef="#ctx0" brushRef="#br0" timeOffset="1433.97">7871 15460 0,'12'-7'16,"-12"7"-1,0 0 1,0 0 0,0 0-1,0-7 1,0 7-1,0-7 1,0-6 0,0-22-1,-12-83 1,24-20 15,-12 41-31,0 14 31,0 28-15,0 6 0,0 15-1,0 6 1,0 0 0,0 7-1,0 8 1,0-1-1,0 0 1,-12 7 0,-13-7-1,13 7 1,0 21 0,-13 7-1,13 20 16,-13-13-15,25-7 0,-12-7-1,0-28 1,12 0 0,-13-7-1,13 7 1,0 1-1,0-1 1,0 7 0,0 0-1,0 0 1,0 0 0,0 0-1,0 0 16,13 0-15,-1 7 0,0-7-1,13 7 1,12 0 0,0 7-1,0 0 1,0-7-1,-13 7 1,-24-7 0</inkml:trace>
  <inkml:trace contextRef="#ctx0" brushRef="#br0" timeOffset="5098.91">5189 13806 0,'0'-7'15,"0"7"1,0 0-1,0 0 1,0 0 0,0 0-1,0 0 1,0 0 0,0 0-1,12-7 16,25 7-15,37-7 0,24 7-1,-11-6 1,-26 6 0,74 0-1,25 6 1,0-12-1,-12 6 1,-13 0 0,50 6-1,-25 1 1,0-7 0,49 7-1,-12-14 16,0 14-15,24-7 0,-12 0-1,13-20 1,97 13 0,-23-7-1,11 14 1,-24-7-1,-24 7 1,-13 0 0,-25-7-1,1 0 1,-26-7 0,14-14-1,-26 15 16,-12-15-15,25 0 0,-37-13-1,0 13 1,-12-20 0,24-1-1,-111 28 1,1-6-1,36 13 1,62-14 0,-49 7-1,-25 8 1,-24 13 0,-25-7-1,-13 7 16,1-7-15,-1 7 0,-11 0-1,-1 0 1,-12 0 0</inkml:trace>
  <inkml:trace contextRef="#ctx0" brushRef="#br0" timeOffset="5699.86">12177 13017 0,'37'0'16,"-37"0"-1,25-7 1,24 14 0,12 0-1,13 0 1,-12 0 15,-25 7-31,-1-14 31,1 7-15,-24-7 0,11 27-1,-11 1 1,-1 0 0,-12 0-1,-12 20 1,-25 21-1,12-7 1,-36 35 0,61-97-1</inkml:trace>
  <inkml:trace contextRef="#ctx0" brushRef="#br0" timeOffset="12067.44">13727 13619 0,'-12'14'16,"12"-14"0,0 0-1,0 0 1,0 0 0,0 0-1,12 0 1,1 0 15,11-7-15,1 0-1,24-7 1,-12 14 0,86-6-1,37-15 1,-62 14-1,1-7 1,-26 7 0,63 21-1,36-28 1,-37 7 0,-49 21-1,-12-14 16,37 21-15,24-14 0,1-7-1,-26-14 1,-23 14 0,-14-7-1,1 14 1,25-21-1,11 14 1,26-21 0,-63 21-1,-23 7 1,-1-7 0,-12 7-1,0-7 16,24 14-15,-24-7 0,12 14-1,-12-8 1,0-6 0,0 0-1,0 0 1,12-7-1,-12 0 1,0 0 0,0 7-1,-12-7 1,-1-7 0,1 0-1,-1 7 16,1-7-15,-13 7 0,13 0-1,-13 0 1,0 0 0,1 0-1,-1 0 1,0 0-1,1-7 1,-1 7 0,0-6-1,13 6 1,-1 0 0,1 6-1,0-6 16,12 0-15,12-13 0,0 13-1,-12 0 1,24 13 0,-36-13-1,0-6 1,-1-1-1,-11 7 1,11 0 0,1 0-1,-1 0 1,-11-7 0,-1 7-1,0 0 16,1 0-15,-1 0 0,0 0-1,1 0 1,-13 0 0,12-7-1,0 7 1,-12 0-1,12-7 1,1 7 0,-1 7-1,0-14 1,13 14 0,0 0-1,24-14 16,-12 0-15,12 7 0,0 0-1,25-7 1,-13 7 0,-11 0-1,-1-7 1,-12 7-1,49 14 1,0 14 0,12-15-1,-24 8 1,-25-21 0,13 0-1,-37 0 16,-1 0-15,13 0 0,-12 0-1,12-14 1,-13 14 0,1 0-1,12 7 1,24 7-1,25 14 1,-24-7 0,12-15-1,-25 1 1,-25 0 0,1 0-1,0-7 16,-25 0-15,24 7 0,-11-7-1,-1 0 1,25 7 0,-13-7-1,-11 0 1,11 7-1,1-7 1,-13 7 0,1-7-1,-1 0 1,0 0 0,-12 0-1,12 0 16,1 0-15,-13 0 0,0 0-1</inkml:trace>
  <inkml:trace contextRef="#ctx0" brushRef="#br0" timeOffset="12949.58">19153 13114 0,'12'14'15,"-12"-14"1,0 7 0,12 0-1,25 14 1,37 13 0,0 15-1,-25-8 16,13 35-15,-13-20 0,-12 20-1,12-14 1,-12-7 0,0-20-1,-13-7 1,1-8-1,-13-6 1,1 0 0,-1 0-1,0-7 1,1 0 0,-13-7-1,0 7 16,12 0-15,-12 0 0,0-7-1,0 7 1,-12-7 0,-1 13-1,-61 8 1,-61 14-1,-62 48 1,13 41 0,184-124-1</inkml:trace>
  <inkml:trace contextRef="#ctx0" brushRef="#br0" timeOffset="57401.13">18205 13772 0,'13'-7'0,"-13"7"16,0 0-16,0 0 0,0 0 15,0 0-15,0 0 0,0 7 16,0 20-16,0 146 16,-13 14-1,1-62 1,-25 255 0,13-117-1,24-138 16,-13-28-15,26 34 0,-13 15-1,12 13 1,0-49 0,1-27-1,23 1 1,1-22-1,0-28 1,25 15 0,24-8-1,62-20 1,-25-7 0,12 7-1,37-7 16,-12 6-15,-49-13 0,-50 0-1,-11 0 1,-14-7 0,-11 0-1,-13 0 1,-12 0-1</inkml:trace>
  <inkml:trace contextRef="#ctx0" brushRef="#br0" timeOffset="57833.58">19214 15453 0,'0'0'16,"13"0"0,-1 7-1,49 42 1,13 27-1,0 34 1,-12 1 0,-26-35-1,-11-20 1,0-15 0,-25-6-1,12-14 16,-123 145-15,-61 90 0,-25-35-1,197-221 1</inkml:trace>
  <inkml:trace contextRef="#ctx0" brushRef="#br0" timeOffset="64735.32">20408 13889 0,'12'21'16,"-12"-21"-1,0 0 1,0 0 0,0 0-1,0 0 1,-12 0-1,12 7 1,0 21 0,0 62-1,12 34 1,0-34 0,-12-14-1,13 7 16,-26 28-15,13 34 0,25-6-1,-13-29 1,-12-33 0,12-15-1,-12-28 1,0 8-1,13-21 1,-13-7 0,0-1-1,0-13 1,0 0 0</inkml:trace>
  <inkml:trace contextRef="#ctx0" brushRef="#br0" timeOffset="65849.22">20260 14692 0,'0'0'16,"0"0"-1,0 7 1,12 21 0,-12 48-1,50 69 16,-14-48-15,14-21 0,-1-7-1,-12-13 1,12 6 0,-12-21-1,-13-20 1,1 0-1,0-21 1,12 0 0,-13-7-1,25-62 1,1-56 0,-13-13-1,-13 55 16,-12 21-15,1 13 0,-1 21-1,-12 8 1,0 20 0</inkml:trace>
  <inkml:trace contextRef="#ctx0" brushRef="#br0" timeOffset="66301.66">21293 13862 0,'13'-7'16,"-13"7"0,0 0-1,12 7 1,-12 83 0,12 55-1,-12-41 1,0 6-1,0 167 1,-24-14 0,11-131-1,13-42 1,-12-21 0,12-21-1,-12-13 16,12-14-15,0-21 0</inkml:trace>
  <inkml:trace contextRef="#ctx0" brushRef="#br0" timeOffset="66683.8">21010 14913 0,'0'-13'15,"0"26"1,25 77 0,12 14-1,0-35 16,0 8-15,24 13 0,-48-56-1,11-6 1,13-21 0,-12-7-1,24-14 1,0-48-1,74-91 1,-123 153 0</inkml:trace>
  <inkml:trace contextRef="#ctx0" brushRef="#br0" timeOffset="68933.78">22745 14304 0,'-12'14'15,"12"-14"1,0 0 0,0 0-1,0 0 1,0 14-1,-12 14 1,-1 13 0,1 8-1,0-15 1,12 63 0,-13 97-1,26-49 16,-1-34-15,0-28 0,1 62-1,-13 1 1,12-29 0,0-27-1,-12-34 1,0-8-1,12-20 1,-12-28 0</inkml:trace>
  <inkml:trace contextRef="#ctx0" brushRef="#br0" timeOffset="70151.47">22708 14263 0,'13'-21'16,"-13"21"-1,0 0 16,0-7-15,0 7 0,0 0-1,0 0 1,0 0 0,0 0-1,0 0 1,0 7-1,-13 42 1,-11 13 0,11-14-1,-24 1 1,25-1 0,-25 8 15,13-1-16,-13-7 1,24-13 0,1-28-1,12-7 1,0 0 0,37-28-1,0 7 1,-12 8-1,-1-1 1,-12 0 0,1 7-1,-1 7 1,0-14 0,-12 14-1,13-7 16,-13 7-15,12-7 0,-12-13-1,0 6 1,12-21 0,-12 21-1,0-20 1,0-1-1,0 0 1,13 8 0,-13 13-1,0-7 1,0 7 0,0 14-1,12 7 16,0 35-15,0-8 0,1-6-1,-13 0 1,37 13 0,-13-13-1,1 0 1,-25-28-1</inkml:trace>
  <inkml:trace contextRef="#ctx0" brushRef="#br0" timeOffset="149450.09">10873 14630 0,'0'-7'16,"12"7"-1,13 7 16,110 13-15,25 50 0,98 103-1,13 7 1,-160-90 0,12-7-1,37 14 1,24 193-1,-73-103 1,-74 152 0,-99 14-1,-11-55 1,-223 61 0,63-54-1,-198-35 16,37-35-15,-36-6 0,-38-50-1,-73-47 1,110-56 0,-36-41-1,49-56 1,36-90-1,1-90 1,85 28 0,14-20-1,23 34 1,62-21 0,13-21-1,36 7 16,1 28-15,134 159 0,1 0-1,12 0 1,-12 7 0,12-7-1,0 7 1,-13 42-1,-11 124 1,24-48 0,-13-35-1,1-14 1,12-28 0,0 1-1,0-14 16,37-21-15,37-146 0,0 15-1,-25 47 1,-37 29 0,0 13-1,-12 22 1,0-8-1,0 0 1,0 0 0,0 14-1,0-6 1,-12-1 0,12 7-1,-12-7 16,-13 0-15,1 0 0,24 7-1,0 7 1,0 0 0,12-7-1,49 7 1,1 7-1,135 0 1,98 111 0,-295-118-1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4920" units="cm"/>
          <inkml:channel name="Y" type="integer" max="2000" units="cm"/>
          <inkml:channel name="T" type="integer" max="2.14748E9" units="dev"/>
        </inkml:traceFormat>
        <inkml:channelProperties>
          <inkml:channelProperty channel="X" name="resolution" value="172.63158" units="1/cm"/>
          <inkml:channelProperty channel="Y" name="resolution" value="105.26316" units="1/cm"/>
          <inkml:channelProperty channel="T" name="resolution" value="1" units="1/dev"/>
        </inkml:channelProperties>
      </inkml:inkSource>
      <inkml:timestamp xml:id="ts0" timeString="2024-04-01T12:08:36.06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21873 7200 0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920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72.86527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4-04-02T13:01:26.04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25112 4303 0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4095" units="cm"/>
          <inkml:channel name="Y" type="integer" max="4095" units="cm"/>
          <inkml:channel name="T" type="integer" max="2.14748E9" units="dev"/>
        </inkml:traceFormat>
        <inkml:channelProperties>
          <inkml:channelProperty channel="X" name="resolution" value="77.70399" units="1/cm"/>
          <inkml:channelProperty channel="Y" name="resolution" value="138.1579" units="1/cm"/>
          <inkml:channelProperty channel="T" name="resolution" value="1" units="1/dev"/>
        </inkml:channelProperties>
      </inkml:inkSource>
      <inkml:timestamp xml:id="ts0" timeString="2024-04-02T13:28:16.89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7477 10651 0,'0'-7'0,"0"7"0,-12 0 0,-25-7 15,-37-7-15,-12-48 0,-49-1 16,-111-54 0,123 68-16,-49-34 0,-111 21 31,147 41-15,-233-55-1,111 28 1,-148 6-1,123 28 1,-111 7 0,87 70-1,-75 33 1,87 8 0,-62 48-1,99-34 1,-25-7-1,86-28 1,0-14 0,62 0 15,135-62-15,0 21-1,24 69 1,38 0-1,86 48 1,-25-41 0,123 13-1,-13-47 1,87-22 0,0-34-1,135-14 1,-110 0-1,110 21 1,-37 6 0,-36 8 15,36-7-15,13-28-1,-50-21 1,50-28-1,-124 1 1,-24 6 0,-271 36-1,1-1 1,-13-7 0,0-28-1,-37-117 1,-12-14-1,-87-28 1,-48 42 0,-38 28 15,222 131-15</inkml:trace>
  <inkml:trace contextRef="#ctx0" brushRef="#br0" timeOffset="49315.1">21023 10775 0,'12'0'15,"-12"0"-15,0-7 0,0 0 16,0 7-16,-12-7 0,12 7 15,0-7-15,-13 0 0,-11 1 16,-25-1 0,-124-14 15,26 21-15,61 0-1,-74 7 1,-86-14-1,110 7 1,-24 21 0,-36-28-1,11 7 1,62 0 0,-62 14-1,-98-28 1,160 7-1,-36 14 1,-38-7 0,12-14 15,-12 28-15,-12-14-1,12 0 1,25 20-1,-37-13 1,0-7 0,61 56-1,25-15 1,-25-13 0,-36-14-1,73 13 1,25-6-1,37 0 1,0 21 0,24-8 15,25 21-15,25 8-1,73 20 1,-24-28-1,37-13 1,98 27 0,-12-34-1,73 6 1,13-20 0,49 0-1,1-28 1,23 7-1,-36-14 1,12 21 15,-36-21-15,-1 21 0,25-21-1,-62 21 1,13-14-1,-37 7 1,-197 0 0,196-7-1,-122 0 1,86-7 0,-173 7-1,1 0 1,-13 1-1,13-22 1,0-34 0,-13-8 15,-37-33-15,-12 6-1,-12 27 1,-37-6-1,86 76 1</inkml:trace>
  <inkml:trace contextRef="#ctx0" brushRef="#br0" timeOffset="65798.28">5164 7758 0,'-12'-7'15,"12"7"1,0 0 0,0 0-1,0 0 1,0 0-1,0 0 1,0 0 0,0 0-1,0 0 17,0 0-17,0 7 1,0 7-1,0 13 1,0 8 0,0 34-1,0-14 1,0-6 0,0-8-1,0-13 1,12 0-1,-12-7 1,0-8 0,0 1 15,13-14-15,11 0-1,-11-27 1,-13-22-1,24 1 1,13-35 0,-25 48-1,1-6 1,11 6 0,-24 21-1,0 7 1,13 14-1,-1 21 1,13 27 0,-1 7 15,13 1-15,0-15-1,0-6 1,-12-15-1,24 1 1,-25-14 0,1-14-1,0-14 1,-1-21 0,1-27-1,-1 7 1,-11 6-1,-1-13 1,-12 14 0,12 13 15,-12 7-15,0 8-1,13 13 1,-13 7-1</inkml:trace>
  <inkml:trace contextRef="#ctx0" brushRef="#br0" timeOffset="66633">6235 7689 0,'-37'-42'16,"37"42"-1,0 0 1,-12 0 0,12-7-1,-13 7 1,1 7 0,-50 14-1,13 41 1,12 21-1,0 21 1,1-28 0,36-27 15,12-8-15,-12-6-1,12-8 1,-12-6-1,25 0 1,-1-7 0,1 0-1,0-8 1,-13-6 0,12-6-1,26-36 1,-13 0-1,-1 8 1,-23-1 0,-13 1 15,0-1-15,-13-41-1,1 34 1,0 1-1,0 20 1,-1-7 0,1 15-1,12-1 1,0 14 0</inkml:trace>
  <inkml:trace contextRef="#ctx0" brushRef="#br0" timeOffset="70016.03">7428 7931 0,'-12'-21'16,"12"21"-1,12 0 1,-12-14 0,-12-27-1,-13-1 1,13 8-1,0 6 1,-1 7 0,1 0 15,0 8-15,-25-8-1,12 7 1,13 49-1,0 41 1,12 7 0,0-28-1,0-7 1,12-13 0,-12-7-1,0-14 1,25-49-1,-1-55 1,1 7 0,-13 14 15,25-63-15,-12-20-1,-25 0 1,0 48-1,-13 28 1,13 41 0,-12 1-1,24 6 1,13 14 0,12 90-1,0 28 1,12 90-1,0 41 1,0 0 0,-36-172 15,-1-15-15,-12-48-1</inkml:trace>
  <inkml:trace contextRef="#ctx0" brushRef="#br0" timeOffset="72850.28">6444 7543 0,'0'-14'16,"0"14"0,0 0-1,0 0 1,0 0-1,0 0 1,0 0 0,0 0 15,0 0-15,0 0-1,25 7 1,-1 7-1,-12-14 1,1 7 0,-1 0-1,0 0 1,1 0 0,24 48-1,-25-20 1,12 20-1,-24 7 1,13-13 0,-1 13 15,0-13-15,-12-8-1,0-6 1,0-14-1,0-8 1,-12 1 0,12 0-1,0 0 1,0 0 0,0-7-1,0 6 1,0-6-1,0 7 1,0 0 0,0 0 15,0-7-15,0 0-1,0-7 1,0 7-1,0-7 1,0-7 0,-12-28-1,24-69 1,-12 21 0,25 7-1,-25 28 1,24-1-1,-11 8 1,11 6 0,-12 14 15,13-6-15,-25 20-1,12 0 1,1-7-1,-13 7 1,0 0 0,0 7-1</inkml:trace>
  <inkml:trace contextRef="#ctx0" brushRef="#br0" timeOffset="89085.01">15167 10062 0,'0'-27'16,"0"27"-1,0 7 1,0-7 0,0 0-1,0-7 1,0 14 0,-13-7-1,13 0 1,-24-7-1,-1 7 1,1 0 0,-26-7 15,-11-7-15,-13 7-1,25 0 1,12 0-1,0 0 1,-25 7 0,-48 7-1,-63-21 1,75 7 0,12 7-1,-74 14 1,0-14-1,0-7 1,25 49 0,-87-49 15,25 28-15,-24-8-1,172-6 1,-25 0-1,-74-21 1,-12 21 0,50 7-1,11 0 1,-122-28 0,12 28-1,-13 0 1,25 7-1,1 6 1,-1 8 0,135-7 15,1-1-15,-124 56-1,1-27 1,-1 34-1,136-49 1,12-13 0,-37 6-1,37-13 1,13-7 0,11-7-1,13 0 1,0 0-1,0-7 1,0 14 0,37 0 15,37 13-15,61 29-1,-36 6 1,-38-41-1,25 6 1,25 15 0,49-21-1,-25-8 1,-48-6 0,36-7-1,61 7 1,-24 7-1,-37-21 1,25 7 0,122-14 15,-61 14-15,-122 7-1,183-21 1,-73 14-1,-98-13 1,48-22 0,87 21-1,-13 0 1,-11-13 0,-14 6-1,14-7 1,-137 21-1,-11 0 1,73 14 0,1-7 15,-1-7-15,-24 0-1,-38-6 1,14-8-1,-14 7 1,-23 0 0,-14 0-1,1-20 1,-24-8 0,-1-20-1,-12 0 1,12-35-1,-24 21 1,0 20 0,12 15 15,-13-1-15,1 14-1,0 1 1,-37 6-1,-111-34 1,160 55 0</inkml:trace>
  <inkml:trace contextRef="#ctx0" brushRef="#br0" timeOffset="90017.68">8302 10609 0,'-13'7'15,"13"-7"1,0 0-1,0 0 1,0 0 0,0 0 15,0 0-15,13 0-1,-1 0 1,62 7-1,61-7 1,-36 0 0,24 0-1,36 0 1,14 0 0,-38 0-1,-49-7 1,25 7-1,-50 0 1,-11 0 15,-13 0-15,-13 0 0,-24 0-1</inkml:trace>
  <inkml:trace contextRef="#ctx0" brushRef="#br0" timeOffset="90982.1">9028 10346 0,'12'-14'15,"-12"14"1,0-7 0,0 7-1,0-7 1,0 7 0,0-7-1,0 7 1,-12-7-1,12 1 1,0-1 0,0 7 15,12-7-15,12 7-1,1 0 1,49 7-1,12 13 1,-37 1 0,13 14-1,-25-8 1,0 8 0,-1-7-1,-11-1 1,37 8-1,-26-14 1,-11 0 0,0-15 15,-13 8-15,0-7-1,1 0 1,-1 0-1,-12-7 1,0 0 0,12 7-1,-12 0 1,12-7 0,-12 7-1,-12 0 1,-12 14-1,-26 75 1,-183 167 0,233-263 15</inkml:trace>
  <inkml:trace contextRef="#ctx0" brushRef="#br0" timeOffset="175982.71">12657 12311 0,'-37'21'16,"25"-21"0,-1 0-1,-11 0 1,-13-7 0,0 7-1,0-7 1,-25 0-1,13 0 1,12 1 0,0-8 15,-36 14-15,-38-14-1,13 14 1,-26-14-1,38 7 1,-37 0 0,-12 7-1,0 7 1,-13-7 0,50 7-1,-38 0 1,-36 14-1,12-21 1,49 7 0,38 20 15,-1 8-15,37-14-1,0-1 1,25 1-1,-13 7 1,13 6 0,-1 8-1,26 27 1,-1-7 0,25 8-1,49-1 1,12-14-1,-24-13 1,37-8 0,-13 1 15,50-7-15,-13-8-1,1-6 1,11 0-1,63-14 1,-75 0 0,12 0-1,13 0 1,37 7 0,-61-14-1,11 21 1,25-14-1,25 0 1,-86 0 0,24 0 15,-12 7-15,50 0-1,-13-14 1,-62-7-1,37 14 1,-24 0 0,49 0-1,-12-7 1,-13 7 0,0 0-1,50 0 1,-25 0-1,-25-7 1,37 7 0,37-7 15,-73 0-15,85 0-1,25 1 1,-86-1-1,185-7 1,-87 14 0,50-7-1,-50 0 1,0 0 0,-12 0-1,13 7 1,-198 7-1,75 0 1,110 0 0,-111-7 15,50 21-15,48-8-1,-60 1 1,23-21-1,124 7 1,-172 0 0,24 0-1,50 14 1,-38-21 0,25 0-1,13 14 1,-25-7-1,-13 0 1,38 7 0,-38-14 15,-49 14-15,38 7-1,11-14 1,-11 0-1,-14 7 1,-23 0 0,36-7-1,-12 0 1,-62 0 0,-12 0-1,25 0 1,37-14-1,-1-7 1,-23-13 0,-26-8 15,-12-20-15,-12-7-1,-13 6 1,26-34-1,-26 28 1,-12 21 0,-12 20-1,-12 0 1,-1 1 0,-24 13-1,0 0 1,0 0-1,-37-27 1,13 13 0,-13-20 15,-12-15-15,-62 8-1,-49-21 1,37 41-1,-49 1 1,-111-15 0,61 28-1,-85 21 1,61 0 0,-13 14-1,26 21 1,-1-14-1,37 13 1,-12-6 0,0 7 15,147-22-15,-184 8-1,74-21 1,-50 7-1,-11-7 1,-26 7 0,161-7-1,-74 14 1,-37-14 0,73-7-1,-171 7 1,73-7-1,123 0 1,-86 0 0,-24 0-1,49-20 17,-13 20-17,-24 0 1,12-14-1,62 21 1,-74 7 0,12-28-1,61 21 1,-60 21 0,11 13-1,13-20 1,-37 7-1,-13-14 1,38 0 0,11 7 15,-36-7-15,12-7-1,62 7 1,-37 0-1,-25 6 1,25-20 0,49 14-1,-62-7 1,13-7 0,12 14-1,37-7 1,-49 21-1,-13-14 1,13 14 0,172-21 15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4095" units="cm"/>
          <inkml:channel name="Y" type="integer" max="4095" units="cm"/>
          <inkml:channel name="T" type="integer" max="2.14748E9" units="dev"/>
        </inkml:traceFormat>
        <inkml:channelProperties>
          <inkml:channelProperty channel="X" name="resolution" value="77.70399" units="1/cm"/>
          <inkml:channelProperty channel="Y" name="resolution" value="138.1579" units="1/cm"/>
          <inkml:channelProperty channel="T" name="resolution" value="1" units="1/dev"/>
        </inkml:channelProperties>
      </inkml:inkSource>
      <inkml:timestamp xml:id="ts0" timeString="2024-04-02T13:30:16.11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14662 16166 0,'0'0'15,"25"0"1,12-7 0,0 7-1,12-14 1,-12 7-1,49-27 1,-86 34 15</inkml:trace>
  <inkml:trace contextRef="#ctx0" brushRef="#br0" timeOffset="1515.44">15240 15432 0,'0'0'16,"0"0"0,0 0-1,0 0 1,0 0-1,0 0 1,0 0 0,-12 0 15,12 0-15,0 0-1,0 0 1,-12-6-1,0 6 1,12 6 0,-25-6-1,-24 0 1,-25 7 0,0-7-1,0 0 1,0 0-1,-61 21 1,-13-7 0,1-21 15,48 0-15,26 7-1,-13 0 1,-50 0-1,1 7 1,12-7 0,24 0-1,-36 14 1,-37-7 0,12-14-1,25 62 1,-25-13-1,-123 41 1,86-14 0,-12 14 15,36 14-15,1 0-1,37-7 1,-13-21-1,136-62 1,-13 41 0,13-13-1,-25 7 1,25 6 0,-1 7-1,1 8 1,12 20-1,25-7 1,12-14 0,12 7 15,49-6-15,13-22-1,12 1 1,12-8-1,25-13 1,-12-14 0,12 7-1,37-14 1,-13-7 0,-11 7-1,23 0 1,14-7-1,-75 7 1,0-7 0,1 0 15,-13-7-15,12-13-1,0-29 1,-49 1-1,-12-28 1,-12-42 0,-13 28-1,-25 28 1,1 21 0,12-15-1,-12-13 1,-13-7-1,0 0 1,-12 35 0,0 48 15</inkml:trace>
  <inkml:trace contextRef="#ctx0" brushRef="#br0" timeOffset="4265.22">13912 16415 0,'0'-69'16,"0"62"-1,0 14 1,0-7 0,0 7-1,0-7 1,0 0 0,0 7-1,0 0 1,-25 55-1,13 56 1,0-35 0,-25 41 15,0 160-15,0-35-1,0 28 1,-25 48-1,13-20 1,49-222 0,0 27-1,-12 119 1,12-22 0,0-117-1,-12-20 1,12-22-1,0-13 1,0-8 0,0-27 15</inkml:trace>
  <inkml:trace contextRef="#ctx0" brushRef="#br0" timeOffset="4998.57">13850 16187 0,'-24'14'16,"24"-14"0,0 0-1,0 0 1,0 0-1,0 0 1,0 7 0,0-7-1,0 0 17,0 6-17,-25 15 1,-49 83-1,-49 76 1,62-62 0,11-35-1,14-28 1,-26 7 0,25-27-1,13-7 1,24-21-1,0-1 1,0-6 15</inkml:trace>
  <inkml:trace contextRef="#ctx0" brushRef="#br0" timeOffset="5665.99">13616 16284 0,'-12'14'16,"12"-14"-1,0 0 1,0 0-1,0 0 1,0 0 0,0 0 15,0 0-15,12 0-1,1-7 1,-1 0-1,0-7 1,1 14 0,-1 0-1,37-14 1,-24 14 0,-1 0-1,1-7 1,-13 7-1,1 0 1,-1 0 0,0 7 15,13 28-15,12 20-1,-13 28 1,26 35-1,23-8 1,-11-27 0,12-6-1,24-15 1,-98-62 0</inkml:trace>
  <inkml:trace contextRef="#ctx0" brushRef="#br0" timeOffset="70231.88">4881 13135 0,'-73'-21'16,"48"21"-1,-24 28 1,-37 20-1,-123 153 1,12-49 0,98-55-1,38 48 1,12 105 0,49-98-1,61-7 1,99 77-1,74-29 1,61-61 0,-12-91 15,37-61-15,-49-63-1,-38-160 1,-60-13-1,-75-104 1,-135-76 0,-61 277-1,-38 14 1,-122-153 0,61 105-1,-37-8 1,-36 201-1,270 0 1</inkml:trace>
  <inkml:trace contextRef="#ctx0" brushRef="#br0" timeOffset="73132.53">15327 14851 0,'-13'-21'15,"13"21"1,0-13 0,-12-8-1,12 14 1,-12-7 0,-38-7-1,-23 7 1,-26 8-1,1-8 1,24 7 0,-37 7 15,-24-7-15,0 7-1,-13-7 1,50 21-1,-25 7 1,-62-1 0,13 29-1,61-22 1,-61 22 0,-25 20-1,25-14 1,36-6-1,-122 41 1,61-21 0,-37 7 15,197-62-15,-36 0-1,-26 7 1,1-8-1,12 8 1,36-7 0,1-7-1,25 0 1,-1-7 0,13 14-1,-1-14 1,13 7-1,25 13 1,12 15 0,24 13 15,-11-20-15,24 0-1,85-7 1,14 6-1,-63-6 1,63 7 0,23-14-1,-36-8 1,-37-12 0,185 6-1,-99-7 1,62 7-1,24 13 1,-49-6 0,25 0 15,-13-27-15,-12 6-1,37 14 1,-49 0-1,49 7 1,-49 0 0,24-7-1,13 0 1,-25 0 0,61 6-1,-61 1 1,50 7-1,-38-14 1,-12-27 0,37 20 15,-49-14-15,36 14-1,-23-7 1,-14 7-1,26 14 1,-26 0 0,13-28-1,-12 7 1,-25-6 0,0-15-1,13 0 1,-148 15-1,73 6 1,50-7 0,-61 14 15,-26-14-15,1 14-1,-25 1 1,-24-8-1,-25 0 1,-1-14 0,-36-27-1,0-1 1,0-13 0,-36 0-1,-100-97 1,-24 34-1,-37 15 1,-49 41 0,0 13 15,-61 50-15,24 6-1,-12 21 1,-13-1-1,13 1 1,-13-7 0,25 7-1,-24-7 1,48 0 0,-36-7-1,37 7 1,-62 0-1,49-7 1,-61 20 0,37 8 15,-38-14-15,50 27-1,-12-34 1,-12-7-1,48 14 1,-48 7 0,307-21-1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defRPr sz="12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1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defRPr sz="12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0AA2CDFD-9B59-41E7-8533-07012B16544E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8" Type="http://schemas.openxmlformats.org/officeDocument/2006/relationships/hyperlink" Target="https://zh.wikipedia.org/wiki/%E5%B0%8D%E8%A7%92%E8%AB%96%E8%AD%89%E6%B3%95" TargetMode="External"/><Relationship Id="rId13" Type="http://schemas.openxmlformats.org/officeDocument/2006/relationships/hyperlink" Target="https://zh.wikipedia.org/wiki/%E5%8F%AF%E5%88%A4%E5%AE%9A%E6%80%A7" TargetMode="External"/><Relationship Id="rId18" Type="http://schemas.openxmlformats.org/officeDocument/2006/relationships/hyperlink" Target="https://zh.wikipedia.org/wiki/%E7%90%86%E5%8F%91%E5%B8%88%E6%82%96%E8%AE%BA" TargetMode="External"/><Relationship Id="rId3" Type="http://schemas.openxmlformats.org/officeDocument/2006/relationships/hyperlink" Target="https://zh.wikipedia.org/wiki/%E6%95%B0%E7%90%86%E9%80%BB%E8%BE%91" TargetMode="External"/><Relationship Id="rId7" Type="http://schemas.openxmlformats.org/officeDocument/2006/relationships/hyperlink" Target="https://zh.wikipedia.org/wiki/%E8%89%BE%E4%BC%A6%C2%B7%E5%9B%BE%E7%81%B5" TargetMode="External"/><Relationship Id="rId12" Type="http://schemas.openxmlformats.org/officeDocument/2006/relationships/hyperlink" Target="https://zh.wikipedia.org/wiki/%E9%9B%86%E5%90%88" TargetMode="External"/><Relationship Id="rId17" Type="http://schemas.openxmlformats.org/officeDocument/2006/relationships/hyperlink" Target="https://zh.wikipedia.org/wiki/%E5%AE%8C%E5%A4%87%E6%80%A7" TargetMode="External"/><Relationship Id="rId2" Type="http://schemas.openxmlformats.org/officeDocument/2006/relationships/slide" Target="../slides/slide80.xml"/><Relationship Id="rId16" Type="http://schemas.openxmlformats.org/officeDocument/2006/relationships/hyperlink" Target="https://zh.wikipedia.org/wiki/%E4%B8%80%E9%98%B6%E9%80%BB%E8%BE%91" TargetMode="Externa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zh.wikipedia.org/wiki/%E6%AD%BB%E5%BE%AA%E7%92%B0" TargetMode="External"/><Relationship Id="rId11" Type="http://schemas.openxmlformats.org/officeDocument/2006/relationships/hyperlink" Target="https://zh.wikipedia.org/wiki/%E6%B1%BA%E5%AE%9A%E6%80%A7%E5%95%8F%E9%A1%8C" TargetMode="External"/><Relationship Id="rId5" Type="http://schemas.openxmlformats.org/officeDocument/2006/relationships/hyperlink" Target="https://zh.wikipedia.org/wiki/%E7%A8%8B%E5%BA%8F" TargetMode="External"/><Relationship Id="rId15" Type="http://schemas.openxmlformats.org/officeDocument/2006/relationships/hyperlink" Target="https://zh.wikipedia.org/wiki/%E8%87%AA%E6%88%91%E6%8C%87%E6%B6%89" TargetMode="External"/><Relationship Id="rId10" Type="http://schemas.openxmlformats.org/officeDocument/2006/relationships/hyperlink" Target="https://zh.wikipedia.org/wiki/%E4%B8%8D%E5%8F%AF%E5%88%A4%E5%AE%9A%E9%97%AE%E9%A2%98" TargetMode="External"/><Relationship Id="rId19" Type="http://schemas.openxmlformats.org/officeDocument/2006/relationships/hyperlink" Target="https://zh.wikipedia.org/wiki/%E5%85%A8%E8%83%BD%E6%82%96%E8%AB%96" TargetMode="External"/><Relationship Id="rId4" Type="http://schemas.openxmlformats.org/officeDocument/2006/relationships/hyperlink" Target="https://zh.wikipedia.org/wiki/%E5%8F%AF%E8%AE%A1%E7%AE%97%E6%80%A7%E7%90%86%E8%AE%BA" TargetMode="External"/><Relationship Id="rId9" Type="http://schemas.openxmlformats.org/officeDocument/2006/relationships/hyperlink" Target="https://zh.wikipedia.org/wiki/%E5%9B%BE%E7%81%B5%E6%9C%BA" TargetMode="External"/><Relationship Id="rId14" Type="http://schemas.openxmlformats.org/officeDocument/2006/relationships/hyperlink" Target="https://zh.wikipedia.org/wiki/%E5%8F%AF%E6%95%B0%E9%9B%86%E5%90%88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143918E-A2CB-491E-8B36-A1C0952C99F6}" type="slidenum">
              <a:rPr lang="zh-CN" altLang="en-US" smtClean="0"/>
              <a:pPr>
                <a:defRPr/>
              </a:pPr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706693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43918E-A2CB-491E-8B36-A1C0952C99F6}" type="slidenum">
              <a:rPr lang="zh-CN" altLang="en-US" smtClean="0"/>
              <a:t>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43918E-A2CB-491E-8B36-A1C0952C99F6}" type="slidenum">
              <a:rPr lang="zh-CN" altLang="en-US" smtClean="0"/>
              <a:t>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43918E-A2CB-491E-8B36-A1C0952C99F6}" type="slidenum">
              <a:rPr lang="zh-CN" altLang="en-US" smtClean="0"/>
              <a:t>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143918E-A2CB-491E-8B36-A1C0952C99F6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5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ADF04F-F2F9-486C-A752-12D4B1C511A4}" type="slidenum">
              <a:rPr lang="en-US" altLang="zh-CN" smtClean="0"/>
              <a:t>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ADF04F-F2F9-486C-A752-12D4B1C511A4}" type="slidenum">
              <a:rPr lang="en-US" altLang="zh-CN" smtClean="0"/>
              <a:t>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ADF04F-F2F9-486C-A752-12D4B1C511A4}" type="slidenum">
              <a:rPr lang="en-US" altLang="zh-CN" smtClean="0"/>
              <a:t>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ADF04F-F2F9-486C-A752-12D4B1C511A4}" type="slidenum">
              <a:rPr lang="en-US" altLang="zh-CN" smtClean="0"/>
              <a:t>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ADF04F-F2F9-486C-A752-12D4B1C511A4}" type="slidenum">
              <a:rPr lang="en-US" altLang="zh-CN" smtClean="0"/>
              <a:t>10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ADF04F-F2F9-486C-A752-12D4B1C511A4}" type="slidenum">
              <a:rPr lang="en-US" altLang="zh-CN" smtClean="0"/>
              <a:t>11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307A81-C74F-EF70-140C-80A1F0525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459B50C-9E67-71BE-B7ED-5E4665D1A7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E23FE9A-731C-41AF-BB9B-259FB01567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D017EF6-D705-DC15-22A0-D5B10D467E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ADF04F-F2F9-486C-A752-12D4B1C511A4}" type="slidenum">
              <a:rPr lang="en-US" altLang="zh-CN" smtClean="0"/>
              <a:t>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235661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ADF04F-F2F9-486C-A752-12D4B1C511A4}" type="slidenum">
              <a:rPr lang="en-US" altLang="zh-CN" smtClean="0"/>
              <a:t>13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ADF04F-F2F9-486C-A752-12D4B1C511A4}" type="slidenum">
              <a:rPr lang="en-US" altLang="zh-CN" smtClean="0"/>
              <a:t>14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ADF04F-F2F9-486C-A752-12D4B1C511A4}" type="slidenum">
              <a:rPr lang="en-US" altLang="zh-CN" smtClean="0"/>
              <a:t>15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B57504-8CD2-4958-E0CF-0F2A9092C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694371D-9E86-3DD1-5D84-C38005596D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27167E1-7CAC-D4E0-008E-B06F3E4647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36F1E7E-016E-3B0F-7F2E-AAE72BD21B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FADF04F-F2F9-486C-A752-12D4B1C511A4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2902214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F610DB-F51D-A4D1-534C-2373FCC54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5B1165D-BD9F-D3B6-17EC-27C00EE706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2BF1120-CD35-CAC1-5F2A-EFF5D016E2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9F9B664-84C4-225A-19EA-24DB354A5F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FADF04F-F2F9-486C-A752-12D4B1C511A4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1717793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ADF04F-F2F9-486C-A752-12D4B1C511A4}" type="slidenum">
              <a:rPr lang="en-US" altLang="zh-CN" smtClean="0"/>
              <a:t>18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ADF04F-F2F9-486C-A752-12D4B1C511A4}" type="slidenum">
              <a:rPr lang="en-US" altLang="zh-CN" smtClean="0"/>
              <a:t>19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ADF04F-F2F9-486C-A752-12D4B1C511A4}" type="slidenum">
              <a:rPr lang="en-US" altLang="zh-CN" smtClean="0"/>
              <a:t>21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ADF04F-F2F9-486C-A752-12D4B1C511A4}" type="slidenum">
              <a:rPr lang="en-US" altLang="zh-CN" smtClean="0"/>
              <a:t>22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ADF04F-F2F9-486C-A752-12D4B1C511A4}" type="slidenum">
              <a:rPr lang="en-US" altLang="zh-CN" smtClean="0"/>
              <a:t>23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54C84-7B73-3829-55D6-1F23F5F64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E4D8032-7EC7-C76A-0A2E-F624FAAB10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4BD03B9-195F-67E4-891C-5150952157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F032ED6-D234-08EC-8A2B-1F11B9698D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ADF04F-F2F9-486C-A752-12D4B1C511A4}" type="slidenum">
              <a:rPr lang="en-US" altLang="zh-CN" smtClean="0"/>
              <a:t>24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3823604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ADF04F-F2F9-486C-A752-12D4B1C511A4}" type="slidenum">
              <a:rPr lang="en-US" altLang="zh-CN" smtClean="0"/>
              <a:t>25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43918E-A2CB-491E-8B36-A1C0952C99F6}" type="slidenum">
              <a:rPr lang="zh-CN" altLang="en-US" smtClean="0"/>
              <a:t>26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ADF04F-F2F9-486C-A752-12D4B1C511A4}" type="slidenum">
              <a:rPr lang="en-US" altLang="zh-CN" smtClean="0"/>
              <a:t>28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ADF04F-F2F9-486C-A752-12D4B1C511A4}" type="slidenum">
              <a:rPr lang="en-US" altLang="zh-CN" smtClean="0"/>
              <a:t>29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43918E-A2CB-491E-8B36-A1C0952C99F6}" type="slidenum">
              <a:rPr lang="zh-CN" altLang="en-US" smtClean="0"/>
              <a:t>30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5138204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2CDFD-9B59-41E7-8533-07012B16544E}" type="slidenum">
              <a:rPr lang="en-US" altLang="zh-CN" smtClean="0"/>
              <a:t>31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下一讲更深入讲解为什么这么设计</a:t>
            </a: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ADF04F-F2F9-486C-A752-12D4B1C511A4}" type="slidenum">
              <a:rPr lang="en-US" altLang="zh-CN" smtClean="0"/>
              <a:t>32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6295578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ADF04F-F2F9-486C-A752-12D4B1C511A4}" type="slidenum">
              <a:rPr lang="en-US" altLang="zh-CN" smtClean="0"/>
              <a:t>33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ADF04F-F2F9-486C-A752-12D4B1C511A4}" type="slidenum">
              <a:rPr lang="en-US" altLang="zh-CN" smtClean="0"/>
              <a:t>34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2CDFD-9B59-41E7-8533-07012B16544E}" type="slidenum">
              <a:rPr lang="en-US" altLang="zh-CN" smtClean="0"/>
              <a:t>35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43918E-A2CB-491E-8B36-A1C0952C99F6}" type="slidenum">
              <a:rPr lang="zh-CN" altLang="en-US" smtClean="0"/>
              <a:t>36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ADF04F-F2F9-486C-A752-12D4B1C511A4}" type="slidenum">
              <a:rPr lang="en-US" altLang="zh-CN" smtClean="0"/>
              <a:t>37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2CDFD-9B59-41E7-8533-07012B16544E}" type="slidenum">
              <a:rPr lang="en-US" altLang="zh-CN" smtClean="0"/>
              <a:t>38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zh-CN" altLang="en-US"/>
              <a:t>用例子描述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ADF04F-F2F9-486C-A752-12D4B1C511A4}" type="slidenum">
              <a:rPr lang="en-US" altLang="zh-CN" smtClean="0"/>
              <a:t>39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43918E-A2CB-491E-8B36-A1C0952C99F6}" type="slidenum">
              <a:rPr lang="zh-CN" altLang="en-US" smtClean="0"/>
              <a:t>40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ADF04F-F2F9-486C-A752-12D4B1C511A4}" type="slidenum">
              <a:rPr lang="en-US" altLang="zh-CN" smtClean="0"/>
              <a:t>41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ADF04F-F2F9-486C-A752-12D4B1C511A4}" type="slidenum">
              <a:rPr lang="en-US" altLang="zh-CN" smtClean="0"/>
              <a:t>42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ADF04F-F2F9-486C-A752-12D4B1C511A4}" type="slidenum">
              <a:rPr lang="en-US" altLang="zh-CN" smtClean="0"/>
              <a:t>43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ADF04F-F2F9-486C-A752-12D4B1C511A4}" type="slidenum">
              <a:rPr lang="en-US" altLang="zh-CN" smtClean="0"/>
              <a:t>44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ADF04F-F2F9-486C-A752-12D4B1C511A4}" type="slidenum">
              <a:rPr lang="en-US" altLang="zh-CN" smtClean="0"/>
              <a:t>45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5669679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ADF04F-F2F9-486C-A752-12D4B1C511A4}" type="slidenum">
              <a:rPr lang="en-US" altLang="zh-CN" smtClean="0"/>
              <a:t>46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ADF04F-F2F9-486C-A752-12D4B1C511A4}" type="slidenum">
              <a:rPr lang="en-US" altLang="zh-CN" smtClean="0"/>
              <a:t>47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ADF04F-F2F9-486C-A752-12D4B1C511A4}" type="slidenum">
              <a:rPr lang="en-US" altLang="zh-CN" smtClean="0"/>
              <a:t>48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ADF04F-F2F9-486C-A752-12D4B1C511A4}" type="slidenum">
              <a:rPr lang="en-US" altLang="zh-CN" smtClean="0"/>
              <a:t>49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ADF04F-F2F9-486C-A752-12D4B1C511A4}" type="slidenum">
              <a:rPr lang="en-US" altLang="zh-CN" smtClean="0"/>
              <a:t>50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ADF04F-F2F9-486C-A752-12D4B1C511A4}" type="slidenum">
              <a:rPr lang="en-US" altLang="zh-CN" smtClean="0"/>
              <a:t>51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ADF04F-F2F9-486C-A752-12D4B1C511A4}" type="slidenum">
              <a:rPr lang="en-US" altLang="zh-CN" smtClean="0"/>
              <a:t>52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ADF04F-F2F9-486C-A752-12D4B1C511A4}" type="slidenum">
              <a:rPr lang="en-US" altLang="zh-CN" smtClean="0"/>
              <a:t>53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ADF04F-F2F9-486C-A752-12D4B1C511A4}" type="slidenum">
              <a:rPr lang="en-US" altLang="zh-CN" smtClean="0"/>
              <a:t>54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ADF04F-F2F9-486C-A752-12D4B1C511A4}" type="slidenum">
              <a:rPr lang="en-US" altLang="zh-CN" smtClean="0"/>
              <a:t>55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ADF04F-F2F9-486C-A752-12D4B1C511A4}" type="slidenum">
              <a:rPr lang="en-US" altLang="zh-CN" smtClean="0"/>
              <a:t>56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ADF04F-F2F9-486C-A752-12D4B1C511A4}" type="slidenum">
              <a:rPr lang="en-US" altLang="zh-CN" smtClean="0"/>
              <a:t>57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43918E-A2CB-491E-8B36-A1C0952C99F6}" type="slidenum">
              <a:rPr lang="zh-CN" altLang="en-US" smtClean="0"/>
              <a:t>58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ADF04F-F2F9-486C-A752-12D4B1C511A4}" type="slidenum">
              <a:rPr lang="en-US" altLang="zh-CN" smtClean="0"/>
              <a:t>59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ADF04F-F2F9-486C-A752-12D4B1C511A4}" type="slidenum">
              <a:rPr lang="en-US" altLang="zh-CN" smtClean="0"/>
              <a:t>60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ADF04F-F2F9-486C-A752-12D4B1C511A4}" type="slidenum">
              <a:rPr lang="en-US" altLang="zh-CN" smtClean="0"/>
              <a:t>61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43918E-A2CB-491E-8B36-A1C0952C99F6}" type="slidenum">
              <a:rPr lang="zh-CN" altLang="en-US" smtClean="0"/>
              <a:t>62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例子</a:t>
            </a:r>
            <a:r>
              <a:rPr lang="zh-CN" altLang="en-US" dirty="0"/>
              <a:t>引用</a:t>
            </a:r>
            <a:r>
              <a:rPr lang="en-US" altLang="zh-CN" dirty="0"/>
              <a:t>58</a:t>
            </a:r>
            <a:r>
              <a:rPr lang="zh-CN" altLang="en-US" dirty="0"/>
              <a:t>页的轿车和货车对比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ADF04F-F2F9-486C-A752-12D4B1C511A4}" type="slidenum">
              <a:rPr lang="en-US" altLang="zh-CN" smtClean="0"/>
              <a:t>63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ADF04F-F2F9-486C-A752-12D4B1C511A4}" type="slidenum">
              <a:rPr lang="en-US" altLang="zh-CN" smtClean="0"/>
              <a:t>64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ADF04F-F2F9-486C-A752-12D4B1C511A4}" type="slidenum">
              <a:rPr lang="en-US" altLang="zh-CN" smtClean="0"/>
              <a:t>65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ADF04F-F2F9-486C-A752-12D4B1C511A4}" type="slidenum">
              <a:rPr lang="en-US" altLang="zh-CN" smtClean="0"/>
              <a:t>66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ADF04F-F2F9-486C-A752-12D4B1C511A4}" type="slidenum">
              <a:rPr lang="en-US" altLang="zh-CN" smtClean="0"/>
              <a:t>67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ADF04F-F2F9-486C-A752-12D4B1C511A4}" type="slidenum">
              <a:rPr lang="en-US" altLang="zh-CN" smtClean="0"/>
              <a:t>68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ADF04F-F2F9-486C-A752-12D4B1C511A4}" type="slidenum">
              <a:rPr lang="en-US" altLang="zh-CN" smtClean="0"/>
              <a:t>69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ADF04F-F2F9-486C-A752-12D4B1C511A4}" type="slidenum">
              <a:rPr lang="en-US" altLang="zh-CN" smtClean="0"/>
              <a:t>70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8D2B2D-4CCD-2409-A6C2-F1CF35216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023F5BA-DBE4-08B2-AAE4-DECC595525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27F5339-9D1D-D1B4-6A29-9EA82252CB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9FD198A-0D51-521A-C480-A04E3321B5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ADF04F-F2F9-486C-A752-12D4B1C511A4}" type="slidenum">
              <a:rPr lang="en-US" altLang="zh-CN" smtClean="0"/>
              <a:t>71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99312076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ADF04F-F2F9-486C-A752-12D4B1C511A4}" type="slidenum">
              <a:rPr lang="en-US" altLang="zh-CN" smtClean="0"/>
              <a:t>74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ADF04F-F2F9-486C-A752-12D4B1C511A4}" type="slidenum">
              <a:rPr lang="en-US" altLang="zh-CN" smtClean="0"/>
              <a:t>75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ADF04F-F2F9-486C-A752-12D4B1C511A4}" type="slidenum">
              <a:rPr lang="en-US" altLang="zh-CN" smtClean="0"/>
              <a:t>76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5F9CF4-03F4-D3F2-2C2D-9B46C919A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B5FF240-91D1-3431-9D07-1FF575C921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3657328-B356-0024-9699-8D408368AF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40A8E27-4A98-A444-7282-9327279C31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ADF04F-F2F9-486C-A752-12D4B1C511A4}" type="slidenum">
              <a:rPr lang="en-US" altLang="zh-CN" smtClean="0"/>
              <a:t>78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64154770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0D38D6-0637-724B-471D-AD07D4C79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CFA996C-9219-601B-B5A4-0539E7CD9A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DA6C037-D6F6-5BF5-21C9-619EE78FF3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300B967-E5FB-D79E-0A05-1AA1072236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ADF04F-F2F9-486C-A752-12D4B1C511A4}" type="slidenum">
              <a:rPr lang="en-US" altLang="zh-CN" smtClean="0"/>
              <a:t>79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38356472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C83A3-CED5-3D3F-C33B-F7C1FA5D8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B0DA5B-F439-0E39-FF30-4A197811B9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D11FA8-3E1D-B550-94DD-9F8FFECB37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1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停机问题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（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halting problem）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是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  <a:hlinkClick r:id="rId3" tooltip="数理逻辑"/>
              </a:rPr>
              <a:t>逻辑数学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中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  <a:hlinkClick r:id="rId4" tooltip="可计算性理论"/>
              </a:rPr>
              <a:t>可计算性理论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的一个问题。通俗地说，停机问题就是判断任意一个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  <a:hlinkClick r:id="rId5" tooltip="程序"/>
              </a:rPr>
              <a:t>程序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是否能在有限的时间之内结束运行的问题。该问题等价于如下的判定问题：是否存在一个程序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P，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对于任意输入的程序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w，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能够判断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w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会在有限时间内结束或者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  <a:hlinkClick r:id="rId6" tooltip="死循環"/>
              </a:rPr>
              <a:t>死循环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。</a:t>
            </a:r>
          </a:p>
          <a:p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  <a:hlinkClick r:id="rId7" tooltip="艾伦·图灵"/>
              </a:rPr>
              <a:t>艾伦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  <a:hlinkClick r:id="rId7" tooltip="艾伦·图灵"/>
              </a:rPr>
              <a:t>·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  <a:hlinkClick r:id="rId7" tooltip="艾伦·图灵"/>
              </a:rPr>
              <a:t>图灵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在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1936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年用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  <a:hlinkClick r:id="rId8" tooltip="對角論證法"/>
              </a:rPr>
              <a:t>對角論證法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证明了，不存在解决停机问题的通用算法。这个证明的关键在于对计算机和程序的数学定义，这被称为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  <a:hlinkClick r:id="rId9" tooltip="图灵机"/>
              </a:rPr>
              <a:t>图灵机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。停机问题在图灵机上是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  <a:hlinkClick r:id="rId10" tooltip="不可判定问题"/>
              </a:rPr>
              <a:t>不可判定问题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。这是最早提出的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  <a:hlinkClick r:id="rId11" tooltip="決定性問題"/>
              </a:rPr>
              <a:t>决定性问题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之一。</a:t>
            </a:r>
          </a:p>
          <a:p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用数学语言描述，则其本质问题为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: 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给定一个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  <a:hlinkClick r:id="rId9" tooltip="图灵机"/>
              </a:rPr>
              <a:t>图灵机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T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，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和一个任意语言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  <a:hlinkClick r:id="rId12" tooltip="集合"/>
              </a:rPr>
              <a:t>集合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，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是否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T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会最终停机于每一个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s∈S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。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其意义相同于可确定语言。显然任意有限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 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是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  <a:hlinkClick r:id="rId13" tooltip="可判定性"/>
              </a:rPr>
              <a:t>可判定性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的，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  <a:hlinkClick r:id="rId14" tooltip="可数集合"/>
              </a:rPr>
              <a:t>可数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的（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countable）</a:t>
            </a:r>
            <a:r>
              <a:rPr lang="en-US" sz="1200" b="1" i="0" u="none" strike="noStrike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 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也是可停机的。</a:t>
            </a:r>
          </a:p>
          <a:p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停机问题包含了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  <a:hlinkClick r:id="rId15" tooltip="自我指涉"/>
              </a:rPr>
              <a:t>自我指涉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，本质是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  <a:hlinkClick r:id="rId16" tooltip="一阶逻辑"/>
              </a:rPr>
              <a:t>一阶逻辑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的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  <a:hlinkClick r:id="rId17" tooltip="完备性"/>
              </a:rPr>
              <a:t>不完备性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，类似的命题有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  <a:hlinkClick r:id="rId18" tooltip="理发师悖论"/>
              </a:rPr>
              <a:t>理发师悖论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、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  <a:hlinkClick r:id="rId19" tooltip="全能悖論"/>
              </a:rPr>
              <a:t>全能悖论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等。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D8E535-49A6-B604-7CC5-91FB035924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2CDFD-9B59-41E7-8533-07012B16544E}" type="slidenum">
              <a:rPr lang="en-US" altLang="zh-CN" smtClean="0"/>
              <a:t>80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281213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0E919B8-A1B4-420E-AADF-E63307EE92DF}" type="slidenum">
              <a:rPr lang="en-US" altLang="zh-CN"/>
              <a:t>‹#›</a:t>
            </a:fld>
            <a:endParaRPr lang="en-US" altLang="zh-CN"/>
          </a:p>
        </p:txBody>
      </p:sp>
      <p:pic>
        <p:nvPicPr>
          <p:cNvPr id="11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0429" y="10392"/>
            <a:ext cx="1313572" cy="1313572"/>
          </a:xfrm>
          <a:prstGeom prst="rect">
            <a:avLst/>
          </a:prstGeom>
        </p:spPr>
      </p:pic>
      <p:pic>
        <p:nvPicPr>
          <p:cNvPr id="12" name="Picture 7"/>
          <p:cNvPicPr>
            <a:picLocks noChangeAspect="1"/>
          </p:cNvPicPr>
          <p:nvPr userDrawn="1"/>
        </p:nvPicPr>
        <p:blipFill rotWithShape="1">
          <a:blip r:embed="rId3"/>
          <a:srcRect l="7528" t="909" r="12068" b="1273"/>
          <a:stretch>
            <a:fillRect/>
          </a:stretch>
        </p:blipFill>
        <p:spPr>
          <a:xfrm>
            <a:off x="31172" y="10392"/>
            <a:ext cx="1340427" cy="131357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551432"/>
            <a:ext cx="8229600" cy="4525963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659731-6BD7-46E7-8D3C-2F3AC07E20B1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F8AC4FE-4EB1-4196-830A-993FA99EEC9B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B93EBDF-DAB8-41D8-86B3-1BFF07A18FF9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7C22BC1-7FC1-4B65-8DCC-88E2F449497B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C23D995-88A0-46FA-B356-FA459EF841CD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F2AB43A-8F39-40F7-AB51-66BE5F0EDC88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D2373F-9A07-4B83-AD01-C0E1FFF861AA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A0F13C-7485-4D41-9A6D-469650A33C06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73C9E0C-B70F-4EE2-835C-E91EA4A4E95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7AE7160-E460-44BC-A56A-E2A6D1A944F5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115888"/>
            <a:ext cx="5470525" cy="9366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447800"/>
            <a:ext cx="8229600" cy="4716463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A1E184-7EFF-4B48-9C82-609CF6442F2C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>
    <p:wipe dir="r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5263" y="228600"/>
            <a:ext cx="8015287" cy="9144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447800"/>
            <a:ext cx="3962400" cy="5029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572000" y="1447800"/>
            <a:ext cx="3962400" cy="2438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572000" y="4038600"/>
            <a:ext cx="3962400" cy="2438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38B9D4-5D11-464B-BDF0-A23355FE4558}" type="slidenum">
              <a:rPr lang="en-US" altLang="zh-CN"/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115888"/>
            <a:ext cx="5470525" cy="9366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447800"/>
            <a:ext cx="4038600" cy="47164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47800"/>
            <a:ext cx="4038600" cy="47164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262F62-C03C-45EC-8E1C-78F85E4B8487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>
    <p:wipe dir="r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0E919B8-A1B4-420E-AADF-E63307EE92DF}" type="slidenum">
              <a:rPr lang="en-US" altLang="zh-CN"/>
              <a:t>‹#›</a:t>
            </a:fld>
            <a:endParaRPr lang="en-US" altLang="zh-CN"/>
          </a:p>
        </p:txBody>
      </p:sp>
      <p:pic>
        <p:nvPicPr>
          <p:cNvPr id="11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0429" y="10392"/>
            <a:ext cx="1313572" cy="1313572"/>
          </a:xfrm>
          <a:prstGeom prst="rect">
            <a:avLst/>
          </a:prstGeom>
        </p:spPr>
      </p:pic>
      <p:pic>
        <p:nvPicPr>
          <p:cNvPr id="12" name="Picture 7"/>
          <p:cNvPicPr>
            <a:picLocks noChangeAspect="1"/>
          </p:cNvPicPr>
          <p:nvPr userDrawn="1"/>
        </p:nvPicPr>
        <p:blipFill rotWithShape="1">
          <a:blip r:embed="rId3"/>
          <a:srcRect l="7528" t="909" r="12068" b="1273"/>
          <a:stretch>
            <a:fillRect/>
          </a:stretch>
        </p:blipFill>
        <p:spPr>
          <a:xfrm>
            <a:off x="31172" y="10392"/>
            <a:ext cx="1340427" cy="131357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551432"/>
            <a:ext cx="8229600" cy="4525963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659731-6BD7-46E7-8D3C-2F3AC07E20B1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F8AC4FE-4EB1-4196-830A-993FA99EEC9B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B93EBDF-DAB8-41D8-86B3-1BFF07A18FF9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7C22BC1-7FC1-4B65-8DCC-88E2F449497B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C23D995-88A0-46FA-B356-FA459EF841CD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F2AB43A-8F39-40F7-AB51-66BE5F0EDC88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D2373F-9A07-4B83-AD01-C0E1FFF861AA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A0F13C-7485-4D41-9A6D-469650A33C06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73C9E0C-B70F-4EE2-835C-E91EA4A4E95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7AE7160-E460-44BC-A56A-E2A6D1A944F5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115888"/>
            <a:ext cx="5470525" cy="9366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447800"/>
            <a:ext cx="8229600" cy="4716463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EA1E184-7EFF-4B48-9C82-609CF6442F2C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>
    <p:wipe dir="r"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5263" y="228600"/>
            <a:ext cx="8015287" cy="9144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447800"/>
            <a:ext cx="3962400" cy="5029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572000" y="1447800"/>
            <a:ext cx="3962400" cy="2438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572000" y="4038600"/>
            <a:ext cx="3962400" cy="2438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Rectangle 1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338B9D4-5D11-464B-BDF0-A23355FE4558}" type="slidenum">
              <a:rPr lang="en-US" altLang="zh-CN"/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115888"/>
            <a:ext cx="5470525" cy="9366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447800"/>
            <a:ext cx="4038600" cy="47164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47800"/>
            <a:ext cx="4038600" cy="47164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1262F62-C03C-45EC-8E1C-78F85E4B8487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8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7.xml"/><Relationship Id="rId2" Type="http://schemas.openxmlformats.org/officeDocument/2006/relationships/slideLayout" Target="../slideLayouts/slideLayout17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36525"/>
            <a:ext cx="8229600" cy="1143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368552"/>
            <a:ext cx="8229600" cy="452596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 b="1">
                <a:solidFill>
                  <a:schemeClr val="tx1"/>
                </a:solidFill>
                <a:latin typeface="+mn-lt"/>
                <a:ea typeface="黑体" panose="02010609060101010101" pitchFamily="49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 b="1">
                <a:solidFill>
                  <a:schemeClr val="tx1"/>
                </a:solidFill>
                <a:latin typeface="+mn-lt"/>
                <a:ea typeface="黑体" panose="02010609060101010101" pitchFamily="49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 b="1">
                <a:solidFill>
                  <a:schemeClr val="tx1"/>
                </a:solidFill>
                <a:latin typeface="+mn-lt"/>
                <a:ea typeface="黑体" panose="02010609060101010101" pitchFamily="49" charset="-122"/>
              </a:defRPr>
            </a:lvl1pPr>
          </a:lstStyle>
          <a:p>
            <a:fld id="{B36EB2BA-E18C-44D4-9F8D-4FCE250BF3FA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grpSp>
        <p:nvGrpSpPr>
          <p:cNvPr id="1031" name="Group 7"/>
          <p:cNvGrpSpPr/>
          <p:nvPr userDrawn="1"/>
        </p:nvGrpSpPr>
        <p:grpSpPr bwMode="auto">
          <a:xfrm>
            <a:off x="684213" y="1110456"/>
            <a:ext cx="8459787" cy="152400"/>
            <a:chOff x="431" y="799"/>
            <a:chExt cx="5329" cy="96"/>
          </a:xfrm>
        </p:grpSpPr>
        <p:sp>
          <p:nvSpPr>
            <p:cNvPr id="1032" name="Rectangle 8"/>
            <p:cNvSpPr>
              <a:spLocks noChangeArrowheads="1"/>
            </p:cNvSpPr>
            <p:nvPr/>
          </p:nvSpPr>
          <p:spPr bwMode="auto">
            <a:xfrm>
              <a:off x="431" y="799"/>
              <a:ext cx="1488" cy="9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zh-CN" altLang="en-US" dirty="0">
                <a:ea typeface="黑体" panose="02010609060101010101" pitchFamily="49" charset="-122"/>
              </a:endParaRPr>
            </a:p>
          </p:txBody>
        </p:sp>
        <p:sp>
          <p:nvSpPr>
            <p:cNvPr id="1033" name="Rectangle 9"/>
            <p:cNvSpPr>
              <a:spLocks noChangeArrowheads="1"/>
            </p:cNvSpPr>
            <p:nvPr/>
          </p:nvSpPr>
          <p:spPr bwMode="auto">
            <a:xfrm>
              <a:off x="1920" y="799"/>
              <a:ext cx="3840" cy="9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/>
            <a:p>
              <a:pPr algn="ctr"/>
              <a:endParaRPr kumimoji="1" lang="zh-CN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+mj-lt"/>
          <a:ea typeface="黑体" panose="02010609060101010101" pitchFamily="49" charset="-122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b="1">
          <a:solidFill>
            <a:schemeClr val="tx1"/>
          </a:solidFill>
          <a:latin typeface="+mn-lt"/>
          <a:ea typeface="黑体" panose="02010609060101010101" pitchFamily="49" charset="-122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b="1">
          <a:solidFill>
            <a:schemeClr val="tx1"/>
          </a:solidFill>
          <a:latin typeface="+mn-lt"/>
          <a:ea typeface="黑体" panose="02010609060101010101" pitchFamily="49" charset="-122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b="1">
          <a:solidFill>
            <a:schemeClr val="tx1"/>
          </a:solidFill>
          <a:latin typeface="+mn-lt"/>
          <a:ea typeface="黑体" panose="02010609060101010101" pitchFamily="49" charset="-122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b="1">
          <a:solidFill>
            <a:schemeClr val="tx1"/>
          </a:solidFill>
          <a:latin typeface="+mn-lt"/>
          <a:ea typeface="黑体" panose="02010609060101010101" pitchFamily="49" charset="-122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  <a:ea typeface="黑体" panose="02010609060101010101" pitchFamily="49" charset="-12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36525"/>
            <a:ext cx="8229600" cy="1143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368552"/>
            <a:ext cx="8229600" cy="452596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 b="1">
                <a:solidFill>
                  <a:schemeClr val="tx1"/>
                </a:solidFill>
                <a:latin typeface="+mn-lt"/>
                <a:ea typeface="黑体" panose="02010609060101010101" pitchFamily="49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 b="1">
                <a:solidFill>
                  <a:schemeClr val="tx1"/>
                </a:solidFill>
                <a:latin typeface="+mn-lt"/>
                <a:ea typeface="黑体" panose="02010609060101010101" pitchFamily="49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 b="1">
                <a:solidFill>
                  <a:schemeClr val="tx1"/>
                </a:solidFill>
                <a:latin typeface="+mn-lt"/>
                <a:ea typeface="黑体" panose="02010609060101010101" pitchFamily="49" charset="-122"/>
              </a:defRPr>
            </a:lvl1pPr>
          </a:lstStyle>
          <a:p>
            <a:fld id="{B36EB2BA-E18C-44D4-9F8D-4FCE250BF3FA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grpSp>
        <p:nvGrpSpPr>
          <p:cNvPr id="1031" name="Group 7"/>
          <p:cNvGrpSpPr/>
          <p:nvPr userDrawn="1"/>
        </p:nvGrpSpPr>
        <p:grpSpPr bwMode="auto">
          <a:xfrm>
            <a:off x="684213" y="1110456"/>
            <a:ext cx="8459787" cy="152400"/>
            <a:chOff x="431" y="799"/>
            <a:chExt cx="5329" cy="96"/>
          </a:xfrm>
        </p:grpSpPr>
        <p:sp>
          <p:nvSpPr>
            <p:cNvPr id="1032" name="Rectangle 8"/>
            <p:cNvSpPr>
              <a:spLocks noChangeArrowheads="1"/>
            </p:cNvSpPr>
            <p:nvPr/>
          </p:nvSpPr>
          <p:spPr bwMode="auto">
            <a:xfrm>
              <a:off x="431" y="799"/>
              <a:ext cx="1488" cy="9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zh-CN" altLang="en-US" sz="4600" dirty="0">
                <a:ea typeface="黑体" panose="02010609060101010101" pitchFamily="49" charset="-122"/>
              </a:endParaRPr>
            </a:p>
          </p:txBody>
        </p:sp>
        <p:sp>
          <p:nvSpPr>
            <p:cNvPr id="1033" name="Rectangle 9"/>
            <p:cNvSpPr>
              <a:spLocks noChangeArrowheads="1"/>
            </p:cNvSpPr>
            <p:nvPr/>
          </p:nvSpPr>
          <p:spPr bwMode="auto">
            <a:xfrm>
              <a:off x="1920" y="799"/>
              <a:ext cx="3840" cy="9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/>
            <a:p>
              <a:pPr algn="ctr"/>
              <a:endParaRPr kumimoji="1" lang="zh-CN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  <p:sldLayoutId id="2147483677" r:id="rId13"/>
    <p:sldLayoutId id="2147483678" r:id="rId14"/>
    <p:sldLayoutId id="2147483679" r:id="rId15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+mj-lt"/>
          <a:ea typeface="黑体" panose="02010609060101010101" pitchFamily="49" charset="-122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b="1">
          <a:solidFill>
            <a:schemeClr val="tx1"/>
          </a:solidFill>
          <a:latin typeface="+mn-lt"/>
          <a:ea typeface="黑体" panose="02010609060101010101" pitchFamily="49" charset="-122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b="1">
          <a:solidFill>
            <a:schemeClr val="tx1"/>
          </a:solidFill>
          <a:latin typeface="+mn-lt"/>
          <a:ea typeface="黑体" panose="02010609060101010101" pitchFamily="49" charset="-122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b="1">
          <a:solidFill>
            <a:schemeClr val="tx1"/>
          </a:solidFill>
          <a:latin typeface="+mn-lt"/>
          <a:ea typeface="黑体" panose="02010609060101010101" pitchFamily="49" charset="-122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b="1">
          <a:solidFill>
            <a:schemeClr val="tx1"/>
          </a:solidFill>
          <a:latin typeface="+mn-lt"/>
          <a:ea typeface="黑体" panose="02010609060101010101" pitchFamily="49" charset="-122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  <a:ea typeface="黑体" panose="02010609060101010101" pitchFamily="49" charset="-12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xueqingli@tsinghua.edu.cn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5.png"/><Relationship Id="rId4" Type="http://schemas.openxmlformats.org/officeDocument/2006/relationships/customXml" Target="../ink/ink1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customXml" Target="../ink/ink5.xml"/><Relationship Id="rId3" Type="http://schemas.openxmlformats.org/officeDocument/2006/relationships/image" Target="../media/image4.emf"/><Relationship Id="rId7" Type="http://schemas.openxmlformats.org/officeDocument/2006/relationships/customXml" Target="../ink/ink4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7.xml"/><Relationship Id="rId6" Type="http://schemas.openxmlformats.org/officeDocument/2006/relationships/customXml" Target="../ink/ink3.xml"/><Relationship Id="rId5" Type="http://schemas.openxmlformats.org/officeDocument/2006/relationships/image" Target="../media/image6.png"/><Relationship Id="rId4" Type="http://schemas.openxmlformats.org/officeDocument/2006/relationships/customXml" Target="../ink/ink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6.png"/><Relationship Id="rId4" Type="http://schemas.openxmlformats.org/officeDocument/2006/relationships/customXml" Target="../ink/ink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60.png"/><Relationship Id="rId4" Type="http://schemas.openxmlformats.org/officeDocument/2006/relationships/customXml" Target="../ink/ink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7.png"/><Relationship Id="rId4" Type="http://schemas.openxmlformats.org/officeDocument/2006/relationships/customXml" Target="../ink/ink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10.png"/><Relationship Id="rId4" Type="http://schemas.openxmlformats.org/officeDocument/2006/relationships/customXml" Target="../ink/ink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1.png"/><Relationship Id="rId5" Type="http://schemas.openxmlformats.org/officeDocument/2006/relationships/image" Target="../media/image10.jpeg"/><Relationship Id="rId4" Type="http://schemas.openxmlformats.org/officeDocument/2006/relationships/image" Target="../media/image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7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tags" Target="../tags/tag14.xml"/><Relationship Id="rId18" Type="http://schemas.openxmlformats.org/officeDocument/2006/relationships/tags" Target="../tags/tag19.xml"/><Relationship Id="rId3" Type="http://schemas.openxmlformats.org/officeDocument/2006/relationships/tags" Target="../tags/tag4.xml"/><Relationship Id="rId21" Type="http://schemas.openxmlformats.org/officeDocument/2006/relationships/image" Target="../media/image14.png"/><Relationship Id="rId7" Type="http://schemas.openxmlformats.org/officeDocument/2006/relationships/tags" Target="../tags/tag8.xml"/><Relationship Id="rId12" Type="http://schemas.openxmlformats.org/officeDocument/2006/relationships/tags" Target="../tags/tag13.xml"/><Relationship Id="rId17" Type="http://schemas.openxmlformats.org/officeDocument/2006/relationships/tags" Target="../tags/tag18.xml"/><Relationship Id="rId2" Type="http://schemas.openxmlformats.org/officeDocument/2006/relationships/tags" Target="../tags/tag3.xml"/><Relationship Id="rId16" Type="http://schemas.openxmlformats.org/officeDocument/2006/relationships/tags" Target="../tags/tag17.xml"/><Relationship Id="rId20" Type="http://schemas.openxmlformats.org/officeDocument/2006/relationships/notesSlide" Target="../notesSlides/notesSlide45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5" Type="http://schemas.openxmlformats.org/officeDocument/2006/relationships/tags" Target="../tags/tag6.xml"/><Relationship Id="rId15" Type="http://schemas.openxmlformats.org/officeDocument/2006/relationships/tags" Target="../tags/tag16.xml"/><Relationship Id="rId10" Type="http://schemas.openxmlformats.org/officeDocument/2006/relationships/tags" Target="../tags/tag11.xml"/><Relationship Id="rId19" Type="http://schemas.openxmlformats.org/officeDocument/2006/relationships/slideLayout" Target="../slideLayouts/slideLayout27.xml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tags" Target="../tags/tag15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200.png"/><Relationship Id="rId4" Type="http://schemas.openxmlformats.org/officeDocument/2006/relationships/image" Target="../media/image19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6.jpe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8.sv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22.sv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23.png"/><Relationship Id="rId7" Type="http://schemas.openxmlformats.org/officeDocument/2006/relationships/image" Target="../media/image21.png"/><Relationship Id="rId12" Type="http://schemas.openxmlformats.org/officeDocument/2006/relationships/image" Target="../media/image29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6.svg"/><Relationship Id="rId11" Type="http://schemas.openxmlformats.org/officeDocument/2006/relationships/customXml" Target="../ink/ink10.xml"/><Relationship Id="rId5" Type="http://schemas.openxmlformats.org/officeDocument/2006/relationships/image" Target="../media/image25.png"/><Relationship Id="rId10" Type="http://schemas.openxmlformats.org/officeDocument/2006/relationships/image" Target="../media/image18.svg"/><Relationship Id="rId4" Type="http://schemas.openxmlformats.org/officeDocument/2006/relationships/image" Target="../media/image24.svg"/><Relationship Id="rId9" Type="http://schemas.openxmlformats.org/officeDocument/2006/relationships/image" Target="../media/image17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7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7.xml"/><Relationship Id="rId5" Type="http://schemas.microsoft.com/office/2007/relationships/hdphoto" Target="../media/hdphoto1.wdp"/><Relationship Id="rId4" Type="http://schemas.openxmlformats.org/officeDocument/2006/relationships/image" Target="../media/image28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0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7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17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customXml" Target="../ink/ink12.xml"/><Relationship Id="rId1" Type="http://schemas.openxmlformats.org/officeDocument/2006/relationships/slideLayout" Target="../slideLayouts/slideLayout1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7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7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7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hyperlink" Target="https://zh.wikipedia.org/wiki/&#20572;&#26426;&#38382;&#39064;" TargetMode="External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30.png"/><Relationship Id="rId4" Type="http://schemas.openxmlformats.org/officeDocument/2006/relationships/image" Target="../media/image29.emf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9"/>
          <p:cNvSpPr>
            <a:spLocks noChangeArrowheads="1"/>
          </p:cNvSpPr>
          <p:nvPr/>
        </p:nvSpPr>
        <p:spPr bwMode="gray">
          <a:xfrm>
            <a:off x="0" y="3296363"/>
            <a:ext cx="9143999" cy="33123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None/>
            </a:pPr>
            <a:r>
              <a:rPr lang="zh-CN" altLang="en-US" sz="3600" b="0" dirty="0">
                <a:solidFill>
                  <a:schemeClr val="tx1"/>
                </a:solidFill>
                <a:latin typeface="+mn-lt"/>
                <a:ea typeface="黑体" pitchFamily="2" charset="-122"/>
              </a:rPr>
              <a:t>李学清</a:t>
            </a:r>
            <a:endParaRPr lang="en-US" altLang="zh-CN" sz="3600" b="0" dirty="0">
              <a:solidFill>
                <a:schemeClr val="tx1"/>
              </a:solidFill>
              <a:latin typeface="+mn-lt"/>
              <a:ea typeface="黑体" pitchFamily="2" charset="-122"/>
            </a:endParaRPr>
          </a:p>
          <a:p>
            <a:pPr algn="ctr">
              <a:spcBef>
                <a:spcPct val="20000"/>
              </a:spcBef>
              <a:buClr>
                <a:schemeClr val="hlink"/>
              </a:buClr>
            </a:pPr>
            <a:r>
              <a:rPr lang="en-US" altLang="zh-CN" sz="2400" b="0" dirty="0">
                <a:solidFill>
                  <a:schemeClr val="tx1"/>
                </a:solidFill>
                <a:latin typeface="+mn-lt"/>
                <a:ea typeface="黑体" panose="02010609060101010101" pitchFamily="49" charset="-122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xueqingli@tsinghua.edu.cn</a:t>
            </a:r>
            <a:endParaRPr lang="en-US" altLang="zh-CN" sz="2400" b="0" dirty="0">
              <a:solidFill>
                <a:schemeClr val="tx1"/>
              </a:solidFill>
              <a:latin typeface="+mn-lt"/>
              <a:ea typeface="黑体" panose="02010609060101010101" pitchFamily="49" charset="-122"/>
            </a:endParaRPr>
          </a:p>
          <a:p>
            <a:pPr algn="ctr">
              <a:spcBef>
                <a:spcPct val="20000"/>
              </a:spcBef>
              <a:buClr>
                <a:schemeClr val="hlink"/>
              </a:buClr>
            </a:pPr>
            <a:endParaRPr lang="en-US" altLang="zh-CN" sz="2000" b="0" dirty="0">
              <a:solidFill>
                <a:schemeClr val="tx1"/>
              </a:solidFill>
              <a:latin typeface="+mn-lt"/>
              <a:ea typeface="黑体" pitchFamily="2" charset="-122"/>
            </a:endParaRPr>
          </a:p>
          <a:p>
            <a:pPr algn="ctr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None/>
            </a:pPr>
            <a:r>
              <a:rPr lang="en-US" altLang="zh-CN" sz="2800" b="0" dirty="0">
                <a:solidFill>
                  <a:schemeClr val="tx1"/>
                </a:solidFill>
                <a:latin typeface="+mn-lt"/>
                <a:ea typeface="黑体" pitchFamily="2" charset="-122"/>
              </a:rPr>
              <a:t>#</a:t>
            </a:r>
            <a:r>
              <a:rPr lang="zh-CN" altLang="en-US" sz="2800" b="0" dirty="0">
                <a:solidFill>
                  <a:schemeClr val="tx1"/>
                </a:solidFill>
                <a:latin typeface="+mn-lt"/>
                <a:ea typeface="黑体" pitchFamily="2" charset="-122"/>
              </a:rPr>
              <a:t>腾讯会议：</a:t>
            </a:r>
            <a:r>
              <a:rPr lang="en-US" altLang="zh-CN" sz="2800" b="0" dirty="0">
                <a:solidFill>
                  <a:schemeClr val="tx1"/>
                </a:solidFill>
                <a:latin typeface="+mn-lt"/>
                <a:ea typeface="黑体" pitchFamily="2" charset="-122"/>
              </a:rPr>
              <a:t>858-8541-2550</a:t>
            </a:r>
            <a:endParaRPr lang="zh-CN" altLang="en-US" sz="2800" b="0" dirty="0">
              <a:solidFill>
                <a:schemeClr val="tx1"/>
              </a:solidFill>
              <a:latin typeface="+mn-lt"/>
              <a:ea typeface="黑体" pitchFamily="2" charset="-122"/>
            </a:endParaRPr>
          </a:p>
          <a:p>
            <a:pPr algn="ctr">
              <a:spcBef>
                <a:spcPct val="20000"/>
              </a:spcBef>
              <a:buClr>
                <a:schemeClr val="hlink"/>
              </a:buClr>
            </a:pPr>
            <a:r>
              <a:rPr lang="en-US" altLang="zh-CN" sz="2800" b="0" dirty="0">
                <a:solidFill>
                  <a:schemeClr val="tx1"/>
                </a:solidFill>
                <a:latin typeface="+mn-lt"/>
                <a:ea typeface="黑体" pitchFamily="2" charset="-122"/>
              </a:rPr>
              <a:t>2024</a:t>
            </a:r>
            <a:r>
              <a:rPr lang="zh-CN" altLang="en-US" sz="2800" b="0" dirty="0">
                <a:solidFill>
                  <a:schemeClr val="tx1"/>
                </a:solidFill>
                <a:latin typeface="+mn-lt"/>
                <a:ea typeface="黑体" pitchFamily="2" charset="-122"/>
              </a:rPr>
              <a:t>年</a:t>
            </a:r>
            <a:r>
              <a:rPr lang="en-US" altLang="zh-CN" sz="2800" b="0" dirty="0">
                <a:solidFill>
                  <a:schemeClr val="tx1"/>
                </a:solidFill>
                <a:latin typeface="+mn-lt"/>
                <a:ea typeface="黑体" pitchFamily="2" charset="-122"/>
              </a:rPr>
              <a:t>4</a:t>
            </a:r>
            <a:r>
              <a:rPr lang="zh-CN" altLang="en-US" sz="2800" b="0" dirty="0">
                <a:solidFill>
                  <a:schemeClr val="tx1"/>
                </a:solidFill>
                <a:latin typeface="+mn-lt"/>
                <a:ea typeface="黑体" pitchFamily="2" charset="-122"/>
              </a:rPr>
              <a:t>月</a:t>
            </a:r>
            <a:r>
              <a:rPr lang="en-US" altLang="zh-CN" sz="2800" b="0" dirty="0">
                <a:solidFill>
                  <a:schemeClr val="tx1"/>
                </a:solidFill>
                <a:latin typeface="+mn-lt"/>
                <a:ea typeface="黑体" pitchFamily="2" charset="-122"/>
              </a:rPr>
              <a:t>2</a:t>
            </a:r>
            <a:r>
              <a:rPr lang="zh-CN" altLang="en-US" sz="2800" b="0" dirty="0">
                <a:solidFill>
                  <a:schemeClr val="tx1"/>
                </a:solidFill>
                <a:latin typeface="+mn-lt"/>
                <a:ea typeface="黑体" pitchFamily="2" charset="-122"/>
              </a:rPr>
              <a:t>日</a:t>
            </a:r>
            <a:endParaRPr lang="en-US" sz="2800" b="0" dirty="0">
              <a:solidFill>
                <a:schemeClr val="tx1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6F8B39B3-1E39-0D5B-29D3-FDD831CD57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2357"/>
            <a:ext cx="9144000" cy="1342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zh-CN" altLang="en-US" sz="3600" b="0" dirty="0">
                <a:solidFill>
                  <a:schemeClr val="tx2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数字逻辑与处理器基础</a:t>
            </a:r>
            <a:endParaRPr lang="en-US" altLang="zh-CN" sz="3600" b="0" dirty="0">
              <a:solidFill>
                <a:schemeClr val="tx2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algn="ctr"/>
            <a:r>
              <a:rPr lang="en-US" altLang="zh-CN" sz="2000" b="0" dirty="0">
                <a:solidFill>
                  <a:schemeClr val="tx2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Fundamentals of Digital Logic and Processor</a:t>
            </a:r>
            <a:endParaRPr lang="zh-CN" altLang="en-US" sz="2000" b="0" dirty="0">
              <a:solidFill>
                <a:schemeClr val="tx2"/>
              </a:solidFill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7" name="Rectangle 16">
            <a:extLst>
              <a:ext uri="{FF2B5EF4-FFF2-40B4-BE49-F238E27FC236}">
                <a16:creationId xmlns:a16="http://schemas.microsoft.com/office/drawing/2014/main" id="{2ACB6101-4051-0C2F-3839-B0275EB351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484784"/>
            <a:ext cx="9144000" cy="2117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zh-CN" altLang="en-US" sz="4800" dirty="0">
                <a:solidFill>
                  <a:schemeClr val="tx2"/>
                </a:solidFill>
                <a:latin typeface="+mn-lt"/>
                <a:ea typeface="SimHei" panose="02010609060101010101" pitchFamily="49" charset="-122"/>
              </a:rPr>
              <a:t>第五讲</a:t>
            </a:r>
            <a:r>
              <a:rPr lang="zh-CN" altLang="en-US" sz="4800" dirty="0">
                <a:solidFill>
                  <a:schemeClr val="tx2"/>
                </a:solidFill>
                <a:latin typeface="+mj-ea"/>
                <a:ea typeface="+mj-ea"/>
              </a:rPr>
              <a:t> </a:t>
            </a:r>
            <a:r>
              <a:rPr lang="zh-CN" altLang="en-US" sz="4800" dirty="0">
                <a:solidFill>
                  <a:schemeClr val="tx2"/>
                </a:solidFill>
                <a:latin typeface="+mn-lt"/>
                <a:ea typeface="SimHei" panose="02010609060101010101" pitchFamily="49" charset="-122"/>
              </a:rPr>
              <a:t>计算机指令集系统 </a:t>
            </a:r>
            <a:r>
              <a:rPr lang="en-US" altLang="zh-CN" sz="4800" dirty="0">
                <a:solidFill>
                  <a:schemeClr val="tx2"/>
                </a:solidFill>
                <a:latin typeface="+mn-lt"/>
                <a:ea typeface="SimHei" panose="02010609060101010101" pitchFamily="49" charset="-122"/>
              </a:rPr>
              <a:t>(1/2)</a:t>
            </a:r>
          </a:p>
        </p:txBody>
      </p:sp>
    </p:spTree>
    <p:extLst>
      <p:ext uri="{BB962C8B-B14F-4D97-AF65-F5344CB8AC3E}">
        <p14:creationId xmlns:p14="http://schemas.microsoft.com/office/powerpoint/2010/main" val="19877033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在时序逻辑之后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……</a:t>
            </a:r>
            <a:endParaRPr lang="en-US" dirty="0"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pic>
        <p:nvPicPr>
          <p:cNvPr id="9" name="Picture 5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903281" y="1778626"/>
            <a:ext cx="3276600" cy="1400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7" name="Group 16"/>
          <p:cNvGrpSpPr/>
          <p:nvPr/>
        </p:nvGrpSpPr>
        <p:grpSpPr>
          <a:xfrm>
            <a:off x="2020278" y="3235218"/>
            <a:ext cx="711200" cy="1073049"/>
            <a:chOff x="2020278" y="3134861"/>
            <a:chExt cx="711200" cy="1073049"/>
          </a:xfrm>
        </p:grpSpPr>
        <p:sp>
          <p:nvSpPr>
            <p:cNvPr id="12" name="Rectangle 11"/>
            <p:cNvSpPr/>
            <p:nvPr/>
          </p:nvSpPr>
          <p:spPr>
            <a:xfrm>
              <a:off x="2134636" y="3134861"/>
              <a:ext cx="541020" cy="64516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3600" b="1" i="1" kern="0" dirty="0">
                  <a:solidFill>
                    <a:schemeClr val="accent6">
                      <a:lumMod val="75000"/>
                    </a:schemeClr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f 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2020278" y="3562750"/>
              <a:ext cx="711200" cy="64516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3600" b="1" i="1" kern="0" dirty="0">
                  <a:solidFill>
                    <a:schemeClr val="accent6">
                      <a:lumMod val="75000"/>
                    </a:schemeClr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/>
                </a:rPr>
                <a:t>→</a:t>
              </a:r>
              <a:r>
                <a:rPr lang="en-US" altLang="zh-CN" sz="3600" i="1" kern="0" dirty="0">
                  <a:solidFill>
                    <a:srgbClr val="00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/>
                </a:rPr>
                <a:t> </a:t>
              </a:r>
              <a:endParaRPr lang="en-US" sz="4600" dirty="0"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772680" y="3705068"/>
            <a:ext cx="3393645" cy="1543711"/>
            <a:chOff x="772680" y="3315105"/>
            <a:chExt cx="3393645" cy="1543711"/>
          </a:xfrm>
        </p:grpSpPr>
        <p:grpSp>
          <p:nvGrpSpPr>
            <p:cNvPr id="22" name="Group 21"/>
            <p:cNvGrpSpPr/>
            <p:nvPr/>
          </p:nvGrpSpPr>
          <p:grpSpPr>
            <a:xfrm>
              <a:off x="2699792" y="3318530"/>
              <a:ext cx="1466533" cy="1540286"/>
              <a:chOff x="2699792" y="3608136"/>
              <a:chExt cx="1466533" cy="1540286"/>
            </a:xfrm>
          </p:grpSpPr>
          <p:sp>
            <p:nvSpPr>
              <p:cNvPr id="13" name="Rectangle 12"/>
              <p:cNvSpPr/>
              <p:nvPr/>
            </p:nvSpPr>
            <p:spPr>
              <a:xfrm>
                <a:off x="2699792" y="4318477"/>
                <a:ext cx="1466533" cy="82994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2400" kern="0" dirty="0">
                    <a:solidFill>
                      <a:srgbClr val="7030A0"/>
                    </a:solidFill>
                    <a:latin typeface="Arial" panose="020B0604020202020204" pitchFamily="34" charset="0"/>
                    <a:ea typeface="黑体" panose="02010609060101010101" pitchFamily="49" charset="-122"/>
                    <a:cs typeface="Arial" panose="020B0604020202020204"/>
                  </a:rPr>
                  <a:t>输出布尔比特</a:t>
                </a:r>
              </a:p>
            </p:txBody>
          </p:sp>
          <p:sp>
            <p:nvSpPr>
              <p:cNvPr id="15" name="Rectangle 14"/>
              <p:cNvSpPr/>
              <p:nvPr/>
            </p:nvSpPr>
            <p:spPr>
              <a:xfrm>
                <a:off x="3197972" y="3608136"/>
                <a:ext cx="513715" cy="64516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3600" b="1" i="1" kern="0" dirty="0">
                    <a:solidFill>
                      <a:srgbClr val="7030A0"/>
                    </a:solidFill>
                    <a:latin typeface="Arial" panose="020B0604020202020204" pitchFamily="34" charset="0"/>
                    <a:ea typeface="黑体" panose="02010609060101010101" pitchFamily="49" charset="-122"/>
                    <a:cs typeface="Arial" panose="020B0604020202020204"/>
                  </a:rPr>
                  <a:t>Y</a:t>
                </a:r>
              </a:p>
            </p:txBody>
          </p:sp>
        </p:grpSp>
        <p:grpSp>
          <p:nvGrpSpPr>
            <p:cNvPr id="21" name="Group 20"/>
            <p:cNvGrpSpPr/>
            <p:nvPr/>
          </p:nvGrpSpPr>
          <p:grpSpPr>
            <a:xfrm>
              <a:off x="772680" y="3315105"/>
              <a:ext cx="1466533" cy="1537536"/>
              <a:chOff x="772680" y="3604711"/>
              <a:chExt cx="1466533" cy="1537536"/>
            </a:xfrm>
          </p:grpSpPr>
          <p:sp>
            <p:nvSpPr>
              <p:cNvPr id="11" name="Rectangle 10"/>
              <p:cNvSpPr/>
              <p:nvPr/>
            </p:nvSpPr>
            <p:spPr>
              <a:xfrm>
                <a:off x="772680" y="4312302"/>
                <a:ext cx="1466533" cy="82994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2400" kern="0" dirty="0">
                    <a:solidFill>
                      <a:srgbClr val="3333FF"/>
                    </a:solidFill>
                    <a:latin typeface="Arial" panose="020B0604020202020204" pitchFamily="34" charset="0"/>
                    <a:ea typeface="黑体" panose="02010609060101010101" pitchFamily="49" charset="-122"/>
                    <a:cs typeface="Arial" panose="020B0604020202020204"/>
                  </a:rPr>
                  <a:t>输入布尔比特</a:t>
                </a:r>
              </a:p>
            </p:txBody>
          </p:sp>
          <p:sp>
            <p:nvSpPr>
              <p:cNvPr id="20" name="Rectangle 19"/>
              <p:cNvSpPr/>
              <p:nvPr/>
            </p:nvSpPr>
            <p:spPr>
              <a:xfrm>
                <a:off x="1260635" y="3604711"/>
                <a:ext cx="535305" cy="64516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3600" b="1" i="1" kern="0" dirty="0">
                    <a:solidFill>
                      <a:srgbClr val="3333FF"/>
                    </a:solidFill>
                    <a:latin typeface="Arial" panose="020B0604020202020204" pitchFamily="34" charset="0"/>
                    <a:ea typeface="黑体" panose="02010609060101010101" pitchFamily="49" charset="-122"/>
                    <a:cs typeface="Arial" panose="020B0604020202020204"/>
                  </a:rPr>
                  <a:t>X</a:t>
                </a:r>
              </a:p>
            </p:txBody>
          </p:sp>
        </p:grpSp>
      </p:grpSp>
      <p:graphicFrame>
        <p:nvGraphicFramePr>
          <p:cNvPr id="3" name="Table 4">
            <a:extLst>
              <a:ext uri="{FF2B5EF4-FFF2-40B4-BE49-F238E27FC236}">
                <a16:creationId xmlns:a16="http://schemas.microsoft.com/office/drawing/2014/main" id="{FCCEE0AE-751B-742D-3C8D-091BA67797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8786792"/>
              </p:ext>
            </p:extLst>
          </p:nvPr>
        </p:nvGraphicFramePr>
        <p:xfrm>
          <a:off x="4254571" y="1482388"/>
          <a:ext cx="4390247" cy="5158684"/>
        </p:xfrm>
        <a:graphic>
          <a:graphicData uri="http://schemas.openxmlformats.org/drawingml/2006/table">
            <a:tbl>
              <a:tblPr firstRow="1">
                <a:tableStyleId>{72833802-FEF1-4C79-8D5D-14CF1EAF98D9}</a:tableStyleId>
              </a:tblPr>
              <a:tblGrid>
                <a:gridCol w="7720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42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538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345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周</a:t>
                      </a:r>
                      <a:endParaRPr lang="zh-CN" alt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日期</a:t>
                      </a:r>
                      <a:endParaRPr lang="zh-CN" alt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暂定主要内容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45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+mn-lt"/>
                          <a:ea typeface="+mn-ea"/>
                        </a:rPr>
                        <a:t>1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+mn-lt"/>
                          <a:ea typeface="+mn-ea"/>
                        </a:rPr>
                        <a:t>2/2</a:t>
                      </a:r>
                      <a:r>
                        <a:rPr lang="en-US" altLang="zh-CN" sz="1800" kern="100" dirty="0">
                          <a:effectLst/>
                          <a:latin typeface="+mn-lt"/>
                          <a:ea typeface="+mn-ea"/>
                        </a:rPr>
                        <a:t>6</a:t>
                      </a:r>
                      <a:endParaRPr lang="en-US" sz="1800" kern="100" dirty="0">
                        <a:effectLst/>
                        <a:latin typeface="+mn-lt"/>
                        <a:ea typeface="+mn-ea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  <a:latin typeface="+mn-lt"/>
                          <a:ea typeface="+mn-ea"/>
                        </a:rPr>
                        <a:t>概论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345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8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3/4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8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布尔代数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345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3/</a:t>
                      </a:r>
                      <a:r>
                        <a:rPr lang="en-US" altLang="zh-CN" sz="18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  <a:endParaRPr lang="en-US" sz="18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8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组合逻辑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345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3/1</a:t>
                      </a:r>
                      <a:r>
                        <a:rPr lang="en-US" altLang="zh-CN" sz="18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endParaRPr lang="en-US" sz="18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8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时序逻辑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345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+mn-lt"/>
                          <a:ea typeface="+mn-ea"/>
                        </a:rPr>
                        <a:t>5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+mn-lt"/>
                          <a:ea typeface="+mn-ea"/>
                        </a:rPr>
                        <a:t>3/2</a:t>
                      </a:r>
                      <a:r>
                        <a:rPr lang="en-US" altLang="zh-CN" sz="1800" kern="100" dirty="0">
                          <a:effectLst/>
                          <a:latin typeface="+mn-lt"/>
                          <a:ea typeface="+mn-ea"/>
                        </a:rPr>
                        <a:t>5</a:t>
                      </a:r>
                      <a:endParaRPr lang="en-US" sz="1800" kern="100" dirty="0">
                        <a:effectLst/>
                        <a:latin typeface="+mn-lt"/>
                        <a:ea typeface="+mn-ea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  <a:latin typeface="+mn-lt"/>
                          <a:ea typeface="+mn-ea"/>
                        </a:rPr>
                        <a:t>时序逻辑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345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rgbClr val="3333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800" b="1" kern="100" dirty="0">
                          <a:solidFill>
                            <a:srgbClr val="3333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en-US" sz="1800" b="1" kern="100" dirty="0">
                          <a:solidFill>
                            <a:srgbClr val="3333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en-US" altLang="zh-CN" sz="1800" b="1" kern="100" dirty="0">
                          <a:solidFill>
                            <a:srgbClr val="3333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US" sz="1800" b="1" kern="100" dirty="0">
                        <a:solidFill>
                          <a:srgbClr val="3333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800" b="1" kern="100" dirty="0">
                          <a:solidFill>
                            <a:srgbClr val="3333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计算机指令系统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3452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solidFill>
                            <a:srgbClr val="3333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solidFill>
                            <a:srgbClr val="3333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4/</a:t>
                      </a:r>
                      <a:r>
                        <a:rPr lang="en-US" altLang="zh-CN" sz="1800" b="0" kern="100" dirty="0">
                          <a:solidFill>
                            <a:srgbClr val="3333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endParaRPr lang="en-US" sz="1800" b="0" kern="100" dirty="0">
                        <a:solidFill>
                          <a:srgbClr val="3333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1800" b="0" kern="100" dirty="0">
                          <a:solidFill>
                            <a:srgbClr val="3333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计算机指令系统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345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+mn-lt"/>
                          <a:ea typeface="+mn-ea"/>
                        </a:rPr>
                        <a:t>8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4/1</a:t>
                      </a:r>
                      <a:r>
                        <a:rPr lang="en-US" altLang="zh-CN" sz="18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5</a:t>
                      </a:r>
                      <a:endParaRPr lang="en-US" sz="18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kern="100" dirty="0">
                          <a:effectLst/>
                          <a:latin typeface="+mn-lt"/>
                          <a:ea typeface="+mn-ea"/>
                        </a:rPr>
                        <a:t>微处理器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345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8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800" kern="100" dirty="0"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</a:rPr>
                        <a:t>4/20-4/21</a:t>
                      </a:r>
                      <a:endParaRPr lang="zh-CN" altLang="en-US" sz="1800" kern="100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800" kern="100" dirty="0">
                          <a:effectLst/>
                          <a:latin typeface="+mn-lt"/>
                          <a:ea typeface="+mn-ea"/>
                        </a:rPr>
                        <a:t>期中考试</a:t>
                      </a:r>
                      <a:endParaRPr lang="zh-CN" altLang="en-US" sz="18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345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i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4/</a:t>
                      </a:r>
                      <a:r>
                        <a:rPr lang="en-US" altLang="zh-CN" sz="1800" b="0" i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29</a:t>
                      </a:r>
                      <a:endParaRPr lang="en-US" sz="1800" b="0" i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8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劳动节放假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345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5/</a:t>
                      </a:r>
                      <a:r>
                        <a:rPr lang="en-US" altLang="zh-CN" sz="18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en-US" sz="18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微处理器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345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+mn-lt"/>
                          <a:ea typeface="+mn-ea"/>
                        </a:rPr>
                        <a:t>12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5/</a:t>
                      </a:r>
                      <a:r>
                        <a:rPr lang="en-US" altLang="zh-CN" sz="18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13</a:t>
                      </a:r>
                      <a:endParaRPr lang="en-US" sz="18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800" kern="100" dirty="0">
                          <a:effectLst/>
                          <a:latin typeface="+mn-lt"/>
                          <a:ea typeface="+mn-ea"/>
                        </a:rPr>
                        <a:t>微处理器</a:t>
                      </a:r>
                      <a:r>
                        <a:rPr lang="en-US" altLang="zh-CN" sz="1800" kern="100" dirty="0">
                          <a:effectLst/>
                          <a:latin typeface="+mn-lt"/>
                          <a:ea typeface="+mn-ea"/>
                        </a:rPr>
                        <a:t>/</a:t>
                      </a:r>
                      <a:r>
                        <a:rPr lang="zh-CN" altLang="en-US" sz="1800" kern="100" dirty="0">
                          <a:effectLst/>
                          <a:latin typeface="+mn-lt"/>
                          <a:ea typeface="+mn-ea"/>
                        </a:rPr>
                        <a:t>流水线</a:t>
                      </a:r>
                      <a:endParaRPr lang="en-US" sz="1800" kern="100" dirty="0">
                        <a:effectLst/>
                        <a:latin typeface="+mn-lt"/>
                        <a:ea typeface="+mn-ea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345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+mn-lt"/>
                          <a:ea typeface="+mn-ea"/>
                        </a:rPr>
                        <a:t>13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+mn-lt"/>
                          <a:ea typeface="+mn-ea"/>
                        </a:rPr>
                        <a:t>5/</a:t>
                      </a:r>
                      <a:r>
                        <a:rPr lang="en-US" altLang="zh-CN" sz="1800" kern="100" dirty="0">
                          <a:effectLst/>
                          <a:latin typeface="+mn-lt"/>
                          <a:ea typeface="+mn-ea"/>
                        </a:rPr>
                        <a:t>20</a:t>
                      </a:r>
                      <a:endParaRPr lang="en-US" sz="1800" kern="100" dirty="0">
                        <a:effectLst/>
                        <a:latin typeface="+mn-lt"/>
                        <a:ea typeface="+mn-ea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  <a:latin typeface="+mn-lt"/>
                          <a:ea typeface="+mn-ea"/>
                        </a:rPr>
                        <a:t>流水线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345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+mn-lt"/>
                          <a:ea typeface="+mn-ea"/>
                        </a:rPr>
                        <a:t>14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+mn-lt"/>
                          <a:ea typeface="+mn-ea"/>
                        </a:rPr>
                        <a:t>5/</a:t>
                      </a:r>
                      <a:r>
                        <a:rPr lang="en-US" altLang="zh-CN" sz="1800" kern="100" dirty="0">
                          <a:effectLst/>
                          <a:latin typeface="+mn-lt"/>
                          <a:ea typeface="+mn-ea"/>
                        </a:rPr>
                        <a:t>27</a:t>
                      </a:r>
                      <a:endParaRPr lang="en-US" sz="1800" kern="100" dirty="0">
                        <a:effectLst/>
                        <a:latin typeface="+mn-lt"/>
                        <a:ea typeface="+mn-ea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  <a:latin typeface="+mn-lt"/>
                          <a:ea typeface="+mn-ea"/>
                        </a:rPr>
                        <a:t>流水线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0345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+mn-lt"/>
                          <a:ea typeface="+mn-ea"/>
                        </a:rPr>
                        <a:t>15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800" kern="100" dirty="0">
                          <a:effectLst/>
                          <a:latin typeface="+mn-lt"/>
                          <a:ea typeface="+mn-ea"/>
                        </a:rPr>
                        <a:t>6</a:t>
                      </a:r>
                      <a:r>
                        <a:rPr lang="en-US" sz="1800" kern="100" dirty="0">
                          <a:effectLst/>
                          <a:latin typeface="+mn-lt"/>
                          <a:ea typeface="+mn-ea"/>
                        </a:rPr>
                        <a:t>/</a:t>
                      </a:r>
                      <a:r>
                        <a:rPr lang="en-US" altLang="zh-CN" sz="1800" kern="100" dirty="0">
                          <a:effectLst/>
                          <a:latin typeface="+mn-lt"/>
                          <a:ea typeface="+mn-ea"/>
                        </a:rPr>
                        <a:t>3</a:t>
                      </a:r>
                      <a:endParaRPr lang="en-US" sz="1800" kern="100" dirty="0">
                        <a:effectLst/>
                        <a:latin typeface="+mn-lt"/>
                        <a:ea typeface="+mn-ea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  <a:latin typeface="+mn-lt"/>
                          <a:ea typeface="+mn-ea"/>
                        </a:rPr>
                        <a:t>存储器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0345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800" kern="100" dirty="0">
                          <a:effectLst/>
                          <a:latin typeface="+mn-lt"/>
                          <a:ea typeface="+mn-ea"/>
                        </a:rPr>
                        <a:t>16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800" kern="100" dirty="0">
                          <a:effectLst/>
                          <a:latin typeface="+mn-lt"/>
                          <a:ea typeface="+mn-ea"/>
                        </a:rPr>
                        <a:t>6/10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  <a:latin typeface="+mn-lt"/>
                          <a:ea typeface="+mn-ea"/>
                        </a:rPr>
                        <a:t>存储器</a:t>
                      </a:r>
                      <a:r>
                        <a:rPr lang="en-US" altLang="zh-CN" sz="1800" kern="100" dirty="0">
                          <a:effectLst/>
                          <a:latin typeface="+mn-lt"/>
                          <a:ea typeface="+mn-ea"/>
                        </a:rPr>
                        <a:t>/IO</a:t>
                      </a:r>
                      <a:r>
                        <a:rPr lang="zh-CN" altLang="en-US" sz="1800" kern="100" dirty="0">
                          <a:effectLst/>
                          <a:latin typeface="+mn-lt"/>
                          <a:ea typeface="+mn-ea"/>
                        </a:rPr>
                        <a:t>与总线</a:t>
                      </a:r>
                      <a:r>
                        <a:rPr lang="en-US" altLang="zh-CN" sz="1800" kern="100" dirty="0">
                          <a:effectLst/>
                          <a:latin typeface="+mn-lt"/>
                          <a:ea typeface="+mn-ea"/>
                        </a:rPr>
                        <a:t>/</a:t>
                      </a:r>
                      <a:r>
                        <a:rPr lang="zh-CN" altLang="en-US" sz="1800" kern="100" dirty="0">
                          <a:effectLst/>
                          <a:latin typeface="+mn-lt"/>
                          <a:ea typeface="+mn-ea"/>
                        </a:rPr>
                        <a:t>总结</a:t>
                      </a:r>
                      <a:endParaRPr lang="en-US" sz="1800" kern="100" dirty="0">
                        <a:effectLst/>
                        <a:latin typeface="+mn-lt"/>
                        <a:ea typeface="+mn-ea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BA35EBF-DD54-FDE0-4F97-4480C84C5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t>2</a:t>
            </a:fld>
            <a:endParaRPr lang="en-US" altLang="zh-C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dirty="0">
                <a:latin typeface="Arial" panose="020B0604020202020204" pitchFamily="34" charset="0"/>
                <a:ea typeface="黑体" panose="02010609060101010101" pitchFamily="49" charset="-122"/>
              </a:rPr>
              <a:t>指令集系统学习目标</a:t>
            </a:r>
          </a:p>
        </p:txBody>
      </p:sp>
      <p:sp>
        <p:nvSpPr>
          <p:cNvPr id="18" name="Content Placeholder 2"/>
          <p:cNvSpPr>
            <a:spLocks noGrp="1"/>
          </p:cNvSpPr>
          <p:nvPr>
            <p:ph idx="1"/>
          </p:nvPr>
        </p:nvSpPr>
        <p:spPr>
          <a:xfrm>
            <a:off x="457200" y="1398493"/>
            <a:ext cx="8229600" cy="5131181"/>
          </a:xfrm>
        </p:spPr>
        <p:txBody>
          <a:bodyPr>
            <a:normAutofit/>
          </a:bodyPr>
          <a:lstStyle/>
          <a:p>
            <a:r>
              <a:rPr lang="zh-CN" altLang="en-US" sz="2800" b="1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知识点：指令集的概念、原理和评价指标</a:t>
            </a:r>
            <a:endParaRPr lang="en-US" altLang="zh-CN" sz="2800" b="1" dirty="0"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lvl="1"/>
            <a:r>
              <a:rPr lang="en-US" sz="24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RISC/CISC</a:t>
            </a:r>
            <a:r>
              <a:rPr lang="zh-CN" altLang="en-US" sz="24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、存储结构、基础计算机系统、基础指令、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 ISA</a:t>
            </a:r>
            <a:r>
              <a:rPr lang="zh-CN" altLang="en-US" sz="24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、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CPI</a:t>
            </a:r>
            <a:r>
              <a:rPr lang="zh-CN" altLang="en-US" sz="24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、执行时间</a:t>
            </a:r>
            <a:endParaRPr lang="en-US" sz="2400" dirty="0"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>
              <a:spcBef>
                <a:spcPts val="2400"/>
              </a:spcBef>
            </a:pPr>
            <a:r>
              <a:rPr lang="zh-CN" altLang="en-US" sz="2800" b="1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能力</a:t>
            </a:r>
            <a:endParaRPr lang="en-US" altLang="zh-CN" sz="2800" b="1" dirty="0"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lvl="1"/>
            <a:r>
              <a:rPr lang="zh-CN" altLang="en-US" sz="24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掌握分析和设计指令集的能力</a:t>
            </a:r>
            <a:endParaRPr lang="en-US" sz="2400" dirty="0"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lvl="1"/>
            <a:r>
              <a:rPr lang="zh-CN" altLang="en-US" sz="24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掌握评价计算机性能的方法</a:t>
            </a:r>
            <a:endParaRPr lang="en-US" sz="2400" dirty="0"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>
              <a:spcBef>
                <a:spcPts val="2400"/>
              </a:spcBef>
            </a:pPr>
            <a:r>
              <a:rPr lang="zh-CN" altLang="en-US" sz="2800" b="1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思想</a:t>
            </a:r>
            <a:endParaRPr lang="en-US" altLang="zh-CN" sz="2800" b="1" dirty="0"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lvl="1"/>
            <a:r>
              <a:rPr lang="zh-CN" altLang="en-US" sz="24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通用同步计算</a:t>
            </a:r>
            <a:endParaRPr lang="en-US" sz="2400" dirty="0"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lvl="1"/>
            <a:r>
              <a:rPr lang="zh-CN" altLang="en-US" sz="24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系统的跨层次协同设计与优化</a:t>
            </a:r>
            <a:endParaRPr lang="en-US" sz="2400" dirty="0"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21DDA144-5CC3-C6AD-4342-2DA0B5C9A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t>3</a:t>
            </a:fld>
            <a:endParaRPr lang="en-US" altLang="zh-C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黑体" pitchFamily="49" charset="-122"/>
              </a:rPr>
              <a:t>本节课目录</a:t>
            </a:r>
            <a:endParaRPr lang="zh-CN" altLang="en-US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solidFill>
                  <a:srgbClr val="0432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引言</a:t>
            </a:r>
            <a:endParaRPr lang="en-US" altLang="zh-CN" dirty="0">
              <a:solidFill>
                <a:srgbClr val="0432FF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1"/>
            <a:r>
              <a:rPr lang="zh-CN" altLang="en-US" dirty="0">
                <a:solidFill>
                  <a:srgbClr val="0432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从算法到处理器：过渡</a:t>
            </a:r>
            <a:endParaRPr lang="en-US" altLang="zh-CN" dirty="0">
              <a:solidFill>
                <a:srgbClr val="0432FF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1"/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通用处理器的结构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1"/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程序执行流程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指令集设计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总结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08BE2FC-378A-0324-C967-89CD57F49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t>4</a:t>
            </a:fld>
            <a:endParaRPr lang="en-US" altLang="zh-C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用数字电路解决实际问题</a:t>
            </a:r>
          </a:p>
        </p:txBody>
      </p:sp>
      <p:sp>
        <p:nvSpPr>
          <p:cNvPr id="20" name="Content Placeholder 7"/>
          <p:cNvSpPr>
            <a:spLocks noGrp="1"/>
          </p:cNvSpPr>
          <p:nvPr>
            <p:ph idx="1"/>
          </p:nvPr>
        </p:nvSpPr>
        <p:spPr>
          <a:xfrm>
            <a:off x="457200" y="1363174"/>
            <a:ext cx="8229600" cy="4525963"/>
          </a:xfrm>
        </p:spPr>
        <p:txBody>
          <a:bodyPr/>
          <a:lstStyle/>
          <a:p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时序逻辑电路设计方法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3"/>
              <p:cNvSpPr txBox="1"/>
              <p:nvPr/>
            </p:nvSpPr>
            <p:spPr>
              <a:xfrm>
                <a:off x="2082923" y="3218099"/>
                <a:ext cx="4839397" cy="7772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kumimoji="0" lang="en-US" altLang="zh-CN" sz="44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黑体" panose="02010609060101010101" pitchFamily="49" charset="-122"/>
                          <a:cs typeface="DejaVu Math TeX Gyre" panose="02000503000000000000" charset="0"/>
                        </a:rPr>
                        <m:t>f</m:t>
                      </m:r>
                      <m:r>
                        <m:rPr>
                          <m:nor/>
                        </m:rPr>
                        <a:rPr kumimoji="0" lang="zh-CN" altLang="en-US" sz="44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Mincho" charset="0"/>
                          <a:cs typeface="DejaVu Math TeX Gyre" panose="02000503000000000000" charset="0"/>
                        </a:rPr>
                        <m:t> </m:t>
                      </m:r>
                      <m:r>
                        <m:rPr>
                          <m:nor/>
                        </m:rPr>
                        <a:rPr kumimoji="0" lang="en-US" altLang="zh-CN" sz="44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Mincho" charset="0"/>
                          <a:cs typeface="DejaVu Math TeX Gyre" panose="02000503000000000000" charset="0"/>
                        </a:rPr>
                        <m:t>:</m:t>
                      </m:r>
                      <m:r>
                        <m:rPr>
                          <m:nor/>
                        </m:rPr>
                        <a:rPr kumimoji="0" lang="zh-CN" altLang="en-US" sz="44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Mincho" charset="0"/>
                          <a:cs typeface="DejaVu Math TeX Gyre" panose="02000503000000000000" charset="0"/>
                        </a:rPr>
                        <m:t> </m:t>
                      </m:r>
                      <m:r>
                        <m:rPr>
                          <m:nor/>
                        </m:rPr>
                        <a:rPr kumimoji="0" lang="en-US" altLang="zh-CN" sz="44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黑体" panose="02010609060101010101" pitchFamily="49" charset="-122"/>
                          <a:cs typeface="DejaVu Math TeX Gyre" panose="02000503000000000000" charset="0"/>
                        </a:rPr>
                        <m:t>x</m:t>
                      </m:r>
                      <m:r>
                        <m:rPr>
                          <m:nor/>
                        </m:rPr>
                        <a:rPr kumimoji="0" lang="en-US" altLang="zh-CN" sz="44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Mincho" charset="0"/>
                          <a:cs typeface="DejaVu Math TeX Gyre" panose="02000503000000000000" charset="0"/>
                        </a:rPr>
                        <m:t>→</m:t>
                      </m:r>
                      <m:r>
                        <m:rPr>
                          <m:nor/>
                        </m:rPr>
                        <a:rPr kumimoji="0" lang="en-US" altLang="zh-CN" sz="44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黑体" panose="02010609060101010101" pitchFamily="49" charset="-122"/>
                          <a:cs typeface="DejaVu Math TeX Gyre" panose="02000503000000000000" charset="0"/>
                        </a:rPr>
                        <m:t>y</m:t>
                      </m:r>
                    </m:oMath>
                  </m:oMathPara>
                </a14:m>
                <a:endParaRPr kumimoji="0" lang="zh-CN" altLang="en-US" sz="4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lt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9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2923" y="3218099"/>
                <a:ext cx="4839397" cy="777240"/>
              </a:xfrm>
              <a:prstGeom prst="rect">
                <a:avLst/>
              </a:prstGeom>
              <a:blipFill>
                <a:blip r:embed="rId3"/>
                <a:stretch>
                  <a:fillRect t="-6452" b="-274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矩形 19"/>
          <p:cNvSpPr/>
          <p:nvPr/>
        </p:nvSpPr>
        <p:spPr>
          <a:xfrm>
            <a:off x="3801260" y="5237537"/>
            <a:ext cx="1402724" cy="1418758"/>
          </a:xfrm>
          <a:prstGeom prst="rect">
            <a:avLst/>
          </a:prstGeom>
          <a:solidFill>
            <a:schemeClr val="bg1">
              <a:lumMod val="75000"/>
            </a:schemeClr>
          </a:solidFill>
          <a:ln w="2540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  <p:txBody>
          <a:bodyPr rtlCol="0"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8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黑体" panose="02010609060101010101" pitchFamily="49" charset="-122"/>
                <a:cs typeface="+mn-cs"/>
              </a:rPr>
              <a:t>f</a:t>
            </a:r>
          </a:p>
        </p:txBody>
      </p:sp>
      <p:cxnSp>
        <p:nvCxnSpPr>
          <p:cNvPr id="11" name="直接箭头连接符 7"/>
          <p:cNvCxnSpPr>
            <a:endCxn id="10" idx="1"/>
          </p:cNvCxnSpPr>
          <p:nvPr/>
        </p:nvCxnSpPr>
        <p:spPr>
          <a:xfrm>
            <a:off x="2394411" y="5946916"/>
            <a:ext cx="1406849" cy="0"/>
          </a:xfrm>
          <a:prstGeom prst="straightConnector1">
            <a:avLst/>
          </a:prstGeom>
          <a:noFill/>
          <a:ln w="57150" cap="rnd" cmpd="sng" algn="ctr">
            <a:solidFill>
              <a:srgbClr val="000000"/>
            </a:solidFill>
            <a:prstDash val="solid"/>
            <a:tailEnd type="arrow"/>
          </a:ln>
          <a:effectLst/>
        </p:spPr>
      </p:cxnSp>
      <p:cxnSp>
        <p:nvCxnSpPr>
          <p:cNvPr id="12" name="直接箭头连接符 8"/>
          <p:cNvCxnSpPr>
            <a:stCxn id="10" idx="3"/>
          </p:cNvCxnSpPr>
          <p:nvPr/>
        </p:nvCxnSpPr>
        <p:spPr>
          <a:xfrm>
            <a:off x="5203984" y="5946916"/>
            <a:ext cx="1646138" cy="0"/>
          </a:xfrm>
          <a:prstGeom prst="straightConnector1">
            <a:avLst/>
          </a:prstGeom>
          <a:noFill/>
          <a:ln w="57150" cap="flat" cmpd="sng" algn="ctr">
            <a:solidFill>
              <a:srgbClr val="000000"/>
            </a:solidFill>
            <a:prstDash val="solid"/>
            <a:tailEnd type="arrow"/>
          </a:ln>
          <a:effectLst/>
        </p:spPr>
      </p:cxnSp>
      <p:sp>
        <p:nvSpPr>
          <p:cNvPr id="13" name="TextBox 10"/>
          <p:cNvSpPr txBox="1"/>
          <p:nvPr/>
        </p:nvSpPr>
        <p:spPr>
          <a:xfrm>
            <a:off x="2314715" y="5347094"/>
            <a:ext cx="1363806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3200" b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黑体" panose="02010609060101010101" pitchFamily="49" charset="-122"/>
              </a:rPr>
              <a:t>Input</a:t>
            </a:r>
          </a:p>
        </p:txBody>
      </p:sp>
      <p:sp>
        <p:nvSpPr>
          <p:cNvPr id="14" name="TextBox 11"/>
          <p:cNvSpPr txBox="1"/>
          <p:nvPr/>
        </p:nvSpPr>
        <p:spPr>
          <a:xfrm>
            <a:off x="5344256" y="5360967"/>
            <a:ext cx="1402724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3200" b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黑体" panose="02010609060101010101" pitchFamily="49" charset="-122"/>
              </a:rPr>
              <a:t>Output</a:t>
            </a:r>
          </a:p>
        </p:txBody>
      </p:sp>
      <p:cxnSp>
        <p:nvCxnSpPr>
          <p:cNvPr id="16" name="直接箭头连接符 12"/>
          <p:cNvCxnSpPr/>
          <p:nvPr/>
        </p:nvCxnSpPr>
        <p:spPr>
          <a:xfrm>
            <a:off x="3678522" y="4643784"/>
            <a:ext cx="561089" cy="380940"/>
          </a:xfrm>
          <a:prstGeom prst="straightConnector1">
            <a:avLst/>
          </a:prstGeom>
          <a:noFill/>
          <a:ln w="57150" cap="rnd" cmpd="sng" algn="ctr">
            <a:solidFill>
              <a:srgbClr val="000000"/>
            </a:solidFill>
            <a:prstDash val="solid"/>
            <a:tailEnd type="arrow"/>
          </a:ln>
          <a:effectLst/>
        </p:spPr>
      </p:cxnSp>
      <p:sp>
        <p:nvSpPr>
          <p:cNvPr id="17" name="内容占位符 2"/>
          <p:cNvSpPr txBox="1"/>
          <p:nvPr/>
        </p:nvSpPr>
        <p:spPr bwMode="auto">
          <a:xfrm>
            <a:off x="382121" y="3741451"/>
            <a:ext cx="3584761" cy="10952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 b="0" dirty="0">
                <a:ea typeface="黑体" panose="02010609060101010101" pitchFamily="49" charset="-122"/>
                <a:cs typeface="黑体" panose="02010609060101010101" pitchFamily="49" charset="-122"/>
              </a:rPr>
              <a:t>①专用芯片</a:t>
            </a:r>
            <a:endParaRPr lang="en-US" altLang="zh-CN" sz="2400" b="0" dirty="0"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 b="0" dirty="0">
                <a:ea typeface="黑体" panose="02010609060101010101" pitchFamily="49" charset="-122"/>
                <a:cs typeface="黑体" panose="02010609060101010101" pitchFamily="49" charset="-122"/>
              </a:rPr>
              <a:t>不同算法</a:t>
            </a:r>
            <a:r>
              <a:rPr lang="zh-CN" altLang="en-US" sz="2400" b="0" dirty="0">
                <a:ea typeface="黑体" panose="02010609060101010101" pitchFamily="49" charset="-122"/>
                <a:cs typeface="黑体" panose="02010609060101010101" pitchFamily="49" charset="-122"/>
                <a:sym typeface="Symbol" panose="05050102010706020507"/>
              </a:rPr>
              <a:t>不同电路</a:t>
            </a:r>
            <a:r>
              <a:rPr lang="zh-CN" altLang="en-US" sz="2400" b="0" dirty="0">
                <a:ea typeface="黑体" panose="02010609060101010101" pitchFamily="49" charset="-122"/>
                <a:cs typeface="黑体" panose="02010609060101010101" pitchFamily="49" charset="-122"/>
              </a:rPr>
              <a:t>结构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E8FA6A24-3C83-6D00-66D9-26E6D769C781}"/>
              </a:ext>
            </a:extLst>
          </p:cNvPr>
          <p:cNvGrpSpPr/>
          <p:nvPr/>
        </p:nvGrpSpPr>
        <p:grpSpPr>
          <a:xfrm>
            <a:off x="4783167" y="3741890"/>
            <a:ext cx="3997762" cy="1282834"/>
            <a:chOff x="4783167" y="3741890"/>
            <a:chExt cx="3997762" cy="1282834"/>
          </a:xfrm>
        </p:grpSpPr>
        <p:cxnSp>
          <p:nvCxnSpPr>
            <p:cNvPr id="15" name="直接箭头连接符 6"/>
            <p:cNvCxnSpPr/>
            <p:nvPr/>
          </p:nvCxnSpPr>
          <p:spPr>
            <a:xfrm flipH="1">
              <a:off x="4783167" y="4643784"/>
              <a:ext cx="561089" cy="380940"/>
            </a:xfrm>
            <a:prstGeom prst="straightConnector1">
              <a:avLst/>
            </a:prstGeom>
            <a:noFill/>
            <a:ln w="57150" cap="rnd" cmpd="sng" algn="ctr">
              <a:solidFill>
                <a:srgbClr val="000000"/>
              </a:solidFill>
              <a:prstDash val="solid"/>
              <a:tailEnd type="arrow"/>
            </a:ln>
            <a:effectLst/>
          </p:spPr>
        </p:cxnSp>
        <p:sp>
          <p:nvSpPr>
            <p:cNvPr id="18" name="内容占位符 2"/>
            <p:cNvSpPr txBox="1"/>
            <p:nvPr/>
          </p:nvSpPr>
          <p:spPr bwMode="auto">
            <a:xfrm>
              <a:off x="5063711" y="3741890"/>
              <a:ext cx="3717218" cy="1095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2400" b="0" dirty="0">
                  <a:ea typeface="黑体" panose="02010609060101010101" pitchFamily="49" charset="-122"/>
                  <a:cs typeface="黑体" panose="02010609060101010101" pitchFamily="49" charset="-122"/>
                </a:rPr>
                <a:t>②通用</a:t>
              </a:r>
              <a:r>
                <a:rPr lang="en-US" altLang="zh-CN" sz="2400" b="0" dirty="0">
                  <a:ea typeface="黑体" panose="02010609060101010101" pitchFamily="49" charset="-122"/>
                  <a:cs typeface="黑体" panose="02010609060101010101" pitchFamily="49" charset="-122"/>
                </a:rPr>
                <a:t>CPU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2400" b="0" dirty="0">
                  <a:ea typeface="黑体" panose="02010609060101010101" pitchFamily="49" charset="-122"/>
                  <a:cs typeface="黑体" panose="02010609060101010101" pitchFamily="49" charset="-122"/>
                </a:rPr>
                <a:t>不同算法</a:t>
              </a:r>
              <a:r>
                <a:rPr lang="zh-CN" altLang="en-US" sz="2400" b="0" dirty="0">
                  <a:ea typeface="黑体" panose="02010609060101010101" pitchFamily="49" charset="-122"/>
                  <a:cs typeface="黑体" panose="02010609060101010101" pitchFamily="49" charset="-122"/>
                  <a:sym typeface="Symbol" panose="05050102010706020507"/>
                </a:rPr>
                <a:t>不同指令流</a:t>
              </a:r>
              <a:endParaRPr lang="zh-CN" altLang="en-US" sz="2400" b="0" dirty="0">
                <a:ea typeface="黑体" panose="02010609060101010101" pitchFamily="49" charset="-122"/>
                <a:cs typeface="黑体" panose="02010609060101010101" pitchFamily="49" charset="-122"/>
              </a:endParaRPr>
            </a:p>
          </p:txBody>
        </p:sp>
      </p:grpSp>
      <p:sp>
        <p:nvSpPr>
          <p:cNvPr id="21" name="Rectangle 29" descr="e"/>
          <p:cNvSpPr/>
          <p:nvPr/>
        </p:nvSpPr>
        <p:spPr>
          <a:xfrm>
            <a:off x="935508" y="2134901"/>
            <a:ext cx="1381036" cy="8859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r>
              <a:rPr kumimoji="1"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FSM</a:t>
            </a:r>
          </a:p>
          <a:p>
            <a:r>
              <a:rPr kumimoji="1" lang="zh-CN" altLang="en-US" sz="20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抽象</a:t>
            </a:r>
            <a:endParaRPr lang="zh-CN" altLang="en-US" sz="2000" dirty="0">
              <a:solidFill>
                <a:schemeClr val="tx1"/>
              </a:solidFill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cxnSp>
        <p:nvCxnSpPr>
          <p:cNvPr id="22" name="Straight Arrow Connector 33"/>
          <p:cNvCxnSpPr>
            <a:stCxn id="21" idx="3"/>
            <a:endCxn id="23" idx="1"/>
          </p:cNvCxnSpPr>
          <p:nvPr/>
        </p:nvCxnSpPr>
        <p:spPr>
          <a:xfrm>
            <a:off x="2316544" y="2577865"/>
            <a:ext cx="943032" cy="0"/>
          </a:xfrm>
          <a:prstGeom prst="straightConnector1">
            <a:avLst/>
          </a:prstGeom>
          <a:ln w="38100" cap="rnd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 descr="e"/>
          <p:cNvSpPr/>
          <p:nvPr/>
        </p:nvSpPr>
        <p:spPr>
          <a:xfrm>
            <a:off x="3259576" y="2134901"/>
            <a:ext cx="1896040" cy="8859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r>
              <a:rPr kumimoji="1" lang="zh-CN" altLang="en-US" sz="20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状态化简</a:t>
            </a:r>
            <a:endParaRPr kumimoji="1" lang="en-US" altLang="zh-CN" sz="2000" dirty="0">
              <a:solidFill>
                <a:schemeClr val="tx1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r>
              <a:rPr kumimoji="1" lang="zh-CN" altLang="en-US" sz="20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与编码</a:t>
            </a:r>
          </a:p>
        </p:txBody>
      </p:sp>
      <p:sp>
        <p:nvSpPr>
          <p:cNvPr id="24" name="Rectangle 29" descr="e"/>
          <p:cNvSpPr/>
          <p:nvPr/>
        </p:nvSpPr>
        <p:spPr>
          <a:xfrm>
            <a:off x="6082673" y="2134901"/>
            <a:ext cx="2347212" cy="8859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r>
              <a:rPr kumimoji="1" lang="zh-CN" altLang="en-US" sz="20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电路映射：输出与状态转移逻辑</a:t>
            </a:r>
          </a:p>
        </p:txBody>
      </p:sp>
      <p:cxnSp>
        <p:nvCxnSpPr>
          <p:cNvPr id="25" name="Straight Arrow Connector 24"/>
          <p:cNvCxnSpPr>
            <a:stCxn id="23" idx="3"/>
            <a:endCxn id="24" idx="1"/>
          </p:cNvCxnSpPr>
          <p:nvPr/>
        </p:nvCxnSpPr>
        <p:spPr>
          <a:xfrm>
            <a:off x="5155616" y="2577865"/>
            <a:ext cx="927057" cy="0"/>
          </a:xfrm>
          <a:prstGeom prst="straightConnector1">
            <a:avLst/>
          </a:prstGeom>
          <a:ln w="38100" cap="rnd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DD7C5C4-8DBB-2CA3-EB21-533617521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t>5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kumimoji="1" lang="zh-CN" altLang="en-US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解决问题：专用芯片 </a:t>
            </a:r>
            <a:r>
              <a:rPr kumimoji="1"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vs </a:t>
            </a:r>
            <a:r>
              <a:rPr kumimoji="1" lang="zh-CN" altLang="en-US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通用</a:t>
            </a:r>
            <a:r>
              <a:rPr kumimoji="1"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CPU</a:t>
            </a:r>
            <a:endParaRPr kumimoji="1" lang="zh-CN" altLang="en-US" kern="0" dirty="0"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310231" y="5318656"/>
            <a:ext cx="6431988" cy="775438"/>
          </a:xfrm>
        </p:spPr>
        <p:txBody>
          <a:bodyPr>
            <a:normAutofit/>
          </a:bodyPr>
          <a:lstStyle/>
          <a:p>
            <a:pPr algn="ctr"/>
            <a:r>
              <a:rPr kumimoji="1"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问题：如何支持通用算法？</a:t>
            </a:r>
          </a:p>
        </p:txBody>
      </p:sp>
      <p:sp>
        <p:nvSpPr>
          <p:cNvPr id="13" name="文本框 7"/>
          <p:cNvSpPr txBox="1"/>
          <p:nvPr/>
        </p:nvSpPr>
        <p:spPr>
          <a:xfrm>
            <a:off x="2439324" y="1475171"/>
            <a:ext cx="384690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b="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例：计数器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9985" y="2690457"/>
            <a:ext cx="2903359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4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int </a:t>
            </a:r>
            <a:r>
              <a:rPr lang="en-US" altLang="zh-CN" sz="2400" b="0" i="1" dirty="0" err="1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cnt</a:t>
            </a:r>
            <a:r>
              <a:rPr lang="en-US" altLang="zh-CN" sz="24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 = 0;</a:t>
            </a:r>
          </a:p>
          <a:p>
            <a:pPr algn="l"/>
            <a:r>
              <a:rPr lang="en-US" altLang="zh-CN" sz="24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for (</a:t>
            </a:r>
            <a:r>
              <a:rPr lang="en-US" altLang="zh-CN" sz="2400" b="0" i="1" dirty="0" err="1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i</a:t>
            </a:r>
            <a:r>
              <a:rPr lang="en-US" altLang="zh-CN" sz="24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=0;;i++)</a:t>
            </a:r>
          </a:p>
          <a:p>
            <a:pPr algn="l"/>
            <a:r>
              <a:rPr lang="en-US" altLang="zh-CN" sz="24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{</a:t>
            </a:r>
          </a:p>
          <a:p>
            <a:pPr algn="l"/>
            <a:r>
              <a:rPr lang="en-US" altLang="zh-CN" sz="24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    </a:t>
            </a:r>
            <a:r>
              <a:rPr lang="en-US" altLang="zh-CN" sz="2400" b="0" i="1" dirty="0" err="1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cnt</a:t>
            </a:r>
            <a:r>
              <a:rPr lang="en-US" altLang="zh-CN" sz="24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 += 1;</a:t>
            </a:r>
          </a:p>
          <a:p>
            <a:pPr algn="l"/>
            <a:r>
              <a:rPr lang="zh-CN" altLang="en-US" sz="24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    </a:t>
            </a:r>
            <a:r>
              <a:rPr lang="en-US" altLang="zh-CN" sz="24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if(</a:t>
            </a:r>
            <a:r>
              <a:rPr lang="en-US" altLang="zh-CN" sz="2400" b="0" i="1" dirty="0" err="1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cnt</a:t>
            </a:r>
            <a:r>
              <a:rPr lang="en-US" altLang="zh-CN" sz="24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 &gt; 7) </a:t>
            </a:r>
            <a:br>
              <a:rPr lang="en-US" altLang="zh-CN" sz="24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</a:br>
            <a:r>
              <a:rPr lang="en-US" altLang="zh-CN" sz="24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       </a:t>
            </a:r>
            <a:r>
              <a:rPr lang="en-US" altLang="zh-CN" sz="2400" b="0" i="1" dirty="0" err="1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cnt</a:t>
            </a:r>
            <a:r>
              <a:rPr lang="en-US" altLang="zh-CN" sz="24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 = 0;</a:t>
            </a:r>
          </a:p>
          <a:p>
            <a:pPr algn="l"/>
            <a:r>
              <a:rPr lang="en-US" altLang="zh-CN" sz="24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15" name="箭头: 左右 1"/>
          <p:cNvSpPr/>
          <p:nvPr/>
        </p:nvSpPr>
        <p:spPr>
          <a:xfrm>
            <a:off x="3355403" y="3552844"/>
            <a:ext cx="887712" cy="309256"/>
          </a:xfrm>
          <a:prstGeom prst="leftRightArrow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l"/>
            <a:endParaRPr lang="zh-CN" altLang="en-US" sz="1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BCC6AD9-5F72-7870-E3C5-E44265B01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t>6</a:t>
            </a:fld>
            <a:endParaRPr lang="en-US" altLang="zh-CN"/>
          </a:p>
        </p:txBody>
      </p:sp>
      <p:sp>
        <p:nvSpPr>
          <p:cNvPr id="4" name="矩形 63">
            <a:extLst>
              <a:ext uri="{FF2B5EF4-FFF2-40B4-BE49-F238E27FC236}">
                <a16:creationId xmlns:a16="http://schemas.microsoft.com/office/drawing/2014/main" id="{661F5869-CC6A-D072-8DD8-50F20DC00374}"/>
              </a:ext>
            </a:extLst>
          </p:cNvPr>
          <p:cNvSpPr/>
          <p:nvPr/>
        </p:nvSpPr>
        <p:spPr>
          <a:xfrm>
            <a:off x="5239309" y="2943231"/>
            <a:ext cx="1045313" cy="141809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l"/>
            <a:endParaRPr lang="zh-CN" altLang="en-US" sz="1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矩形 62">
            <a:extLst>
              <a:ext uri="{FF2B5EF4-FFF2-40B4-BE49-F238E27FC236}">
                <a16:creationId xmlns:a16="http://schemas.microsoft.com/office/drawing/2014/main" id="{0C4778D2-E927-4E8C-2EF5-FD90C9BDA2F8}"/>
              </a:ext>
            </a:extLst>
          </p:cNvPr>
          <p:cNvSpPr/>
          <p:nvPr/>
        </p:nvSpPr>
        <p:spPr>
          <a:xfrm>
            <a:off x="5128762" y="3049479"/>
            <a:ext cx="1045313" cy="141809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l"/>
            <a:endParaRPr lang="zh-CN" altLang="en-US" sz="1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矩形 4">
            <a:extLst>
              <a:ext uri="{FF2B5EF4-FFF2-40B4-BE49-F238E27FC236}">
                <a16:creationId xmlns:a16="http://schemas.microsoft.com/office/drawing/2014/main" id="{E7275BA2-1FDA-A2AF-34A4-BBD32D16C2A6}"/>
              </a:ext>
            </a:extLst>
          </p:cNvPr>
          <p:cNvSpPr/>
          <p:nvPr/>
        </p:nvSpPr>
        <p:spPr>
          <a:xfrm>
            <a:off x="5018214" y="3155727"/>
            <a:ext cx="1045313" cy="141809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l"/>
            <a:endParaRPr lang="zh-CN" altLang="en-US" sz="1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文本框 5">
            <a:extLst>
              <a:ext uri="{FF2B5EF4-FFF2-40B4-BE49-F238E27FC236}">
                <a16:creationId xmlns:a16="http://schemas.microsoft.com/office/drawing/2014/main" id="{B0E4CA88-E243-4659-CCC1-07F34D624F9F}"/>
              </a:ext>
            </a:extLst>
          </p:cNvPr>
          <p:cNvSpPr txBox="1"/>
          <p:nvPr/>
        </p:nvSpPr>
        <p:spPr>
          <a:xfrm>
            <a:off x="5019127" y="3236338"/>
            <a:ext cx="333213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D</a:t>
            </a:r>
          </a:p>
        </p:txBody>
      </p:sp>
      <p:sp>
        <p:nvSpPr>
          <p:cNvPr id="8" name="文本框 10">
            <a:extLst>
              <a:ext uri="{FF2B5EF4-FFF2-40B4-BE49-F238E27FC236}">
                <a16:creationId xmlns:a16="http://schemas.microsoft.com/office/drawing/2014/main" id="{FBEDA839-83E8-740E-9356-C18DE179DD1D}"/>
              </a:ext>
            </a:extLst>
          </p:cNvPr>
          <p:cNvSpPr txBox="1"/>
          <p:nvPr/>
        </p:nvSpPr>
        <p:spPr>
          <a:xfrm>
            <a:off x="5730314" y="3236338"/>
            <a:ext cx="333213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Q</a:t>
            </a:r>
          </a:p>
        </p:txBody>
      </p:sp>
      <p:sp>
        <p:nvSpPr>
          <p:cNvPr id="9" name="等腰三角形 14">
            <a:extLst>
              <a:ext uri="{FF2B5EF4-FFF2-40B4-BE49-F238E27FC236}">
                <a16:creationId xmlns:a16="http://schemas.microsoft.com/office/drawing/2014/main" id="{1DC3DC4F-AC86-D1E1-D97E-F9132CC5BCF9}"/>
              </a:ext>
            </a:extLst>
          </p:cNvPr>
          <p:cNvSpPr/>
          <p:nvPr/>
        </p:nvSpPr>
        <p:spPr>
          <a:xfrm rot="5400000">
            <a:off x="4997078" y="4076236"/>
            <a:ext cx="270413" cy="226316"/>
          </a:xfrm>
          <a:prstGeom prst="triangl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l"/>
            <a:endParaRPr lang="zh-CN" altLang="en-US" sz="1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2" name="组合 15">
            <a:extLst>
              <a:ext uri="{FF2B5EF4-FFF2-40B4-BE49-F238E27FC236}">
                <a16:creationId xmlns:a16="http://schemas.microsoft.com/office/drawing/2014/main" id="{427BA6D1-7249-97B5-DDDF-8488A1C5D68C}"/>
              </a:ext>
            </a:extLst>
          </p:cNvPr>
          <p:cNvGrpSpPr/>
          <p:nvPr/>
        </p:nvGrpSpPr>
        <p:grpSpPr>
          <a:xfrm>
            <a:off x="6982747" y="3294867"/>
            <a:ext cx="548482" cy="1193800"/>
            <a:chOff x="5799138" y="4889500"/>
            <a:chExt cx="548482" cy="1193800"/>
          </a:xfrm>
        </p:grpSpPr>
        <p:grpSp>
          <p:nvGrpSpPr>
            <p:cNvPr id="49" name="Group 4">
              <a:extLst>
                <a:ext uri="{FF2B5EF4-FFF2-40B4-BE49-F238E27FC236}">
                  <a16:creationId xmlns:a16="http://schemas.microsoft.com/office/drawing/2014/main" id="{6D29B4E2-D876-0225-4596-96B70AA9BDCA}"/>
                </a:ext>
              </a:extLst>
            </p:cNvPr>
            <p:cNvGrpSpPr/>
            <p:nvPr/>
          </p:nvGrpSpPr>
          <p:grpSpPr bwMode="auto">
            <a:xfrm>
              <a:off x="5799138" y="4889500"/>
              <a:ext cx="469900" cy="1193800"/>
              <a:chOff x="3692" y="2648"/>
              <a:chExt cx="296" cy="752"/>
            </a:xfrm>
          </p:grpSpPr>
          <p:sp>
            <p:nvSpPr>
              <p:cNvPr id="51" name="Line 5">
                <a:extLst>
                  <a:ext uri="{FF2B5EF4-FFF2-40B4-BE49-F238E27FC236}">
                    <a16:creationId xmlns:a16="http://schemas.microsoft.com/office/drawing/2014/main" id="{F938A0D6-E166-563B-B836-C31D2B1E5E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2648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 sz="4600">
                  <a:solidFill>
                    <a:schemeClr val="tx1"/>
                  </a:solidFill>
                </a:endParaRPr>
              </a:p>
            </p:txBody>
          </p:sp>
          <p:sp>
            <p:nvSpPr>
              <p:cNvPr id="52" name="Line 6">
                <a:extLst>
                  <a:ext uri="{FF2B5EF4-FFF2-40B4-BE49-F238E27FC236}">
                    <a16:creationId xmlns:a16="http://schemas.microsoft.com/office/drawing/2014/main" id="{40BD0825-3C59-278A-7872-043B2E833DA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4" y="2648"/>
                <a:ext cx="284" cy="1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 sz="4600">
                  <a:solidFill>
                    <a:schemeClr val="tx1"/>
                  </a:solidFill>
                </a:endParaRPr>
              </a:p>
            </p:txBody>
          </p:sp>
          <p:sp>
            <p:nvSpPr>
              <p:cNvPr id="53" name="Line 7">
                <a:extLst>
                  <a:ext uri="{FF2B5EF4-FFF2-40B4-BE49-F238E27FC236}">
                    <a16:creationId xmlns:a16="http://schemas.microsoft.com/office/drawing/2014/main" id="{42335988-097C-76C3-43BB-84930D2948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0" y="2821"/>
                <a:ext cx="132" cy="9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 sz="4600">
                  <a:solidFill>
                    <a:schemeClr val="tx1"/>
                  </a:solidFill>
                </a:endParaRPr>
              </a:p>
            </p:txBody>
          </p:sp>
          <p:sp>
            <p:nvSpPr>
              <p:cNvPr id="54" name="Line 8">
                <a:extLst>
                  <a:ext uri="{FF2B5EF4-FFF2-40B4-BE49-F238E27FC236}">
                    <a16:creationId xmlns:a16="http://schemas.microsoft.com/office/drawing/2014/main" id="{872C0A35-9000-FE7B-8B58-5828862132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31" y="2920"/>
                <a:ext cx="0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 sz="4600">
                  <a:solidFill>
                    <a:schemeClr val="tx1"/>
                  </a:solidFill>
                </a:endParaRPr>
              </a:p>
            </p:txBody>
          </p:sp>
          <p:sp>
            <p:nvSpPr>
              <p:cNvPr id="55" name="Line 9">
                <a:extLst>
                  <a:ext uri="{FF2B5EF4-FFF2-40B4-BE49-F238E27FC236}">
                    <a16:creationId xmlns:a16="http://schemas.microsoft.com/office/drawing/2014/main" id="{B8B795D6-6110-9B07-FA05-3B26ABDB4C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840"/>
                <a:ext cx="0" cy="36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 sz="4600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Line 10">
                <a:extLst>
                  <a:ext uri="{FF2B5EF4-FFF2-40B4-BE49-F238E27FC236}">
                    <a16:creationId xmlns:a16="http://schemas.microsoft.com/office/drawing/2014/main" id="{203C4540-0B32-74B0-25ED-D549D138C5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6" y="3112"/>
                <a:ext cx="136" cy="11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 sz="4600">
                  <a:solidFill>
                    <a:schemeClr val="tx1"/>
                  </a:solidFill>
                </a:endParaRPr>
              </a:p>
            </p:txBody>
          </p:sp>
          <p:sp>
            <p:nvSpPr>
              <p:cNvPr id="57" name="Line 11">
                <a:extLst>
                  <a:ext uri="{FF2B5EF4-FFF2-40B4-BE49-F238E27FC236}">
                    <a16:creationId xmlns:a16="http://schemas.microsoft.com/office/drawing/2014/main" id="{45814ADC-D5D8-3C3B-08CF-339DE9B41F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3224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 sz="4600">
                  <a:solidFill>
                    <a:schemeClr val="tx1"/>
                  </a:solidFill>
                </a:endParaRPr>
              </a:p>
            </p:txBody>
          </p:sp>
          <p:sp>
            <p:nvSpPr>
              <p:cNvPr id="58" name="Line 12">
                <a:extLst>
                  <a:ext uri="{FF2B5EF4-FFF2-40B4-BE49-F238E27FC236}">
                    <a16:creationId xmlns:a16="http://schemas.microsoft.com/office/drawing/2014/main" id="{FF63DFA5-1A74-3C88-0334-394F981F0A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2" y="3208"/>
                <a:ext cx="284" cy="18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 sz="46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0" name="Rectangle 58">
              <a:extLst>
                <a:ext uri="{FF2B5EF4-FFF2-40B4-BE49-F238E27FC236}">
                  <a16:creationId xmlns:a16="http://schemas.microsoft.com/office/drawing/2014/main" id="{925BCECE-C492-B2F6-0FAC-FFA81EA2226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789137" y="5305706"/>
              <a:ext cx="782320" cy="33464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Adder</a:t>
              </a:r>
            </a:p>
          </p:txBody>
        </p:sp>
      </p:grpSp>
      <p:sp>
        <p:nvSpPr>
          <p:cNvPr id="59" name="Rectangle 73">
            <a:extLst>
              <a:ext uri="{FF2B5EF4-FFF2-40B4-BE49-F238E27FC236}">
                <a16:creationId xmlns:a16="http://schemas.microsoft.com/office/drawing/2014/main" id="{25452C76-D5EB-128F-F95F-233101FFA7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9056" y="4156326"/>
            <a:ext cx="309880" cy="33464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1</a:t>
            </a:r>
          </a:p>
        </p:txBody>
      </p:sp>
      <p:sp>
        <p:nvSpPr>
          <p:cNvPr id="60" name="Line 74">
            <a:extLst>
              <a:ext uri="{FF2B5EF4-FFF2-40B4-BE49-F238E27FC236}">
                <a16:creationId xmlns:a16="http://schemas.microsoft.com/office/drawing/2014/main" id="{4D5E014E-667D-66A8-427C-C9114F521471}"/>
              </a:ext>
            </a:extLst>
          </p:cNvPr>
          <p:cNvSpPr>
            <a:spLocks noChangeShapeType="1"/>
          </p:cNvSpPr>
          <p:nvPr/>
        </p:nvSpPr>
        <p:spPr bwMode="auto">
          <a:xfrm>
            <a:off x="6654650" y="4337818"/>
            <a:ext cx="330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endParaRPr lang="zh-CN" altLang="en-US" sz="4600" dirty="0"/>
          </a:p>
        </p:txBody>
      </p:sp>
      <p:sp>
        <p:nvSpPr>
          <p:cNvPr id="61" name="Line 59">
            <a:extLst>
              <a:ext uri="{FF2B5EF4-FFF2-40B4-BE49-F238E27FC236}">
                <a16:creationId xmlns:a16="http://schemas.microsoft.com/office/drawing/2014/main" id="{E6DA535A-BB24-A0B0-D18D-C126D6B33913}"/>
              </a:ext>
            </a:extLst>
          </p:cNvPr>
          <p:cNvSpPr>
            <a:spLocks noChangeShapeType="1"/>
          </p:cNvSpPr>
          <p:nvPr/>
        </p:nvSpPr>
        <p:spPr bwMode="auto">
          <a:xfrm>
            <a:off x="7446297" y="3851066"/>
            <a:ext cx="79178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endParaRPr lang="zh-CN" altLang="en-US" sz="4600"/>
          </a:p>
        </p:txBody>
      </p:sp>
      <p:sp>
        <p:nvSpPr>
          <p:cNvPr id="62" name="Line 74">
            <a:extLst>
              <a:ext uri="{FF2B5EF4-FFF2-40B4-BE49-F238E27FC236}">
                <a16:creationId xmlns:a16="http://schemas.microsoft.com/office/drawing/2014/main" id="{D0860146-3A4E-2993-AFB8-FA4258255BAC}"/>
              </a:ext>
            </a:extLst>
          </p:cNvPr>
          <p:cNvSpPr>
            <a:spLocks noChangeShapeType="1"/>
          </p:cNvSpPr>
          <p:nvPr/>
        </p:nvSpPr>
        <p:spPr bwMode="auto">
          <a:xfrm>
            <a:off x="6057666" y="3496480"/>
            <a:ext cx="360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endParaRPr lang="zh-CN" altLang="en-US" sz="4600" dirty="0"/>
          </a:p>
        </p:txBody>
      </p:sp>
      <p:sp>
        <p:nvSpPr>
          <p:cNvPr id="63" name="Rectangle 58">
            <a:extLst>
              <a:ext uri="{FF2B5EF4-FFF2-40B4-BE49-F238E27FC236}">
                <a16:creationId xmlns:a16="http://schemas.microsoft.com/office/drawing/2014/main" id="{C8FDB7D5-3385-CB32-EDF1-401B4FAD15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4693" y="3674548"/>
            <a:ext cx="619125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DFF</a:t>
            </a:r>
          </a:p>
        </p:txBody>
      </p:sp>
      <p:sp>
        <p:nvSpPr>
          <p:cNvPr id="64" name="Line 74">
            <a:extLst>
              <a:ext uri="{FF2B5EF4-FFF2-40B4-BE49-F238E27FC236}">
                <a16:creationId xmlns:a16="http://schemas.microsoft.com/office/drawing/2014/main" id="{3446AC40-1428-F95F-4B2A-5AD5F7292D3B}"/>
              </a:ext>
            </a:extLst>
          </p:cNvPr>
          <p:cNvSpPr>
            <a:spLocks noChangeShapeType="1"/>
          </p:cNvSpPr>
          <p:nvPr/>
        </p:nvSpPr>
        <p:spPr bwMode="auto">
          <a:xfrm>
            <a:off x="4626680" y="2743816"/>
            <a:ext cx="361140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endParaRPr lang="zh-CN" altLang="en-US" sz="4600" dirty="0"/>
          </a:p>
        </p:txBody>
      </p:sp>
      <p:sp>
        <p:nvSpPr>
          <p:cNvPr id="65" name="Line 74">
            <a:extLst>
              <a:ext uri="{FF2B5EF4-FFF2-40B4-BE49-F238E27FC236}">
                <a16:creationId xmlns:a16="http://schemas.microsoft.com/office/drawing/2014/main" id="{78E51BC9-D3B2-FC3A-1EE0-9B4670847D9C}"/>
              </a:ext>
            </a:extLst>
          </p:cNvPr>
          <p:cNvSpPr>
            <a:spLocks noChangeShapeType="1"/>
          </p:cNvSpPr>
          <p:nvPr/>
        </p:nvSpPr>
        <p:spPr bwMode="auto">
          <a:xfrm>
            <a:off x="4626680" y="2743816"/>
            <a:ext cx="0" cy="690751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endParaRPr lang="zh-CN" altLang="en-US" sz="4600" dirty="0"/>
          </a:p>
        </p:txBody>
      </p:sp>
      <p:sp>
        <p:nvSpPr>
          <p:cNvPr id="66" name="Line 74">
            <a:extLst>
              <a:ext uri="{FF2B5EF4-FFF2-40B4-BE49-F238E27FC236}">
                <a16:creationId xmlns:a16="http://schemas.microsoft.com/office/drawing/2014/main" id="{4867B0E8-AEB8-1234-B956-F8C4D44B5F1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615219" y="3427244"/>
            <a:ext cx="396511" cy="1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 type="none" w="med" len="med"/>
          </a:ln>
          <a:effectLst/>
        </p:spPr>
        <p:txBody>
          <a:bodyPr wrap="none" anchor="ctr"/>
          <a:lstStyle/>
          <a:p>
            <a:endParaRPr lang="zh-CN" altLang="en-US" sz="4600" dirty="0"/>
          </a:p>
        </p:txBody>
      </p:sp>
      <p:sp>
        <p:nvSpPr>
          <p:cNvPr id="67" name="Line 74">
            <a:extLst>
              <a:ext uri="{FF2B5EF4-FFF2-40B4-BE49-F238E27FC236}">
                <a16:creationId xmlns:a16="http://schemas.microsoft.com/office/drawing/2014/main" id="{C2730142-EAF9-1CA6-E6B3-D9038E24C1A8}"/>
              </a:ext>
            </a:extLst>
          </p:cNvPr>
          <p:cNvSpPr>
            <a:spLocks noChangeShapeType="1"/>
          </p:cNvSpPr>
          <p:nvPr/>
        </p:nvSpPr>
        <p:spPr bwMode="auto">
          <a:xfrm>
            <a:off x="8238085" y="2743816"/>
            <a:ext cx="0" cy="1118284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endParaRPr lang="zh-CN" altLang="en-US" sz="4600" dirty="0"/>
          </a:p>
        </p:txBody>
      </p:sp>
      <p:sp>
        <p:nvSpPr>
          <p:cNvPr id="68" name="Line 74">
            <a:extLst>
              <a:ext uri="{FF2B5EF4-FFF2-40B4-BE49-F238E27FC236}">
                <a16:creationId xmlns:a16="http://schemas.microsoft.com/office/drawing/2014/main" id="{B27CF0D4-127C-C3E5-EAEC-C14380C473D1}"/>
              </a:ext>
            </a:extLst>
          </p:cNvPr>
          <p:cNvSpPr>
            <a:spLocks noChangeShapeType="1"/>
          </p:cNvSpPr>
          <p:nvPr/>
        </p:nvSpPr>
        <p:spPr bwMode="auto">
          <a:xfrm>
            <a:off x="4622839" y="4183867"/>
            <a:ext cx="0" cy="57326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endParaRPr lang="zh-CN" altLang="en-US" sz="4600" dirty="0"/>
          </a:p>
        </p:txBody>
      </p:sp>
      <p:sp>
        <p:nvSpPr>
          <p:cNvPr id="69" name="Line 74">
            <a:extLst>
              <a:ext uri="{FF2B5EF4-FFF2-40B4-BE49-F238E27FC236}">
                <a16:creationId xmlns:a16="http://schemas.microsoft.com/office/drawing/2014/main" id="{CEE4D5CC-EB08-EC44-709A-7A2C5B4A6DC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614189" y="4194420"/>
            <a:ext cx="396511" cy="1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 type="none" w="med" len="med"/>
          </a:ln>
          <a:effectLst/>
        </p:spPr>
        <p:txBody>
          <a:bodyPr wrap="none" anchor="ctr"/>
          <a:lstStyle/>
          <a:p>
            <a:endParaRPr lang="zh-CN" altLang="en-US" sz="4600" dirty="0"/>
          </a:p>
        </p:txBody>
      </p:sp>
      <p:sp>
        <p:nvSpPr>
          <p:cNvPr id="70" name="Rectangle 58">
            <a:extLst>
              <a:ext uri="{FF2B5EF4-FFF2-40B4-BE49-F238E27FC236}">
                <a16:creationId xmlns:a16="http://schemas.microsoft.com/office/drawing/2014/main" id="{B5333171-8E13-6685-8FBC-DF56898128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2229" y="4446066"/>
            <a:ext cx="535305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800" dirty="0" err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Clk</a:t>
            </a:r>
          </a:p>
        </p:txBody>
      </p:sp>
      <p:sp>
        <p:nvSpPr>
          <p:cNvPr id="71" name="Line 74">
            <a:extLst>
              <a:ext uri="{FF2B5EF4-FFF2-40B4-BE49-F238E27FC236}">
                <a16:creationId xmlns:a16="http://schemas.microsoft.com/office/drawing/2014/main" id="{15FED9A1-A021-26B7-6AFC-1C766E3BFD2A}"/>
              </a:ext>
            </a:extLst>
          </p:cNvPr>
          <p:cNvSpPr>
            <a:spLocks noChangeShapeType="1"/>
          </p:cNvSpPr>
          <p:nvPr/>
        </p:nvSpPr>
        <p:spPr bwMode="auto">
          <a:xfrm>
            <a:off x="6171144" y="3426630"/>
            <a:ext cx="360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endParaRPr lang="zh-CN" altLang="en-US" sz="4600" dirty="0"/>
          </a:p>
        </p:txBody>
      </p:sp>
      <p:sp>
        <p:nvSpPr>
          <p:cNvPr id="72" name="Line 74">
            <a:extLst>
              <a:ext uri="{FF2B5EF4-FFF2-40B4-BE49-F238E27FC236}">
                <a16:creationId xmlns:a16="http://schemas.microsoft.com/office/drawing/2014/main" id="{F6B76041-B21A-077E-0425-36443E0AE8D9}"/>
              </a:ext>
            </a:extLst>
          </p:cNvPr>
          <p:cNvSpPr>
            <a:spLocks noChangeShapeType="1"/>
          </p:cNvSpPr>
          <p:nvPr/>
        </p:nvSpPr>
        <p:spPr bwMode="auto">
          <a:xfrm>
            <a:off x="6284622" y="3356780"/>
            <a:ext cx="360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endParaRPr lang="zh-CN" altLang="en-US" sz="4600" dirty="0"/>
          </a:p>
        </p:txBody>
      </p:sp>
      <p:sp>
        <p:nvSpPr>
          <p:cNvPr id="73" name="Line 74">
            <a:extLst>
              <a:ext uri="{FF2B5EF4-FFF2-40B4-BE49-F238E27FC236}">
                <a16:creationId xmlns:a16="http://schemas.microsoft.com/office/drawing/2014/main" id="{767AAE02-D23A-0EF2-6189-C9C24DEA459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08904" y="3356779"/>
            <a:ext cx="232235" cy="13968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endParaRPr lang="zh-CN" altLang="en-US" sz="4600" dirty="0"/>
          </a:p>
        </p:txBody>
      </p:sp>
      <p:sp>
        <p:nvSpPr>
          <p:cNvPr id="74" name="Line 74">
            <a:extLst>
              <a:ext uri="{FF2B5EF4-FFF2-40B4-BE49-F238E27FC236}">
                <a16:creationId xmlns:a16="http://schemas.microsoft.com/office/drawing/2014/main" id="{D6F48121-1F02-9CA3-423A-26F6B3383010}"/>
              </a:ext>
            </a:extLst>
          </p:cNvPr>
          <p:cNvSpPr>
            <a:spLocks noChangeShapeType="1"/>
          </p:cNvSpPr>
          <p:nvPr/>
        </p:nvSpPr>
        <p:spPr bwMode="auto">
          <a:xfrm>
            <a:off x="6477833" y="3426630"/>
            <a:ext cx="51126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endParaRPr lang="zh-CN" altLang="en-US" sz="4600" dirty="0"/>
          </a:p>
        </p:txBody>
      </p:sp>
      <p:sp>
        <p:nvSpPr>
          <p:cNvPr id="75" name="Line 74">
            <a:extLst>
              <a:ext uri="{FF2B5EF4-FFF2-40B4-BE49-F238E27FC236}">
                <a16:creationId xmlns:a16="http://schemas.microsoft.com/office/drawing/2014/main" id="{1F392AFA-0FD1-105D-DE71-2C5A537CD91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687792" y="3359863"/>
            <a:ext cx="125006" cy="143631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endParaRPr lang="zh-CN" altLang="en-US" sz="4600" dirty="0"/>
          </a:p>
        </p:txBody>
      </p:sp>
      <p:sp>
        <p:nvSpPr>
          <p:cNvPr id="76" name="矩形 4">
            <a:extLst>
              <a:ext uri="{FF2B5EF4-FFF2-40B4-BE49-F238E27FC236}">
                <a16:creationId xmlns:a16="http://schemas.microsoft.com/office/drawing/2014/main" id="{AF4DAB87-3FD4-80E0-1D78-A3602ACFBAB3}"/>
              </a:ext>
            </a:extLst>
          </p:cNvPr>
          <p:cNvSpPr/>
          <p:nvPr/>
        </p:nvSpPr>
        <p:spPr>
          <a:xfrm>
            <a:off x="7554119" y="2896226"/>
            <a:ext cx="1404529" cy="70544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Conditional reset</a:t>
            </a:r>
            <a:endParaRPr lang="zh-CN" alt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一些软件算法实例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60C1D9F-629F-6942-359A-CBC87EF51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t>7</a:t>
            </a:fld>
            <a:endParaRPr lang="en-US" altLang="zh-CN"/>
          </a:p>
        </p:txBody>
      </p:sp>
      <p:sp>
        <p:nvSpPr>
          <p:cNvPr id="4" name="TextBox 10">
            <a:extLst>
              <a:ext uri="{FF2B5EF4-FFF2-40B4-BE49-F238E27FC236}">
                <a16:creationId xmlns:a16="http://schemas.microsoft.com/office/drawing/2014/main" id="{3019756C-D9BE-FE5E-3C5D-9C97AD708BC7}"/>
              </a:ext>
            </a:extLst>
          </p:cNvPr>
          <p:cNvSpPr txBox="1"/>
          <p:nvPr/>
        </p:nvSpPr>
        <p:spPr>
          <a:xfrm>
            <a:off x="5627420" y="1688288"/>
            <a:ext cx="351658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eaLnBrk="0" hangingPunct="0"/>
            <a:r>
              <a:rPr lang="en-US" altLang="zh-CN" sz="1800" i="1" dirty="0">
                <a:solidFill>
                  <a:srgbClr val="000000"/>
                </a:solidFill>
                <a:highlight>
                  <a:srgbClr val="C0C0C0"/>
                </a:highlight>
                <a:latin typeface="Consolas" panose="020B0609020204030204" pitchFamily="49" charset="0"/>
              </a:rPr>
              <a:t>DIJKSTRA(G, w, s)</a:t>
            </a:r>
          </a:p>
          <a:p>
            <a:pPr algn="l" eaLnBrk="0" hangingPunct="0"/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S = ∅</a:t>
            </a:r>
          </a:p>
          <a:p>
            <a:pPr algn="l" eaLnBrk="0" hangingPunct="0"/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Q = G.V</a:t>
            </a:r>
          </a:p>
          <a:p>
            <a:pPr algn="l" eaLnBrk="0" hangingPunct="0"/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while Q != ∅</a:t>
            </a:r>
          </a:p>
          <a:p>
            <a:pPr algn="l" eaLnBrk="0" hangingPunct="0"/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  u = EXTRACT-MIN(Q) </a:t>
            </a:r>
          </a:p>
          <a:p>
            <a:pPr algn="l" eaLnBrk="0" hangingPunct="0"/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  S = S ∪ {u};</a:t>
            </a:r>
          </a:p>
          <a:p>
            <a:pPr algn="l" eaLnBrk="0" hangingPunct="0"/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  for each v ∈ </a:t>
            </a:r>
            <a:r>
              <a:rPr lang="en-US" altLang="zh-CN" sz="1800" b="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Q.Adj</a:t>
            </a:r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(u)</a:t>
            </a:r>
          </a:p>
          <a:p>
            <a:pPr algn="l" eaLnBrk="0" hangingPunct="0"/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    RELAX(u, v, w)		</a:t>
            </a:r>
          </a:p>
          <a:p>
            <a:pPr algn="l" eaLnBrk="0" hangingPunct="0"/>
            <a:r>
              <a:rPr lang="en-US" altLang="zh-CN" sz="1800" i="1" dirty="0">
                <a:solidFill>
                  <a:srgbClr val="000000"/>
                </a:solidFill>
                <a:highlight>
                  <a:srgbClr val="C0C0C0"/>
                </a:highlight>
                <a:latin typeface="Consolas" panose="020B0609020204030204" pitchFamily="49" charset="0"/>
              </a:rPr>
              <a:t>RELAX(</a:t>
            </a:r>
            <a:r>
              <a:rPr lang="en-US" altLang="zh-CN" sz="1800" i="1" dirty="0" err="1">
                <a:solidFill>
                  <a:srgbClr val="000000"/>
                </a:solidFill>
                <a:highlight>
                  <a:srgbClr val="C0C0C0"/>
                </a:highlight>
                <a:latin typeface="Consolas" panose="020B0609020204030204" pitchFamily="49" charset="0"/>
              </a:rPr>
              <a:t>u,v,w</a:t>
            </a:r>
            <a:r>
              <a:rPr lang="en-US" altLang="zh-CN" sz="1800" i="1" dirty="0">
                <a:solidFill>
                  <a:srgbClr val="000000"/>
                </a:solidFill>
                <a:highlight>
                  <a:srgbClr val="C0C0C0"/>
                </a:highlight>
                <a:latin typeface="Consolas" panose="020B0609020204030204" pitchFamily="49" charset="0"/>
              </a:rPr>
              <a:t>)</a:t>
            </a:r>
          </a:p>
          <a:p>
            <a:pPr algn="l" eaLnBrk="0" hangingPunct="0"/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if </a:t>
            </a:r>
            <a:r>
              <a:rPr lang="en-US" altLang="zh-CN" sz="1800" b="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v.d</a:t>
            </a:r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 &gt; </a:t>
            </a:r>
            <a:r>
              <a:rPr lang="en-US" altLang="zh-CN" sz="1800" b="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u.d</a:t>
            </a:r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 + w(</a:t>
            </a:r>
            <a:r>
              <a:rPr lang="en-US" altLang="zh-CN" sz="1800" b="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u,v</a:t>
            </a:r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)	</a:t>
            </a:r>
          </a:p>
          <a:p>
            <a:pPr algn="l" eaLnBrk="0" hangingPunct="0"/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altLang="zh-CN" sz="1800" b="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v.d</a:t>
            </a:r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altLang="zh-CN" sz="1800" b="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u.d</a:t>
            </a:r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 + w(</a:t>
            </a:r>
            <a:r>
              <a:rPr lang="en-US" altLang="zh-CN" sz="1800" b="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u,v</a:t>
            </a:r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algn="l" eaLnBrk="0" hangingPunct="0"/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  v.</a:t>
            </a:r>
            <a:r>
              <a:rPr lang="el-GR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π  = </a:t>
            </a:r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u</a:t>
            </a:r>
          </a:p>
        </p:txBody>
      </p:sp>
      <p:sp>
        <p:nvSpPr>
          <p:cNvPr id="5" name="TextBox 17">
            <a:extLst>
              <a:ext uri="{FF2B5EF4-FFF2-40B4-BE49-F238E27FC236}">
                <a16:creationId xmlns:a16="http://schemas.microsoft.com/office/drawing/2014/main" id="{8DFF79D0-AA4B-21B8-7998-32228FD5194C}"/>
              </a:ext>
            </a:extLst>
          </p:cNvPr>
          <p:cNvSpPr txBox="1"/>
          <p:nvPr/>
        </p:nvSpPr>
        <p:spPr>
          <a:xfrm>
            <a:off x="114526" y="1691510"/>
            <a:ext cx="493342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eaLnBrk="0" hangingPunct="0"/>
            <a:r>
              <a:rPr lang="en-US" altLang="zh-CN" sz="1800" i="1" dirty="0">
                <a:solidFill>
                  <a:srgbClr val="000000"/>
                </a:solidFill>
                <a:highlight>
                  <a:srgbClr val="C0C0C0"/>
                </a:highlight>
                <a:latin typeface="Consolas" panose="020B0609020204030204" pitchFamily="49" charset="0"/>
              </a:rPr>
              <a:t>QUICK_SORT(A, p, r)</a:t>
            </a:r>
          </a:p>
          <a:p>
            <a:pPr algn="l" eaLnBrk="0" hangingPunct="0"/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if p &lt; r        </a:t>
            </a:r>
          </a:p>
          <a:p>
            <a:pPr algn="l" eaLnBrk="0" hangingPunct="0"/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  q = PARTITION(A, p, r)</a:t>
            </a:r>
          </a:p>
          <a:p>
            <a:pPr algn="l" eaLnBrk="0" hangingPunct="0"/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  QUICK_SORT(A, p, q - 1)</a:t>
            </a:r>
          </a:p>
          <a:p>
            <a:pPr algn="l" eaLnBrk="0" hangingPunct="0"/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  QUICK_SORT(A, q + 1, r)</a:t>
            </a:r>
          </a:p>
          <a:p>
            <a:pPr algn="l" eaLnBrk="0" hangingPunct="0"/>
            <a:endParaRPr lang="en-US" altLang="zh-CN" sz="1800" i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l" eaLnBrk="0" hangingPunct="0"/>
            <a:r>
              <a:rPr lang="en-US" altLang="zh-CN" sz="1800" i="1" dirty="0">
                <a:solidFill>
                  <a:srgbClr val="000000"/>
                </a:solidFill>
                <a:highlight>
                  <a:srgbClr val="C0C0C0"/>
                </a:highlight>
                <a:latin typeface="Consolas" panose="020B0609020204030204" pitchFamily="49" charset="0"/>
              </a:rPr>
              <a:t>PARTITION(</a:t>
            </a:r>
            <a:r>
              <a:rPr lang="en-US" altLang="zh-CN" sz="1800" i="1" dirty="0" err="1">
                <a:solidFill>
                  <a:srgbClr val="000000"/>
                </a:solidFill>
                <a:highlight>
                  <a:srgbClr val="C0C0C0"/>
                </a:highlight>
                <a:latin typeface="Consolas" panose="020B0609020204030204" pitchFamily="49" charset="0"/>
              </a:rPr>
              <a:t>A,p,r</a:t>
            </a:r>
            <a:r>
              <a:rPr lang="en-US" altLang="zh-CN" sz="1800" i="1" dirty="0">
                <a:solidFill>
                  <a:srgbClr val="000000"/>
                </a:solidFill>
                <a:highlight>
                  <a:srgbClr val="C0C0C0"/>
                </a:highlight>
                <a:latin typeface="Consolas" panose="020B0609020204030204" pitchFamily="49" charset="0"/>
              </a:rPr>
              <a:t>)</a:t>
            </a:r>
          </a:p>
          <a:p>
            <a:pPr algn="l" eaLnBrk="0" hangingPunct="0"/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i = p - 1</a:t>
            </a:r>
          </a:p>
          <a:p>
            <a:pPr algn="l" eaLnBrk="0" hangingPunct="0"/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for j = p to r - 1</a:t>
            </a:r>
          </a:p>
          <a:p>
            <a:pPr algn="l" eaLnBrk="0" hangingPunct="0"/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  if A[j] &lt; A[r]</a:t>
            </a:r>
          </a:p>
          <a:p>
            <a:pPr algn="l" eaLnBrk="0" hangingPunct="0"/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800" b="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altLang="zh-CN" sz="1800" b="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 + 1		</a:t>
            </a:r>
          </a:p>
          <a:p>
            <a:pPr algn="l" eaLnBrk="0" hangingPunct="0"/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    exchange A[j] with A[i]</a:t>
            </a:r>
          </a:p>
          <a:p>
            <a:pPr algn="l" eaLnBrk="0" hangingPunct="0"/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exchange A[i + 1] with A[r]</a:t>
            </a:r>
          </a:p>
          <a:p>
            <a:pPr algn="l" eaLnBrk="0" hangingPunct="0"/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return i + 1</a:t>
            </a:r>
          </a:p>
        </p:txBody>
      </p:sp>
      <p:grpSp>
        <p:nvGrpSpPr>
          <p:cNvPr id="9" name="Group 2">
            <a:extLst>
              <a:ext uri="{FF2B5EF4-FFF2-40B4-BE49-F238E27FC236}">
                <a16:creationId xmlns:a16="http://schemas.microsoft.com/office/drawing/2014/main" id="{CC012030-B268-88FA-83FD-41232CC7AC36}"/>
              </a:ext>
            </a:extLst>
          </p:cNvPr>
          <p:cNvGrpSpPr/>
          <p:nvPr/>
        </p:nvGrpSpPr>
        <p:grpSpPr>
          <a:xfrm>
            <a:off x="3476302" y="1770748"/>
            <a:ext cx="5301873" cy="2747772"/>
            <a:chOff x="3476302" y="1678148"/>
            <a:chExt cx="5301873" cy="2747772"/>
          </a:xfrm>
        </p:grpSpPr>
        <p:cxnSp>
          <p:nvCxnSpPr>
            <p:cNvPr id="11" name="Straight Arrow Connector 9">
              <a:extLst>
                <a:ext uri="{FF2B5EF4-FFF2-40B4-BE49-F238E27FC236}">
                  <a16:creationId xmlns:a16="http://schemas.microsoft.com/office/drawing/2014/main" id="{77A8930D-94CD-65BE-5255-778E09986325}"/>
                </a:ext>
              </a:extLst>
            </p:cNvPr>
            <p:cNvCxnSpPr>
              <a:cxnSpLocks/>
            </p:cNvCxnSpPr>
            <p:nvPr/>
          </p:nvCxnSpPr>
          <p:spPr>
            <a:xfrm>
              <a:off x="8778175" y="1678148"/>
              <a:ext cx="0" cy="2747772"/>
            </a:xfrm>
            <a:prstGeom prst="straightConnector1">
              <a:avLst/>
            </a:prstGeom>
            <a:noFill/>
            <a:ln w="50800" cap="rnd" cmpd="sng" algn="ctr">
              <a:solidFill>
                <a:srgbClr val="C0504D">
                  <a:lumMod val="75000"/>
                </a:srgbClr>
              </a:solidFill>
              <a:prstDash val="solid"/>
              <a:tailEnd type="triangle" w="med" len="lg"/>
            </a:ln>
            <a:effectLst/>
          </p:spPr>
        </p:cxnSp>
        <p:cxnSp>
          <p:nvCxnSpPr>
            <p:cNvPr id="15" name="Straight Arrow Connector 11">
              <a:extLst>
                <a:ext uri="{FF2B5EF4-FFF2-40B4-BE49-F238E27FC236}">
                  <a16:creationId xmlns:a16="http://schemas.microsoft.com/office/drawing/2014/main" id="{D6681EBA-4337-5AD3-C754-35E022B9EB67}"/>
                </a:ext>
              </a:extLst>
            </p:cNvPr>
            <p:cNvCxnSpPr>
              <a:cxnSpLocks/>
            </p:cNvCxnSpPr>
            <p:nvPr/>
          </p:nvCxnSpPr>
          <p:spPr>
            <a:xfrm>
              <a:off x="3476302" y="1678148"/>
              <a:ext cx="0" cy="2747772"/>
            </a:xfrm>
            <a:prstGeom prst="straightConnector1">
              <a:avLst/>
            </a:prstGeom>
            <a:noFill/>
            <a:ln w="50800" cap="rnd" cmpd="sng" algn="ctr">
              <a:solidFill>
                <a:srgbClr val="C0504D">
                  <a:lumMod val="75000"/>
                </a:srgbClr>
              </a:solidFill>
              <a:prstDash val="solid"/>
              <a:tailEnd type="triangle" w="med" len="lg"/>
            </a:ln>
            <a:effectLst/>
          </p:spPr>
        </p:cxnSp>
      </p:grpSp>
      <p:sp>
        <p:nvSpPr>
          <p:cNvPr id="18" name="TextBox 13">
            <a:extLst>
              <a:ext uri="{FF2B5EF4-FFF2-40B4-BE49-F238E27FC236}">
                <a16:creationId xmlns:a16="http://schemas.microsoft.com/office/drawing/2014/main" id="{237A3771-E6E0-3431-4833-10285EEA55DE}"/>
              </a:ext>
            </a:extLst>
          </p:cNvPr>
          <p:cNvSpPr txBox="1"/>
          <p:nvPr/>
        </p:nvSpPr>
        <p:spPr>
          <a:xfrm>
            <a:off x="1602494" y="6026775"/>
            <a:ext cx="593901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eaLnBrk="1" hangingPunct="1">
              <a:defRPr sz="3200" b="1">
                <a:solidFill>
                  <a:srgbClr val="FF3300"/>
                </a:solidFill>
                <a:latin typeface="黑体" pitchFamily="49" charset="-122"/>
                <a:ea typeface="黑体" pitchFamily="49" charset="-122"/>
              </a:defRPr>
            </a:lvl1pPr>
            <a:lvl2pPr marL="742950" indent="-285750" eaLnBrk="0" hangingPunct="0">
              <a:defRPr sz="4600" b="1">
                <a:solidFill>
                  <a:srgbClr val="FF3300"/>
                </a:solidFill>
                <a:latin typeface="Garamond" pitchFamily="18" charset="0"/>
                <a:ea typeface="宋体" charset="-122"/>
              </a:defRPr>
            </a:lvl2pPr>
            <a:lvl3pPr marL="1143000" indent="-228600" eaLnBrk="0" hangingPunct="0">
              <a:defRPr sz="4600" b="1">
                <a:solidFill>
                  <a:srgbClr val="FF3300"/>
                </a:solidFill>
                <a:latin typeface="Garamond" pitchFamily="18" charset="0"/>
                <a:ea typeface="宋体" charset="-122"/>
              </a:defRPr>
            </a:lvl3pPr>
            <a:lvl4pPr marL="1600200" indent="-228600" eaLnBrk="0" hangingPunct="0">
              <a:defRPr sz="4600" b="1">
                <a:solidFill>
                  <a:srgbClr val="FF3300"/>
                </a:solidFill>
                <a:latin typeface="Garamond" pitchFamily="18" charset="0"/>
                <a:ea typeface="宋体" charset="-122"/>
              </a:defRPr>
            </a:lvl4pPr>
            <a:lvl5pPr marL="2057400" indent="-228600" eaLnBrk="0" hangingPunct="0">
              <a:defRPr sz="4600" b="1">
                <a:solidFill>
                  <a:srgbClr val="FF3300"/>
                </a:solidFill>
                <a:latin typeface="Garamond" pitchFamily="18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600" b="1">
                <a:solidFill>
                  <a:srgbClr val="FF3300"/>
                </a:solidFill>
                <a:latin typeface="Garamond" pitchFamily="18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600" b="1">
                <a:solidFill>
                  <a:srgbClr val="FF3300"/>
                </a:solidFill>
                <a:latin typeface="Garamond" pitchFamily="18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600" b="1">
                <a:solidFill>
                  <a:srgbClr val="FF3300"/>
                </a:solidFill>
                <a:latin typeface="Garamond" pitchFamily="18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600" b="1">
                <a:solidFill>
                  <a:srgbClr val="FF3300"/>
                </a:solidFill>
                <a:latin typeface="Garamond" pitchFamily="18" charset="0"/>
                <a:ea typeface="宋体" charset="-122"/>
              </a:defRPr>
            </a:lvl9pPr>
          </a:lstStyle>
          <a:p>
            <a:r>
              <a:rPr lang="zh-CN" altLang="en-US" sz="2400" dirty="0">
                <a:solidFill>
                  <a:srgbClr val="0432FF"/>
                </a:solidFill>
                <a:latin typeface="+mn-lt"/>
                <a:ea typeface="+mn-ea"/>
              </a:rPr>
              <a:t>不同点 </a:t>
            </a:r>
            <a:r>
              <a:rPr lang="en-US" altLang="zh-CN" sz="2400" dirty="0">
                <a:solidFill>
                  <a:srgbClr val="0432FF"/>
                </a:solidFill>
                <a:latin typeface="+mn-lt"/>
                <a:ea typeface="+mn-ea"/>
              </a:rPr>
              <a:t>&amp; </a:t>
            </a:r>
            <a:r>
              <a:rPr lang="zh-CN" altLang="en-US" sz="2400" dirty="0">
                <a:solidFill>
                  <a:srgbClr val="0432FF"/>
                </a:solidFill>
                <a:latin typeface="+mn-lt"/>
                <a:ea typeface="+mn-ea"/>
              </a:rPr>
              <a:t>相同点</a:t>
            </a:r>
            <a:r>
              <a:rPr lang="en-US" altLang="zh-CN" sz="2400" dirty="0">
                <a:solidFill>
                  <a:srgbClr val="0432FF"/>
                </a:solidFill>
                <a:latin typeface="+mn-lt"/>
                <a:ea typeface="+mn-ea"/>
              </a:rPr>
              <a:t>?</a:t>
            </a:r>
          </a:p>
        </p:txBody>
      </p:sp>
      <p:sp>
        <p:nvSpPr>
          <p:cNvPr id="21" name="TextBox 13">
            <a:extLst>
              <a:ext uri="{FF2B5EF4-FFF2-40B4-BE49-F238E27FC236}">
                <a16:creationId xmlns:a16="http://schemas.microsoft.com/office/drawing/2014/main" id="{8431492A-CBD1-3AD7-28A6-B8FECB466E73}"/>
              </a:ext>
            </a:extLst>
          </p:cNvPr>
          <p:cNvSpPr txBox="1"/>
          <p:nvPr/>
        </p:nvSpPr>
        <p:spPr>
          <a:xfrm>
            <a:off x="3186903" y="1400324"/>
            <a:ext cx="23054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 dirty="0">
                <a:solidFill>
                  <a:srgbClr val="C0504D">
                    <a:lumMod val="75000"/>
                  </a:srgbClr>
                </a:solidFill>
                <a:latin typeface="+mn-lt"/>
                <a:ea typeface="+mn-ea"/>
              </a:rPr>
              <a:t>顺序执行，除非跳转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一些软件算法实例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7A91B61-B1EE-317A-6E46-DB456A0B6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t>8</a:t>
            </a:fld>
            <a:endParaRPr lang="en-US" altLang="zh-CN"/>
          </a:p>
        </p:txBody>
      </p:sp>
      <p:sp>
        <p:nvSpPr>
          <p:cNvPr id="5" name="TextBox 17">
            <a:extLst>
              <a:ext uri="{FF2B5EF4-FFF2-40B4-BE49-F238E27FC236}">
                <a16:creationId xmlns:a16="http://schemas.microsoft.com/office/drawing/2014/main" id="{C9E97A88-C4C5-F8C3-1372-B39C533C6437}"/>
              </a:ext>
            </a:extLst>
          </p:cNvPr>
          <p:cNvSpPr txBox="1"/>
          <p:nvPr/>
        </p:nvSpPr>
        <p:spPr>
          <a:xfrm>
            <a:off x="114526" y="1691510"/>
            <a:ext cx="493342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eaLnBrk="0" hangingPunct="0"/>
            <a:r>
              <a:rPr lang="en-US" altLang="zh-CN" sz="1800" i="1" dirty="0">
                <a:solidFill>
                  <a:srgbClr val="000000"/>
                </a:solidFill>
                <a:highlight>
                  <a:srgbClr val="C0C0C0"/>
                </a:highlight>
                <a:latin typeface="Consolas" panose="020B0609020204030204" pitchFamily="49" charset="0"/>
              </a:rPr>
              <a:t>QUICK_SORT(A, p, r)</a:t>
            </a:r>
          </a:p>
          <a:p>
            <a:pPr algn="l" eaLnBrk="0" hangingPunct="0"/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if p &lt; r        </a:t>
            </a:r>
          </a:p>
          <a:p>
            <a:pPr algn="l" eaLnBrk="0" hangingPunct="0"/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altLang="zh-CN" sz="1800" b="0" i="1" dirty="0">
                <a:solidFill>
                  <a:srgbClr val="4F81BD">
                    <a:lumMod val="75000"/>
                  </a:srgbClr>
                </a:solidFill>
                <a:latin typeface="Consolas" panose="020B0609020204030204" pitchFamily="49" charset="0"/>
              </a:rPr>
              <a:t>q = PARTITION(A, p, r)</a:t>
            </a:r>
          </a:p>
          <a:p>
            <a:pPr algn="l" eaLnBrk="0" hangingPunct="0"/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  QUICK_SORT(A, p, q - 1)</a:t>
            </a:r>
          </a:p>
          <a:p>
            <a:pPr algn="l" eaLnBrk="0" hangingPunct="0"/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  QUICK_SORT(A, q + 1, r)</a:t>
            </a:r>
          </a:p>
          <a:p>
            <a:pPr algn="l" eaLnBrk="0" hangingPunct="0"/>
            <a:endParaRPr lang="en-US" altLang="zh-CN" sz="1800" i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l" eaLnBrk="0" hangingPunct="0"/>
            <a:r>
              <a:rPr lang="en-US" altLang="zh-CN" sz="1800" i="1" dirty="0">
                <a:solidFill>
                  <a:srgbClr val="000000"/>
                </a:solidFill>
                <a:highlight>
                  <a:srgbClr val="C0C0C0"/>
                </a:highlight>
                <a:latin typeface="Consolas" panose="020B0609020204030204" pitchFamily="49" charset="0"/>
              </a:rPr>
              <a:t>PARTITION(</a:t>
            </a:r>
            <a:r>
              <a:rPr lang="en-US" altLang="zh-CN" sz="1800" i="1" dirty="0" err="1">
                <a:solidFill>
                  <a:srgbClr val="000000"/>
                </a:solidFill>
                <a:highlight>
                  <a:srgbClr val="C0C0C0"/>
                </a:highlight>
                <a:latin typeface="Consolas" panose="020B0609020204030204" pitchFamily="49" charset="0"/>
              </a:rPr>
              <a:t>A,p,r</a:t>
            </a:r>
            <a:r>
              <a:rPr lang="en-US" altLang="zh-CN" sz="1800" i="1" dirty="0">
                <a:solidFill>
                  <a:srgbClr val="000000"/>
                </a:solidFill>
                <a:highlight>
                  <a:srgbClr val="C0C0C0"/>
                </a:highlight>
                <a:latin typeface="Consolas" panose="020B0609020204030204" pitchFamily="49" charset="0"/>
              </a:rPr>
              <a:t>)</a:t>
            </a:r>
          </a:p>
          <a:p>
            <a:pPr algn="l" eaLnBrk="0" hangingPunct="0"/>
            <a:r>
              <a:rPr lang="en-US" altLang="zh-CN" sz="1800" b="0" i="1" dirty="0">
                <a:solidFill>
                  <a:srgbClr val="4F81BD">
                    <a:lumMod val="75000"/>
                  </a:srgbClr>
                </a:solidFill>
                <a:latin typeface="Consolas" panose="020B0609020204030204" pitchFamily="49" charset="0"/>
              </a:rPr>
              <a:t>i = p - 1</a:t>
            </a:r>
          </a:p>
          <a:p>
            <a:pPr algn="l" eaLnBrk="0" hangingPunct="0"/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for </a:t>
            </a:r>
            <a:r>
              <a:rPr lang="en-US" altLang="zh-CN" sz="1800" b="0" i="1" dirty="0">
                <a:solidFill>
                  <a:srgbClr val="4F81BD">
                    <a:lumMod val="75000"/>
                  </a:srgbClr>
                </a:solidFill>
                <a:latin typeface="Consolas" panose="020B0609020204030204" pitchFamily="49" charset="0"/>
              </a:rPr>
              <a:t>j = p to r - 1</a:t>
            </a:r>
          </a:p>
          <a:p>
            <a:pPr algn="l" eaLnBrk="0" hangingPunct="0"/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  if A[j] &lt; A[r]</a:t>
            </a:r>
          </a:p>
          <a:p>
            <a:pPr algn="l" eaLnBrk="0" hangingPunct="0"/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800" b="0" i="1" dirty="0" err="1">
                <a:solidFill>
                  <a:srgbClr val="4F81BD">
                    <a:lumMod val="75000"/>
                  </a:srgbClr>
                </a:solidFill>
                <a:latin typeface="Consolas" panose="020B0609020204030204" pitchFamily="49" charset="0"/>
              </a:rPr>
              <a:t>i</a:t>
            </a:r>
            <a:r>
              <a:rPr lang="en-US" altLang="zh-CN" sz="1800" b="0" i="1" dirty="0">
                <a:solidFill>
                  <a:srgbClr val="4F81BD">
                    <a:lumMod val="75000"/>
                  </a:srgbClr>
                </a:solidFill>
                <a:latin typeface="Consolas" panose="020B0609020204030204" pitchFamily="49" charset="0"/>
              </a:rPr>
              <a:t> = </a:t>
            </a:r>
            <a:r>
              <a:rPr lang="en-US" altLang="zh-CN" sz="1800" b="0" i="1" dirty="0" err="1">
                <a:solidFill>
                  <a:srgbClr val="4F81BD">
                    <a:lumMod val="75000"/>
                  </a:srgbClr>
                </a:solidFill>
                <a:latin typeface="Consolas" panose="020B0609020204030204" pitchFamily="49" charset="0"/>
              </a:rPr>
              <a:t>i</a:t>
            </a:r>
            <a:r>
              <a:rPr lang="en-US" altLang="zh-CN" sz="1800" b="0" i="1" dirty="0">
                <a:solidFill>
                  <a:srgbClr val="4F81BD">
                    <a:lumMod val="75000"/>
                  </a:srgbClr>
                </a:solidFill>
                <a:latin typeface="Consolas" panose="020B0609020204030204" pitchFamily="49" charset="0"/>
              </a:rPr>
              <a:t> + 1		</a:t>
            </a:r>
          </a:p>
          <a:p>
            <a:pPr algn="l" eaLnBrk="0" hangingPunct="0"/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800" b="0" i="1" dirty="0">
                <a:solidFill>
                  <a:srgbClr val="4F81BD">
                    <a:lumMod val="75000"/>
                  </a:srgbClr>
                </a:solidFill>
                <a:latin typeface="Consolas" panose="020B0609020204030204" pitchFamily="49" charset="0"/>
              </a:rPr>
              <a:t>exchange A[j] with A[i]</a:t>
            </a:r>
          </a:p>
          <a:p>
            <a:pPr algn="l" eaLnBrk="0" hangingPunct="0"/>
            <a:r>
              <a:rPr lang="en-US" altLang="zh-CN" sz="1800" b="0" i="1" dirty="0">
                <a:solidFill>
                  <a:srgbClr val="4F81BD">
                    <a:lumMod val="75000"/>
                  </a:srgbClr>
                </a:solidFill>
                <a:latin typeface="Consolas" panose="020B0609020204030204" pitchFamily="49" charset="0"/>
              </a:rPr>
              <a:t>exchange A[i + 1] with A[r]</a:t>
            </a:r>
          </a:p>
          <a:p>
            <a:pPr algn="l" eaLnBrk="0" hangingPunct="0"/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return i + 1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5480DEC0-BA02-AD36-9384-A9D8A290F8EA}"/>
              </a:ext>
            </a:extLst>
          </p:cNvPr>
          <p:cNvSpPr/>
          <p:nvPr/>
        </p:nvSpPr>
        <p:spPr>
          <a:xfrm>
            <a:off x="414631" y="2268871"/>
            <a:ext cx="2838816" cy="320343"/>
          </a:xfrm>
          <a:prstGeom prst="rect">
            <a:avLst/>
          </a:prstGeom>
          <a:noFill/>
          <a:ln w="19050" cap="flat" cmpd="sng" algn="ctr">
            <a:solidFill>
              <a:srgbClr val="4F81BD">
                <a:lumMod val="75000"/>
              </a:srgbClr>
            </a:solidFill>
            <a:prstDash val="solid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B5C625FC-E754-F96B-312F-E0E31D84CA18}"/>
              </a:ext>
            </a:extLst>
          </p:cNvPr>
          <p:cNvSpPr/>
          <p:nvPr/>
        </p:nvSpPr>
        <p:spPr>
          <a:xfrm>
            <a:off x="197223" y="4505040"/>
            <a:ext cx="3515556" cy="835049"/>
          </a:xfrm>
          <a:prstGeom prst="rect">
            <a:avLst/>
          </a:prstGeom>
          <a:noFill/>
          <a:ln w="19050" cap="flat" cmpd="sng" algn="ctr">
            <a:solidFill>
              <a:srgbClr val="4F81BD">
                <a:lumMod val="75000"/>
              </a:srgbClr>
            </a:solidFill>
            <a:prstDash val="solid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Rectangle 14">
            <a:extLst>
              <a:ext uri="{FF2B5EF4-FFF2-40B4-BE49-F238E27FC236}">
                <a16:creationId xmlns:a16="http://schemas.microsoft.com/office/drawing/2014/main" id="{55C4EA85-B59A-93E2-8BB2-39ECDFF53EB3}"/>
              </a:ext>
            </a:extLst>
          </p:cNvPr>
          <p:cNvSpPr/>
          <p:nvPr/>
        </p:nvSpPr>
        <p:spPr>
          <a:xfrm>
            <a:off x="5645813" y="2028383"/>
            <a:ext cx="1123901" cy="565760"/>
          </a:xfrm>
          <a:prstGeom prst="rect">
            <a:avLst/>
          </a:prstGeom>
          <a:noFill/>
          <a:ln w="19050" cap="flat" cmpd="sng" algn="ctr">
            <a:solidFill>
              <a:srgbClr val="4F81BD">
                <a:lumMod val="75000"/>
              </a:srgbClr>
            </a:solidFill>
            <a:prstDash val="solid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2" name="Rectangle 15">
            <a:extLst>
              <a:ext uri="{FF2B5EF4-FFF2-40B4-BE49-F238E27FC236}">
                <a16:creationId xmlns:a16="http://schemas.microsoft.com/office/drawing/2014/main" id="{E22676BB-3A98-658F-94CC-30F133504ECE}"/>
              </a:ext>
            </a:extLst>
          </p:cNvPr>
          <p:cNvSpPr/>
          <p:nvPr/>
        </p:nvSpPr>
        <p:spPr>
          <a:xfrm>
            <a:off x="5863864" y="2848279"/>
            <a:ext cx="2440468" cy="565760"/>
          </a:xfrm>
          <a:prstGeom prst="rect">
            <a:avLst/>
          </a:prstGeom>
          <a:noFill/>
          <a:ln w="19050" cap="flat" cmpd="sng" algn="ctr">
            <a:solidFill>
              <a:srgbClr val="4F81BD">
                <a:lumMod val="75000"/>
              </a:srgbClr>
            </a:solidFill>
            <a:prstDash val="solid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3" name="TextBox 10">
            <a:extLst>
              <a:ext uri="{FF2B5EF4-FFF2-40B4-BE49-F238E27FC236}">
                <a16:creationId xmlns:a16="http://schemas.microsoft.com/office/drawing/2014/main" id="{ED6CD9F2-41A8-8B14-38D6-21C92E54D90C}"/>
              </a:ext>
            </a:extLst>
          </p:cNvPr>
          <p:cNvSpPr txBox="1"/>
          <p:nvPr/>
        </p:nvSpPr>
        <p:spPr>
          <a:xfrm>
            <a:off x="5627420" y="1688288"/>
            <a:ext cx="351658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eaLnBrk="0" hangingPunct="0"/>
            <a:r>
              <a:rPr lang="en-US" altLang="zh-CN" sz="1800" i="1" dirty="0">
                <a:solidFill>
                  <a:srgbClr val="000000"/>
                </a:solidFill>
                <a:highlight>
                  <a:srgbClr val="C0C0C0"/>
                </a:highlight>
                <a:latin typeface="Consolas" panose="020B0609020204030204" pitchFamily="49" charset="0"/>
              </a:rPr>
              <a:t>DIJKSTRA(G, w, s)</a:t>
            </a:r>
          </a:p>
          <a:p>
            <a:pPr algn="l" eaLnBrk="0" hangingPunct="0"/>
            <a:r>
              <a:rPr lang="en-US" altLang="zh-CN" sz="1800" b="0" i="1" dirty="0">
                <a:solidFill>
                  <a:srgbClr val="4F81BD">
                    <a:lumMod val="75000"/>
                  </a:srgbClr>
                </a:solidFill>
                <a:latin typeface="Consolas" panose="020B0609020204030204" pitchFamily="49" charset="0"/>
              </a:rPr>
              <a:t>S = ∅</a:t>
            </a:r>
          </a:p>
          <a:p>
            <a:pPr algn="l" eaLnBrk="0" hangingPunct="0"/>
            <a:r>
              <a:rPr lang="en-US" altLang="zh-CN" sz="1800" b="0" i="1" dirty="0">
                <a:solidFill>
                  <a:srgbClr val="4F81BD">
                    <a:lumMod val="75000"/>
                  </a:srgbClr>
                </a:solidFill>
                <a:latin typeface="Consolas" panose="020B0609020204030204" pitchFamily="49" charset="0"/>
              </a:rPr>
              <a:t>Q = G.V</a:t>
            </a:r>
          </a:p>
          <a:p>
            <a:pPr algn="l" eaLnBrk="0" hangingPunct="0"/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while Q != ∅</a:t>
            </a:r>
          </a:p>
          <a:p>
            <a:pPr algn="l" eaLnBrk="0" hangingPunct="0"/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altLang="zh-CN" sz="1800" b="0" i="1" dirty="0">
                <a:solidFill>
                  <a:srgbClr val="4F81BD">
                    <a:lumMod val="75000"/>
                  </a:srgbClr>
                </a:solidFill>
                <a:latin typeface="Consolas" panose="020B0609020204030204" pitchFamily="49" charset="0"/>
              </a:rPr>
              <a:t>u = EXTRACT-MIN(Q) </a:t>
            </a:r>
          </a:p>
          <a:p>
            <a:pPr algn="l" eaLnBrk="0" hangingPunct="0"/>
            <a:r>
              <a:rPr lang="en-US" altLang="zh-CN" sz="1800" b="0" i="1" dirty="0">
                <a:solidFill>
                  <a:srgbClr val="4F81BD">
                    <a:lumMod val="75000"/>
                  </a:srgbClr>
                </a:solidFill>
                <a:latin typeface="Consolas" panose="020B0609020204030204" pitchFamily="49" charset="0"/>
              </a:rPr>
              <a:t>  S = S ∪ {u};</a:t>
            </a:r>
          </a:p>
          <a:p>
            <a:pPr algn="l" eaLnBrk="0" hangingPunct="0"/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  for each v ∈ </a:t>
            </a:r>
            <a:r>
              <a:rPr lang="en-US" altLang="zh-CN" sz="1800" b="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Q.Adj</a:t>
            </a:r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(u)</a:t>
            </a:r>
          </a:p>
          <a:p>
            <a:pPr algn="l" eaLnBrk="0" hangingPunct="0"/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    RELAX(u, v, w)		</a:t>
            </a:r>
          </a:p>
          <a:p>
            <a:pPr algn="l" eaLnBrk="0" hangingPunct="0"/>
            <a:r>
              <a:rPr lang="en-US" altLang="zh-CN" sz="1800" i="1" dirty="0">
                <a:solidFill>
                  <a:srgbClr val="000000"/>
                </a:solidFill>
                <a:highlight>
                  <a:srgbClr val="C0C0C0"/>
                </a:highlight>
                <a:latin typeface="Consolas" panose="020B0609020204030204" pitchFamily="49" charset="0"/>
              </a:rPr>
              <a:t>RELAX(</a:t>
            </a:r>
            <a:r>
              <a:rPr lang="en-US" altLang="zh-CN" sz="1800" i="1" dirty="0" err="1">
                <a:solidFill>
                  <a:srgbClr val="000000"/>
                </a:solidFill>
                <a:highlight>
                  <a:srgbClr val="C0C0C0"/>
                </a:highlight>
                <a:latin typeface="Consolas" panose="020B0609020204030204" pitchFamily="49" charset="0"/>
              </a:rPr>
              <a:t>u,v,w</a:t>
            </a:r>
            <a:r>
              <a:rPr lang="en-US" altLang="zh-CN" sz="1800" i="1" dirty="0">
                <a:solidFill>
                  <a:srgbClr val="000000"/>
                </a:solidFill>
                <a:highlight>
                  <a:srgbClr val="C0C0C0"/>
                </a:highlight>
                <a:latin typeface="Consolas" panose="020B0609020204030204" pitchFamily="49" charset="0"/>
              </a:rPr>
              <a:t>)</a:t>
            </a:r>
          </a:p>
          <a:p>
            <a:pPr algn="l" eaLnBrk="0" hangingPunct="0"/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if </a:t>
            </a:r>
            <a:r>
              <a:rPr lang="en-US" altLang="zh-CN" sz="1800" b="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v.d</a:t>
            </a:r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 &gt; </a:t>
            </a:r>
            <a:r>
              <a:rPr lang="en-US" altLang="zh-CN" sz="1800" b="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u.d</a:t>
            </a:r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 + w(</a:t>
            </a:r>
            <a:r>
              <a:rPr lang="en-US" altLang="zh-CN" sz="1800" b="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u,v</a:t>
            </a:r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)	</a:t>
            </a:r>
          </a:p>
          <a:p>
            <a:pPr algn="l" eaLnBrk="0" hangingPunct="0"/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altLang="zh-CN" sz="1800" b="0" i="1" dirty="0" err="1">
                <a:solidFill>
                  <a:srgbClr val="4F81BD">
                    <a:lumMod val="75000"/>
                  </a:srgbClr>
                </a:solidFill>
                <a:latin typeface="Consolas" panose="020B0609020204030204" pitchFamily="49" charset="0"/>
              </a:rPr>
              <a:t>v.d</a:t>
            </a:r>
            <a:r>
              <a:rPr lang="en-US" altLang="zh-CN" sz="1800" b="0" i="1" dirty="0">
                <a:solidFill>
                  <a:srgbClr val="4F81BD">
                    <a:lumMod val="75000"/>
                  </a:srgbClr>
                </a:solidFill>
                <a:latin typeface="Consolas" panose="020B0609020204030204" pitchFamily="49" charset="0"/>
              </a:rPr>
              <a:t> = </a:t>
            </a:r>
            <a:r>
              <a:rPr lang="en-US" altLang="zh-CN" sz="1800" b="0" i="1" dirty="0" err="1">
                <a:solidFill>
                  <a:srgbClr val="4F81BD">
                    <a:lumMod val="75000"/>
                  </a:srgbClr>
                </a:solidFill>
                <a:latin typeface="Consolas" panose="020B0609020204030204" pitchFamily="49" charset="0"/>
              </a:rPr>
              <a:t>u.d</a:t>
            </a:r>
            <a:r>
              <a:rPr lang="en-US" altLang="zh-CN" sz="1800" b="0" i="1" dirty="0">
                <a:solidFill>
                  <a:srgbClr val="4F81BD">
                    <a:lumMod val="75000"/>
                  </a:srgbClr>
                </a:solidFill>
                <a:latin typeface="Consolas" panose="020B0609020204030204" pitchFamily="49" charset="0"/>
              </a:rPr>
              <a:t> + w(</a:t>
            </a:r>
            <a:r>
              <a:rPr lang="en-US" altLang="zh-CN" sz="1800" b="0" i="1" dirty="0" err="1">
                <a:solidFill>
                  <a:srgbClr val="4F81BD">
                    <a:lumMod val="75000"/>
                  </a:srgbClr>
                </a:solidFill>
                <a:latin typeface="Consolas" panose="020B0609020204030204" pitchFamily="49" charset="0"/>
              </a:rPr>
              <a:t>u,v</a:t>
            </a:r>
            <a:r>
              <a:rPr lang="en-US" altLang="zh-CN" sz="1800" b="0" i="1" dirty="0">
                <a:solidFill>
                  <a:srgbClr val="4F81BD">
                    <a:lumMod val="75000"/>
                  </a:srgbClr>
                </a:solidFill>
                <a:latin typeface="Consolas" panose="020B0609020204030204" pitchFamily="49" charset="0"/>
              </a:rPr>
              <a:t>)</a:t>
            </a:r>
          </a:p>
          <a:p>
            <a:pPr algn="l" eaLnBrk="0" hangingPunct="0"/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altLang="zh-CN" sz="1800" b="0" i="1" dirty="0">
                <a:solidFill>
                  <a:srgbClr val="4F81BD">
                    <a:lumMod val="75000"/>
                  </a:srgbClr>
                </a:solidFill>
                <a:latin typeface="Consolas" panose="020B0609020204030204" pitchFamily="49" charset="0"/>
              </a:rPr>
              <a:t>v.</a:t>
            </a:r>
            <a:r>
              <a:rPr lang="el-GR" altLang="zh-CN" sz="1800" b="0" i="1" dirty="0">
                <a:solidFill>
                  <a:srgbClr val="4F81BD">
                    <a:lumMod val="75000"/>
                  </a:srgbClr>
                </a:solidFill>
                <a:latin typeface="Consolas" panose="020B0609020204030204" pitchFamily="49" charset="0"/>
              </a:rPr>
              <a:t>π = </a:t>
            </a:r>
            <a:r>
              <a:rPr lang="en-US" altLang="zh-CN" sz="1800" b="0" i="1" dirty="0">
                <a:solidFill>
                  <a:srgbClr val="4F81BD">
                    <a:lumMod val="75000"/>
                  </a:srgbClr>
                </a:solidFill>
                <a:latin typeface="Consolas" panose="020B0609020204030204" pitchFamily="49" charset="0"/>
              </a:rPr>
              <a:t>u</a:t>
            </a:r>
          </a:p>
        </p:txBody>
      </p:sp>
      <p:sp>
        <p:nvSpPr>
          <p:cNvPr id="22" name="TextBox 17">
            <a:extLst>
              <a:ext uri="{FF2B5EF4-FFF2-40B4-BE49-F238E27FC236}">
                <a16:creationId xmlns:a16="http://schemas.microsoft.com/office/drawing/2014/main" id="{E7F685F7-41A5-D10E-8C84-621ABE856507}"/>
              </a:ext>
            </a:extLst>
          </p:cNvPr>
          <p:cNvSpPr txBox="1"/>
          <p:nvPr/>
        </p:nvSpPr>
        <p:spPr>
          <a:xfrm>
            <a:off x="1602494" y="6026775"/>
            <a:ext cx="593901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eaLnBrk="1" hangingPunct="1">
              <a:defRPr sz="3200" b="1">
                <a:solidFill>
                  <a:srgbClr val="FF3300"/>
                </a:solidFill>
                <a:latin typeface="黑体" pitchFamily="49" charset="-122"/>
                <a:ea typeface="黑体" pitchFamily="49" charset="-122"/>
              </a:defRPr>
            </a:lvl1pPr>
            <a:lvl2pPr marL="742950" indent="-285750" eaLnBrk="0" hangingPunct="0">
              <a:defRPr sz="4600" b="1">
                <a:solidFill>
                  <a:srgbClr val="FF3300"/>
                </a:solidFill>
                <a:latin typeface="Garamond" pitchFamily="18" charset="0"/>
                <a:ea typeface="宋体" charset="-122"/>
              </a:defRPr>
            </a:lvl2pPr>
            <a:lvl3pPr marL="1143000" indent="-228600" eaLnBrk="0" hangingPunct="0">
              <a:defRPr sz="4600" b="1">
                <a:solidFill>
                  <a:srgbClr val="FF3300"/>
                </a:solidFill>
                <a:latin typeface="Garamond" pitchFamily="18" charset="0"/>
                <a:ea typeface="宋体" charset="-122"/>
              </a:defRPr>
            </a:lvl3pPr>
            <a:lvl4pPr marL="1600200" indent="-228600" eaLnBrk="0" hangingPunct="0">
              <a:defRPr sz="4600" b="1">
                <a:solidFill>
                  <a:srgbClr val="FF3300"/>
                </a:solidFill>
                <a:latin typeface="Garamond" pitchFamily="18" charset="0"/>
                <a:ea typeface="宋体" charset="-122"/>
              </a:defRPr>
            </a:lvl4pPr>
            <a:lvl5pPr marL="2057400" indent="-228600" eaLnBrk="0" hangingPunct="0">
              <a:defRPr sz="4600" b="1">
                <a:solidFill>
                  <a:srgbClr val="FF3300"/>
                </a:solidFill>
                <a:latin typeface="Garamond" pitchFamily="18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600" b="1">
                <a:solidFill>
                  <a:srgbClr val="FF3300"/>
                </a:solidFill>
                <a:latin typeface="Garamond" pitchFamily="18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600" b="1">
                <a:solidFill>
                  <a:srgbClr val="FF3300"/>
                </a:solidFill>
                <a:latin typeface="Garamond" pitchFamily="18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600" b="1">
                <a:solidFill>
                  <a:srgbClr val="FF3300"/>
                </a:solidFill>
                <a:latin typeface="Garamond" pitchFamily="18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600" b="1">
                <a:solidFill>
                  <a:srgbClr val="FF3300"/>
                </a:solidFill>
                <a:latin typeface="Garamond" pitchFamily="18" charset="0"/>
                <a:ea typeface="宋体" charset="-122"/>
              </a:defRPr>
            </a:lvl9pPr>
          </a:lstStyle>
          <a:p>
            <a:r>
              <a:rPr lang="zh-CN" altLang="en-US" sz="2400" dirty="0">
                <a:solidFill>
                  <a:srgbClr val="0432FF"/>
                </a:solidFill>
                <a:latin typeface="+mn-lt"/>
                <a:ea typeface="+mn-ea"/>
              </a:rPr>
              <a:t>不同点 </a:t>
            </a:r>
            <a:r>
              <a:rPr lang="en-US" altLang="zh-CN" sz="2400" dirty="0">
                <a:solidFill>
                  <a:srgbClr val="0432FF"/>
                </a:solidFill>
                <a:latin typeface="+mn-lt"/>
                <a:ea typeface="+mn-ea"/>
              </a:rPr>
              <a:t>&amp; </a:t>
            </a:r>
            <a:r>
              <a:rPr lang="zh-CN" altLang="en-US" sz="2400" dirty="0">
                <a:solidFill>
                  <a:srgbClr val="0432FF"/>
                </a:solidFill>
                <a:latin typeface="+mn-lt"/>
                <a:ea typeface="+mn-ea"/>
              </a:rPr>
              <a:t>相同点</a:t>
            </a:r>
            <a:r>
              <a:rPr lang="en-US" altLang="zh-CN" sz="2400" dirty="0">
                <a:solidFill>
                  <a:srgbClr val="0432FF"/>
                </a:solidFill>
                <a:latin typeface="+mn-lt"/>
                <a:ea typeface="+mn-ea"/>
              </a:rPr>
              <a:t>?</a:t>
            </a:r>
          </a:p>
        </p:txBody>
      </p:sp>
      <p:sp>
        <p:nvSpPr>
          <p:cNvPr id="23" name="Rectangle 16">
            <a:extLst>
              <a:ext uri="{FF2B5EF4-FFF2-40B4-BE49-F238E27FC236}">
                <a16:creationId xmlns:a16="http://schemas.microsoft.com/office/drawing/2014/main" id="{5CC9E4A2-F2CE-ACB9-EE35-26273AAB5AD7}"/>
              </a:ext>
            </a:extLst>
          </p:cNvPr>
          <p:cNvSpPr/>
          <p:nvPr/>
        </p:nvSpPr>
        <p:spPr>
          <a:xfrm>
            <a:off x="5863863" y="4768781"/>
            <a:ext cx="2440467" cy="565759"/>
          </a:xfrm>
          <a:prstGeom prst="rect">
            <a:avLst/>
          </a:prstGeom>
          <a:noFill/>
          <a:ln w="19050" cap="flat" cmpd="sng" algn="ctr">
            <a:solidFill>
              <a:srgbClr val="4F81BD">
                <a:lumMod val="75000"/>
              </a:srgbClr>
            </a:solidFill>
            <a:prstDash val="solid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4" name="Rectangle 5">
            <a:extLst>
              <a:ext uri="{FF2B5EF4-FFF2-40B4-BE49-F238E27FC236}">
                <a16:creationId xmlns:a16="http://schemas.microsoft.com/office/drawing/2014/main" id="{FF938C32-38BC-50D2-4F11-5042C4512989}"/>
              </a:ext>
            </a:extLst>
          </p:cNvPr>
          <p:cNvSpPr/>
          <p:nvPr/>
        </p:nvSpPr>
        <p:spPr>
          <a:xfrm>
            <a:off x="705745" y="3968385"/>
            <a:ext cx="1791978" cy="251738"/>
          </a:xfrm>
          <a:prstGeom prst="rect">
            <a:avLst/>
          </a:prstGeom>
          <a:noFill/>
          <a:ln w="19050" cap="flat" cmpd="sng" algn="ctr">
            <a:solidFill>
              <a:srgbClr val="4F81BD">
                <a:lumMod val="75000"/>
              </a:srgbClr>
            </a:solidFill>
            <a:prstDash val="solid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5" name="Rectangle 5">
            <a:extLst>
              <a:ext uri="{FF2B5EF4-FFF2-40B4-BE49-F238E27FC236}">
                <a16:creationId xmlns:a16="http://schemas.microsoft.com/office/drawing/2014/main" id="{A98200DA-8433-F5EC-D20F-F8FC3C542C96}"/>
              </a:ext>
            </a:extLst>
          </p:cNvPr>
          <p:cNvSpPr/>
          <p:nvPr/>
        </p:nvSpPr>
        <p:spPr>
          <a:xfrm>
            <a:off x="197223" y="3683468"/>
            <a:ext cx="1201993" cy="251738"/>
          </a:xfrm>
          <a:prstGeom prst="rect">
            <a:avLst/>
          </a:prstGeom>
          <a:noFill/>
          <a:ln w="19050" cap="flat" cmpd="sng" algn="ctr">
            <a:solidFill>
              <a:srgbClr val="4F81BD">
                <a:lumMod val="75000"/>
              </a:srgbClr>
            </a:solidFill>
            <a:prstDash val="solid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6" name="TextBox 13">
            <a:extLst>
              <a:ext uri="{FF2B5EF4-FFF2-40B4-BE49-F238E27FC236}">
                <a16:creationId xmlns:a16="http://schemas.microsoft.com/office/drawing/2014/main" id="{9051C8FB-D584-FB75-8027-03402727F838}"/>
              </a:ext>
            </a:extLst>
          </p:cNvPr>
          <p:cNvSpPr txBox="1"/>
          <p:nvPr/>
        </p:nvSpPr>
        <p:spPr>
          <a:xfrm>
            <a:off x="3186903" y="1400324"/>
            <a:ext cx="23054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 dirty="0">
                <a:solidFill>
                  <a:srgbClr val="C0504D">
                    <a:lumMod val="75000"/>
                  </a:srgbClr>
                </a:solidFill>
                <a:latin typeface="+mn-lt"/>
                <a:ea typeface="+mn-ea"/>
              </a:rPr>
              <a:t>顺序执行，除非跳转</a:t>
            </a:r>
          </a:p>
        </p:txBody>
      </p:sp>
      <p:sp>
        <p:nvSpPr>
          <p:cNvPr id="27" name="TextBox 36">
            <a:extLst>
              <a:ext uri="{FF2B5EF4-FFF2-40B4-BE49-F238E27FC236}">
                <a16:creationId xmlns:a16="http://schemas.microsoft.com/office/drawing/2014/main" id="{822D28A7-963A-B087-B98A-C26368080016}"/>
              </a:ext>
            </a:extLst>
          </p:cNvPr>
          <p:cNvSpPr txBox="1"/>
          <p:nvPr/>
        </p:nvSpPr>
        <p:spPr>
          <a:xfrm>
            <a:off x="4011923" y="2395557"/>
            <a:ext cx="6559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 dirty="0">
                <a:solidFill>
                  <a:srgbClr val="4F81BD">
                    <a:lumMod val="75000"/>
                  </a:srgbClr>
                </a:solidFill>
                <a:latin typeface="+mn-lt"/>
                <a:ea typeface="+mn-ea"/>
              </a:rPr>
              <a:t>赋值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A5B0DE8-8348-37FA-B890-45EF5F72B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t>9</a:t>
            </a:fld>
            <a:endParaRPr lang="en-US" altLang="zh-CN"/>
          </a:p>
        </p:txBody>
      </p:sp>
      <p:sp>
        <p:nvSpPr>
          <p:cNvPr id="10" name="标题 9">
            <a:extLst>
              <a:ext uri="{FF2B5EF4-FFF2-40B4-BE49-F238E27FC236}">
                <a16:creationId xmlns:a16="http://schemas.microsoft.com/office/drawing/2014/main" id="{B1F8ED49-579D-82B2-F092-044D8C4AE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一些软件算法实例</a:t>
            </a:r>
            <a:endParaRPr lang="zh-CN" altLang="en-US" dirty="0"/>
          </a:p>
        </p:txBody>
      </p:sp>
      <p:sp>
        <p:nvSpPr>
          <p:cNvPr id="13" name="TextBox 10">
            <a:extLst>
              <a:ext uri="{FF2B5EF4-FFF2-40B4-BE49-F238E27FC236}">
                <a16:creationId xmlns:a16="http://schemas.microsoft.com/office/drawing/2014/main" id="{BB2C0838-848D-D48C-5499-0E7BD0FA8927}"/>
              </a:ext>
            </a:extLst>
          </p:cNvPr>
          <p:cNvSpPr txBox="1"/>
          <p:nvPr/>
        </p:nvSpPr>
        <p:spPr>
          <a:xfrm>
            <a:off x="5627420" y="1688288"/>
            <a:ext cx="351658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eaLnBrk="0" hangingPunct="0"/>
            <a:r>
              <a:rPr lang="en-US" altLang="zh-CN" sz="1800" i="1" dirty="0">
                <a:solidFill>
                  <a:srgbClr val="000000"/>
                </a:solidFill>
                <a:highlight>
                  <a:srgbClr val="C0C0C0"/>
                </a:highlight>
                <a:latin typeface="Consolas" panose="020B0609020204030204" pitchFamily="49" charset="0"/>
              </a:rPr>
              <a:t>DIJKSTRA(G, w, s)</a:t>
            </a:r>
          </a:p>
          <a:p>
            <a:pPr algn="l" eaLnBrk="0" hangingPunct="0"/>
            <a:r>
              <a:rPr lang="en-US" altLang="zh-CN" sz="1800" b="0" i="1" dirty="0">
                <a:solidFill>
                  <a:srgbClr val="4F81BD">
                    <a:lumMod val="75000"/>
                  </a:srgbClr>
                </a:solidFill>
                <a:latin typeface="Consolas" panose="020B0609020204030204" pitchFamily="49" charset="0"/>
              </a:rPr>
              <a:t>S = ∅</a:t>
            </a:r>
          </a:p>
          <a:p>
            <a:pPr algn="l" eaLnBrk="0" hangingPunct="0"/>
            <a:r>
              <a:rPr lang="en-US" altLang="zh-CN" sz="1800" b="0" i="1" dirty="0">
                <a:solidFill>
                  <a:srgbClr val="4F81BD">
                    <a:lumMod val="75000"/>
                  </a:srgbClr>
                </a:solidFill>
                <a:latin typeface="Consolas" panose="020B0609020204030204" pitchFamily="49" charset="0"/>
              </a:rPr>
              <a:t>Q = G.V</a:t>
            </a:r>
          </a:p>
          <a:p>
            <a:pPr algn="l" eaLnBrk="0" hangingPunct="0"/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while </a:t>
            </a:r>
            <a:r>
              <a:rPr lang="en-US" altLang="zh-CN" sz="1800" b="0" i="1" dirty="0">
                <a:solidFill>
                  <a:srgbClr val="C00000"/>
                </a:solidFill>
                <a:latin typeface="Consolas" panose="020B0609020204030204" pitchFamily="49" charset="0"/>
              </a:rPr>
              <a:t>Q != ∅</a:t>
            </a:r>
          </a:p>
          <a:p>
            <a:pPr algn="l" eaLnBrk="0" hangingPunct="0"/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altLang="zh-CN" sz="1800" b="0" i="1" dirty="0">
                <a:solidFill>
                  <a:srgbClr val="4F81BD">
                    <a:lumMod val="75000"/>
                  </a:srgbClr>
                </a:solidFill>
                <a:latin typeface="Consolas" panose="020B0609020204030204" pitchFamily="49" charset="0"/>
              </a:rPr>
              <a:t>u = EXTRACT-MIN(Q) </a:t>
            </a:r>
          </a:p>
          <a:p>
            <a:pPr algn="l" eaLnBrk="0" hangingPunct="0"/>
            <a:r>
              <a:rPr lang="en-US" altLang="zh-CN" sz="1800" b="0" i="1" dirty="0">
                <a:solidFill>
                  <a:srgbClr val="4F81BD">
                    <a:lumMod val="75000"/>
                  </a:srgbClr>
                </a:solidFill>
                <a:latin typeface="Consolas" panose="020B0609020204030204" pitchFamily="49" charset="0"/>
              </a:rPr>
              <a:t>  S = S ∪ {u};</a:t>
            </a:r>
          </a:p>
          <a:p>
            <a:pPr algn="l" eaLnBrk="0" hangingPunct="0"/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  for each v ∈ </a:t>
            </a:r>
            <a:r>
              <a:rPr lang="en-US" altLang="zh-CN" sz="1800" b="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Q.Adj</a:t>
            </a:r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(u)</a:t>
            </a:r>
          </a:p>
          <a:p>
            <a:pPr algn="l" eaLnBrk="0" hangingPunct="0"/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    RELAX(u, v, w)		</a:t>
            </a:r>
          </a:p>
          <a:p>
            <a:pPr algn="l" eaLnBrk="0" hangingPunct="0"/>
            <a:r>
              <a:rPr lang="en-US" altLang="zh-CN" sz="1800" i="1" dirty="0">
                <a:solidFill>
                  <a:srgbClr val="000000"/>
                </a:solidFill>
                <a:highlight>
                  <a:srgbClr val="C0C0C0"/>
                </a:highlight>
                <a:latin typeface="Consolas" panose="020B0609020204030204" pitchFamily="49" charset="0"/>
              </a:rPr>
              <a:t>RELAX(</a:t>
            </a:r>
            <a:r>
              <a:rPr lang="en-US" altLang="zh-CN" sz="1800" i="1" dirty="0" err="1">
                <a:solidFill>
                  <a:srgbClr val="000000"/>
                </a:solidFill>
                <a:highlight>
                  <a:srgbClr val="C0C0C0"/>
                </a:highlight>
                <a:latin typeface="Consolas" panose="020B0609020204030204" pitchFamily="49" charset="0"/>
              </a:rPr>
              <a:t>u,v,w</a:t>
            </a:r>
            <a:r>
              <a:rPr lang="en-US" altLang="zh-CN" sz="1800" i="1" dirty="0">
                <a:solidFill>
                  <a:srgbClr val="000000"/>
                </a:solidFill>
                <a:highlight>
                  <a:srgbClr val="C0C0C0"/>
                </a:highlight>
                <a:latin typeface="Consolas" panose="020B0609020204030204" pitchFamily="49" charset="0"/>
              </a:rPr>
              <a:t>)</a:t>
            </a:r>
          </a:p>
          <a:p>
            <a:pPr algn="l" eaLnBrk="0" hangingPunct="0"/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if </a:t>
            </a:r>
            <a:r>
              <a:rPr lang="en-US" altLang="zh-CN" sz="1800" b="0" i="1" dirty="0" err="1">
                <a:solidFill>
                  <a:srgbClr val="C00000"/>
                </a:solidFill>
                <a:latin typeface="Consolas" panose="020B0609020204030204" pitchFamily="49" charset="0"/>
              </a:rPr>
              <a:t>v.d</a:t>
            </a:r>
            <a:r>
              <a:rPr lang="en-US" altLang="zh-CN" sz="1800" b="0" i="1" dirty="0">
                <a:solidFill>
                  <a:srgbClr val="C00000"/>
                </a:solidFill>
                <a:latin typeface="Consolas" panose="020B0609020204030204" pitchFamily="49" charset="0"/>
              </a:rPr>
              <a:t> &gt; </a:t>
            </a:r>
            <a:r>
              <a:rPr lang="en-US" altLang="zh-CN" sz="1800" b="0" i="1" dirty="0" err="1">
                <a:solidFill>
                  <a:srgbClr val="C00000"/>
                </a:solidFill>
                <a:latin typeface="Consolas" panose="020B0609020204030204" pitchFamily="49" charset="0"/>
              </a:rPr>
              <a:t>u.d</a:t>
            </a:r>
            <a:r>
              <a:rPr lang="en-US" altLang="zh-CN" sz="1800" b="0" i="1" dirty="0">
                <a:solidFill>
                  <a:srgbClr val="C00000"/>
                </a:solidFill>
                <a:latin typeface="Consolas" panose="020B0609020204030204" pitchFamily="49" charset="0"/>
              </a:rPr>
              <a:t> + w(</a:t>
            </a:r>
            <a:r>
              <a:rPr lang="en-US" altLang="zh-CN" sz="1800" b="0" i="1" dirty="0" err="1">
                <a:solidFill>
                  <a:srgbClr val="C00000"/>
                </a:solidFill>
                <a:latin typeface="Consolas" panose="020B0609020204030204" pitchFamily="49" charset="0"/>
              </a:rPr>
              <a:t>u,v</a:t>
            </a:r>
            <a:r>
              <a:rPr lang="en-US" altLang="zh-CN" sz="1800" b="0" i="1" dirty="0">
                <a:solidFill>
                  <a:srgbClr val="C00000"/>
                </a:solidFill>
                <a:latin typeface="Consolas" panose="020B0609020204030204" pitchFamily="49" charset="0"/>
              </a:rPr>
              <a:t>)</a:t>
            </a:r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</a:p>
          <a:p>
            <a:pPr algn="l" eaLnBrk="0" hangingPunct="0"/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altLang="zh-CN" sz="1800" b="0" i="1" dirty="0" err="1">
                <a:solidFill>
                  <a:srgbClr val="C00000"/>
                </a:solidFill>
                <a:latin typeface="Consolas" panose="020B0609020204030204" pitchFamily="49" charset="0"/>
              </a:rPr>
              <a:t>v.d</a:t>
            </a:r>
            <a:r>
              <a:rPr lang="en-US" altLang="zh-CN" sz="1800" b="0" i="1" dirty="0">
                <a:solidFill>
                  <a:srgbClr val="C00000"/>
                </a:solidFill>
                <a:latin typeface="Consolas" panose="020B0609020204030204" pitchFamily="49" charset="0"/>
              </a:rPr>
              <a:t> = </a:t>
            </a:r>
            <a:r>
              <a:rPr lang="en-US" altLang="zh-CN" sz="1800" b="0" i="1" dirty="0" err="1">
                <a:solidFill>
                  <a:srgbClr val="C00000"/>
                </a:solidFill>
                <a:latin typeface="Consolas" panose="020B0609020204030204" pitchFamily="49" charset="0"/>
              </a:rPr>
              <a:t>u.d</a:t>
            </a:r>
            <a:r>
              <a:rPr lang="en-US" altLang="zh-CN" sz="1800" b="0" i="1" dirty="0">
                <a:solidFill>
                  <a:srgbClr val="C00000"/>
                </a:solidFill>
                <a:latin typeface="Consolas" panose="020B0609020204030204" pitchFamily="49" charset="0"/>
              </a:rPr>
              <a:t> + w(</a:t>
            </a:r>
            <a:r>
              <a:rPr lang="en-US" altLang="zh-CN" sz="1800" b="0" i="1" dirty="0" err="1">
                <a:solidFill>
                  <a:srgbClr val="C00000"/>
                </a:solidFill>
                <a:latin typeface="Consolas" panose="020B0609020204030204" pitchFamily="49" charset="0"/>
              </a:rPr>
              <a:t>u,v</a:t>
            </a:r>
            <a:r>
              <a:rPr lang="en-US" altLang="zh-CN" sz="1800" b="0" i="1" dirty="0">
                <a:solidFill>
                  <a:srgbClr val="C00000"/>
                </a:solidFill>
                <a:latin typeface="Consolas" panose="020B0609020204030204" pitchFamily="49" charset="0"/>
              </a:rPr>
              <a:t>)</a:t>
            </a:r>
          </a:p>
          <a:p>
            <a:pPr algn="l" eaLnBrk="0" hangingPunct="0"/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altLang="zh-CN" sz="1800" b="0" i="1" dirty="0">
                <a:solidFill>
                  <a:srgbClr val="4F81BD">
                    <a:lumMod val="75000"/>
                  </a:srgbClr>
                </a:solidFill>
                <a:latin typeface="Consolas" panose="020B0609020204030204" pitchFamily="49" charset="0"/>
              </a:rPr>
              <a:t>v.</a:t>
            </a:r>
            <a:r>
              <a:rPr lang="el-GR" altLang="zh-CN" sz="1800" b="0" i="1" dirty="0">
                <a:solidFill>
                  <a:srgbClr val="4F81BD">
                    <a:lumMod val="75000"/>
                  </a:srgbClr>
                </a:solidFill>
                <a:latin typeface="Consolas" panose="020B0609020204030204" pitchFamily="49" charset="0"/>
              </a:rPr>
              <a:t>π = </a:t>
            </a:r>
            <a:r>
              <a:rPr lang="en-US" altLang="zh-CN" sz="1800" b="0" i="1" dirty="0">
                <a:solidFill>
                  <a:srgbClr val="4F81BD">
                    <a:lumMod val="75000"/>
                  </a:srgbClr>
                </a:solidFill>
                <a:latin typeface="Consolas" panose="020B0609020204030204" pitchFamily="49" charset="0"/>
              </a:rPr>
              <a:t>u</a:t>
            </a:r>
          </a:p>
        </p:txBody>
      </p:sp>
      <p:sp>
        <p:nvSpPr>
          <p:cNvPr id="21" name="TextBox 17">
            <a:extLst>
              <a:ext uri="{FF2B5EF4-FFF2-40B4-BE49-F238E27FC236}">
                <a16:creationId xmlns:a16="http://schemas.microsoft.com/office/drawing/2014/main" id="{38C40128-75EB-0ADC-B536-2825E9117FCC}"/>
              </a:ext>
            </a:extLst>
          </p:cNvPr>
          <p:cNvSpPr txBox="1"/>
          <p:nvPr/>
        </p:nvSpPr>
        <p:spPr>
          <a:xfrm>
            <a:off x="114526" y="1691510"/>
            <a:ext cx="493342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eaLnBrk="0" hangingPunct="0"/>
            <a:r>
              <a:rPr lang="en-US" altLang="zh-CN" sz="1800" i="1" dirty="0">
                <a:solidFill>
                  <a:srgbClr val="000000"/>
                </a:solidFill>
                <a:highlight>
                  <a:srgbClr val="C0C0C0"/>
                </a:highlight>
                <a:latin typeface="Consolas" panose="020B0609020204030204" pitchFamily="49" charset="0"/>
              </a:rPr>
              <a:t>QUICK_SORT(A, p, r)</a:t>
            </a:r>
          </a:p>
          <a:p>
            <a:pPr algn="l" eaLnBrk="0" hangingPunct="0"/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if </a:t>
            </a:r>
            <a:r>
              <a:rPr lang="en-US" altLang="zh-CN" sz="1800" b="0" i="1" dirty="0">
                <a:solidFill>
                  <a:srgbClr val="C00000"/>
                </a:solidFill>
                <a:latin typeface="Consolas" panose="020B0609020204030204" pitchFamily="49" charset="0"/>
              </a:rPr>
              <a:t>p &lt; r        </a:t>
            </a:r>
          </a:p>
          <a:p>
            <a:pPr algn="l" eaLnBrk="0" hangingPunct="0"/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altLang="zh-CN" sz="1800" b="0" i="1" dirty="0">
                <a:solidFill>
                  <a:srgbClr val="4F81BD">
                    <a:lumMod val="75000"/>
                  </a:srgbClr>
                </a:solidFill>
                <a:latin typeface="Consolas" panose="020B0609020204030204" pitchFamily="49" charset="0"/>
              </a:rPr>
              <a:t>q = PARTITION(A, p, r)</a:t>
            </a:r>
          </a:p>
          <a:p>
            <a:pPr algn="l" eaLnBrk="0" hangingPunct="0"/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  QUICK_SORT(A, p, </a:t>
            </a:r>
            <a:r>
              <a:rPr lang="en-US" altLang="zh-CN" sz="1800" b="0" i="1" dirty="0">
                <a:solidFill>
                  <a:srgbClr val="C00000"/>
                </a:solidFill>
                <a:latin typeface="Consolas" panose="020B0609020204030204" pitchFamily="49" charset="0"/>
              </a:rPr>
              <a:t>q - 1</a:t>
            </a:r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algn="l" eaLnBrk="0" hangingPunct="0"/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  QUICK_SORT(A, </a:t>
            </a:r>
            <a:r>
              <a:rPr lang="en-US" altLang="zh-CN" sz="1800" b="0" i="1" dirty="0">
                <a:solidFill>
                  <a:srgbClr val="C00000"/>
                </a:solidFill>
                <a:latin typeface="Consolas" panose="020B0609020204030204" pitchFamily="49" charset="0"/>
              </a:rPr>
              <a:t>q + 1</a:t>
            </a:r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, r)</a:t>
            </a:r>
          </a:p>
          <a:p>
            <a:pPr algn="l" eaLnBrk="0" hangingPunct="0"/>
            <a:endParaRPr lang="en-US" altLang="zh-CN" sz="1800" i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l" eaLnBrk="0" hangingPunct="0"/>
            <a:r>
              <a:rPr lang="en-US" altLang="zh-CN" sz="1800" i="1" dirty="0">
                <a:solidFill>
                  <a:srgbClr val="000000"/>
                </a:solidFill>
                <a:highlight>
                  <a:srgbClr val="C0C0C0"/>
                </a:highlight>
                <a:latin typeface="Consolas" panose="020B0609020204030204" pitchFamily="49" charset="0"/>
              </a:rPr>
              <a:t>PARTITION(</a:t>
            </a:r>
            <a:r>
              <a:rPr lang="en-US" altLang="zh-CN" sz="1800" i="1" dirty="0" err="1">
                <a:solidFill>
                  <a:srgbClr val="000000"/>
                </a:solidFill>
                <a:highlight>
                  <a:srgbClr val="C0C0C0"/>
                </a:highlight>
                <a:latin typeface="Consolas" panose="020B0609020204030204" pitchFamily="49" charset="0"/>
              </a:rPr>
              <a:t>A,p,r</a:t>
            </a:r>
            <a:r>
              <a:rPr lang="en-US" altLang="zh-CN" sz="1800" i="1" dirty="0">
                <a:solidFill>
                  <a:srgbClr val="000000"/>
                </a:solidFill>
                <a:highlight>
                  <a:srgbClr val="C0C0C0"/>
                </a:highlight>
                <a:latin typeface="Consolas" panose="020B0609020204030204" pitchFamily="49" charset="0"/>
              </a:rPr>
              <a:t>)</a:t>
            </a:r>
          </a:p>
          <a:p>
            <a:pPr algn="l" eaLnBrk="0" hangingPunct="0"/>
            <a:r>
              <a:rPr lang="en-US" altLang="zh-CN" sz="1800" b="0" i="1" dirty="0">
                <a:solidFill>
                  <a:srgbClr val="C00000"/>
                </a:solidFill>
                <a:latin typeface="Consolas" panose="020B0609020204030204" pitchFamily="49" charset="0"/>
              </a:rPr>
              <a:t>i = p - 1</a:t>
            </a:r>
          </a:p>
          <a:p>
            <a:pPr algn="l" eaLnBrk="0" hangingPunct="0"/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for </a:t>
            </a:r>
            <a:r>
              <a:rPr lang="en-US" altLang="zh-CN" sz="1800" b="0" i="1" dirty="0">
                <a:solidFill>
                  <a:srgbClr val="4F81BD">
                    <a:lumMod val="75000"/>
                  </a:srgbClr>
                </a:solidFill>
                <a:latin typeface="Consolas" panose="020B0609020204030204" pitchFamily="49" charset="0"/>
              </a:rPr>
              <a:t>j = p to </a:t>
            </a:r>
            <a:r>
              <a:rPr lang="en-US" altLang="zh-CN" sz="1800" b="0" i="1" dirty="0">
                <a:solidFill>
                  <a:srgbClr val="C00000"/>
                </a:solidFill>
                <a:latin typeface="Consolas" panose="020B0609020204030204" pitchFamily="49" charset="0"/>
              </a:rPr>
              <a:t>r - 1</a:t>
            </a:r>
          </a:p>
          <a:p>
            <a:pPr algn="l" eaLnBrk="0" hangingPunct="0"/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  if </a:t>
            </a:r>
            <a:r>
              <a:rPr lang="en-US" altLang="zh-CN" sz="1800" b="0" i="1" dirty="0">
                <a:solidFill>
                  <a:srgbClr val="C00000"/>
                </a:solidFill>
                <a:latin typeface="Consolas" panose="020B0609020204030204" pitchFamily="49" charset="0"/>
              </a:rPr>
              <a:t>A[j] &lt; A[r]</a:t>
            </a:r>
          </a:p>
          <a:p>
            <a:pPr algn="l" eaLnBrk="0" hangingPunct="0"/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800" b="0" i="1" dirty="0" err="1">
                <a:solidFill>
                  <a:srgbClr val="C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sz="1800" b="0" i="1" dirty="0">
                <a:solidFill>
                  <a:srgbClr val="C00000"/>
                </a:solidFill>
                <a:latin typeface="Consolas" panose="020B0609020204030204" pitchFamily="49" charset="0"/>
              </a:rPr>
              <a:t> = </a:t>
            </a:r>
            <a:r>
              <a:rPr lang="en-US" altLang="zh-CN" sz="1800" b="0" i="1" dirty="0" err="1">
                <a:solidFill>
                  <a:srgbClr val="C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sz="1800" b="0" i="1" dirty="0">
                <a:solidFill>
                  <a:srgbClr val="C00000"/>
                </a:solidFill>
                <a:latin typeface="Consolas" panose="020B0609020204030204" pitchFamily="49" charset="0"/>
              </a:rPr>
              <a:t> + 1</a:t>
            </a:r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		</a:t>
            </a:r>
          </a:p>
          <a:p>
            <a:pPr algn="l" eaLnBrk="0" hangingPunct="0"/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800" b="0" i="1" dirty="0">
                <a:solidFill>
                  <a:srgbClr val="4F81BD">
                    <a:lumMod val="75000"/>
                  </a:srgbClr>
                </a:solidFill>
                <a:latin typeface="Consolas" panose="020B0609020204030204" pitchFamily="49" charset="0"/>
              </a:rPr>
              <a:t>exchange A[j] with A[i]</a:t>
            </a:r>
          </a:p>
          <a:p>
            <a:pPr algn="l" eaLnBrk="0" hangingPunct="0"/>
            <a:r>
              <a:rPr lang="en-US" altLang="zh-CN" sz="1800" b="0" i="1" dirty="0">
                <a:solidFill>
                  <a:srgbClr val="4F81BD">
                    <a:lumMod val="75000"/>
                  </a:srgbClr>
                </a:solidFill>
                <a:latin typeface="Consolas" panose="020B0609020204030204" pitchFamily="49" charset="0"/>
              </a:rPr>
              <a:t>exchange A[</a:t>
            </a:r>
            <a:r>
              <a:rPr lang="en-US" altLang="zh-CN" sz="1800" b="0" i="1" dirty="0">
                <a:solidFill>
                  <a:srgbClr val="C00000"/>
                </a:solidFill>
                <a:latin typeface="Consolas" panose="020B0609020204030204" pitchFamily="49" charset="0"/>
              </a:rPr>
              <a:t>i + 1</a:t>
            </a:r>
            <a:r>
              <a:rPr lang="en-US" altLang="zh-CN" sz="1800" b="0" i="1" dirty="0">
                <a:solidFill>
                  <a:srgbClr val="4F81BD">
                    <a:lumMod val="75000"/>
                  </a:srgbClr>
                </a:solidFill>
                <a:latin typeface="Consolas" panose="020B0609020204030204" pitchFamily="49" charset="0"/>
              </a:rPr>
              <a:t>] with A[r]</a:t>
            </a:r>
          </a:p>
          <a:p>
            <a:pPr algn="l" eaLnBrk="0" hangingPunct="0"/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return </a:t>
            </a:r>
            <a:r>
              <a:rPr lang="en-US" altLang="zh-CN" sz="1800" b="0" i="1" dirty="0">
                <a:solidFill>
                  <a:srgbClr val="C00000"/>
                </a:solidFill>
                <a:latin typeface="Consolas" panose="020B0609020204030204" pitchFamily="49" charset="0"/>
              </a:rPr>
              <a:t>i + 1</a:t>
            </a:r>
          </a:p>
        </p:txBody>
      </p:sp>
      <p:sp>
        <p:nvSpPr>
          <p:cNvPr id="27" name="Rectangle 13">
            <a:extLst>
              <a:ext uri="{FF2B5EF4-FFF2-40B4-BE49-F238E27FC236}">
                <a16:creationId xmlns:a16="http://schemas.microsoft.com/office/drawing/2014/main" id="{ECDA3772-F82D-C874-1D2B-B3A667095AD1}"/>
              </a:ext>
            </a:extLst>
          </p:cNvPr>
          <p:cNvSpPr/>
          <p:nvPr/>
        </p:nvSpPr>
        <p:spPr>
          <a:xfrm>
            <a:off x="174810" y="3661479"/>
            <a:ext cx="1352238" cy="282359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31" name="Rectangle 13">
            <a:extLst>
              <a:ext uri="{FF2B5EF4-FFF2-40B4-BE49-F238E27FC236}">
                <a16:creationId xmlns:a16="http://schemas.microsoft.com/office/drawing/2014/main" id="{67A5F2C4-9870-86E3-3F2B-5EBCE5B74C4A}"/>
              </a:ext>
            </a:extLst>
          </p:cNvPr>
          <p:cNvSpPr/>
          <p:nvPr/>
        </p:nvSpPr>
        <p:spPr>
          <a:xfrm>
            <a:off x="5863864" y="4771310"/>
            <a:ext cx="2675966" cy="282359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32" name="Rectangle 13">
            <a:extLst>
              <a:ext uri="{FF2B5EF4-FFF2-40B4-BE49-F238E27FC236}">
                <a16:creationId xmlns:a16="http://schemas.microsoft.com/office/drawing/2014/main" id="{3D6DCA06-36EA-8FA3-76D1-EEFC5DE0D809}"/>
              </a:ext>
            </a:extLst>
          </p:cNvPr>
          <p:cNvSpPr/>
          <p:nvPr/>
        </p:nvSpPr>
        <p:spPr>
          <a:xfrm>
            <a:off x="6010834" y="4488951"/>
            <a:ext cx="2528996" cy="282359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33" name="TextBox 19">
            <a:extLst>
              <a:ext uri="{FF2B5EF4-FFF2-40B4-BE49-F238E27FC236}">
                <a16:creationId xmlns:a16="http://schemas.microsoft.com/office/drawing/2014/main" id="{DCDAE7CF-5D35-C773-5956-FB86E3EF4114}"/>
              </a:ext>
            </a:extLst>
          </p:cNvPr>
          <p:cNvSpPr txBox="1"/>
          <p:nvPr/>
        </p:nvSpPr>
        <p:spPr>
          <a:xfrm>
            <a:off x="1602494" y="6026775"/>
            <a:ext cx="593901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eaLnBrk="1" hangingPunct="1">
              <a:defRPr sz="3200" b="1">
                <a:solidFill>
                  <a:srgbClr val="FF3300"/>
                </a:solidFill>
                <a:latin typeface="黑体" pitchFamily="49" charset="-122"/>
                <a:ea typeface="黑体" pitchFamily="49" charset="-122"/>
              </a:defRPr>
            </a:lvl1pPr>
            <a:lvl2pPr marL="742950" indent="-285750" eaLnBrk="0" hangingPunct="0">
              <a:defRPr sz="4600" b="1">
                <a:solidFill>
                  <a:srgbClr val="FF3300"/>
                </a:solidFill>
                <a:latin typeface="Garamond" pitchFamily="18" charset="0"/>
                <a:ea typeface="宋体" charset="-122"/>
              </a:defRPr>
            </a:lvl2pPr>
            <a:lvl3pPr marL="1143000" indent="-228600" eaLnBrk="0" hangingPunct="0">
              <a:defRPr sz="4600" b="1">
                <a:solidFill>
                  <a:srgbClr val="FF3300"/>
                </a:solidFill>
                <a:latin typeface="Garamond" pitchFamily="18" charset="0"/>
                <a:ea typeface="宋体" charset="-122"/>
              </a:defRPr>
            </a:lvl3pPr>
            <a:lvl4pPr marL="1600200" indent="-228600" eaLnBrk="0" hangingPunct="0">
              <a:defRPr sz="4600" b="1">
                <a:solidFill>
                  <a:srgbClr val="FF3300"/>
                </a:solidFill>
                <a:latin typeface="Garamond" pitchFamily="18" charset="0"/>
                <a:ea typeface="宋体" charset="-122"/>
              </a:defRPr>
            </a:lvl4pPr>
            <a:lvl5pPr marL="2057400" indent="-228600" eaLnBrk="0" hangingPunct="0">
              <a:defRPr sz="4600" b="1">
                <a:solidFill>
                  <a:srgbClr val="FF3300"/>
                </a:solidFill>
                <a:latin typeface="Garamond" pitchFamily="18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600" b="1">
                <a:solidFill>
                  <a:srgbClr val="FF3300"/>
                </a:solidFill>
                <a:latin typeface="Garamond" pitchFamily="18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600" b="1">
                <a:solidFill>
                  <a:srgbClr val="FF3300"/>
                </a:solidFill>
                <a:latin typeface="Garamond" pitchFamily="18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600" b="1">
                <a:solidFill>
                  <a:srgbClr val="FF3300"/>
                </a:solidFill>
                <a:latin typeface="Garamond" pitchFamily="18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600" b="1">
                <a:solidFill>
                  <a:srgbClr val="FF3300"/>
                </a:solidFill>
                <a:latin typeface="Garamond" pitchFamily="18" charset="0"/>
                <a:ea typeface="宋体" charset="-122"/>
              </a:defRPr>
            </a:lvl9pPr>
          </a:lstStyle>
          <a:p>
            <a:r>
              <a:rPr lang="zh-CN" altLang="en-US" sz="2400" dirty="0">
                <a:solidFill>
                  <a:srgbClr val="0432FF"/>
                </a:solidFill>
                <a:latin typeface="+mn-lt"/>
                <a:ea typeface="+mn-ea"/>
              </a:rPr>
              <a:t>不同点 </a:t>
            </a:r>
            <a:r>
              <a:rPr lang="en-US" altLang="zh-CN" sz="2400" dirty="0">
                <a:solidFill>
                  <a:srgbClr val="0432FF"/>
                </a:solidFill>
                <a:latin typeface="+mn-lt"/>
                <a:ea typeface="+mn-ea"/>
              </a:rPr>
              <a:t>&amp; </a:t>
            </a:r>
            <a:r>
              <a:rPr lang="zh-CN" altLang="en-US" sz="2400" dirty="0">
                <a:solidFill>
                  <a:srgbClr val="0432FF"/>
                </a:solidFill>
                <a:latin typeface="+mn-lt"/>
                <a:ea typeface="+mn-ea"/>
              </a:rPr>
              <a:t>相同点</a:t>
            </a:r>
            <a:r>
              <a:rPr lang="en-US" altLang="zh-CN" sz="2400" dirty="0">
                <a:solidFill>
                  <a:srgbClr val="0432FF"/>
                </a:solidFill>
                <a:latin typeface="+mn-lt"/>
                <a:ea typeface="+mn-ea"/>
              </a:rPr>
              <a:t>?</a:t>
            </a:r>
          </a:p>
        </p:txBody>
      </p:sp>
      <p:sp>
        <p:nvSpPr>
          <p:cNvPr id="34" name="Rectangle 13">
            <a:extLst>
              <a:ext uri="{FF2B5EF4-FFF2-40B4-BE49-F238E27FC236}">
                <a16:creationId xmlns:a16="http://schemas.microsoft.com/office/drawing/2014/main" id="{4B4AC980-F647-46B2-08F6-5D9B7DB46F3C}"/>
              </a:ext>
            </a:extLst>
          </p:cNvPr>
          <p:cNvSpPr/>
          <p:nvPr/>
        </p:nvSpPr>
        <p:spPr>
          <a:xfrm>
            <a:off x="604170" y="4488091"/>
            <a:ext cx="1352238" cy="282359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35" name="Rectangle 13">
            <a:extLst>
              <a:ext uri="{FF2B5EF4-FFF2-40B4-BE49-F238E27FC236}">
                <a16:creationId xmlns:a16="http://schemas.microsoft.com/office/drawing/2014/main" id="{3C8E0C9F-AD72-350D-71B2-688F4D47D420}"/>
              </a:ext>
            </a:extLst>
          </p:cNvPr>
          <p:cNvSpPr/>
          <p:nvPr/>
        </p:nvSpPr>
        <p:spPr>
          <a:xfrm>
            <a:off x="773251" y="4205732"/>
            <a:ext cx="1503543" cy="282359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36" name="Rectangle 13">
            <a:extLst>
              <a:ext uri="{FF2B5EF4-FFF2-40B4-BE49-F238E27FC236}">
                <a16:creationId xmlns:a16="http://schemas.microsoft.com/office/drawing/2014/main" id="{456041F7-1B30-FFF3-B2A7-30AB41D4FF5F}"/>
              </a:ext>
            </a:extLst>
          </p:cNvPr>
          <p:cNvSpPr/>
          <p:nvPr/>
        </p:nvSpPr>
        <p:spPr>
          <a:xfrm>
            <a:off x="528517" y="2034068"/>
            <a:ext cx="723413" cy="282359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37" name="Rectangle 13">
            <a:extLst>
              <a:ext uri="{FF2B5EF4-FFF2-40B4-BE49-F238E27FC236}">
                <a16:creationId xmlns:a16="http://schemas.microsoft.com/office/drawing/2014/main" id="{30DD51BA-46AF-B3F5-68E8-CBE1C16BF834}"/>
              </a:ext>
            </a:extLst>
          </p:cNvPr>
          <p:cNvSpPr/>
          <p:nvPr/>
        </p:nvSpPr>
        <p:spPr>
          <a:xfrm>
            <a:off x="1783956" y="3923373"/>
            <a:ext cx="738315" cy="282359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38" name="Rectangle 13">
            <a:extLst>
              <a:ext uri="{FF2B5EF4-FFF2-40B4-BE49-F238E27FC236}">
                <a16:creationId xmlns:a16="http://schemas.microsoft.com/office/drawing/2014/main" id="{BFCDD5EA-5440-33EF-4C99-1D4D404ED9E5}"/>
              </a:ext>
            </a:extLst>
          </p:cNvPr>
          <p:cNvSpPr/>
          <p:nvPr/>
        </p:nvSpPr>
        <p:spPr>
          <a:xfrm>
            <a:off x="1045641" y="5320430"/>
            <a:ext cx="738315" cy="282359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39" name="Rectangle 13">
            <a:extLst>
              <a:ext uri="{FF2B5EF4-FFF2-40B4-BE49-F238E27FC236}">
                <a16:creationId xmlns:a16="http://schemas.microsoft.com/office/drawing/2014/main" id="{96365C1E-AF21-25F6-A93E-6A7176D8E7F2}"/>
              </a:ext>
            </a:extLst>
          </p:cNvPr>
          <p:cNvSpPr/>
          <p:nvPr/>
        </p:nvSpPr>
        <p:spPr>
          <a:xfrm>
            <a:off x="1590220" y="5039736"/>
            <a:ext cx="612932" cy="282359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0" name="Rectangle 13">
            <a:extLst>
              <a:ext uri="{FF2B5EF4-FFF2-40B4-BE49-F238E27FC236}">
                <a16:creationId xmlns:a16="http://schemas.microsoft.com/office/drawing/2014/main" id="{10BDAFAF-F552-BF96-F86E-74B78FE20A31}"/>
              </a:ext>
            </a:extLst>
          </p:cNvPr>
          <p:cNvSpPr/>
          <p:nvPr/>
        </p:nvSpPr>
        <p:spPr>
          <a:xfrm>
            <a:off x="2540682" y="2568041"/>
            <a:ext cx="681199" cy="282359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1" name="Rectangle 13">
            <a:extLst>
              <a:ext uri="{FF2B5EF4-FFF2-40B4-BE49-F238E27FC236}">
                <a16:creationId xmlns:a16="http://schemas.microsoft.com/office/drawing/2014/main" id="{B98F8976-5EC6-EA5B-D0FA-CF6004988C8E}"/>
              </a:ext>
            </a:extLst>
          </p:cNvPr>
          <p:cNvSpPr/>
          <p:nvPr/>
        </p:nvSpPr>
        <p:spPr>
          <a:xfrm>
            <a:off x="2160194" y="2848735"/>
            <a:ext cx="681198" cy="282359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2" name="Rectangle 13">
            <a:extLst>
              <a:ext uri="{FF2B5EF4-FFF2-40B4-BE49-F238E27FC236}">
                <a16:creationId xmlns:a16="http://schemas.microsoft.com/office/drawing/2014/main" id="{5881898F-6BA6-1621-990F-C1492F8E5112}"/>
              </a:ext>
            </a:extLst>
          </p:cNvPr>
          <p:cNvSpPr/>
          <p:nvPr/>
        </p:nvSpPr>
        <p:spPr>
          <a:xfrm>
            <a:off x="6426108" y="2573358"/>
            <a:ext cx="913640" cy="282359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3" name="TextBox 13">
            <a:extLst>
              <a:ext uri="{FF2B5EF4-FFF2-40B4-BE49-F238E27FC236}">
                <a16:creationId xmlns:a16="http://schemas.microsoft.com/office/drawing/2014/main" id="{485E03C0-E86B-4AD4-B805-765A496B0F67}"/>
              </a:ext>
            </a:extLst>
          </p:cNvPr>
          <p:cNvSpPr txBox="1"/>
          <p:nvPr/>
        </p:nvSpPr>
        <p:spPr>
          <a:xfrm>
            <a:off x="3752358" y="2748519"/>
            <a:ext cx="11272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 dirty="0">
                <a:solidFill>
                  <a:srgbClr val="C00000"/>
                </a:solidFill>
                <a:latin typeface="+mn-lt"/>
                <a:ea typeface="+mn-ea"/>
              </a:rPr>
              <a:t>算术操作</a:t>
            </a:r>
            <a:endParaRPr lang="en-US" altLang="zh-CN" sz="1800" dirty="0">
              <a:solidFill>
                <a:srgbClr val="C00000"/>
              </a:solidFill>
              <a:latin typeface="+mn-lt"/>
              <a:ea typeface="+mn-ea"/>
            </a:endParaRPr>
          </a:p>
          <a:p>
            <a:r>
              <a:rPr lang="zh-CN" altLang="en-US" sz="1800" dirty="0">
                <a:solidFill>
                  <a:srgbClr val="C00000"/>
                </a:solidFill>
                <a:latin typeface="+mn-lt"/>
                <a:ea typeface="+mn-ea"/>
              </a:rPr>
              <a:t>逻辑操作</a:t>
            </a:r>
          </a:p>
        </p:txBody>
      </p:sp>
      <p:sp>
        <p:nvSpPr>
          <p:cNvPr id="44" name="TextBox 13">
            <a:extLst>
              <a:ext uri="{FF2B5EF4-FFF2-40B4-BE49-F238E27FC236}">
                <a16:creationId xmlns:a16="http://schemas.microsoft.com/office/drawing/2014/main" id="{140AFF0E-281B-7372-BB19-5152D0729F28}"/>
              </a:ext>
            </a:extLst>
          </p:cNvPr>
          <p:cNvSpPr txBox="1"/>
          <p:nvPr/>
        </p:nvSpPr>
        <p:spPr>
          <a:xfrm>
            <a:off x="3186903" y="1400324"/>
            <a:ext cx="23054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 dirty="0">
                <a:solidFill>
                  <a:srgbClr val="C0504D">
                    <a:lumMod val="75000"/>
                  </a:srgbClr>
                </a:solidFill>
                <a:latin typeface="+mn-lt"/>
                <a:ea typeface="+mn-ea"/>
              </a:rPr>
              <a:t>顺序执行，除非跳转</a:t>
            </a:r>
          </a:p>
        </p:txBody>
      </p:sp>
      <p:sp>
        <p:nvSpPr>
          <p:cNvPr id="45" name="TextBox 36">
            <a:extLst>
              <a:ext uri="{FF2B5EF4-FFF2-40B4-BE49-F238E27FC236}">
                <a16:creationId xmlns:a16="http://schemas.microsoft.com/office/drawing/2014/main" id="{5DF5216A-F841-96D3-8E60-AEAB0B1302BD}"/>
              </a:ext>
            </a:extLst>
          </p:cNvPr>
          <p:cNvSpPr txBox="1"/>
          <p:nvPr/>
        </p:nvSpPr>
        <p:spPr>
          <a:xfrm>
            <a:off x="4011923" y="2395557"/>
            <a:ext cx="6559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 dirty="0">
                <a:solidFill>
                  <a:srgbClr val="4F81BD">
                    <a:lumMod val="75000"/>
                  </a:srgbClr>
                </a:solidFill>
                <a:latin typeface="+mn-lt"/>
                <a:ea typeface="+mn-ea"/>
              </a:rPr>
              <a:t>赋值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一些软件算法实例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30AE384-61B7-D616-D9F2-EA6F41767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t>10</a:t>
            </a:fld>
            <a:endParaRPr lang="en-US" altLang="zh-CN"/>
          </a:p>
        </p:txBody>
      </p:sp>
      <p:sp>
        <p:nvSpPr>
          <p:cNvPr id="34" name="Rectangle 2">
            <a:extLst>
              <a:ext uri="{FF2B5EF4-FFF2-40B4-BE49-F238E27FC236}">
                <a16:creationId xmlns:a16="http://schemas.microsoft.com/office/drawing/2014/main" id="{833F0C24-877F-24DA-B1ED-00A2C2358EB4}"/>
              </a:ext>
            </a:extLst>
          </p:cNvPr>
          <p:cNvSpPr/>
          <p:nvPr/>
        </p:nvSpPr>
        <p:spPr>
          <a:xfrm>
            <a:off x="148311" y="3933080"/>
            <a:ext cx="2466713" cy="585216"/>
          </a:xfrm>
          <a:prstGeom prst="rect">
            <a:avLst/>
          </a:prstGeom>
          <a:noFill/>
          <a:ln w="19050" cap="flat" cmpd="sng" algn="ctr">
            <a:solidFill>
              <a:srgbClr val="9BBB59">
                <a:lumMod val="50000"/>
              </a:srgbClr>
            </a:solidFill>
            <a:prstDash val="solid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35" name="Rectangle 11">
            <a:extLst>
              <a:ext uri="{FF2B5EF4-FFF2-40B4-BE49-F238E27FC236}">
                <a16:creationId xmlns:a16="http://schemas.microsoft.com/office/drawing/2014/main" id="{48DDF7DB-351E-A14D-D9AF-D3FB82EBF579}"/>
              </a:ext>
            </a:extLst>
          </p:cNvPr>
          <p:cNvSpPr/>
          <p:nvPr/>
        </p:nvSpPr>
        <p:spPr>
          <a:xfrm>
            <a:off x="5644209" y="2567423"/>
            <a:ext cx="1736549" cy="286665"/>
          </a:xfrm>
          <a:prstGeom prst="rect">
            <a:avLst/>
          </a:prstGeom>
          <a:noFill/>
          <a:ln w="19050" cap="flat" cmpd="sng" algn="ctr">
            <a:solidFill>
              <a:srgbClr val="9BBB59">
                <a:lumMod val="50000"/>
              </a:srgbClr>
            </a:solidFill>
            <a:prstDash val="solid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36" name="Rectangle 12">
            <a:extLst>
              <a:ext uri="{FF2B5EF4-FFF2-40B4-BE49-F238E27FC236}">
                <a16:creationId xmlns:a16="http://schemas.microsoft.com/office/drawing/2014/main" id="{7E0CD005-8DD4-9D23-CAFA-3B7F6CB9E14B}"/>
              </a:ext>
            </a:extLst>
          </p:cNvPr>
          <p:cNvSpPr/>
          <p:nvPr/>
        </p:nvSpPr>
        <p:spPr>
          <a:xfrm>
            <a:off x="5890168" y="3384061"/>
            <a:ext cx="2866680" cy="286665"/>
          </a:xfrm>
          <a:prstGeom prst="rect">
            <a:avLst/>
          </a:prstGeom>
          <a:noFill/>
          <a:ln w="19050" cap="flat" cmpd="sng" algn="ctr">
            <a:solidFill>
              <a:srgbClr val="9BBB59">
                <a:lumMod val="50000"/>
              </a:srgbClr>
            </a:solidFill>
            <a:prstDash val="solid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37" name="Rectangle 13">
            <a:extLst>
              <a:ext uri="{FF2B5EF4-FFF2-40B4-BE49-F238E27FC236}">
                <a16:creationId xmlns:a16="http://schemas.microsoft.com/office/drawing/2014/main" id="{B839C290-841A-4850-1251-257F9F785B7A}"/>
              </a:ext>
            </a:extLst>
          </p:cNvPr>
          <p:cNvSpPr/>
          <p:nvPr/>
        </p:nvSpPr>
        <p:spPr>
          <a:xfrm>
            <a:off x="5620960" y="4485758"/>
            <a:ext cx="2866680" cy="286665"/>
          </a:xfrm>
          <a:prstGeom prst="rect">
            <a:avLst/>
          </a:prstGeom>
          <a:noFill/>
          <a:ln w="19050" cap="flat" cmpd="sng" algn="ctr">
            <a:solidFill>
              <a:srgbClr val="9BBB59">
                <a:lumMod val="50000"/>
              </a:srgbClr>
            </a:solidFill>
            <a:prstDash val="solid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0" name="TextBox 17">
            <a:extLst>
              <a:ext uri="{FF2B5EF4-FFF2-40B4-BE49-F238E27FC236}">
                <a16:creationId xmlns:a16="http://schemas.microsoft.com/office/drawing/2014/main" id="{9F881708-C897-87FD-03E4-1C007E5256D2}"/>
              </a:ext>
            </a:extLst>
          </p:cNvPr>
          <p:cNvSpPr txBox="1"/>
          <p:nvPr/>
        </p:nvSpPr>
        <p:spPr>
          <a:xfrm>
            <a:off x="1602494" y="6026775"/>
            <a:ext cx="593901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eaLnBrk="1" hangingPunct="1">
              <a:defRPr sz="3200" b="1">
                <a:solidFill>
                  <a:srgbClr val="FF3300"/>
                </a:solidFill>
                <a:latin typeface="黑体" pitchFamily="49" charset="-122"/>
                <a:ea typeface="黑体" pitchFamily="49" charset="-122"/>
              </a:defRPr>
            </a:lvl1pPr>
            <a:lvl2pPr marL="742950" indent="-285750" eaLnBrk="0" hangingPunct="0">
              <a:defRPr sz="4600" b="1">
                <a:solidFill>
                  <a:srgbClr val="FF3300"/>
                </a:solidFill>
                <a:latin typeface="Garamond" pitchFamily="18" charset="0"/>
                <a:ea typeface="宋体" charset="-122"/>
              </a:defRPr>
            </a:lvl2pPr>
            <a:lvl3pPr marL="1143000" indent="-228600" eaLnBrk="0" hangingPunct="0">
              <a:defRPr sz="4600" b="1">
                <a:solidFill>
                  <a:srgbClr val="FF3300"/>
                </a:solidFill>
                <a:latin typeface="Garamond" pitchFamily="18" charset="0"/>
                <a:ea typeface="宋体" charset="-122"/>
              </a:defRPr>
            </a:lvl3pPr>
            <a:lvl4pPr marL="1600200" indent="-228600" eaLnBrk="0" hangingPunct="0">
              <a:defRPr sz="4600" b="1">
                <a:solidFill>
                  <a:srgbClr val="FF3300"/>
                </a:solidFill>
                <a:latin typeface="Garamond" pitchFamily="18" charset="0"/>
                <a:ea typeface="宋体" charset="-122"/>
              </a:defRPr>
            </a:lvl4pPr>
            <a:lvl5pPr marL="2057400" indent="-228600" eaLnBrk="0" hangingPunct="0">
              <a:defRPr sz="4600" b="1">
                <a:solidFill>
                  <a:srgbClr val="FF3300"/>
                </a:solidFill>
                <a:latin typeface="Garamond" pitchFamily="18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600" b="1">
                <a:solidFill>
                  <a:srgbClr val="FF3300"/>
                </a:solidFill>
                <a:latin typeface="Garamond" pitchFamily="18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600" b="1">
                <a:solidFill>
                  <a:srgbClr val="FF3300"/>
                </a:solidFill>
                <a:latin typeface="Garamond" pitchFamily="18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600" b="1">
                <a:solidFill>
                  <a:srgbClr val="FF3300"/>
                </a:solidFill>
                <a:latin typeface="Garamond" pitchFamily="18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600" b="1">
                <a:solidFill>
                  <a:srgbClr val="FF3300"/>
                </a:solidFill>
                <a:latin typeface="Garamond" pitchFamily="18" charset="0"/>
                <a:ea typeface="宋体" charset="-122"/>
              </a:defRPr>
            </a:lvl9pPr>
          </a:lstStyle>
          <a:p>
            <a:r>
              <a:rPr lang="zh-CN" altLang="en-US" sz="2400" dirty="0">
                <a:solidFill>
                  <a:srgbClr val="0432FF"/>
                </a:solidFill>
                <a:latin typeface="+mn-lt"/>
                <a:ea typeface="+mn-ea"/>
              </a:rPr>
              <a:t>不同点 </a:t>
            </a:r>
            <a:r>
              <a:rPr lang="en-US" altLang="zh-CN" sz="2400" dirty="0">
                <a:solidFill>
                  <a:srgbClr val="0432FF"/>
                </a:solidFill>
                <a:latin typeface="+mn-lt"/>
                <a:ea typeface="+mn-ea"/>
              </a:rPr>
              <a:t>&amp; </a:t>
            </a:r>
            <a:r>
              <a:rPr lang="zh-CN" altLang="en-US" sz="2400" dirty="0">
                <a:solidFill>
                  <a:srgbClr val="0432FF"/>
                </a:solidFill>
                <a:latin typeface="+mn-lt"/>
                <a:ea typeface="+mn-ea"/>
              </a:rPr>
              <a:t>相同点</a:t>
            </a:r>
            <a:r>
              <a:rPr lang="en-US" altLang="zh-CN" sz="2400" dirty="0">
                <a:solidFill>
                  <a:srgbClr val="0432FF"/>
                </a:solidFill>
                <a:latin typeface="+mn-lt"/>
                <a:ea typeface="+mn-ea"/>
              </a:rPr>
              <a:t>?</a:t>
            </a:r>
          </a:p>
        </p:txBody>
      </p:sp>
      <p:sp>
        <p:nvSpPr>
          <p:cNvPr id="41" name="Rectangle 16">
            <a:extLst>
              <a:ext uri="{FF2B5EF4-FFF2-40B4-BE49-F238E27FC236}">
                <a16:creationId xmlns:a16="http://schemas.microsoft.com/office/drawing/2014/main" id="{D51AC614-2A52-2672-63F7-00B928C9F715}"/>
              </a:ext>
            </a:extLst>
          </p:cNvPr>
          <p:cNvSpPr/>
          <p:nvPr/>
        </p:nvSpPr>
        <p:spPr>
          <a:xfrm>
            <a:off x="114527" y="2015122"/>
            <a:ext cx="1229642" cy="301305"/>
          </a:xfrm>
          <a:prstGeom prst="rect">
            <a:avLst/>
          </a:prstGeom>
          <a:noFill/>
          <a:ln w="19050" cap="flat" cmpd="sng" algn="ctr">
            <a:solidFill>
              <a:srgbClr val="9BBB59">
                <a:lumMod val="50000"/>
              </a:srgbClr>
            </a:solidFill>
            <a:prstDash val="solid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2" name="TextBox 16">
            <a:extLst>
              <a:ext uri="{FF2B5EF4-FFF2-40B4-BE49-F238E27FC236}">
                <a16:creationId xmlns:a16="http://schemas.microsoft.com/office/drawing/2014/main" id="{C004C86C-91F5-3123-32C3-C0EF6E01C973}"/>
              </a:ext>
            </a:extLst>
          </p:cNvPr>
          <p:cNvSpPr txBox="1"/>
          <p:nvPr/>
        </p:nvSpPr>
        <p:spPr>
          <a:xfrm>
            <a:off x="3752357" y="3361798"/>
            <a:ext cx="11272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 dirty="0">
                <a:solidFill>
                  <a:srgbClr val="9BBB59">
                    <a:lumMod val="50000"/>
                  </a:srgbClr>
                </a:solidFill>
                <a:latin typeface="+mn-lt"/>
                <a:ea typeface="+mn-ea"/>
              </a:rPr>
              <a:t>分支跳转</a:t>
            </a:r>
          </a:p>
        </p:txBody>
      </p:sp>
      <p:sp>
        <p:nvSpPr>
          <p:cNvPr id="43" name="TextBox 13">
            <a:extLst>
              <a:ext uri="{FF2B5EF4-FFF2-40B4-BE49-F238E27FC236}">
                <a16:creationId xmlns:a16="http://schemas.microsoft.com/office/drawing/2014/main" id="{14A6C89E-5AAB-2618-E53D-2661EF5B78C0}"/>
              </a:ext>
            </a:extLst>
          </p:cNvPr>
          <p:cNvSpPr txBox="1"/>
          <p:nvPr/>
        </p:nvSpPr>
        <p:spPr>
          <a:xfrm>
            <a:off x="3752358" y="2748519"/>
            <a:ext cx="11272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 dirty="0">
                <a:solidFill>
                  <a:srgbClr val="C00000"/>
                </a:solidFill>
                <a:latin typeface="+mn-lt"/>
                <a:ea typeface="+mn-ea"/>
              </a:rPr>
              <a:t>算术操作</a:t>
            </a:r>
            <a:endParaRPr lang="en-US" altLang="zh-CN" sz="1800" dirty="0">
              <a:solidFill>
                <a:srgbClr val="C00000"/>
              </a:solidFill>
              <a:latin typeface="+mn-lt"/>
              <a:ea typeface="+mn-ea"/>
            </a:endParaRPr>
          </a:p>
          <a:p>
            <a:r>
              <a:rPr lang="zh-CN" altLang="en-US" sz="1800" dirty="0">
                <a:solidFill>
                  <a:srgbClr val="C00000"/>
                </a:solidFill>
                <a:latin typeface="+mn-lt"/>
                <a:ea typeface="+mn-ea"/>
              </a:rPr>
              <a:t>逻辑操作</a:t>
            </a:r>
          </a:p>
        </p:txBody>
      </p:sp>
      <p:sp>
        <p:nvSpPr>
          <p:cNvPr id="44" name="TextBox 13">
            <a:extLst>
              <a:ext uri="{FF2B5EF4-FFF2-40B4-BE49-F238E27FC236}">
                <a16:creationId xmlns:a16="http://schemas.microsoft.com/office/drawing/2014/main" id="{E8351267-B8B5-9B79-231B-416B4B50F32C}"/>
              </a:ext>
            </a:extLst>
          </p:cNvPr>
          <p:cNvSpPr txBox="1"/>
          <p:nvPr/>
        </p:nvSpPr>
        <p:spPr>
          <a:xfrm>
            <a:off x="3186903" y="1400324"/>
            <a:ext cx="23054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 dirty="0">
                <a:solidFill>
                  <a:srgbClr val="C0504D">
                    <a:lumMod val="75000"/>
                  </a:srgbClr>
                </a:solidFill>
                <a:latin typeface="+mn-lt"/>
                <a:ea typeface="+mn-ea"/>
              </a:rPr>
              <a:t>顺序执行，除非跳转</a:t>
            </a:r>
          </a:p>
        </p:txBody>
      </p:sp>
      <p:sp>
        <p:nvSpPr>
          <p:cNvPr id="45" name="TextBox 36">
            <a:extLst>
              <a:ext uri="{FF2B5EF4-FFF2-40B4-BE49-F238E27FC236}">
                <a16:creationId xmlns:a16="http://schemas.microsoft.com/office/drawing/2014/main" id="{1F47D10F-36D7-8AE2-B374-3D99A3B95AAA}"/>
              </a:ext>
            </a:extLst>
          </p:cNvPr>
          <p:cNvSpPr txBox="1"/>
          <p:nvPr/>
        </p:nvSpPr>
        <p:spPr>
          <a:xfrm>
            <a:off x="4011923" y="2395557"/>
            <a:ext cx="6559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 dirty="0">
                <a:solidFill>
                  <a:srgbClr val="4F81BD">
                    <a:lumMod val="75000"/>
                  </a:srgbClr>
                </a:solidFill>
                <a:latin typeface="+mn-lt"/>
                <a:ea typeface="+mn-ea"/>
              </a:rPr>
              <a:t>赋值</a:t>
            </a:r>
          </a:p>
        </p:txBody>
      </p:sp>
      <p:sp>
        <p:nvSpPr>
          <p:cNvPr id="3" name="TextBox 10">
            <a:extLst>
              <a:ext uri="{FF2B5EF4-FFF2-40B4-BE49-F238E27FC236}">
                <a16:creationId xmlns:a16="http://schemas.microsoft.com/office/drawing/2014/main" id="{D25D8722-A5F3-212A-7D5D-B8BB4242E280}"/>
              </a:ext>
            </a:extLst>
          </p:cNvPr>
          <p:cNvSpPr txBox="1"/>
          <p:nvPr/>
        </p:nvSpPr>
        <p:spPr>
          <a:xfrm>
            <a:off x="5627420" y="1688288"/>
            <a:ext cx="351658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eaLnBrk="0" hangingPunct="0"/>
            <a:r>
              <a:rPr lang="en-US" altLang="zh-CN" sz="1800" i="1" dirty="0">
                <a:solidFill>
                  <a:srgbClr val="000000"/>
                </a:solidFill>
                <a:highlight>
                  <a:srgbClr val="C0C0C0"/>
                </a:highlight>
                <a:latin typeface="Consolas" panose="020B0609020204030204" pitchFamily="49" charset="0"/>
              </a:rPr>
              <a:t>DIJKSTRA(G, w, s)</a:t>
            </a:r>
          </a:p>
          <a:p>
            <a:pPr algn="l" eaLnBrk="0" hangingPunct="0"/>
            <a:r>
              <a:rPr lang="en-US" altLang="zh-CN" sz="1800" b="0" i="1" dirty="0">
                <a:solidFill>
                  <a:srgbClr val="4F81BD">
                    <a:lumMod val="75000"/>
                  </a:srgbClr>
                </a:solidFill>
                <a:latin typeface="Consolas" panose="020B0609020204030204" pitchFamily="49" charset="0"/>
              </a:rPr>
              <a:t>S = ∅</a:t>
            </a:r>
          </a:p>
          <a:p>
            <a:pPr algn="l" eaLnBrk="0" hangingPunct="0"/>
            <a:r>
              <a:rPr lang="en-US" altLang="zh-CN" sz="1800" b="0" i="1" dirty="0">
                <a:solidFill>
                  <a:srgbClr val="4F81BD">
                    <a:lumMod val="75000"/>
                  </a:srgbClr>
                </a:solidFill>
                <a:latin typeface="Consolas" panose="020B0609020204030204" pitchFamily="49" charset="0"/>
              </a:rPr>
              <a:t>Q = G.V</a:t>
            </a:r>
          </a:p>
          <a:p>
            <a:pPr algn="l" eaLnBrk="0" hangingPunct="0"/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while </a:t>
            </a:r>
            <a:r>
              <a:rPr lang="en-US" altLang="zh-CN" sz="1800" b="0" i="1" dirty="0">
                <a:solidFill>
                  <a:srgbClr val="C00000"/>
                </a:solidFill>
                <a:latin typeface="Consolas" panose="020B0609020204030204" pitchFamily="49" charset="0"/>
              </a:rPr>
              <a:t>Q != ∅</a:t>
            </a:r>
          </a:p>
          <a:p>
            <a:pPr algn="l" eaLnBrk="0" hangingPunct="0"/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altLang="zh-CN" sz="1800" b="0" i="1" dirty="0">
                <a:solidFill>
                  <a:srgbClr val="4F81BD">
                    <a:lumMod val="75000"/>
                  </a:srgbClr>
                </a:solidFill>
                <a:latin typeface="Consolas" panose="020B0609020204030204" pitchFamily="49" charset="0"/>
              </a:rPr>
              <a:t>u = EXTRACT-MIN(Q) </a:t>
            </a:r>
          </a:p>
          <a:p>
            <a:pPr algn="l" eaLnBrk="0" hangingPunct="0"/>
            <a:r>
              <a:rPr lang="en-US" altLang="zh-CN" sz="1800" b="0" i="1" dirty="0">
                <a:solidFill>
                  <a:srgbClr val="4F81BD">
                    <a:lumMod val="75000"/>
                  </a:srgbClr>
                </a:solidFill>
                <a:latin typeface="Consolas" panose="020B0609020204030204" pitchFamily="49" charset="0"/>
              </a:rPr>
              <a:t>  S = S ∪ {u};</a:t>
            </a:r>
          </a:p>
          <a:p>
            <a:pPr algn="l" eaLnBrk="0" hangingPunct="0"/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  for each v ∈ </a:t>
            </a:r>
            <a:r>
              <a:rPr lang="en-US" altLang="zh-CN" sz="1800" b="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Q.Adj</a:t>
            </a:r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(u)</a:t>
            </a:r>
          </a:p>
          <a:p>
            <a:pPr algn="l" eaLnBrk="0" hangingPunct="0"/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    RELAX(u, v, w)		</a:t>
            </a:r>
          </a:p>
          <a:p>
            <a:pPr algn="l" eaLnBrk="0" hangingPunct="0"/>
            <a:r>
              <a:rPr lang="en-US" altLang="zh-CN" sz="1800" i="1" dirty="0">
                <a:solidFill>
                  <a:srgbClr val="000000"/>
                </a:solidFill>
                <a:highlight>
                  <a:srgbClr val="C0C0C0"/>
                </a:highlight>
                <a:latin typeface="Consolas" panose="020B0609020204030204" pitchFamily="49" charset="0"/>
              </a:rPr>
              <a:t>RELAX(</a:t>
            </a:r>
            <a:r>
              <a:rPr lang="en-US" altLang="zh-CN" sz="1800" i="1" dirty="0" err="1">
                <a:solidFill>
                  <a:srgbClr val="000000"/>
                </a:solidFill>
                <a:highlight>
                  <a:srgbClr val="C0C0C0"/>
                </a:highlight>
                <a:latin typeface="Consolas" panose="020B0609020204030204" pitchFamily="49" charset="0"/>
              </a:rPr>
              <a:t>u,v,w</a:t>
            </a:r>
            <a:r>
              <a:rPr lang="en-US" altLang="zh-CN" sz="1800" i="1" dirty="0">
                <a:solidFill>
                  <a:srgbClr val="000000"/>
                </a:solidFill>
                <a:highlight>
                  <a:srgbClr val="C0C0C0"/>
                </a:highlight>
                <a:latin typeface="Consolas" panose="020B0609020204030204" pitchFamily="49" charset="0"/>
              </a:rPr>
              <a:t>)</a:t>
            </a:r>
          </a:p>
          <a:p>
            <a:pPr algn="l" eaLnBrk="0" hangingPunct="0"/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if </a:t>
            </a:r>
            <a:r>
              <a:rPr lang="en-US" altLang="zh-CN" sz="1800" b="0" i="1" dirty="0" err="1">
                <a:solidFill>
                  <a:srgbClr val="C00000"/>
                </a:solidFill>
                <a:latin typeface="Consolas" panose="020B0609020204030204" pitchFamily="49" charset="0"/>
              </a:rPr>
              <a:t>v.d</a:t>
            </a:r>
            <a:r>
              <a:rPr lang="en-US" altLang="zh-CN" sz="1800" b="0" i="1" dirty="0">
                <a:solidFill>
                  <a:srgbClr val="C00000"/>
                </a:solidFill>
                <a:latin typeface="Consolas" panose="020B0609020204030204" pitchFamily="49" charset="0"/>
              </a:rPr>
              <a:t> &gt; </a:t>
            </a:r>
            <a:r>
              <a:rPr lang="en-US" altLang="zh-CN" sz="1800" b="0" i="1" dirty="0" err="1">
                <a:solidFill>
                  <a:srgbClr val="C00000"/>
                </a:solidFill>
                <a:latin typeface="Consolas" panose="020B0609020204030204" pitchFamily="49" charset="0"/>
              </a:rPr>
              <a:t>u.d</a:t>
            </a:r>
            <a:r>
              <a:rPr lang="en-US" altLang="zh-CN" sz="1800" b="0" i="1" dirty="0">
                <a:solidFill>
                  <a:srgbClr val="C00000"/>
                </a:solidFill>
                <a:latin typeface="Consolas" panose="020B0609020204030204" pitchFamily="49" charset="0"/>
              </a:rPr>
              <a:t> + w(</a:t>
            </a:r>
            <a:r>
              <a:rPr lang="en-US" altLang="zh-CN" sz="1800" b="0" i="1" dirty="0" err="1">
                <a:solidFill>
                  <a:srgbClr val="C00000"/>
                </a:solidFill>
                <a:latin typeface="Consolas" panose="020B0609020204030204" pitchFamily="49" charset="0"/>
              </a:rPr>
              <a:t>u,v</a:t>
            </a:r>
            <a:r>
              <a:rPr lang="en-US" altLang="zh-CN" sz="1800" b="0" i="1" dirty="0">
                <a:solidFill>
                  <a:srgbClr val="C00000"/>
                </a:solidFill>
                <a:latin typeface="Consolas" panose="020B0609020204030204" pitchFamily="49" charset="0"/>
              </a:rPr>
              <a:t>)</a:t>
            </a:r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</a:p>
          <a:p>
            <a:pPr algn="l" eaLnBrk="0" hangingPunct="0"/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altLang="zh-CN" sz="1800" b="0" i="1" dirty="0" err="1">
                <a:solidFill>
                  <a:srgbClr val="C00000"/>
                </a:solidFill>
                <a:latin typeface="Consolas" panose="020B0609020204030204" pitchFamily="49" charset="0"/>
              </a:rPr>
              <a:t>v.d</a:t>
            </a:r>
            <a:r>
              <a:rPr lang="en-US" altLang="zh-CN" sz="1800" b="0" i="1" dirty="0">
                <a:solidFill>
                  <a:srgbClr val="C00000"/>
                </a:solidFill>
                <a:latin typeface="Consolas" panose="020B0609020204030204" pitchFamily="49" charset="0"/>
              </a:rPr>
              <a:t> = </a:t>
            </a:r>
            <a:r>
              <a:rPr lang="en-US" altLang="zh-CN" sz="1800" b="0" i="1" dirty="0" err="1">
                <a:solidFill>
                  <a:srgbClr val="C00000"/>
                </a:solidFill>
                <a:latin typeface="Consolas" panose="020B0609020204030204" pitchFamily="49" charset="0"/>
              </a:rPr>
              <a:t>u.d</a:t>
            </a:r>
            <a:r>
              <a:rPr lang="en-US" altLang="zh-CN" sz="1800" b="0" i="1" dirty="0">
                <a:solidFill>
                  <a:srgbClr val="C00000"/>
                </a:solidFill>
                <a:latin typeface="Consolas" panose="020B0609020204030204" pitchFamily="49" charset="0"/>
              </a:rPr>
              <a:t> + w(</a:t>
            </a:r>
            <a:r>
              <a:rPr lang="en-US" altLang="zh-CN" sz="1800" b="0" i="1" dirty="0" err="1">
                <a:solidFill>
                  <a:srgbClr val="C00000"/>
                </a:solidFill>
                <a:latin typeface="Consolas" panose="020B0609020204030204" pitchFamily="49" charset="0"/>
              </a:rPr>
              <a:t>u,v</a:t>
            </a:r>
            <a:r>
              <a:rPr lang="en-US" altLang="zh-CN" sz="1800" b="0" i="1" dirty="0">
                <a:solidFill>
                  <a:srgbClr val="C00000"/>
                </a:solidFill>
                <a:latin typeface="Consolas" panose="020B0609020204030204" pitchFamily="49" charset="0"/>
              </a:rPr>
              <a:t>)</a:t>
            </a:r>
          </a:p>
          <a:p>
            <a:pPr algn="l" eaLnBrk="0" hangingPunct="0"/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altLang="zh-CN" sz="1800" b="0" i="1" dirty="0">
                <a:solidFill>
                  <a:srgbClr val="4F81BD">
                    <a:lumMod val="75000"/>
                  </a:srgbClr>
                </a:solidFill>
                <a:latin typeface="Consolas" panose="020B0609020204030204" pitchFamily="49" charset="0"/>
              </a:rPr>
              <a:t>v.</a:t>
            </a:r>
            <a:r>
              <a:rPr lang="el-GR" altLang="zh-CN" sz="1800" b="0" i="1" dirty="0">
                <a:solidFill>
                  <a:srgbClr val="4F81BD">
                    <a:lumMod val="75000"/>
                  </a:srgbClr>
                </a:solidFill>
                <a:latin typeface="Consolas" panose="020B0609020204030204" pitchFamily="49" charset="0"/>
              </a:rPr>
              <a:t>π = </a:t>
            </a:r>
            <a:r>
              <a:rPr lang="en-US" altLang="zh-CN" sz="1800" b="0" i="1" dirty="0">
                <a:solidFill>
                  <a:srgbClr val="4F81BD">
                    <a:lumMod val="75000"/>
                  </a:srgbClr>
                </a:solidFill>
                <a:latin typeface="Consolas" panose="020B0609020204030204" pitchFamily="49" charset="0"/>
              </a:rPr>
              <a:t>u</a:t>
            </a:r>
          </a:p>
        </p:txBody>
      </p:sp>
      <p:sp>
        <p:nvSpPr>
          <p:cNvPr id="4" name="TextBox 17">
            <a:extLst>
              <a:ext uri="{FF2B5EF4-FFF2-40B4-BE49-F238E27FC236}">
                <a16:creationId xmlns:a16="http://schemas.microsoft.com/office/drawing/2014/main" id="{81C9F1E7-0847-6976-AD53-53E5C2BFAF93}"/>
              </a:ext>
            </a:extLst>
          </p:cNvPr>
          <p:cNvSpPr txBox="1"/>
          <p:nvPr/>
        </p:nvSpPr>
        <p:spPr>
          <a:xfrm>
            <a:off x="114526" y="1691510"/>
            <a:ext cx="493342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eaLnBrk="0" hangingPunct="0"/>
            <a:r>
              <a:rPr lang="en-US" altLang="zh-CN" sz="1800" i="1" dirty="0">
                <a:solidFill>
                  <a:srgbClr val="000000"/>
                </a:solidFill>
                <a:highlight>
                  <a:srgbClr val="C0C0C0"/>
                </a:highlight>
                <a:latin typeface="Consolas" panose="020B0609020204030204" pitchFamily="49" charset="0"/>
              </a:rPr>
              <a:t>QUICK_SORT(A, p, r)</a:t>
            </a:r>
          </a:p>
          <a:p>
            <a:pPr algn="l" eaLnBrk="0" hangingPunct="0"/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if </a:t>
            </a:r>
            <a:r>
              <a:rPr lang="en-US" altLang="zh-CN" sz="1800" b="0" i="1" dirty="0">
                <a:solidFill>
                  <a:srgbClr val="C00000"/>
                </a:solidFill>
                <a:latin typeface="Consolas" panose="020B0609020204030204" pitchFamily="49" charset="0"/>
              </a:rPr>
              <a:t>p &lt; r        </a:t>
            </a:r>
          </a:p>
          <a:p>
            <a:pPr algn="l" eaLnBrk="0" hangingPunct="0"/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altLang="zh-CN" sz="1800" b="0" i="1" dirty="0">
                <a:solidFill>
                  <a:srgbClr val="4F81BD">
                    <a:lumMod val="75000"/>
                  </a:srgbClr>
                </a:solidFill>
                <a:latin typeface="Consolas" panose="020B0609020204030204" pitchFamily="49" charset="0"/>
              </a:rPr>
              <a:t>q = PARTITION(A, p, r)</a:t>
            </a:r>
          </a:p>
          <a:p>
            <a:pPr algn="l" eaLnBrk="0" hangingPunct="0"/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  QUICK_SORT(A, p, </a:t>
            </a:r>
            <a:r>
              <a:rPr lang="en-US" altLang="zh-CN" sz="1800" b="0" i="1" dirty="0">
                <a:solidFill>
                  <a:srgbClr val="C00000"/>
                </a:solidFill>
                <a:latin typeface="Consolas" panose="020B0609020204030204" pitchFamily="49" charset="0"/>
              </a:rPr>
              <a:t>q - 1</a:t>
            </a:r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algn="l" eaLnBrk="0" hangingPunct="0"/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  QUICK_SORT(A, </a:t>
            </a:r>
            <a:r>
              <a:rPr lang="en-US" altLang="zh-CN" sz="1800" b="0" i="1" dirty="0">
                <a:solidFill>
                  <a:srgbClr val="C00000"/>
                </a:solidFill>
                <a:latin typeface="Consolas" panose="020B0609020204030204" pitchFamily="49" charset="0"/>
              </a:rPr>
              <a:t>q + 1</a:t>
            </a:r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, r)</a:t>
            </a:r>
          </a:p>
          <a:p>
            <a:pPr algn="l" eaLnBrk="0" hangingPunct="0"/>
            <a:endParaRPr lang="en-US" altLang="zh-CN" sz="1800" i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l" eaLnBrk="0" hangingPunct="0"/>
            <a:r>
              <a:rPr lang="en-US" altLang="zh-CN" sz="1800" i="1" dirty="0">
                <a:solidFill>
                  <a:srgbClr val="000000"/>
                </a:solidFill>
                <a:highlight>
                  <a:srgbClr val="C0C0C0"/>
                </a:highlight>
                <a:latin typeface="Consolas" panose="020B0609020204030204" pitchFamily="49" charset="0"/>
              </a:rPr>
              <a:t>PARTITION(</a:t>
            </a:r>
            <a:r>
              <a:rPr lang="en-US" altLang="zh-CN" sz="1800" i="1" dirty="0" err="1">
                <a:solidFill>
                  <a:srgbClr val="000000"/>
                </a:solidFill>
                <a:highlight>
                  <a:srgbClr val="C0C0C0"/>
                </a:highlight>
                <a:latin typeface="Consolas" panose="020B0609020204030204" pitchFamily="49" charset="0"/>
              </a:rPr>
              <a:t>A,p,r</a:t>
            </a:r>
            <a:r>
              <a:rPr lang="en-US" altLang="zh-CN" sz="1800" i="1" dirty="0">
                <a:solidFill>
                  <a:srgbClr val="000000"/>
                </a:solidFill>
                <a:highlight>
                  <a:srgbClr val="C0C0C0"/>
                </a:highlight>
                <a:latin typeface="Consolas" panose="020B0609020204030204" pitchFamily="49" charset="0"/>
              </a:rPr>
              <a:t>)</a:t>
            </a:r>
          </a:p>
          <a:p>
            <a:pPr algn="l" eaLnBrk="0" hangingPunct="0"/>
            <a:r>
              <a:rPr lang="en-US" altLang="zh-CN" sz="1800" b="0" i="1" dirty="0">
                <a:solidFill>
                  <a:srgbClr val="C00000"/>
                </a:solidFill>
                <a:latin typeface="Consolas" panose="020B0609020204030204" pitchFamily="49" charset="0"/>
              </a:rPr>
              <a:t>i = p - 1</a:t>
            </a:r>
          </a:p>
          <a:p>
            <a:pPr algn="l" eaLnBrk="0" hangingPunct="0"/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for </a:t>
            </a:r>
            <a:r>
              <a:rPr lang="en-US" altLang="zh-CN" sz="1800" b="0" i="1" dirty="0">
                <a:solidFill>
                  <a:srgbClr val="4F81BD">
                    <a:lumMod val="75000"/>
                  </a:srgbClr>
                </a:solidFill>
                <a:latin typeface="Consolas" panose="020B0609020204030204" pitchFamily="49" charset="0"/>
              </a:rPr>
              <a:t>j = p to </a:t>
            </a:r>
            <a:r>
              <a:rPr lang="en-US" altLang="zh-CN" sz="1800" b="0" i="1" dirty="0">
                <a:solidFill>
                  <a:srgbClr val="C00000"/>
                </a:solidFill>
                <a:latin typeface="Consolas" panose="020B0609020204030204" pitchFamily="49" charset="0"/>
              </a:rPr>
              <a:t>r - 1</a:t>
            </a:r>
          </a:p>
          <a:p>
            <a:pPr algn="l" eaLnBrk="0" hangingPunct="0"/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  if </a:t>
            </a:r>
            <a:r>
              <a:rPr lang="en-US" altLang="zh-CN" sz="1800" b="0" i="1" dirty="0">
                <a:solidFill>
                  <a:srgbClr val="C00000"/>
                </a:solidFill>
                <a:latin typeface="Consolas" panose="020B0609020204030204" pitchFamily="49" charset="0"/>
              </a:rPr>
              <a:t>A[j] &lt; A[r]</a:t>
            </a:r>
          </a:p>
          <a:p>
            <a:pPr algn="l" eaLnBrk="0" hangingPunct="0"/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800" b="0" i="1" dirty="0" err="1">
                <a:solidFill>
                  <a:srgbClr val="C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sz="1800" b="0" i="1" dirty="0">
                <a:solidFill>
                  <a:srgbClr val="C00000"/>
                </a:solidFill>
                <a:latin typeface="Consolas" panose="020B0609020204030204" pitchFamily="49" charset="0"/>
              </a:rPr>
              <a:t> = </a:t>
            </a:r>
            <a:r>
              <a:rPr lang="en-US" altLang="zh-CN" sz="1800" b="0" i="1" dirty="0" err="1">
                <a:solidFill>
                  <a:srgbClr val="C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sz="1800" b="0" i="1" dirty="0">
                <a:solidFill>
                  <a:srgbClr val="C00000"/>
                </a:solidFill>
                <a:latin typeface="Consolas" panose="020B0609020204030204" pitchFamily="49" charset="0"/>
              </a:rPr>
              <a:t> + 1</a:t>
            </a:r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		</a:t>
            </a:r>
          </a:p>
          <a:p>
            <a:pPr algn="l" eaLnBrk="0" hangingPunct="0"/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800" b="0" i="1" dirty="0">
                <a:solidFill>
                  <a:srgbClr val="4F81BD">
                    <a:lumMod val="75000"/>
                  </a:srgbClr>
                </a:solidFill>
                <a:latin typeface="Consolas" panose="020B0609020204030204" pitchFamily="49" charset="0"/>
              </a:rPr>
              <a:t>exchange A[j] with A[i]</a:t>
            </a:r>
          </a:p>
          <a:p>
            <a:pPr algn="l" eaLnBrk="0" hangingPunct="0"/>
            <a:r>
              <a:rPr lang="en-US" altLang="zh-CN" sz="1800" b="0" i="1" dirty="0">
                <a:solidFill>
                  <a:srgbClr val="4F81BD">
                    <a:lumMod val="75000"/>
                  </a:srgbClr>
                </a:solidFill>
                <a:latin typeface="Consolas" panose="020B0609020204030204" pitchFamily="49" charset="0"/>
              </a:rPr>
              <a:t>exchange A[</a:t>
            </a:r>
            <a:r>
              <a:rPr lang="en-US" altLang="zh-CN" sz="1800" b="0" i="1" dirty="0">
                <a:solidFill>
                  <a:srgbClr val="C00000"/>
                </a:solidFill>
                <a:latin typeface="Consolas" panose="020B0609020204030204" pitchFamily="49" charset="0"/>
              </a:rPr>
              <a:t>i + 1</a:t>
            </a:r>
            <a:r>
              <a:rPr lang="en-US" altLang="zh-CN" sz="1800" b="0" i="1" dirty="0">
                <a:solidFill>
                  <a:srgbClr val="4F81BD">
                    <a:lumMod val="75000"/>
                  </a:srgbClr>
                </a:solidFill>
                <a:latin typeface="Consolas" panose="020B0609020204030204" pitchFamily="49" charset="0"/>
              </a:rPr>
              <a:t>] with A[r]</a:t>
            </a:r>
          </a:p>
          <a:p>
            <a:pPr algn="l" eaLnBrk="0" hangingPunct="0"/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return </a:t>
            </a:r>
            <a:r>
              <a:rPr lang="en-US" altLang="zh-CN" sz="1800" b="0" i="1" dirty="0">
                <a:solidFill>
                  <a:srgbClr val="C00000"/>
                </a:solidFill>
                <a:latin typeface="Consolas" panose="020B0609020204030204" pitchFamily="49" charset="0"/>
              </a:rPr>
              <a:t>i + 1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一些软件算法实例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82D7817-AD55-F185-504D-1B511744D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t>11</a:t>
            </a:fld>
            <a:endParaRPr lang="en-US" altLang="zh-CN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F8FB3F90-0215-D10C-9B70-8CD6515A52FB}"/>
              </a:ext>
            </a:extLst>
          </p:cNvPr>
          <p:cNvSpPr/>
          <p:nvPr/>
        </p:nvSpPr>
        <p:spPr>
          <a:xfrm>
            <a:off x="377177" y="2274678"/>
            <a:ext cx="3005292" cy="974528"/>
          </a:xfrm>
          <a:prstGeom prst="rect">
            <a:avLst/>
          </a:prstGeom>
          <a:noFill/>
          <a:ln w="19050" cap="flat" cmpd="sng" algn="ctr">
            <a:solidFill>
              <a:srgbClr val="F79646">
                <a:lumMod val="75000"/>
              </a:srgbClr>
            </a:solidFill>
            <a:prstDash val="solid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1" name="Rectangle 11">
            <a:extLst>
              <a:ext uri="{FF2B5EF4-FFF2-40B4-BE49-F238E27FC236}">
                <a16:creationId xmlns:a16="http://schemas.microsoft.com/office/drawing/2014/main" id="{F6F94F8E-688C-67AA-460A-B51E516AF180}"/>
              </a:ext>
            </a:extLst>
          </p:cNvPr>
          <p:cNvSpPr/>
          <p:nvPr/>
        </p:nvSpPr>
        <p:spPr>
          <a:xfrm>
            <a:off x="6146765" y="3668920"/>
            <a:ext cx="1865860" cy="286665"/>
          </a:xfrm>
          <a:prstGeom prst="rect">
            <a:avLst/>
          </a:prstGeom>
          <a:noFill/>
          <a:ln w="19050" cap="flat" cmpd="sng" algn="ctr">
            <a:solidFill>
              <a:srgbClr val="F79646">
                <a:lumMod val="75000"/>
              </a:srgbClr>
            </a:solidFill>
            <a:prstDash val="solid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6" name="TextBox 27">
            <a:extLst>
              <a:ext uri="{FF2B5EF4-FFF2-40B4-BE49-F238E27FC236}">
                <a16:creationId xmlns:a16="http://schemas.microsoft.com/office/drawing/2014/main" id="{17B92484-B767-779D-C532-00FF77C3A529}"/>
              </a:ext>
            </a:extLst>
          </p:cNvPr>
          <p:cNvSpPr txBox="1"/>
          <p:nvPr/>
        </p:nvSpPr>
        <p:spPr>
          <a:xfrm>
            <a:off x="1602494" y="6026775"/>
            <a:ext cx="593901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eaLnBrk="1" hangingPunct="1">
              <a:defRPr sz="3200" b="1">
                <a:solidFill>
                  <a:srgbClr val="FF3300"/>
                </a:solidFill>
                <a:latin typeface="黑体" pitchFamily="49" charset="-122"/>
                <a:ea typeface="黑体" pitchFamily="49" charset="-122"/>
              </a:defRPr>
            </a:lvl1pPr>
            <a:lvl2pPr marL="742950" indent="-285750" eaLnBrk="0" hangingPunct="0">
              <a:defRPr sz="4600" b="1">
                <a:solidFill>
                  <a:srgbClr val="FF3300"/>
                </a:solidFill>
                <a:latin typeface="Garamond" pitchFamily="18" charset="0"/>
                <a:ea typeface="宋体" charset="-122"/>
              </a:defRPr>
            </a:lvl2pPr>
            <a:lvl3pPr marL="1143000" indent="-228600" eaLnBrk="0" hangingPunct="0">
              <a:defRPr sz="4600" b="1">
                <a:solidFill>
                  <a:srgbClr val="FF3300"/>
                </a:solidFill>
                <a:latin typeface="Garamond" pitchFamily="18" charset="0"/>
                <a:ea typeface="宋体" charset="-122"/>
              </a:defRPr>
            </a:lvl3pPr>
            <a:lvl4pPr marL="1600200" indent="-228600" eaLnBrk="0" hangingPunct="0">
              <a:defRPr sz="4600" b="1">
                <a:solidFill>
                  <a:srgbClr val="FF3300"/>
                </a:solidFill>
                <a:latin typeface="Garamond" pitchFamily="18" charset="0"/>
                <a:ea typeface="宋体" charset="-122"/>
              </a:defRPr>
            </a:lvl4pPr>
            <a:lvl5pPr marL="2057400" indent="-228600" eaLnBrk="0" hangingPunct="0">
              <a:defRPr sz="4600" b="1">
                <a:solidFill>
                  <a:srgbClr val="FF3300"/>
                </a:solidFill>
                <a:latin typeface="Garamond" pitchFamily="18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600" b="1">
                <a:solidFill>
                  <a:srgbClr val="FF3300"/>
                </a:solidFill>
                <a:latin typeface="Garamond" pitchFamily="18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600" b="1">
                <a:solidFill>
                  <a:srgbClr val="FF3300"/>
                </a:solidFill>
                <a:latin typeface="Garamond" pitchFamily="18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600" b="1">
                <a:solidFill>
                  <a:srgbClr val="FF3300"/>
                </a:solidFill>
                <a:latin typeface="Garamond" pitchFamily="18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600" b="1">
                <a:solidFill>
                  <a:srgbClr val="FF3300"/>
                </a:solidFill>
                <a:latin typeface="Garamond" pitchFamily="18" charset="0"/>
                <a:ea typeface="宋体" charset="-122"/>
              </a:defRPr>
            </a:lvl9pPr>
          </a:lstStyle>
          <a:p>
            <a:r>
              <a:rPr lang="zh-CN" altLang="en-US" sz="2400" dirty="0">
                <a:solidFill>
                  <a:srgbClr val="0432FF"/>
                </a:solidFill>
                <a:latin typeface="+mn-lt"/>
                <a:ea typeface="+mn-ea"/>
              </a:rPr>
              <a:t>不同点 </a:t>
            </a:r>
            <a:r>
              <a:rPr lang="en-US" altLang="zh-CN" sz="2400" dirty="0">
                <a:solidFill>
                  <a:srgbClr val="0432FF"/>
                </a:solidFill>
                <a:latin typeface="+mn-lt"/>
                <a:ea typeface="+mn-ea"/>
              </a:rPr>
              <a:t>&amp; </a:t>
            </a:r>
            <a:r>
              <a:rPr lang="zh-CN" altLang="en-US" sz="2400" dirty="0">
                <a:solidFill>
                  <a:srgbClr val="0432FF"/>
                </a:solidFill>
                <a:latin typeface="+mn-lt"/>
                <a:ea typeface="+mn-ea"/>
              </a:rPr>
              <a:t>相同点</a:t>
            </a:r>
            <a:r>
              <a:rPr lang="en-US" altLang="zh-CN" sz="2400" dirty="0">
                <a:solidFill>
                  <a:srgbClr val="0432FF"/>
                </a:solidFill>
                <a:latin typeface="+mn-lt"/>
                <a:ea typeface="+mn-ea"/>
              </a:rPr>
              <a:t>?</a:t>
            </a:r>
          </a:p>
        </p:txBody>
      </p:sp>
      <p:sp>
        <p:nvSpPr>
          <p:cNvPr id="21" name="Rectangle 17">
            <a:extLst>
              <a:ext uri="{FF2B5EF4-FFF2-40B4-BE49-F238E27FC236}">
                <a16:creationId xmlns:a16="http://schemas.microsoft.com/office/drawing/2014/main" id="{6ACCBF86-ABCC-13AA-7E5B-60A0452FDE5D}"/>
              </a:ext>
            </a:extLst>
          </p:cNvPr>
          <p:cNvSpPr/>
          <p:nvPr/>
        </p:nvSpPr>
        <p:spPr>
          <a:xfrm>
            <a:off x="114526" y="5315017"/>
            <a:ext cx="1705130" cy="319379"/>
          </a:xfrm>
          <a:prstGeom prst="rect">
            <a:avLst/>
          </a:prstGeom>
          <a:noFill/>
          <a:ln w="19050" cap="flat" cmpd="sng" algn="ctr">
            <a:solidFill>
              <a:srgbClr val="F79646">
                <a:lumMod val="75000"/>
              </a:srgbClr>
            </a:solidFill>
            <a:prstDash val="solid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3" name="TextBox 27">
            <a:extLst>
              <a:ext uri="{FF2B5EF4-FFF2-40B4-BE49-F238E27FC236}">
                <a16:creationId xmlns:a16="http://schemas.microsoft.com/office/drawing/2014/main" id="{07B2C994-68D7-F9EE-7FBD-E3BD2DD74B58}"/>
              </a:ext>
            </a:extLst>
          </p:cNvPr>
          <p:cNvSpPr txBox="1"/>
          <p:nvPr/>
        </p:nvSpPr>
        <p:spPr>
          <a:xfrm>
            <a:off x="3752354" y="3650966"/>
            <a:ext cx="11272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 dirty="0">
                <a:solidFill>
                  <a:srgbClr val="F79646">
                    <a:lumMod val="75000"/>
                  </a:srgbClr>
                </a:solidFill>
                <a:latin typeface="+mn-lt"/>
                <a:ea typeface="+mn-ea"/>
              </a:rPr>
              <a:t>直接跳转</a:t>
            </a:r>
            <a:endParaRPr lang="en-US" altLang="zh-CN" sz="1800" dirty="0">
              <a:solidFill>
                <a:srgbClr val="F79646">
                  <a:lumMod val="75000"/>
                </a:srgbClr>
              </a:solidFill>
              <a:latin typeface="+mn-lt"/>
              <a:ea typeface="+mn-ea"/>
            </a:endParaRPr>
          </a:p>
          <a:p>
            <a:r>
              <a:rPr lang="zh-CN" altLang="en-US" sz="1800" dirty="0">
                <a:solidFill>
                  <a:srgbClr val="F79646">
                    <a:lumMod val="75000"/>
                  </a:srgbClr>
                </a:solidFill>
                <a:latin typeface="+mn-lt"/>
                <a:ea typeface="+mn-ea"/>
              </a:rPr>
              <a:t>过程调用</a:t>
            </a:r>
          </a:p>
        </p:txBody>
      </p:sp>
      <p:sp>
        <p:nvSpPr>
          <p:cNvPr id="24" name="TextBox 16">
            <a:extLst>
              <a:ext uri="{FF2B5EF4-FFF2-40B4-BE49-F238E27FC236}">
                <a16:creationId xmlns:a16="http://schemas.microsoft.com/office/drawing/2014/main" id="{F28C9103-CC41-1B46-61D9-E16E38B4BF75}"/>
              </a:ext>
            </a:extLst>
          </p:cNvPr>
          <p:cNvSpPr txBox="1"/>
          <p:nvPr/>
        </p:nvSpPr>
        <p:spPr>
          <a:xfrm>
            <a:off x="3752357" y="3361798"/>
            <a:ext cx="11272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 dirty="0">
                <a:solidFill>
                  <a:srgbClr val="9BBB59">
                    <a:lumMod val="50000"/>
                  </a:srgbClr>
                </a:solidFill>
                <a:latin typeface="+mn-lt"/>
                <a:ea typeface="+mn-ea"/>
              </a:rPr>
              <a:t>分支跳转</a:t>
            </a:r>
          </a:p>
        </p:txBody>
      </p:sp>
      <p:sp>
        <p:nvSpPr>
          <p:cNvPr id="25" name="TextBox 13">
            <a:extLst>
              <a:ext uri="{FF2B5EF4-FFF2-40B4-BE49-F238E27FC236}">
                <a16:creationId xmlns:a16="http://schemas.microsoft.com/office/drawing/2014/main" id="{96381D3C-E961-BA68-D7B1-E7CF336F8A9B}"/>
              </a:ext>
            </a:extLst>
          </p:cNvPr>
          <p:cNvSpPr txBox="1"/>
          <p:nvPr/>
        </p:nvSpPr>
        <p:spPr>
          <a:xfrm>
            <a:off x="3752358" y="2748519"/>
            <a:ext cx="11272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 dirty="0">
                <a:solidFill>
                  <a:srgbClr val="C00000"/>
                </a:solidFill>
                <a:latin typeface="+mn-lt"/>
                <a:ea typeface="+mn-ea"/>
              </a:rPr>
              <a:t>算术操作</a:t>
            </a:r>
            <a:endParaRPr lang="en-US" altLang="zh-CN" sz="1800" dirty="0">
              <a:solidFill>
                <a:srgbClr val="C00000"/>
              </a:solidFill>
              <a:latin typeface="+mn-lt"/>
              <a:ea typeface="+mn-ea"/>
            </a:endParaRPr>
          </a:p>
          <a:p>
            <a:r>
              <a:rPr lang="zh-CN" altLang="en-US" sz="1800" dirty="0">
                <a:solidFill>
                  <a:srgbClr val="C00000"/>
                </a:solidFill>
                <a:latin typeface="+mn-lt"/>
                <a:ea typeface="+mn-ea"/>
              </a:rPr>
              <a:t>逻辑操作</a:t>
            </a:r>
          </a:p>
        </p:txBody>
      </p:sp>
      <p:sp>
        <p:nvSpPr>
          <p:cNvPr id="26" name="TextBox 13">
            <a:extLst>
              <a:ext uri="{FF2B5EF4-FFF2-40B4-BE49-F238E27FC236}">
                <a16:creationId xmlns:a16="http://schemas.microsoft.com/office/drawing/2014/main" id="{2D6266F9-38D1-521A-3060-976087F53CF5}"/>
              </a:ext>
            </a:extLst>
          </p:cNvPr>
          <p:cNvSpPr txBox="1"/>
          <p:nvPr/>
        </p:nvSpPr>
        <p:spPr>
          <a:xfrm>
            <a:off x="3186903" y="1400324"/>
            <a:ext cx="23054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 dirty="0">
                <a:solidFill>
                  <a:srgbClr val="C0504D">
                    <a:lumMod val="75000"/>
                  </a:srgbClr>
                </a:solidFill>
                <a:latin typeface="+mn-lt"/>
                <a:ea typeface="+mn-ea"/>
              </a:rPr>
              <a:t>顺序执行，除非跳转</a:t>
            </a:r>
          </a:p>
        </p:txBody>
      </p:sp>
      <p:sp>
        <p:nvSpPr>
          <p:cNvPr id="27" name="TextBox 36">
            <a:extLst>
              <a:ext uri="{FF2B5EF4-FFF2-40B4-BE49-F238E27FC236}">
                <a16:creationId xmlns:a16="http://schemas.microsoft.com/office/drawing/2014/main" id="{1DAD10C0-7C7C-688F-31BD-1CA20DAD501E}"/>
              </a:ext>
            </a:extLst>
          </p:cNvPr>
          <p:cNvSpPr txBox="1"/>
          <p:nvPr/>
        </p:nvSpPr>
        <p:spPr>
          <a:xfrm>
            <a:off x="4011923" y="2395557"/>
            <a:ext cx="6559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 dirty="0">
                <a:solidFill>
                  <a:srgbClr val="4F81BD">
                    <a:lumMod val="75000"/>
                  </a:srgbClr>
                </a:solidFill>
                <a:latin typeface="+mn-lt"/>
                <a:ea typeface="+mn-ea"/>
              </a:rPr>
              <a:t>赋值</a:t>
            </a:r>
          </a:p>
        </p:txBody>
      </p:sp>
      <p:sp>
        <p:nvSpPr>
          <p:cNvPr id="6" name="TextBox 10">
            <a:extLst>
              <a:ext uri="{FF2B5EF4-FFF2-40B4-BE49-F238E27FC236}">
                <a16:creationId xmlns:a16="http://schemas.microsoft.com/office/drawing/2014/main" id="{7D8F21F9-B152-CB35-2E79-FEF7BC56120A}"/>
              </a:ext>
            </a:extLst>
          </p:cNvPr>
          <p:cNvSpPr txBox="1"/>
          <p:nvPr/>
        </p:nvSpPr>
        <p:spPr>
          <a:xfrm>
            <a:off x="5627420" y="1688288"/>
            <a:ext cx="351658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eaLnBrk="0" hangingPunct="0"/>
            <a:r>
              <a:rPr lang="en-US" altLang="zh-CN" sz="1800" i="1" dirty="0">
                <a:solidFill>
                  <a:srgbClr val="000000"/>
                </a:solidFill>
                <a:highlight>
                  <a:srgbClr val="C0C0C0"/>
                </a:highlight>
                <a:latin typeface="Consolas" panose="020B0609020204030204" pitchFamily="49" charset="0"/>
              </a:rPr>
              <a:t>DIJKSTRA(G, w, s)</a:t>
            </a:r>
          </a:p>
          <a:p>
            <a:pPr algn="l" eaLnBrk="0" hangingPunct="0"/>
            <a:r>
              <a:rPr lang="en-US" altLang="zh-CN" sz="1800" b="0" i="1" dirty="0">
                <a:solidFill>
                  <a:srgbClr val="4F81BD">
                    <a:lumMod val="75000"/>
                  </a:srgbClr>
                </a:solidFill>
                <a:latin typeface="Consolas" panose="020B0609020204030204" pitchFamily="49" charset="0"/>
              </a:rPr>
              <a:t>S = ∅</a:t>
            </a:r>
          </a:p>
          <a:p>
            <a:pPr algn="l" eaLnBrk="0" hangingPunct="0"/>
            <a:r>
              <a:rPr lang="en-US" altLang="zh-CN" sz="1800" b="0" i="1" dirty="0">
                <a:solidFill>
                  <a:srgbClr val="4F81BD">
                    <a:lumMod val="75000"/>
                  </a:srgbClr>
                </a:solidFill>
                <a:latin typeface="Consolas" panose="020B0609020204030204" pitchFamily="49" charset="0"/>
              </a:rPr>
              <a:t>Q = G.V</a:t>
            </a:r>
          </a:p>
          <a:p>
            <a:pPr algn="l" eaLnBrk="0" hangingPunct="0"/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while </a:t>
            </a:r>
            <a:r>
              <a:rPr lang="en-US" altLang="zh-CN" sz="1800" b="0" i="1" dirty="0">
                <a:solidFill>
                  <a:srgbClr val="C00000"/>
                </a:solidFill>
                <a:latin typeface="Consolas" panose="020B0609020204030204" pitchFamily="49" charset="0"/>
              </a:rPr>
              <a:t>Q != ∅</a:t>
            </a:r>
          </a:p>
          <a:p>
            <a:pPr algn="l" eaLnBrk="0" hangingPunct="0"/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altLang="zh-CN" sz="1800" b="0" i="1" dirty="0">
                <a:solidFill>
                  <a:srgbClr val="4F81BD">
                    <a:lumMod val="75000"/>
                  </a:srgbClr>
                </a:solidFill>
                <a:latin typeface="Consolas" panose="020B0609020204030204" pitchFamily="49" charset="0"/>
              </a:rPr>
              <a:t>u = EXTRACT-MIN(Q) </a:t>
            </a:r>
          </a:p>
          <a:p>
            <a:pPr algn="l" eaLnBrk="0" hangingPunct="0"/>
            <a:r>
              <a:rPr lang="en-US" altLang="zh-CN" sz="1800" b="0" i="1" dirty="0">
                <a:solidFill>
                  <a:srgbClr val="4F81BD">
                    <a:lumMod val="75000"/>
                  </a:srgbClr>
                </a:solidFill>
                <a:latin typeface="Consolas" panose="020B0609020204030204" pitchFamily="49" charset="0"/>
              </a:rPr>
              <a:t>  S = S ∪ {u};</a:t>
            </a:r>
          </a:p>
          <a:p>
            <a:pPr algn="l" eaLnBrk="0" hangingPunct="0"/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  for each v ∈ </a:t>
            </a:r>
            <a:r>
              <a:rPr lang="en-US" altLang="zh-CN" sz="1800" b="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Q.Adj</a:t>
            </a:r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(u)</a:t>
            </a:r>
          </a:p>
          <a:p>
            <a:pPr algn="l" eaLnBrk="0" hangingPunct="0"/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    RELAX(u, v, w)		</a:t>
            </a:r>
          </a:p>
          <a:p>
            <a:pPr algn="l" eaLnBrk="0" hangingPunct="0"/>
            <a:r>
              <a:rPr lang="en-US" altLang="zh-CN" sz="1800" i="1" dirty="0">
                <a:solidFill>
                  <a:srgbClr val="000000"/>
                </a:solidFill>
                <a:highlight>
                  <a:srgbClr val="C0C0C0"/>
                </a:highlight>
                <a:latin typeface="Consolas" panose="020B0609020204030204" pitchFamily="49" charset="0"/>
              </a:rPr>
              <a:t>RELAX(</a:t>
            </a:r>
            <a:r>
              <a:rPr lang="en-US" altLang="zh-CN" sz="1800" i="1" dirty="0" err="1">
                <a:solidFill>
                  <a:srgbClr val="000000"/>
                </a:solidFill>
                <a:highlight>
                  <a:srgbClr val="C0C0C0"/>
                </a:highlight>
                <a:latin typeface="Consolas" panose="020B0609020204030204" pitchFamily="49" charset="0"/>
              </a:rPr>
              <a:t>u,v,w</a:t>
            </a:r>
            <a:r>
              <a:rPr lang="en-US" altLang="zh-CN" sz="1800" i="1" dirty="0">
                <a:solidFill>
                  <a:srgbClr val="000000"/>
                </a:solidFill>
                <a:highlight>
                  <a:srgbClr val="C0C0C0"/>
                </a:highlight>
                <a:latin typeface="Consolas" panose="020B0609020204030204" pitchFamily="49" charset="0"/>
              </a:rPr>
              <a:t>)</a:t>
            </a:r>
          </a:p>
          <a:p>
            <a:pPr algn="l" eaLnBrk="0" hangingPunct="0"/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if </a:t>
            </a:r>
            <a:r>
              <a:rPr lang="en-US" altLang="zh-CN" sz="1800" b="0" i="1" dirty="0" err="1">
                <a:solidFill>
                  <a:srgbClr val="C00000"/>
                </a:solidFill>
                <a:latin typeface="Consolas" panose="020B0609020204030204" pitchFamily="49" charset="0"/>
              </a:rPr>
              <a:t>v.d</a:t>
            </a:r>
            <a:r>
              <a:rPr lang="en-US" altLang="zh-CN" sz="1800" b="0" i="1" dirty="0">
                <a:solidFill>
                  <a:srgbClr val="C00000"/>
                </a:solidFill>
                <a:latin typeface="Consolas" panose="020B0609020204030204" pitchFamily="49" charset="0"/>
              </a:rPr>
              <a:t> &gt; </a:t>
            </a:r>
            <a:r>
              <a:rPr lang="en-US" altLang="zh-CN" sz="1800" b="0" i="1" dirty="0" err="1">
                <a:solidFill>
                  <a:srgbClr val="C00000"/>
                </a:solidFill>
                <a:latin typeface="Consolas" panose="020B0609020204030204" pitchFamily="49" charset="0"/>
              </a:rPr>
              <a:t>u.d</a:t>
            </a:r>
            <a:r>
              <a:rPr lang="en-US" altLang="zh-CN" sz="1800" b="0" i="1" dirty="0">
                <a:solidFill>
                  <a:srgbClr val="C00000"/>
                </a:solidFill>
                <a:latin typeface="Consolas" panose="020B0609020204030204" pitchFamily="49" charset="0"/>
              </a:rPr>
              <a:t> + w(</a:t>
            </a:r>
            <a:r>
              <a:rPr lang="en-US" altLang="zh-CN" sz="1800" b="0" i="1" dirty="0" err="1">
                <a:solidFill>
                  <a:srgbClr val="C00000"/>
                </a:solidFill>
                <a:latin typeface="Consolas" panose="020B0609020204030204" pitchFamily="49" charset="0"/>
              </a:rPr>
              <a:t>u,v</a:t>
            </a:r>
            <a:r>
              <a:rPr lang="en-US" altLang="zh-CN" sz="1800" b="0" i="1" dirty="0">
                <a:solidFill>
                  <a:srgbClr val="C00000"/>
                </a:solidFill>
                <a:latin typeface="Consolas" panose="020B0609020204030204" pitchFamily="49" charset="0"/>
              </a:rPr>
              <a:t>)</a:t>
            </a:r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</a:p>
          <a:p>
            <a:pPr algn="l" eaLnBrk="0" hangingPunct="0"/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altLang="zh-CN" sz="1800" b="0" i="1" dirty="0" err="1">
                <a:solidFill>
                  <a:srgbClr val="C00000"/>
                </a:solidFill>
                <a:latin typeface="Consolas" panose="020B0609020204030204" pitchFamily="49" charset="0"/>
              </a:rPr>
              <a:t>v.d</a:t>
            </a:r>
            <a:r>
              <a:rPr lang="en-US" altLang="zh-CN" sz="1800" b="0" i="1" dirty="0">
                <a:solidFill>
                  <a:srgbClr val="C00000"/>
                </a:solidFill>
                <a:latin typeface="Consolas" panose="020B0609020204030204" pitchFamily="49" charset="0"/>
              </a:rPr>
              <a:t> = </a:t>
            </a:r>
            <a:r>
              <a:rPr lang="en-US" altLang="zh-CN" sz="1800" b="0" i="1" dirty="0" err="1">
                <a:solidFill>
                  <a:srgbClr val="C00000"/>
                </a:solidFill>
                <a:latin typeface="Consolas" panose="020B0609020204030204" pitchFamily="49" charset="0"/>
              </a:rPr>
              <a:t>u.d</a:t>
            </a:r>
            <a:r>
              <a:rPr lang="en-US" altLang="zh-CN" sz="1800" b="0" i="1" dirty="0">
                <a:solidFill>
                  <a:srgbClr val="C00000"/>
                </a:solidFill>
                <a:latin typeface="Consolas" panose="020B0609020204030204" pitchFamily="49" charset="0"/>
              </a:rPr>
              <a:t> + w(</a:t>
            </a:r>
            <a:r>
              <a:rPr lang="en-US" altLang="zh-CN" sz="1800" b="0" i="1" dirty="0" err="1">
                <a:solidFill>
                  <a:srgbClr val="C00000"/>
                </a:solidFill>
                <a:latin typeface="Consolas" panose="020B0609020204030204" pitchFamily="49" charset="0"/>
              </a:rPr>
              <a:t>u,v</a:t>
            </a:r>
            <a:r>
              <a:rPr lang="en-US" altLang="zh-CN" sz="1800" b="0" i="1" dirty="0">
                <a:solidFill>
                  <a:srgbClr val="C00000"/>
                </a:solidFill>
                <a:latin typeface="Consolas" panose="020B0609020204030204" pitchFamily="49" charset="0"/>
              </a:rPr>
              <a:t>)</a:t>
            </a:r>
          </a:p>
          <a:p>
            <a:pPr algn="l" eaLnBrk="0" hangingPunct="0"/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altLang="zh-CN" sz="1800" b="0" i="1" dirty="0">
                <a:solidFill>
                  <a:srgbClr val="4F81BD">
                    <a:lumMod val="75000"/>
                  </a:srgbClr>
                </a:solidFill>
                <a:latin typeface="Consolas" panose="020B0609020204030204" pitchFamily="49" charset="0"/>
              </a:rPr>
              <a:t>v.</a:t>
            </a:r>
            <a:r>
              <a:rPr lang="el-GR" altLang="zh-CN" sz="1800" b="0" i="1" dirty="0">
                <a:solidFill>
                  <a:srgbClr val="4F81BD">
                    <a:lumMod val="75000"/>
                  </a:srgbClr>
                </a:solidFill>
                <a:latin typeface="Consolas" panose="020B0609020204030204" pitchFamily="49" charset="0"/>
              </a:rPr>
              <a:t>π = </a:t>
            </a:r>
            <a:r>
              <a:rPr lang="en-US" altLang="zh-CN" sz="1800" b="0" i="1" dirty="0">
                <a:solidFill>
                  <a:srgbClr val="4F81BD">
                    <a:lumMod val="75000"/>
                  </a:srgbClr>
                </a:solidFill>
                <a:latin typeface="Consolas" panose="020B0609020204030204" pitchFamily="49" charset="0"/>
              </a:rPr>
              <a:t>u</a:t>
            </a:r>
          </a:p>
        </p:txBody>
      </p:sp>
      <p:sp>
        <p:nvSpPr>
          <p:cNvPr id="7" name="TextBox 17">
            <a:extLst>
              <a:ext uri="{FF2B5EF4-FFF2-40B4-BE49-F238E27FC236}">
                <a16:creationId xmlns:a16="http://schemas.microsoft.com/office/drawing/2014/main" id="{5559B83F-A0F2-6829-6888-A15C8F81CEFB}"/>
              </a:ext>
            </a:extLst>
          </p:cNvPr>
          <p:cNvSpPr txBox="1"/>
          <p:nvPr/>
        </p:nvSpPr>
        <p:spPr>
          <a:xfrm>
            <a:off x="114526" y="1691510"/>
            <a:ext cx="493342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eaLnBrk="0" hangingPunct="0"/>
            <a:r>
              <a:rPr lang="en-US" altLang="zh-CN" sz="1800" i="1" dirty="0">
                <a:solidFill>
                  <a:srgbClr val="000000"/>
                </a:solidFill>
                <a:highlight>
                  <a:srgbClr val="C0C0C0"/>
                </a:highlight>
                <a:latin typeface="Consolas" panose="020B0609020204030204" pitchFamily="49" charset="0"/>
              </a:rPr>
              <a:t>QUICK_SORT(A, p, r)</a:t>
            </a:r>
          </a:p>
          <a:p>
            <a:pPr algn="l" eaLnBrk="0" hangingPunct="0"/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if </a:t>
            </a:r>
            <a:r>
              <a:rPr lang="en-US" altLang="zh-CN" sz="1800" b="0" i="1" dirty="0">
                <a:solidFill>
                  <a:srgbClr val="C00000"/>
                </a:solidFill>
                <a:latin typeface="Consolas" panose="020B0609020204030204" pitchFamily="49" charset="0"/>
              </a:rPr>
              <a:t>p &lt; r        </a:t>
            </a:r>
          </a:p>
          <a:p>
            <a:pPr algn="l" eaLnBrk="0" hangingPunct="0"/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altLang="zh-CN" sz="1800" b="0" i="1" dirty="0">
                <a:solidFill>
                  <a:srgbClr val="4F81BD">
                    <a:lumMod val="75000"/>
                  </a:srgbClr>
                </a:solidFill>
                <a:latin typeface="Consolas" panose="020B0609020204030204" pitchFamily="49" charset="0"/>
              </a:rPr>
              <a:t>q = PARTITION(A, p, r)</a:t>
            </a:r>
          </a:p>
          <a:p>
            <a:pPr algn="l" eaLnBrk="0" hangingPunct="0"/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  QUICK_SORT(A, p, </a:t>
            </a:r>
            <a:r>
              <a:rPr lang="en-US" altLang="zh-CN" sz="1800" b="0" i="1" dirty="0">
                <a:solidFill>
                  <a:srgbClr val="C00000"/>
                </a:solidFill>
                <a:latin typeface="Consolas" panose="020B0609020204030204" pitchFamily="49" charset="0"/>
              </a:rPr>
              <a:t>q - 1</a:t>
            </a:r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algn="l" eaLnBrk="0" hangingPunct="0"/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  QUICK_SORT(A, </a:t>
            </a:r>
            <a:r>
              <a:rPr lang="en-US" altLang="zh-CN" sz="1800" b="0" i="1" dirty="0">
                <a:solidFill>
                  <a:srgbClr val="C00000"/>
                </a:solidFill>
                <a:latin typeface="Consolas" panose="020B0609020204030204" pitchFamily="49" charset="0"/>
              </a:rPr>
              <a:t>q + 1</a:t>
            </a:r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, r)</a:t>
            </a:r>
          </a:p>
          <a:p>
            <a:pPr algn="l" eaLnBrk="0" hangingPunct="0"/>
            <a:endParaRPr lang="en-US" altLang="zh-CN" sz="1800" i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l" eaLnBrk="0" hangingPunct="0"/>
            <a:r>
              <a:rPr lang="en-US" altLang="zh-CN" sz="1800" i="1" dirty="0">
                <a:solidFill>
                  <a:srgbClr val="000000"/>
                </a:solidFill>
                <a:highlight>
                  <a:srgbClr val="C0C0C0"/>
                </a:highlight>
                <a:latin typeface="Consolas" panose="020B0609020204030204" pitchFamily="49" charset="0"/>
              </a:rPr>
              <a:t>PARTITION(</a:t>
            </a:r>
            <a:r>
              <a:rPr lang="en-US" altLang="zh-CN" sz="1800" i="1" dirty="0" err="1">
                <a:solidFill>
                  <a:srgbClr val="000000"/>
                </a:solidFill>
                <a:highlight>
                  <a:srgbClr val="C0C0C0"/>
                </a:highlight>
                <a:latin typeface="Consolas" panose="020B0609020204030204" pitchFamily="49" charset="0"/>
              </a:rPr>
              <a:t>A,p,r</a:t>
            </a:r>
            <a:r>
              <a:rPr lang="en-US" altLang="zh-CN" sz="1800" i="1" dirty="0">
                <a:solidFill>
                  <a:srgbClr val="000000"/>
                </a:solidFill>
                <a:highlight>
                  <a:srgbClr val="C0C0C0"/>
                </a:highlight>
                <a:latin typeface="Consolas" panose="020B0609020204030204" pitchFamily="49" charset="0"/>
              </a:rPr>
              <a:t>)</a:t>
            </a:r>
          </a:p>
          <a:p>
            <a:pPr algn="l" eaLnBrk="0" hangingPunct="0"/>
            <a:r>
              <a:rPr lang="en-US" altLang="zh-CN" sz="1800" b="0" i="1" dirty="0">
                <a:solidFill>
                  <a:srgbClr val="C00000"/>
                </a:solidFill>
                <a:latin typeface="Consolas" panose="020B0609020204030204" pitchFamily="49" charset="0"/>
              </a:rPr>
              <a:t>i = p - 1</a:t>
            </a:r>
          </a:p>
          <a:p>
            <a:pPr algn="l" eaLnBrk="0" hangingPunct="0"/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for </a:t>
            </a:r>
            <a:r>
              <a:rPr lang="en-US" altLang="zh-CN" sz="1800" b="0" i="1" dirty="0">
                <a:solidFill>
                  <a:srgbClr val="4F81BD">
                    <a:lumMod val="75000"/>
                  </a:srgbClr>
                </a:solidFill>
                <a:latin typeface="Consolas" panose="020B0609020204030204" pitchFamily="49" charset="0"/>
              </a:rPr>
              <a:t>j = p to </a:t>
            </a:r>
            <a:r>
              <a:rPr lang="en-US" altLang="zh-CN" sz="1800" b="0" i="1" dirty="0">
                <a:solidFill>
                  <a:srgbClr val="C00000"/>
                </a:solidFill>
                <a:latin typeface="Consolas" panose="020B0609020204030204" pitchFamily="49" charset="0"/>
              </a:rPr>
              <a:t>r - 1</a:t>
            </a:r>
          </a:p>
          <a:p>
            <a:pPr algn="l" eaLnBrk="0" hangingPunct="0"/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  if </a:t>
            </a:r>
            <a:r>
              <a:rPr lang="en-US" altLang="zh-CN" sz="1800" b="0" i="1" dirty="0">
                <a:solidFill>
                  <a:srgbClr val="C00000"/>
                </a:solidFill>
                <a:latin typeface="Consolas" panose="020B0609020204030204" pitchFamily="49" charset="0"/>
              </a:rPr>
              <a:t>A[j] &lt; A[r]</a:t>
            </a:r>
          </a:p>
          <a:p>
            <a:pPr algn="l" eaLnBrk="0" hangingPunct="0"/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800" b="0" i="1" dirty="0" err="1">
                <a:solidFill>
                  <a:srgbClr val="C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sz="1800" b="0" i="1" dirty="0">
                <a:solidFill>
                  <a:srgbClr val="C00000"/>
                </a:solidFill>
                <a:latin typeface="Consolas" panose="020B0609020204030204" pitchFamily="49" charset="0"/>
              </a:rPr>
              <a:t> = </a:t>
            </a:r>
            <a:r>
              <a:rPr lang="en-US" altLang="zh-CN" sz="1800" b="0" i="1" dirty="0" err="1">
                <a:solidFill>
                  <a:srgbClr val="C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sz="1800" b="0" i="1" dirty="0">
                <a:solidFill>
                  <a:srgbClr val="C00000"/>
                </a:solidFill>
                <a:latin typeface="Consolas" panose="020B0609020204030204" pitchFamily="49" charset="0"/>
              </a:rPr>
              <a:t> + 1</a:t>
            </a:r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		</a:t>
            </a:r>
          </a:p>
          <a:p>
            <a:pPr algn="l" eaLnBrk="0" hangingPunct="0"/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800" b="0" i="1" dirty="0">
                <a:solidFill>
                  <a:srgbClr val="4F81BD">
                    <a:lumMod val="75000"/>
                  </a:srgbClr>
                </a:solidFill>
                <a:latin typeface="Consolas" panose="020B0609020204030204" pitchFamily="49" charset="0"/>
              </a:rPr>
              <a:t>exchange A[j] with A[i]</a:t>
            </a:r>
          </a:p>
          <a:p>
            <a:pPr algn="l" eaLnBrk="0" hangingPunct="0"/>
            <a:r>
              <a:rPr lang="en-US" altLang="zh-CN" sz="1800" b="0" i="1" dirty="0">
                <a:solidFill>
                  <a:srgbClr val="4F81BD">
                    <a:lumMod val="75000"/>
                  </a:srgbClr>
                </a:solidFill>
                <a:latin typeface="Consolas" panose="020B0609020204030204" pitchFamily="49" charset="0"/>
              </a:rPr>
              <a:t>exchange A[</a:t>
            </a:r>
            <a:r>
              <a:rPr lang="en-US" altLang="zh-CN" sz="1800" b="0" i="1" dirty="0">
                <a:solidFill>
                  <a:srgbClr val="C00000"/>
                </a:solidFill>
                <a:latin typeface="Consolas" panose="020B0609020204030204" pitchFamily="49" charset="0"/>
              </a:rPr>
              <a:t>i + 1</a:t>
            </a:r>
            <a:r>
              <a:rPr lang="en-US" altLang="zh-CN" sz="1800" b="0" i="1" dirty="0">
                <a:solidFill>
                  <a:srgbClr val="4F81BD">
                    <a:lumMod val="75000"/>
                  </a:srgbClr>
                </a:solidFill>
                <a:latin typeface="Consolas" panose="020B0609020204030204" pitchFamily="49" charset="0"/>
              </a:rPr>
              <a:t>] with A[r]</a:t>
            </a:r>
          </a:p>
          <a:p>
            <a:pPr algn="l" eaLnBrk="0" hangingPunct="0"/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return </a:t>
            </a:r>
            <a:r>
              <a:rPr lang="en-US" altLang="zh-CN" sz="1800" b="0" i="1" dirty="0">
                <a:solidFill>
                  <a:srgbClr val="C00000"/>
                </a:solidFill>
                <a:latin typeface="Consolas" panose="020B0609020204030204" pitchFamily="49" charset="0"/>
              </a:rPr>
              <a:t>i + 1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745F23-4FC9-429D-DE71-4BEB8C243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标题 1">
            <a:extLst>
              <a:ext uri="{FF2B5EF4-FFF2-40B4-BE49-F238E27FC236}">
                <a16:creationId xmlns:a16="http://schemas.microsoft.com/office/drawing/2014/main" id="{75C19750-7C8E-BC1A-A05E-05BECCC81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一些软件算法实例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07F2E76B-21F4-DD7D-7B00-2DABF7A9B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t>12</a:t>
            </a:fld>
            <a:endParaRPr lang="en-US" altLang="zh-CN"/>
          </a:p>
        </p:txBody>
      </p:sp>
      <p:sp>
        <p:nvSpPr>
          <p:cNvPr id="5" name="TextBox 15">
            <a:extLst>
              <a:ext uri="{FF2B5EF4-FFF2-40B4-BE49-F238E27FC236}">
                <a16:creationId xmlns:a16="http://schemas.microsoft.com/office/drawing/2014/main" id="{AD5A7463-E31C-D846-20FC-8192B64DEF38}"/>
              </a:ext>
            </a:extLst>
          </p:cNvPr>
          <p:cNvSpPr txBox="1"/>
          <p:nvPr/>
        </p:nvSpPr>
        <p:spPr>
          <a:xfrm>
            <a:off x="3773263" y="4244709"/>
            <a:ext cx="11272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 dirty="0">
                <a:solidFill>
                  <a:srgbClr val="CC0099"/>
                </a:solidFill>
                <a:latin typeface="+mn-lt"/>
                <a:ea typeface="+mn-ea"/>
              </a:rPr>
              <a:t>访存操作</a:t>
            </a:r>
            <a:endParaRPr lang="en-US" altLang="zh-CN" sz="1800" dirty="0">
              <a:solidFill>
                <a:srgbClr val="CC0099"/>
              </a:solidFill>
              <a:latin typeface="+mn-lt"/>
              <a:ea typeface="+mn-ea"/>
            </a:endParaRPr>
          </a:p>
        </p:txBody>
      </p:sp>
      <p:sp>
        <p:nvSpPr>
          <p:cNvPr id="8" name="TextBox 27">
            <a:extLst>
              <a:ext uri="{FF2B5EF4-FFF2-40B4-BE49-F238E27FC236}">
                <a16:creationId xmlns:a16="http://schemas.microsoft.com/office/drawing/2014/main" id="{3ED8A402-5C2E-114C-D9BD-D8C92EF11A20}"/>
              </a:ext>
            </a:extLst>
          </p:cNvPr>
          <p:cNvSpPr txBox="1"/>
          <p:nvPr/>
        </p:nvSpPr>
        <p:spPr>
          <a:xfrm>
            <a:off x="3752354" y="3650966"/>
            <a:ext cx="11272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 dirty="0">
                <a:solidFill>
                  <a:srgbClr val="F79646">
                    <a:lumMod val="75000"/>
                  </a:srgbClr>
                </a:solidFill>
                <a:latin typeface="+mn-lt"/>
                <a:ea typeface="+mn-ea"/>
              </a:rPr>
              <a:t>直接跳转</a:t>
            </a:r>
            <a:endParaRPr lang="en-US" altLang="zh-CN" sz="1800" dirty="0">
              <a:solidFill>
                <a:srgbClr val="F79646">
                  <a:lumMod val="75000"/>
                </a:srgbClr>
              </a:solidFill>
              <a:latin typeface="+mn-lt"/>
              <a:ea typeface="+mn-ea"/>
            </a:endParaRPr>
          </a:p>
          <a:p>
            <a:r>
              <a:rPr lang="zh-CN" altLang="en-US" sz="1800" dirty="0">
                <a:solidFill>
                  <a:srgbClr val="F79646">
                    <a:lumMod val="75000"/>
                  </a:srgbClr>
                </a:solidFill>
                <a:latin typeface="+mn-lt"/>
                <a:ea typeface="+mn-ea"/>
              </a:rPr>
              <a:t>过程调用</a:t>
            </a:r>
          </a:p>
        </p:txBody>
      </p:sp>
      <p:sp>
        <p:nvSpPr>
          <p:cNvPr id="9" name="TextBox 16">
            <a:extLst>
              <a:ext uri="{FF2B5EF4-FFF2-40B4-BE49-F238E27FC236}">
                <a16:creationId xmlns:a16="http://schemas.microsoft.com/office/drawing/2014/main" id="{04C1C167-2485-BC75-571D-43E5C8937120}"/>
              </a:ext>
            </a:extLst>
          </p:cNvPr>
          <p:cNvSpPr txBox="1"/>
          <p:nvPr/>
        </p:nvSpPr>
        <p:spPr>
          <a:xfrm>
            <a:off x="3752357" y="3361798"/>
            <a:ext cx="11272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 dirty="0">
                <a:solidFill>
                  <a:srgbClr val="9BBB59">
                    <a:lumMod val="50000"/>
                  </a:srgbClr>
                </a:solidFill>
                <a:latin typeface="+mn-lt"/>
                <a:ea typeface="+mn-ea"/>
              </a:rPr>
              <a:t>分支跳转</a:t>
            </a:r>
          </a:p>
        </p:txBody>
      </p:sp>
      <p:sp>
        <p:nvSpPr>
          <p:cNvPr id="10" name="TextBox 13">
            <a:extLst>
              <a:ext uri="{FF2B5EF4-FFF2-40B4-BE49-F238E27FC236}">
                <a16:creationId xmlns:a16="http://schemas.microsoft.com/office/drawing/2014/main" id="{4357E19B-95F1-5ACC-98B0-2F0E8BED1FF2}"/>
              </a:ext>
            </a:extLst>
          </p:cNvPr>
          <p:cNvSpPr txBox="1"/>
          <p:nvPr/>
        </p:nvSpPr>
        <p:spPr>
          <a:xfrm>
            <a:off x="3752358" y="2748519"/>
            <a:ext cx="11272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 dirty="0">
                <a:solidFill>
                  <a:srgbClr val="C00000"/>
                </a:solidFill>
                <a:latin typeface="+mn-lt"/>
                <a:ea typeface="+mn-ea"/>
              </a:rPr>
              <a:t>算术操作</a:t>
            </a:r>
            <a:endParaRPr lang="en-US" altLang="zh-CN" sz="1800" dirty="0">
              <a:solidFill>
                <a:srgbClr val="C00000"/>
              </a:solidFill>
              <a:latin typeface="+mn-lt"/>
              <a:ea typeface="+mn-ea"/>
            </a:endParaRPr>
          </a:p>
          <a:p>
            <a:r>
              <a:rPr lang="zh-CN" altLang="en-US" sz="1800" dirty="0">
                <a:solidFill>
                  <a:srgbClr val="C00000"/>
                </a:solidFill>
                <a:latin typeface="+mn-lt"/>
                <a:ea typeface="+mn-ea"/>
              </a:rPr>
              <a:t>逻辑操作</a:t>
            </a:r>
          </a:p>
        </p:txBody>
      </p:sp>
      <p:sp>
        <p:nvSpPr>
          <p:cNvPr id="11" name="TextBox 13">
            <a:extLst>
              <a:ext uri="{FF2B5EF4-FFF2-40B4-BE49-F238E27FC236}">
                <a16:creationId xmlns:a16="http://schemas.microsoft.com/office/drawing/2014/main" id="{B713FAB7-BFF8-EA6A-5A18-CD9188EA5FA0}"/>
              </a:ext>
            </a:extLst>
          </p:cNvPr>
          <p:cNvSpPr txBox="1"/>
          <p:nvPr/>
        </p:nvSpPr>
        <p:spPr>
          <a:xfrm>
            <a:off x="3186903" y="1400324"/>
            <a:ext cx="23054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 dirty="0">
                <a:solidFill>
                  <a:srgbClr val="C0504D">
                    <a:lumMod val="75000"/>
                  </a:srgbClr>
                </a:solidFill>
                <a:latin typeface="+mn-lt"/>
                <a:ea typeface="+mn-ea"/>
              </a:rPr>
              <a:t>顺序执行，除非跳转</a:t>
            </a:r>
          </a:p>
        </p:txBody>
      </p:sp>
      <p:sp>
        <p:nvSpPr>
          <p:cNvPr id="12" name="TextBox 36">
            <a:extLst>
              <a:ext uri="{FF2B5EF4-FFF2-40B4-BE49-F238E27FC236}">
                <a16:creationId xmlns:a16="http://schemas.microsoft.com/office/drawing/2014/main" id="{C91276A0-BA43-5842-9E05-57475AE6B1DC}"/>
              </a:ext>
            </a:extLst>
          </p:cNvPr>
          <p:cNvSpPr txBox="1"/>
          <p:nvPr/>
        </p:nvSpPr>
        <p:spPr>
          <a:xfrm>
            <a:off x="4011923" y="2395557"/>
            <a:ext cx="6559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 dirty="0">
                <a:solidFill>
                  <a:srgbClr val="4F81BD">
                    <a:lumMod val="75000"/>
                  </a:srgbClr>
                </a:solidFill>
                <a:latin typeface="+mn-lt"/>
                <a:ea typeface="+mn-ea"/>
              </a:rPr>
              <a:t>赋值</a:t>
            </a:r>
          </a:p>
        </p:txBody>
      </p:sp>
      <p:sp>
        <p:nvSpPr>
          <p:cNvPr id="14" name="TextBox 27">
            <a:extLst>
              <a:ext uri="{FF2B5EF4-FFF2-40B4-BE49-F238E27FC236}">
                <a16:creationId xmlns:a16="http://schemas.microsoft.com/office/drawing/2014/main" id="{12A5D76F-5CB9-268F-7344-D394B0C76B93}"/>
              </a:ext>
            </a:extLst>
          </p:cNvPr>
          <p:cNvSpPr txBox="1"/>
          <p:nvPr/>
        </p:nvSpPr>
        <p:spPr>
          <a:xfrm>
            <a:off x="1602495" y="6026775"/>
            <a:ext cx="593901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eaLnBrk="1" hangingPunct="1">
              <a:defRPr sz="3200" b="1">
                <a:solidFill>
                  <a:srgbClr val="FF3300"/>
                </a:solidFill>
                <a:latin typeface="黑体" pitchFamily="49" charset="-122"/>
                <a:ea typeface="黑体" pitchFamily="49" charset="-122"/>
              </a:defRPr>
            </a:lvl1pPr>
            <a:lvl2pPr marL="742950" indent="-285750" eaLnBrk="0" hangingPunct="0">
              <a:defRPr sz="4600" b="1">
                <a:solidFill>
                  <a:srgbClr val="FF3300"/>
                </a:solidFill>
                <a:latin typeface="Garamond" pitchFamily="18" charset="0"/>
                <a:ea typeface="宋体" charset="-122"/>
              </a:defRPr>
            </a:lvl2pPr>
            <a:lvl3pPr marL="1143000" indent="-228600" eaLnBrk="0" hangingPunct="0">
              <a:defRPr sz="4600" b="1">
                <a:solidFill>
                  <a:srgbClr val="FF3300"/>
                </a:solidFill>
                <a:latin typeface="Garamond" pitchFamily="18" charset="0"/>
                <a:ea typeface="宋体" charset="-122"/>
              </a:defRPr>
            </a:lvl3pPr>
            <a:lvl4pPr marL="1600200" indent="-228600" eaLnBrk="0" hangingPunct="0">
              <a:defRPr sz="4600" b="1">
                <a:solidFill>
                  <a:srgbClr val="FF3300"/>
                </a:solidFill>
                <a:latin typeface="Garamond" pitchFamily="18" charset="0"/>
                <a:ea typeface="宋体" charset="-122"/>
              </a:defRPr>
            </a:lvl4pPr>
            <a:lvl5pPr marL="2057400" indent="-228600" eaLnBrk="0" hangingPunct="0">
              <a:defRPr sz="4600" b="1">
                <a:solidFill>
                  <a:srgbClr val="FF3300"/>
                </a:solidFill>
                <a:latin typeface="Garamond" pitchFamily="18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600" b="1">
                <a:solidFill>
                  <a:srgbClr val="FF3300"/>
                </a:solidFill>
                <a:latin typeface="Garamond" pitchFamily="18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600" b="1">
                <a:solidFill>
                  <a:srgbClr val="FF3300"/>
                </a:solidFill>
                <a:latin typeface="Garamond" pitchFamily="18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600" b="1">
                <a:solidFill>
                  <a:srgbClr val="FF3300"/>
                </a:solidFill>
                <a:latin typeface="Garamond" pitchFamily="18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600" b="1">
                <a:solidFill>
                  <a:srgbClr val="FF3300"/>
                </a:solidFill>
                <a:latin typeface="Garamond" pitchFamily="18" charset="0"/>
                <a:ea typeface="宋体" charset="-122"/>
              </a:defRPr>
            </a:lvl9pPr>
          </a:lstStyle>
          <a:p>
            <a:r>
              <a:rPr lang="zh-CN" altLang="en-US" sz="2400" dirty="0">
                <a:solidFill>
                  <a:srgbClr val="0432FF"/>
                </a:solidFill>
                <a:latin typeface="+mn-lt"/>
                <a:ea typeface="+mn-ea"/>
              </a:rPr>
              <a:t>不同点 </a:t>
            </a:r>
            <a:r>
              <a:rPr lang="en-US" altLang="zh-CN" sz="2400" dirty="0">
                <a:solidFill>
                  <a:srgbClr val="0432FF"/>
                </a:solidFill>
                <a:latin typeface="+mn-lt"/>
                <a:ea typeface="+mn-ea"/>
              </a:rPr>
              <a:t>&amp; </a:t>
            </a:r>
            <a:r>
              <a:rPr lang="zh-CN" altLang="en-US" sz="2400" dirty="0">
                <a:solidFill>
                  <a:srgbClr val="0432FF"/>
                </a:solidFill>
                <a:latin typeface="+mn-lt"/>
                <a:ea typeface="+mn-ea"/>
              </a:rPr>
              <a:t>相同点</a:t>
            </a:r>
            <a:r>
              <a:rPr lang="en-US" altLang="zh-CN" sz="2400" dirty="0">
                <a:solidFill>
                  <a:srgbClr val="0432FF"/>
                </a:solidFill>
                <a:latin typeface="+mn-lt"/>
                <a:ea typeface="+mn-ea"/>
              </a:rPr>
              <a:t>?</a:t>
            </a:r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570A1D7E-5FC8-2370-18B8-F2AF3EC33E22}"/>
              </a:ext>
            </a:extLst>
          </p:cNvPr>
          <p:cNvSpPr/>
          <p:nvPr/>
        </p:nvSpPr>
        <p:spPr>
          <a:xfrm flipV="1">
            <a:off x="3003099" y="5034993"/>
            <a:ext cx="630936" cy="298409"/>
          </a:xfrm>
          <a:prstGeom prst="rect">
            <a:avLst/>
          </a:prstGeom>
          <a:noFill/>
          <a:ln>
            <a:solidFill>
              <a:srgbClr val="CC0099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l"/>
            <a:endParaRPr lang="zh-CN" altLang="en-US" sz="1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 16">
            <a:extLst>
              <a:ext uri="{FF2B5EF4-FFF2-40B4-BE49-F238E27FC236}">
                <a16:creationId xmlns:a16="http://schemas.microsoft.com/office/drawing/2014/main" id="{9CFBB4A6-5507-61F7-7F2E-8BA07C949CBB}"/>
              </a:ext>
            </a:extLst>
          </p:cNvPr>
          <p:cNvSpPr/>
          <p:nvPr/>
        </p:nvSpPr>
        <p:spPr>
          <a:xfrm flipV="1">
            <a:off x="3022979" y="4744746"/>
            <a:ext cx="630936" cy="298409"/>
          </a:xfrm>
          <a:prstGeom prst="rect">
            <a:avLst/>
          </a:prstGeom>
          <a:noFill/>
          <a:ln>
            <a:solidFill>
              <a:srgbClr val="CC0099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l"/>
            <a:endParaRPr lang="zh-CN" altLang="en-US" sz="1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 18">
            <a:extLst>
              <a:ext uri="{FF2B5EF4-FFF2-40B4-BE49-F238E27FC236}">
                <a16:creationId xmlns:a16="http://schemas.microsoft.com/office/drawing/2014/main" id="{25E1F451-DA95-296D-F07E-89A52B4A0FEC}"/>
              </a:ext>
            </a:extLst>
          </p:cNvPr>
          <p:cNvSpPr/>
          <p:nvPr/>
        </p:nvSpPr>
        <p:spPr>
          <a:xfrm flipV="1">
            <a:off x="1774418" y="4735602"/>
            <a:ext cx="630936" cy="298409"/>
          </a:xfrm>
          <a:prstGeom prst="rect">
            <a:avLst/>
          </a:prstGeom>
          <a:noFill/>
          <a:ln>
            <a:solidFill>
              <a:srgbClr val="CC0099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l"/>
            <a:endParaRPr lang="zh-CN" altLang="en-US" sz="1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ectangle 19">
            <a:extLst>
              <a:ext uri="{FF2B5EF4-FFF2-40B4-BE49-F238E27FC236}">
                <a16:creationId xmlns:a16="http://schemas.microsoft.com/office/drawing/2014/main" id="{55BE95CE-EAE3-40F6-BCF7-C9A538344A4B}"/>
              </a:ext>
            </a:extLst>
          </p:cNvPr>
          <p:cNvSpPr/>
          <p:nvPr/>
        </p:nvSpPr>
        <p:spPr>
          <a:xfrm flipV="1">
            <a:off x="1287451" y="5033201"/>
            <a:ext cx="1065055" cy="298409"/>
          </a:xfrm>
          <a:prstGeom prst="rect">
            <a:avLst/>
          </a:prstGeom>
          <a:noFill/>
          <a:ln>
            <a:solidFill>
              <a:srgbClr val="CC0099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l"/>
            <a:endParaRPr lang="zh-CN" altLang="en-US" sz="1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ectangle 20">
            <a:extLst>
              <a:ext uri="{FF2B5EF4-FFF2-40B4-BE49-F238E27FC236}">
                <a16:creationId xmlns:a16="http://schemas.microsoft.com/office/drawing/2014/main" id="{38A6503F-E18A-AF2D-9F70-5E54365E53C4}"/>
              </a:ext>
            </a:extLst>
          </p:cNvPr>
          <p:cNvSpPr/>
          <p:nvPr/>
        </p:nvSpPr>
        <p:spPr>
          <a:xfrm flipV="1">
            <a:off x="776058" y="4206589"/>
            <a:ext cx="630936" cy="298409"/>
          </a:xfrm>
          <a:prstGeom prst="rect">
            <a:avLst/>
          </a:prstGeom>
          <a:noFill/>
          <a:ln>
            <a:solidFill>
              <a:srgbClr val="CC0099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l"/>
            <a:endParaRPr lang="zh-CN" altLang="en-US" sz="1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Rectangle 21">
            <a:extLst>
              <a:ext uri="{FF2B5EF4-FFF2-40B4-BE49-F238E27FC236}">
                <a16:creationId xmlns:a16="http://schemas.microsoft.com/office/drawing/2014/main" id="{0475F6FF-69CC-527E-0F7E-A56E470A07FA}"/>
              </a:ext>
            </a:extLst>
          </p:cNvPr>
          <p:cNvSpPr/>
          <p:nvPr/>
        </p:nvSpPr>
        <p:spPr>
          <a:xfrm flipV="1">
            <a:off x="1654577" y="4206588"/>
            <a:ext cx="630936" cy="298409"/>
          </a:xfrm>
          <a:prstGeom prst="rect">
            <a:avLst/>
          </a:prstGeom>
          <a:noFill/>
          <a:ln>
            <a:solidFill>
              <a:srgbClr val="CC0099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l"/>
            <a:endParaRPr lang="zh-CN" altLang="en-US" sz="1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10">
            <a:extLst>
              <a:ext uri="{FF2B5EF4-FFF2-40B4-BE49-F238E27FC236}">
                <a16:creationId xmlns:a16="http://schemas.microsoft.com/office/drawing/2014/main" id="{D31CFA75-9C85-14DD-87C5-F687942130FD}"/>
              </a:ext>
            </a:extLst>
          </p:cNvPr>
          <p:cNvSpPr txBox="1"/>
          <p:nvPr/>
        </p:nvSpPr>
        <p:spPr>
          <a:xfrm>
            <a:off x="5627420" y="1688288"/>
            <a:ext cx="351658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eaLnBrk="0" hangingPunct="0"/>
            <a:r>
              <a:rPr lang="en-US" altLang="zh-CN" sz="1800" i="1" dirty="0">
                <a:solidFill>
                  <a:srgbClr val="000000"/>
                </a:solidFill>
                <a:highlight>
                  <a:srgbClr val="C0C0C0"/>
                </a:highlight>
                <a:latin typeface="Consolas" panose="020B0609020204030204" pitchFamily="49" charset="0"/>
              </a:rPr>
              <a:t>DIJKSTRA(G, w, s)</a:t>
            </a:r>
          </a:p>
          <a:p>
            <a:pPr algn="l" eaLnBrk="0" hangingPunct="0"/>
            <a:r>
              <a:rPr lang="en-US" altLang="zh-CN" sz="1800" b="0" i="1" dirty="0">
                <a:solidFill>
                  <a:srgbClr val="4F81BD">
                    <a:lumMod val="75000"/>
                  </a:srgbClr>
                </a:solidFill>
                <a:latin typeface="Consolas" panose="020B0609020204030204" pitchFamily="49" charset="0"/>
              </a:rPr>
              <a:t>S = ∅</a:t>
            </a:r>
          </a:p>
          <a:p>
            <a:pPr algn="l" eaLnBrk="0" hangingPunct="0"/>
            <a:r>
              <a:rPr lang="en-US" altLang="zh-CN" sz="1800" b="0" i="1" dirty="0">
                <a:solidFill>
                  <a:srgbClr val="4F81BD">
                    <a:lumMod val="75000"/>
                  </a:srgbClr>
                </a:solidFill>
                <a:latin typeface="Consolas" panose="020B0609020204030204" pitchFamily="49" charset="0"/>
              </a:rPr>
              <a:t>Q = G.V</a:t>
            </a:r>
          </a:p>
          <a:p>
            <a:pPr algn="l" eaLnBrk="0" hangingPunct="0"/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while </a:t>
            </a:r>
            <a:r>
              <a:rPr lang="en-US" altLang="zh-CN" sz="1800" b="0" i="1" dirty="0">
                <a:solidFill>
                  <a:srgbClr val="C00000"/>
                </a:solidFill>
                <a:latin typeface="Consolas" panose="020B0609020204030204" pitchFamily="49" charset="0"/>
              </a:rPr>
              <a:t>Q != ∅</a:t>
            </a:r>
          </a:p>
          <a:p>
            <a:pPr algn="l" eaLnBrk="0" hangingPunct="0"/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altLang="zh-CN" sz="1800" b="0" i="1" dirty="0">
                <a:solidFill>
                  <a:srgbClr val="4F81BD">
                    <a:lumMod val="75000"/>
                  </a:srgbClr>
                </a:solidFill>
                <a:latin typeface="Consolas" panose="020B0609020204030204" pitchFamily="49" charset="0"/>
              </a:rPr>
              <a:t>u = EXTRACT-MIN(Q) </a:t>
            </a:r>
          </a:p>
          <a:p>
            <a:pPr algn="l" eaLnBrk="0" hangingPunct="0"/>
            <a:r>
              <a:rPr lang="en-US" altLang="zh-CN" sz="1800" b="0" i="1" dirty="0">
                <a:solidFill>
                  <a:srgbClr val="4F81BD">
                    <a:lumMod val="75000"/>
                  </a:srgbClr>
                </a:solidFill>
                <a:latin typeface="Consolas" panose="020B0609020204030204" pitchFamily="49" charset="0"/>
              </a:rPr>
              <a:t>  S = S ∪ {u};</a:t>
            </a:r>
          </a:p>
          <a:p>
            <a:pPr algn="l" eaLnBrk="0" hangingPunct="0"/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  for each v ∈ </a:t>
            </a:r>
            <a:r>
              <a:rPr lang="en-US" altLang="zh-CN" sz="1800" b="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Q.Adj</a:t>
            </a:r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(u)</a:t>
            </a:r>
          </a:p>
          <a:p>
            <a:pPr algn="l" eaLnBrk="0" hangingPunct="0"/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    RELAX(u, v, w)		</a:t>
            </a:r>
          </a:p>
          <a:p>
            <a:pPr algn="l" eaLnBrk="0" hangingPunct="0"/>
            <a:r>
              <a:rPr lang="en-US" altLang="zh-CN" sz="1800" i="1" dirty="0">
                <a:solidFill>
                  <a:srgbClr val="000000"/>
                </a:solidFill>
                <a:highlight>
                  <a:srgbClr val="C0C0C0"/>
                </a:highlight>
                <a:latin typeface="Consolas" panose="020B0609020204030204" pitchFamily="49" charset="0"/>
              </a:rPr>
              <a:t>RELAX(</a:t>
            </a:r>
            <a:r>
              <a:rPr lang="en-US" altLang="zh-CN" sz="1800" i="1" dirty="0" err="1">
                <a:solidFill>
                  <a:srgbClr val="000000"/>
                </a:solidFill>
                <a:highlight>
                  <a:srgbClr val="C0C0C0"/>
                </a:highlight>
                <a:latin typeface="Consolas" panose="020B0609020204030204" pitchFamily="49" charset="0"/>
              </a:rPr>
              <a:t>u,v,w</a:t>
            </a:r>
            <a:r>
              <a:rPr lang="en-US" altLang="zh-CN" sz="1800" i="1" dirty="0">
                <a:solidFill>
                  <a:srgbClr val="000000"/>
                </a:solidFill>
                <a:highlight>
                  <a:srgbClr val="C0C0C0"/>
                </a:highlight>
                <a:latin typeface="Consolas" panose="020B0609020204030204" pitchFamily="49" charset="0"/>
              </a:rPr>
              <a:t>)</a:t>
            </a:r>
          </a:p>
          <a:p>
            <a:pPr algn="l" eaLnBrk="0" hangingPunct="0"/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if </a:t>
            </a:r>
            <a:r>
              <a:rPr lang="en-US" altLang="zh-CN" sz="1800" b="0" i="1" dirty="0" err="1">
                <a:solidFill>
                  <a:srgbClr val="C00000"/>
                </a:solidFill>
                <a:latin typeface="Consolas" panose="020B0609020204030204" pitchFamily="49" charset="0"/>
              </a:rPr>
              <a:t>v.d</a:t>
            </a:r>
            <a:r>
              <a:rPr lang="en-US" altLang="zh-CN" sz="1800" b="0" i="1" dirty="0">
                <a:solidFill>
                  <a:srgbClr val="C00000"/>
                </a:solidFill>
                <a:latin typeface="Consolas" panose="020B0609020204030204" pitchFamily="49" charset="0"/>
              </a:rPr>
              <a:t> &gt; </a:t>
            </a:r>
            <a:r>
              <a:rPr lang="en-US" altLang="zh-CN" sz="1800" b="0" i="1" dirty="0" err="1">
                <a:solidFill>
                  <a:srgbClr val="C00000"/>
                </a:solidFill>
                <a:latin typeface="Consolas" panose="020B0609020204030204" pitchFamily="49" charset="0"/>
              </a:rPr>
              <a:t>u.d</a:t>
            </a:r>
            <a:r>
              <a:rPr lang="en-US" altLang="zh-CN" sz="1800" b="0" i="1" dirty="0">
                <a:solidFill>
                  <a:srgbClr val="C00000"/>
                </a:solidFill>
                <a:latin typeface="Consolas" panose="020B0609020204030204" pitchFamily="49" charset="0"/>
              </a:rPr>
              <a:t> + w(</a:t>
            </a:r>
            <a:r>
              <a:rPr lang="en-US" altLang="zh-CN" sz="1800" b="0" i="1" dirty="0" err="1">
                <a:solidFill>
                  <a:srgbClr val="C00000"/>
                </a:solidFill>
                <a:latin typeface="Consolas" panose="020B0609020204030204" pitchFamily="49" charset="0"/>
              </a:rPr>
              <a:t>u,v</a:t>
            </a:r>
            <a:r>
              <a:rPr lang="en-US" altLang="zh-CN" sz="1800" b="0" i="1" dirty="0">
                <a:solidFill>
                  <a:srgbClr val="C00000"/>
                </a:solidFill>
                <a:latin typeface="Consolas" panose="020B0609020204030204" pitchFamily="49" charset="0"/>
              </a:rPr>
              <a:t>)</a:t>
            </a:r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</a:p>
          <a:p>
            <a:pPr algn="l" eaLnBrk="0" hangingPunct="0"/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altLang="zh-CN" sz="1800" b="0" i="1" dirty="0" err="1">
                <a:solidFill>
                  <a:srgbClr val="C00000"/>
                </a:solidFill>
                <a:latin typeface="Consolas" panose="020B0609020204030204" pitchFamily="49" charset="0"/>
              </a:rPr>
              <a:t>v.d</a:t>
            </a:r>
            <a:r>
              <a:rPr lang="en-US" altLang="zh-CN" sz="1800" b="0" i="1" dirty="0">
                <a:solidFill>
                  <a:srgbClr val="C00000"/>
                </a:solidFill>
                <a:latin typeface="Consolas" panose="020B0609020204030204" pitchFamily="49" charset="0"/>
              </a:rPr>
              <a:t> = </a:t>
            </a:r>
            <a:r>
              <a:rPr lang="en-US" altLang="zh-CN" sz="1800" b="0" i="1" dirty="0" err="1">
                <a:solidFill>
                  <a:srgbClr val="C00000"/>
                </a:solidFill>
                <a:latin typeface="Consolas" panose="020B0609020204030204" pitchFamily="49" charset="0"/>
              </a:rPr>
              <a:t>u.d</a:t>
            </a:r>
            <a:r>
              <a:rPr lang="en-US" altLang="zh-CN" sz="1800" b="0" i="1" dirty="0">
                <a:solidFill>
                  <a:srgbClr val="C00000"/>
                </a:solidFill>
                <a:latin typeface="Consolas" panose="020B0609020204030204" pitchFamily="49" charset="0"/>
              </a:rPr>
              <a:t> + w(</a:t>
            </a:r>
            <a:r>
              <a:rPr lang="en-US" altLang="zh-CN" sz="1800" b="0" i="1" dirty="0" err="1">
                <a:solidFill>
                  <a:srgbClr val="C00000"/>
                </a:solidFill>
                <a:latin typeface="Consolas" panose="020B0609020204030204" pitchFamily="49" charset="0"/>
              </a:rPr>
              <a:t>u,v</a:t>
            </a:r>
            <a:r>
              <a:rPr lang="en-US" altLang="zh-CN" sz="1800" b="0" i="1" dirty="0">
                <a:solidFill>
                  <a:srgbClr val="C00000"/>
                </a:solidFill>
                <a:latin typeface="Consolas" panose="020B0609020204030204" pitchFamily="49" charset="0"/>
              </a:rPr>
              <a:t>)</a:t>
            </a:r>
          </a:p>
          <a:p>
            <a:pPr algn="l" eaLnBrk="0" hangingPunct="0"/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altLang="zh-CN" sz="1800" b="0" i="1" dirty="0">
                <a:solidFill>
                  <a:srgbClr val="4F81BD">
                    <a:lumMod val="75000"/>
                  </a:srgbClr>
                </a:solidFill>
                <a:latin typeface="Consolas" panose="020B0609020204030204" pitchFamily="49" charset="0"/>
              </a:rPr>
              <a:t>v.</a:t>
            </a:r>
            <a:r>
              <a:rPr lang="el-GR" altLang="zh-CN" sz="1800" b="0" i="1" dirty="0">
                <a:solidFill>
                  <a:srgbClr val="4F81BD">
                    <a:lumMod val="75000"/>
                  </a:srgbClr>
                </a:solidFill>
                <a:latin typeface="Consolas" panose="020B0609020204030204" pitchFamily="49" charset="0"/>
              </a:rPr>
              <a:t>π = </a:t>
            </a:r>
            <a:r>
              <a:rPr lang="en-US" altLang="zh-CN" sz="1800" b="0" i="1" dirty="0">
                <a:solidFill>
                  <a:srgbClr val="4F81BD">
                    <a:lumMod val="75000"/>
                  </a:srgbClr>
                </a:solidFill>
                <a:latin typeface="Consolas" panose="020B0609020204030204" pitchFamily="49" charset="0"/>
              </a:rPr>
              <a:t>u</a:t>
            </a:r>
          </a:p>
        </p:txBody>
      </p:sp>
      <p:sp>
        <p:nvSpPr>
          <p:cNvPr id="24" name="TextBox 17">
            <a:extLst>
              <a:ext uri="{FF2B5EF4-FFF2-40B4-BE49-F238E27FC236}">
                <a16:creationId xmlns:a16="http://schemas.microsoft.com/office/drawing/2014/main" id="{F2BB9069-FA21-1F34-C5DB-9431F3BE619B}"/>
              </a:ext>
            </a:extLst>
          </p:cNvPr>
          <p:cNvSpPr txBox="1"/>
          <p:nvPr/>
        </p:nvSpPr>
        <p:spPr>
          <a:xfrm>
            <a:off x="114526" y="1691510"/>
            <a:ext cx="493342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eaLnBrk="0" hangingPunct="0"/>
            <a:r>
              <a:rPr lang="en-US" altLang="zh-CN" sz="1800" i="1" dirty="0">
                <a:solidFill>
                  <a:srgbClr val="000000"/>
                </a:solidFill>
                <a:highlight>
                  <a:srgbClr val="C0C0C0"/>
                </a:highlight>
                <a:latin typeface="Consolas" panose="020B0609020204030204" pitchFamily="49" charset="0"/>
              </a:rPr>
              <a:t>QUICK_SORT(A, p, r)</a:t>
            </a:r>
          </a:p>
          <a:p>
            <a:pPr algn="l" eaLnBrk="0" hangingPunct="0"/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if </a:t>
            </a:r>
            <a:r>
              <a:rPr lang="en-US" altLang="zh-CN" sz="1800" b="0" i="1" dirty="0">
                <a:solidFill>
                  <a:srgbClr val="C00000"/>
                </a:solidFill>
                <a:latin typeface="Consolas" panose="020B0609020204030204" pitchFamily="49" charset="0"/>
              </a:rPr>
              <a:t>p &lt; r        </a:t>
            </a:r>
          </a:p>
          <a:p>
            <a:pPr algn="l" eaLnBrk="0" hangingPunct="0"/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altLang="zh-CN" sz="1800" b="0" i="1" dirty="0">
                <a:solidFill>
                  <a:srgbClr val="4F81BD">
                    <a:lumMod val="75000"/>
                  </a:srgbClr>
                </a:solidFill>
                <a:latin typeface="Consolas" panose="020B0609020204030204" pitchFamily="49" charset="0"/>
              </a:rPr>
              <a:t>q = PARTITION(A, p, r)</a:t>
            </a:r>
          </a:p>
          <a:p>
            <a:pPr algn="l" eaLnBrk="0" hangingPunct="0"/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  QUICK_SORT(A, p, </a:t>
            </a:r>
            <a:r>
              <a:rPr lang="en-US" altLang="zh-CN" sz="1800" b="0" i="1" dirty="0">
                <a:solidFill>
                  <a:srgbClr val="C00000"/>
                </a:solidFill>
                <a:latin typeface="Consolas" panose="020B0609020204030204" pitchFamily="49" charset="0"/>
              </a:rPr>
              <a:t>q - 1</a:t>
            </a:r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algn="l" eaLnBrk="0" hangingPunct="0"/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  QUICK_SORT(A, </a:t>
            </a:r>
            <a:r>
              <a:rPr lang="en-US" altLang="zh-CN" sz="1800" b="0" i="1" dirty="0">
                <a:solidFill>
                  <a:srgbClr val="C00000"/>
                </a:solidFill>
                <a:latin typeface="Consolas" panose="020B0609020204030204" pitchFamily="49" charset="0"/>
              </a:rPr>
              <a:t>q + 1</a:t>
            </a:r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, r)</a:t>
            </a:r>
          </a:p>
          <a:p>
            <a:pPr algn="l" eaLnBrk="0" hangingPunct="0"/>
            <a:endParaRPr lang="en-US" altLang="zh-CN" sz="1800" i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l" eaLnBrk="0" hangingPunct="0"/>
            <a:r>
              <a:rPr lang="en-US" altLang="zh-CN" sz="1800" i="1" dirty="0">
                <a:solidFill>
                  <a:srgbClr val="000000"/>
                </a:solidFill>
                <a:highlight>
                  <a:srgbClr val="C0C0C0"/>
                </a:highlight>
                <a:latin typeface="Consolas" panose="020B0609020204030204" pitchFamily="49" charset="0"/>
              </a:rPr>
              <a:t>PARTITION(</a:t>
            </a:r>
            <a:r>
              <a:rPr lang="en-US" altLang="zh-CN" sz="1800" i="1" dirty="0" err="1">
                <a:solidFill>
                  <a:srgbClr val="000000"/>
                </a:solidFill>
                <a:highlight>
                  <a:srgbClr val="C0C0C0"/>
                </a:highlight>
                <a:latin typeface="Consolas" panose="020B0609020204030204" pitchFamily="49" charset="0"/>
              </a:rPr>
              <a:t>A,p,r</a:t>
            </a:r>
            <a:r>
              <a:rPr lang="en-US" altLang="zh-CN" sz="1800" i="1" dirty="0">
                <a:solidFill>
                  <a:srgbClr val="000000"/>
                </a:solidFill>
                <a:highlight>
                  <a:srgbClr val="C0C0C0"/>
                </a:highlight>
                <a:latin typeface="Consolas" panose="020B0609020204030204" pitchFamily="49" charset="0"/>
              </a:rPr>
              <a:t>)</a:t>
            </a:r>
          </a:p>
          <a:p>
            <a:pPr algn="l" eaLnBrk="0" hangingPunct="0"/>
            <a:r>
              <a:rPr lang="en-US" altLang="zh-CN" sz="1800" b="0" i="1" dirty="0">
                <a:solidFill>
                  <a:srgbClr val="C00000"/>
                </a:solidFill>
                <a:latin typeface="Consolas" panose="020B0609020204030204" pitchFamily="49" charset="0"/>
              </a:rPr>
              <a:t>i = p - 1</a:t>
            </a:r>
          </a:p>
          <a:p>
            <a:pPr algn="l" eaLnBrk="0" hangingPunct="0"/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for </a:t>
            </a:r>
            <a:r>
              <a:rPr lang="en-US" altLang="zh-CN" sz="1800" b="0" i="1" dirty="0">
                <a:solidFill>
                  <a:srgbClr val="4F81BD">
                    <a:lumMod val="75000"/>
                  </a:srgbClr>
                </a:solidFill>
                <a:latin typeface="Consolas" panose="020B0609020204030204" pitchFamily="49" charset="0"/>
              </a:rPr>
              <a:t>j = p to </a:t>
            </a:r>
            <a:r>
              <a:rPr lang="en-US" altLang="zh-CN" sz="1800" b="0" i="1" dirty="0">
                <a:solidFill>
                  <a:srgbClr val="C00000"/>
                </a:solidFill>
                <a:latin typeface="Consolas" panose="020B0609020204030204" pitchFamily="49" charset="0"/>
              </a:rPr>
              <a:t>r - 1</a:t>
            </a:r>
          </a:p>
          <a:p>
            <a:pPr algn="l" eaLnBrk="0" hangingPunct="0"/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  if </a:t>
            </a:r>
            <a:r>
              <a:rPr lang="en-US" altLang="zh-CN" sz="1800" b="0" i="1" dirty="0">
                <a:solidFill>
                  <a:srgbClr val="C00000"/>
                </a:solidFill>
                <a:latin typeface="Consolas" panose="020B0609020204030204" pitchFamily="49" charset="0"/>
              </a:rPr>
              <a:t>A[j] &lt; A[r]</a:t>
            </a:r>
          </a:p>
          <a:p>
            <a:pPr algn="l" eaLnBrk="0" hangingPunct="0"/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800" b="0" i="1" dirty="0" err="1">
                <a:solidFill>
                  <a:srgbClr val="C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sz="1800" b="0" i="1" dirty="0">
                <a:solidFill>
                  <a:srgbClr val="C00000"/>
                </a:solidFill>
                <a:latin typeface="Consolas" panose="020B0609020204030204" pitchFamily="49" charset="0"/>
              </a:rPr>
              <a:t> = </a:t>
            </a:r>
            <a:r>
              <a:rPr lang="en-US" altLang="zh-CN" sz="1800" b="0" i="1" dirty="0" err="1">
                <a:solidFill>
                  <a:srgbClr val="C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sz="1800" b="0" i="1" dirty="0">
                <a:solidFill>
                  <a:srgbClr val="C00000"/>
                </a:solidFill>
                <a:latin typeface="Consolas" panose="020B0609020204030204" pitchFamily="49" charset="0"/>
              </a:rPr>
              <a:t> + 1</a:t>
            </a:r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		</a:t>
            </a:r>
          </a:p>
          <a:p>
            <a:pPr algn="l" eaLnBrk="0" hangingPunct="0"/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800" b="0" i="1" dirty="0">
                <a:solidFill>
                  <a:srgbClr val="4F81BD">
                    <a:lumMod val="75000"/>
                  </a:srgbClr>
                </a:solidFill>
                <a:latin typeface="Consolas" panose="020B0609020204030204" pitchFamily="49" charset="0"/>
              </a:rPr>
              <a:t>exchange A[j] with A[i]</a:t>
            </a:r>
          </a:p>
          <a:p>
            <a:pPr algn="l" eaLnBrk="0" hangingPunct="0"/>
            <a:r>
              <a:rPr lang="en-US" altLang="zh-CN" sz="1800" b="0" i="1" dirty="0">
                <a:solidFill>
                  <a:srgbClr val="4F81BD">
                    <a:lumMod val="75000"/>
                  </a:srgbClr>
                </a:solidFill>
                <a:latin typeface="Consolas" panose="020B0609020204030204" pitchFamily="49" charset="0"/>
              </a:rPr>
              <a:t>exchange A[</a:t>
            </a:r>
            <a:r>
              <a:rPr lang="en-US" altLang="zh-CN" sz="1800" b="0" i="1" dirty="0">
                <a:solidFill>
                  <a:srgbClr val="C00000"/>
                </a:solidFill>
                <a:latin typeface="Consolas" panose="020B0609020204030204" pitchFamily="49" charset="0"/>
              </a:rPr>
              <a:t>i + 1</a:t>
            </a:r>
            <a:r>
              <a:rPr lang="en-US" altLang="zh-CN" sz="1800" b="0" i="1" dirty="0">
                <a:solidFill>
                  <a:srgbClr val="4F81BD">
                    <a:lumMod val="75000"/>
                  </a:srgbClr>
                </a:solidFill>
                <a:latin typeface="Consolas" panose="020B0609020204030204" pitchFamily="49" charset="0"/>
              </a:rPr>
              <a:t>] with A[r]</a:t>
            </a:r>
          </a:p>
          <a:p>
            <a:pPr algn="l" eaLnBrk="0" hangingPunct="0"/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return </a:t>
            </a:r>
            <a:r>
              <a:rPr lang="en-US" altLang="zh-CN" sz="1800" b="0" i="1" dirty="0">
                <a:solidFill>
                  <a:srgbClr val="C00000"/>
                </a:solidFill>
                <a:latin typeface="Consolas" panose="020B0609020204030204" pitchFamily="49" charset="0"/>
              </a:rPr>
              <a:t>i + 1</a:t>
            </a:r>
          </a:p>
        </p:txBody>
      </p:sp>
    </p:spTree>
    <p:extLst>
      <p:ext uri="{BB962C8B-B14F-4D97-AF65-F5344CB8AC3E}">
        <p14:creationId xmlns:p14="http://schemas.microsoft.com/office/powerpoint/2010/main" val="26081181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一些软件算法实例</a:t>
            </a:r>
          </a:p>
        </p:txBody>
      </p:sp>
      <p:sp>
        <p:nvSpPr>
          <p:cNvPr id="2" name="TextBox 25"/>
          <p:cNvSpPr txBox="1"/>
          <p:nvPr/>
        </p:nvSpPr>
        <p:spPr>
          <a:xfrm>
            <a:off x="0" y="5790370"/>
            <a:ext cx="9144000" cy="4603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>
            <a:defPPr>
              <a:defRPr lang="en-US"/>
            </a:defPPr>
            <a:lvl1pPr eaLnBrk="1" hangingPunct="1">
              <a:defRPr sz="3200" b="1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eaLnBrk="0" hangingPunct="0">
              <a:defRPr sz="4600" b="1">
                <a:solidFill>
                  <a:srgbClr val="FF3300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4600" b="1">
                <a:solidFill>
                  <a:srgbClr val="FF3300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4600" b="1">
                <a:solidFill>
                  <a:srgbClr val="FF3300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4600" b="1">
                <a:solidFill>
                  <a:srgbClr val="FF3300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600" b="1">
                <a:solidFill>
                  <a:srgbClr val="FF3300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600" b="1">
                <a:solidFill>
                  <a:srgbClr val="FF3300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600" b="1">
                <a:solidFill>
                  <a:srgbClr val="FF3300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600" b="1">
                <a:solidFill>
                  <a:srgbClr val="FF3300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算法本质上是</a:t>
            </a:r>
            <a:r>
              <a:rPr lang="zh-CN" altLang="en-US" sz="2400" dirty="0">
                <a:solidFill>
                  <a:srgbClr val="0432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几种类型的指令</a:t>
            </a:r>
            <a:r>
              <a:rPr lang="zh-CN" altLang="en-US" sz="24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组成的序列</a:t>
            </a:r>
            <a:endParaRPr lang="en-US" altLang="zh-CN" sz="2400" dirty="0">
              <a:solidFill>
                <a:srgbClr val="0432FF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EC86A82E-A236-95EA-960F-E488274F0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t>13</a:t>
            </a:fld>
            <a:endParaRPr lang="en-US" altLang="zh-CN"/>
          </a:p>
        </p:txBody>
      </p:sp>
      <p:sp>
        <p:nvSpPr>
          <p:cNvPr id="5" name="TextBox 15">
            <a:extLst>
              <a:ext uri="{FF2B5EF4-FFF2-40B4-BE49-F238E27FC236}">
                <a16:creationId xmlns:a16="http://schemas.microsoft.com/office/drawing/2014/main" id="{8545B089-9DF1-A886-5033-A415A762CE49}"/>
              </a:ext>
            </a:extLst>
          </p:cNvPr>
          <p:cNvSpPr txBox="1"/>
          <p:nvPr/>
        </p:nvSpPr>
        <p:spPr>
          <a:xfrm>
            <a:off x="3773263" y="4244709"/>
            <a:ext cx="11272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 dirty="0">
                <a:solidFill>
                  <a:srgbClr val="CC0099"/>
                </a:solidFill>
                <a:latin typeface="+mn-lt"/>
                <a:ea typeface="+mn-ea"/>
              </a:rPr>
              <a:t>访存操作</a:t>
            </a:r>
            <a:endParaRPr lang="en-US" altLang="zh-CN" sz="1800" dirty="0">
              <a:solidFill>
                <a:srgbClr val="CC0099"/>
              </a:solidFill>
              <a:latin typeface="+mn-lt"/>
              <a:ea typeface="+mn-ea"/>
            </a:endParaRPr>
          </a:p>
        </p:txBody>
      </p:sp>
      <p:sp>
        <p:nvSpPr>
          <p:cNvPr id="8" name="TextBox 27">
            <a:extLst>
              <a:ext uri="{FF2B5EF4-FFF2-40B4-BE49-F238E27FC236}">
                <a16:creationId xmlns:a16="http://schemas.microsoft.com/office/drawing/2014/main" id="{15E4C19A-247C-3218-DDB7-CB80451B7A01}"/>
              </a:ext>
            </a:extLst>
          </p:cNvPr>
          <p:cNvSpPr txBox="1"/>
          <p:nvPr/>
        </p:nvSpPr>
        <p:spPr>
          <a:xfrm>
            <a:off x="3752354" y="3650966"/>
            <a:ext cx="11272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 dirty="0">
                <a:solidFill>
                  <a:srgbClr val="F79646">
                    <a:lumMod val="75000"/>
                  </a:srgbClr>
                </a:solidFill>
                <a:latin typeface="+mn-lt"/>
                <a:ea typeface="+mn-ea"/>
              </a:rPr>
              <a:t>直接跳转</a:t>
            </a:r>
            <a:endParaRPr lang="en-US" altLang="zh-CN" sz="1800" dirty="0">
              <a:solidFill>
                <a:srgbClr val="F79646">
                  <a:lumMod val="75000"/>
                </a:srgbClr>
              </a:solidFill>
              <a:latin typeface="+mn-lt"/>
              <a:ea typeface="+mn-ea"/>
            </a:endParaRPr>
          </a:p>
          <a:p>
            <a:r>
              <a:rPr lang="zh-CN" altLang="en-US" sz="1800" dirty="0">
                <a:solidFill>
                  <a:srgbClr val="F79646">
                    <a:lumMod val="75000"/>
                  </a:srgbClr>
                </a:solidFill>
                <a:latin typeface="+mn-lt"/>
                <a:ea typeface="+mn-ea"/>
              </a:rPr>
              <a:t>过程调用</a:t>
            </a:r>
          </a:p>
        </p:txBody>
      </p:sp>
      <p:sp>
        <p:nvSpPr>
          <p:cNvPr id="9" name="TextBox 16">
            <a:extLst>
              <a:ext uri="{FF2B5EF4-FFF2-40B4-BE49-F238E27FC236}">
                <a16:creationId xmlns:a16="http://schemas.microsoft.com/office/drawing/2014/main" id="{43F53B04-4948-7FB1-A163-0CD7B79CC863}"/>
              </a:ext>
            </a:extLst>
          </p:cNvPr>
          <p:cNvSpPr txBox="1"/>
          <p:nvPr/>
        </p:nvSpPr>
        <p:spPr>
          <a:xfrm>
            <a:off x="3752357" y="3361798"/>
            <a:ext cx="11272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 dirty="0">
                <a:solidFill>
                  <a:srgbClr val="9BBB59">
                    <a:lumMod val="50000"/>
                  </a:srgbClr>
                </a:solidFill>
                <a:latin typeface="+mn-lt"/>
                <a:ea typeface="+mn-ea"/>
              </a:rPr>
              <a:t>分支跳转</a:t>
            </a:r>
          </a:p>
        </p:txBody>
      </p:sp>
      <p:sp>
        <p:nvSpPr>
          <p:cNvPr id="10" name="TextBox 13">
            <a:extLst>
              <a:ext uri="{FF2B5EF4-FFF2-40B4-BE49-F238E27FC236}">
                <a16:creationId xmlns:a16="http://schemas.microsoft.com/office/drawing/2014/main" id="{1AAD6E3E-AA5D-646E-22E5-CF77B1DC59EC}"/>
              </a:ext>
            </a:extLst>
          </p:cNvPr>
          <p:cNvSpPr txBox="1"/>
          <p:nvPr/>
        </p:nvSpPr>
        <p:spPr>
          <a:xfrm>
            <a:off x="3752358" y="2748519"/>
            <a:ext cx="11272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 dirty="0">
                <a:solidFill>
                  <a:srgbClr val="C00000"/>
                </a:solidFill>
                <a:latin typeface="+mn-lt"/>
                <a:ea typeface="+mn-ea"/>
              </a:rPr>
              <a:t>算术操作</a:t>
            </a:r>
            <a:endParaRPr lang="en-US" altLang="zh-CN" sz="1800" dirty="0">
              <a:solidFill>
                <a:srgbClr val="C00000"/>
              </a:solidFill>
              <a:latin typeface="+mn-lt"/>
              <a:ea typeface="+mn-ea"/>
            </a:endParaRPr>
          </a:p>
          <a:p>
            <a:r>
              <a:rPr lang="zh-CN" altLang="en-US" sz="1800" dirty="0">
                <a:solidFill>
                  <a:srgbClr val="C00000"/>
                </a:solidFill>
                <a:latin typeface="+mn-lt"/>
                <a:ea typeface="+mn-ea"/>
              </a:rPr>
              <a:t>逻辑操作</a:t>
            </a:r>
          </a:p>
        </p:txBody>
      </p:sp>
      <p:sp>
        <p:nvSpPr>
          <p:cNvPr id="11" name="TextBox 13">
            <a:extLst>
              <a:ext uri="{FF2B5EF4-FFF2-40B4-BE49-F238E27FC236}">
                <a16:creationId xmlns:a16="http://schemas.microsoft.com/office/drawing/2014/main" id="{7F273E83-79A0-73E4-D5B9-64216BD95967}"/>
              </a:ext>
            </a:extLst>
          </p:cNvPr>
          <p:cNvSpPr txBox="1"/>
          <p:nvPr/>
        </p:nvSpPr>
        <p:spPr>
          <a:xfrm>
            <a:off x="3186903" y="1400324"/>
            <a:ext cx="23054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 dirty="0">
                <a:solidFill>
                  <a:srgbClr val="C0504D">
                    <a:lumMod val="75000"/>
                  </a:srgbClr>
                </a:solidFill>
                <a:latin typeface="+mn-lt"/>
                <a:ea typeface="+mn-ea"/>
              </a:rPr>
              <a:t>顺序执行，除非跳转</a:t>
            </a:r>
          </a:p>
        </p:txBody>
      </p:sp>
      <p:sp>
        <p:nvSpPr>
          <p:cNvPr id="12" name="TextBox 36">
            <a:extLst>
              <a:ext uri="{FF2B5EF4-FFF2-40B4-BE49-F238E27FC236}">
                <a16:creationId xmlns:a16="http://schemas.microsoft.com/office/drawing/2014/main" id="{6E87DEAA-016F-5724-FE33-56D6E56FB8F2}"/>
              </a:ext>
            </a:extLst>
          </p:cNvPr>
          <p:cNvSpPr txBox="1"/>
          <p:nvPr/>
        </p:nvSpPr>
        <p:spPr>
          <a:xfrm>
            <a:off x="4011923" y="2395557"/>
            <a:ext cx="6559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 dirty="0">
                <a:solidFill>
                  <a:srgbClr val="4F81BD">
                    <a:lumMod val="75000"/>
                  </a:srgbClr>
                </a:solidFill>
                <a:latin typeface="+mn-lt"/>
                <a:ea typeface="+mn-ea"/>
              </a:rPr>
              <a:t>赋值</a:t>
            </a:r>
          </a:p>
        </p:txBody>
      </p:sp>
      <p:sp>
        <p:nvSpPr>
          <p:cNvPr id="16" name="TextBox 10">
            <a:extLst>
              <a:ext uri="{FF2B5EF4-FFF2-40B4-BE49-F238E27FC236}">
                <a16:creationId xmlns:a16="http://schemas.microsoft.com/office/drawing/2014/main" id="{966DD765-6848-8E3B-D4BF-7807DE4D085B}"/>
              </a:ext>
            </a:extLst>
          </p:cNvPr>
          <p:cNvSpPr txBox="1"/>
          <p:nvPr/>
        </p:nvSpPr>
        <p:spPr>
          <a:xfrm>
            <a:off x="5627420" y="1688288"/>
            <a:ext cx="351658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eaLnBrk="0" hangingPunct="0"/>
            <a:r>
              <a:rPr lang="en-US" altLang="zh-CN" sz="1800" i="1" dirty="0">
                <a:solidFill>
                  <a:srgbClr val="000000"/>
                </a:solidFill>
                <a:highlight>
                  <a:srgbClr val="C0C0C0"/>
                </a:highlight>
                <a:latin typeface="Consolas" panose="020B0609020204030204" pitchFamily="49" charset="0"/>
              </a:rPr>
              <a:t>DIJKSTRA(G, w, s)</a:t>
            </a:r>
          </a:p>
          <a:p>
            <a:pPr algn="l" eaLnBrk="0" hangingPunct="0"/>
            <a:r>
              <a:rPr lang="en-US" altLang="zh-CN" sz="1800" b="0" i="1" dirty="0">
                <a:solidFill>
                  <a:srgbClr val="4F81BD">
                    <a:lumMod val="75000"/>
                  </a:srgbClr>
                </a:solidFill>
                <a:latin typeface="Consolas" panose="020B0609020204030204" pitchFamily="49" charset="0"/>
              </a:rPr>
              <a:t>S = ∅</a:t>
            </a:r>
          </a:p>
          <a:p>
            <a:pPr algn="l" eaLnBrk="0" hangingPunct="0"/>
            <a:r>
              <a:rPr lang="en-US" altLang="zh-CN" sz="1800" b="0" i="1" dirty="0">
                <a:solidFill>
                  <a:srgbClr val="4F81BD">
                    <a:lumMod val="75000"/>
                  </a:srgbClr>
                </a:solidFill>
                <a:latin typeface="Consolas" panose="020B0609020204030204" pitchFamily="49" charset="0"/>
              </a:rPr>
              <a:t>Q = G.V</a:t>
            </a:r>
          </a:p>
          <a:p>
            <a:pPr algn="l" eaLnBrk="0" hangingPunct="0"/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while </a:t>
            </a:r>
            <a:r>
              <a:rPr lang="en-US" altLang="zh-CN" sz="1800" b="0" i="1" dirty="0">
                <a:solidFill>
                  <a:srgbClr val="C00000"/>
                </a:solidFill>
                <a:latin typeface="Consolas" panose="020B0609020204030204" pitchFamily="49" charset="0"/>
              </a:rPr>
              <a:t>Q != ∅</a:t>
            </a:r>
          </a:p>
          <a:p>
            <a:pPr algn="l" eaLnBrk="0" hangingPunct="0"/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altLang="zh-CN" sz="1800" b="0" i="1" dirty="0">
                <a:solidFill>
                  <a:srgbClr val="4F81BD">
                    <a:lumMod val="75000"/>
                  </a:srgbClr>
                </a:solidFill>
                <a:latin typeface="Consolas" panose="020B0609020204030204" pitchFamily="49" charset="0"/>
              </a:rPr>
              <a:t>u = EXTRACT-MIN(Q) </a:t>
            </a:r>
          </a:p>
          <a:p>
            <a:pPr algn="l" eaLnBrk="0" hangingPunct="0"/>
            <a:r>
              <a:rPr lang="en-US" altLang="zh-CN" sz="1800" b="0" i="1" dirty="0">
                <a:solidFill>
                  <a:srgbClr val="4F81BD">
                    <a:lumMod val="75000"/>
                  </a:srgbClr>
                </a:solidFill>
                <a:latin typeface="Consolas" panose="020B0609020204030204" pitchFamily="49" charset="0"/>
              </a:rPr>
              <a:t>  S = S ∪ {u};</a:t>
            </a:r>
          </a:p>
          <a:p>
            <a:pPr algn="l" eaLnBrk="0" hangingPunct="0"/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  for each v ∈ </a:t>
            </a:r>
            <a:r>
              <a:rPr lang="en-US" altLang="zh-CN" sz="1800" b="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Q.Adj</a:t>
            </a:r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(u)</a:t>
            </a:r>
          </a:p>
          <a:p>
            <a:pPr algn="l" eaLnBrk="0" hangingPunct="0"/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    RELAX(u, v, w)		</a:t>
            </a:r>
          </a:p>
          <a:p>
            <a:pPr algn="l" eaLnBrk="0" hangingPunct="0"/>
            <a:r>
              <a:rPr lang="en-US" altLang="zh-CN" sz="1800" i="1" dirty="0">
                <a:solidFill>
                  <a:srgbClr val="000000"/>
                </a:solidFill>
                <a:highlight>
                  <a:srgbClr val="C0C0C0"/>
                </a:highlight>
                <a:latin typeface="Consolas" panose="020B0609020204030204" pitchFamily="49" charset="0"/>
              </a:rPr>
              <a:t>RELAX(</a:t>
            </a:r>
            <a:r>
              <a:rPr lang="en-US" altLang="zh-CN" sz="1800" i="1" dirty="0" err="1">
                <a:solidFill>
                  <a:srgbClr val="000000"/>
                </a:solidFill>
                <a:highlight>
                  <a:srgbClr val="C0C0C0"/>
                </a:highlight>
                <a:latin typeface="Consolas" panose="020B0609020204030204" pitchFamily="49" charset="0"/>
              </a:rPr>
              <a:t>u,v,w</a:t>
            </a:r>
            <a:r>
              <a:rPr lang="en-US" altLang="zh-CN" sz="1800" i="1" dirty="0">
                <a:solidFill>
                  <a:srgbClr val="000000"/>
                </a:solidFill>
                <a:highlight>
                  <a:srgbClr val="C0C0C0"/>
                </a:highlight>
                <a:latin typeface="Consolas" panose="020B0609020204030204" pitchFamily="49" charset="0"/>
              </a:rPr>
              <a:t>)</a:t>
            </a:r>
          </a:p>
          <a:p>
            <a:pPr algn="l" eaLnBrk="0" hangingPunct="0"/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if </a:t>
            </a:r>
            <a:r>
              <a:rPr lang="en-US" altLang="zh-CN" sz="1800" b="0" i="1" dirty="0" err="1">
                <a:solidFill>
                  <a:srgbClr val="C00000"/>
                </a:solidFill>
                <a:latin typeface="Consolas" panose="020B0609020204030204" pitchFamily="49" charset="0"/>
              </a:rPr>
              <a:t>v.d</a:t>
            </a:r>
            <a:r>
              <a:rPr lang="en-US" altLang="zh-CN" sz="1800" b="0" i="1" dirty="0">
                <a:solidFill>
                  <a:srgbClr val="C00000"/>
                </a:solidFill>
                <a:latin typeface="Consolas" panose="020B0609020204030204" pitchFamily="49" charset="0"/>
              </a:rPr>
              <a:t> &gt; </a:t>
            </a:r>
            <a:r>
              <a:rPr lang="en-US" altLang="zh-CN" sz="1800" b="0" i="1" dirty="0" err="1">
                <a:solidFill>
                  <a:srgbClr val="C00000"/>
                </a:solidFill>
                <a:latin typeface="Consolas" panose="020B0609020204030204" pitchFamily="49" charset="0"/>
              </a:rPr>
              <a:t>u.d</a:t>
            </a:r>
            <a:r>
              <a:rPr lang="en-US" altLang="zh-CN" sz="1800" b="0" i="1" dirty="0">
                <a:solidFill>
                  <a:srgbClr val="C00000"/>
                </a:solidFill>
                <a:latin typeface="Consolas" panose="020B0609020204030204" pitchFamily="49" charset="0"/>
              </a:rPr>
              <a:t> + w(</a:t>
            </a:r>
            <a:r>
              <a:rPr lang="en-US" altLang="zh-CN" sz="1800" b="0" i="1" dirty="0" err="1">
                <a:solidFill>
                  <a:srgbClr val="C00000"/>
                </a:solidFill>
                <a:latin typeface="Consolas" panose="020B0609020204030204" pitchFamily="49" charset="0"/>
              </a:rPr>
              <a:t>u,v</a:t>
            </a:r>
            <a:r>
              <a:rPr lang="en-US" altLang="zh-CN" sz="1800" b="0" i="1" dirty="0">
                <a:solidFill>
                  <a:srgbClr val="C00000"/>
                </a:solidFill>
                <a:latin typeface="Consolas" panose="020B0609020204030204" pitchFamily="49" charset="0"/>
              </a:rPr>
              <a:t>)</a:t>
            </a:r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</a:p>
          <a:p>
            <a:pPr algn="l" eaLnBrk="0" hangingPunct="0"/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altLang="zh-CN" sz="1800" b="0" i="1" dirty="0" err="1">
                <a:solidFill>
                  <a:srgbClr val="C00000"/>
                </a:solidFill>
                <a:latin typeface="Consolas" panose="020B0609020204030204" pitchFamily="49" charset="0"/>
              </a:rPr>
              <a:t>v.d</a:t>
            </a:r>
            <a:r>
              <a:rPr lang="en-US" altLang="zh-CN" sz="1800" b="0" i="1" dirty="0">
                <a:solidFill>
                  <a:srgbClr val="C00000"/>
                </a:solidFill>
                <a:latin typeface="Consolas" panose="020B0609020204030204" pitchFamily="49" charset="0"/>
              </a:rPr>
              <a:t> = </a:t>
            </a:r>
            <a:r>
              <a:rPr lang="en-US" altLang="zh-CN" sz="1800" b="0" i="1" dirty="0" err="1">
                <a:solidFill>
                  <a:srgbClr val="C00000"/>
                </a:solidFill>
                <a:latin typeface="Consolas" panose="020B0609020204030204" pitchFamily="49" charset="0"/>
              </a:rPr>
              <a:t>u.d</a:t>
            </a:r>
            <a:r>
              <a:rPr lang="en-US" altLang="zh-CN" sz="1800" b="0" i="1" dirty="0">
                <a:solidFill>
                  <a:srgbClr val="C00000"/>
                </a:solidFill>
                <a:latin typeface="Consolas" panose="020B0609020204030204" pitchFamily="49" charset="0"/>
              </a:rPr>
              <a:t> + w(</a:t>
            </a:r>
            <a:r>
              <a:rPr lang="en-US" altLang="zh-CN" sz="1800" b="0" i="1" dirty="0" err="1">
                <a:solidFill>
                  <a:srgbClr val="C00000"/>
                </a:solidFill>
                <a:latin typeface="Consolas" panose="020B0609020204030204" pitchFamily="49" charset="0"/>
              </a:rPr>
              <a:t>u,v</a:t>
            </a:r>
            <a:r>
              <a:rPr lang="en-US" altLang="zh-CN" sz="1800" b="0" i="1" dirty="0">
                <a:solidFill>
                  <a:srgbClr val="C00000"/>
                </a:solidFill>
                <a:latin typeface="Consolas" panose="020B0609020204030204" pitchFamily="49" charset="0"/>
              </a:rPr>
              <a:t>)</a:t>
            </a:r>
          </a:p>
          <a:p>
            <a:pPr algn="l" eaLnBrk="0" hangingPunct="0"/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altLang="zh-CN" sz="1800" b="0" i="1" dirty="0">
                <a:solidFill>
                  <a:srgbClr val="4F81BD">
                    <a:lumMod val="75000"/>
                  </a:srgbClr>
                </a:solidFill>
                <a:latin typeface="Consolas" panose="020B0609020204030204" pitchFamily="49" charset="0"/>
              </a:rPr>
              <a:t>v.</a:t>
            </a:r>
            <a:r>
              <a:rPr lang="el-GR" altLang="zh-CN" sz="1800" b="0" i="1" dirty="0">
                <a:solidFill>
                  <a:srgbClr val="4F81BD">
                    <a:lumMod val="75000"/>
                  </a:srgbClr>
                </a:solidFill>
                <a:latin typeface="Consolas" panose="020B0609020204030204" pitchFamily="49" charset="0"/>
              </a:rPr>
              <a:t>π = </a:t>
            </a:r>
            <a:r>
              <a:rPr lang="en-US" altLang="zh-CN" sz="1800" b="0" i="1" dirty="0">
                <a:solidFill>
                  <a:srgbClr val="4F81BD">
                    <a:lumMod val="75000"/>
                  </a:srgbClr>
                </a:solidFill>
                <a:latin typeface="Consolas" panose="020B0609020204030204" pitchFamily="49" charset="0"/>
              </a:rPr>
              <a:t>u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091B0FA3-5793-4E0A-2120-C5318A1A8319}"/>
              </a:ext>
            </a:extLst>
          </p:cNvPr>
          <p:cNvSpPr txBox="1"/>
          <p:nvPr/>
        </p:nvSpPr>
        <p:spPr>
          <a:xfrm>
            <a:off x="114526" y="1691510"/>
            <a:ext cx="493342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eaLnBrk="0" hangingPunct="0"/>
            <a:r>
              <a:rPr lang="en-US" altLang="zh-CN" sz="1800" i="1" dirty="0">
                <a:solidFill>
                  <a:srgbClr val="000000"/>
                </a:solidFill>
                <a:highlight>
                  <a:srgbClr val="C0C0C0"/>
                </a:highlight>
                <a:latin typeface="Consolas" panose="020B0609020204030204" pitchFamily="49" charset="0"/>
              </a:rPr>
              <a:t>QUICK_SORT(A, p, r)</a:t>
            </a:r>
          </a:p>
          <a:p>
            <a:pPr algn="l" eaLnBrk="0" hangingPunct="0"/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if </a:t>
            </a:r>
            <a:r>
              <a:rPr lang="en-US" altLang="zh-CN" sz="1800" b="0" i="1" dirty="0">
                <a:solidFill>
                  <a:srgbClr val="C00000"/>
                </a:solidFill>
                <a:latin typeface="Consolas" panose="020B0609020204030204" pitchFamily="49" charset="0"/>
              </a:rPr>
              <a:t>p &lt; r        </a:t>
            </a:r>
          </a:p>
          <a:p>
            <a:pPr algn="l" eaLnBrk="0" hangingPunct="0"/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altLang="zh-CN" sz="1800" b="0" i="1" dirty="0">
                <a:solidFill>
                  <a:srgbClr val="4F81BD">
                    <a:lumMod val="75000"/>
                  </a:srgbClr>
                </a:solidFill>
                <a:latin typeface="Consolas" panose="020B0609020204030204" pitchFamily="49" charset="0"/>
              </a:rPr>
              <a:t>q = PARTITION(A, p, r)</a:t>
            </a:r>
          </a:p>
          <a:p>
            <a:pPr algn="l" eaLnBrk="0" hangingPunct="0"/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  QUICK_SORT(A, p, </a:t>
            </a:r>
            <a:r>
              <a:rPr lang="en-US" altLang="zh-CN" sz="1800" b="0" i="1" dirty="0">
                <a:solidFill>
                  <a:srgbClr val="C00000"/>
                </a:solidFill>
                <a:latin typeface="Consolas" panose="020B0609020204030204" pitchFamily="49" charset="0"/>
              </a:rPr>
              <a:t>q - 1</a:t>
            </a:r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algn="l" eaLnBrk="0" hangingPunct="0"/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  QUICK_SORT(A, </a:t>
            </a:r>
            <a:r>
              <a:rPr lang="en-US" altLang="zh-CN" sz="1800" b="0" i="1" dirty="0">
                <a:solidFill>
                  <a:srgbClr val="C00000"/>
                </a:solidFill>
                <a:latin typeface="Consolas" panose="020B0609020204030204" pitchFamily="49" charset="0"/>
              </a:rPr>
              <a:t>q + 1</a:t>
            </a:r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, r)</a:t>
            </a:r>
          </a:p>
          <a:p>
            <a:pPr algn="l" eaLnBrk="0" hangingPunct="0"/>
            <a:endParaRPr lang="en-US" altLang="zh-CN" sz="1800" i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l" eaLnBrk="0" hangingPunct="0"/>
            <a:r>
              <a:rPr lang="en-US" altLang="zh-CN" sz="1800" i="1" dirty="0">
                <a:solidFill>
                  <a:srgbClr val="000000"/>
                </a:solidFill>
                <a:highlight>
                  <a:srgbClr val="C0C0C0"/>
                </a:highlight>
                <a:latin typeface="Consolas" panose="020B0609020204030204" pitchFamily="49" charset="0"/>
              </a:rPr>
              <a:t>PARTITION(</a:t>
            </a:r>
            <a:r>
              <a:rPr lang="en-US" altLang="zh-CN" sz="1800" i="1" dirty="0" err="1">
                <a:solidFill>
                  <a:srgbClr val="000000"/>
                </a:solidFill>
                <a:highlight>
                  <a:srgbClr val="C0C0C0"/>
                </a:highlight>
                <a:latin typeface="Consolas" panose="020B0609020204030204" pitchFamily="49" charset="0"/>
              </a:rPr>
              <a:t>A,p,r</a:t>
            </a:r>
            <a:r>
              <a:rPr lang="en-US" altLang="zh-CN" sz="1800" i="1" dirty="0">
                <a:solidFill>
                  <a:srgbClr val="000000"/>
                </a:solidFill>
                <a:highlight>
                  <a:srgbClr val="C0C0C0"/>
                </a:highlight>
                <a:latin typeface="Consolas" panose="020B0609020204030204" pitchFamily="49" charset="0"/>
              </a:rPr>
              <a:t>)</a:t>
            </a:r>
          </a:p>
          <a:p>
            <a:pPr algn="l" eaLnBrk="0" hangingPunct="0"/>
            <a:r>
              <a:rPr lang="en-US" altLang="zh-CN" sz="1800" b="0" i="1" dirty="0">
                <a:solidFill>
                  <a:srgbClr val="C00000"/>
                </a:solidFill>
                <a:latin typeface="Consolas" panose="020B0609020204030204" pitchFamily="49" charset="0"/>
              </a:rPr>
              <a:t>i = p - 1</a:t>
            </a:r>
          </a:p>
          <a:p>
            <a:pPr algn="l" eaLnBrk="0" hangingPunct="0"/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for </a:t>
            </a:r>
            <a:r>
              <a:rPr lang="en-US" altLang="zh-CN" sz="1800" b="0" i="1" dirty="0">
                <a:solidFill>
                  <a:srgbClr val="4F81BD">
                    <a:lumMod val="75000"/>
                  </a:srgbClr>
                </a:solidFill>
                <a:latin typeface="Consolas" panose="020B0609020204030204" pitchFamily="49" charset="0"/>
              </a:rPr>
              <a:t>j = p to </a:t>
            </a:r>
            <a:r>
              <a:rPr lang="en-US" altLang="zh-CN" sz="1800" b="0" i="1" dirty="0">
                <a:solidFill>
                  <a:srgbClr val="C00000"/>
                </a:solidFill>
                <a:latin typeface="Consolas" panose="020B0609020204030204" pitchFamily="49" charset="0"/>
              </a:rPr>
              <a:t>r - 1</a:t>
            </a:r>
          </a:p>
          <a:p>
            <a:pPr algn="l" eaLnBrk="0" hangingPunct="0"/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  if </a:t>
            </a:r>
            <a:r>
              <a:rPr lang="en-US" altLang="zh-CN" sz="1800" b="0" i="1" dirty="0">
                <a:solidFill>
                  <a:srgbClr val="C00000"/>
                </a:solidFill>
                <a:latin typeface="Consolas" panose="020B0609020204030204" pitchFamily="49" charset="0"/>
              </a:rPr>
              <a:t>A[j] &lt; A[r]</a:t>
            </a:r>
          </a:p>
          <a:p>
            <a:pPr algn="l" eaLnBrk="0" hangingPunct="0"/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800" b="0" i="1" dirty="0" err="1">
                <a:solidFill>
                  <a:srgbClr val="C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sz="1800" b="0" i="1" dirty="0">
                <a:solidFill>
                  <a:srgbClr val="C00000"/>
                </a:solidFill>
                <a:latin typeface="Consolas" panose="020B0609020204030204" pitchFamily="49" charset="0"/>
              </a:rPr>
              <a:t> = </a:t>
            </a:r>
            <a:r>
              <a:rPr lang="en-US" altLang="zh-CN" sz="1800" b="0" i="1" dirty="0" err="1">
                <a:solidFill>
                  <a:srgbClr val="C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sz="1800" b="0" i="1" dirty="0">
                <a:solidFill>
                  <a:srgbClr val="C00000"/>
                </a:solidFill>
                <a:latin typeface="Consolas" panose="020B0609020204030204" pitchFamily="49" charset="0"/>
              </a:rPr>
              <a:t> + 1</a:t>
            </a:r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		</a:t>
            </a:r>
          </a:p>
          <a:p>
            <a:pPr algn="l" eaLnBrk="0" hangingPunct="0"/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800" b="0" i="1" dirty="0">
                <a:solidFill>
                  <a:srgbClr val="4F81BD">
                    <a:lumMod val="75000"/>
                  </a:srgbClr>
                </a:solidFill>
                <a:latin typeface="Consolas" panose="020B0609020204030204" pitchFamily="49" charset="0"/>
              </a:rPr>
              <a:t>exchange A[j] with A[i]</a:t>
            </a:r>
          </a:p>
          <a:p>
            <a:pPr algn="l" eaLnBrk="0" hangingPunct="0"/>
            <a:r>
              <a:rPr lang="en-US" altLang="zh-CN" sz="1800" b="0" i="1" dirty="0">
                <a:solidFill>
                  <a:srgbClr val="4F81BD">
                    <a:lumMod val="75000"/>
                  </a:srgbClr>
                </a:solidFill>
                <a:latin typeface="Consolas" panose="020B0609020204030204" pitchFamily="49" charset="0"/>
              </a:rPr>
              <a:t>exchange A[</a:t>
            </a:r>
            <a:r>
              <a:rPr lang="en-US" altLang="zh-CN" sz="1800" b="0" i="1" dirty="0">
                <a:solidFill>
                  <a:srgbClr val="C00000"/>
                </a:solidFill>
                <a:latin typeface="Consolas" panose="020B0609020204030204" pitchFamily="49" charset="0"/>
              </a:rPr>
              <a:t>i + 1</a:t>
            </a:r>
            <a:r>
              <a:rPr lang="en-US" altLang="zh-CN" sz="1800" b="0" i="1" dirty="0">
                <a:solidFill>
                  <a:srgbClr val="4F81BD">
                    <a:lumMod val="75000"/>
                  </a:srgbClr>
                </a:solidFill>
                <a:latin typeface="Consolas" panose="020B0609020204030204" pitchFamily="49" charset="0"/>
              </a:rPr>
              <a:t>] with A[r]</a:t>
            </a:r>
          </a:p>
          <a:p>
            <a:pPr algn="l" eaLnBrk="0" hangingPunct="0"/>
            <a:r>
              <a:rPr lang="en-US" altLang="zh-CN" sz="1800" b="0" i="1" dirty="0">
                <a:solidFill>
                  <a:srgbClr val="000000"/>
                </a:solidFill>
                <a:latin typeface="Consolas" panose="020B0609020204030204" pitchFamily="49" charset="0"/>
              </a:rPr>
              <a:t>return </a:t>
            </a:r>
            <a:r>
              <a:rPr lang="en-US" altLang="zh-CN" sz="1800" b="0" i="1" dirty="0">
                <a:solidFill>
                  <a:srgbClr val="C00000"/>
                </a:solidFill>
                <a:latin typeface="Consolas" panose="020B0609020204030204" pitchFamily="49" charset="0"/>
              </a:rPr>
              <a:t>i + 1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487589" y="2392821"/>
            <a:ext cx="1764792" cy="3605759"/>
          </a:xfrm>
          <a:prstGeom prst="rect">
            <a:avLst/>
          </a:prstGeom>
          <a:solidFill>
            <a:schemeClr val="bg1">
              <a:lumMod val="95000"/>
            </a:schemeClr>
          </a:solidFill>
          <a:ln cap="rnd">
            <a:solidFill>
              <a:schemeClr val="tx1"/>
            </a:solidFill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t">
            <a:noAutofit/>
          </a:bodyPr>
          <a:lstStyle/>
          <a:p>
            <a:r>
              <a:rPr lang="zh-CN" altLang="en-US" sz="3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存储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13064" y="2392821"/>
            <a:ext cx="3307232" cy="3607848"/>
          </a:xfrm>
          <a:prstGeom prst="rect">
            <a:avLst/>
          </a:prstGeom>
          <a:solidFill>
            <a:schemeClr val="bg1">
              <a:lumMod val="95000"/>
            </a:schemeClr>
          </a:solidFill>
          <a:ln cap="rnd">
            <a:solidFill>
              <a:schemeClr val="tx1"/>
            </a:solidFill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t">
            <a:noAutofit/>
          </a:bodyPr>
          <a:lstStyle/>
          <a:p>
            <a:pPr lvl="0"/>
            <a:r>
              <a:rPr lang="zh-CN" altLang="en-US" sz="3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处理器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如何支持通用算法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>
          <a:xfrm>
            <a:off x="457200" y="1303456"/>
            <a:ext cx="8229600" cy="85729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kumimoji="1" lang="zh-CN" altLang="en-US" sz="2800" dirty="0">
                <a:latin typeface="Arial" panose="020B0604020202020204" pitchFamily="34" charset="0"/>
                <a:ea typeface="黑体" panose="02010609060101010101" pitchFamily="49" charset="-122"/>
              </a:rPr>
              <a:t>支持这些基本操作！</a:t>
            </a:r>
          </a:p>
        </p:txBody>
      </p:sp>
      <p:sp>
        <p:nvSpPr>
          <p:cNvPr id="3" name="Rectangle 2" descr="e"/>
          <p:cNvSpPr/>
          <p:nvPr/>
        </p:nvSpPr>
        <p:spPr>
          <a:xfrm>
            <a:off x="1546517" y="3301145"/>
            <a:ext cx="1655062" cy="67897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r>
              <a:rPr lang="zh-CN" altLang="en-US" sz="2400" b="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指令</a:t>
            </a:r>
          </a:p>
        </p:txBody>
      </p:sp>
      <p:sp>
        <p:nvSpPr>
          <p:cNvPr id="19" name="Rectangle 18" descr="e"/>
          <p:cNvSpPr/>
          <p:nvPr/>
        </p:nvSpPr>
        <p:spPr>
          <a:xfrm>
            <a:off x="1546517" y="4436376"/>
            <a:ext cx="1655064" cy="67897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r>
              <a:rPr lang="zh-CN" altLang="en-US" sz="2400" b="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数据</a:t>
            </a:r>
          </a:p>
        </p:txBody>
      </p:sp>
      <p:sp>
        <p:nvSpPr>
          <p:cNvPr id="20" name="Rectangle 19" descr="e"/>
          <p:cNvSpPr/>
          <p:nvPr/>
        </p:nvSpPr>
        <p:spPr>
          <a:xfrm>
            <a:off x="6669804" y="2984029"/>
            <a:ext cx="1536192" cy="67897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r>
              <a:rPr lang="zh-CN" altLang="en-US" sz="2000" b="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算术操作</a:t>
            </a:r>
          </a:p>
        </p:txBody>
      </p:sp>
      <p:sp>
        <p:nvSpPr>
          <p:cNvPr id="21" name="Rectangle 20" descr="e"/>
          <p:cNvSpPr/>
          <p:nvPr/>
        </p:nvSpPr>
        <p:spPr>
          <a:xfrm>
            <a:off x="6669804" y="4472014"/>
            <a:ext cx="1536192" cy="67897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r>
              <a:rPr lang="zh-CN" altLang="en-US" sz="2000" b="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分支跳转</a:t>
            </a:r>
          </a:p>
        </p:txBody>
      </p:sp>
      <p:sp>
        <p:nvSpPr>
          <p:cNvPr id="22" name="Rectangle 21" descr="e"/>
          <p:cNvSpPr/>
          <p:nvPr/>
        </p:nvSpPr>
        <p:spPr>
          <a:xfrm>
            <a:off x="6669804" y="5211371"/>
            <a:ext cx="1536192" cy="67897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r>
              <a:rPr lang="zh-CN" altLang="en-US" sz="2000" b="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直接跳转</a:t>
            </a:r>
          </a:p>
        </p:txBody>
      </p:sp>
      <p:sp>
        <p:nvSpPr>
          <p:cNvPr id="23" name="Rectangle 22" descr="e"/>
          <p:cNvSpPr/>
          <p:nvPr/>
        </p:nvSpPr>
        <p:spPr>
          <a:xfrm>
            <a:off x="6669804" y="3727589"/>
            <a:ext cx="1536192" cy="67897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r>
              <a:rPr lang="zh-CN" altLang="en-US" sz="2000" b="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逻辑操作</a:t>
            </a:r>
          </a:p>
        </p:txBody>
      </p:sp>
      <p:sp>
        <p:nvSpPr>
          <p:cNvPr id="30" name="Rectangle 29" descr="e"/>
          <p:cNvSpPr/>
          <p:nvPr/>
        </p:nvSpPr>
        <p:spPr>
          <a:xfrm>
            <a:off x="5136172" y="2984029"/>
            <a:ext cx="1395069" cy="29063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r>
              <a:rPr lang="zh-CN" altLang="en-US" sz="2000" b="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访存控制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3251151" y="3636299"/>
            <a:ext cx="1761913" cy="0"/>
          </a:xfrm>
          <a:prstGeom prst="straightConnector1">
            <a:avLst/>
          </a:prstGeom>
          <a:ln w="38100" cap="rnd">
            <a:solidFill>
              <a:srgbClr val="0432FF"/>
            </a:solidFill>
            <a:headEnd type="non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3282387" y="2928413"/>
            <a:ext cx="1616377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0432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读取指令</a:t>
            </a:r>
            <a:endParaRPr lang="en-US" altLang="zh-CN" sz="2000" dirty="0">
              <a:solidFill>
                <a:srgbClr val="0432FF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r>
              <a:rPr lang="zh-CN" altLang="en-US" sz="2000" dirty="0">
                <a:solidFill>
                  <a:srgbClr val="0432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读取数据</a:t>
            </a:r>
          </a:p>
        </p:txBody>
      </p:sp>
      <p:cxnSp>
        <p:nvCxnSpPr>
          <p:cNvPr id="31" name="Straight Arrow Connector 30"/>
          <p:cNvCxnSpPr/>
          <p:nvPr/>
        </p:nvCxnSpPr>
        <p:spPr>
          <a:xfrm>
            <a:off x="3251151" y="4795713"/>
            <a:ext cx="1737128" cy="0"/>
          </a:xfrm>
          <a:prstGeom prst="straightConnector1">
            <a:avLst/>
          </a:prstGeom>
          <a:ln w="38100" cap="rnd">
            <a:solidFill>
              <a:srgbClr val="0432FF"/>
            </a:solidFill>
            <a:headEnd type="triangle" w="med" len="lg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3311309" y="4857253"/>
            <a:ext cx="1616377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0432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写入数据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EDBD99E-F2C8-C373-F625-FF6105650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t>14</a:t>
            </a:fld>
            <a:endParaRPr lang="en-US" altLang="zh-CN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如何支持通用算法</a:t>
            </a:r>
          </a:p>
        </p:txBody>
      </p:sp>
      <p:sp>
        <p:nvSpPr>
          <p:cNvPr id="33" name="Content Placeholder 9"/>
          <p:cNvSpPr>
            <a:spLocks noGrp="1"/>
          </p:cNvSpPr>
          <p:nvPr>
            <p:ph idx="1"/>
          </p:nvPr>
        </p:nvSpPr>
        <p:spPr>
          <a:xfrm>
            <a:off x="457200" y="1370691"/>
            <a:ext cx="8229600" cy="2054086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20000"/>
              </a:lnSpc>
            </a:pPr>
            <a:r>
              <a:rPr kumimoji="1" lang="zh-CN" altLang="en-US" sz="33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支持这些基本操作！</a:t>
            </a:r>
            <a:endParaRPr kumimoji="1" lang="en-US" altLang="zh-CN" sz="3300" dirty="0"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kumimoji="1" lang="zh-CN" altLang="en-US" sz="33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如何实现？</a:t>
            </a:r>
            <a:endParaRPr kumimoji="1" lang="en-US" altLang="zh-CN" sz="3300" dirty="0"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lvl="1">
              <a:lnSpc>
                <a:spcPct val="120000"/>
              </a:lnSpc>
            </a:pPr>
            <a:r>
              <a:rPr kumimoji="1" lang="zh-CN" altLang="en-US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构造有限状态机</a:t>
            </a:r>
            <a:endParaRPr kumimoji="1" lang="en-US" altLang="zh-CN" dirty="0"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lvl="1">
              <a:lnSpc>
                <a:spcPct val="120000"/>
              </a:lnSpc>
            </a:pPr>
            <a:r>
              <a:rPr kumimoji="1" lang="zh-CN" altLang="en-US" b="1" dirty="0">
                <a:solidFill>
                  <a:srgbClr val="0432FF"/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中央处理器：</a:t>
            </a:r>
            <a:r>
              <a:rPr kumimoji="1" lang="en-US" altLang="zh-CN" b="1" dirty="0">
                <a:solidFill>
                  <a:srgbClr val="0432FF"/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CPU</a:t>
            </a:r>
          </a:p>
        </p:txBody>
      </p:sp>
      <p:grpSp>
        <p:nvGrpSpPr>
          <p:cNvPr id="35" name="Group 34"/>
          <p:cNvGrpSpPr/>
          <p:nvPr/>
        </p:nvGrpSpPr>
        <p:grpSpPr>
          <a:xfrm>
            <a:off x="4682374" y="4119072"/>
            <a:ext cx="4136439" cy="2270945"/>
            <a:chOff x="4987015" y="3948834"/>
            <a:chExt cx="4136439" cy="2270945"/>
          </a:xfrm>
        </p:grpSpPr>
        <p:sp>
          <p:nvSpPr>
            <p:cNvPr id="50" name="矩形 42"/>
            <p:cNvSpPr/>
            <p:nvPr/>
          </p:nvSpPr>
          <p:spPr>
            <a:xfrm>
              <a:off x="6713214" y="3948834"/>
              <a:ext cx="1573859" cy="4603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2400" dirty="0">
                  <a:solidFill>
                    <a:schemeClr val="accent1">
                      <a:lumMod val="75000"/>
                    </a:schemeClr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FSM</a:t>
              </a:r>
              <a:endParaRPr lang="zh-CN" altLang="en-US" sz="24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53" name="Rectangle 165"/>
            <p:cNvSpPr/>
            <p:nvPr/>
          </p:nvSpPr>
          <p:spPr>
            <a:xfrm>
              <a:off x="5618007" y="4721264"/>
              <a:ext cx="1882137" cy="38784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noAutofit/>
            </a:bodyPr>
            <a:lstStyle/>
            <a:p>
              <a:r>
                <a:rPr lang="zh-CN" altLang="en-US" sz="20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rPr>
                <a:t>状态</a:t>
              </a:r>
              <a:r>
                <a:rPr lang="en-US" altLang="zh-CN" sz="20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rPr>
                <a:t> S/S+</a:t>
              </a:r>
              <a:endPara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endParaRPr>
            </a:p>
          </p:txBody>
        </p:sp>
        <p:sp>
          <p:nvSpPr>
            <p:cNvPr id="54" name="Rectangle 166"/>
            <p:cNvSpPr/>
            <p:nvPr/>
          </p:nvSpPr>
          <p:spPr>
            <a:xfrm>
              <a:off x="5618008" y="5525483"/>
              <a:ext cx="1882141" cy="69429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t">
              <a:noAutofit/>
            </a:bodyPr>
            <a:lstStyle/>
            <a:p>
              <a:r>
                <a:rPr lang="en-US" altLang="zh-CN" sz="20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rPr>
                <a:t>F&amp;G </a:t>
              </a:r>
              <a:br>
                <a:rPr lang="en-US" altLang="zh-CN" sz="20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rPr>
              </a:br>
              <a:r>
                <a:rPr lang="zh-CN" altLang="en-US" sz="20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rPr>
                <a:t>组合逻辑</a:t>
              </a:r>
              <a:endPara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endParaRPr>
            </a:p>
          </p:txBody>
        </p:sp>
        <p:cxnSp>
          <p:nvCxnSpPr>
            <p:cNvPr id="56" name="Straight Arrow Connector 35"/>
            <p:cNvCxnSpPr>
              <a:stCxn id="53" idx="2"/>
              <a:endCxn id="54" idx="0"/>
            </p:cNvCxnSpPr>
            <p:nvPr/>
          </p:nvCxnSpPr>
          <p:spPr>
            <a:xfrm>
              <a:off x="6559076" y="5109106"/>
              <a:ext cx="3" cy="416377"/>
            </a:xfrm>
            <a:prstGeom prst="straightConnector1">
              <a:avLst/>
            </a:prstGeom>
            <a:ln w="38100" cap="rnd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连接符: 肘形 26"/>
            <p:cNvCxnSpPr>
              <a:stCxn id="54" idx="3"/>
              <a:endCxn id="53" idx="3"/>
            </p:cNvCxnSpPr>
            <p:nvPr/>
          </p:nvCxnSpPr>
          <p:spPr>
            <a:xfrm flipH="1" flipV="1">
              <a:off x="7500144" y="4915185"/>
              <a:ext cx="5" cy="957446"/>
            </a:xfrm>
            <a:prstGeom prst="bentConnector3">
              <a:avLst>
                <a:gd name="adj1" fmla="val -4572000000"/>
              </a:avLst>
            </a:prstGeom>
            <a:ln w="381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矩形 42"/>
            <p:cNvSpPr/>
            <p:nvPr/>
          </p:nvSpPr>
          <p:spPr>
            <a:xfrm>
              <a:off x="7549595" y="5009235"/>
              <a:ext cx="1573859" cy="3371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16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状态转移</a:t>
              </a:r>
            </a:p>
          </p:txBody>
        </p:sp>
        <p:cxnSp>
          <p:nvCxnSpPr>
            <p:cNvPr id="62" name="Straight Arrow Connector 35"/>
            <p:cNvCxnSpPr/>
            <p:nvPr/>
          </p:nvCxnSpPr>
          <p:spPr>
            <a:xfrm>
              <a:off x="6067569" y="4284590"/>
              <a:ext cx="0" cy="431720"/>
            </a:xfrm>
            <a:prstGeom prst="straightConnector1">
              <a:avLst/>
            </a:prstGeom>
            <a:ln w="38100" cap="rnd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矩形 42"/>
            <p:cNvSpPr/>
            <p:nvPr/>
          </p:nvSpPr>
          <p:spPr>
            <a:xfrm>
              <a:off x="4987015" y="4275590"/>
              <a:ext cx="1261985" cy="39878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0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时钟</a:t>
              </a: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340507" y="4035904"/>
            <a:ext cx="3855477" cy="398780"/>
            <a:chOff x="76432" y="2684360"/>
            <a:chExt cx="3855477" cy="398780"/>
          </a:xfrm>
        </p:grpSpPr>
        <p:sp>
          <p:nvSpPr>
            <p:cNvPr id="67" name="Rectangle 29" descr="e"/>
            <p:cNvSpPr/>
            <p:nvPr/>
          </p:nvSpPr>
          <p:spPr>
            <a:xfrm>
              <a:off x="1085553" y="2701313"/>
              <a:ext cx="2846356" cy="36620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noAutofit/>
            </a:bodyPr>
            <a:lstStyle/>
            <a:p>
              <a:r>
                <a:rPr lang="zh-CN" altLang="en-US" sz="2000" b="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取指令</a:t>
              </a:r>
            </a:p>
          </p:txBody>
        </p:sp>
        <p:sp>
          <p:nvSpPr>
            <p:cNvPr id="68" name="矩形 5"/>
            <p:cNvSpPr/>
            <p:nvPr/>
          </p:nvSpPr>
          <p:spPr>
            <a:xfrm>
              <a:off x="76432" y="2684360"/>
              <a:ext cx="1001197" cy="39878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000" dirty="0">
                  <a:solidFill>
                    <a:schemeClr val="accent1">
                      <a:lumMod val="75000"/>
                    </a:schemeClr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rPr>
                <a:t>步骤 </a:t>
              </a:r>
              <a:r>
                <a:rPr lang="en-US" altLang="zh-CN" sz="2000" dirty="0">
                  <a:solidFill>
                    <a:schemeClr val="accent1">
                      <a:lumMod val="75000"/>
                    </a:schemeClr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rPr>
                <a:t>1</a:t>
              </a:r>
              <a:endParaRPr lang="zh-CN" altLang="en-US" sz="20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endParaRPr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340507" y="5695720"/>
            <a:ext cx="3855477" cy="694297"/>
            <a:chOff x="76432" y="4580852"/>
            <a:chExt cx="3855477" cy="694297"/>
          </a:xfrm>
        </p:grpSpPr>
        <p:sp>
          <p:nvSpPr>
            <p:cNvPr id="72" name="Rectangle 29" descr="e"/>
            <p:cNvSpPr/>
            <p:nvPr/>
          </p:nvSpPr>
          <p:spPr>
            <a:xfrm>
              <a:off x="1085553" y="4580852"/>
              <a:ext cx="2846356" cy="69429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noAutofit/>
            </a:bodyPr>
            <a:lstStyle/>
            <a:p>
              <a:r>
                <a:rPr lang="zh-CN" altLang="en-US" sz="2000" b="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执行指令</a:t>
              </a:r>
              <a:endParaRPr lang="en-US" altLang="zh-CN" sz="2000" b="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endParaRPr>
            </a:p>
            <a:p>
              <a:r>
                <a:rPr lang="zh-CN" altLang="en-US" sz="2000" b="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数据写回</a:t>
              </a:r>
            </a:p>
          </p:txBody>
        </p:sp>
        <p:sp>
          <p:nvSpPr>
            <p:cNvPr id="73" name="矩形 14"/>
            <p:cNvSpPr/>
            <p:nvPr/>
          </p:nvSpPr>
          <p:spPr>
            <a:xfrm>
              <a:off x="76432" y="4664532"/>
              <a:ext cx="1009120" cy="39878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000" dirty="0">
                  <a:solidFill>
                    <a:schemeClr val="accent1">
                      <a:lumMod val="75000"/>
                    </a:schemeClr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rPr>
                <a:t>步骤 </a:t>
              </a:r>
              <a:r>
                <a:rPr lang="en-US" altLang="zh-CN" sz="2000" dirty="0">
                  <a:solidFill>
                    <a:schemeClr val="accent1">
                      <a:lumMod val="75000"/>
                    </a:schemeClr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rPr>
                <a:t>3</a:t>
              </a:r>
              <a:endParaRPr lang="zh-CN" altLang="en-US" sz="20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endParaRPr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340506" y="4443085"/>
            <a:ext cx="3855118" cy="1266082"/>
            <a:chOff x="109065" y="3225117"/>
            <a:chExt cx="3855118" cy="1266082"/>
          </a:xfrm>
        </p:grpSpPr>
        <p:sp>
          <p:nvSpPr>
            <p:cNvPr id="69" name="Rectangle 29" descr="e"/>
            <p:cNvSpPr/>
            <p:nvPr/>
          </p:nvSpPr>
          <p:spPr>
            <a:xfrm>
              <a:off x="1117827" y="3632622"/>
              <a:ext cx="2846356" cy="36620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noAutofit/>
            </a:bodyPr>
            <a:lstStyle/>
            <a:p>
              <a:r>
                <a:rPr lang="zh-CN" altLang="en-US" sz="2000" b="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解析指令</a:t>
              </a:r>
            </a:p>
          </p:txBody>
        </p:sp>
        <p:sp>
          <p:nvSpPr>
            <p:cNvPr id="70" name="矩形 7"/>
            <p:cNvSpPr/>
            <p:nvPr/>
          </p:nvSpPr>
          <p:spPr>
            <a:xfrm>
              <a:off x="109065" y="3595107"/>
              <a:ext cx="1001197" cy="39878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000" dirty="0">
                  <a:solidFill>
                    <a:schemeClr val="accent1">
                      <a:lumMod val="75000"/>
                    </a:schemeClr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rPr>
                <a:t>步骤 </a:t>
              </a:r>
              <a:r>
                <a:rPr lang="en-US" altLang="zh-CN" sz="2000" dirty="0">
                  <a:solidFill>
                    <a:schemeClr val="accent1">
                      <a:lumMod val="75000"/>
                    </a:schemeClr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rPr>
                <a:t>2</a:t>
              </a:r>
              <a:endParaRPr lang="zh-CN" altLang="en-US" sz="20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endParaRPr>
            </a:p>
          </p:txBody>
        </p:sp>
        <p:cxnSp>
          <p:nvCxnSpPr>
            <p:cNvPr id="71" name="Straight Arrow Connector 35"/>
            <p:cNvCxnSpPr>
              <a:endCxn id="69" idx="0"/>
            </p:cNvCxnSpPr>
            <p:nvPr/>
          </p:nvCxnSpPr>
          <p:spPr>
            <a:xfrm>
              <a:off x="2541005" y="3225117"/>
              <a:ext cx="0" cy="407505"/>
            </a:xfrm>
            <a:prstGeom prst="straightConnector1">
              <a:avLst/>
            </a:prstGeom>
            <a:ln w="38100" cap="rnd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Arrow Connector 35"/>
            <p:cNvCxnSpPr>
              <a:stCxn id="69" idx="2"/>
              <a:endCxn id="72" idx="0"/>
            </p:cNvCxnSpPr>
            <p:nvPr/>
          </p:nvCxnSpPr>
          <p:spPr>
            <a:xfrm>
              <a:off x="2541005" y="3998829"/>
              <a:ext cx="360" cy="492370"/>
            </a:xfrm>
            <a:prstGeom prst="straightConnector1">
              <a:avLst/>
            </a:prstGeom>
            <a:ln w="38100" cap="rnd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矩形 17"/>
            <p:cNvSpPr/>
            <p:nvPr/>
          </p:nvSpPr>
          <p:spPr>
            <a:xfrm>
              <a:off x="381213" y="4019363"/>
              <a:ext cx="2159792" cy="39878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000" b="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rPr>
                <a:t>数据 </a:t>
              </a:r>
              <a:r>
                <a:rPr lang="en-US" altLang="zh-CN" sz="2000" b="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rPr>
                <a:t>&amp; </a:t>
              </a:r>
              <a:r>
                <a:rPr lang="zh-CN" altLang="en-US" sz="2000" b="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rPr>
                <a:t>控制信号</a:t>
              </a:r>
            </a:p>
          </p:txBody>
        </p:sp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27D397D-16D8-7609-7A28-749C55632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t>15</a:t>
            </a:fld>
            <a:endParaRPr lang="en-US" altLang="zh-CN"/>
          </a:p>
        </p:txBody>
      </p:sp>
      <p:pic>
        <p:nvPicPr>
          <p:cNvPr id="3" name="Picture 111">
            <a:extLst>
              <a:ext uri="{FF2B5EF4-FFF2-40B4-BE49-F238E27FC236}">
                <a16:creationId xmlns:a16="http://schemas.microsoft.com/office/drawing/2014/main" id="{9E5D27CA-34E3-5DBE-5C89-D551AB1B24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3380" y="1299305"/>
            <a:ext cx="4088822" cy="2203421"/>
          </a:xfrm>
          <a:prstGeom prst="rect">
            <a:avLst/>
          </a:prstGeom>
        </p:spPr>
      </p:pic>
      <p:sp>
        <p:nvSpPr>
          <p:cNvPr id="5" name="Rectangle 44">
            <a:extLst>
              <a:ext uri="{FF2B5EF4-FFF2-40B4-BE49-F238E27FC236}">
                <a16:creationId xmlns:a16="http://schemas.microsoft.com/office/drawing/2014/main" id="{6D9E7EF4-31A5-F470-309E-281B21EBC8E6}"/>
              </a:ext>
            </a:extLst>
          </p:cNvPr>
          <p:cNvSpPr/>
          <p:nvPr/>
        </p:nvSpPr>
        <p:spPr>
          <a:xfrm>
            <a:off x="8283567" y="1371793"/>
            <a:ext cx="671212" cy="2740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r"/>
            <a:r>
              <a:rPr lang="en-US" sz="1600" dirty="0">
                <a:solidFill>
                  <a:srgbClr val="0432FF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CPU</a:t>
            </a:r>
          </a:p>
        </p:txBody>
      </p:sp>
      <p:sp>
        <p:nvSpPr>
          <p:cNvPr id="4" name="任意多边形: 形状 4">
            <a:extLst>
              <a:ext uri="{FF2B5EF4-FFF2-40B4-BE49-F238E27FC236}">
                <a16:creationId xmlns:a16="http://schemas.microsoft.com/office/drawing/2014/main" id="{52B33F27-6E78-E6DD-31FF-DE20C66409E9}"/>
              </a:ext>
            </a:extLst>
          </p:cNvPr>
          <p:cNvSpPr/>
          <p:nvPr/>
        </p:nvSpPr>
        <p:spPr>
          <a:xfrm>
            <a:off x="4191000" y="4218214"/>
            <a:ext cx="337457" cy="1807029"/>
          </a:xfrm>
          <a:custGeom>
            <a:avLst/>
            <a:gdLst>
              <a:gd name="connsiteX0" fmla="*/ 0 w 337457"/>
              <a:gd name="connsiteY0" fmla="*/ 1807029 h 1807029"/>
              <a:gd name="connsiteX1" fmla="*/ 337457 w 337457"/>
              <a:gd name="connsiteY1" fmla="*/ 1807029 h 1807029"/>
              <a:gd name="connsiteX2" fmla="*/ 337457 w 337457"/>
              <a:gd name="connsiteY2" fmla="*/ 0 h 1807029"/>
              <a:gd name="connsiteX3" fmla="*/ 0 w 337457"/>
              <a:gd name="connsiteY3" fmla="*/ 0 h 18070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7457" h="1807029">
                <a:moveTo>
                  <a:pt x="0" y="1807029"/>
                </a:moveTo>
                <a:lnTo>
                  <a:pt x="337457" y="1807029"/>
                </a:lnTo>
                <a:lnTo>
                  <a:pt x="337457" y="0"/>
                </a:lnTo>
                <a:lnTo>
                  <a:pt x="0" y="0"/>
                </a:lnTo>
              </a:path>
            </a:pathLst>
          </a:custGeom>
          <a:ln w="38100" cap="rnd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9A3DA8-BB0D-1FB6-1919-BCC1278F5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标题 1">
            <a:extLst>
              <a:ext uri="{FF2B5EF4-FFF2-40B4-BE49-F238E27FC236}">
                <a16:creationId xmlns:a16="http://schemas.microsoft.com/office/drawing/2014/main" id="{C579C136-E108-26CE-B639-381BA5DAE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如何支持通用算法</a:t>
            </a:r>
          </a:p>
        </p:txBody>
      </p:sp>
      <p:sp>
        <p:nvSpPr>
          <p:cNvPr id="35" name="Content Placeholder 11">
            <a:extLst>
              <a:ext uri="{FF2B5EF4-FFF2-40B4-BE49-F238E27FC236}">
                <a16:creationId xmlns:a16="http://schemas.microsoft.com/office/drawing/2014/main" id="{A95ECC16-6155-E386-8BA7-DCA0632C28D7}"/>
              </a:ext>
            </a:extLst>
          </p:cNvPr>
          <p:cNvSpPr txBox="1"/>
          <p:nvPr/>
        </p:nvSpPr>
        <p:spPr>
          <a:xfrm>
            <a:off x="282389" y="1344871"/>
            <a:ext cx="4634935" cy="23797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06400" indent="-406400" algn="l" defTabSz="685800" rtl="0" eaLnBrk="1" latinLnBrk="0" hangingPunct="1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685800" indent="-342900" algn="l" defTabSz="685800" rtl="0" eaLnBrk="1" latinLnBrk="0" hangingPunct="1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ü"/>
              <a:defRPr sz="21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857250" indent="-171450" algn="l" defTabSz="6858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200150" indent="-171450" algn="l" defTabSz="6858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1543050" indent="-171450" algn="l" defTabSz="6858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»"/>
              <a:defRPr sz="15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6400" marR="0" lvl="0" indent="-406400" algn="l" defTabSz="685800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b="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程序计数器</a:t>
            </a:r>
            <a:r>
              <a:rPr lang="en-US" altLang="zh-CN" b="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(Program Counter)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marL="685800" marR="0" lvl="1" indent="-34290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系统字体常规体"/>
              <a:buChar char="–"/>
              <a:tabLst/>
              <a:defRPr/>
            </a:pPr>
            <a:r>
              <a:rPr kumimoji="0" lang="en-US" sz="2100" i="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PC</a:t>
            </a:r>
            <a:r>
              <a:rPr kumimoji="0" lang="zh-CN" altLang="en-US" sz="2100" i="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，指示当前的指令地址</a:t>
            </a:r>
            <a:endParaRPr kumimoji="0" lang="en-US" altLang="zh-CN" sz="2100" i="0" u="none" strike="noStrike" kern="1200" cap="none" spc="0" normalizeH="0" baseline="0" noProof="0" dirty="0">
              <a:ln>
                <a:noFill/>
              </a:ln>
              <a:solidFill>
                <a:srgbClr val="0432FF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marL="685800" marR="0" lvl="1" indent="-34290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系统字体常规体"/>
              <a:buChar char="–"/>
              <a:tabLst/>
              <a:defRPr/>
            </a:pPr>
            <a:r>
              <a:rPr lang="en-US" altLang="zh-CN" b="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PC</a:t>
            </a:r>
            <a:r>
              <a:rPr lang="zh-CN" altLang="en-US" b="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每个周期被更新：</a:t>
            </a:r>
            <a:endParaRPr lang="en-US" altLang="zh-CN" b="0" dirty="0">
              <a:solidFill>
                <a:srgbClr val="000000"/>
              </a:solidFill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marL="342900" marR="0" lvl="1" indent="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	PC&lt;=PC+1*, or PC&lt;=</a:t>
            </a:r>
            <a:r>
              <a:rPr kumimoji="0" lang="en-US" sz="21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PC_jump</a:t>
            </a:r>
            <a:endParaRPr kumimoji="0" lang="en-US" sz="2100" b="1" i="0" u="none" strike="noStrike" kern="1200" cap="none" spc="0" normalizeH="0" baseline="0" noProof="0" dirty="0">
              <a:ln>
                <a:noFill/>
              </a:ln>
              <a:solidFill>
                <a:srgbClr val="0432FF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pic>
        <p:nvPicPr>
          <p:cNvPr id="36" name="Picture 111">
            <a:extLst>
              <a:ext uri="{FF2B5EF4-FFF2-40B4-BE49-F238E27FC236}">
                <a16:creationId xmlns:a16="http://schemas.microsoft.com/office/drawing/2014/main" id="{AD10E3E1-841F-AE1B-9905-0F296E1E9F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3380" y="1299305"/>
            <a:ext cx="4088822" cy="2203421"/>
          </a:xfrm>
          <a:prstGeom prst="rect">
            <a:avLst/>
          </a:prstGeom>
        </p:spPr>
      </p:pic>
      <p:sp>
        <p:nvSpPr>
          <p:cNvPr id="37" name="Rectangle 112">
            <a:extLst>
              <a:ext uri="{FF2B5EF4-FFF2-40B4-BE49-F238E27FC236}">
                <a16:creationId xmlns:a16="http://schemas.microsoft.com/office/drawing/2014/main" id="{F2DDF5F3-32CF-8D88-A399-7C57E3F93D52}"/>
              </a:ext>
            </a:extLst>
          </p:cNvPr>
          <p:cNvSpPr/>
          <p:nvPr/>
        </p:nvSpPr>
        <p:spPr>
          <a:xfrm>
            <a:off x="7133236" y="1381973"/>
            <a:ext cx="473581" cy="274064"/>
          </a:xfrm>
          <a:prstGeom prst="rect">
            <a:avLst/>
          </a:prstGeom>
          <a:solidFill>
            <a:srgbClr val="FFFFFF">
              <a:lumMod val="85000"/>
            </a:srgbClr>
          </a:solidFill>
          <a:ln w="25400" cap="flat" cmpd="sng" algn="ctr">
            <a:solidFill>
              <a:srgbClr val="000000"/>
            </a:solidFill>
            <a:prstDash val="solid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PC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6D199B8-F1C0-D486-8E49-E8E0682DA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4659731-6BD7-46E7-8D3C-2F3AC07E20B1}" type="slidenum">
              <a:rPr kumimoji="0" lang="en-US" altLang="zh-CN" sz="1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33" name="Rectangle 44">
            <a:extLst>
              <a:ext uri="{FF2B5EF4-FFF2-40B4-BE49-F238E27FC236}">
                <a16:creationId xmlns:a16="http://schemas.microsoft.com/office/drawing/2014/main" id="{4356F8A5-C431-4DFF-37E2-5DF28F075C04}"/>
              </a:ext>
            </a:extLst>
          </p:cNvPr>
          <p:cNvSpPr/>
          <p:nvPr/>
        </p:nvSpPr>
        <p:spPr>
          <a:xfrm>
            <a:off x="8283567" y="1371793"/>
            <a:ext cx="671212" cy="2740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r"/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CPU</a:t>
            </a:r>
          </a:p>
        </p:txBody>
      </p:sp>
      <p:grpSp>
        <p:nvGrpSpPr>
          <p:cNvPr id="5" name="Group 28">
            <a:extLst>
              <a:ext uri="{FF2B5EF4-FFF2-40B4-BE49-F238E27FC236}">
                <a16:creationId xmlns:a16="http://schemas.microsoft.com/office/drawing/2014/main" id="{BE4B0413-E468-98DF-7BD1-E9D1D1755CA5}"/>
              </a:ext>
            </a:extLst>
          </p:cNvPr>
          <p:cNvGrpSpPr/>
          <p:nvPr/>
        </p:nvGrpSpPr>
        <p:grpSpPr>
          <a:xfrm>
            <a:off x="681957" y="4129387"/>
            <a:ext cx="3138602" cy="2298782"/>
            <a:chOff x="5271973" y="984088"/>
            <a:chExt cx="3138602" cy="2298782"/>
          </a:xfrm>
        </p:grpSpPr>
        <p:grpSp>
          <p:nvGrpSpPr>
            <p:cNvPr id="12" name="Group 29">
              <a:extLst>
                <a:ext uri="{FF2B5EF4-FFF2-40B4-BE49-F238E27FC236}">
                  <a16:creationId xmlns:a16="http://schemas.microsoft.com/office/drawing/2014/main" id="{200085CC-090F-FF1A-ECCF-7CCF7063C214}"/>
                </a:ext>
              </a:extLst>
            </p:cNvPr>
            <p:cNvGrpSpPr/>
            <p:nvPr/>
          </p:nvGrpSpPr>
          <p:grpSpPr>
            <a:xfrm>
              <a:off x="5271973" y="984088"/>
              <a:ext cx="3138602" cy="2298782"/>
              <a:chOff x="5277753" y="1005604"/>
              <a:chExt cx="3138602" cy="2298782"/>
            </a:xfrm>
          </p:grpSpPr>
          <p:sp>
            <p:nvSpPr>
              <p:cNvPr id="34" name="Oval 31">
                <a:extLst>
                  <a:ext uri="{FF2B5EF4-FFF2-40B4-BE49-F238E27FC236}">
                    <a16:creationId xmlns:a16="http://schemas.microsoft.com/office/drawing/2014/main" id="{66383AB7-D440-2B44-4411-DBD3089DF7B0}"/>
                  </a:ext>
                </a:extLst>
              </p:cNvPr>
              <p:cNvSpPr/>
              <p:nvPr/>
            </p:nvSpPr>
            <p:spPr>
              <a:xfrm>
                <a:off x="5609167" y="1795171"/>
                <a:ext cx="2259483" cy="740831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 anchor="ctr">
                <a:noAutofit/>
              </a:bodyPr>
              <a:lstStyle/>
              <a:p>
                <a:r>
                  <a:rPr lang="en-US" altLang="zh-CN" sz="2400" dirty="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  <a:cs typeface="Arial" panose="020B0604020202020204" pitchFamily="34" charset="0"/>
                  </a:rPr>
                  <a:t>PC</a:t>
                </a:r>
              </a:p>
            </p:txBody>
          </p:sp>
          <p:sp>
            <p:nvSpPr>
              <p:cNvPr id="38" name="TextBox 33">
                <a:extLst>
                  <a:ext uri="{FF2B5EF4-FFF2-40B4-BE49-F238E27FC236}">
                    <a16:creationId xmlns:a16="http://schemas.microsoft.com/office/drawing/2014/main" id="{9B99EBD7-80D0-34BC-CFF7-7CF2EB1CA823}"/>
                  </a:ext>
                </a:extLst>
              </p:cNvPr>
              <p:cNvSpPr txBox="1"/>
              <p:nvPr/>
            </p:nvSpPr>
            <p:spPr>
              <a:xfrm>
                <a:off x="5560530" y="2597631"/>
                <a:ext cx="1960880" cy="7067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000" dirty="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rPr>
                  <a:t>不跳转</a:t>
                </a:r>
                <a:r>
                  <a:rPr lang="en-US" altLang="zh-CN" sz="2000" dirty="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rPr>
                  <a:t>,</a:t>
                </a:r>
              </a:p>
              <a:p>
                <a:r>
                  <a:rPr lang="zh-CN" altLang="en-US" sz="2000" dirty="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rPr>
                  <a:t>读取下一条指令</a:t>
                </a:r>
                <a:endParaRPr lang="en-US" sz="20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  <p:sp>
            <p:nvSpPr>
              <p:cNvPr id="39" name="Arc 35">
                <a:extLst>
                  <a:ext uri="{FF2B5EF4-FFF2-40B4-BE49-F238E27FC236}">
                    <a16:creationId xmlns:a16="http://schemas.microsoft.com/office/drawing/2014/main" id="{03C6F137-5683-0724-4D2A-AF54964A82C5}"/>
                  </a:ext>
                </a:extLst>
              </p:cNvPr>
              <p:cNvSpPr/>
              <p:nvPr/>
            </p:nvSpPr>
            <p:spPr>
              <a:xfrm flipH="1" flipV="1">
                <a:off x="5277753" y="1288908"/>
                <a:ext cx="914400" cy="914400"/>
              </a:xfrm>
              <a:prstGeom prst="arc">
                <a:avLst>
                  <a:gd name="adj1" fmla="val 17287133"/>
                  <a:gd name="adj2" fmla="val 11513012"/>
                </a:avLst>
              </a:prstGeom>
              <a:ln w="25400" cap="rnd">
                <a:solidFill>
                  <a:schemeClr val="tx1"/>
                </a:solidFill>
                <a:headEnd type="none" w="med" len="lg"/>
                <a:tailEnd type="triangl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4600"/>
              </a:p>
            </p:txBody>
          </p:sp>
          <p:sp>
            <p:nvSpPr>
              <p:cNvPr id="40" name="TextBox 36">
                <a:extLst>
                  <a:ext uri="{FF2B5EF4-FFF2-40B4-BE49-F238E27FC236}">
                    <a16:creationId xmlns:a16="http://schemas.microsoft.com/office/drawing/2014/main" id="{0D7045CE-8C3C-E09B-7317-CC1EFFDC4CC1}"/>
                  </a:ext>
                </a:extLst>
              </p:cNvPr>
              <p:cNvSpPr txBox="1"/>
              <p:nvPr/>
            </p:nvSpPr>
            <p:spPr>
              <a:xfrm>
                <a:off x="6083851" y="1005604"/>
                <a:ext cx="2332504" cy="7067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dirty="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rPr>
                  <a:t>跳转</a:t>
                </a:r>
                <a:r>
                  <a:rPr lang="en-US" altLang="zh-CN" sz="2000" dirty="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rPr>
                  <a:t>, </a:t>
                </a:r>
              </a:p>
              <a:p>
                <a:r>
                  <a:rPr lang="zh-CN" altLang="en-US" sz="2000" dirty="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rPr>
                  <a:t>读取新的指令地址</a:t>
                </a:r>
                <a:endParaRPr lang="en-US" sz="20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p:grpSp>
        <p:sp>
          <p:nvSpPr>
            <p:cNvPr id="32" name="Arc 30">
              <a:extLst>
                <a:ext uri="{FF2B5EF4-FFF2-40B4-BE49-F238E27FC236}">
                  <a16:creationId xmlns:a16="http://schemas.microsoft.com/office/drawing/2014/main" id="{8F70A3AF-E15E-B123-1FAA-AFDD64347208}"/>
                </a:ext>
              </a:extLst>
            </p:cNvPr>
            <p:cNvSpPr/>
            <p:nvPr/>
          </p:nvSpPr>
          <p:spPr>
            <a:xfrm>
              <a:off x="7279884" y="2088101"/>
              <a:ext cx="914400" cy="914400"/>
            </a:xfrm>
            <a:prstGeom prst="arc">
              <a:avLst>
                <a:gd name="adj1" fmla="val 17287133"/>
                <a:gd name="adj2" fmla="val 11513012"/>
              </a:avLst>
            </a:prstGeom>
            <a:ln w="25400" cap="rnd">
              <a:solidFill>
                <a:schemeClr val="tx1"/>
              </a:solidFill>
              <a:headEnd type="none" w="med" len="lg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4600"/>
            </a:p>
          </p:txBody>
        </p:sp>
      </p:grpSp>
      <p:grpSp>
        <p:nvGrpSpPr>
          <p:cNvPr id="41" name="Group 34">
            <a:extLst>
              <a:ext uri="{FF2B5EF4-FFF2-40B4-BE49-F238E27FC236}">
                <a16:creationId xmlns:a16="http://schemas.microsoft.com/office/drawing/2014/main" id="{0BE64C13-7516-F8EB-94EF-F1FB19D9C8B6}"/>
              </a:ext>
            </a:extLst>
          </p:cNvPr>
          <p:cNvGrpSpPr/>
          <p:nvPr/>
        </p:nvGrpSpPr>
        <p:grpSpPr>
          <a:xfrm>
            <a:off x="4682374" y="4119072"/>
            <a:ext cx="4136439" cy="2270945"/>
            <a:chOff x="4987015" y="3948834"/>
            <a:chExt cx="4136439" cy="2270945"/>
          </a:xfrm>
        </p:grpSpPr>
        <p:sp>
          <p:nvSpPr>
            <p:cNvPr id="42" name="矩形 42">
              <a:extLst>
                <a:ext uri="{FF2B5EF4-FFF2-40B4-BE49-F238E27FC236}">
                  <a16:creationId xmlns:a16="http://schemas.microsoft.com/office/drawing/2014/main" id="{6DEA2A02-7EF3-6DF1-792C-0F823DA9E0A1}"/>
                </a:ext>
              </a:extLst>
            </p:cNvPr>
            <p:cNvSpPr/>
            <p:nvPr/>
          </p:nvSpPr>
          <p:spPr>
            <a:xfrm>
              <a:off x="6713214" y="3948834"/>
              <a:ext cx="1573859" cy="4603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2400" dirty="0">
                  <a:solidFill>
                    <a:schemeClr val="accent1">
                      <a:lumMod val="75000"/>
                    </a:schemeClr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FSM</a:t>
              </a:r>
              <a:endParaRPr lang="zh-CN" altLang="en-US" sz="24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43" name="Rectangle 165">
              <a:extLst>
                <a:ext uri="{FF2B5EF4-FFF2-40B4-BE49-F238E27FC236}">
                  <a16:creationId xmlns:a16="http://schemas.microsoft.com/office/drawing/2014/main" id="{39234B91-CF21-CD35-5E95-5BBB18B3290D}"/>
                </a:ext>
              </a:extLst>
            </p:cNvPr>
            <p:cNvSpPr/>
            <p:nvPr/>
          </p:nvSpPr>
          <p:spPr>
            <a:xfrm>
              <a:off x="5618007" y="4721264"/>
              <a:ext cx="1882137" cy="38784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noAutofit/>
            </a:bodyPr>
            <a:lstStyle/>
            <a:p>
              <a:r>
                <a:rPr lang="zh-CN" altLang="en-US" sz="20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rPr>
                <a:t>状态</a:t>
              </a:r>
              <a:r>
                <a:rPr lang="en-US" altLang="zh-CN" sz="20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rPr>
                <a:t> S/S+</a:t>
              </a:r>
              <a:endPara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endParaRPr>
            </a:p>
          </p:txBody>
        </p:sp>
        <p:sp>
          <p:nvSpPr>
            <p:cNvPr id="44" name="Rectangle 166">
              <a:extLst>
                <a:ext uri="{FF2B5EF4-FFF2-40B4-BE49-F238E27FC236}">
                  <a16:creationId xmlns:a16="http://schemas.microsoft.com/office/drawing/2014/main" id="{89AD0F6F-1E37-B31C-B4C2-1974E6F1CA49}"/>
                </a:ext>
              </a:extLst>
            </p:cNvPr>
            <p:cNvSpPr/>
            <p:nvPr/>
          </p:nvSpPr>
          <p:spPr>
            <a:xfrm>
              <a:off x="5618008" y="5525483"/>
              <a:ext cx="1882141" cy="69429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t">
              <a:noAutofit/>
            </a:bodyPr>
            <a:lstStyle/>
            <a:p>
              <a:r>
                <a:rPr lang="en-US" altLang="zh-CN" sz="20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rPr>
                <a:t>F&amp;G </a:t>
              </a:r>
              <a:br>
                <a:rPr lang="en-US" altLang="zh-CN" sz="20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rPr>
              </a:br>
              <a:r>
                <a:rPr lang="zh-CN" altLang="en-US" sz="20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rPr>
                <a:t>组合逻辑</a:t>
              </a:r>
              <a:endPara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endParaRPr>
            </a:p>
          </p:txBody>
        </p:sp>
        <p:cxnSp>
          <p:nvCxnSpPr>
            <p:cNvPr id="45" name="Straight Arrow Connector 35">
              <a:extLst>
                <a:ext uri="{FF2B5EF4-FFF2-40B4-BE49-F238E27FC236}">
                  <a16:creationId xmlns:a16="http://schemas.microsoft.com/office/drawing/2014/main" id="{478EB57B-5A53-A0C4-82D0-2571EF00D6E1}"/>
                </a:ext>
              </a:extLst>
            </p:cNvPr>
            <p:cNvCxnSpPr>
              <a:stCxn id="43" idx="2"/>
              <a:endCxn id="44" idx="0"/>
            </p:cNvCxnSpPr>
            <p:nvPr/>
          </p:nvCxnSpPr>
          <p:spPr>
            <a:xfrm>
              <a:off x="6559076" y="5109106"/>
              <a:ext cx="3" cy="416377"/>
            </a:xfrm>
            <a:prstGeom prst="straightConnector1">
              <a:avLst/>
            </a:prstGeom>
            <a:ln w="38100" cap="rnd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连接符: 肘形 26">
              <a:extLst>
                <a:ext uri="{FF2B5EF4-FFF2-40B4-BE49-F238E27FC236}">
                  <a16:creationId xmlns:a16="http://schemas.microsoft.com/office/drawing/2014/main" id="{2B02F57A-0689-0BF0-B459-9AE8D3319888}"/>
                </a:ext>
              </a:extLst>
            </p:cNvPr>
            <p:cNvCxnSpPr>
              <a:stCxn id="44" idx="3"/>
              <a:endCxn id="43" idx="3"/>
            </p:cNvCxnSpPr>
            <p:nvPr/>
          </p:nvCxnSpPr>
          <p:spPr>
            <a:xfrm flipH="1" flipV="1">
              <a:off x="7500144" y="4915185"/>
              <a:ext cx="5" cy="957446"/>
            </a:xfrm>
            <a:prstGeom prst="bentConnector3">
              <a:avLst>
                <a:gd name="adj1" fmla="val -4572000000"/>
              </a:avLst>
            </a:prstGeom>
            <a:ln w="381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矩形 42">
              <a:extLst>
                <a:ext uri="{FF2B5EF4-FFF2-40B4-BE49-F238E27FC236}">
                  <a16:creationId xmlns:a16="http://schemas.microsoft.com/office/drawing/2014/main" id="{E93F7180-5FF5-EF5B-3675-DF2ACE02F785}"/>
                </a:ext>
              </a:extLst>
            </p:cNvPr>
            <p:cNvSpPr/>
            <p:nvPr/>
          </p:nvSpPr>
          <p:spPr>
            <a:xfrm>
              <a:off x="7549595" y="5009235"/>
              <a:ext cx="1573859" cy="3371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16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状态转移</a:t>
              </a:r>
            </a:p>
          </p:txBody>
        </p:sp>
        <p:cxnSp>
          <p:nvCxnSpPr>
            <p:cNvPr id="49" name="Straight Arrow Connector 35">
              <a:extLst>
                <a:ext uri="{FF2B5EF4-FFF2-40B4-BE49-F238E27FC236}">
                  <a16:creationId xmlns:a16="http://schemas.microsoft.com/office/drawing/2014/main" id="{E14377CF-A98E-2E14-1C10-6BE2EB42653C}"/>
                </a:ext>
              </a:extLst>
            </p:cNvPr>
            <p:cNvCxnSpPr/>
            <p:nvPr/>
          </p:nvCxnSpPr>
          <p:spPr>
            <a:xfrm>
              <a:off x="6067569" y="4284590"/>
              <a:ext cx="0" cy="431720"/>
            </a:xfrm>
            <a:prstGeom prst="straightConnector1">
              <a:avLst/>
            </a:prstGeom>
            <a:ln w="38100" cap="rnd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矩形 42">
              <a:extLst>
                <a:ext uri="{FF2B5EF4-FFF2-40B4-BE49-F238E27FC236}">
                  <a16:creationId xmlns:a16="http://schemas.microsoft.com/office/drawing/2014/main" id="{B40D016C-3BDA-152A-CBE7-315FF1099026}"/>
                </a:ext>
              </a:extLst>
            </p:cNvPr>
            <p:cNvSpPr/>
            <p:nvPr/>
          </p:nvSpPr>
          <p:spPr>
            <a:xfrm>
              <a:off x="4987015" y="4275590"/>
              <a:ext cx="1261985" cy="39878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0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时钟</a:t>
              </a:r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20B127A1-4417-4D2A-A954-FA66791DDB31}"/>
                  </a:ext>
                </a:extLst>
              </p14:cNvPr>
              <p14:cNvContentPartPr/>
              <p14:nvPr/>
            </p14:nvContentPartPr>
            <p14:xfrm>
              <a:off x="6924240" y="1237320"/>
              <a:ext cx="1058400" cy="690120"/>
            </p14:xfrm>
          </p:contentPart>
        </mc:Choice>
        <mc:Fallback xmlns=""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20B127A1-4417-4D2A-A954-FA66791DDB3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914880" y="1227960"/>
                <a:ext cx="1077120" cy="708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74113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7DC61C-B1E8-EF7D-C685-130471CDC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标题 1">
            <a:extLst>
              <a:ext uri="{FF2B5EF4-FFF2-40B4-BE49-F238E27FC236}">
                <a16:creationId xmlns:a16="http://schemas.microsoft.com/office/drawing/2014/main" id="{9BAE41C0-29BC-BB01-6B2B-4D9A36F70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如何支持通用算法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3F134E5E-100D-DC83-0D74-37ED73226EEB}"/>
              </a:ext>
            </a:extLst>
          </p:cNvPr>
          <p:cNvGrpSpPr/>
          <p:nvPr/>
        </p:nvGrpSpPr>
        <p:grpSpPr>
          <a:xfrm>
            <a:off x="-46288" y="3562164"/>
            <a:ext cx="9341080" cy="3249973"/>
            <a:chOff x="-140194" y="963446"/>
            <a:chExt cx="9341080" cy="3249973"/>
          </a:xfrm>
        </p:grpSpPr>
        <p:sp>
          <p:nvSpPr>
            <p:cNvPr id="6" name="Freeform 31">
              <a:extLst>
                <a:ext uri="{FF2B5EF4-FFF2-40B4-BE49-F238E27FC236}">
                  <a16:creationId xmlns:a16="http://schemas.microsoft.com/office/drawing/2014/main" id="{93AC61FF-5018-0A6D-4351-44F81FCA61DE}"/>
                </a:ext>
              </a:extLst>
            </p:cNvPr>
            <p:cNvSpPr/>
            <p:nvPr/>
          </p:nvSpPr>
          <p:spPr>
            <a:xfrm>
              <a:off x="3781322" y="963446"/>
              <a:ext cx="4713852" cy="3249973"/>
            </a:xfrm>
            <a:custGeom>
              <a:avLst/>
              <a:gdLst>
                <a:gd name="connsiteX0" fmla="*/ 0 w 5056094"/>
                <a:gd name="connsiteY0" fmla="*/ 32273 h 3195021"/>
                <a:gd name="connsiteX1" fmla="*/ 0 w 5056094"/>
                <a:gd name="connsiteY1" fmla="*/ 3195021 h 3195021"/>
                <a:gd name="connsiteX2" fmla="*/ 5056094 w 5056094"/>
                <a:gd name="connsiteY2" fmla="*/ 3195021 h 3195021"/>
                <a:gd name="connsiteX3" fmla="*/ 5056094 w 5056094"/>
                <a:gd name="connsiteY3" fmla="*/ 903642 h 3195021"/>
                <a:gd name="connsiteX4" fmla="*/ 3313355 w 5056094"/>
                <a:gd name="connsiteY4" fmla="*/ 903642 h 3195021"/>
                <a:gd name="connsiteX5" fmla="*/ 3313355 w 5056094"/>
                <a:gd name="connsiteY5" fmla="*/ 0 h 3195021"/>
                <a:gd name="connsiteX6" fmla="*/ 0 w 5056094"/>
                <a:gd name="connsiteY6" fmla="*/ 32273 h 3195021"/>
                <a:gd name="connsiteX0-1" fmla="*/ 0 w 5056094"/>
                <a:gd name="connsiteY0-2" fmla="*/ 32273 h 3195021"/>
                <a:gd name="connsiteX1-3" fmla="*/ 0 w 5056094"/>
                <a:gd name="connsiteY1-4" fmla="*/ 3195021 h 3195021"/>
                <a:gd name="connsiteX2-5" fmla="*/ 5056094 w 5056094"/>
                <a:gd name="connsiteY2-6" fmla="*/ 3195021 h 3195021"/>
                <a:gd name="connsiteX3-7" fmla="*/ 5056094 w 5056094"/>
                <a:gd name="connsiteY3-8" fmla="*/ 903642 h 3195021"/>
                <a:gd name="connsiteX4-9" fmla="*/ 2702513 w 5056094"/>
                <a:gd name="connsiteY4-10" fmla="*/ 914906 h 3195021"/>
                <a:gd name="connsiteX5-11" fmla="*/ 3313355 w 5056094"/>
                <a:gd name="connsiteY5-12" fmla="*/ 0 h 3195021"/>
                <a:gd name="connsiteX6-13" fmla="*/ 0 w 5056094"/>
                <a:gd name="connsiteY6-14" fmla="*/ 32273 h 3195021"/>
                <a:gd name="connsiteX0-15" fmla="*/ 0 w 5056094"/>
                <a:gd name="connsiteY0-16" fmla="*/ 9745 h 3172493"/>
                <a:gd name="connsiteX1-17" fmla="*/ 0 w 5056094"/>
                <a:gd name="connsiteY1-18" fmla="*/ 3172493 h 3172493"/>
                <a:gd name="connsiteX2-19" fmla="*/ 5056094 w 5056094"/>
                <a:gd name="connsiteY2-20" fmla="*/ 3172493 h 3172493"/>
                <a:gd name="connsiteX3-21" fmla="*/ 5056094 w 5056094"/>
                <a:gd name="connsiteY3-22" fmla="*/ 881114 h 3172493"/>
                <a:gd name="connsiteX4-23" fmla="*/ 2702513 w 5056094"/>
                <a:gd name="connsiteY4-24" fmla="*/ 892378 h 3172493"/>
                <a:gd name="connsiteX5-25" fmla="*/ 2690297 w 5056094"/>
                <a:gd name="connsiteY5-26" fmla="*/ 0 h 3172493"/>
                <a:gd name="connsiteX6-27" fmla="*/ 0 w 5056094"/>
                <a:gd name="connsiteY6-28" fmla="*/ 9745 h 3172493"/>
                <a:gd name="connsiteX0-29" fmla="*/ 0 w 5056094"/>
                <a:gd name="connsiteY0-30" fmla="*/ 9745 h 3172493"/>
                <a:gd name="connsiteX1-31" fmla="*/ 0 w 5056094"/>
                <a:gd name="connsiteY1-32" fmla="*/ 3172493 h 3172493"/>
                <a:gd name="connsiteX2-33" fmla="*/ 5056094 w 5056094"/>
                <a:gd name="connsiteY2-34" fmla="*/ 3172493 h 3172493"/>
                <a:gd name="connsiteX3-35" fmla="*/ 5056094 w 5056094"/>
                <a:gd name="connsiteY3-36" fmla="*/ 881114 h 3172493"/>
                <a:gd name="connsiteX4-37" fmla="*/ 2682546 w 5056094"/>
                <a:gd name="connsiteY4-38" fmla="*/ 892378 h 3172493"/>
                <a:gd name="connsiteX5-39" fmla="*/ 2690297 w 5056094"/>
                <a:gd name="connsiteY5-40" fmla="*/ 0 h 3172493"/>
                <a:gd name="connsiteX6-41" fmla="*/ 0 w 5056094"/>
                <a:gd name="connsiteY6-42" fmla="*/ 9745 h 3172493"/>
                <a:gd name="connsiteX0-43" fmla="*/ 0 w 5056094"/>
                <a:gd name="connsiteY0-44" fmla="*/ 0 h 3162748"/>
                <a:gd name="connsiteX1-45" fmla="*/ 0 w 5056094"/>
                <a:gd name="connsiteY1-46" fmla="*/ 3162748 h 3162748"/>
                <a:gd name="connsiteX2-47" fmla="*/ 5056094 w 5056094"/>
                <a:gd name="connsiteY2-48" fmla="*/ 3162748 h 3162748"/>
                <a:gd name="connsiteX3-49" fmla="*/ 5056094 w 5056094"/>
                <a:gd name="connsiteY3-50" fmla="*/ 871369 h 3162748"/>
                <a:gd name="connsiteX4-51" fmla="*/ 2682546 w 5056094"/>
                <a:gd name="connsiteY4-52" fmla="*/ 882633 h 3162748"/>
                <a:gd name="connsiteX5-53" fmla="*/ 2683641 w 5056094"/>
                <a:gd name="connsiteY5-54" fmla="*/ 2529 h 3162748"/>
                <a:gd name="connsiteX6-55" fmla="*/ 0 w 5056094"/>
                <a:gd name="connsiteY6-56" fmla="*/ 0 h 316274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</a:cxnLst>
              <a:rect l="l" t="t" r="r" b="b"/>
              <a:pathLst>
                <a:path w="5056094" h="3162748">
                  <a:moveTo>
                    <a:pt x="0" y="0"/>
                  </a:moveTo>
                  <a:lnTo>
                    <a:pt x="0" y="3162748"/>
                  </a:lnTo>
                  <a:lnTo>
                    <a:pt x="5056094" y="3162748"/>
                  </a:lnTo>
                  <a:lnTo>
                    <a:pt x="5056094" y="871369"/>
                  </a:lnTo>
                  <a:lnTo>
                    <a:pt x="2682546" y="882633"/>
                  </a:lnTo>
                  <a:cubicBezTo>
                    <a:pt x="2685130" y="585174"/>
                    <a:pt x="2681057" y="299988"/>
                    <a:pt x="2683641" y="252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1F497D">
                <a:lumMod val="20000"/>
                <a:lumOff val="80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cxnSp>
          <p:nvCxnSpPr>
            <p:cNvPr id="7" name="Straight Arrow Connector 35">
              <a:extLst>
                <a:ext uri="{FF2B5EF4-FFF2-40B4-BE49-F238E27FC236}">
                  <a16:creationId xmlns:a16="http://schemas.microsoft.com/office/drawing/2014/main" id="{D08D0525-3361-3A87-98B7-BC7D47AC4C34}"/>
                </a:ext>
              </a:extLst>
            </p:cNvPr>
            <p:cNvCxnSpPr/>
            <p:nvPr/>
          </p:nvCxnSpPr>
          <p:spPr>
            <a:xfrm>
              <a:off x="42221" y="3229464"/>
              <a:ext cx="728984" cy="0"/>
            </a:xfrm>
            <a:prstGeom prst="straightConnector1">
              <a:avLst/>
            </a:prstGeom>
            <a:ln w="25400" cap="rnd">
              <a:solidFill>
                <a:schemeClr val="tx1"/>
              </a:solidFill>
              <a:headEnd type="none" w="med" len="lg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矩形 10">
              <a:extLst>
                <a:ext uri="{FF2B5EF4-FFF2-40B4-BE49-F238E27FC236}">
                  <a16:creationId xmlns:a16="http://schemas.microsoft.com/office/drawing/2014/main" id="{AFA00DD4-847A-8E4F-EB8C-13A12B46FEBE}"/>
                </a:ext>
              </a:extLst>
            </p:cNvPr>
            <p:cNvSpPr/>
            <p:nvPr/>
          </p:nvSpPr>
          <p:spPr>
            <a:xfrm>
              <a:off x="3946544" y="2501591"/>
              <a:ext cx="1691025" cy="5835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rPr>
                <a:t>指令解码</a:t>
              </a:r>
              <a:endPara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rPr>
                <a:t>&amp; </a:t>
              </a: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rPr>
                <a:t>控制信号生成</a:t>
              </a:r>
            </a:p>
          </p:txBody>
        </p:sp>
        <p:sp>
          <p:nvSpPr>
            <p:cNvPr id="9" name="Rectangle 29" descr="e">
              <a:extLst>
                <a:ext uri="{FF2B5EF4-FFF2-40B4-BE49-F238E27FC236}">
                  <a16:creationId xmlns:a16="http://schemas.microsoft.com/office/drawing/2014/main" id="{5423932D-F865-BF2F-C679-60BD396E9317}"/>
                </a:ext>
              </a:extLst>
            </p:cNvPr>
            <p:cNvSpPr/>
            <p:nvPr/>
          </p:nvSpPr>
          <p:spPr>
            <a:xfrm>
              <a:off x="779398" y="1070497"/>
              <a:ext cx="1853991" cy="1539937"/>
            </a:xfrm>
            <a:prstGeom prst="rect">
              <a:avLst/>
            </a:prstGeom>
            <a:solidFill>
              <a:srgbClr val="CCC1DA">
                <a:alpha val="50196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t">
              <a:no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指令存储</a:t>
              </a:r>
            </a:p>
          </p:txBody>
        </p:sp>
        <p:sp>
          <p:nvSpPr>
            <p:cNvPr id="10" name="Rectangle 29" descr="e">
              <a:extLst>
                <a:ext uri="{FF2B5EF4-FFF2-40B4-BE49-F238E27FC236}">
                  <a16:creationId xmlns:a16="http://schemas.microsoft.com/office/drawing/2014/main" id="{A98787A6-75E1-4D74-FDB0-88FDE1632D0A}"/>
                </a:ext>
              </a:extLst>
            </p:cNvPr>
            <p:cNvSpPr/>
            <p:nvPr/>
          </p:nvSpPr>
          <p:spPr>
            <a:xfrm>
              <a:off x="3952600" y="1076772"/>
              <a:ext cx="1691024" cy="2317433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t">
              <a:no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控制模块</a:t>
              </a:r>
            </a:p>
          </p:txBody>
        </p:sp>
        <p:sp>
          <p:nvSpPr>
            <p:cNvPr id="11" name="Rectangle 29" descr="e">
              <a:extLst>
                <a:ext uri="{FF2B5EF4-FFF2-40B4-BE49-F238E27FC236}">
                  <a16:creationId xmlns:a16="http://schemas.microsoft.com/office/drawing/2014/main" id="{AD7ABD5B-DCB0-5880-F275-14C1AFCFFC2D}"/>
                </a:ext>
              </a:extLst>
            </p:cNvPr>
            <p:cNvSpPr/>
            <p:nvPr/>
          </p:nvSpPr>
          <p:spPr>
            <a:xfrm>
              <a:off x="6984041" y="1076773"/>
              <a:ext cx="1314651" cy="678976"/>
            </a:xfrm>
            <a:prstGeom prst="rect">
              <a:avLst/>
            </a:prstGeom>
            <a:solidFill>
              <a:srgbClr val="8064A2">
                <a:lumMod val="40000"/>
                <a:lumOff val="60000"/>
              </a:srgbClr>
            </a:solidFill>
            <a:ln w="254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rPr>
                <a:t>数据存储</a:t>
              </a:r>
            </a:p>
          </p:txBody>
        </p:sp>
        <p:sp>
          <p:nvSpPr>
            <p:cNvPr id="13" name="Rectangle 29" descr="e">
              <a:extLst>
                <a:ext uri="{FF2B5EF4-FFF2-40B4-BE49-F238E27FC236}">
                  <a16:creationId xmlns:a16="http://schemas.microsoft.com/office/drawing/2014/main" id="{F8302E84-C46D-D5B8-1D09-833FEB502E49}"/>
                </a:ext>
              </a:extLst>
            </p:cNvPr>
            <p:cNvSpPr/>
            <p:nvPr/>
          </p:nvSpPr>
          <p:spPr>
            <a:xfrm>
              <a:off x="6984041" y="2939296"/>
              <a:ext cx="1314651" cy="45491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计算模块</a:t>
              </a:r>
              <a:endPara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cxnSp>
          <p:nvCxnSpPr>
            <p:cNvPr id="14" name="Straight Arrow Connector 35">
              <a:extLst>
                <a:ext uri="{FF2B5EF4-FFF2-40B4-BE49-F238E27FC236}">
                  <a16:creationId xmlns:a16="http://schemas.microsoft.com/office/drawing/2014/main" id="{69611517-BC68-D026-4559-2F2F7C291597}"/>
                </a:ext>
              </a:extLst>
            </p:cNvPr>
            <p:cNvCxnSpPr>
              <a:stCxn id="11" idx="2"/>
              <a:endCxn id="13" idx="0"/>
            </p:cNvCxnSpPr>
            <p:nvPr/>
          </p:nvCxnSpPr>
          <p:spPr>
            <a:xfrm>
              <a:off x="7641367" y="1755749"/>
              <a:ext cx="0" cy="1183547"/>
            </a:xfrm>
            <a:prstGeom prst="straightConnector1">
              <a:avLst/>
            </a:prstGeom>
            <a:ln w="25400" cap="rnd">
              <a:solidFill>
                <a:schemeClr val="tx1"/>
              </a:solidFill>
              <a:headEnd type="triangle" w="med" len="lg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矩形 22">
              <a:extLst>
                <a:ext uri="{FF2B5EF4-FFF2-40B4-BE49-F238E27FC236}">
                  <a16:creationId xmlns:a16="http://schemas.microsoft.com/office/drawing/2014/main" id="{A68DE120-DD00-7BBA-5555-34D77C6D6AE7}"/>
                </a:ext>
              </a:extLst>
            </p:cNvPr>
            <p:cNvSpPr/>
            <p:nvPr/>
          </p:nvSpPr>
          <p:spPr>
            <a:xfrm>
              <a:off x="2832293" y="1811460"/>
              <a:ext cx="1034668" cy="39878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指令</a:t>
              </a:r>
            </a:p>
          </p:txBody>
        </p:sp>
        <p:cxnSp>
          <p:nvCxnSpPr>
            <p:cNvPr id="16" name="Straight Arrow Connector 35">
              <a:extLst>
                <a:ext uri="{FF2B5EF4-FFF2-40B4-BE49-F238E27FC236}">
                  <a16:creationId xmlns:a16="http://schemas.microsoft.com/office/drawing/2014/main" id="{EB27A296-6430-F3FB-8657-DB6C5CF5B6FF}"/>
                </a:ext>
              </a:extLst>
            </p:cNvPr>
            <p:cNvCxnSpPr/>
            <p:nvPr/>
          </p:nvCxnSpPr>
          <p:spPr>
            <a:xfrm>
              <a:off x="5649680" y="2375145"/>
              <a:ext cx="1987256" cy="0"/>
            </a:xfrm>
            <a:prstGeom prst="straightConnector1">
              <a:avLst/>
            </a:prstGeom>
            <a:ln w="25400" cap="rnd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35">
              <a:extLst>
                <a:ext uri="{FF2B5EF4-FFF2-40B4-BE49-F238E27FC236}">
                  <a16:creationId xmlns:a16="http://schemas.microsoft.com/office/drawing/2014/main" id="{F07DD4EC-B436-C374-77EA-266835017266}"/>
                </a:ext>
              </a:extLst>
            </p:cNvPr>
            <p:cNvCxnSpPr/>
            <p:nvPr/>
          </p:nvCxnSpPr>
          <p:spPr>
            <a:xfrm>
              <a:off x="2902453" y="2235488"/>
              <a:ext cx="1044092" cy="0"/>
            </a:xfrm>
            <a:prstGeom prst="straightConnector1">
              <a:avLst/>
            </a:prstGeom>
            <a:ln w="25400" cap="rnd">
              <a:solidFill>
                <a:schemeClr val="tx1"/>
              </a:solidFill>
              <a:headEnd type="none" w="med" len="lg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矩形 22">
              <a:extLst>
                <a:ext uri="{FF2B5EF4-FFF2-40B4-BE49-F238E27FC236}">
                  <a16:creationId xmlns:a16="http://schemas.microsoft.com/office/drawing/2014/main" id="{52F4D26C-5D5E-EDFA-197E-E9DE76310F81}"/>
                </a:ext>
              </a:extLst>
            </p:cNvPr>
            <p:cNvSpPr/>
            <p:nvPr/>
          </p:nvSpPr>
          <p:spPr>
            <a:xfrm>
              <a:off x="-140194" y="2855965"/>
              <a:ext cx="985502" cy="39878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432FF"/>
                  </a:solidFill>
                  <a:effectLst/>
                  <a:uLnTx/>
                  <a:uFillTx/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时钟</a:t>
              </a:r>
            </a:p>
          </p:txBody>
        </p:sp>
        <p:cxnSp>
          <p:nvCxnSpPr>
            <p:cNvPr id="19" name="Straight Connector 47">
              <a:extLst>
                <a:ext uri="{FF2B5EF4-FFF2-40B4-BE49-F238E27FC236}">
                  <a16:creationId xmlns:a16="http://schemas.microsoft.com/office/drawing/2014/main" id="{B028174F-9CE6-CE34-BAE8-D21E98263617}"/>
                </a:ext>
              </a:extLst>
            </p:cNvPr>
            <p:cNvCxnSpPr/>
            <p:nvPr/>
          </p:nvCxnSpPr>
          <p:spPr>
            <a:xfrm>
              <a:off x="7641367" y="3403738"/>
              <a:ext cx="0" cy="573453"/>
            </a:xfrm>
            <a:prstGeom prst="line">
              <a:avLst/>
            </a:prstGeom>
            <a:ln w="2540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矩形 10">
              <a:extLst>
                <a:ext uri="{FF2B5EF4-FFF2-40B4-BE49-F238E27FC236}">
                  <a16:creationId xmlns:a16="http://schemas.microsoft.com/office/drawing/2014/main" id="{5145C833-E679-946C-FE89-D715C65FC69F}"/>
                </a:ext>
              </a:extLst>
            </p:cNvPr>
            <p:cNvSpPr/>
            <p:nvPr/>
          </p:nvSpPr>
          <p:spPr>
            <a:xfrm>
              <a:off x="782680" y="1997884"/>
              <a:ext cx="1842445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按地址顺序存储</a:t>
              </a:r>
              <a:endPara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600" b="0" dirty="0">
                  <a:solidFill>
                    <a:srgbClr val="00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（读取：组合逻辑）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21" name="矩形 22">
              <a:extLst>
                <a:ext uri="{FF2B5EF4-FFF2-40B4-BE49-F238E27FC236}">
                  <a16:creationId xmlns:a16="http://schemas.microsoft.com/office/drawing/2014/main" id="{B336412D-90BC-78B5-D9AE-B140091DB271}"/>
                </a:ext>
              </a:extLst>
            </p:cNvPr>
            <p:cNvSpPr/>
            <p:nvPr/>
          </p:nvSpPr>
          <p:spPr>
            <a:xfrm>
              <a:off x="8215384" y="1174250"/>
              <a:ext cx="985502" cy="39878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432FF"/>
                  </a:solidFill>
                  <a:effectLst/>
                  <a:uLnTx/>
                  <a:uFillTx/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时钟</a:t>
              </a:r>
            </a:p>
          </p:txBody>
        </p:sp>
        <p:cxnSp>
          <p:nvCxnSpPr>
            <p:cNvPr id="22" name="Straight Arrow Connector 35">
              <a:extLst>
                <a:ext uri="{FF2B5EF4-FFF2-40B4-BE49-F238E27FC236}">
                  <a16:creationId xmlns:a16="http://schemas.microsoft.com/office/drawing/2014/main" id="{0754E0C6-D8B6-1812-F432-8A9B6D0F42B8}"/>
                </a:ext>
              </a:extLst>
            </p:cNvPr>
            <p:cNvCxnSpPr/>
            <p:nvPr/>
          </p:nvCxnSpPr>
          <p:spPr>
            <a:xfrm flipH="1">
              <a:off x="8298692" y="1578429"/>
              <a:ext cx="700178" cy="0"/>
            </a:xfrm>
            <a:prstGeom prst="straightConnector1">
              <a:avLst/>
            </a:prstGeom>
            <a:ln w="25400" cap="rnd">
              <a:solidFill>
                <a:schemeClr val="tx1"/>
              </a:solidFill>
              <a:headEnd type="none" w="med" len="lg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53">
              <a:extLst>
                <a:ext uri="{FF2B5EF4-FFF2-40B4-BE49-F238E27FC236}">
                  <a16:creationId xmlns:a16="http://schemas.microsoft.com/office/drawing/2014/main" id="{469320C9-F6A2-F119-859C-F2623FFF8C38}"/>
                </a:ext>
              </a:extLst>
            </p:cNvPr>
            <p:cNvSpPr>
              <a:spLocks/>
            </p:cNvSpPr>
            <p:nvPr/>
          </p:nvSpPr>
          <p:spPr>
            <a:xfrm>
              <a:off x="779398" y="3033315"/>
              <a:ext cx="2123055" cy="337185"/>
            </a:xfrm>
            <a:prstGeom prst="rect">
              <a:avLst/>
            </a:prstGeom>
            <a:solidFill>
              <a:srgbClr val="8064A2">
                <a:lumMod val="40000"/>
                <a:lumOff val="60000"/>
              </a:srgbClr>
            </a:solidFill>
            <a:ln w="254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432FF"/>
                  </a:solidFill>
                  <a:effectLst/>
                  <a:uLnTx/>
                  <a:uFillTx/>
                  <a:latin typeface="Arial"/>
                  <a:ea typeface="微软雅黑" panose="020B0503020204020204" pitchFamily="34" charset="-122"/>
                  <a:cs typeface="Arial" panose="020B0604020202020204" pitchFamily="34" charset="0"/>
                </a:rPr>
                <a:t>PC</a:t>
              </a:r>
            </a:p>
          </p:txBody>
        </p:sp>
        <p:sp>
          <p:nvSpPr>
            <p:cNvPr id="24" name="Rectangle 29" descr="e">
              <a:extLst>
                <a:ext uri="{FF2B5EF4-FFF2-40B4-BE49-F238E27FC236}">
                  <a16:creationId xmlns:a16="http://schemas.microsoft.com/office/drawing/2014/main" id="{5FDAA7D0-B047-0BF1-4D59-CB62FD99342D}"/>
                </a:ext>
              </a:extLst>
            </p:cNvPr>
            <p:cNvSpPr>
              <a:spLocks/>
            </p:cNvSpPr>
            <p:nvPr/>
          </p:nvSpPr>
          <p:spPr>
            <a:xfrm>
              <a:off x="2634930" y="1070497"/>
              <a:ext cx="267523" cy="1539937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接口</a:t>
              </a:r>
            </a:p>
          </p:txBody>
        </p:sp>
        <p:cxnSp>
          <p:nvCxnSpPr>
            <p:cNvPr id="25" name="Straight Connector 106">
              <a:extLst>
                <a:ext uri="{FF2B5EF4-FFF2-40B4-BE49-F238E27FC236}">
                  <a16:creationId xmlns:a16="http://schemas.microsoft.com/office/drawing/2014/main" id="{7D34A63D-353B-51FB-8624-46CAFBC6BB0A}"/>
                </a:ext>
              </a:extLst>
            </p:cNvPr>
            <p:cNvCxnSpPr/>
            <p:nvPr/>
          </p:nvCxnSpPr>
          <p:spPr>
            <a:xfrm flipH="1">
              <a:off x="1637637" y="3967887"/>
              <a:ext cx="5999299" cy="0"/>
            </a:xfrm>
            <a:prstGeom prst="line">
              <a:avLst/>
            </a:prstGeom>
            <a:ln w="28575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ectangle 29" descr="e">
              <a:extLst>
                <a:ext uri="{FF2B5EF4-FFF2-40B4-BE49-F238E27FC236}">
                  <a16:creationId xmlns:a16="http://schemas.microsoft.com/office/drawing/2014/main" id="{735C63A6-AC40-7896-51E1-BEA1055D427E}"/>
                </a:ext>
              </a:extLst>
            </p:cNvPr>
            <p:cNvSpPr/>
            <p:nvPr/>
          </p:nvSpPr>
          <p:spPr>
            <a:xfrm>
              <a:off x="4602826" y="3829010"/>
              <a:ext cx="684330" cy="274064"/>
            </a:xfrm>
            <a:prstGeom prst="rect">
              <a:avLst/>
            </a:prstGeom>
            <a:solidFill>
              <a:srgbClr val="C7D9F2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MUX</a:t>
              </a:r>
            </a:p>
          </p:txBody>
        </p:sp>
        <p:cxnSp>
          <p:nvCxnSpPr>
            <p:cNvPr id="27" name="Straight Arrow Connector 35">
              <a:extLst>
                <a:ext uri="{FF2B5EF4-FFF2-40B4-BE49-F238E27FC236}">
                  <a16:creationId xmlns:a16="http://schemas.microsoft.com/office/drawing/2014/main" id="{066177B4-93D1-FE3F-D7A0-9FA8ABDAB543}"/>
                </a:ext>
              </a:extLst>
            </p:cNvPr>
            <p:cNvCxnSpPr/>
            <p:nvPr/>
          </p:nvCxnSpPr>
          <p:spPr>
            <a:xfrm>
              <a:off x="4925770" y="3394205"/>
              <a:ext cx="0" cy="434805"/>
            </a:xfrm>
            <a:prstGeom prst="straightConnector1">
              <a:avLst/>
            </a:prstGeom>
            <a:ln w="25400" cap="rnd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78">
              <a:extLst>
                <a:ext uri="{FF2B5EF4-FFF2-40B4-BE49-F238E27FC236}">
                  <a16:creationId xmlns:a16="http://schemas.microsoft.com/office/drawing/2014/main" id="{5EC9530B-2D0A-71E4-B207-F4B84B7DEA1E}"/>
                </a:ext>
              </a:extLst>
            </p:cNvPr>
            <p:cNvCxnSpPr/>
            <p:nvPr/>
          </p:nvCxnSpPr>
          <p:spPr>
            <a:xfrm>
              <a:off x="1637637" y="3358731"/>
              <a:ext cx="0" cy="608936"/>
            </a:xfrm>
            <a:prstGeom prst="line">
              <a:avLst/>
            </a:prstGeom>
            <a:ln w="25400" cap="rnd">
              <a:solidFill>
                <a:schemeClr val="tx1"/>
              </a:solidFill>
              <a:head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矩形 22">
              <a:extLst>
                <a:ext uri="{FF2B5EF4-FFF2-40B4-BE49-F238E27FC236}">
                  <a16:creationId xmlns:a16="http://schemas.microsoft.com/office/drawing/2014/main" id="{80CFACEB-B9E4-CCB4-D087-C3AC61A6C88B}"/>
                </a:ext>
              </a:extLst>
            </p:cNvPr>
            <p:cNvSpPr/>
            <p:nvPr/>
          </p:nvSpPr>
          <p:spPr>
            <a:xfrm>
              <a:off x="1596300" y="3611371"/>
              <a:ext cx="2053693" cy="368300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下一条指令地址</a:t>
              </a:r>
            </a:p>
          </p:txBody>
        </p:sp>
        <p:sp>
          <p:nvSpPr>
            <p:cNvPr id="30" name="矩形 22">
              <a:extLst>
                <a:ext uri="{FF2B5EF4-FFF2-40B4-BE49-F238E27FC236}">
                  <a16:creationId xmlns:a16="http://schemas.microsoft.com/office/drawing/2014/main" id="{3B6C8533-954D-4348-A4AE-D03E908B9B2A}"/>
                </a:ext>
              </a:extLst>
            </p:cNvPr>
            <p:cNvSpPr/>
            <p:nvPr/>
          </p:nvSpPr>
          <p:spPr>
            <a:xfrm>
              <a:off x="5172547" y="3611371"/>
              <a:ext cx="2464390" cy="368300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可能的下条指令地址</a:t>
              </a:r>
            </a:p>
          </p:txBody>
        </p:sp>
        <p:sp>
          <p:nvSpPr>
            <p:cNvPr id="31" name="矩形 22">
              <a:extLst>
                <a:ext uri="{FF2B5EF4-FFF2-40B4-BE49-F238E27FC236}">
                  <a16:creationId xmlns:a16="http://schemas.microsoft.com/office/drawing/2014/main" id="{A944C848-1117-F91C-8705-2B71FED54B18}"/>
                </a:ext>
              </a:extLst>
            </p:cNvPr>
            <p:cNvSpPr/>
            <p:nvPr/>
          </p:nvSpPr>
          <p:spPr>
            <a:xfrm>
              <a:off x="5533304" y="1871801"/>
              <a:ext cx="1280998" cy="95590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rPr>
                <a:t>控制信号</a:t>
              </a: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rPr>
                <a:t>&amp;</a:t>
              </a: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rPr>
                <a:t>数据</a:t>
              </a:r>
            </a:p>
          </p:txBody>
        </p:sp>
      </p:grpSp>
      <p:sp>
        <p:nvSpPr>
          <p:cNvPr id="35" name="Content Placeholder 11">
            <a:extLst>
              <a:ext uri="{FF2B5EF4-FFF2-40B4-BE49-F238E27FC236}">
                <a16:creationId xmlns:a16="http://schemas.microsoft.com/office/drawing/2014/main" id="{7DF55099-DE05-E9F0-A851-6FA27D737A3E}"/>
              </a:ext>
            </a:extLst>
          </p:cNvPr>
          <p:cNvSpPr txBox="1"/>
          <p:nvPr/>
        </p:nvSpPr>
        <p:spPr>
          <a:xfrm>
            <a:off x="282389" y="1344871"/>
            <a:ext cx="4634935" cy="23797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06400" indent="-406400" algn="l" defTabSz="685800" rtl="0" eaLnBrk="1" latinLnBrk="0" hangingPunct="1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685800" indent="-342900" algn="l" defTabSz="685800" rtl="0" eaLnBrk="1" latinLnBrk="0" hangingPunct="1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ü"/>
              <a:defRPr sz="21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857250" indent="-171450" algn="l" defTabSz="6858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200150" indent="-171450" algn="l" defTabSz="6858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1543050" indent="-171450" algn="l" defTabSz="6858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»"/>
              <a:defRPr sz="15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6400" marR="0" lvl="0" indent="-406400" algn="l" defTabSz="685800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b="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程序计数器</a:t>
            </a:r>
            <a:r>
              <a:rPr lang="en-US" altLang="zh-CN" b="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(Program Counter)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marL="685800" marR="0" lvl="1" indent="-34290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系统字体常规体"/>
              <a:buChar char="–"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PC</a:t>
            </a: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，指示当前的指令地址</a:t>
            </a:r>
            <a:endParaRPr kumimoji="0" lang="en-US" altLang="zh-CN" sz="2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marL="685800" marR="0" lvl="1" indent="-34290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系统字体常规体"/>
              <a:buChar char="–"/>
              <a:tabLst/>
              <a:defRPr/>
            </a:pPr>
            <a:r>
              <a:rPr lang="en-US" altLang="zh-CN" b="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PC</a:t>
            </a:r>
            <a:r>
              <a:rPr lang="zh-CN" altLang="en-US" b="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每个周期被更新：</a:t>
            </a:r>
            <a:endParaRPr lang="en-US" altLang="zh-CN" b="0" dirty="0">
              <a:solidFill>
                <a:srgbClr val="000000"/>
              </a:solidFill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marL="342900" marR="0" lvl="1" indent="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	PC&lt;=PC+1*, or PC&lt;=</a:t>
            </a:r>
            <a:r>
              <a:rPr kumimoji="0" lang="en-US" sz="21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PC_jump</a:t>
            </a:r>
            <a:endParaRPr kumimoji="0" lang="en-US" sz="2100" b="1" i="0" u="none" strike="noStrike" kern="1200" cap="none" spc="0" normalizeH="0" baseline="0" noProof="0" dirty="0">
              <a:ln>
                <a:noFill/>
              </a:ln>
              <a:solidFill>
                <a:srgbClr val="0432FF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pic>
        <p:nvPicPr>
          <p:cNvPr id="36" name="Picture 111">
            <a:extLst>
              <a:ext uri="{FF2B5EF4-FFF2-40B4-BE49-F238E27FC236}">
                <a16:creationId xmlns:a16="http://schemas.microsoft.com/office/drawing/2014/main" id="{96B8CEA6-49E9-0073-C6D4-F373A560FA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3380" y="1299305"/>
            <a:ext cx="4088822" cy="2203421"/>
          </a:xfrm>
          <a:prstGeom prst="rect">
            <a:avLst/>
          </a:prstGeom>
        </p:spPr>
      </p:pic>
      <p:sp>
        <p:nvSpPr>
          <p:cNvPr id="37" name="Rectangle 112">
            <a:extLst>
              <a:ext uri="{FF2B5EF4-FFF2-40B4-BE49-F238E27FC236}">
                <a16:creationId xmlns:a16="http://schemas.microsoft.com/office/drawing/2014/main" id="{804BB155-C34F-C5E0-B411-4228E64B4AFA}"/>
              </a:ext>
            </a:extLst>
          </p:cNvPr>
          <p:cNvSpPr/>
          <p:nvPr/>
        </p:nvSpPr>
        <p:spPr>
          <a:xfrm>
            <a:off x="7133236" y="1381973"/>
            <a:ext cx="473581" cy="274064"/>
          </a:xfrm>
          <a:prstGeom prst="rect">
            <a:avLst/>
          </a:prstGeom>
          <a:solidFill>
            <a:srgbClr val="FFFFFF">
              <a:lumMod val="85000"/>
            </a:srgbClr>
          </a:solidFill>
          <a:ln w="25400" cap="flat" cmpd="sng" algn="ctr">
            <a:solidFill>
              <a:srgbClr val="000000"/>
            </a:solidFill>
            <a:prstDash val="solid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PC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AD8174D-68EA-C8DD-F68D-F07AFE7DF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4659731-6BD7-46E7-8D3C-2F3AC07E20B1}" type="slidenum">
              <a:rPr kumimoji="0" lang="en-US" altLang="zh-CN" sz="1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黑体" panose="02010609060101010101" pitchFamily="49" charset="-122"/>
              <a:cs typeface="+mn-cs"/>
            </a:endParaRPr>
          </a:p>
        </p:txBody>
      </p:sp>
      <p:cxnSp>
        <p:nvCxnSpPr>
          <p:cNvPr id="4" name="Straight Arrow Connector 35">
            <a:extLst>
              <a:ext uri="{FF2B5EF4-FFF2-40B4-BE49-F238E27FC236}">
                <a16:creationId xmlns:a16="http://schemas.microsoft.com/office/drawing/2014/main" id="{7BB9A67C-6F15-0482-3B8A-5E73D2ADF59C}"/>
              </a:ext>
            </a:extLst>
          </p:cNvPr>
          <p:cNvCxnSpPr>
            <a:cxnSpLocks/>
            <a:endCxn id="24" idx="2"/>
          </p:cNvCxnSpPr>
          <p:nvPr/>
        </p:nvCxnSpPr>
        <p:spPr>
          <a:xfrm flipV="1">
            <a:off x="2860711" y="5209152"/>
            <a:ext cx="0" cy="422881"/>
          </a:xfrm>
          <a:prstGeom prst="straightConnector1">
            <a:avLst/>
          </a:prstGeom>
          <a:ln w="25400" cap="rnd">
            <a:solidFill>
              <a:schemeClr val="tx1"/>
            </a:solidFill>
            <a:headEnd type="non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44">
            <a:extLst>
              <a:ext uri="{FF2B5EF4-FFF2-40B4-BE49-F238E27FC236}">
                <a16:creationId xmlns:a16="http://schemas.microsoft.com/office/drawing/2014/main" id="{3A0D174C-73A4-712C-86C6-DBD8952191F1}"/>
              </a:ext>
            </a:extLst>
          </p:cNvPr>
          <p:cNvSpPr/>
          <p:nvPr/>
        </p:nvSpPr>
        <p:spPr>
          <a:xfrm>
            <a:off x="8283567" y="1371793"/>
            <a:ext cx="671212" cy="2740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r"/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CPU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9810E124-6DC8-05B1-03C4-4EC36951A059}"/>
                  </a:ext>
                </a:extLst>
              </p14:cNvPr>
              <p14:cNvContentPartPr/>
              <p14:nvPr/>
            </p14:nvContentPartPr>
            <p14:xfrm>
              <a:off x="6924240" y="1237320"/>
              <a:ext cx="1058400" cy="690120"/>
            </p14:xfrm>
          </p:contentPart>
        </mc:Choice>
        <mc:Fallback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9810E124-6DC8-05B1-03C4-4EC36951A05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914880" y="1227960"/>
                <a:ext cx="1077120" cy="70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2" name="墨迹 11">
                <a:extLst>
                  <a:ext uri="{FF2B5EF4-FFF2-40B4-BE49-F238E27FC236}">
                    <a16:creationId xmlns:a16="http://schemas.microsoft.com/office/drawing/2014/main" id="{BBFA8726-8661-A3AB-F077-28C9A7248505}"/>
                  </a:ext>
                </a:extLst>
              </p14:cNvPr>
              <p14:cNvContentPartPr/>
              <p14:nvPr/>
            </p14:nvContentPartPr>
            <p14:xfrm>
              <a:off x="8105506" y="3720058"/>
              <a:ext cx="1058400" cy="690120"/>
            </p14:xfrm>
          </p:contentPart>
        </mc:Choice>
        <mc:Fallback>
          <p:pic>
            <p:nvPicPr>
              <p:cNvPr id="12" name="墨迹 11">
                <a:extLst>
                  <a:ext uri="{FF2B5EF4-FFF2-40B4-BE49-F238E27FC236}">
                    <a16:creationId xmlns:a16="http://schemas.microsoft.com/office/drawing/2014/main" id="{BBFA8726-8661-A3AB-F077-28C9A724850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096146" y="3710698"/>
                <a:ext cx="1077120" cy="70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32" name="墨迹 31">
                <a:extLst>
                  <a:ext uri="{FF2B5EF4-FFF2-40B4-BE49-F238E27FC236}">
                    <a16:creationId xmlns:a16="http://schemas.microsoft.com/office/drawing/2014/main" id="{CE2731DB-4ADE-996D-E2E3-31952E96EFDF}"/>
                  </a:ext>
                </a:extLst>
              </p14:cNvPr>
              <p14:cNvContentPartPr/>
              <p14:nvPr/>
            </p14:nvContentPartPr>
            <p14:xfrm>
              <a:off x="-17529" y="5338814"/>
              <a:ext cx="1058400" cy="690120"/>
            </p14:xfrm>
          </p:contentPart>
        </mc:Choice>
        <mc:Fallback>
          <p:pic>
            <p:nvPicPr>
              <p:cNvPr id="32" name="墨迹 31">
                <a:extLst>
                  <a:ext uri="{FF2B5EF4-FFF2-40B4-BE49-F238E27FC236}">
                    <a16:creationId xmlns:a16="http://schemas.microsoft.com/office/drawing/2014/main" id="{CE2731DB-4ADE-996D-E2E3-31952E96EFD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26889" y="5329454"/>
                <a:ext cx="1077120" cy="70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34" name="墨迹 33">
                <a:extLst>
                  <a:ext uri="{FF2B5EF4-FFF2-40B4-BE49-F238E27FC236}">
                    <a16:creationId xmlns:a16="http://schemas.microsoft.com/office/drawing/2014/main" id="{E7E64960-2E0A-AF50-D572-1670171FC8AD}"/>
                  </a:ext>
                </a:extLst>
              </p14:cNvPr>
              <p14:cNvContentPartPr/>
              <p14:nvPr/>
            </p14:nvContentPartPr>
            <p14:xfrm>
              <a:off x="1371353" y="5461987"/>
              <a:ext cx="1058400" cy="690120"/>
            </p14:xfrm>
          </p:contentPart>
        </mc:Choice>
        <mc:Fallback>
          <p:pic>
            <p:nvPicPr>
              <p:cNvPr id="34" name="墨迹 33">
                <a:extLst>
                  <a:ext uri="{FF2B5EF4-FFF2-40B4-BE49-F238E27FC236}">
                    <a16:creationId xmlns:a16="http://schemas.microsoft.com/office/drawing/2014/main" id="{E7E64960-2E0A-AF50-D572-1670171FC8A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61993" y="5452627"/>
                <a:ext cx="1077120" cy="708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584854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如何支持通用算法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-46288" y="3562164"/>
            <a:ext cx="9341080" cy="3249973"/>
            <a:chOff x="-140194" y="963446"/>
            <a:chExt cx="9341080" cy="3249973"/>
          </a:xfrm>
        </p:grpSpPr>
        <p:sp>
          <p:nvSpPr>
            <p:cNvPr id="6" name="Freeform 31"/>
            <p:cNvSpPr/>
            <p:nvPr/>
          </p:nvSpPr>
          <p:spPr>
            <a:xfrm>
              <a:off x="3781322" y="963446"/>
              <a:ext cx="4713852" cy="3249973"/>
            </a:xfrm>
            <a:custGeom>
              <a:avLst/>
              <a:gdLst>
                <a:gd name="connsiteX0" fmla="*/ 0 w 5056094"/>
                <a:gd name="connsiteY0" fmla="*/ 32273 h 3195021"/>
                <a:gd name="connsiteX1" fmla="*/ 0 w 5056094"/>
                <a:gd name="connsiteY1" fmla="*/ 3195021 h 3195021"/>
                <a:gd name="connsiteX2" fmla="*/ 5056094 w 5056094"/>
                <a:gd name="connsiteY2" fmla="*/ 3195021 h 3195021"/>
                <a:gd name="connsiteX3" fmla="*/ 5056094 w 5056094"/>
                <a:gd name="connsiteY3" fmla="*/ 903642 h 3195021"/>
                <a:gd name="connsiteX4" fmla="*/ 3313355 w 5056094"/>
                <a:gd name="connsiteY4" fmla="*/ 903642 h 3195021"/>
                <a:gd name="connsiteX5" fmla="*/ 3313355 w 5056094"/>
                <a:gd name="connsiteY5" fmla="*/ 0 h 3195021"/>
                <a:gd name="connsiteX6" fmla="*/ 0 w 5056094"/>
                <a:gd name="connsiteY6" fmla="*/ 32273 h 3195021"/>
                <a:gd name="connsiteX0-1" fmla="*/ 0 w 5056094"/>
                <a:gd name="connsiteY0-2" fmla="*/ 32273 h 3195021"/>
                <a:gd name="connsiteX1-3" fmla="*/ 0 w 5056094"/>
                <a:gd name="connsiteY1-4" fmla="*/ 3195021 h 3195021"/>
                <a:gd name="connsiteX2-5" fmla="*/ 5056094 w 5056094"/>
                <a:gd name="connsiteY2-6" fmla="*/ 3195021 h 3195021"/>
                <a:gd name="connsiteX3-7" fmla="*/ 5056094 w 5056094"/>
                <a:gd name="connsiteY3-8" fmla="*/ 903642 h 3195021"/>
                <a:gd name="connsiteX4-9" fmla="*/ 2702513 w 5056094"/>
                <a:gd name="connsiteY4-10" fmla="*/ 914906 h 3195021"/>
                <a:gd name="connsiteX5-11" fmla="*/ 3313355 w 5056094"/>
                <a:gd name="connsiteY5-12" fmla="*/ 0 h 3195021"/>
                <a:gd name="connsiteX6-13" fmla="*/ 0 w 5056094"/>
                <a:gd name="connsiteY6-14" fmla="*/ 32273 h 3195021"/>
                <a:gd name="connsiteX0-15" fmla="*/ 0 w 5056094"/>
                <a:gd name="connsiteY0-16" fmla="*/ 9745 h 3172493"/>
                <a:gd name="connsiteX1-17" fmla="*/ 0 w 5056094"/>
                <a:gd name="connsiteY1-18" fmla="*/ 3172493 h 3172493"/>
                <a:gd name="connsiteX2-19" fmla="*/ 5056094 w 5056094"/>
                <a:gd name="connsiteY2-20" fmla="*/ 3172493 h 3172493"/>
                <a:gd name="connsiteX3-21" fmla="*/ 5056094 w 5056094"/>
                <a:gd name="connsiteY3-22" fmla="*/ 881114 h 3172493"/>
                <a:gd name="connsiteX4-23" fmla="*/ 2702513 w 5056094"/>
                <a:gd name="connsiteY4-24" fmla="*/ 892378 h 3172493"/>
                <a:gd name="connsiteX5-25" fmla="*/ 2690297 w 5056094"/>
                <a:gd name="connsiteY5-26" fmla="*/ 0 h 3172493"/>
                <a:gd name="connsiteX6-27" fmla="*/ 0 w 5056094"/>
                <a:gd name="connsiteY6-28" fmla="*/ 9745 h 3172493"/>
                <a:gd name="connsiteX0-29" fmla="*/ 0 w 5056094"/>
                <a:gd name="connsiteY0-30" fmla="*/ 9745 h 3172493"/>
                <a:gd name="connsiteX1-31" fmla="*/ 0 w 5056094"/>
                <a:gd name="connsiteY1-32" fmla="*/ 3172493 h 3172493"/>
                <a:gd name="connsiteX2-33" fmla="*/ 5056094 w 5056094"/>
                <a:gd name="connsiteY2-34" fmla="*/ 3172493 h 3172493"/>
                <a:gd name="connsiteX3-35" fmla="*/ 5056094 w 5056094"/>
                <a:gd name="connsiteY3-36" fmla="*/ 881114 h 3172493"/>
                <a:gd name="connsiteX4-37" fmla="*/ 2682546 w 5056094"/>
                <a:gd name="connsiteY4-38" fmla="*/ 892378 h 3172493"/>
                <a:gd name="connsiteX5-39" fmla="*/ 2690297 w 5056094"/>
                <a:gd name="connsiteY5-40" fmla="*/ 0 h 3172493"/>
                <a:gd name="connsiteX6-41" fmla="*/ 0 w 5056094"/>
                <a:gd name="connsiteY6-42" fmla="*/ 9745 h 3172493"/>
                <a:gd name="connsiteX0-43" fmla="*/ 0 w 5056094"/>
                <a:gd name="connsiteY0-44" fmla="*/ 0 h 3162748"/>
                <a:gd name="connsiteX1-45" fmla="*/ 0 w 5056094"/>
                <a:gd name="connsiteY1-46" fmla="*/ 3162748 h 3162748"/>
                <a:gd name="connsiteX2-47" fmla="*/ 5056094 w 5056094"/>
                <a:gd name="connsiteY2-48" fmla="*/ 3162748 h 3162748"/>
                <a:gd name="connsiteX3-49" fmla="*/ 5056094 w 5056094"/>
                <a:gd name="connsiteY3-50" fmla="*/ 871369 h 3162748"/>
                <a:gd name="connsiteX4-51" fmla="*/ 2682546 w 5056094"/>
                <a:gd name="connsiteY4-52" fmla="*/ 882633 h 3162748"/>
                <a:gd name="connsiteX5-53" fmla="*/ 2683641 w 5056094"/>
                <a:gd name="connsiteY5-54" fmla="*/ 2529 h 3162748"/>
                <a:gd name="connsiteX6-55" fmla="*/ 0 w 5056094"/>
                <a:gd name="connsiteY6-56" fmla="*/ 0 h 316274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</a:cxnLst>
              <a:rect l="l" t="t" r="r" b="b"/>
              <a:pathLst>
                <a:path w="5056094" h="3162748">
                  <a:moveTo>
                    <a:pt x="0" y="0"/>
                  </a:moveTo>
                  <a:lnTo>
                    <a:pt x="0" y="3162748"/>
                  </a:lnTo>
                  <a:lnTo>
                    <a:pt x="5056094" y="3162748"/>
                  </a:lnTo>
                  <a:lnTo>
                    <a:pt x="5056094" y="871369"/>
                  </a:lnTo>
                  <a:lnTo>
                    <a:pt x="2682546" y="882633"/>
                  </a:lnTo>
                  <a:cubicBezTo>
                    <a:pt x="2685130" y="585174"/>
                    <a:pt x="2681057" y="299988"/>
                    <a:pt x="2683641" y="252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1F497D">
                <a:lumMod val="20000"/>
                <a:lumOff val="80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wrap="square" rtlCol="0" anchor="ctr">
              <a:noAutofit/>
            </a:bodyPr>
            <a:lstStyle/>
            <a:p>
              <a:pPr algn="l" fontAlgn="auto">
                <a:spcBef>
                  <a:spcPts val="0"/>
                </a:spcBef>
                <a:spcAft>
                  <a:spcPts val="0"/>
                </a:spcAft>
              </a:pPr>
              <a:endParaRPr lang="en-US" sz="1800" b="0" kern="0" dirty="0">
                <a:solidFill>
                  <a:srgbClr val="000000"/>
                </a:solidFill>
                <a:latin typeface="Arial" panose="020B0604020202020204"/>
                <a:cs typeface="Arial" panose="020B0604020202020204" pitchFamily="34" charset="0"/>
              </a:endParaRPr>
            </a:p>
          </p:txBody>
        </p:sp>
        <p:cxnSp>
          <p:nvCxnSpPr>
            <p:cNvPr id="7" name="Straight Arrow Connector 35"/>
            <p:cNvCxnSpPr/>
            <p:nvPr/>
          </p:nvCxnSpPr>
          <p:spPr>
            <a:xfrm>
              <a:off x="42221" y="3229464"/>
              <a:ext cx="728984" cy="0"/>
            </a:xfrm>
            <a:prstGeom prst="straightConnector1">
              <a:avLst/>
            </a:prstGeom>
            <a:ln w="25400" cap="rnd">
              <a:solidFill>
                <a:schemeClr val="tx1"/>
              </a:solidFill>
              <a:headEnd type="none" w="med" len="lg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矩形 10"/>
            <p:cNvSpPr/>
            <p:nvPr/>
          </p:nvSpPr>
          <p:spPr>
            <a:xfrm>
              <a:off x="3946544" y="2501591"/>
              <a:ext cx="1691025" cy="5835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1600" b="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rPr>
                <a:t>指令解码</a:t>
              </a:r>
              <a:endParaRPr lang="en-US" altLang="zh-CN" sz="1600" b="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endParaRPr>
            </a:p>
            <a:p>
              <a:r>
                <a:rPr lang="en-US" altLang="zh-CN" sz="1600" b="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rPr>
                <a:t>&amp; </a:t>
              </a:r>
              <a:r>
                <a:rPr lang="zh-CN" altLang="en-US" sz="1600" b="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rPr>
                <a:t>控制信号生成</a:t>
              </a:r>
            </a:p>
          </p:txBody>
        </p:sp>
        <p:sp>
          <p:nvSpPr>
            <p:cNvPr id="9" name="Rectangle 29" descr="e"/>
            <p:cNvSpPr/>
            <p:nvPr/>
          </p:nvSpPr>
          <p:spPr>
            <a:xfrm>
              <a:off x="779398" y="1070497"/>
              <a:ext cx="1853991" cy="1962818"/>
            </a:xfrm>
            <a:prstGeom prst="rect">
              <a:avLst/>
            </a:prstGeom>
            <a:solidFill>
              <a:srgbClr val="CCC1DA">
                <a:alpha val="50196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t">
              <a:noAutofit/>
            </a:bodyPr>
            <a:lstStyle/>
            <a:p>
              <a:endPara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endParaRPr>
            </a:p>
            <a:p>
              <a:r>
                <a:rPr lang="zh-CN" altLang="en-US" sz="28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指令存储</a:t>
              </a:r>
            </a:p>
          </p:txBody>
        </p:sp>
        <p:sp>
          <p:nvSpPr>
            <p:cNvPr id="10" name="Rectangle 29" descr="e"/>
            <p:cNvSpPr/>
            <p:nvPr/>
          </p:nvSpPr>
          <p:spPr>
            <a:xfrm>
              <a:off x="3952600" y="1076772"/>
              <a:ext cx="1691024" cy="2317433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t">
              <a:noAutofit/>
            </a:bodyPr>
            <a:lstStyle/>
            <a:p>
              <a:endPara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endParaRPr>
            </a:p>
            <a:p>
              <a:r>
                <a:rPr lang="zh-CN" altLang="en-US" sz="28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控制模块</a:t>
              </a:r>
            </a:p>
          </p:txBody>
        </p:sp>
        <p:sp>
          <p:nvSpPr>
            <p:cNvPr id="11" name="Rectangle 29" descr="e"/>
            <p:cNvSpPr/>
            <p:nvPr/>
          </p:nvSpPr>
          <p:spPr>
            <a:xfrm>
              <a:off x="6984041" y="1076773"/>
              <a:ext cx="1314651" cy="678976"/>
            </a:xfrm>
            <a:prstGeom prst="rect">
              <a:avLst/>
            </a:prstGeom>
            <a:solidFill>
              <a:srgbClr val="8064A2">
                <a:lumMod val="40000"/>
                <a:lumOff val="60000"/>
              </a:srgbClr>
            </a:solidFill>
            <a:ln w="254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wrap="square" rtlCol="0" anchor="ctr">
              <a:no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2000" kern="0" dirty="0">
                  <a:solidFill>
                    <a:srgbClr val="000000"/>
                  </a:solidFill>
                  <a:latin typeface="+mn-ea"/>
                  <a:ea typeface="+mn-ea"/>
                  <a:cs typeface="Arial" panose="020B0604020202020204" pitchFamily="34" charset="0"/>
                </a:rPr>
                <a:t>数据存储</a:t>
              </a:r>
            </a:p>
          </p:txBody>
        </p:sp>
        <p:sp>
          <p:nvSpPr>
            <p:cNvPr id="13" name="Rectangle 29" descr="e"/>
            <p:cNvSpPr/>
            <p:nvPr/>
          </p:nvSpPr>
          <p:spPr>
            <a:xfrm>
              <a:off x="6984041" y="2939296"/>
              <a:ext cx="1314651" cy="45491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noAutofit/>
            </a:bodyPr>
            <a:lstStyle/>
            <a:p>
              <a:r>
                <a:rPr lang="en-US" altLang="zh-CN" sz="2000" dirty="0">
                  <a:solidFill>
                    <a:srgbClr val="0432FF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ALU</a:t>
              </a:r>
            </a:p>
          </p:txBody>
        </p:sp>
        <p:cxnSp>
          <p:nvCxnSpPr>
            <p:cNvPr id="14" name="Straight Arrow Connector 35"/>
            <p:cNvCxnSpPr>
              <a:stCxn id="11" idx="2"/>
              <a:endCxn id="13" idx="0"/>
            </p:cNvCxnSpPr>
            <p:nvPr/>
          </p:nvCxnSpPr>
          <p:spPr>
            <a:xfrm>
              <a:off x="7641367" y="1755749"/>
              <a:ext cx="0" cy="1183547"/>
            </a:xfrm>
            <a:prstGeom prst="straightConnector1">
              <a:avLst/>
            </a:prstGeom>
            <a:ln w="25400" cap="rnd">
              <a:solidFill>
                <a:schemeClr val="tx1"/>
              </a:solidFill>
              <a:headEnd type="triangle" w="med" len="lg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矩形 22"/>
            <p:cNvSpPr/>
            <p:nvPr/>
          </p:nvSpPr>
          <p:spPr>
            <a:xfrm>
              <a:off x="2832293" y="1811460"/>
              <a:ext cx="1034668" cy="39878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0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指令</a:t>
              </a:r>
            </a:p>
          </p:txBody>
        </p:sp>
        <p:cxnSp>
          <p:nvCxnSpPr>
            <p:cNvPr id="16" name="Straight Arrow Connector 35"/>
            <p:cNvCxnSpPr/>
            <p:nvPr/>
          </p:nvCxnSpPr>
          <p:spPr>
            <a:xfrm>
              <a:off x="5649680" y="2375145"/>
              <a:ext cx="1987256" cy="0"/>
            </a:xfrm>
            <a:prstGeom prst="straightConnector1">
              <a:avLst/>
            </a:prstGeom>
            <a:ln w="25400" cap="rnd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35"/>
            <p:cNvCxnSpPr/>
            <p:nvPr/>
          </p:nvCxnSpPr>
          <p:spPr>
            <a:xfrm>
              <a:off x="2902453" y="2235488"/>
              <a:ext cx="1044092" cy="0"/>
            </a:xfrm>
            <a:prstGeom prst="straightConnector1">
              <a:avLst/>
            </a:prstGeom>
            <a:ln w="25400" cap="rnd">
              <a:solidFill>
                <a:schemeClr val="tx1"/>
              </a:solidFill>
              <a:headEnd type="none" w="med" len="lg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矩形 22"/>
            <p:cNvSpPr/>
            <p:nvPr/>
          </p:nvSpPr>
          <p:spPr>
            <a:xfrm>
              <a:off x="-140194" y="2855965"/>
              <a:ext cx="985502" cy="39878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0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时钟</a:t>
              </a:r>
            </a:p>
          </p:txBody>
        </p:sp>
        <p:cxnSp>
          <p:nvCxnSpPr>
            <p:cNvPr id="19" name="Straight Connector 47"/>
            <p:cNvCxnSpPr/>
            <p:nvPr/>
          </p:nvCxnSpPr>
          <p:spPr>
            <a:xfrm>
              <a:off x="7641367" y="3403738"/>
              <a:ext cx="0" cy="573453"/>
            </a:xfrm>
            <a:prstGeom prst="line">
              <a:avLst/>
            </a:prstGeom>
            <a:ln w="2540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矩形 10"/>
            <p:cNvSpPr/>
            <p:nvPr/>
          </p:nvSpPr>
          <p:spPr>
            <a:xfrm>
              <a:off x="782680" y="2343484"/>
              <a:ext cx="1842445" cy="5835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1600" b="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所有指令按地址顺序存储</a:t>
              </a:r>
            </a:p>
          </p:txBody>
        </p:sp>
        <p:sp>
          <p:nvSpPr>
            <p:cNvPr id="21" name="矩形 22"/>
            <p:cNvSpPr/>
            <p:nvPr/>
          </p:nvSpPr>
          <p:spPr>
            <a:xfrm>
              <a:off x="8215384" y="1174250"/>
              <a:ext cx="985502" cy="39878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0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时钟</a:t>
              </a:r>
            </a:p>
          </p:txBody>
        </p:sp>
        <p:cxnSp>
          <p:nvCxnSpPr>
            <p:cNvPr id="22" name="Straight Arrow Connector 35"/>
            <p:cNvCxnSpPr/>
            <p:nvPr/>
          </p:nvCxnSpPr>
          <p:spPr>
            <a:xfrm flipH="1">
              <a:off x="8298692" y="1578429"/>
              <a:ext cx="700178" cy="0"/>
            </a:xfrm>
            <a:prstGeom prst="straightConnector1">
              <a:avLst/>
            </a:prstGeom>
            <a:ln w="25400" cap="rnd">
              <a:solidFill>
                <a:schemeClr val="tx1"/>
              </a:solidFill>
              <a:headEnd type="none" w="med" len="lg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53"/>
            <p:cNvSpPr/>
            <p:nvPr/>
          </p:nvSpPr>
          <p:spPr>
            <a:xfrm>
              <a:off x="779398" y="3033315"/>
              <a:ext cx="1853991" cy="337185"/>
            </a:xfrm>
            <a:prstGeom prst="rect">
              <a:avLst/>
            </a:prstGeom>
            <a:solidFill>
              <a:srgbClr val="8064A2">
                <a:lumMod val="40000"/>
                <a:lumOff val="60000"/>
              </a:srgbClr>
            </a:solidFill>
            <a:ln w="254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wrap="square" rtlCol="0" anchor="ctr">
              <a:no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kern="0" dirty="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  <a:cs typeface="Arial" panose="020B0604020202020204" pitchFamily="34" charset="0"/>
                </a:rPr>
                <a:t>PC</a:t>
              </a:r>
            </a:p>
          </p:txBody>
        </p:sp>
        <p:sp>
          <p:nvSpPr>
            <p:cNvPr id="24" name="Rectangle 29" descr="e"/>
            <p:cNvSpPr/>
            <p:nvPr/>
          </p:nvSpPr>
          <p:spPr>
            <a:xfrm>
              <a:off x="2634930" y="1070496"/>
              <a:ext cx="267523" cy="2301372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noAutofit/>
            </a:bodyPr>
            <a:lstStyle/>
            <a:p>
              <a:r>
                <a:rPr lang="zh-CN" altLang="en-US" sz="16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接口</a:t>
              </a:r>
            </a:p>
          </p:txBody>
        </p:sp>
        <p:cxnSp>
          <p:nvCxnSpPr>
            <p:cNvPr id="25" name="Straight Connector 106"/>
            <p:cNvCxnSpPr/>
            <p:nvPr/>
          </p:nvCxnSpPr>
          <p:spPr>
            <a:xfrm flipH="1">
              <a:off x="1637637" y="3967887"/>
              <a:ext cx="5999299" cy="0"/>
            </a:xfrm>
            <a:prstGeom prst="line">
              <a:avLst/>
            </a:prstGeom>
            <a:ln w="28575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ectangle 29" descr="e"/>
            <p:cNvSpPr/>
            <p:nvPr/>
          </p:nvSpPr>
          <p:spPr>
            <a:xfrm>
              <a:off x="4602826" y="3829010"/>
              <a:ext cx="684330" cy="274064"/>
            </a:xfrm>
            <a:prstGeom prst="rect">
              <a:avLst/>
            </a:prstGeom>
            <a:solidFill>
              <a:srgbClr val="C7D9F2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noAutofit/>
            </a:bodyPr>
            <a:lstStyle/>
            <a:p>
              <a:r>
                <a:rPr lang="en-US" altLang="zh-CN" sz="16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MUX</a:t>
              </a:r>
            </a:p>
          </p:txBody>
        </p:sp>
        <p:cxnSp>
          <p:nvCxnSpPr>
            <p:cNvPr id="27" name="Straight Arrow Connector 35"/>
            <p:cNvCxnSpPr/>
            <p:nvPr/>
          </p:nvCxnSpPr>
          <p:spPr>
            <a:xfrm>
              <a:off x="4925770" y="3394205"/>
              <a:ext cx="0" cy="434805"/>
            </a:xfrm>
            <a:prstGeom prst="straightConnector1">
              <a:avLst/>
            </a:prstGeom>
            <a:ln w="25400" cap="rnd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78"/>
            <p:cNvCxnSpPr/>
            <p:nvPr/>
          </p:nvCxnSpPr>
          <p:spPr>
            <a:xfrm>
              <a:off x="1637637" y="3358731"/>
              <a:ext cx="0" cy="608936"/>
            </a:xfrm>
            <a:prstGeom prst="line">
              <a:avLst/>
            </a:prstGeom>
            <a:ln w="25400" cap="rnd">
              <a:solidFill>
                <a:schemeClr val="tx1"/>
              </a:solidFill>
              <a:head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矩形 22"/>
            <p:cNvSpPr/>
            <p:nvPr/>
          </p:nvSpPr>
          <p:spPr>
            <a:xfrm>
              <a:off x="1596300" y="3611371"/>
              <a:ext cx="2053693" cy="368300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r>
                <a:rPr lang="zh-CN" altLang="en-US" sz="18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下一条指令地址</a:t>
              </a:r>
            </a:p>
          </p:txBody>
        </p:sp>
        <p:sp>
          <p:nvSpPr>
            <p:cNvPr id="30" name="矩形 22"/>
            <p:cNvSpPr/>
            <p:nvPr/>
          </p:nvSpPr>
          <p:spPr>
            <a:xfrm>
              <a:off x="5172547" y="3611371"/>
              <a:ext cx="2464390" cy="368300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r>
                <a:rPr lang="zh-CN" altLang="en-US" sz="18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可能的下条指令地址</a:t>
              </a:r>
            </a:p>
          </p:txBody>
        </p:sp>
        <p:sp>
          <p:nvSpPr>
            <p:cNvPr id="31" name="矩形 22"/>
            <p:cNvSpPr/>
            <p:nvPr/>
          </p:nvSpPr>
          <p:spPr>
            <a:xfrm>
              <a:off x="5533304" y="1871801"/>
              <a:ext cx="1280998" cy="95590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0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rPr>
                <a:t>控制信号</a:t>
              </a:r>
              <a:r>
                <a:rPr lang="en-US" altLang="zh-CN" sz="20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rPr>
                <a:t>&amp;</a:t>
              </a:r>
              <a:r>
                <a:rPr lang="zh-CN" altLang="en-US" sz="20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rPr>
                <a:t>数据</a:t>
              </a:r>
            </a:p>
          </p:txBody>
        </p:sp>
      </p:grpSp>
      <p:sp>
        <p:nvSpPr>
          <p:cNvPr id="35" name="Content Placeholder 11"/>
          <p:cNvSpPr txBox="1"/>
          <p:nvPr/>
        </p:nvSpPr>
        <p:spPr>
          <a:xfrm>
            <a:off x="282389" y="1344871"/>
            <a:ext cx="4512833" cy="23797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06400" indent="-406400" algn="l" defTabSz="685800" rtl="0" eaLnBrk="1" latinLnBrk="0" hangingPunct="1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685800" indent="-342900" algn="l" defTabSz="685800" rtl="0" eaLnBrk="1" latinLnBrk="0" hangingPunct="1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ü"/>
              <a:defRPr sz="21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857250" indent="-171450" algn="l" defTabSz="6858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200150" indent="-171450" algn="l" defTabSz="6858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1543050" indent="-171450" algn="l" defTabSz="6858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»"/>
              <a:defRPr sz="15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l" defTabSz="685800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b="0" dirty="0">
                <a:latin typeface="Arial" panose="020B0604020202020204" pitchFamily="34" charset="0"/>
                <a:ea typeface="黑体" panose="02010609060101010101" pitchFamily="49" charset="-122"/>
              </a:rPr>
              <a:t>算术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/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逻辑操作指令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marR="0" lvl="1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系统字体常规体"/>
              <a:buChar char="–"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Arithmetic logic unit, </a:t>
            </a: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ALU</a:t>
            </a:r>
          </a:p>
        </p:txBody>
      </p:sp>
      <p:pic>
        <p:nvPicPr>
          <p:cNvPr id="36" name="Picture 1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3380" y="1299305"/>
            <a:ext cx="4088822" cy="2203421"/>
          </a:xfrm>
          <a:prstGeom prst="rect">
            <a:avLst/>
          </a:prstGeom>
        </p:spPr>
      </p:pic>
      <p:sp>
        <p:nvSpPr>
          <p:cNvPr id="37" name="Rectangle 112"/>
          <p:cNvSpPr/>
          <p:nvPr/>
        </p:nvSpPr>
        <p:spPr>
          <a:xfrm>
            <a:off x="7133236" y="1381973"/>
            <a:ext cx="473581" cy="274064"/>
          </a:xfrm>
          <a:prstGeom prst="rect">
            <a:avLst/>
          </a:prstGeom>
          <a:solidFill>
            <a:srgbClr val="FFFFFF">
              <a:lumMod val="85000"/>
            </a:srgbClr>
          </a:solidFill>
          <a:ln w="25400" cap="flat" cmpd="sng" algn="ctr">
            <a:solidFill>
              <a:srgbClr val="000000"/>
            </a:solidFill>
            <a:prstDash val="solid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16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PC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13D23FD-33E8-DA3D-8407-E69A92265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t>18</a:t>
            </a:fld>
            <a:endParaRPr lang="en-US" altLang="zh-C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9076CB36-3AE2-FACA-AD7F-1FCD44A2A1B5}"/>
                  </a:ext>
                </a:extLst>
              </p14:cNvPr>
              <p14:cNvContentPartPr/>
              <p14:nvPr/>
            </p14:nvContentPartPr>
            <p14:xfrm>
              <a:off x="7201642" y="5429307"/>
              <a:ext cx="1058400" cy="690120"/>
            </p14:xfrm>
          </p:contentPart>
        </mc:Choice>
        <mc:Fallback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9076CB36-3AE2-FACA-AD7F-1FCD44A2A1B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92282" y="5419947"/>
                <a:ext cx="1077120" cy="708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Picture 4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3380" y="1298231"/>
            <a:ext cx="4088822" cy="2203421"/>
          </a:xfrm>
          <a:prstGeom prst="rect">
            <a:avLst/>
          </a:prstGeom>
        </p:spPr>
      </p:pic>
      <p:grpSp>
        <p:nvGrpSpPr>
          <p:cNvPr id="4" name="组合 3">
            <a:extLst>
              <a:ext uri="{FF2B5EF4-FFF2-40B4-BE49-F238E27FC236}">
                <a16:creationId xmlns:a16="http://schemas.microsoft.com/office/drawing/2014/main" id="{1765104E-B6FE-73F0-C4DF-436C84BA3564}"/>
              </a:ext>
            </a:extLst>
          </p:cNvPr>
          <p:cNvGrpSpPr/>
          <p:nvPr/>
        </p:nvGrpSpPr>
        <p:grpSpPr>
          <a:xfrm>
            <a:off x="-46288" y="3562164"/>
            <a:ext cx="9341080" cy="3249973"/>
            <a:chOff x="-140194" y="963446"/>
            <a:chExt cx="9341080" cy="3249973"/>
          </a:xfrm>
        </p:grpSpPr>
        <p:sp>
          <p:nvSpPr>
            <p:cNvPr id="5" name="Freeform 31">
              <a:extLst>
                <a:ext uri="{FF2B5EF4-FFF2-40B4-BE49-F238E27FC236}">
                  <a16:creationId xmlns:a16="http://schemas.microsoft.com/office/drawing/2014/main" id="{C3E3E087-D687-C7E8-21EA-3F66CC9E8514}"/>
                </a:ext>
              </a:extLst>
            </p:cNvPr>
            <p:cNvSpPr/>
            <p:nvPr/>
          </p:nvSpPr>
          <p:spPr>
            <a:xfrm>
              <a:off x="3781322" y="963446"/>
              <a:ext cx="4713852" cy="3249973"/>
            </a:xfrm>
            <a:custGeom>
              <a:avLst/>
              <a:gdLst>
                <a:gd name="connsiteX0" fmla="*/ 0 w 5056094"/>
                <a:gd name="connsiteY0" fmla="*/ 32273 h 3195021"/>
                <a:gd name="connsiteX1" fmla="*/ 0 w 5056094"/>
                <a:gd name="connsiteY1" fmla="*/ 3195021 h 3195021"/>
                <a:gd name="connsiteX2" fmla="*/ 5056094 w 5056094"/>
                <a:gd name="connsiteY2" fmla="*/ 3195021 h 3195021"/>
                <a:gd name="connsiteX3" fmla="*/ 5056094 w 5056094"/>
                <a:gd name="connsiteY3" fmla="*/ 903642 h 3195021"/>
                <a:gd name="connsiteX4" fmla="*/ 3313355 w 5056094"/>
                <a:gd name="connsiteY4" fmla="*/ 903642 h 3195021"/>
                <a:gd name="connsiteX5" fmla="*/ 3313355 w 5056094"/>
                <a:gd name="connsiteY5" fmla="*/ 0 h 3195021"/>
                <a:gd name="connsiteX6" fmla="*/ 0 w 5056094"/>
                <a:gd name="connsiteY6" fmla="*/ 32273 h 3195021"/>
                <a:gd name="connsiteX0-1" fmla="*/ 0 w 5056094"/>
                <a:gd name="connsiteY0-2" fmla="*/ 32273 h 3195021"/>
                <a:gd name="connsiteX1-3" fmla="*/ 0 w 5056094"/>
                <a:gd name="connsiteY1-4" fmla="*/ 3195021 h 3195021"/>
                <a:gd name="connsiteX2-5" fmla="*/ 5056094 w 5056094"/>
                <a:gd name="connsiteY2-6" fmla="*/ 3195021 h 3195021"/>
                <a:gd name="connsiteX3-7" fmla="*/ 5056094 w 5056094"/>
                <a:gd name="connsiteY3-8" fmla="*/ 903642 h 3195021"/>
                <a:gd name="connsiteX4-9" fmla="*/ 2702513 w 5056094"/>
                <a:gd name="connsiteY4-10" fmla="*/ 914906 h 3195021"/>
                <a:gd name="connsiteX5-11" fmla="*/ 3313355 w 5056094"/>
                <a:gd name="connsiteY5-12" fmla="*/ 0 h 3195021"/>
                <a:gd name="connsiteX6-13" fmla="*/ 0 w 5056094"/>
                <a:gd name="connsiteY6-14" fmla="*/ 32273 h 3195021"/>
                <a:gd name="connsiteX0-15" fmla="*/ 0 w 5056094"/>
                <a:gd name="connsiteY0-16" fmla="*/ 9745 h 3172493"/>
                <a:gd name="connsiteX1-17" fmla="*/ 0 w 5056094"/>
                <a:gd name="connsiteY1-18" fmla="*/ 3172493 h 3172493"/>
                <a:gd name="connsiteX2-19" fmla="*/ 5056094 w 5056094"/>
                <a:gd name="connsiteY2-20" fmla="*/ 3172493 h 3172493"/>
                <a:gd name="connsiteX3-21" fmla="*/ 5056094 w 5056094"/>
                <a:gd name="connsiteY3-22" fmla="*/ 881114 h 3172493"/>
                <a:gd name="connsiteX4-23" fmla="*/ 2702513 w 5056094"/>
                <a:gd name="connsiteY4-24" fmla="*/ 892378 h 3172493"/>
                <a:gd name="connsiteX5-25" fmla="*/ 2690297 w 5056094"/>
                <a:gd name="connsiteY5-26" fmla="*/ 0 h 3172493"/>
                <a:gd name="connsiteX6-27" fmla="*/ 0 w 5056094"/>
                <a:gd name="connsiteY6-28" fmla="*/ 9745 h 3172493"/>
                <a:gd name="connsiteX0-29" fmla="*/ 0 w 5056094"/>
                <a:gd name="connsiteY0-30" fmla="*/ 9745 h 3172493"/>
                <a:gd name="connsiteX1-31" fmla="*/ 0 w 5056094"/>
                <a:gd name="connsiteY1-32" fmla="*/ 3172493 h 3172493"/>
                <a:gd name="connsiteX2-33" fmla="*/ 5056094 w 5056094"/>
                <a:gd name="connsiteY2-34" fmla="*/ 3172493 h 3172493"/>
                <a:gd name="connsiteX3-35" fmla="*/ 5056094 w 5056094"/>
                <a:gd name="connsiteY3-36" fmla="*/ 881114 h 3172493"/>
                <a:gd name="connsiteX4-37" fmla="*/ 2682546 w 5056094"/>
                <a:gd name="connsiteY4-38" fmla="*/ 892378 h 3172493"/>
                <a:gd name="connsiteX5-39" fmla="*/ 2690297 w 5056094"/>
                <a:gd name="connsiteY5-40" fmla="*/ 0 h 3172493"/>
                <a:gd name="connsiteX6-41" fmla="*/ 0 w 5056094"/>
                <a:gd name="connsiteY6-42" fmla="*/ 9745 h 3172493"/>
                <a:gd name="connsiteX0-43" fmla="*/ 0 w 5056094"/>
                <a:gd name="connsiteY0-44" fmla="*/ 0 h 3162748"/>
                <a:gd name="connsiteX1-45" fmla="*/ 0 w 5056094"/>
                <a:gd name="connsiteY1-46" fmla="*/ 3162748 h 3162748"/>
                <a:gd name="connsiteX2-47" fmla="*/ 5056094 w 5056094"/>
                <a:gd name="connsiteY2-48" fmla="*/ 3162748 h 3162748"/>
                <a:gd name="connsiteX3-49" fmla="*/ 5056094 w 5056094"/>
                <a:gd name="connsiteY3-50" fmla="*/ 871369 h 3162748"/>
                <a:gd name="connsiteX4-51" fmla="*/ 2682546 w 5056094"/>
                <a:gd name="connsiteY4-52" fmla="*/ 882633 h 3162748"/>
                <a:gd name="connsiteX5-53" fmla="*/ 2683641 w 5056094"/>
                <a:gd name="connsiteY5-54" fmla="*/ 2529 h 3162748"/>
                <a:gd name="connsiteX6-55" fmla="*/ 0 w 5056094"/>
                <a:gd name="connsiteY6-56" fmla="*/ 0 h 316274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</a:cxnLst>
              <a:rect l="l" t="t" r="r" b="b"/>
              <a:pathLst>
                <a:path w="5056094" h="3162748">
                  <a:moveTo>
                    <a:pt x="0" y="0"/>
                  </a:moveTo>
                  <a:lnTo>
                    <a:pt x="0" y="3162748"/>
                  </a:lnTo>
                  <a:lnTo>
                    <a:pt x="5056094" y="3162748"/>
                  </a:lnTo>
                  <a:lnTo>
                    <a:pt x="5056094" y="871369"/>
                  </a:lnTo>
                  <a:lnTo>
                    <a:pt x="2682546" y="882633"/>
                  </a:lnTo>
                  <a:cubicBezTo>
                    <a:pt x="2685130" y="585174"/>
                    <a:pt x="2681057" y="299988"/>
                    <a:pt x="2683641" y="252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1F497D">
                <a:lumMod val="20000"/>
                <a:lumOff val="80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wrap="square" rtlCol="0" anchor="ctr">
              <a:noAutofit/>
            </a:bodyPr>
            <a:lstStyle/>
            <a:p>
              <a:pPr algn="l" fontAlgn="auto">
                <a:spcBef>
                  <a:spcPts val="0"/>
                </a:spcBef>
                <a:spcAft>
                  <a:spcPts val="0"/>
                </a:spcAft>
              </a:pPr>
              <a:endParaRPr lang="en-US" sz="1800" b="0" kern="0" dirty="0">
                <a:solidFill>
                  <a:srgbClr val="000000"/>
                </a:solidFill>
                <a:latin typeface="Arial" panose="020B0604020202020204"/>
                <a:cs typeface="Arial" panose="020B0604020202020204" pitchFamily="34" charset="0"/>
              </a:endParaRPr>
            </a:p>
          </p:txBody>
        </p:sp>
        <p:cxnSp>
          <p:nvCxnSpPr>
            <p:cNvPr id="12" name="Straight Arrow Connector 35">
              <a:extLst>
                <a:ext uri="{FF2B5EF4-FFF2-40B4-BE49-F238E27FC236}">
                  <a16:creationId xmlns:a16="http://schemas.microsoft.com/office/drawing/2014/main" id="{7466109E-016D-3AE4-E692-128BCFF2BA41}"/>
                </a:ext>
              </a:extLst>
            </p:cNvPr>
            <p:cNvCxnSpPr/>
            <p:nvPr/>
          </p:nvCxnSpPr>
          <p:spPr>
            <a:xfrm>
              <a:off x="42221" y="3229464"/>
              <a:ext cx="728984" cy="0"/>
            </a:xfrm>
            <a:prstGeom prst="straightConnector1">
              <a:avLst/>
            </a:prstGeom>
            <a:ln w="25400" cap="rnd">
              <a:solidFill>
                <a:schemeClr val="tx1"/>
              </a:solidFill>
              <a:headEnd type="none" w="med" len="lg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矩形 10">
              <a:extLst>
                <a:ext uri="{FF2B5EF4-FFF2-40B4-BE49-F238E27FC236}">
                  <a16:creationId xmlns:a16="http://schemas.microsoft.com/office/drawing/2014/main" id="{2C0E1F12-C4AD-744E-4E69-9A59605A6E13}"/>
                </a:ext>
              </a:extLst>
            </p:cNvPr>
            <p:cNvSpPr/>
            <p:nvPr/>
          </p:nvSpPr>
          <p:spPr>
            <a:xfrm>
              <a:off x="3946544" y="2501591"/>
              <a:ext cx="1691025" cy="5835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1600" b="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rPr>
                <a:t>指令解码</a:t>
              </a:r>
              <a:endParaRPr lang="en-US" altLang="zh-CN" sz="1600" b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endParaRPr>
            </a:p>
            <a:p>
              <a:r>
                <a:rPr lang="en-US" altLang="zh-CN" sz="1600" b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rPr>
                <a:t>&amp; </a:t>
              </a:r>
              <a:r>
                <a:rPr lang="zh-CN" altLang="en-US" sz="1600" b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rPr>
                <a:t>控</a:t>
              </a:r>
              <a:r>
                <a:rPr lang="zh-CN" altLang="en-US" sz="1600" b="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rPr>
                <a:t>制信号生成</a:t>
              </a:r>
            </a:p>
          </p:txBody>
        </p:sp>
        <p:sp>
          <p:nvSpPr>
            <p:cNvPr id="34" name="Rectangle 29" descr="e">
              <a:extLst>
                <a:ext uri="{FF2B5EF4-FFF2-40B4-BE49-F238E27FC236}">
                  <a16:creationId xmlns:a16="http://schemas.microsoft.com/office/drawing/2014/main" id="{8692A007-E472-0261-DE81-56ACDCDDB9F2}"/>
                </a:ext>
              </a:extLst>
            </p:cNvPr>
            <p:cNvSpPr/>
            <p:nvPr/>
          </p:nvSpPr>
          <p:spPr>
            <a:xfrm>
              <a:off x="779398" y="1070497"/>
              <a:ext cx="1853991" cy="1962818"/>
            </a:xfrm>
            <a:prstGeom prst="rect">
              <a:avLst/>
            </a:prstGeom>
            <a:solidFill>
              <a:srgbClr val="CCC1DA">
                <a:alpha val="50196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t">
              <a:noAutofit/>
            </a:bodyPr>
            <a:lstStyle/>
            <a:p>
              <a:endPara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endParaRPr>
            </a:p>
            <a:p>
              <a:r>
                <a:rPr lang="zh-CN" altLang="en-US" sz="28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指令</a:t>
              </a:r>
              <a:r>
                <a:rPr lang="zh-CN" altLang="en-US" sz="28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存储</a:t>
              </a:r>
            </a:p>
          </p:txBody>
        </p:sp>
        <p:sp>
          <p:nvSpPr>
            <p:cNvPr id="35" name="Rectangle 29" descr="e">
              <a:extLst>
                <a:ext uri="{FF2B5EF4-FFF2-40B4-BE49-F238E27FC236}">
                  <a16:creationId xmlns:a16="http://schemas.microsoft.com/office/drawing/2014/main" id="{76475E03-34E5-E33E-59FC-2472682AA2D1}"/>
                </a:ext>
              </a:extLst>
            </p:cNvPr>
            <p:cNvSpPr/>
            <p:nvPr/>
          </p:nvSpPr>
          <p:spPr>
            <a:xfrm>
              <a:off x="3952600" y="1076772"/>
              <a:ext cx="1691024" cy="2317433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t">
              <a:noAutofit/>
            </a:bodyPr>
            <a:lstStyle/>
            <a:p>
              <a:endPara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endParaRPr>
            </a:p>
            <a:p>
              <a:r>
                <a:rPr lang="zh-CN" altLang="en-US" sz="28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控制</a:t>
              </a:r>
              <a:r>
                <a:rPr lang="zh-CN" altLang="en-US" sz="28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模块</a:t>
              </a:r>
            </a:p>
          </p:txBody>
        </p:sp>
        <p:sp>
          <p:nvSpPr>
            <p:cNvPr id="36" name="Rectangle 29" descr="e">
              <a:extLst>
                <a:ext uri="{FF2B5EF4-FFF2-40B4-BE49-F238E27FC236}">
                  <a16:creationId xmlns:a16="http://schemas.microsoft.com/office/drawing/2014/main" id="{C4E671E5-5122-14A7-46D6-FD3089197D8C}"/>
                </a:ext>
              </a:extLst>
            </p:cNvPr>
            <p:cNvSpPr/>
            <p:nvPr/>
          </p:nvSpPr>
          <p:spPr>
            <a:xfrm>
              <a:off x="6984041" y="1076773"/>
              <a:ext cx="1314651" cy="678976"/>
            </a:xfrm>
            <a:prstGeom prst="rect">
              <a:avLst/>
            </a:prstGeom>
            <a:solidFill>
              <a:srgbClr val="8064A2">
                <a:lumMod val="40000"/>
                <a:lumOff val="60000"/>
              </a:srgbClr>
            </a:solidFill>
            <a:ln w="254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wrap="square" rtlCol="0" anchor="ctr">
              <a:no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2000" kern="0" dirty="0">
                  <a:solidFill>
                    <a:srgbClr val="000000"/>
                  </a:solidFill>
                  <a:latin typeface="+mn-ea"/>
                  <a:ea typeface="+mn-ea"/>
                  <a:cs typeface="Arial" panose="020B0604020202020204" pitchFamily="34" charset="0"/>
                </a:rPr>
                <a:t>数据存储</a:t>
              </a:r>
            </a:p>
          </p:txBody>
        </p:sp>
        <p:sp>
          <p:nvSpPr>
            <p:cNvPr id="37" name="Rectangle 29" descr="e">
              <a:extLst>
                <a:ext uri="{FF2B5EF4-FFF2-40B4-BE49-F238E27FC236}">
                  <a16:creationId xmlns:a16="http://schemas.microsoft.com/office/drawing/2014/main" id="{E82A0CFC-B703-2553-469B-CABADC19FA9D}"/>
                </a:ext>
              </a:extLst>
            </p:cNvPr>
            <p:cNvSpPr/>
            <p:nvPr/>
          </p:nvSpPr>
          <p:spPr>
            <a:xfrm>
              <a:off x="6984041" y="2939296"/>
              <a:ext cx="1314651" cy="45491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noAutofit/>
            </a:bodyPr>
            <a:lstStyle/>
            <a:p>
              <a:r>
                <a:rPr lang="en-US" altLang="zh-CN"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ALU</a:t>
              </a:r>
              <a:endPara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cxnSp>
          <p:nvCxnSpPr>
            <p:cNvPr id="38" name="Straight Arrow Connector 35">
              <a:extLst>
                <a:ext uri="{FF2B5EF4-FFF2-40B4-BE49-F238E27FC236}">
                  <a16:creationId xmlns:a16="http://schemas.microsoft.com/office/drawing/2014/main" id="{1D0E12DB-B64B-63E7-8BF6-665E1E4FB95B}"/>
                </a:ext>
              </a:extLst>
            </p:cNvPr>
            <p:cNvCxnSpPr>
              <a:stCxn id="36" idx="2"/>
              <a:endCxn id="37" idx="0"/>
            </p:cNvCxnSpPr>
            <p:nvPr/>
          </p:nvCxnSpPr>
          <p:spPr>
            <a:xfrm>
              <a:off x="7641367" y="1755749"/>
              <a:ext cx="0" cy="1183547"/>
            </a:xfrm>
            <a:prstGeom prst="straightConnector1">
              <a:avLst/>
            </a:prstGeom>
            <a:ln w="25400" cap="rnd">
              <a:solidFill>
                <a:schemeClr val="tx1"/>
              </a:solidFill>
              <a:headEnd type="triangle" w="med" len="lg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矩形 22">
              <a:extLst>
                <a:ext uri="{FF2B5EF4-FFF2-40B4-BE49-F238E27FC236}">
                  <a16:creationId xmlns:a16="http://schemas.microsoft.com/office/drawing/2014/main" id="{8061EBAD-2B0C-13D6-46B3-21BA751491F8}"/>
                </a:ext>
              </a:extLst>
            </p:cNvPr>
            <p:cNvSpPr/>
            <p:nvPr/>
          </p:nvSpPr>
          <p:spPr>
            <a:xfrm>
              <a:off x="2832293" y="1811460"/>
              <a:ext cx="1034668" cy="39878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0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指令</a:t>
              </a:r>
            </a:p>
          </p:txBody>
        </p:sp>
        <p:cxnSp>
          <p:nvCxnSpPr>
            <p:cNvPr id="40" name="Straight Arrow Connector 35">
              <a:extLst>
                <a:ext uri="{FF2B5EF4-FFF2-40B4-BE49-F238E27FC236}">
                  <a16:creationId xmlns:a16="http://schemas.microsoft.com/office/drawing/2014/main" id="{FBB29965-B427-88DA-6D9E-0D8EB7767A35}"/>
                </a:ext>
              </a:extLst>
            </p:cNvPr>
            <p:cNvCxnSpPr/>
            <p:nvPr/>
          </p:nvCxnSpPr>
          <p:spPr>
            <a:xfrm>
              <a:off x="5649680" y="2375145"/>
              <a:ext cx="1987256" cy="0"/>
            </a:xfrm>
            <a:prstGeom prst="straightConnector1">
              <a:avLst/>
            </a:prstGeom>
            <a:ln w="25400" cap="rnd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35">
              <a:extLst>
                <a:ext uri="{FF2B5EF4-FFF2-40B4-BE49-F238E27FC236}">
                  <a16:creationId xmlns:a16="http://schemas.microsoft.com/office/drawing/2014/main" id="{D3ACD742-4873-2F5D-1200-471342EC5D41}"/>
                </a:ext>
              </a:extLst>
            </p:cNvPr>
            <p:cNvCxnSpPr/>
            <p:nvPr/>
          </p:nvCxnSpPr>
          <p:spPr>
            <a:xfrm>
              <a:off x="2902453" y="2235488"/>
              <a:ext cx="1044092" cy="0"/>
            </a:xfrm>
            <a:prstGeom prst="straightConnector1">
              <a:avLst/>
            </a:prstGeom>
            <a:ln w="25400" cap="rnd">
              <a:solidFill>
                <a:schemeClr val="tx1"/>
              </a:solidFill>
              <a:headEnd type="none" w="med" len="lg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矩形 22">
              <a:extLst>
                <a:ext uri="{FF2B5EF4-FFF2-40B4-BE49-F238E27FC236}">
                  <a16:creationId xmlns:a16="http://schemas.microsoft.com/office/drawing/2014/main" id="{25E450C1-54DB-FEB3-B10D-6305639265E2}"/>
                </a:ext>
              </a:extLst>
            </p:cNvPr>
            <p:cNvSpPr/>
            <p:nvPr/>
          </p:nvSpPr>
          <p:spPr>
            <a:xfrm>
              <a:off x="-140194" y="2855965"/>
              <a:ext cx="985502" cy="39878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0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时钟</a:t>
              </a:r>
            </a:p>
          </p:txBody>
        </p:sp>
        <p:cxnSp>
          <p:nvCxnSpPr>
            <p:cNvPr id="45" name="Straight Connector 47">
              <a:extLst>
                <a:ext uri="{FF2B5EF4-FFF2-40B4-BE49-F238E27FC236}">
                  <a16:creationId xmlns:a16="http://schemas.microsoft.com/office/drawing/2014/main" id="{6796EB70-3F8A-77E0-41BE-C43EACD3D35E}"/>
                </a:ext>
              </a:extLst>
            </p:cNvPr>
            <p:cNvCxnSpPr/>
            <p:nvPr/>
          </p:nvCxnSpPr>
          <p:spPr>
            <a:xfrm>
              <a:off x="7641367" y="3403738"/>
              <a:ext cx="0" cy="573453"/>
            </a:xfrm>
            <a:prstGeom prst="line">
              <a:avLst/>
            </a:prstGeom>
            <a:ln w="2540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矩形 10">
              <a:extLst>
                <a:ext uri="{FF2B5EF4-FFF2-40B4-BE49-F238E27FC236}">
                  <a16:creationId xmlns:a16="http://schemas.microsoft.com/office/drawing/2014/main" id="{C8EF1C64-6376-BD49-8477-15E4162E9C66}"/>
                </a:ext>
              </a:extLst>
            </p:cNvPr>
            <p:cNvSpPr/>
            <p:nvPr/>
          </p:nvSpPr>
          <p:spPr>
            <a:xfrm>
              <a:off x="782680" y="2343484"/>
              <a:ext cx="1842445" cy="5835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1600" b="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所有指令按地址顺序存储</a:t>
              </a:r>
            </a:p>
          </p:txBody>
        </p:sp>
        <p:sp>
          <p:nvSpPr>
            <p:cNvPr id="47" name="矩形 22">
              <a:extLst>
                <a:ext uri="{FF2B5EF4-FFF2-40B4-BE49-F238E27FC236}">
                  <a16:creationId xmlns:a16="http://schemas.microsoft.com/office/drawing/2014/main" id="{CD1893AF-0ECB-5418-D38E-4DCCE8D153A7}"/>
                </a:ext>
              </a:extLst>
            </p:cNvPr>
            <p:cNvSpPr/>
            <p:nvPr/>
          </p:nvSpPr>
          <p:spPr>
            <a:xfrm>
              <a:off x="8215384" y="1174250"/>
              <a:ext cx="985502" cy="39878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0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时钟</a:t>
              </a:r>
            </a:p>
          </p:txBody>
        </p:sp>
        <p:cxnSp>
          <p:nvCxnSpPr>
            <p:cNvPr id="49" name="Straight Arrow Connector 35">
              <a:extLst>
                <a:ext uri="{FF2B5EF4-FFF2-40B4-BE49-F238E27FC236}">
                  <a16:creationId xmlns:a16="http://schemas.microsoft.com/office/drawing/2014/main" id="{2CC6336C-258A-346C-039B-8A9416C488FE}"/>
                </a:ext>
              </a:extLst>
            </p:cNvPr>
            <p:cNvCxnSpPr/>
            <p:nvPr/>
          </p:nvCxnSpPr>
          <p:spPr>
            <a:xfrm flipH="1">
              <a:off x="8298692" y="1578429"/>
              <a:ext cx="700178" cy="0"/>
            </a:xfrm>
            <a:prstGeom prst="straightConnector1">
              <a:avLst/>
            </a:prstGeom>
            <a:ln w="25400" cap="rnd">
              <a:solidFill>
                <a:schemeClr val="tx1"/>
              </a:solidFill>
              <a:headEnd type="none" w="med" len="lg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Rectangle 53">
              <a:extLst>
                <a:ext uri="{FF2B5EF4-FFF2-40B4-BE49-F238E27FC236}">
                  <a16:creationId xmlns:a16="http://schemas.microsoft.com/office/drawing/2014/main" id="{3A6F3BA7-8DE2-4C52-48B9-206AC578932D}"/>
                </a:ext>
              </a:extLst>
            </p:cNvPr>
            <p:cNvSpPr/>
            <p:nvPr/>
          </p:nvSpPr>
          <p:spPr>
            <a:xfrm>
              <a:off x="779398" y="3033315"/>
              <a:ext cx="1853991" cy="337185"/>
            </a:xfrm>
            <a:prstGeom prst="rect">
              <a:avLst/>
            </a:prstGeom>
            <a:solidFill>
              <a:srgbClr val="8064A2">
                <a:lumMod val="40000"/>
                <a:lumOff val="60000"/>
              </a:srgbClr>
            </a:solidFill>
            <a:ln w="254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wrap="square" rtlCol="0" anchor="ctr">
              <a:no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kern="0">
                  <a:solidFill>
                    <a:srgbClr val="0432FF"/>
                  </a:solidFill>
                  <a:latin typeface="+mn-lt"/>
                  <a:ea typeface="微软雅黑" panose="020B0503020204020204" pitchFamily="34" charset="-122"/>
                  <a:cs typeface="Arial" panose="020B0604020202020204" pitchFamily="34" charset="0"/>
                </a:rPr>
                <a:t>PC</a:t>
              </a:r>
              <a:endParaRPr lang="en-US" altLang="zh-CN" sz="1600" kern="0" dirty="0">
                <a:solidFill>
                  <a:srgbClr val="0432FF"/>
                </a:solidFill>
                <a:latin typeface="+mn-lt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51" name="Rectangle 29" descr="e">
              <a:extLst>
                <a:ext uri="{FF2B5EF4-FFF2-40B4-BE49-F238E27FC236}">
                  <a16:creationId xmlns:a16="http://schemas.microsoft.com/office/drawing/2014/main" id="{F1E34377-2F71-9D99-3C1D-1844E1E30F97}"/>
                </a:ext>
              </a:extLst>
            </p:cNvPr>
            <p:cNvSpPr/>
            <p:nvPr/>
          </p:nvSpPr>
          <p:spPr>
            <a:xfrm>
              <a:off x="2634930" y="1070496"/>
              <a:ext cx="267523" cy="2301372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noAutofit/>
            </a:bodyPr>
            <a:lstStyle/>
            <a:p>
              <a:r>
                <a:rPr lang="zh-CN" altLang="en-US" sz="16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接口</a:t>
              </a:r>
            </a:p>
          </p:txBody>
        </p:sp>
        <p:cxnSp>
          <p:nvCxnSpPr>
            <p:cNvPr id="52" name="Straight Connector 106">
              <a:extLst>
                <a:ext uri="{FF2B5EF4-FFF2-40B4-BE49-F238E27FC236}">
                  <a16:creationId xmlns:a16="http://schemas.microsoft.com/office/drawing/2014/main" id="{E0DCF17A-0376-F85F-7CBD-303A1723CC04}"/>
                </a:ext>
              </a:extLst>
            </p:cNvPr>
            <p:cNvCxnSpPr/>
            <p:nvPr/>
          </p:nvCxnSpPr>
          <p:spPr>
            <a:xfrm flipH="1">
              <a:off x="1637637" y="3967887"/>
              <a:ext cx="5999299" cy="0"/>
            </a:xfrm>
            <a:prstGeom prst="line">
              <a:avLst/>
            </a:prstGeom>
            <a:ln w="28575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Rectangle 29" descr="e">
              <a:extLst>
                <a:ext uri="{FF2B5EF4-FFF2-40B4-BE49-F238E27FC236}">
                  <a16:creationId xmlns:a16="http://schemas.microsoft.com/office/drawing/2014/main" id="{B132EF54-76F8-0324-D6EB-12B1182F9E75}"/>
                </a:ext>
              </a:extLst>
            </p:cNvPr>
            <p:cNvSpPr/>
            <p:nvPr/>
          </p:nvSpPr>
          <p:spPr>
            <a:xfrm>
              <a:off x="4602826" y="3829010"/>
              <a:ext cx="684330" cy="274064"/>
            </a:xfrm>
            <a:prstGeom prst="rect">
              <a:avLst/>
            </a:prstGeom>
            <a:solidFill>
              <a:srgbClr val="C7D9F2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noAutofit/>
            </a:bodyPr>
            <a:lstStyle/>
            <a:p>
              <a:r>
                <a:rPr lang="en-US" altLang="zh-CN"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MUX</a:t>
              </a:r>
              <a:endPara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cxnSp>
          <p:nvCxnSpPr>
            <p:cNvPr id="54" name="Straight Arrow Connector 35">
              <a:extLst>
                <a:ext uri="{FF2B5EF4-FFF2-40B4-BE49-F238E27FC236}">
                  <a16:creationId xmlns:a16="http://schemas.microsoft.com/office/drawing/2014/main" id="{3E83B043-73DA-BE4A-D3A5-6CFE621725FF}"/>
                </a:ext>
              </a:extLst>
            </p:cNvPr>
            <p:cNvCxnSpPr/>
            <p:nvPr/>
          </p:nvCxnSpPr>
          <p:spPr>
            <a:xfrm>
              <a:off x="4925770" y="3394205"/>
              <a:ext cx="0" cy="434805"/>
            </a:xfrm>
            <a:prstGeom prst="straightConnector1">
              <a:avLst/>
            </a:prstGeom>
            <a:ln w="25400" cap="rnd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78">
              <a:extLst>
                <a:ext uri="{FF2B5EF4-FFF2-40B4-BE49-F238E27FC236}">
                  <a16:creationId xmlns:a16="http://schemas.microsoft.com/office/drawing/2014/main" id="{458399C3-855D-7C85-5546-A7A049956AB1}"/>
                </a:ext>
              </a:extLst>
            </p:cNvPr>
            <p:cNvCxnSpPr/>
            <p:nvPr/>
          </p:nvCxnSpPr>
          <p:spPr>
            <a:xfrm>
              <a:off x="1637637" y="3358731"/>
              <a:ext cx="0" cy="608936"/>
            </a:xfrm>
            <a:prstGeom prst="line">
              <a:avLst/>
            </a:prstGeom>
            <a:ln w="25400" cap="rnd">
              <a:solidFill>
                <a:schemeClr val="tx1"/>
              </a:solidFill>
              <a:head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矩形 22">
              <a:extLst>
                <a:ext uri="{FF2B5EF4-FFF2-40B4-BE49-F238E27FC236}">
                  <a16:creationId xmlns:a16="http://schemas.microsoft.com/office/drawing/2014/main" id="{0C1ECB8D-B5DA-68F8-E407-76F4C577BAC6}"/>
                </a:ext>
              </a:extLst>
            </p:cNvPr>
            <p:cNvSpPr/>
            <p:nvPr/>
          </p:nvSpPr>
          <p:spPr>
            <a:xfrm>
              <a:off x="1596300" y="3611371"/>
              <a:ext cx="2053693" cy="368300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r>
                <a:rPr lang="zh-CN" altLang="en-US" sz="18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下一条指令地址</a:t>
              </a:r>
            </a:p>
          </p:txBody>
        </p:sp>
        <p:sp>
          <p:nvSpPr>
            <p:cNvPr id="57" name="矩形 22">
              <a:extLst>
                <a:ext uri="{FF2B5EF4-FFF2-40B4-BE49-F238E27FC236}">
                  <a16:creationId xmlns:a16="http://schemas.microsoft.com/office/drawing/2014/main" id="{B552B9AC-C0EA-7955-9EB9-F1A94F24DD53}"/>
                </a:ext>
              </a:extLst>
            </p:cNvPr>
            <p:cNvSpPr/>
            <p:nvPr/>
          </p:nvSpPr>
          <p:spPr>
            <a:xfrm>
              <a:off x="5172547" y="3611371"/>
              <a:ext cx="2464390" cy="368300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r>
                <a:rPr lang="zh-CN" altLang="en-US" sz="18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可能的下条指令地址</a:t>
              </a:r>
            </a:p>
          </p:txBody>
        </p:sp>
        <p:sp>
          <p:nvSpPr>
            <p:cNvPr id="58" name="矩形 22">
              <a:extLst>
                <a:ext uri="{FF2B5EF4-FFF2-40B4-BE49-F238E27FC236}">
                  <a16:creationId xmlns:a16="http://schemas.microsoft.com/office/drawing/2014/main" id="{37184966-89CD-2D96-4BFC-12ACEE46939F}"/>
                </a:ext>
              </a:extLst>
            </p:cNvPr>
            <p:cNvSpPr/>
            <p:nvPr/>
          </p:nvSpPr>
          <p:spPr>
            <a:xfrm>
              <a:off x="5504504" y="1871801"/>
              <a:ext cx="1335190" cy="95590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0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rPr>
                <a:t>控制信号</a:t>
              </a:r>
              <a:r>
                <a:rPr lang="en-US" altLang="zh-CN"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rPr>
                <a:t>&amp;</a:t>
              </a:r>
              <a:r>
                <a:rPr lang="zh-CN" altLang="en-US"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rPr>
                <a:t>数据</a:t>
              </a:r>
              <a:endPara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endParaRPr>
            </a:p>
          </p:txBody>
        </p:sp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C28CE67-8E30-5126-F8E0-2E1030B28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t>19</a:t>
            </a:fld>
            <a:endParaRPr lang="en-US" altLang="zh-CN"/>
          </a:p>
        </p:txBody>
      </p:sp>
      <p:sp>
        <p:nvSpPr>
          <p:cNvPr id="3" name="Content Placeholder 11">
            <a:extLst>
              <a:ext uri="{FF2B5EF4-FFF2-40B4-BE49-F238E27FC236}">
                <a16:creationId xmlns:a16="http://schemas.microsoft.com/office/drawing/2014/main" id="{17C094A6-7A9E-DE9A-0C27-5A1CF7341CAA}"/>
              </a:ext>
            </a:extLst>
          </p:cNvPr>
          <p:cNvSpPr txBox="1"/>
          <p:nvPr/>
        </p:nvSpPr>
        <p:spPr>
          <a:xfrm>
            <a:off x="282389" y="1344871"/>
            <a:ext cx="4512833" cy="23797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06400" indent="-406400" algn="l" defTabSz="685800" rtl="0" eaLnBrk="1" latinLnBrk="0" hangingPunct="1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685800" indent="-342900" algn="l" defTabSz="685800" rtl="0" eaLnBrk="1" latinLnBrk="0" hangingPunct="1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ü"/>
              <a:defRPr sz="21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857250" indent="-171450" algn="l" defTabSz="6858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200150" indent="-171450" algn="l" defTabSz="6858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1543050" indent="-171450" algn="l" defTabSz="6858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»"/>
              <a:defRPr sz="15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l" defTabSz="685800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分支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/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跳转指令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lvl="1" fontAlgn="auto">
              <a:spcAft>
                <a:spcPts val="0"/>
              </a:spcAft>
              <a:buFont typeface="系统字体常规体"/>
              <a:buChar char="–"/>
            </a:pPr>
            <a:r>
              <a:rPr lang="zh-CN" altLang="en-US" b="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直接跳转</a:t>
            </a:r>
            <a:r>
              <a:rPr lang="en-US" altLang="zh-CN" b="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(jump)</a:t>
            </a:r>
            <a:endParaRPr kumimoji="0" lang="en-US" altLang="zh-CN" sz="1100" b="1" i="0" u="none" strike="noStrike" kern="1200" cap="none" spc="0" normalizeH="0" baseline="0" noProof="0" dirty="0">
              <a:ln>
                <a:noFill/>
              </a:ln>
              <a:solidFill>
                <a:srgbClr val="0432FF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marR="0" lvl="1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系统字体常规体"/>
              <a:buChar char="–"/>
            </a:pP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比较后分支</a:t>
            </a:r>
            <a:r>
              <a:rPr kumimoji="0" lang="en-US" altLang="zh-CN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(branch)</a:t>
            </a:r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D820650F-5911-0D0D-9FDD-8A9244C8F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6525"/>
            <a:ext cx="8229600" cy="1143000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如何支持通用算法</a:t>
            </a:r>
          </a:p>
        </p:txBody>
      </p:sp>
      <p:sp>
        <p:nvSpPr>
          <p:cNvPr id="6" name="Rectangle 112">
            <a:extLst>
              <a:ext uri="{FF2B5EF4-FFF2-40B4-BE49-F238E27FC236}">
                <a16:creationId xmlns:a16="http://schemas.microsoft.com/office/drawing/2014/main" id="{914084CF-88F0-DAA7-9DC1-132DCE37FC77}"/>
              </a:ext>
            </a:extLst>
          </p:cNvPr>
          <p:cNvSpPr/>
          <p:nvPr/>
        </p:nvSpPr>
        <p:spPr>
          <a:xfrm>
            <a:off x="7133236" y="1381973"/>
            <a:ext cx="473581" cy="274064"/>
          </a:xfrm>
          <a:prstGeom prst="rect">
            <a:avLst/>
          </a:prstGeom>
          <a:solidFill>
            <a:srgbClr val="FFFFFF">
              <a:lumMod val="85000"/>
            </a:srgbClr>
          </a:solidFill>
          <a:ln w="25400" cap="flat" cmpd="sng" algn="ctr">
            <a:solidFill>
              <a:srgbClr val="000000"/>
            </a:solidFill>
            <a:prstDash val="solid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16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PC</a:t>
            </a:r>
          </a:p>
        </p:txBody>
      </p:sp>
      <p:sp>
        <p:nvSpPr>
          <p:cNvPr id="9" name="任意形状 8">
            <a:extLst>
              <a:ext uri="{FF2B5EF4-FFF2-40B4-BE49-F238E27FC236}">
                <a16:creationId xmlns:a16="http://schemas.microsoft.com/office/drawing/2014/main" id="{A5ADAB41-401F-87F7-F37D-9E5C2B8DFB5E}"/>
              </a:ext>
            </a:extLst>
          </p:cNvPr>
          <p:cNvSpPr/>
          <p:nvPr/>
        </p:nvSpPr>
        <p:spPr>
          <a:xfrm>
            <a:off x="2303813" y="4919567"/>
            <a:ext cx="2208810" cy="870391"/>
          </a:xfrm>
          <a:custGeom>
            <a:avLst/>
            <a:gdLst>
              <a:gd name="connsiteX0" fmla="*/ 0 w 2208810"/>
              <a:gd name="connsiteY0" fmla="*/ 863716 h 870391"/>
              <a:gd name="connsiteX1" fmla="*/ 475013 w 2208810"/>
              <a:gd name="connsiteY1" fmla="*/ 780589 h 870391"/>
              <a:gd name="connsiteX2" fmla="*/ 617517 w 2208810"/>
              <a:gd name="connsiteY2" fmla="*/ 234324 h 870391"/>
              <a:gd name="connsiteX3" fmla="*/ 1389413 w 2208810"/>
              <a:gd name="connsiteY3" fmla="*/ 20568 h 870391"/>
              <a:gd name="connsiteX4" fmla="*/ 2208810 w 2208810"/>
              <a:gd name="connsiteY4" fmla="*/ 20568 h 8703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08810" h="870391">
                <a:moveTo>
                  <a:pt x="0" y="863716"/>
                </a:moveTo>
                <a:cubicBezTo>
                  <a:pt x="186047" y="874602"/>
                  <a:pt x="372094" y="885488"/>
                  <a:pt x="475013" y="780589"/>
                </a:cubicBezTo>
                <a:cubicBezTo>
                  <a:pt x="577932" y="675690"/>
                  <a:pt x="465117" y="360994"/>
                  <a:pt x="617517" y="234324"/>
                </a:cubicBezTo>
                <a:cubicBezTo>
                  <a:pt x="769917" y="107654"/>
                  <a:pt x="1124198" y="56194"/>
                  <a:pt x="1389413" y="20568"/>
                </a:cubicBezTo>
                <a:cubicBezTo>
                  <a:pt x="1654628" y="-15058"/>
                  <a:pt x="1931719" y="2755"/>
                  <a:pt x="2208810" y="20568"/>
                </a:cubicBezTo>
              </a:path>
            </a:pathLst>
          </a:custGeom>
          <a:noFill/>
          <a:ln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任意形状 9">
            <a:extLst>
              <a:ext uri="{FF2B5EF4-FFF2-40B4-BE49-F238E27FC236}">
                <a16:creationId xmlns:a16="http://schemas.microsoft.com/office/drawing/2014/main" id="{D7CC7762-362D-B5AB-344E-02BC424FEBEC}"/>
              </a:ext>
            </a:extLst>
          </p:cNvPr>
          <p:cNvSpPr/>
          <p:nvPr/>
        </p:nvSpPr>
        <p:spPr>
          <a:xfrm>
            <a:off x="1863685" y="5462649"/>
            <a:ext cx="3105024" cy="874351"/>
          </a:xfrm>
          <a:custGeom>
            <a:avLst/>
            <a:gdLst>
              <a:gd name="connsiteX0" fmla="*/ 3100201 w 3105024"/>
              <a:gd name="connsiteY0" fmla="*/ 0 h 874351"/>
              <a:gd name="connsiteX1" fmla="*/ 2684564 w 3105024"/>
              <a:gd name="connsiteY1" fmla="*/ 724395 h 874351"/>
              <a:gd name="connsiteX2" fmla="*/ 440128 w 3105024"/>
              <a:gd name="connsiteY2" fmla="*/ 866899 h 874351"/>
              <a:gd name="connsiteX3" fmla="*/ 741 w 3105024"/>
              <a:gd name="connsiteY3" fmla="*/ 593767 h 874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05024" h="874351">
                <a:moveTo>
                  <a:pt x="3100201" y="0"/>
                </a:moveTo>
                <a:cubicBezTo>
                  <a:pt x="3114055" y="289956"/>
                  <a:pt x="3127909" y="579912"/>
                  <a:pt x="2684564" y="724395"/>
                </a:cubicBezTo>
                <a:cubicBezTo>
                  <a:pt x="2241219" y="868878"/>
                  <a:pt x="887432" y="888670"/>
                  <a:pt x="440128" y="866899"/>
                </a:cubicBezTo>
                <a:cubicBezTo>
                  <a:pt x="-7176" y="845128"/>
                  <a:pt x="-3218" y="719447"/>
                  <a:pt x="741" y="593767"/>
                </a:cubicBezTo>
              </a:path>
            </a:pathLst>
          </a:custGeom>
          <a:noFill/>
          <a:ln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zh-CN" altLang="en-US"/>
          </a:p>
        </p:txBody>
      </p:sp>
      <p:sp>
        <p:nvSpPr>
          <p:cNvPr id="11" name="任意形状 10">
            <a:extLst>
              <a:ext uri="{FF2B5EF4-FFF2-40B4-BE49-F238E27FC236}">
                <a16:creationId xmlns:a16="http://schemas.microsoft.com/office/drawing/2014/main" id="{2F6BC0C5-59CB-2B67-4319-FFACC316D9EA}"/>
              </a:ext>
            </a:extLst>
          </p:cNvPr>
          <p:cNvSpPr/>
          <p:nvPr/>
        </p:nvSpPr>
        <p:spPr>
          <a:xfrm>
            <a:off x="1784703" y="5065141"/>
            <a:ext cx="5877882" cy="1495400"/>
          </a:xfrm>
          <a:custGeom>
            <a:avLst/>
            <a:gdLst>
              <a:gd name="connsiteX0" fmla="*/ 3491345 w 5877882"/>
              <a:gd name="connsiteY0" fmla="*/ 3610 h 1495400"/>
              <a:gd name="connsiteX1" fmla="*/ 5498275 w 5877882"/>
              <a:gd name="connsiteY1" fmla="*/ 193616 h 1495400"/>
              <a:gd name="connsiteX2" fmla="*/ 5747657 w 5877882"/>
              <a:gd name="connsiteY2" fmla="*/ 1250519 h 1495400"/>
              <a:gd name="connsiteX3" fmla="*/ 4001984 w 5877882"/>
              <a:gd name="connsiteY3" fmla="*/ 1381148 h 1495400"/>
              <a:gd name="connsiteX4" fmla="*/ 1033153 w 5877882"/>
              <a:gd name="connsiteY4" fmla="*/ 1488026 h 1495400"/>
              <a:gd name="connsiteX5" fmla="*/ 0 w 5877882"/>
              <a:gd name="connsiteY5" fmla="*/ 1167392 h 149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877882" h="1495400">
                <a:moveTo>
                  <a:pt x="3491345" y="3610"/>
                </a:moveTo>
                <a:cubicBezTo>
                  <a:pt x="4306784" y="-5296"/>
                  <a:pt x="5122223" y="-14202"/>
                  <a:pt x="5498275" y="193616"/>
                </a:cubicBezTo>
                <a:cubicBezTo>
                  <a:pt x="5874327" y="401434"/>
                  <a:pt x="5997039" y="1052597"/>
                  <a:pt x="5747657" y="1250519"/>
                </a:cubicBezTo>
                <a:cubicBezTo>
                  <a:pt x="5498275" y="1448441"/>
                  <a:pt x="4787735" y="1341563"/>
                  <a:pt x="4001984" y="1381148"/>
                </a:cubicBezTo>
                <a:cubicBezTo>
                  <a:pt x="3216233" y="1420733"/>
                  <a:pt x="1700150" y="1523652"/>
                  <a:pt x="1033153" y="1488026"/>
                </a:cubicBezTo>
                <a:cubicBezTo>
                  <a:pt x="366156" y="1452400"/>
                  <a:pt x="183078" y="1309896"/>
                  <a:pt x="0" y="1167392"/>
                </a:cubicBezTo>
              </a:path>
            </a:pathLst>
          </a:custGeom>
          <a:noFill/>
          <a:ln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637BD87-B119-7560-1D01-2090E87AC6A7}"/>
              </a:ext>
            </a:extLst>
          </p:cNvPr>
          <p:cNvSpPr txBox="1"/>
          <p:nvPr/>
        </p:nvSpPr>
        <p:spPr>
          <a:xfrm>
            <a:off x="3310437" y="5537561"/>
            <a:ext cx="16598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sz="3600" dirty="0"/>
              <a:t>jump</a:t>
            </a:r>
            <a:endParaRPr lang="zh-CN" altLang="en-US" sz="360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82A8936-27A3-53B1-EB7F-883E015CB1B4}"/>
              </a:ext>
            </a:extLst>
          </p:cNvPr>
          <p:cNvSpPr txBox="1"/>
          <p:nvPr/>
        </p:nvSpPr>
        <p:spPr>
          <a:xfrm>
            <a:off x="7098676" y="6160367"/>
            <a:ext cx="16598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sz="3600" dirty="0"/>
              <a:t>branch</a:t>
            </a:r>
            <a:endParaRPr lang="zh-CN" altLang="en-US" sz="3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772B20F-6723-A65A-2A2C-15395CFB36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521594"/>
            <a:ext cx="8229600" cy="1633140"/>
          </a:xfrm>
        </p:spPr>
        <p:txBody>
          <a:bodyPr/>
          <a:lstStyle/>
          <a:p>
            <a:pPr marL="0" indent="0" algn="ctr">
              <a:buNone/>
            </a:pPr>
            <a:r>
              <a:rPr lang="en-US" altLang="zh-CN" sz="4400" dirty="0" err="1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内存访问慢</a:t>
            </a:r>
            <a:r>
              <a:rPr lang="en-US" altLang="zh-CN" sz="44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…</a:t>
            </a:r>
            <a:endParaRPr lang="zh-CN" altLang="en-US" sz="4400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6A32C3A-F111-4A76-5AE5-3D03FAA2B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919B8-A1B4-420E-AADF-E63307EE92DF}" type="slidenum">
              <a:rPr lang="en-US" altLang="zh-CN" smtClean="0"/>
              <a:t>20</a:t>
            </a:fld>
            <a:endParaRPr lang="en-US" altLang="zh-CN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DA11D51-155C-0816-3604-E5F02506D137}"/>
              </a:ext>
            </a:extLst>
          </p:cNvPr>
          <p:cNvSpPr txBox="1"/>
          <p:nvPr/>
        </p:nvSpPr>
        <p:spPr>
          <a:xfrm>
            <a:off x="567159" y="3607762"/>
            <a:ext cx="800968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利用</a:t>
            </a:r>
            <a:r>
              <a:rPr kumimoji="0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CPU</a:t>
            </a: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内的高速寄存器？！</a:t>
            </a:r>
            <a:endParaRPr kumimoji="0" lang="zh-CN" altLang="en-US" sz="4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Picture 10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0274" y="1284784"/>
            <a:ext cx="4088822" cy="2203421"/>
          </a:xfrm>
          <a:prstGeom prst="rect">
            <a:avLst/>
          </a:prstGeom>
        </p:spPr>
      </p:pic>
      <p:sp>
        <p:nvSpPr>
          <p:cNvPr id="37" name="Rectangle 36"/>
          <p:cNvSpPr/>
          <p:nvPr/>
        </p:nvSpPr>
        <p:spPr>
          <a:xfrm>
            <a:off x="8444753" y="1359238"/>
            <a:ext cx="526447" cy="27406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ctr">
            <a:noAutofit/>
          </a:bodyPr>
          <a:lstStyle/>
          <a:p>
            <a:r>
              <a:rPr lang="en-US" sz="1400" dirty="0">
                <a:solidFill>
                  <a:srgbClr val="0432FF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REG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7163130" y="1359238"/>
            <a:ext cx="473581" cy="27406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PC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-52240" y="3535102"/>
            <a:ext cx="9341080" cy="3249973"/>
            <a:chOff x="-140194" y="963446"/>
            <a:chExt cx="9341080" cy="3249973"/>
          </a:xfrm>
        </p:grpSpPr>
        <p:sp>
          <p:nvSpPr>
            <p:cNvPr id="5" name="Rectangle 53"/>
            <p:cNvSpPr/>
            <p:nvPr/>
          </p:nvSpPr>
          <p:spPr>
            <a:xfrm>
              <a:off x="780939" y="3033315"/>
              <a:ext cx="1852450" cy="337185"/>
            </a:xfrm>
            <a:prstGeom prst="rect">
              <a:avLst/>
            </a:prstGeom>
            <a:solidFill>
              <a:srgbClr val="8064A2">
                <a:lumMod val="40000"/>
                <a:lumOff val="60000"/>
              </a:srgbClr>
            </a:solidFill>
            <a:ln w="25400">
              <a:solidFill>
                <a:srgbClr val="000000"/>
              </a:solidFill>
            </a:ln>
          </p:spPr>
          <p:txBody>
            <a:bodyPr wrap="squar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kern="0" dirty="0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PC</a:t>
              </a:r>
            </a:p>
          </p:txBody>
        </p:sp>
        <p:sp>
          <p:nvSpPr>
            <p:cNvPr id="6" name="Freeform 31"/>
            <p:cNvSpPr/>
            <p:nvPr/>
          </p:nvSpPr>
          <p:spPr>
            <a:xfrm>
              <a:off x="3781322" y="963446"/>
              <a:ext cx="4713852" cy="3249973"/>
            </a:xfrm>
            <a:custGeom>
              <a:avLst/>
              <a:gdLst>
                <a:gd name="connsiteX0" fmla="*/ 0 w 5056094"/>
                <a:gd name="connsiteY0" fmla="*/ 32273 h 3195021"/>
                <a:gd name="connsiteX1" fmla="*/ 0 w 5056094"/>
                <a:gd name="connsiteY1" fmla="*/ 3195021 h 3195021"/>
                <a:gd name="connsiteX2" fmla="*/ 5056094 w 5056094"/>
                <a:gd name="connsiteY2" fmla="*/ 3195021 h 3195021"/>
                <a:gd name="connsiteX3" fmla="*/ 5056094 w 5056094"/>
                <a:gd name="connsiteY3" fmla="*/ 903642 h 3195021"/>
                <a:gd name="connsiteX4" fmla="*/ 3313355 w 5056094"/>
                <a:gd name="connsiteY4" fmla="*/ 903642 h 3195021"/>
                <a:gd name="connsiteX5" fmla="*/ 3313355 w 5056094"/>
                <a:gd name="connsiteY5" fmla="*/ 0 h 3195021"/>
                <a:gd name="connsiteX6" fmla="*/ 0 w 5056094"/>
                <a:gd name="connsiteY6" fmla="*/ 32273 h 3195021"/>
                <a:gd name="connsiteX0-1" fmla="*/ 0 w 5056094"/>
                <a:gd name="connsiteY0-2" fmla="*/ 32273 h 3195021"/>
                <a:gd name="connsiteX1-3" fmla="*/ 0 w 5056094"/>
                <a:gd name="connsiteY1-4" fmla="*/ 3195021 h 3195021"/>
                <a:gd name="connsiteX2-5" fmla="*/ 5056094 w 5056094"/>
                <a:gd name="connsiteY2-6" fmla="*/ 3195021 h 3195021"/>
                <a:gd name="connsiteX3-7" fmla="*/ 5056094 w 5056094"/>
                <a:gd name="connsiteY3-8" fmla="*/ 903642 h 3195021"/>
                <a:gd name="connsiteX4-9" fmla="*/ 2702513 w 5056094"/>
                <a:gd name="connsiteY4-10" fmla="*/ 914906 h 3195021"/>
                <a:gd name="connsiteX5-11" fmla="*/ 3313355 w 5056094"/>
                <a:gd name="connsiteY5-12" fmla="*/ 0 h 3195021"/>
                <a:gd name="connsiteX6-13" fmla="*/ 0 w 5056094"/>
                <a:gd name="connsiteY6-14" fmla="*/ 32273 h 3195021"/>
                <a:gd name="connsiteX0-15" fmla="*/ 0 w 5056094"/>
                <a:gd name="connsiteY0-16" fmla="*/ 9745 h 3172493"/>
                <a:gd name="connsiteX1-17" fmla="*/ 0 w 5056094"/>
                <a:gd name="connsiteY1-18" fmla="*/ 3172493 h 3172493"/>
                <a:gd name="connsiteX2-19" fmla="*/ 5056094 w 5056094"/>
                <a:gd name="connsiteY2-20" fmla="*/ 3172493 h 3172493"/>
                <a:gd name="connsiteX3-21" fmla="*/ 5056094 w 5056094"/>
                <a:gd name="connsiteY3-22" fmla="*/ 881114 h 3172493"/>
                <a:gd name="connsiteX4-23" fmla="*/ 2702513 w 5056094"/>
                <a:gd name="connsiteY4-24" fmla="*/ 892378 h 3172493"/>
                <a:gd name="connsiteX5-25" fmla="*/ 2690297 w 5056094"/>
                <a:gd name="connsiteY5-26" fmla="*/ 0 h 3172493"/>
                <a:gd name="connsiteX6-27" fmla="*/ 0 w 5056094"/>
                <a:gd name="connsiteY6-28" fmla="*/ 9745 h 3172493"/>
                <a:gd name="connsiteX0-29" fmla="*/ 0 w 5056094"/>
                <a:gd name="connsiteY0-30" fmla="*/ 9745 h 3172493"/>
                <a:gd name="connsiteX1-31" fmla="*/ 0 w 5056094"/>
                <a:gd name="connsiteY1-32" fmla="*/ 3172493 h 3172493"/>
                <a:gd name="connsiteX2-33" fmla="*/ 5056094 w 5056094"/>
                <a:gd name="connsiteY2-34" fmla="*/ 3172493 h 3172493"/>
                <a:gd name="connsiteX3-35" fmla="*/ 5056094 w 5056094"/>
                <a:gd name="connsiteY3-36" fmla="*/ 881114 h 3172493"/>
                <a:gd name="connsiteX4-37" fmla="*/ 2682546 w 5056094"/>
                <a:gd name="connsiteY4-38" fmla="*/ 892378 h 3172493"/>
                <a:gd name="connsiteX5-39" fmla="*/ 2690297 w 5056094"/>
                <a:gd name="connsiteY5-40" fmla="*/ 0 h 3172493"/>
                <a:gd name="connsiteX6-41" fmla="*/ 0 w 5056094"/>
                <a:gd name="connsiteY6-42" fmla="*/ 9745 h 3172493"/>
                <a:gd name="connsiteX0-43" fmla="*/ 0 w 5056094"/>
                <a:gd name="connsiteY0-44" fmla="*/ 0 h 3162748"/>
                <a:gd name="connsiteX1-45" fmla="*/ 0 w 5056094"/>
                <a:gd name="connsiteY1-46" fmla="*/ 3162748 h 3162748"/>
                <a:gd name="connsiteX2-47" fmla="*/ 5056094 w 5056094"/>
                <a:gd name="connsiteY2-48" fmla="*/ 3162748 h 3162748"/>
                <a:gd name="connsiteX3-49" fmla="*/ 5056094 w 5056094"/>
                <a:gd name="connsiteY3-50" fmla="*/ 871369 h 3162748"/>
                <a:gd name="connsiteX4-51" fmla="*/ 2682546 w 5056094"/>
                <a:gd name="connsiteY4-52" fmla="*/ 882633 h 3162748"/>
                <a:gd name="connsiteX5-53" fmla="*/ 2683641 w 5056094"/>
                <a:gd name="connsiteY5-54" fmla="*/ 2529 h 3162748"/>
                <a:gd name="connsiteX6-55" fmla="*/ 0 w 5056094"/>
                <a:gd name="connsiteY6-56" fmla="*/ 0 h 316274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</a:cxnLst>
              <a:rect l="l" t="t" r="r" b="b"/>
              <a:pathLst>
                <a:path w="5056094" h="3162748">
                  <a:moveTo>
                    <a:pt x="0" y="0"/>
                  </a:moveTo>
                  <a:lnTo>
                    <a:pt x="0" y="3162748"/>
                  </a:lnTo>
                  <a:lnTo>
                    <a:pt x="5056094" y="3162748"/>
                  </a:lnTo>
                  <a:lnTo>
                    <a:pt x="5056094" y="871369"/>
                  </a:lnTo>
                  <a:lnTo>
                    <a:pt x="2682546" y="882633"/>
                  </a:lnTo>
                  <a:cubicBezTo>
                    <a:pt x="2685130" y="585174"/>
                    <a:pt x="2681057" y="299988"/>
                    <a:pt x="2683641" y="252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1F497D">
                <a:lumMod val="20000"/>
                <a:lumOff val="80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wrap="square" rtlCol="0" anchor="ctr">
              <a:noAutofit/>
            </a:bodyPr>
            <a:lstStyle/>
            <a:p>
              <a:pPr algn="l" fontAlgn="auto">
                <a:spcBef>
                  <a:spcPts val="0"/>
                </a:spcBef>
                <a:spcAft>
                  <a:spcPts val="0"/>
                </a:spcAft>
              </a:pPr>
              <a:endParaRPr lang="en-US" sz="1800" b="0" kern="0" dirty="0">
                <a:solidFill>
                  <a:srgbClr val="000000"/>
                </a:solidFill>
                <a:latin typeface="Arial" panose="020B0604020202020204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cxnSp>
          <p:nvCxnSpPr>
            <p:cNvPr id="7" name="Straight Arrow Connector 35"/>
            <p:cNvCxnSpPr/>
            <p:nvPr/>
          </p:nvCxnSpPr>
          <p:spPr>
            <a:xfrm>
              <a:off x="42221" y="3229464"/>
              <a:ext cx="728984" cy="0"/>
            </a:xfrm>
            <a:prstGeom prst="straightConnector1">
              <a:avLst/>
            </a:prstGeom>
            <a:ln w="25400" cap="rnd">
              <a:solidFill>
                <a:schemeClr val="tx1"/>
              </a:solidFill>
              <a:headEnd type="none" w="med" len="lg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Rectangle 29" descr="e"/>
            <p:cNvSpPr/>
            <p:nvPr/>
          </p:nvSpPr>
          <p:spPr>
            <a:xfrm>
              <a:off x="6984041" y="1076773"/>
              <a:ext cx="1314651" cy="678976"/>
            </a:xfrm>
            <a:prstGeom prst="rect">
              <a:avLst/>
            </a:prstGeom>
            <a:solidFill>
              <a:srgbClr val="8064A2">
                <a:lumMod val="40000"/>
                <a:lumOff val="60000"/>
              </a:srgbClr>
            </a:solidFill>
            <a:ln w="254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wrap="square" rtlCol="0" anchor="ctr">
              <a:no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2000" kern="0" dirty="0">
                  <a:solidFill>
                    <a:srgbClr val="000000"/>
                  </a:solidFill>
                  <a:latin typeface="+mn-ea"/>
                  <a:ea typeface="+mn-ea"/>
                  <a:cs typeface="Arial" panose="020B0604020202020204" pitchFamily="34" charset="0"/>
                </a:rPr>
                <a:t>数据存储</a:t>
              </a:r>
            </a:p>
          </p:txBody>
        </p:sp>
        <p:sp>
          <p:nvSpPr>
            <p:cNvPr id="10" name="Rectangle 29" descr="e"/>
            <p:cNvSpPr/>
            <p:nvPr/>
          </p:nvSpPr>
          <p:spPr>
            <a:xfrm>
              <a:off x="6984041" y="2939296"/>
              <a:ext cx="1314651" cy="45491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noAutofit/>
            </a:bodyPr>
            <a:lstStyle/>
            <a:p>
              <a:r>
                <a:rPr lang="en-US" altLang="zh-CN" sz="20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ALU</a:t>
              </a:r>
            </a:p>
          </p:txBody>
        </p:sp>
        <p:sp>
          <p:nvSpPr>
            <p:cNvPr id="11" name="矩形 22"/>
            <p:cNvSpPr/>
            <p:nvPr/>
          </p:nvSpPr>
          <p:spPr>
            <a:xfrm>
              <a:off x="2832293" y="1811460"/>
              <a:ext cx="1034668" cy="39878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0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指令</a:t>
              </a:r>
            </a:p>
          </p:txBody>
        </p:sp>
        <p:cxnSp>
          <p:nvCxnSpPr>
            <p:cNvPr id="13" name="Straight Arrow Connector 35"/>
            <p:cNvCxnSpPr/>
            <p:nvPr/>
          </p:nvCxnSpPr>
          <p:spPr>
            <a:xfrm>
              <a:off x="5649680" y="2375145"/>
              <a:ext cx="1328970" cy="0"/>
            </a:xfrm>
            <a:prstGeom prst="straightConnector1">
              <a:avLst/>
            </a:prstGeom>
            <a:ln w="25400" cap="rnd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35"/>
            <p:cNvCxnSpPr/>
            <p:nvPr/>
          </p:nvCxnSpPr>
          <p:spPr>
            <a:xfrm>
              <a:off x="2902453" y="2235488"/>
              <a:ext cx="1044092" cy="0"/>
            </a:xfrm>
            <a:prstGeom prst="straightConnector1">
              <a:avLst/>
            </a:prstGeom>
            <a:ln w="25400" cap="rnd">
              <a:solidFill>
                <a:schemeClr val="tx1"/>
              </a:solidFill>
              <a:headEnd type="none" w="med" len="lg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矩形 22"/>
            <p:cNvSpPr/>
            <p:nvPr/>
          </p:nvSpPr>
          <p:spPr>
            <a:xfrm>
              <a:off x="-140194" y="2855965"/>
              <a:ext cx="985502" cy="39878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0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时钟</a:t>
              </a:r>
            </a:p>
          </p:txBody>
        </p:sp>
        <p:cxnSp>
          <p:nvCxnSpPr>
            <p:cNvPr id="16" name="Straight Connector 47"/>
            <p:cNvCxnSpPr/>
            <p:nvPr/>
          </p:nvCxnSpPr>
          <p:spPr>
            <a:xfrm>
              <a:off x="7641367" y="3403738"/>
              <a:ext cx="0" cy="573453"/>
            </a:xfrm>
            <a:prstGeom prst="line">
              <a:avLst/>
            </a:prstGeom>
            <a:ln w="2540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矩形 22"/>
            <p:cNvSpPr/>
            <p:nvPr/>
          </p:nvSpPr>
          <p:spPr>
            <a:xfrm>
              <a:off x="8215384" y="1174250"/>
              <a:ext cx="985502" cy="39878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0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时钟</a:t>
              </a:r>
            </a:p>
          </p:txBody>
        </p:sp>
        <p:cxnSp>
          <p:nvCxnSpPr>
            <p:cNvPr id="18" name="Straight Arrow Connector 35"/>
            <p:cNvCxnSpPr/>
            <p:nvPr/>
          </p:nvCxnSpPr>
          <p:spPr>
            <a:xfrm flipH="1">
              <a:off x="8298692" y="1578429"/>
              <a:ext cx="700178" cy="0"/>
            </a:xfrm>
            <a:prstGeom prst="straightConnector1">
              <a:avLst/>
            </a:prstGeom>
            <a:ln w="25400" cap="rnd">
              <a:solidFill>
                <a:schemeClr val="tx1"/>
              </a:solidFill>
              <a:headEnd type="none" w="med" len="lg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矩形 22"/>
            <p:cNvSpPr/>
            <p:nvPr/>
          </p:nvSpPr>
          <p:spPr>
            <a:xfrm>
              <a:off x="5504504" y="1871801"/>
              <a:ext cx="1328970" cy="95590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0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rPr>
                <a:t>控制信号</a:t>
              </a:r>
              <a:r>
                <a:rPr lang="en-US" altLang="zh-CN" sz="20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rPr>
                <a:t>&amp;</a:t>
              </a:r>
              <a:r>
                <a:rPr lang="zh-CN" altLang="en-US" sz="20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rPr>
                <a:t>数据</a:t>
              </a:r>
            </a:p>
          </p:txBody>
        </p:sp>
        <p:cxnSp>
          <p:nvCxnSpPr>
            <p:cNvPr id="20" name="Straight Connector 106"/>
            <p:cNvCxnSpPr/>
            <p:nvPr/>
          </p:nvCxnSpPr>
          <p:spPr>
            <a:xfrm flipH="1">
              <a:off x="1637637" y="3967887"/>
              <a:ext cx="5999299" cy="0"/>
            </a:xfrm>
            <a:prstGeom prst="line">
              <a:avLst/>
            </a:prstGeom>
            <a:ln w="28575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9" descr="e"/>
            <p:cNvSpPr/>
            <p:nvPr/>
          </p:nvSpPr>
          <p:spPr>
            <a:xfrm>
              <a:off x="4602826" y="3829010"/>
              <a:ext cx="684330" cy="274064"/>
            </a:xfrm>
            <a:prstGeom prst="rect">
              <a:avLst/>
            </a:prstGeom>
            <a:solidFill>
              <a:srgbClr val="C7D9F2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noAutofit/>
            </a:bodyPr>
            <a:lstStyle/>
            <a:p>
              <a:r>
                <a:rPr lang="en-US" altLang="zh-CN" sz="16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MUX</a:t>
              </a:r>
            </a:p>
          </p:txBody>
        </p:sp>
        <p:cxnSp>
          <p:nvCxnSpPr>
            <p:cNvPr id="22" name="Straight Arrow Connector 35"/>
            <p:cNvCxnSpPr/>
            <p:nvPr/>
          </p:nvCxnSpPr>
          <p:spPr>
            <a:xfrm>
              <a:off x="4925770" y="3394205"/>
              <a:ext cx="0" cy="434805"/>
            </a:xfrm>
            <a:prstGeom prst="straightConnector1">
              <a:avLst/>
            </a:prstGeom>
            <a:ln w="25400" cap="rnd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78"/>
            <p:cNvCxnSpPr/>
            <p:nvPr/>
          </p:nvCxnSpPr>
          <p:spPr>
            <a:xfrm>
              <a:off x="1637637" y="3358731"/>
              <a:ext cx="0" cy="608936"/>
            </a:xfrm>
            <a:prstGeom prst="line">
              <a:avLst/>
            </a:prstGeom>
            <a:ln w="25400" cap="rnd">
              <a:solidFill>
                <a:schemeClr val="tx1"/>
              </a:solidFill>
              <a:head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矩形 22"/>
            <p:cNvSpPr/>
            <p:nvPr/>
          </p:nvSpPr>
          <p:spPr>
            <a:xfrm>
              <a:off x="1596300" y="3611371"/>
              <a:ext cx="2053693" cy="368300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r>
                <a:rPr lang="zh-CN" altLang="en-US" sz="18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下一条指令地址</a:t>
              </a:r>
            </a:p>
          </p:txBody>
        </p:sp>
        <p:sp>
          <p:nvSpPr>
            <p:cNvPr id="25" name="矩形 22"/>
            <p:cNvSpPr/>
            <p:nvPr/>
          </p:nvSpPr>
          <p:spPr>
            <a:xfrm>
              <a:off x="5172772" y="3611371"/>
              <a:ext cx="2463940" cy="368300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r>
                <a:rPr lang="zh-CN" altLang="en-US" sz="18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可能的下条指令地址</a:t>
              </a:r>
            </a:p>
          </p:txBody>
        </p:sp>
        <p:cxnSp>
          <p:nvCxnSpPr>
            <p:cNvPr id="26" name="Straight Arrow Connector 35"/>
            <p:cNvCxnSpPr>
              <a:cxnSpLocks/>
              <a:stCxn id="28" idx="2"/>
            </p:cNvCxnSpPr>
            <p:nvPr/>
          </p:nvCxnSpPr>
          <p:spPr>
            <a:xfrm flipH="1">
              <a:off x="7641367" y="2553246"/>
              <a:ext cx="4643" cy="386048"/>
            </a:xfrm>
            <a:prstGeom prst="straightConnector1">
              <a:avLst/>
            </a:prstGeom>
            <a:ln w="25400" cap="rnd">
              <a:solidFill>
                <a:schemeClr val="tx1"/>
              </a:solidFill>
              <a:headEnd type="triangle" w="med" len="lg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34"/>
            <p:cNvCxnSpPr/>
            <p:nvPr/>
          </p:nvCxnSpPr>
          <p:spPr>
            <a:xfrm flipH="1">
              <a:off x="7639045" y="1781150"/>
              <a:ext cx="4643" cy="386048"/>
            </a:xfrm>
            <a:prstGeom prst="straightConnector1">
              <a:avLst/>
            </a:prstGeom>
            <a:ln w="25400" cap="rnd">
              <a:solidFill>
                <a:srgbClr val="0432FF"/>
              </a:solidFill>
              <a:headEnd type="triangle" w="med" len="lg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Rectangle 41"/>
            <p:cNvSpPr/>
            <p:nvPr/>
          </p:nvSpPr>
          <p:spPr>
            <a:xfrm>
              <a:off x="6988686" y="2173069"/>
              <a:ext cx="1314647" cy="380177"/>
            </a:xfrm>
            <a:prstGeom prst="rect">
              <a:avLst/>
            </a:prstGeom>
            <a:solidFill>
              <a:srgbClr val="8064A2">
                <a:lumMod val="40000"/>
                <a:lumOff val="60000"/>
              </a:srgbClr>
            </a:solidFill>
            <a:ln w="254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wrap="square" rtlCol="0" anchor="ctr">
              <a:no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800" kern="0" dirty="0">
                  <a:solidFill>
                    <a:srgbClr val="0432FF"/>
                  </a:solidFill>
                  <a:latin typeface="+mn-ea"/>
                  <a:ea typeface="+mn-ea"/>
                  <a:cs typeface="Arial" panose="020B0604020202020204" pitchFamily="34" charset="0"/>
                </a:rPr>
                <a:t>寄存器</a:t>
              </a:r>
            </a:p>
          </p:txBody>
        </p:sp>
        <p:sp>
          <p:nvSpPr>
            <p:cNvPr id="29" name="Freeform 32"/>
            <p:cNvSpPr/>
            <p:nvPr/>
          </p:nvSpPr>
          <p:spPr>
            <a:xfrm>
              <a:off x="6741590" y="1422677"/>
              <a:ext cx="242451" cy="1724378"/>
            </a:xfrm>
            <a:custGeom>
              <a:avLst/>
              <a:gdLst>
                <a:gd name="connsiteX0" fmla="*/ 852054 w 857250"/>
                <a:gd name="connsiteY0" fmla="*/ 0 h 789709"/>
                <a:gd name="connsiteX1" fmla="*/ 701386 w 857250"/>
                <a:gd name="connsiteY1" fmla="*/ 5196 h 789709"/>
                <a:gd name="connsiteX2" fmla="*/ 0 w 857250"/>
                <a:gd name="connsiteY2" fmla="*/ 5196 h 789709"/>
                <a:gd name="connsiteX3" fmla="*/ 0 w 857250"/>
                <a:gd name="connsiteY3" fmla="*/ 789709 h 789709"/>
                <a:gd name="connsiteX4" fmla="*/ 857250 w 857250"/>
                <a:gd name="connsiteY4" fmla="*/ 789709 h 7897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250" h="789709">
                  <a:moveTo>
                    <a:pt x="852054" y="0"/>
                  </a:moveTo>
                  <a:lnTo>
                    <a:pt x="701386" y="5196"/>
                  </a:lnTo>
                  <a:lnTo>
                    <a:pt x="0" y="5196"/>
                  </a:lnTo>
                  <a:lnTo>
                    <a:pt x="0" y="789709"/>
                  </a:lnTo>
                  <a:lnTo>
                    <a:pt x="857250" y="789709"/>
                  </a:lnTo>
                </a:path>
              </a:pathLst>
            </a:custGeom>
            <a:noFill/>
            <a:ln>
              <a:headEnd type="triangl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4600"/>
            </a:p>
          </p:txBody>
        </p:sp>
        <p:sp>
          <p:nvSpPr>
            <p:cNvPr id="30" name="Freeform 2"/>
            <p:cNvSpPr/>
            <p:nvPr/>
          </p:nvSpPr>
          <p:spPr>
            <a:xfrm>
              <a:off x="8315661" y="1559859"/>
              <a:ext cx="430306" cy="806823"/>
            </a:xfrm>
            <a:custGeom>
              <a:avLst/>
              <a:gdLst>
                <a:gd name="connsiteX0" fmla="*/ 430306 w 430306"/>
                <a:gd name="connsiteY0" fmla="*/ 0 h 806823"/>
                <a:gd name="connsiteX1" fmla="*/ 430306 w 430306"/>
                <a:gd name="connsiteY1" fmla="*/ 806823 h 806823"/>
                <a:gd name="connsiteX2" fmla="*/ 0 w 430306"/>
                <a:gd name="connsiteY2" fmla="*/ 806823 h 806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0306" h="806823">
                  <a:moveTo>
                    <a:pt x="430306" y="0"/>
                  </a:moveTo>
                  <a:lnTo>
                    <a:pt x="430306" y="806823"/>
                  </a:lnTo>
                  <a:lnTo>
                    <a:pt x="0" y="806823"/>
                  </a:lnTo>
                </a:path>
              </a:pathLst>
            </a:custGeom>
            <a:noFill/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4600"/>
            </a:p>
          </p:txBody>
        </p:sp>
        <p:sp>
          <p:nvSpPr>
            <p:cNvPr id="31" name="Rectangle 29" descr="e"/>
            <p:cNvSpPr/>
            <p:nvPr/>
          </p:nvSpPr>
          <p:spPr>
            <a:xfrm>
              <a:off x="2634930" y="1070496"/>
              <a:ext cx="267523" cy="2301372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noAutofit/>
            </a:bodyPr>
            <a:lstStyle/>
            <a:p>
              <a:r>
                <a:rPr lang="zh-CN" altLang="en-US" sz="16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接口</a:t>
              </a:r>
            </a:p>
          </p:txBody>
        </p:sp>
        <p:sp>
          <p:nvSpPr>
            <p:cNvPr id="32" name="矩形 10"/>
            <p:cNvSpPr/>
            <p:nvPr/>
          </p:nvSpPr>
          <p:spPr>
            <a:xfrm>
              <a:off x="3946544" y="2501591"/>
              <a:ext cx="1691025" cy="5835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1600" b="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rPr>
                <a:t>指令解码</a:t>
              </a:r>
              <a:endParaRPr lang="en-US" altLang="zh-CN" sz="1600" b="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endParaRPr>
            </a:p>
            <a:p>
              <a:r>
                <a:rPr lang="en-US" altLang="zh-CN" sz="1600" b="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rPr>
                <a:t>&amp; </a:t>
              </a:r>
              <a:r>
                <a:rPr lang="zh-CN" altLang="en-US" sz="1600" b="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rPr>
                <a:t>控制信号生成</a:t>
              </a:r>
            </a:p>
          </p:txBody>
        </p:sp>
        <p:sp>
          <p:nvSpPr>
            <p:cNvPr id="33" name="Rectangle 29" descr="e"/>
            <p:cNvSpPr/>
            <p:nvPr/>
          </p:nvSpPr>
          <p:spPr>
            <a:xfrm>
              <a:off x="780939" y="1070497"/>
              <a:ext cx="1853991" cy="1962818"/>
            </a:xfrm>
            <a:prstGeom prst="rect">
              <a:avLst/>
            </a:prstGeom>
            <a:solidFill>
              <a:srgbClr val="8064A2">
                <a:lumMod val="40000"/>
                <a:lumOff val="60000"/>
              </a:srgbClr>
            </a:solidFill>
            <a:ln w="254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wrap="square" rtlCol="0" anchor="t">
              <a:no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28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指令存储</a:t>
              </a:r>
            </a:p>
          </p:txBody>
        </p:sp>
        <p:sp>
          <p:nvSpPr>
            <p:cNvPr id="34" name="Rectangle 29" descr="e"/>
            <p:cNvSpPr/>
            <p:nvPr/>
          </p:nvSpPr>
          <p:spPr>
            <a:xfrm>
              <a:off x="3952600" y="1076772"/>
              <a:ext cx="1691024" cy="2317433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t">
              <a:noAutofit/>
            </a:bodyPr>
            <a:lstStyle/>
            <a:p>
              <a:endPara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endParaRPr>
            </a:p>
            <a:p>
              <a:r>
                <a:rPr lang="zh-CN" altLang="en-US" sz="28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控制模块</a:t>
              </a:r>
            </a:p>
          </p:txBody>
        </p:sp>
        <p:sp>
          <p:nvSpPr>
            <p:cNvPr id="35" name="矩形 10"/>
            <p:cNvSpPr/>
            <p:nvPr/>
          </p:nvSpPr>
          <p:spPr>
            <a:xfrm>
              <a:off x="782680" y="2343484"/>
              <a:ext cx="1842445" cy="5835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1600" b="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所有指令按地址顺序存储</a:t>
              </a:r>
            </a:p>
          </p:txBody>
        </p:sp>
      </p:grpSp>
      <p:sp>
        <p:nvSpPr>
          <p:cNvPr id="38" name="Content Placeholder 11"/>
          <p:cNvSpPr txBox="1"/>
          <p:nvPr/>
        </p:nvSpPr>
        <p:spPr>
          <a:xfrm>
            <a:off x="93823" y="1303456"/>
            <a:ext cx="4970033" cy="23797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06400" indent="-406400" algn="l" defTabSz="685800" rtl="0" eaLnBrk="1" latinLnBrk="0" hangingPunct="1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685800" indent="-342900" algn="l" defTabSz="685800" rtl="0" eaLnBrk="1" latinLnBrk="0" hangingPunct="1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ü"/>
              <a:defRPr sz="21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857250" indent="-171450" algn="l" defTabSz="6858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200150" indent="-171450" algn="l" defTabSz="6858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1543050" indent="-171450" algn="l" defTabSz="6858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»"/>
              <a:defRPr sz="15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l" defTabSz="685800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存取指令</a:t>
            </a:r>
          </a:p>
          <a:p>
            <a:pPr marR="0" lvl="1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系统字体常规体"/>
              <a:buChar char="–"/>
            </a:pP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装入</a:t>
            </a:r>
            <a:r>
              <a:rPr kumimoji="0" lang="en-US" altLang="zh-CN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(load)</a:t>
            </a: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数据：数据存储到</a:t>
            </a:r>
            <a:r>
              <a:rPr kumimoji="0" lang="en-US" altLang="zh-CN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REG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marR="0" lvl="1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系统字体常规体"/>
              <a:buChar char="–"/>
            </a:pP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存储</a:t>
            </a:r>
            <a:r>
              <a:rPr kumimoji="0" lang="en-US" altLang="zh-CN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(store)</a:t>
            </a: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数据：</a:t>
            </a:r>
            <a:r>
              <a:rPr kumimoji="0" lang="en-US" altLang="zh-CN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REG</a:t>
            </a: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到数据存储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4211DC2-98E3-18B0-40CA-D50A8A7F5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t>21</a:t>
            </a:fld>
            <a:endParaRPr lang="en-US" altLang="zh-CN"/>
          </a:p>
        </p:txBody>
      </p:sp>
      <p:sp>
        <p:nvSpPr>
          <p:cNvPr id="12" name="标题 1">
            <a:extLst>
              <a:ext uri="{FF2B5EF4-FFF2-40B4-BE49-F238E27FC236}">
                <a16:creationId xmlns:a16="http://schemas.microsoft.com/office/drawing/2014/main" id="{EBECD9DB-BD96-A9C3-F092-4719177AB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032" y="136525"/>
            <a:ext cx="8407937" cy="1143000"/>
          </a:xfrm>
        </p:spPr>
        <p:txBody>
          <a:bodyPr>
            <a:noAutofit/>
          </a:bodyPr>
          <a:lstStyle/>
          <a:p>
            <a:r>
              <a:rPr lang="zh-CN" altLang="en-US" sz="36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如何支持通用算法：</a:t>
            </a:r>
            <a:r>
              <a:rPr lang="en-US" altLang="zh-CN" sz="3600" dirty="0">
                <a:solidFill>
                  <a:srgbClr val="0432FF"/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CPU</a:t>
            </a:r>
            <a:r>
              <a:rPr lang="zh-CN" altLang="en-US" sz="3600" dirty="0">
                <a:solidFill>
                  <a:srgbClr val="0432FF"/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有寄存器</a:t>
            </a:r>
            <a:r>
              <a:rPr lang="en-US" altLang="zh-CN" sz="3600" dirty="0">
                <a:solidFill>
                  <a:srgbClr val="0432FF"/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REG</a:t>
            </a:r>
            <a:r>
              <a:rPr lang="zh-CN" altLang="en-US" sz="3600" dirty="0">
                <a:solidFill>
                  <a:srgbClr val="0432FF"/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？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A7B04375-6B11-482B-B39A-4A36A94FAC31}"/>
                  </a:ext>
                </a:extLst>
              </p14:cNvPr>
              <p14:cNvContentPartPr/>
              <p14:nvPr/>
            </p14:nvContentPartPr>
            <p14:xfrm>
              <a:off x="2257920" y="3607560"/>
              <a:ext cx="5917320" cy="3009960"/>
            </p14:xfrm>
          </p:contentPart>
        </mc:Choice>
        <mc:Fallback xmlns=""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A7B04375-6B11-482B-B39A-4A36A94FAC3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248560" y="3598200"/>
                <a:ext cx="5936040" cy="3028680"/>
              </a:xfrm>
              <a:prstGeom prst="rect">
                <a:avLst/>
              </a:prstGeom>
            </p:spPr>
          </p:pic>
        </mc:Fallback>
      </mc:AlternateContent>
      <p:sp>
        <p:nvSpPr>
          <p:cNvPr id="9" name="椭圆 8">
            <a:extLst>
              <a:ext uri="{FF2B5EF4-FFF2-40B4-BE49-F238E27FC236}">
                <a16:creationId xmlns:a16="http://schemas.microsoft.com/office/drawing/2014/main" id="{6E64F112-B12B-AAD4-8D2E-90646C245DAF}"/>
              </a:ext>
            </a:extLst>
          </p:cNvPr>
          <p:cNvSpPr/>
          <p:nvPr/>
        </p:nvSpPr>
        <p:spPr>
          <a:xfrm>
            <a:off x="8303338" y="1220150"/>
            <a:ext cx="783486" cy="584901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组合 65">
            <a:extLst>
              <a:ext uri="{FF2B5EF4-FFF2-40B4-BE49-F238E27FC236}">
                <a16:creationId xmlns:a16="http://schemas.microsoft.com/office/drawing/2014/main" id="{44927D71-3B36-BB54-7CC5-19C5BAD7B6D8}"/>
              </a:ext>
            </a:extLst>
          </p:cNvPr>
          <p:cNvGrpSpPr/>
          <p:nvPr/>
        </p:nvGrpSpPr>
        <p:grpSpPr>
          <a:xfrm>
            <a:off x="-52240" y="3535102"/>
            <a:ext cx="9341080" cy="3249973"/>
            <a:chOff x="-140194" y="963446"/>
            <a:chExt cx="9341080" cy="3249973"/>
          </a:xfrm>
        </p:grpSpPr>
        <p:sp>
          <p:nvSpPr>
            <p:cNvPr id="67" name="Rectangle 53">
              <a:extLst>
                <a:ext uri="{FF2B5EF4-FFF2-40B4-BE49-F238E27FC236}">
                  <a16:creationId xmlns:a16="http://schemas.microsoft.com/office/drawing/2014/main" id="{7A21B95A-4456-0EFE-3AB4-DEB97DCD052D}"/>
                </a:ext>
              </a:extLst>
            </p:cNvPr>
            <p:cNvSpPr/>
            <p:nvPr/>
          </p:nvSpPr>
          <p:spPr>
            <a:xfrm>
              <a:off x="780939" y="3033315"/>
              <a:ext cx="1852450" cy="337185"/>
            </a:xfrm>
            <a:prstGeom prst="rect">
              <a:avLst/>
            </a:prstGeom>
            <a:solidFill>
              <a:srgbClr val="8064A2">
                <a:lumMod val="40000"/>
                <a:lumOff val="60000"/>
              </a:srgbClr>
            </a:solidFill>
            <a:ln w="25400">
              <a:solidFill>
                <a:srgbClr val="000000"/>
              </a:solidFill>
            </a:ln>
          </p:spPr>
          <p:txBody>
            <a:bodyPr wrap="squar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kern="0" dirty="0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PC</a:t>
              </a:r>
            </a:p>
          </p:txBody>
        </p:sp>
        <p:sp>
          <p:nvSpPr>
            <p:cNvPr id="68" name="Freeform 31">
              <a:extLst>
                <a:ext uri="{FF2B5EF4-FFF2-40B4-BE49-F238E27FC236}">
                  <a16:creationId xmlns:a16="http://schemas.microsoft.com/office/drawing/2014/main" id="{DF09B038-0B8E-AE4B-0E6F-A155D93C4D4D}"/>
                </a:ext>
              </a:extLst>
            </p:cNvPr>
            <p:cNvSpPr/>
            <p:nvPr/>
          </p:nvSpPr>
          <p:spPr>
            <a:xfrm>
              <a:off x="3781322" y="963446"/>
              <a:ext cx="4713852" cy="3249973"/>
            </a:xfrm>
            <a:custGeom>
              <a:avLst/>
              <a:gdLst>
                <a:gd name="connsiteX0" fmla="*/ 0 w 5056094"/>
                <a:gd name="connsiteY0" fmla="*/ 32273 h 3195021"/>
                <a:gd name="connsiteX1" fmla="*/ 0 w 5056094"/>
                <a:gd name="connsiteY1" fmla="*/ 3195021 h 3195021"/>
                <a:gd name="connsiteX2" fmla="*/ 5056094 w 5056094"/>
                <a:gd name="connsiteY2" fmla="*/ 3195021 h 3195021"/>
                <a:gd name="connsiteX3" fmla="*/ 5056094 w 5056094"/>
                <a:gd name="connsiteY3" fmla="*/ 903642 h 3195021"/>
                <a:gd name="connsiteX4" fmla="*/ 3313355 w 5056094"/>
                <a:gd name="connsiteY4" fmla="*/ 903642 h 3195021"/>
                <a:gd name="connsiteX5" fmla="*/ 3313355 w 5056094"/>
                <a:gd name="connsiteY5" fmla="*/ 0 h 3195021"/>
                <a:gd name="connsiteX6" fmla="*/ 0 w 5056094"/>
                <a:gd name="connsiteY6" fmla="*/ 32273 h 3195021"/>
                <a:gd name="connsiteX0-1" fmla="*/ 0 w 5056094"/>
                <a:gd name="connsiteY0-2" fmla="*/ 32273 h 3195021"/>
                <a:gd name="connsiteX1-3" fmla="*/ 0 w 5056094"/>
                <a:gd name="connsiteY1-4" fmla="*/ 3195021 h 3195021"/>
                <a:gd name="connsiteX2-5" fmla="*/ 5056094 w 5056094"/>
                <a:gd name="connsiteY2-6" fmla="*/ 3195021 h 3195021"/>
                <a:gd name="connsiteX3-7" fmla="*/ 5056094 w 5056094"/>
                <a:gd name="connsiteY3-8" fmla="*/ 903642 h 3195021"/>
                <a:gd name="connsiteX4-9" fmla="*/ 2702513 w 5056094"/>
                <a:gd name="connsiteY4-10" fmla="*/ 914906 h 3195021"/>
                <a:gd name="connsiteX5-11" fmla="*/ 3313355 w 5056094"/>
                <a:gd name="connsiteY5-12" fmla="*/ 0 h 3195021"/>
                <a:gd name="connsiteX6-13" fmla="*/ 0 w 5056094"/>
                <a:gd name="connsiteY6-14" fmla="*/ 32273 h 3195021"/>
                <a:gd name="connsiteX0-15" fmla="*/ 0 w 5056094"/>
                <a:gd name="connsiteY0-16" fmla="*/ 9745 h 3172493"/>
                <a:gd name="connsiteX1-17" fmla="*/ 0 w 5056094"/>
                <a:gd name="connsiteY1-18" fmla="*/ 3172493 h 3172493"/>
                <a:gd name="connsiteX2-19" fmla="*/ 5056094 w 5056094"/>
                <a:gd name="connsiteY2-20" fmla="*/ 3172493 h 3172493"/>
                <a:gd name="connsiteX3-21" fmla="*/ 5056094 w 5056094"/>
                <a:gd name="connsiteY3-22" fmla="*/ 881114 h 3172493"/>
                <a:gd name="connsiteX4-23" fmla="*/ 2702513 w 5056094"/>
                <a:gd name="connsiteY4-24" fmla="*/ 892378 h 3172493"/>
                <a:gd name="connsiteX5-25" fmla="*/ 2690297 w 5056094"/>
                <a:gd name="connsiteY5-26" fmla="*/ 0 h 3172493"/>
                <a:gd name="connsiteX6-27" fmla="*/ 0 w 5056094"/>
                <a:gd name="connsiteY6-28" fmla="*/ 9745 h 3172493"/>
                <a:gd name="connsiteX0-29" fmla="*/ 0 w 5056094"/>
                <a:gd name="connsiteY0-30" fmla="*/ 9745 h 3172493"/>
                <a:gd name="connsiteX1-31" fmla="*/ 0 w 5056094"/>
                <a:gd name="connsiteY1-32" fmla="*/ 3172493 h 3172493"/>
                <a:gd name="connsiteX2-33" fmla="*/ 5056094 w 5056094"/>
                <a:gd name="connsiteY2-34" fmla="*/ 3172493 h 3172493"/>
                <a:gd name="connsiteX3-35" fmla="*/ 5056094 w 5056094"/>
                <a:gd name="connsiteY3-36" fmla="*/ 881114 h 3172493"/>
                <a:gd name="connsiteX4-37" fmla="*/ 2682546 w 5056094"/>
                <a:gd name="connsiteY4-38" fmla="*/ 892378 h 3172493"/>
                <a:gd name="connsiteX5-39" fmla="*/ 2690297 w 5056094"/>
                <a:gd name="connsiteY5-40" fmla="*/ 0 h 3172493"/>
                <a:gd name="connsiteX6-41" fmla="*/ 0 w 5056094"/>
                <a:gd name="connsiteY6-42" fmla="*/ 9745 h 3172493"/>
                <a:gd name="connsiteX0-43" fmla="*/ 0 w 5056094"/>
                <a:gd name="connsiteY0-44" fmla="*/ 0 h 3162748"/>
                <a:gd name="connsiteX1-45" fmla="*/ 0 w 5056094"/>
                <a:gd name="connsiteY1-46" fmla="*/ 3162748 h 3162748"/>
                <a:gd name="connsiteX2-47" fmla="*/ 5056094 w 5056094"/>
                <a:gd name="connsiteY2-48" fmla="*/ 3162748 h 3162748"/>
                <a:gd name="connsiteX3-49" fmla="*/ 5056094 w 5056094"/>
                <a:gd name="connsiteY3-50" fmla="*/ 871369 h 3162748"/>
                <a:gd name="connsiteX4-51" fmla="*/ 2682546 w 5056094"/>
                <a:gd name="connsiteY4-52" fmla="*/ 882633 h 3162748"/>
                <a:gd name="connsiteX5-53" fmla="*/ 2683641 w 5056094"/>
                <a:gd name="connsiteY5-54" fmla="*/ 2529 h 3162748"/>
                <a:gd name="connsiteX6-55" fmla="*/ 0 w 5056094"/>
                <a:gd name="connsiteY6-56" fmla="*/ 0 h 316274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</a:cxnLst>
              <a:rect l="l" t="t" r="r" b="b"/>
              <a:pathLst>
                <a:path w="5056094" h="3162748">
                  <a:moveTo>
                    <a:pt x="0" y="0"/>
                  </a:moveTo>
                  <a:lnTo>
                    <a:pt x="0" y="3162748"/>
                  </a:lnTo>
                  <a:lnTo>
                    <a:pt x="5056094" y="3162748"/>
                  </a:lnTo>
                  <a:lnTo>
                    <a:pt x="5056094" y="871369"/>
                  </a:lnTo>
                  <a:lnTo>
                    <a:pt x="2682546" y="882633"/>
                  </a:lnTo>
                  <a:cubicBezTo>
                    <a:pt x="2685130" y="585174"/>
                    <a:pt x="2681057" y="299988"/>
                    <a:pt x="2683641" y="252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1F497D">
                <a:lumMod val="20000"/>
                <a:lumOff val="80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wrap="square" rtlCol="0" anchor="ctr">
              <a:noAutofit/>
            </a:bodyPr>
            <a:lstStyle/>
            <a:p>
              <a:pPr algn="l" fontAlgn="auto">
                <a:spcBef>
                  <a:spcPts val="0"/>
                </a:spcBef>
                <a:spcAft>
                  <a:spcPts val="0"/>
                </a:spcAft>
              </a:pPr>
              <a:endParaRPr lang="en-US" sz="1800" b="0" kern="0" dirty="0">
                <a:solidFill>
                  <a:srgbClr val="000000"/>
                </a:solidFill>
                <a:latin typeface="Arial" panose="020B0604020202020204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cxnSp>
          <p:nvCxnSpPr>
            <p:cNvPr id="69" name="Straight Arrow Connector 35">
              <a:extLst>
                <a:ext uri="{FF2B5EF4-FFF2-40B4-BE49-F238E27FC236}">
                  <a16:creationId xmlns:a16="http://schemas.microsoft.com/office/drawing/2014/main" id="{53B9F925-4985-FAFD-D0CD-D24CC6095E90}"/>
                </a:ext>
              </a:extLst>
            </p:cNvPr>
            <p:cNvCxnSpPr/>
            <p:nvPr/>
          </p:nvCxnSpPr>
          <p:spPr>
            <a:xfrm>
              <a:off x="42221" y="3229464"/>
              <a:ext cx="728984" cy="0"/>
            </a:xfrm>
            <a:prstGeom prst="straightConnector1">
              <a:avLst/>
            </a:prstGeom>
            <a:ln w="25400" cap="rnd">
              <a:solidFill>
                <a:schemeClr val="tx1"/>
              </a:solidFill>
              <a:headEnd type="none" w="med" len="lg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Rectangle 29" descr="e">
              <a:extLst>
                <a:ext uri="{FF2B5EF4-FFF2-40B4-BE49-F238E27FC236}">
                  <a16:creationId xmlns:a16="http://schemas.microsoft.com/office/drawing/2014/main" id="{025ABE00-88D0-8E24-5BE4-74DA03D641C7}"/>
                </a:ext>
              </a:extLst>
            </p:cNvPr>
            <p:cNvSpPr/>
            <p:nvPr/>
          </p:nvSpPr>
          <p:spPr>
            <a:xfrm>
              <a:off x="6984041" y="1076773"/>
              <a:ext cx="1314651" cy="678976"/>
            </a:xfrm>
            <a:prstGeom prst="rect">
              <a:avLst/>
            </a:prstGeom>
            <a:solidFill>
              <a:srgbClr val="8064A2">
                <a:lumMod val="40000"/>
                <a:lumOff val="60000"/>
              </a:srgbClr>
            </a:solidFill>
            <a:ln w="254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wrap="square" rtlCol="0" anchor="ctr">
              <a:no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2000" kern="0" dirty="0">
                  <a:solidFill>
                    <a:srgbClr val="000000"/>
                  </a:solidFill>
                  <a:latin typeface="+mn-ea"/>
                  <a:ea typeface="+mn-ea"/>
                  <a:cs typeface="Arial" panose="020B0604020202020204" pitchFamily="34" charset="0"/>
                </a:rPr>
                <a:t>数据存储</a:t>
              </a:r>
            </a:p>
          </p:txBody>
        </p:sp>
        <p:sp>
          <p:nvSpPr>
            <p:cNvPr id="71" name="Rectangle 29" descr="e">
              <a:extLst>
                <a:ext uri="{FF2B5EF4-FFF2-40B4-BE49-F238E27FC236}">
                  <a16:creationId xmlns:a16="http://schemas.microsoft.com/office/drawing/2014/main" id="{80C5A1D4-C768-1954-E7A1-B1672865492E}"/>
                </a:ext>
              </a:extLst>
            </p:cNvPr>
            <p:cNvSpPr/>
            <p:nvPr/>
          </p:nvSpPr>
          <p:spPr>
            <a:xfrm>
              <a:off x="6984041" y="2939296"/>
              <a:ext cx="1314651" cy="45491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noAutofit/>
            </a:bodyPr>
            <a:lstStyle/>
            <a:p>
              <a:r>
                <a:rPr lang="en-US" altLang="zh-CN" sz="20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ALU</a:t>
              </a:r>
            </a:p>
          </p:txBody>
        </p:sp>
        <p:sp>
          <p:nvSpPr>
            <p:cNvPr id="72" name="矩形 22">
              <a:extLst>
                <a:ext uri="{FF2B5EF4-FFF2-40B4-BE49-F238E27FC236}">
                  <a16:creationId xmlns:a16="http://schemas.microsoft.com/office/drawing/2014/main" id="{1436BB0A-0D16-7942-59EE-6EDD78241CBE}"/>
                </a:ext>
              </a:extLst>
            </p:cNvPr>
            <p:cNvSpPr/>
            <p:nvPr/>
          </p:nvSpPr>
          <p:spPr>
            <a:xfrm>
              <a:off x="2832293" y="1811460"/>
              <a:ext cx="1034668" cy="39878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0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指令</a:t>
              </a:r>
            </a:p>
          </p:txBody>
        </p:sp>
        <p:cxnSp>
          <p:nvCxnSpPr>
            <p:cNvPr id="73" name="Straight Arrow Connector 35">
              <a:extLst>
                <a:ext uri="{FF2B5EF4-FFF2-40B4-BE49-F238E27FC236}">
                  <a16:creationId xmlns:a16="http://schemas.microsoft.com/office/drawing/2014/main" id="{1449CB79-6EC3-2083-3E39-38858EF88DF5}"/>
                </a:ext>
              </a:extLst>
            </p:cNvPr>
            <p:cNvCxnSpPr/>
            <p:nvPr/>
          </p:nvCxnSpPr>
          <p:spPr>
            <a:xfrm>
              <a:off x="5649680" y="2375145"/>
              <a:ext cx="1328970" cy="0"/>
            </a:xfrm>
            <a:prstGeom prst="straightConnector1">
              <a:avLst/>
            </a:prstGeom>
            <a:ln w="25400" cap="rnd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Arrow Connector 35">
              <a:extLst>
                <a:ext uri="{FF2B5EF4-FFF2-40B4-BE49-F238E27FC236}">
                  <a16:creationId xmlns:a16="http://schemas.microsoft.com/office/drawing/2014/main" id="{46C81BD3-7D65-5675-1E93-45AD5BC1316D}"/>
                </a:ext>
              </a:extLst>
            </p:cNvPr>
            <p:cNvCxnSpPr/>
            <p:nvPr/>
          </p:nvCxnSpPr>
          <p:spPr>
            <a:xfrm>
              <a:off x="2902453" y="2235488"/>
              <a:ext cx="1044092" cy="0"/>
            </a:xfrm>
            <a:prstGeom prst="straightConnector1">
              <a:avLst/>
            </a:prstGeom>
            <a:ln w="25400" cap="rnd">
              <a:solidFill>
                <a:schemeClr val="tx1"/>
              </a:solidFill>
              <a:headEnd type="none" w="med" len="lg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矩形 22">
              <a:extLst>
                <a:ext uri="{FF2B5EF4-FFF2-40B4-BE49-F238E27FC236}">
                  <a16:creationId xmlns:a16="http://schemas.microsoft.com/office/drawing/2014/main" id="{70017AC9-22F2-6E7E-01A5-85A3177E99F7}"/>
                </a:ext>
              </a:extLst>
            </p:cNvPr>
            <p:cNvSpPr/>
            <p:nvPr/>
          </p:nvSpPr>
          <p:spPr>
            <a:xfrm>
              <a:off x="-140194" y="2855965"/>
              <a:ext cx="985502" cy="39878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0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时钟</a:t>
              </a:r>
            </a:p>
          </p:txBody>
        </p:sp>
        <p:cxnSp>
          <p:nvCxnSpPr>
            <p:cNvPr id="76" name="Straight Connector 47">
              <a:extLst>
                <a:ext uri="{FF2B5EF4-FFF2-40B4-BE49-F238E27FC236}">
                  <a16:creationId xmlns:a16="http://schemas.microsoft.com/office/drawing/2014/main" id="{572A209E-7775-85E1-DF68-B7D670013631}"/>
                </a:ext>
              </a:extLst>
            </p:cNvPr>
            <p:cNvCxnSpPr/>
            <p:nvPr/>
          </p:nvCxnSpPr>
          <p:spPr>
            <a:xfrm>
              <a:off x="7641367" y="3403738"/>
              <a:ext cx="0" cy="573453"/>
            </a:xfrm>
            <a:prstGeom prst="line">
              <a:avLst/>
            </a:prstGeom>
            <a:ln w="2540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矩形 22">
              <a:extLst>
                <a:ext uri="{FF2B5EF4-FFF2-40B4-BE49-F238E27FC236}">
                  <a16:creationId xmlns:a16="http://schemas.microsoft.com/office/drawing/2014/main" id="{57A507AE-B7DE-D7F4-13B9-3FFC6433425D}"/>
                </a:ext>
              </a:extLst>
            </p:cNvPr>
            <p:cNvSpPr/>
            <p:nvPr/>
          </p:nvSpPr>
          <p:spPr>
            <a:xfrm>
              <a:off x="8215384" y="1174250"/>
              <a:ext cx="985502" cy="39878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0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时钟</a:t>
              </a:r>
            </a:p>
          </p:txBody>
        </p:sp>
        <p:cxnSp>
          <p:nvCxnSpPr>
            <p:cNvPr id="78" name="Straight Arrow Connector 35">
              <a:extLst>
                <a:ext uri="{FF2B5EF4-FFF2-40B4-BE49-F238E27FC236}">
                  <a16:creationId xmlns:a16="http://schemas.microsoft.com/office/drawing/2014/main" id="{8609B99C-CD97-29DC-1772-C7FA1FFA14EF}"/>
                </a:ext>
              </a:extLst>
            </p:cNvPr>
            <p:cNvCxnSpPr/>
            <p:nvPr/>
          </p:nvCxnSpPr>
          <p:spPr>
            <a:xfrm flipH="1">
              <a:off x="8298692" y="1578429"/>
              <a:ext cx="700178" cy="0"/>
            </a:xfrm>
            <a:prstGeom prst="straightConnector1">
              <a:avLst/>
            </a:prstGeom>
            <a:ln w="25400" cap="rnd">
              <a:solidFill>
                <a:schemeClr val="tx1"/>
              </a:solidFill>
              <a:headEnd type="none" w="med" len="lg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矩形 22">
              <a:extLst>
                <a:ext uri="{FF2B5EF4-FFF2-40B4-BE49-F238E27FC236}">
                  <a16:creationId xmlns:a16="http://schemas.microsoft.com/office/drawing/2014/main" id="{D7A4314C-72BF-2058-35AE-F3B7912FA140}"/>
                </a:ext>
              </a:extLst>
            </p:cNvPr>
            <p:cNvSpPr/>
            <p:nvPr/>
          </p:nvSpPr>
          <p:spPr>
            <a:xfrm>
              <a:off x="5504504" y="1871801"/>
              <a:ext cx="1326742" cy="95590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0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rPr>
                <a:t>控制信号</a:t>
              </a:r>
              <a:r>
                <a:rPr lang="en-US" altLang="zh-CN" sz="20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rPr>
                <a:t>&amp;</a:t>
              </a:r>
              <a:r>
                <a:rPr lang="zh-CN" altLang="en-US" sz="20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rPr>
                <a:t>数据</a:t>
              </a:r>
            </a:p>
          </p:txBody>
        </p:sp>
        <p:cxnSp>
          <p:nvCxnSpPr>
            <p:cNvPr id="80" name="Straight Connector 106">
              <a:extLst>
                <a:ext uri="{FF2B5EF4-FFF2-40B4-BE49-F238E27FC236}">
                  <a16:creationId xmlns:a16="http://schemas.microsoft.com/office/drawing/2014/main" id="{2F78FA77-6662-5691-63A9-DF6F3D4E026A}"/>
                </a:ext>
              </a:extLst>
            </p:cNvPr>
            <p:cNvCxnSpPr/>
            <p:nvPr/>
          </p:nvCxnSpPr>
          <p:spPr>
            <a:xfrm flipH="1">
              <a:off x="1637637" y="3967887"/>
              <a:ext cx="5999299" cy="0"/>
            </a:xfrm>
            <a:prstGeom prst="line">
              <a:avLst/>
            </a:prstGeom>
            <a:ln w="28575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Rectangle 29" descr="e">
              <a:extLst>
                <a:ext uri="{FF2B5EF4-FFF2-40B4-BE49-F238E27FC236}">
                  <a16:creationId xmlns:a16="http://schemas.microsoft.com/office/drawing/2014/main" id="{135628DA-A3CC-0737-A52D-E91164D6C301}"/>
                </a:ext>
              </a:extLst>
            </p:cNvPr>
            <p:cNvSpPr/>
            <p:nvPr/>
          </p:nvSpPr>
          <p:spPr>
            <a:xfrm>
              <a:off x="4602826" y="3829010"/>
              <a:ext cx="684330" cy="274064"/>
            </a:xfrm>
            <a:prstGeom prst="rect">
              <a:avLst/>
            </a:prstGeom>
            <a:solidFill>
              <a:srgbClr val="C7D9F2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noAutofit/>
            </a:bodyPr>
            <a:lstStyle/>
            <a:p>
              <a:r>
                <a:rPr lang="en-US" altLang="zh-CN" sz="16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MUX</a:t>
              </a:r>
            </a:p>
          </p:txBody>
        </p:sp>
        <p:cxnSp>
          <p:nvCxnSpPr>
            <p:cNvPr id="82" name="Straight Arrow Connector 35">
              <a:extLst>
                <a:ext uri="{FF2B5EF4-FFF2-40B4-BE49-F238E27FC236}">
                  <a16:creationId xmlns:a16="http://schemas.microsoft.com/office/drawing/2014/main" id="{7055D092-2283-A576-9FFB-A841EC31770A}"/>
                </a:ext>
              </a:extLst>
            </p:cNvPr>
            <p:cNvCxnSpPr/>
            <p:nvPr/>
          </p:nvCxnSpPr>
          <p:spPr>
            <a:xfrm>
              <a:off x="4925770" y="3394205"/>
              <a:ext cx="0" cy="434805"/>
            </a:xfrm>
            <a:prstGeom prst="straightConnector1">
              <a:avLst/>
            </a:prstGeom>
            <a:ln w="25400" cap="rnd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78">
              <a:extLst>
                <a:ext uri="{FF2B5EF4-FFF2-40B4-BE49-F238E27FC236}">
                  <a16:creationId xmlns:a16="http://schemas.microsoft.com/office/drawing/2014/main" id="{1EE71E24-F8A9-6C8D-DF7F-BEDB3CC86997}"/>
                </a:ext>
              </a:extLst>
            </p:cNvPr>
            <p:cNvCxnSpPr/>
            <p:nvPr/>
          </p:nvCxnSpPr>
          <p:spPr>
            <a:xfrm>
              <a:off x="1637637" y="3358731"/>
              <a:ext cx="0" cy="608936"/>
            </a:xfrm>
            <a:prstGeom prst="line">
              <a:avLst/>
            </a:prstGeom>
            <a:ln w="25400" cap="rnd">
              <a:solidFill>
                <a:schemeClr val="tx1"/>
              </a:solidFill>
              <a:head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矩形 22">
              <a:extLst>
                <a:ext uri="{FF2B5EF4-FFF2-40B4-BE49-F238E27FC236}">
                  <a16:creationId xmlns:a16="http://schemas.microsoft.com/office/drawing/2014/main" id="{DB4CC220-301D-E5AB-CB4B-DBE2B6CAF78D}"/>
                </a:ext>
              </a:extLst>
            </p:cNvPr>
            <p:cNvSpPr/>
            <p:nvPr/>
          </p:nvSpPr>
          <p:spPr>
            <a:xfrm>
              <a:off x="1596300" y="3611371"/>
              <a:ext cx="2053693" cy="368300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r>
                <a:rPr lang="zh-CN" altLang="en-US" sz="18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下一条指令地址</a:t>
              </a:r>
            </a:p>
          </p:txBody>
        </p:sp>
        <p:sp>
          <p:nvSpPr>
            <p:cNvPr id="85" name="矩形 22">
              <a:extLst>
                <a:ext uri="{FF2B5EF4-FFF2-40B4-BE49-F238E27FC236}">
                  <a16:creationId xmlns:a16="http://schemas.microsoft.com/office/drawing/2014/main" id="{FFCD8A3C-8630-A413-FE2C-432820C9C6EE}"/>
                </a:ext>
              </a:extLst>
            </p:cNvPr>
            <p:cNvSpPr/>
            <p:nvPr/>
          </p:nvSpPr>
          <p:spPr>
            <a:xfrm>
              <a:off x="5172772" y="3611371"/>
              <a:ext cx="2463940" cy="368300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r>
                <a:rPr lang="zh-CN" altLang="en-US" sz="18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可能的下条指令地址</a:t>
              </a:r>
            </a:p>
          </p:txBody>
        </p:sp>
        <p:cxnSp>
          <p:nvCxnSpPr>
            <p:cNvPr id="86" name="Straight Arrow Connector 35">
              <a:extLst>
                <a:ext uri="{FF2B5EF4-FFF2-40B4-BE49-F238E27FC236}">
                  <a16:creationId xmlns:a16="http://schemas.microsoft.com/office/drawing/2014/main" id="{27D99852-0729-69E4-7C9D-EBF8B4AD8286}"/>
                </a:ext>
              </a:extLst>
            </p:cNvPr>
            <p:cNvCxnSpPr>
              <a:cxnSpLocks/>
              <a:stCxn id="88" idx="2"/>
            </p:cNvCxnSpPr>
            <p:nvPr/>
          </p:nvCxnSpPr>
          <p:spPr>
            <a:xfrm flipH="1">
              <a:off x="7641367" y="2553246"/>
              <a:ext cx="4643" cy="386048"/>
            </a:xfrm>
            <a:prstGeom prst="straightConnector1">
              <a:avLst/>
            </a:prstGeom>
            <a:ln w="25400" cap="rnd">
              <a:solidFill>
                <a:srgbClr val="0432FF"/>
              </a:solidFill>
              <a:headEnd type="triangle" w="med" len="lg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Arrow Connector 34">
              <a:extLst>
                <a:ext uri="{FF2B5EF4-FFF2-40B4-BE49-F238E27FC236}">
                  <a16:creationId xmlns:a16="http://schemas.microsoft.com/office/drawing/2014/main" id="{823AF4CC-6A53-230C-7A46-99B8C2FF0B77}"/>
                </a:ext>
              </a:extLst>
            </p:cNvPr>
            <p:cNvCxnSpPr/>
            <p:nvPr/>
          </p:nvCxnSpPr>
          <p:spPr>
            <a:xfrm flipH="1">
              <a:off x="7639045" y="1781150"/>
              <a:ext cx="4643" cy="386048"/>
            </a:xfrm>
            <a:prstGeom prst="straightConnector1">
              <a:avLst/>
            </a:prstGeom>
            <a:ln w="25400" cap="rnd">
              <a:solidFill>
                <a:schemeClr val="tx1"/>
              </a:solidFill>
              <a:headEnd type="triangle" w="med" len="lg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Rectangle 41">
              <a:extLst>
                <a:ext uri="{FF2B5EF4-FFF2-40B4-BE49-F238E27FC236}">
                  <a16:creationId xmlns:a16="http://schemas.microsoft.com/office/drawing/2014/main" id="{0D1631CD-BA0D-67F1-74B2-447701A0F8FC}"/>
                </a:ext>
              </a:extLst>
            </p:cNvPr>
            <p:cNvSpPr/>
            <p:nvPr/>
          </p:nvSpPr>
          <p:spPr>
            <a:xfrm>
              <a:off x="6988686" y="2173069"/>
              <a:ext cx="1314647" cy="380177"/>
            </a:xfrm>
            <a:prstGeom prst="rect">
              <a:avLst/>
            </a:prstGeom>
            <a:solidFill>
              <a:srgbClr val="8064A2">
                <a:lumMod val="40000"/>
                <a:lumOff val="60000"/>
              </a:srgbClr>
            </a:solidFill>
            <a:ln w="254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wrap="square" rtlCol="0" anchor="ctr">
              <a:no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800" kern="0" dirty="0">
                  <a:solidFill>
                    <a:srgbClr val="0432FF"/>
                  </a:solidFill>
                  <a:latin typeface="+mn-ea"/>
                  <a:ea typeface="+mn-ea"/>
                  <a:cs typeface="Arial" panose="020B0604020202020204" pitchFamily="34" charset="0"/>
                </a:rPr>
                <a:t>寄存器</a:t>
              </a:r>
            </a:p>
          </p:txBody>
        </p:sp>
        <p:sp>
          <p:nvSpPr>
            <p:cNvPr id="89" name="Freeform 32">
              <a:extLst>
                <a:ext uri="{FF2B5EF4-FFF2-40B4-BE49-F238E27FC236}">
                  <a16:creationId xmlns:a16="http://schemas.microsoft.com/office/drawing/2014/main" id="{7304991E-12DD-0A3B-A4F5-953560368C99}"/>
                </a:ext>
              </a:extLst>
            </p:cNvPr>
            <p:cNvSpPr/>
            <p:nvPr/>
          </p:nvSpPr>
          <p:spPr>
            <a:xfrm>
              <a:off x="6741590" y="1422677"/>
              <a:ext cx="242451" cy="1724378"/>
            </a:xfrm>
            <a:custGeom>
              <a:avLst/>
              <a:gdLst>
                <a:gd name="connsiteX0" fmla="*/ 852054 w 857250"/>
                <a:gd name="connsiteY0" fmla="*/ 0 h 789709"/>
                <a:gd name="connsiteX1" fmla="*/ 701386 w 857250"/>
                <a:gd name="connsiteY1" fmla="*/ 5196 h 789709"/>
                <a:gd name="connsiteX2" fmla="*/ 0 w 857250"/>
                <a:gd name="connsiteY2" fmla="*/ 5196 h 789709"/>
                <a:gd name="connsiteX3" fmla="*/ 0 w 857250"/>
                <a:gd name="connsiteY3" fmla="*/ 789709 h 789709"/>
                <a:gd name="connsiteX4" fmla="*/ 857250 w 857250"/>
                <a:gd name="connsiteY4" fmla="*/ 789709 h 7897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250" h="789709">
                  <a:moveTo>
                    <a:pt x="852054" y="0"/>
                  </a:moveTo>
                  <a:lnTo>
                    <a:pt x="701386" y="5196"/>
                  </a:lnTo>
                  <a:lnTo>
                    <a:pt x="0" y="5196"/>
                  </a:lnTo>
                  <a:lnTo>
                    <a:pt x="0" y="789709"/>
                  </a:lnTo>
                  <a:lnTo>
                    <a:pt x="857250" y="789709"/>
                  </a:lnTo>
                </a:path>
              </a:pathLst>
            </a:custGeom>
            <a:noFill/>
            <a:ln>
              <a:headEnd type="triangl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4600"/>
            </a:p>
          </p:txBody>
        </p:sp>
        <p:sp>
          <p:nvSpPr>
            <p:cNvPr id="90" name="Freeform 2">
              <a:extLst>
                <a:ext uri="{FF2B5EF4-FFF2-40B4-BE49-F238E27FC236}">
                  <a16:creationId xmlns:a16="http://schemas.microsoft.com/office/drawing/2014/main" id="{BF200814-5FEF-511E-95B3-5B0C541EE551}"/>
                </a:ext>
              </a:extLst>
            </p:cNvPr>
            <p:cNvSpPr/>
            <p:nvPr/>
          </p:nvSpPr>
          <p:spPr>
            <a:xfrm>
              <a:off x="8315661" y="1559859"/>
              <a:ext cx="430306" cy="806823"/>
            </a:xfrm>
            <a:custGeom>
              <a:avLst/>
              <a:gdLst>
                <a:gd name="connsiteX0" fmla="*/ 430306 w 430306"/>
                <a:gd name="connsiteY0" fmla="*/ 0 h 806823"/>
                <a:gd name="connsiteX1" fmla="*/ 430306 w 430306"/>
                <a:gd name="connsiteY1" fmla="*/ 806823 h 806823"/>
                <a:gd name="connsiteX2" fmla="*/ 0 w 430306"/>
                <a:gd name="connsiteY2" fmla="*/ 806823 h 806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0306" h="806823">
                  <a:moveTo>
                    <a:pt x="430306" y="0"/>
                  </a:moveTo>
                  <a:lnTo>
                    <a:pt x="430306" y="806823"/>
                  </a:lnTo>
                  <a:lnTo>
                    <a:pt x="0" y="806823"/>
                  </a:lnTo>
                </a:path>
              </a:pathLst>
            </a:custGeom>
            <a:noFill/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4600"/>
            </a:p>
          </p:txBody>
        </p:sp>
        <p:sp>
          <p:nvSpPr>
            <p:cNvPr id="91" name="Rectangle 29" descr="e">
              <a:extLst>
                <a:ext uri="{FF2B5EF4-FFF2-40B4-BE49-F238E27FC236}">
                  <a16:creationId xmlns:a16="http://schemas.microsoft.com/office/drawing/2014/main" id="{E1391AD3-53E3-E0BC-E4C2-C9196E029CAD}"/>
                </a:ext>
              </a:extLst>
            </p:cNvPr>
            <p:cNvSpPr/>
            <p:nvPr/>
          </p:nvSpPr>
          <p:spPr>
            <a:xfrm>
              <a:off x="2634930" y="1070496"/>
              <a:ext cx="267523" cy="2301372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noAutofit/>
            </a:bodyPr>
            <a:lstStyle/>
            <a:p>
              <a:r>
                <a:rPr lang="zh-CN" altLang="en-US" sz="16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接口</a:t>
              </a:r>
            </a:p>
          </p:txBody>
        </p:sp>
        <p:sp>
          <p:nvSpPr>
            <p:cNvPr id="92" name="矩形 10">
              <a:extLst>
                <a:ext uri="{FF2B5EF4-FFF2-40B4-BE49-F238E27FC236}">
                  <a16:creationId xmlns:a16="http://schemas.microsoft.com/office/drawing/2014/main" id="{913FC183-C5D9-A45B-CC89-58F26FE9320B}"/>
                </a:ext>
              </a:extLst>
            </p:cNvPr>
            <p:cNvSpPr/>
            <p:nvPr/>
          </p:nvSpPr>
          <p:spPr>
            <a:xfrm>
              <a:off x="3946544" y="2501591"/>
              <a:ext cx="1691025" cy="5835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1600" b="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rPr>
                <a:t>指令解码</a:t>
              </a:r>
              <a:endParaRPr lang="en-US" altLang="zh-CN" sz="1600" b="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endParaRPr>
            </a:p>
            <a:p>
              <a:r>
                <a:rPr lang="en-US" altLang="zh-CN" sz="1600" b="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rPr>
                <a:t>&amp; </a:t>
              </a:r>
              <a:r>
                <a:rPr lang="zh-CN" altLang="en-US" sz="1600" b="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rPr>
                <a:t>控制信号生成</a:t>
              </a:r>
            </a:p>
          </p:txBody>
        </p:sp>
        <p:sp>
          <p:nvSpPr>
            <p:cNvPr id="93" name="Rectangle 29" descr="e">
              <a:extLst>
                <a:ext uri="{FF2B5EF4-FFF2-40B4-BE49-F238E27FC236}">
                  <a16:creationId xmlns:a16="http://schemas.microsoft.com/office/drawing/2014/main" id="{3D698CA3-4A7B-E3AE-76B6-5317A7FD5648}"/>
                </a:ext>
              </a:extLst>
            </p:cNvPr>
            <p:cNvSpPr/>
            <p:nvPr/>
          </p:nvSpPr>
          <p:spPr>
            <a:xfrm>
              <a:off x="780939" y="1070497"/>
              <a:ext cx="1853991" cy="1962818"/>
            </a:xfrm>
            <a:prstGeom prst="rect">
              <a:avLst/>
            </a:prstGeom>
            <a:solidFill>
              <a:srgbClr val="8064A2">
                <a:lumMod val="40000"/>
                <a:lumOff val="60000"/>
              </a:srgbClr>
            </a:solidFill>
            <a:ln w="254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wrap="square" rtlCol="0" anchor="t">
              <a:no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28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指令存储</a:t>
              </a:r>
            </a:p>
          </p:txBody>
        </p:sp>
        <p:sp>
          <p:nvSpPr>
            <p:cNvPr id="94" name="Rectangle 29" descr="e">
              <a:extLst>
                <a:ext uri="{FF2B5EF4-FFF2-40B4-BE49-F238E27FC236}">
                  <a16:creationId xmlns:a16="http://schemas.microsoft.com/office/drawing/2014/main" id="{960BE143-F857-3EC9-4C2B-98065921B663}"/>
                </a:ext>
              </a:extLst>
            </p:cNvPr>
            <p:cNvSpPr/>
            <p:nvPr/>
          </p:nvSpPr>
          <p:spPr>
            <a:xfrm>
              <a:off x="3952600" y="1076772"/>
              <a:ext cx="1691024" cy="2317433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t">
              <a:noAutofit/>
            </a:bodyPr>
            <a:lstStyle/>
            <a:p>
              <a:endPara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endParaRPr>
            </a:p>
            <a:p>
              <a:r>
                <a:rPr lang="zh-CN" altLang="en-US" sz="28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控制模块</a:t>
              </a:r>
            </a:p>
          </p:txBody>
        </p:sp>
        <p:sp>
          <p:nvSpPr>
            <p:cNvPr id="95" name="矩形 10">
              <a:extLst>
                <a:ext uri="{FF2B5EF4-FFF2-40B4-BE49-F238E27FC236}">
                  <a16:creationId xmlns:a16="http://schemas.microsoft.com/office/drawing/2014/main" id="{8FE2AC3B-DEA1-7D98-2933-492199C75FCB}"/>
                </a:ext>
              </a:extLst>
            </p:cNvPr>
            <p:cNvSpPr/>
            <p:nvPr/>
          </p:nvSpPr>
          <p:spPr>
            <a:xfrm>
              <a:off x="782680" y="2343484"/>
              <a:ext cx="1842445" cy="5835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1600" b="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所有指令按地址顺序存储</a:t>
              </a:r>
            </a:p>
          </p:txBody>
        </p:sp>
      </p:grpSp>
      <p:pic>
        <p:nvPicPr>
          <p:cNvPr id="103" name="Picture 10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0274" y="1284784"/>
            <a:ext cx="4088822" cy="2203421"/>
          </a:xfrm>
          <a:prstGeom prst="rect">
            <a:avLst/>
          </a:prstGeom>
        </p:spPr>
      </p:pic>
      <p:sp>
        <p:nvSpPr>
          <p:cNvPr id="105" name="Rectangle 104"/>
          <p:cNvSpPr/>
          <p:nvPr/>
        </p:nvSpPr>
        <p:spPr>
          <a:xfrm>
            <a:off x="7163130" y="1359238"/>
            <a:ext cx="473581" cy="27406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PC</a:t>
            </a:r>
          </a:p>
        </p:txBody>
      </p:sp>
      <p:sp>
        <p:nvSpPr>
          <p:cNvPr id="9" name="Content Placeholder 11"/>
          <p:cNvSpPr txBox="1"/>
          <p:nvPr/>
        </p:nvSpPr>
        <p:spPr>
          <a:xfrm>
            <a:off x="252804" y="1330350"/>
            <a:ext cx="4635850" cy="23797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06400" indent="-406400" algn="l" defTabSz="685800" rtl="0" eaLnBrk="1" latinLnBrk="0" hangingPunct="1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685800" indent="-342900" algn="l" defTabSz="685800" rtl="0" eaLnBrk="1" latinLnBrk="0" hangingPunct="1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ü"/>
              <a:defRPr sz="21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857250" indent="-171450" algn="l" defTabSz="6858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200150" indent="-171450" algn="l" defTabSz="6858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1543050" indent="-171450" algn="l" defTabSz="6858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»"/>
              <a:defRPr sz="15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l" defTabSz="685800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算术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/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逻辑计算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指令</a:t>
            </a:r>
          </a:p>
          <a:p>
            <a:pPr marR="0" lvl="1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系统字体常规体"/>
              <a:buChar char="–"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REG</a:t>
            </a:r>
            <a:r>
              <a:rPr kumimoji="0" lang="en-US" altLang="zh-CN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/Constant</a:t>
            </a: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到</a:t>
            </a:r>
            <a:r>
              <a:rPr kumimoji="0" lang="en-US" altLang="zh-CN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REG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marR="0" lvl="1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系统字体常规体"/>
              <a:buChar char="–"/>
            </a:pPr>
            <a:r>
              <a:rPr kumimoji="0" lang="en-US" altLang="zh-CN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ALU</a:t>
            </a:r>
            <a:r>
              <a:rPr kumimoji="0" lang="zh-CN" alt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不直接访问</a:t>
            </a: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数据存储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06F1E8D-31D7-4AEC-720B-D53F4F986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t>22</a:t>
            </a:fld>
            <a:endParaRPr lang="en-US" altLang="zh-CN"/>
          </a:p>
        </p:txBody>
      </p:sp>
      <p:sp>
        <p:nvSpPr>
          <p:cNvPr id="3" name="Rectangle 36">
            <a:extLst>
              <a:ext uri="{FF2B5EF4-FFF2-40B4-BE49-F238E27FC236}">
                <a16:creationId xmlns:a16="http://schemas.microsoft.com/office/drawing/2014/main" id="{C7CE40AB-C644-F3C9-026A-D6D877E99F5E}"/>
              </a:ext>
            </a:extLst>
          </p:cNvPr>
          <p:cNvSpPr/>
          <p:nvPr/>
        </p:nvSpPr>
        <p:spPr>
          <a:xfrm>
            <a:off x="8444753" y="1359238"/>
            <a:ext cx="526447" cy="27406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ctr">
            <a:noAutofit/>
          </a:bodyPr>
          <a:lstStyle/>
          <a:p>
            <a:r>
              <a:rPr lang="en-US" sz="1400" dirty="0">
                <a:solidFill>
                  <a:srgbClr val="0432FF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REG</a:t>
            </a: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854399BD-4C69-EA2D-7197-10AA1DBE4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032" y="136525"/>
            <a:ext cx="8407937" cy="1143000"/>
          </a:xfrm>
        </p:spPr>
        <p:txBody>
          <a:bodyPr>
            <a:noAutofit/>
          </a:bodyPr>
          <a:lstStyle/>
          <a:p>
            <a:r>
              <a:rPr lang="zh-CN" altLang="en-US" sz="36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如何支持通用算法：</a:t>
            </a:r>
            <a:r>
              <a:rPr lang="en-US" altLang="zh-CN" sz="36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CPU</a:t>
            </a:r>
            <a:r>
              <a:rPr lang="zh-CN" altLang="en-US" sz="36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有寄存器</a:t>
            </a:r>
            <a:r>
              <a:rPr lang="en-US" altLang="zh-CN" sz="36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REG</a:t>
            </a:r>
            <a:r>
              <a:rPr lang="zh-CN" altLang="en-US" sz="36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？</a:t>
            </a:r>
            <a:endParaRPr lang="zh-CN" altLang="en-US" sz="3600" dirty="0">
              <a:solidFill>
                <a:schemeClr val="tx1"/>
              </a:solidFill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22B6012E-E3B8-4815-A9AC-6C224CBCDE7D}"/>
                  </a:ext>
                </a:extLst>
              </p14:cNvPr>
              <p14:cNvContentPartPr/>
              <p14:nvPr/>
            </p14:nvContentPartPr>
            <p14:xfrm>
              <a:off x="1868040" y="4683600"/>
              <a:ext cx="6360480" cy="2023560"/>
            </p14:xfrm>
          </p:contentPart>
        </mc:Choice>
        <mc:Fallback xmlns=""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22B6012E-E3B8-4815-A9AC-6C224CBCDE7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58680" y="4674240"/>
                <a:ext cx="6379200" cy="20422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组合 65">
            <a:extLst>
              <a:ext uri="{FF2B5EF4-FFF2-40B4-BE49-F238E27FC236}">
                <a16:creationId xmlns:a16="http://schemas.microsoft.com/office/drawing/2014/main" id="{07C6D173-7174-EFA1-5D07-D86B9732D765}"/>
              </a:ext>
            </a:extLst>
          </p:cNvPr>
          <p:cNvGrpSpPr/>
          <p:nvPr/>
        </p:nvGrpSpPr>
        <p:grpSpPr>
          <a:xfrm>
            <a:off x="-52240" y="3535102"/>
            <a:ext cx="9341080" cy="3249973"/>
            <a:chOff x="-140194" y="963446"/>
            <a:chExt cx="9341080" cy="3249973"/>
          </a:xfrm>
        </p:grpSpPr>
        <p:sp>
          <p:nvSpPr>
            <p:cNvPr id="67" name="Rectangle 53">
              <a:extLst>
                <a:ext uri="{FF2B5EF4-FFF2-40B4-BE49-F238E27FC236}">
                  <a16:creationId xmlns:a16="http://schemas.microsoft.com/office/drawing/2014/main" id="{0DAC5959-47CD-76A7-174E-3B05F9848B5F}"/>
                </a:ext>
              </a:extLst>
            </p:cNvPr>
            <p:cNvSpPr/>
            <p:nvPr/>
          </p:nvSpPr>
          <p:spPr>
            <a:xfrm>
              <a:off x="780939" y="3033315"/>
              <a:ext cx="1852450" cy="337185"/>
            </a:xfrm>
            <a:prstGeom prst="rect">
              <a:avLst/>
            </a:prstGeom>
            <a:solidFill>
              <a:srgbClr val="8064A2">
                <a:lumMod val="40000"/>
                <a:lumOff val="60000"/>
              </a:srgbClr>
            </a:solidFill>
            <a:ln w="25400">
              <a:solidFill>
                <a:srgbClr val="000000"/>
              </a:solidFill>
            </a:ln>
          </p:spPr>
          <p:txBody>
            <a:bodyPr wrap="squar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kern="0" dirty="0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PC</a:t>
              </a:r>
            </a:p>
          </p:txBody>
        </p:sp>
        <p:sp>
          <p:nvSpPr>
            <p:cNvPr id="68" name="Freeform 31">
              <a:extLst>
                <a:ext uri="{FF2B5EF4-FFF2-40B4-BE49-F238E27FC236}">
                  <a16:creationId xmlns:a16="http://schemas.microsoft.com/office/drawing/2014/main" id="{B9896C0F-F5DC-1D7C-66CD-480C684AFD30}"/>
                </a:ext>
              </a:extLst>
            </p:cNvPr>
            <p:cNvSpPr/>
            <p:nvPr/>
          </p:nvSpPr>
          <p:spPr>
            <a:xfrm>
              <a:off x="3781322" y="963446"/>
              <a:ext cx="4713852" cy="3249973"/>
            </a:xfrm>
            <a:custGeom>
              <a:avLst/>
              <a:gdLst>
                <a:gd name="connsiteX0" fmla="*/ 0 w 5056094"/>
                <a:gd name="connsiteY0" fmla="*/ 32273 h 3195021"/>
                <a:gd name="connsiteX1" fmla="*/ 0 w 5056094"/>
                <a:gd name="connsiteY1" fmla="*/ 3195021 h 3195021"/>
                <a:gd name="connsiteX2" fmla="*/ 5056094 w 5056094"/>
                <a:gd name="connsiteY2" fmla="*/ 3195021 h 3195021"/>
                <a:gd name="connsiteX3" fmla="*/ 5056094 w 5056094"/>
                <a:gd name="connsiteY3" fmla="*/ 903642 h 3195021"/>
                <a:gd name="connsiteX4" fmla="*/ 3313355 w 5056094"/>
                <a:gd name="connsiteY4" fmla="*/ 903642 h 3195021"/>
                <a:gd name="connsiteX5" fmla="*/ 3313355 w 5056094"/>
                <a:gd name="connsiteY5" fmla="*/ 0 h 3195021"/>
                <a:gd name="connsiteX6" fmla="*/ 0 w 5056094"/>
                <a:gd name="connsiteY6" fmla="*/ 32273 h 3195021"/>
                <a:gd name="connsiteX0-1" fmla="*/ 0 w 5056094"/>
                <a:gd name="connsiteY0-2" fmla="*/ 32273 h 3195021"/>
                <a:gd name="connsiteX1-3" fmla="*/ 0 w 5056094"/>
                <a:gd name="connsiteY1-4" fmla="*/ 3195021 h 3195021"/>
                <a:gd name="connsiteX2-5" fmla="*/ 5056094 w 5056094"/>
                <a:gd name="connsiteY2-6" fmla="*/ 3195021 h 3195021"/>
                <a:gd name="connsiteX3-7" fmla="*/ 5056094 w 5056094"/>
                <a:gd name="connsiteY3-8" fmla="*/ 903642 h 3195021"/>
                <a:gd name="connsiteX4-9" fmla="*/ 2702513 w 5056094"/>
                <a:gd name="connsiteY4-10" fmla="*/ 914906 h 3195021"/>
                <a:gd name="connsiteX5-11" fmla="*/ 3313355 w 5056094"/>
                <a:gd name="connsiteY5-12" fmla="*/ 0 h 3195021"/>
                <a:gd name="connsiteX6-13" fmla="*/ 0 w 5056094"/>
                <a:gd name="connsiteY6-14" fmla="*/ 32273 h 3195021"/>
                <a:gd name="connsiteX0-15" fmla="*/ 0 w 5056094"/>
                <a:gd name="connsiteY0-16" fmla="*/ 9745 h 3172493"/>
                <a:gd name="connsiteX1-17" fmla="*/ 0 w 5056094"/>
                <a:gd name="connsiteY1-18" fmla="*/ 3172493 h 3172493"/>
                <a:gd name="connsiteX2-19" fmla="*/ 5056094 w 5056094"/>
                <a:gd name="connsiteY2-20" fmla="*/ 3172493 h 3172493"/>
                <a:gd name="connsiteX3-21" fmla="*/ 5056094 w 5056094"/>
                <a:gd name="connsiteY3-22" fmla="*/ 881114 h 3172493"/>
                <a:gd name="connsiteX4-23" fmla="*/ 2702513 w 5056094"/>
                <a:gd name="connsiteY4-24" fmla="*/ 892378 h 3172493"/>
                <a:gd name="connsiteX5-25" fmla="*/ 2690297 w 5056094"/>
                <a:gd name="connsiteY5-26" fmla="*/ 0 h 3172493"/>
                <a:gd name="connsiteX6-27" fmla="*/ 0 w 5056094"/>
                <a:gd name="connsiteY6-28" fmla="*/ 9745 h 3172493"/>
                <a:gd name="connsiteX0-29" fmla="*/ 0 w 5056094"/>
                <a:gd name="connsiteY0-30" fmla="*/ 9745 h 3172493"/>
                <a:gd name="connsiteX1-31" fmla="*/ 0 w 5056094"/>
                <a:gd name="connsiteY1-32" fmla="*/ 3172493 h 3172493"/>
                <a:gd name="connsiteX2-33" fmla="*/ 5056094 w 5056094"/>
                <a:gd name="connsiteY2-34" fmla="*/ 3172493 h 3172493"/>
                <a:gd name="connsiteX3-35" fmla="*/ 5056094 w 5056094"/>
                <a:gd name="connsiteY3-36" fmla="*/ 881114 h 3172493"/>
                <a:gd name="connsiteX4-37" fmla="*/ 2682546 w 5056094"/>
                <a:gd name="connsiteY4-38" fmla="*/ 892378 h 3172493"/>
                <a:gd name="connsiteX5-39" fmla="*/ 2690297 w 5056094"/>
                <a:gd name="connsiteY5-40" fmla="*/ 0 h 3172493"/>
                <a:gd name="connsiteX6-41" fmla="*/ 0 w 5056094"/>
                <a:gd name="connsiteY6-42" fmla="*/ 9745 h 3172493"/>
                <a:gd name="connsiteX0-43" fmla="*/ 0 w 5056094"/>
                <a:gd name="connsiteY0-44" fmla="*/ 0 h 3162748"/>
                <a:gd name="connsiteX1-45" fmla="*/ 0 w 5056094"/>
                <a:gd name="connsiteY1-46" fmla="*/ 3162748 h 3162748"/>
                <a:gd name="connsiteX2-47" fmla="*/ 5056094 w 5056094"/>
                <a:gd name="connsiteY2-48" fmla="*/ 3162748 h 3162748"/>
                <a:gd name="connsiteX3-49" fmla="*/ 5056094 w 5056094"/>
                <a:gd name="connsiteY3-50" fmla="*/ 871369 h 3162748"/>
                <a:gd name="connsiteX4-51" fmla="*/ 2682546 w 5056094"/>
                <a:gd name="connsiteY4-52" fmla="*/ 882633 h 3162748"/>
                <a:gd name="connsiteX5-53" fmla="*/ 2683641 w 5056094"/>
                <a:gd name="connsiteY5-54" fmla="*/ 2529 h 3162748"/>
                <a:gd name="connsiteX6-55" fmla="*/ 0 w 5056094"/>
                <a:gd name="connsiteY6-56" fmla="*/ 0 h 316274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</a:cxnLst>
              <a:rect l="l" t="t" r="r" b="b"/>
              <a:pathLst>
                <a:path w="5056094" h="3162748">
                  <a:moveTo>
                    <a:pt x="0" y="0"/>
                  </a:moveTo>
                  <a:lnTo>
                    <a:pt x="0" y="3162748"/>
                  </a:lnTo>
                  <a:lnTo>
                    <a:pt x="5056094" y="3162748"/>
                  </a:lnTo>
                  <a:lnTo>
                    <a:pt x="5056094" y="871369"/>
                  </a:lnTo>
                  <a:lnTo>
                    <a:pt x="2682546" y="882633"/>
                  </a:lnTo>
                  <a:cubicBezTo>
                    <a:pt x="2685130" y="585174"/>
                    <a:pt x="2681057" y="299988"/>
                    <a:pt x="2683641" y="252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1F497D">
                <a:lumMod val="20000"/>
                <a:lumOff val="80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wrap="square" rtlCol="0" anchor="ctr">
              <a:noAutofit/>
            </a:bodyPr>
            <a:lstStyle/>
            <a:p>
              <a:pPr algn="l" fontAlgn="auto">
                <a:spcBef>
                  <a:spcPts val="0"/>
                </a:spcBef>
                <a:spcAft>
                  <a:spcPts val="0"/>
                </a:spcAft>
              </a:pPr>
              <a:endParaRPr lang="en-US" sz="1800" b="0" kern="0" dirty="0">
                <a:solidFill>
                  <a:srgbClr val="000000"/>
                </a:solidFill>
                <a:latin typeface="Arial" panose="020B0604020202020204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cxnSp>
          <p:nvCxnSpPr>
            <p:cNvPr id="69" name="Straight Arrow Connector 35">
              <a:extLst>
                <a:ext uri="{FF2B5EF4-FFF2-40B4-BE49-F238E27FC236}">
                  <a16:creationId xmlns:a16="http://schemas.microsoft.com/office/drawing/2014/main" id="{940D6260-3345-199D-6644-B03CBF526E68}"/>
                </a:ext>
              </a:extLst>
            </p:cNvPr>
            <p:cNvCxnSpPr/>
            <p:nvPr/>
          </p:nvCxnSpPr>
          <p:spPr>
            <a:xfrm>
              <a:off x="42221" y="3229464"/>
              <a:ext cx="728984" cy="0"/>
            </a:xfrm>
            <a:prstGeom prst="straightConnector1">
              <a:avLst/>
            </a:prstGeom>
            <a:ln w="25400" cap="rnd">
              <a:solidFill>
                <a:schemeClr val="tx1"/>
              </a:solidFill>
              <a:headEnd type="none" w="med" len="lg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Rectangle 29" descr="e">
              <a:extLst>
                <a:ext uri="{FF2B5EF4-FFF2-40B4-BE49-F238E27FC236}">
                  <a16:creationId xmlns:a16="http://schemas.microsoft.com/office/drawing/2014/main" id="{88DE4031-1C1A-C0C1-33C9-4E9E17269507}"/>
                </a:ext>
              </a:extLst>
            </p:cNvPr>
            <p:cNvSpPr/>
            <p:nvPr/>
          </p:nvSpPr>
          <p:spPr>
            <a:xfrm>
              <a:off x="6984041" y="1076773"/>
              <a:ext cx="1314651" cy="678976"/>
            </a:xfrm>
            <a:prstGeom prst="rect">
              <a:avLst/>
            </a:prstGeom>
            <a:solidFill>
              <a:srgbClr val="8064A2">
                <a:lumMod val="40000"/>
                <a:lumOff val="60000"/>
              </a:srgbClr>
            </a:solidFill>
            <a:ln w="254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wrap="square" rtlCol="0" anchor="ctr">
              <a:no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2000" kern="0" dirty="0">
                  <a:solidFill>
                    <a:srgbClr val="000000"/>
                  </a:solidFill>
                  <a:latin typeface="+mn-ea"/>
                  <a:ea typeface="+mn-ea"/>
                  <a:cs typeface="Arial" panose="020B0604020202020204" pitchFamily="34" charset="0"/>
                </a:rPr>
                <a:t>数据存储</a:t>
              </a:r>
            </a:p>
          </p:txBody>
        </p:sp>
        <p:sp>
          <p:nvSpPr>
            <p:cNvPr id="71" name="Rectangle 29" descr="e">
              <a:extLst>
                <a:ext uri="{FF2B5EF4-FFF2-40B4-BE49-F238E27FC236}">
                  <a16:creationId xmlns:a16="http://schemas.microsoft.com/office/drawing/2014/main" id="{F110A429-E30E-4BCE-9074-1D2CD8309B0C}"/>
                </a:ext>
              </a:extLst>
            </p:cNvPr>
            <p:cNvSpPr/>
            <p:nvPr/>
          </p:nvSpPr>
          <p:spPr>
            <a:xfrm>
              <a:off x="6984041" y="2939296"/>
              <a:ext cx="1314651" cy="45491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noAutofit/>
            </a:bodyPr>
            <a:lstStyle/>
            <a:p>
              <a:r>
                <a:rPr lang="en-US" altLang="zh-CN" sz="20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ALU</a:t>
              </a:r>
            </a:p>
          </p:txBody>
        </p:sp>
        <p:sp>
          <p:nvSpPr>
            <p:cNvPr id="72" name="矩形 22">
              <a:extLst>
                <a:ext uri="{FF2B5EF4-FFF2-40B4-BE49-F238E27FC236}">
                  <a16:creationId xmlns:a16="http://schemas.microsoft.com/office/drawing/2014/main" id="{7D8E02E6-2D56-8400-FFFE-C7E1E9F1F1E2}"/>
                </a:ext>
              </a:extLst>
            </p:cNvPr>
            <p:cNvSpPr/>
            <p:nvPr/>
          </p:nvSpPr>
          <p:spPr>
            <a:xfrm>
              <a:off x="2832293" y="1811460"/>
              <a:ext cx="1034668" cy="39878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0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指令</a:t>
              </a:r>
            </a:p>
          </p:txBody>
        </p:sp>
        <p:cxnSp>
          <p:nvCxnSpPr>
            <p:cNvPr id="73" name="Straight Arrow Connector 35">
              <a:extLst>
                <a:ext uri="{FF2B5EF4-FFF2-40B4-BE49-F238E27FC236}">
                  <a16:creationId xmlns:a16="http://schemas.microsoft.com/office/drawing/2014/main" id="{9E70AAF7-562C-B958-84DC-98D330760DD7}"/>
                </a:ext>
              </a:extLst>
            </p:cNvPr>
            <p:cNvCxnSpPr/>
            <p:nvPr/>
          </p:nvCxnSpPr>
          <p:spPr>
            <a:xfrm>
              <a:off x="5649680" y="2375145"/>
              <a:ext cx="1328970" cy="0"/>
            </a:xfrm>
            <a:prstGeom prst="straightConnector1">
              <a:avLst/>
            </a:prstGeom>
            <a:ln w="25400" cap="rnd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Arrow Connector 35">
              <a:extLst>
                <a:ext uri="{FF2B5EF4-FFF2-40B4-BE49-F238E27FC236}">
                  <a16:creationId xmlns:a16="http://schemas.microsoft.com/office/drawing/2014/main" id="{87C7856E-0624-FC9F-042E-19F1D4F85E64}"/>
                </a:ext>
              </a:extLst>
            </p:cNvPr>
            <p:cNvCxnSpPr/>
            <p:nvPr/>
          </p:nvCxnSpPr>
          <p:spPr>
            <a:xfrm>
              <a:off x="2902453" y="2235488"/>
              <a:ext cx="1044092" cy="0"/>
            </a:xfrm>
            <a:prstGeom prst="straightConnector1">
              <a:avLst/>
            </a:prstGeom>
            <a:ln w="25400" cap="rnd">
              <a:solidFill>
                <a:schemeClr val="tx1"/>
              </a:solidFill>
              <a:headEnd type="none" w="med" len="lg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矩形 22">
              <a:extLst>
                <a:ext uri="{FF2B5EF4-FFF2-40B4-BE49-F238E27FC236}">
                  <a16:creationId xmlns:a16="http://schemas.microsoft.com/office/drawing/2014/main" id="{E15E5FF9-472B-23B2-09F1-C8A98A1C78DF}"/>
                </a:ext>
              </a:extLst>
            </p:cNvPr>
            <p:cNvSpPr/>
            <p:nvPr/>
          </p:nvSpPr>
          <p:spPr>
            <a:xfrm>
              <a:off x="-140194" y="2855965"/>
              <a:ext cx="985502" cy="39878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0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时钟</a:t>
              </a:r>
            </a:p>
          </p:txBody>
        </p:sp>
        <p:cxnSp>
          <p:nvCxnSpPr>
            <p:cNvPr id="76" name="Straight Connector 47">
              <a:extLst>
                <a:ext uri="{FF2B5EF4-FFF2-40B4-BE49-F238E27FC236}">
                  <a16:creationId xmlns:a16="http://schemas.microsoft.com/office/drawing/2014/main" id="{74102D3D-717F-B64F-9C36-38B6AEE1CFE0}"/>
                </a:ext>
              </a:extLst>
            </p:cNvPr>
            <p:cNvCxnSpPr/>
            <p:nvPr/>
          </p:nvCxnSpPr>
          <p:spPr>
            <a:xfrm>
              <a:off x="7641367" y="3403738"/>
              <a:ext cx="0" cy="573453"/>
            </a:xfrm>
            <a:prstGeom prst="line">
              <a:avLst/>
            </a:prstGeom>
            <a:ln w="2540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矩形 22">
              <a:extLst>
                <a:ext uri="{FF2B5EF4-FFF2-40B4-BE49-F238E27FC236}">
                  <a16:creationId xmlns:a16="http://schemas.microsoft.com/office/drawing/2014/main" id="{DEC54A6A-2AEA-DD71-4AE3-3FE61198D7DB}"/>
                </a:ext>
              </a:extLst>
            </p:cNvPr>
            <p:cNvSpPr/>
            <p:nvPr/>
          </p:nvSpPr>
          <p:spPr>
            <a:xfrm>
              <a:off x="8215384" y="1174250"/>
              <a:ext cx="985502" cy="39878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0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时钟</a:t>
              </a:r>
            </a:p>
          </p:txBody>
        </p:sp>
        <p:cxnSp>
          <p:nvCxnSpPr>
            <p:cNvPr id="78" name="Straight Arrow Connector 35">
              <a:extLst>
                <a:ext uri="{FF2B5EF4-FFF2-40B4-BE49-F238E27FC236}">
                  <a16:creationId xmlns:a16="http://schemas.microsoft.com/office/drawing/2014/main" id="{AA089945-160B-0ECD-E96D-D0A79A8594AC}"/>
                </a:ext>
              </a:extLst>
            </p:cNvPr>
            <p:cNvCxnSpPr/>
            <p:nvPr/>
          </p:nvCxnSpPr>
          <p:spPr>
            <a:xfrm flipH="1">
              <a:off x="8298692" y="1578429"/>
              <a:ext cx="700178" cy="0"/>
            </a:xfrm>
            <a:prstGeom prst="straightConnector1">
              <a:avLst/>
            </a:prstGeom>
            <a:ln w="25400" cap="rnd">
              <a:solidFill>
                <a:schemeClr val="tx1"/>
              </a:solidFill>
              <a:headEnd type="none" w="med" len="lg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矩形 22">
              <a:extLst>
                <a:ext uri="{FF2B5EF4-FFF2-40B4-BE49-F238E27FC236}">
                  <a16:creationId xmlns:a16="http://schemas.microsoft.com/office/drawing/2014/main" id="{71298E7B-EDE8-6E98-EB0D-01B85FD63C4C}"/>
                </a:ext>
              </a:extLst>
            </p:cNvPr>
            <p:cNvSpPr/>
            <p:nvPr/>
          </p:nvSpPr>
          <p:spPr>
            <a:xfrm>
              <a:off x="5504504" y="1871801"/>
              <a:ext cx="1328970" cy="95590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0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rPr>
                <a:t>控制信号</a:t>
              </a:r>
              <a:r>
                <a:rPr lang="en-US" altLang="zh-CN" sz="20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rPr>
                <a:t>&amp;</a:t>
              </a:r>
              <a:r>
                <a:rPr lang="zh-CN" altLang="en-US" sz="20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rPr>
                <a:t>数据</a:t>
              </a:r>
            </a:p>
          </p:txBody>
        </p:sp>
        <p:cxnSp>
          <p:nvCxnSpPr>
            <p:cNvPr id="80" name="Straight Connector 106">
              <a:extLst>
                <a:ext uri="{FF2B5EF4-FFF2-40B4-BE49-F238E27FC236}">
                  <a16:creationId xmlns:a16="http://schemas.microsoft.com/office/drawing/2014/main" id="{1C7513F5-6389-FE00-598D-46F79E24B251}"/>
                </a:ext>
              </a:extLst>
            </p:cNvPr>
            <p:cNvCxnSpPr/>
            <p:nvPr/>
          </p:nvCxnSpPr>
          <p:spPr>
            <a:xfrm flipH="1">
              <a:off x="1637637" y="3967887"/>
              <a:ext cx="5999299" cy="0"/>
            </a:xfrm>
            <a:prstGeom prst="line">
              <a:avLst/>
            </a:prstGeom>
            <a:ln w="28575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Rectangle 29" descr="e">
              <a:extLst>
                <a:ext uri="{FF2B5EF4-FFF2-40B4-BE49-F238E27FC236}">
                  <a16:creationId xmlns:a16="http://schemas.microsoft.com/office/drawing/2014/main" id="{200E1447-4A5B-50EF-5B8B-1D9F31E85440}"/>
                </a:ext>
              </a:extLst>
            </p:cNvPr>
            <p:cNvSpPr/>
            <p:nvPr/>
          </p:nvSpPr>
          <p:spPr>
            <a:xfrm>
              <a:off x="4602826" y="3829010"/>
              <a:ext cx="684330" cy="274064"/>
            </a:xfrm>
            <a:prstGeom prst="rect">
              <a:avLst/>
            </a:prstGeom>
            <a:solidFill>
              <a:srgbClr val="C7D9F2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noAutofit/>
            </a:bodyPr>
            <a:lstStyle/>
            <a:p>
              <a:r>
                <a:rPr lang="en-US" altLang="zh-CN" sz="16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MUX</a:t>
              </a:r>
            </a:p>
          </p:txBody>
        </p:sp>
        <p:cxnSp>
          <p:nvCxnSpPr>
            <p:cNvPr id="82" name="Straight Arrow Connector 35">
              <a:extLst>
                <a:ext uri="{FF2B5EF4-FFF2-40B4-BE49-F238E27FC236}">
                  <a16:creationId xmlns:a16="http://schemas.microsoft.com/office/drawing/2014/main" id="{C897455F-1864-9969-4EF9-06C86D674AD4}"/>
                </a:ext>
              </a:extLst>
            </p:cNvPr>
            <p:cNvCxnSpPr/>
            <p:nvPr/>
          </p:nvCxnSpPr>
          <p:spPr>
            <a:xfrm>
              <a:off x="4925770" y="3394205"/>
              <a:ext cx="0" cy="434805"/>
            </a:xfrm>
            <a:prstGeom prst="straightConnector1">
              <a:avLst/>
            </a:prstGeom>
            <a:ln w="25400" cap="rnd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78">
              <a:extLst>
                <a:ext uri="{FF2B5EF4-FFF2-40B4-BE49-F238E27FC236}">
                  <a16:creationId xmlns:a16="http://schemas.microsoft.com/office/drawing/2014/main" id="{6FAF9EFE-46BB-87D0-3607-2E3EFBC18C04}"/>
                </a:ext>
              </a:extLst>
            </p:cNvPr>
            <p:cNvCxnSpPr/>
            <p:nvPr/>
          </p:nvCxnSpPr>
          <p:spPr>
            <a:xfrm>
              <a:off x="1637637" y="3358731"/>
              <a:ext cx="0" cy="608936"/>
            </a:xfrm>
            <a:prstGeom prst="line">
              <a:avLst/>
            </a:prstGeom>
            <a:ln w="25400" cap="rnd">
              <a:solidFill>
                <a:schemeClr val="tx1"/>
              </a:solidFill>
              <a:head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矩形 22">
              <a:extLst>
                <a:ext uri="{FF2B5EF4-FFF2-40B4-BE49-F238E27FC236}">
                  <a16:creationId xmlns:a16="http://schemas.microsoft.com/office/drawing/2014/main" id="{15CEA983-FA9E-D74A-847F-007BCCC0A2C0}"/>
                </a:ext>
              </a:extLst>
            </p:cNvPr>
            <p:cNvSpPr/>
            <p:nvPr/>
          </p:nvSpPr>
          <p:spPr>
            <a:xfrm>
              <a:off x="1596300" y="3611371"/>
              <a:ext cx="2053693" cy="368300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r>
                <a:rPr lang="zh-CN" altLang="en-US" sz="18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下一条指令地址</a:t>
              </a:r>
            </a:p>
          </p:txBody>
        </p:sp>
        <p:sp>
          <p:nvSpPr>
            <p:cNvPr id="85" name="矩形 22">
              <a:extLst>
                <a:ext uri="{FF2B5EF4-FFF2-40B4-BE49-F238E27FC236}">
                  <a16:creationId xmlns:a16="http://schemas.microsoft.com/office/drawing/2014/main" id="{0FDF41BC-9657-98C5-86B6-0DBC1AD7A5D5}"/>
                </a:ext>
              </a:extLst>
            </p:cNvPr>
            <p:cNvSpPr/>
            <p:nvPr/>
          </p:nvSpPr>
          <p:spPr>
            <a:xfrm>
              <a:off x="5172772" y="3611371"/>
              <a:ext cx="2463940" cy="368300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r>
                <a:rPr lang="zh-CN" altLang="en-US" sz="18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可能的下条指令地址</a:t>
              </a:r>
            </a:p>
          </p:txBody>
        </p:sp>
        <p:cxnSp>
          <p:nvCxnSpPr>
            <p:cNvPr id="86" name="Straight Arrow Connector 35">
              <a:extLst>
                <a:ext uri="{FF2B5EF4-FFF2-40B4-BE49-F238E27FC236}">
                  <a16:creationId xmlns:a16="http://schemas.microsoft.com/office/drawing/2014/main" id="{102DA3B4-8575-0577-F3D6-B70330A99F8D}"/>
                </a:ext>
              </a:extLst>
            </p:cNvPr>
            <p:cNvCxnSpPr>
              <a:cxnSpLocks/>
              <a:stCxn id="88" idx="2"/>
            </p:cNvCxnSpPr>
            <p:nvPr/>
          </p:nvCxnSpPr>
          <p:spPr>
            <a:xfrm flipH="1">
              <a:off x="7641367" y="2553246"/>
              <a:ext cx="4643" cy="386048"/>
            </a:xfrm>
            <a:prstGeom prst="straightConnector1">
              <a:avLst/>
            </a:prstGeom>
            <a:ln w="25400" cap="rnd">
              <a:solidFill>
                <a:schemeClr val="tx1"/>
              </a:solidFill>
              <a:headEnd type="triangle" w="med" len="lg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Arrow Connector 34">
              <a:extLst>
                <a:ext uri="{FF2B5EF4-FFF2-40B4-BE49-F238E27FC236}">
                  <a16:creationId xmlns:a16="http://schemas.microsoft.com/office/drawing/2014/main" id="{9E9FC99E-2376-1BEB-B280-5136612BA268}"/>
                </a:ext>
              </a:extLst>
            </p:cNvPr>
            <p:cNvCxnSpPr/>
            <p:nvPr/>
          </p:nvCxnSpPr>
          <p:spPr>
            <a:xfrm flipH="1">
              <a:off x="7639045" y="1781150"/>
              <a:ext cx="4643" cy="386048"/>
            </a:xfrm>
            <a:prstGeom prst="straightConnector1">
              <a:avLst/>
            </a:prstGeom>
            <a:ln w="25400" cap="rnd">
              <a:solidFill>
                <a:schemeClr val="tx1"/>
              </a:solidFill>
              <a:headEnd type="triangle" w="med" len="lg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Rectangle 41">
              <a:extLst>
                <a:ext uri="{FF2B5EF4-FFF2-40B4-BE49-F238E27FC236}">
                  <a16:creationId xmlns:a16="http://schemas.microsoft.com/office/drawing/2014/main" id="{3806D57A-04AC-5B43-63DF-3450A34492E7}"/>
                </a:ext>
              </a:extLst>
            </p:cNvPr>
            <p:cNvSpPr/>
            <p:nvPr/>
          </p:nvSpPr>
          <p:spPr>
            <a:xfrm>
              <a:off x="6988686" y="2173069"/>
              <a:ext cx="1314647" cy="380177"/>
            </a:xfrm>
            <a:prstGeom prst="rect">
              <a:avLst/>
            </a:prstGeom>
            <a:solidFill>
              <a:srgbClr val="8064A2">
                <a:lumMod val="40000"/>
                <a:lumOff val="60000"/>
              </a:srgbClr>
            </a:solidFill>
            <a:ln w="254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wrap="square" rtlCol="0" anchor="ctr">
              <a:no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800" kern="0" dirty="0">
                  <a:solidFill>
                    <a:srgbClr val="0432FF"/>
                  </a:solidFill>
                  <a:latin typeface="+mn-ea"/>
                  <a:ea typeface="+mn-ea"/>
                  <a:cs typeface="Arial" panose="020B0604020202020204" pitchFamily="34" charset="0"/>
                </a:rPr>
                <a:t>寄存器</a:t>
              </a:r>
            </a:p>
          </p:txBody>
        </p:sp>
        <p:sp>
          <p:nvSpPr>
            <p:cNvPr id="89" name="Freeform 32">
              <a:extLst>
                <a:ext uri="{FF2B5EF4-FFF2-40B4-BE49-F238E27FC236}">
                  <a16:creationId xmlns:a16="http://schemas.microsoft.com/office/drawing/2014/main" id="{D153990B-9252-58E6-11DE-A8AE1B89AE03}"/>
                </a:ext>
              </a:extLst>
            </p:cNvPr>
            <p:cNvSpPr/>
            <p:nvPr/>
          </p:nvSpPr>
          <p:spPr>
            <a:xfrm>
              <a:off x="6741590" y="1422677"/>
              <a:ext cx="242451" cy="1724378"/>
            </a:xfrm>
            <a:custGeom>
              <a:avLst/>
              <a:gdLst>
                <a:gd name="connsiteX0" fmla="*/ 852054 w 857250"/>
                <a:gd name="connsiteY0" fmla="*/ 0 h 789709"/>
                <a:gd name="connsiteX1" fmla="*/ 701386 w 857250"/>
                <a:gd name="connsiteY1" fmla="*/ 5196 h 789709"/>
                <a:gd name="connsiteX2" fmla="*/ 0 w 857250"/>
                <a:gd name="connsiteY2" fmla="*/ 5196 h 789709"/>
                <a:gd name="connsiteX3" fmla="*/ 0 w 857250"/>
                <a:gd name="connsiteY3" fmla="*/ 789709 h 789709"/>
                <a:gd name="connsiteX4" fmla="*/ 857250 w 857250"/>
                <a:gd name="connsiteY4" fmla="*/ 789709 h 7897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250" h="789709">
                  <a:moveTo>
                    <a:pt x="852054" y="0"/>
                  </a:moveTo>
                  <a:lnTo>
                    <a:pt x="701386" y="5196"/>
                  </a:lnTo>
                  <a:lnTo>
                    <a:pt x="0" y="5196"/>
                  </a:lnTo>
                  <a:lnTo>
                    <a:pt x="0" y="789709"/>
                  </a:lnTo>
                  <a:lnTo>
                    <a:pt x="857250" y="789709"/>
                  </a:lnTo>
                </a:path>
              </a:pathLst>
            </a:custGeom>
            <a:noFill/>
            <a:ln>
              <a:headEnd type="triangl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4600"/>
            </a:p>
          </p:txBody>
        </p:sp>
        <p:sp>
          <p:nvSpPr>
            <p:cNvPr id="90" name="Freeform 2">
              <a:extLst>
                <a:ext uri="{FF2B5EF4-FFF2-40B4-BE49-F238E27FC236}">
                  <a16:creationId xmlns:a16="http://schemas.microsoft.com/office/drawing/2014/main" id="{3D483C81-F534-2609-8EC9-6FFFC0F2A10C}"/>
                </a:ext>
              </a:extLst>
            </p:cNvPr>
            <p:cNvSpPr/>
            <p:nvPr/>
          </p:nvSpPr>
          <p:spPr>
            <a:xfrm>
              <a:off x="8315661" y="1559859"/>
              <a:ext cx="430306" cy="806823"/>
            </a:xfrm>
            <a:custGeom>
              <a:avLst/>
              <a:gdLst>
                <a:gd name="connsiteX0" fmla="*/ 430306 w 430306"/>
                <a:gd name="connsiteY0" fmla="*/ 0 h 806823"/>
                <a:gd name="connsiteX1" fmla="*/ 430306 w 430306"/>
                <a:gd name="connsiteY1" fmla="*/ 806823 h 806823"/>
                <a:gd name="connsiteX2" fmla="*/ 0 w 430306"/>
                <a:gd name="connsiteY2" fmla="*/ 806823 h 806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0306" h="806823">
                  <a:moveTo>
                    <a:pt x="430306" y="0"/>
                  </a:moveTo>
                  <a:lnTo>
                    <a:pt x="430306" y="806823"/>
                  </a:lnTo>
                  <a:lnTo>
                    <a:pt x="0" y="806823"/>
                  </a:lnTo>
                </a:path>
              </a:pathLst>
            </a:custGeom>
            <a:noFill/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4600"/>
            </a:p>
          </p:txBody>
        </p:sp>
        <p:sp>
          <p:nvSpPr>
            <p:cNvPr id="91" name="Rectangle 29" descr="e">
              <a:extLst>
                <a:ext uri="{FF2B5EF4-FFF2-40B4-BE49-F238E27FC236}">
                  <a16:creationId xmlns:a16="http://schemas.microsoft.com/office/drawing/2014/main" id="{980B767F-6C00-D208-4C17-7EF4D8935901}"/>
                </a:ext>
              </a:extLst>
            </p:cNvPr>
            <p:cNvSpPr/>
            <p:nvPr/>
          </p:nvSpPr>
          <p:spPr>
            <a:xfrm>
              <a:off x="2634930" y="1070496"/>
              <a:ext cx="267523" cy="2301372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noAutofit/>
            </a:bodyPr>
            <a:lstStyle/>
            <a:p>
              <a:r>
                <a:rPr lang="zh-CN" altLang="en-US" sz="16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接口</a:t>
              </a:r>
            </a:p>
          </p:txBody>
        </p:sp>
        <p:sp>
          <p:nvSpPr>
            <p:cNvPr id="92" name="矩形 10">
              <a:extLst>
                <a:ext uri="{FF2B5EF4-FFF2-40B4-BE49-F238E27FC236}">
                  <a16:creationId xmlns:a16="http://schemas.microsoft.com/office/drawing/2014/main" id="{47F3967D-803E-DB5D-6A52-8637103A82D3}"/>
                </a:ext>
              </a:extLst>
            </p:cNvPr>
            <p:cNvSpPr/>
            <p:nvPr/>
          </p:nvSpPr>
          <p:spPr>
            <a:xfrm>
              <a:off x="3946544" y="2501591"/>
              <a:ext cx="1691025" cy="5835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1600" b="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rPr>
                <a:t>指令解码</a:t>
              </a:r>
              <a:endParaRPr lang="en-US" altLang="zh-CN" sz="1600" b="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endParaRPr>
            </a:p>
            <a:p>
              <a:r>
                <a:rPr lang="en-US" altLang="zh-CN" sz="1600" b="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rPr>
                <a:t>&amp; </a:t>
              </a:r>
              <a:r>
                <a:rPr lang="zh-CN" altLang="en-US" sz="1600" b="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rPr>
                <a:t>控制信号生成</a:t>
              </a:r>
            </a:p>
          </p:txBody>
        </p:sp>
        <p:sp>
          <p:nvSpPr>
            <p:cNvPr id="93" name="Rectangle 29" descr="e">
              <a:extLst>
                <a:ext uri="{FF2B5EF4-FFF2-40B4-BE49-F238E27FC236}">
                  <a16:creationId xmlns:a16="http://schemas.microsoft.com/office/drawing/2014/main" id="{16677946-1266-5821-EDE4-A23E0E23338D}"/>
                </a:ext>
              </a:extLst>
            </p:cNvPr>
            <p:cNvSpPr/>
            <p:nvPr/>
          </p:nvSpPr>
          <p:spPr>
            <a:xfrm>
              <a:off x="780939" y="1070497"/>
              <a:ext cx="1853991" cy="1962818"/>
            </a:xfrm>
            <a:prstGeom prst="rect">
              <a:avLst/>
            </a:prstGeom>
            <a:solidFill>
              <a:srgbClr val="8064A2">
                <a:lumMod val="40000"/>
                <a:lumOff val="60000"/>
              </a:srgbClr>
            </a:solidFill>
            <a:ln w="254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wrap="square" rtlCol="0" anchor="t">
              <a:no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28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指令存储</a:t>
              </a:r>
            </a:p>
          </p:txBody>
        </p:sp>
        <p:sp>
          <p:nvSpPr>
            <p:cNvPr id="94" name="Rectangle 29" descr="e">
              <a:extLst>
                <a:ext uri="{FF2B5EF4-FFF2-40B4-BE49-F238E27FC236}">
                  <a16:creationId xmlns:a16="http://schemas.microsoft.com/office/drawing/2014/main" id="{F816473B-404D-046C-9670-E945D3671B58}"/>
                </a:ext>
              </a:extLst>
            </p:cNvPr>
            <p:cNvSpPr/>
            <p:nvPr/>
          </p:nvSpPr>
          <p:spPr>
            <a:xfrm>
              <a:off x="3952600" y="1076772"/>
              <a:ext cx="1691024" cy="2317433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t">
              <a:noAutofit/>
            </a:bodyPr>
            <a:lstStyle/>
            <a:p>
              <a:endPara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endParaRPr>
            </a:p>
            <a:p>
              <a:r>
                <a:rPr lang="zh-CN" altLang="en-US" sz="28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控制模块</a:t>
              </a:r>
            </a:p>
          </p:txBody>
        </p:sp>
        <p:sp>
          <p:nvSpPr>
            <p:cNvPr id="95" name="矩形 10">
              <a:extLst>
                <a:ext uri="{FF2B5EF4-FFF2-40B4-BE49-F238E27FC236}">
                  <a16:creationId xmlns:a16="http://schemas.microsoft.com/office/drawing/2014/main" id="{B9D98625-03E4-6361-D051-E1665AC6ED39}"/>
                </a:ext>
              </a:extLst>
            </p:cNvPr>
            <p:cNvSpPr/>
            <p:nvPr/>
          </p:nvSpPr>
          <p:spPr>
            <a:xfrm>
              <a:off x="782680" y="2343484"/>
              <a:ext cx="1842445" cy="5835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1600" b="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所有指令按地址顺序存储</a:t>
              </a:r>
            </a:p>
          </p:txBody>
        </p:sp>
      </p:grpSp>
      <p:pic>
        <p:nvPicPr>
          <p:cNvPr id="103" name="Picture 10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0274" y="1284784"/>
            <a:ext cx="4088822" cy="2203421"/>
          </a:xfrm>
          <a:prstGeom prst="rect">
            <a:avLst/>
          </a:prstGeom>
        </p:spPr>
      </p:pic>
      <p:sp>
        <p:nvSpPr>
          <p:cNvPr id="48" name="标题 1"/>
          <p:cNvSpPr>
            <a:spLocks noGrp="1"/>
          </p:cNvSpPr>
          <p:nvPr>
            <p:ph type="title"/>
          </p:nvPr>
        </p:nvSpPr>
        <p:spPr>
          <a:xfrm>
            <a:off x="368032" y="136525"/>
            <a:ext cx="8407937" cy="1143000"/>
          </a:xfrm>
        </p:spPr>
        <p:txBody>
          <a:bodyPr>
            <a:noAutofit/>
          </a:bodyPr>
          <a:lstStyle/>
          <a:p>
            <a:r>
              <a:rPr lang="zh-CN" altLang="en-US" sz="36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如何支持通用算法：</a:t>
            </a:r>
            <a:r>
              <a:rPr lang="en-US" altLang="zh-CN" sz="36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CPU</a:t>
            </a:r>
            <a:r>
              <a:rPr lang="zh-CN" altLang="en-US" sz="36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有寄存器</a:t>
            </a:r>
            <a:r>
              <a:rPr lang="en-US" altLang="zh-CN" sz="36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REG</a:t>
            </a:r>
            <a:r>
              <a:rPr lang="zh-CN" altLang="en-US" sz="36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？</a:t>
            </a:r>
            <a:endParaRPr lang="zh-CN" altLang="en-US" sz="3600" dirty="0">
              <a:solidFill>
                <a:schemeClr val="tx1"/>
              </a:solidFill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105" name="Rectangle 104"/>
          <p:cNvSpPr/>
          <p:nvPr/>
        </p:nvSpPr>
        <p:spPr>
          <a:xfrm>
            <a:off x="7163130" y="1359238"/>
            <a:ext cx="473581" cy="27406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PC</a:t>
            </a:r>
          </a:p>
        </p:txBody>
      </p:sp>
      <p:sp>
        <p:nvSpPr>
          <p:cNvPr id="36" name="文本框 35"/>
          <p:cNvSpPr txBox="1"/>
          <p:nvPr/>
        </p:nvSpPr>
        <p:spPr>
          <a:xfrm>
            <a:off x="278863" y="1300793"/>
            <a:ext cx="4666128" cy="1272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6400" marR="0" lvl="0" indent="-406400" algn="l" defTabSz="685800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分支/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跳转指令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marL="685800" lvl="1" indent="-342900" algn="l" defTabSz="68580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系统字体常规体"/>
              <a:buChar char="–"/>
            </a:pP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直接跳转</a:t>
            </a:r>
            <a:r>
              <a:rPr kumimoji="0" lang="en-US" altLang="zh-CN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(jump)</a:t>
            </a:r>
          </a:p>
          <a:p>
            <a:pPr marL="685800" marR="0" lvl="1" indent="-34290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系统字体常规体"/>
              <a:buChar char="–"/>
            </a:pP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比较后分支</a:t>
            </a:r>
            <a:r>
              <a:rPr kumimoji="0" lang="en-US" altLang="zh-CN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(branch)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2C97EC4-EB4E-FF29-247E-9EC93D212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t>23</a:t>
            </a:fld>
            <a:endParaRPr lang="en-US" altLang="zh-CN"/>
          </a:p>
        </p:txBody>
      </p:sp>
      <p:sp>
        <p:nvSpPr>
          <p:cNvPr id="3" name="Rectangle 36">
            <a:extLst>
              <a:ext uri="{FF2B5EF4-FFF2-40B4-BE49-F238E27FC236}">
                <a16:creationId xmlns:a16="http://schemas.microsoft.com/office/drawing/2014/main" id="{76B7F7FD-84BB-7EAF-F9A0-5C768BC66409}"/>
              </a:ext>
            </a:extLst>
          </p:cNvPr>
          <p:cNvSpPr/>
          <p:nvPr/>
        </p:nvSpPr>
        <p:spPr>
          <a:xfrm>
            <a:off x="8444753" y="1359238"/>
            <a:ext cx="526447" cy="27406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ctr">
            <a:noAutofit/>
          </a:bodyPr>
          <a:lstStyle/>
          <a:p>
            <a:r>
              <a:rPr lang="en-US" sz="1400" dirty="0">
                <a:solidFill>
                  <a:srgbClr val="0432FF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REG</a:t>
            </a:r>
          </a:p>
        </p:txBody>
      </p:sp>
      <p:sp>
        <p:nvSpPr>
          <p:cNvPr id="5" name="任意形状 4">
            <a:extLst>
              <a:ext uri="{FF2B5EF4-FFF2-40B4-BE49-F238E27FC236}">
                <a16:creationId xmlns:a16="http://schemas.microsoft.com/office/drawing/2014/main" id="{FD7B3040-A211-0407-ED94-6C8020F86EB7}"/>
              </a:ext>
            </a:extLst>
          </p:cNvPr>
          <p:cNvSpPr/>
          <p:nvPr/>
        </p:nvSpPr>
        <p:spPr>
          <a:xfrm>
            <a:off x="2303813" y="4919567"/>
            <a:ext cx="2208810" cy="870391"/>
          </a:xfrm>
          <a:custGeom>
            <a:avLst/>
            <a:gdLst>
              <a:gd name="connsiteX0" fmla="*/ 0 w 2208810"/>
              <a:gd name="connsiteY0" fmla="*/ 863716 h 870391"/>
              <a:gd name="connsiteX1" fmla="*/ 475013 w 2208810"/>
              <a:gd name="connsiteY1" fmla="*/ 780589 h 870391"/>
              <a:gd name="connsiteX2" fmla="*/ 617517 w 2208810"/>
              <a:gd name="connsiteY2" fmla="*/ 234324 h 870391"/>
              <a:gd name="connsiteX3" fmla="*/ 1389413 w 2208810"/>
              <a:gd name="connsiteY3" fmla="*/ 20568 h 870391"/>
              <a:gd name="connsiteX4" fmla="*/ 2208810 w 2208810"/>
              <a:gd name="connsiteY4" fmla="*/ 20568 h 8703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08810" h="870391">
                <a:moveTo>
                  <a:pt x="0" y="863716"/>
                </a:moveTo>
                <a:cubicBezTo>
                  <a:pt x="186047" y="874602"/>
                  <a:pt x="372094" y="885488"/>
                  <a:pt x="475013" y="780589"/>
                </a:cubicBezTo>
                <a:cubicBezTo>
                  <a:pt x="577932" y="675690"/>
                  <a:pt x="465117" y="360994"/>
                  <a:pt x="617517" y="234324"/>
                </a:cubicBezTo>
                <a:cubicBezTo>
                  <a:pt x="769917" y="107654"/>
                  <a:pt x="1124198" y="56194"/>
                  <a:pt x="1389413" y="20568"/>
                </a:cubicBezTo>
                <a:cubicBezTo>
                  <a:pt x="1654628" y="-15058"/>
                  <a:pt x="1931719" y="2755"/>
                  <a:pt x="2208810" y="20568"/>
                </a:cubicBezTo>
              </a:path>
            </a:pathLst>
          </a:custGeom>
          <a:noFill/>
          <a:ln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任意形状 5">
            <a:extLst>
              <a:ext uri="{FF2B5EF4-FFF2-40B4-BE49-F238E27FC236}">
                <a16:creationId xmlns:a16="http://schemas.microsoft.com/office/drawing/2014/main" id="{892A690B-E8A3-7E06-92DF-D7D60C798801}"/>
              </a:ext>
            </a:extLst>
          </p:cNvPr>
          <p:cNvSpPr/>
          <p:nvPr/>
        </p:nvSpPr>
        <p:spPr>
          <a:xfrm>
            <a:off x="1863685" y="5462649"/>
            <a:ext cx="3105024" cy="874351"/>
          </a:xfrm>
          <a:custGeom>
            <a:avLst/>
            <a:gdLst>
              <a:gd name="connsiteX0" fmla="*/ 3100201 w 3105024"/>
              <a:gd name="connsiteY0" fmla="*/ 0 h 874351"/>
              <a:gd name="connsiteX1" fmla="*/ 2684564 w 3105024"/>
              <a:gd name="connsiteY1" fmla="*/ 724395 h 874351"/>
              <a:gd name="connsiteX2" fmla="*/ 440128 w 3105024"/>
              <a:gd name="connsiteY2" fmla="*/ 866899 h 874351"/>
              <a:gd name="connsiteX3" fmla="*/ 741 w 3105024"/>
              <a:gd name="connsiteY3" fmla="*/ 593767 h 874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05024" h="874351">
                <a:moveTo>
                  <a:pt x="3100201" y="0"/>
                </a:moveTo>
                <a:cubicBezTo>
                  <a:pt x="3114055" y="289956"/>
                  <a:pt x="3127909" y="579912"/>
                  <a:pt x="2684564" y="724395"/>
                </a:cubicBezTo>
                <a:cubicBezTo>
                  <a:pt x="2241219" y="868878"/>
                  <a:pt x="887432" y="888670"/>
                  <a:pt x="440128" y="866899"/>
                </a:cubicBezTo>
                <a:cubicBezTo>
                  <a:pt x="-7176" y="845128"/>
                  <a:pt x="-3218" y="719447"/>
                  <a:pt x="741" y="593767"/>
                </a:cubicBezTo>
              </a:path>
            </a:pathLst>
          </a:custGeom>
          <a:noFill/>
          <a:ln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734790B-51B3-7635-D2BD-6EDCA0ACED70}"/>
              </a:ext>
            </a:extLst>
          </p:cNvPr>
          <p:cNvSpPr txBox="1"/>
          <p:nvPr/>
        </p:nvSpPr>
        <p:spPr>
          <a:xfrm>
            <a:off x="3310437" y="5537561"/>
            <a:ext cx="16598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sz="3600" dirty="0"/>
              <a:t>jump</a:t>
            </a:r>
            <a:endParaRPr lang="zh-CN" altLang="en-US" sz="3600" dirty="0"/>
          </a:p>
        </p:txBody>
      </p:sp>
      <p:sp>
        <p:nvSpPr>
          <p:cNvPr id="8" name="任意形状 7">
            <a:extLst>
              <a:ext uri="{FF2B5EF4-FFF2-40B4-BE49-F238E27FC236}">
                <a16:creationId xmlns:a16="http://schemas.microsoft.com/office/drawing/2014/main" id="{E0BB4938-E46F-F64D-28B7-E32FCB071971}"/>
              </a:ext>
            </a:extLst>
          </p:cNvPr>
          <p:cNvSpPr/>
          <p:nvPr/>
        </p:nvSpPr>
        <p:spPr>
          <a:xfrm>
            <a:off x="1784703" y="5065141"/>
            <a:ext cx="5877882" cy="1495400"/>
          </a:xfrm>
          <a:custGeom>
            <a:avLst/>
            <a:gdLst>
              <a:gd name="connsiteX0" fmla="*/ 3491345 w 5877882"/>
              <a:gd name="connsiteY0" fmla="*/ 3610 h 1495400"/>
              <a:gd name="connsiteX1" fmla="*/ 5498275 w 5877882"/>
              <a:gd name="connsiteY1" fmla="*/ 193616 h 1495400"/>
              <a:gd name="connsiteX2" fmla="*/ 5747657 w 5877882"/>
              <a:gd name="connsiteY2" fmla="*/ 1250519 h 1495400"/>
              <a:gd name="connsiteX3" fmla="*/ 4001984 w 5877882"/>
              <a:gd name="connsiteY3" fmla="*/ 1381148 h 1495400"/>
              <a:gd name="connsiteX4" fmla="*/ 1033153 w 5877882"/>
              <a:gd name="connsiteY4" fmla="*/ 1488026 h 1495400"/>
              <a:gd name="connsiteX5" fmla="*/ 0 w 5877882"/>
              <a:gd name="connsiteY5" fmla="*/ 1167392 h 149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877882" h="1495400">
                <a:moveTo>
                  <a:pt x="3491345" y="3610"/>
                </a:moveTo>
                <a:cubicBezTo>
                  <a:pt x="4306784" y="-5296"/>
                  <a:pt x="5122223" y="-14202"/>
                  <a:pt x="5498275" y="193616"/>
                </a:cubicBezTo>
                <a:cubicBezTo>
                  <a:pt x="5874327" y="401434"/>
                  <a:pt x="5997039" y="1052597"/>
                  <a:pt x="5747657" y="1250519"/>
                </a:cubicBezTo>
                <a:cubicBezTo>
                  <a:pt x="5498275" y="1448441"/>
                  <a:pt x="4787735" y="1341563"/>
                  <a:pt x="4001984" y="1381148"/>
                </a:cubicBezTo>
                <a:cubicBezTo>
                  <a:pt x="3216233" y="1420733"/>
                  <a:pt x="1700150" y="1523652"/>
                  <a:pt x="1033153" y="1488026"/>
                </a:cubicBezTo>
                <a:cubicBezTo>
                  <a:pt x="366156" y="1452400"/>
                  <a:pt x="183078" y="1309896"/>
                  <a:pt x="0" y="1167392"/>
                </a:cubicBezTo>
              </a:path>
            </a:pathLst>
          </a:custGeom>
          <a:noFill/>
          <a:ln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D2149A5-2013-1B41-556C-0C9187F2C0C6}"/>
              </a:ext>
            </a:extLst>
          </p:cNvPr>
          <p:cNvSpPr txBox="1"/>
          <p:nvPr/>
        </p:nvSpPr>
        <p:spPr>
          <a:xfrm>
            <a:off x="7098676" y="6160367"/>
            <a:ext cx="16598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sz="3600" dirty="0"/>
              <a:t>branch</a:t>
            </a:r>
            <a:endParaRPr lang="zh-CN" altLang="en-US" sz="3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7622A0-56E4-9D77-9927-BE080B672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组合 65">
            <a:extLst>
              <a:ext uri="{FF2B5EF4-FFF2-40B4-BE49-F238E27FC236}">
                <a16:creationId xmlns:a16="http://schemas.microsoft.com/office/drawing/2014/main" id="{7A15AA41-293C-8586-138F-E405EBAD641B}"/>
              </a:ext>
            </a:extLst>
          </p:cNvPr>
          <p:cNvGrpSpPr/>
          <p:nvPr/>
        </p:nvGrpSpPr>
        <p:grpSpPr>
          <a:xfrm>
            <a:off x="-52240" y="3535102"/>
            <a:ext cx="9332082" cy="3249973"/>
            <a:chOff x="-140194" y="963446"/>
            <a:chExt cx="9332082" cy="3249973"/>
          </a:xfrm>
        </p:grpSpPr>
        <p:sp>
          <p:nvSpPr>
            <p:cNvPr id="67" name="Rectangle 53">
              <a:extLst>
                <a:ext uri="{FF2B5EF4-FFF2-40B4-BE49-F238E27FC236}">
                  <a16:creationId xmlns:a16="http://schemas.microsoft.com/office/drawing/2014/main" id="{5E5D9AB9-8872-760D-FD65-5F27D335CB0A}"/>
                </a:ext>
              </a:extLst>
            </p:cNvPr>
            <p:cNvSpPr/>
            <p:nvPr/>
          </p:nvSpPr>
          <p:spPr>
            <a:xfrm>
              <a:off x="780939" y="3033315"/>
              <a:ext cx="1852450" cy="337185"/>
            </a:xfrm>
            <a:prstGeom prst="rect">
              <a:avLst/>
            </a:prstGeom>
            <a:solidFill>
              <a:srgbClr val="8064A2">
                <a:lumMod val="40000"/>
                <a:lumOff val="60000"/>
              </a:srgbClr>
            </a:solidFill>
            <a:ln w="25400">
              <a:solidFill>
                <a:srgbClr val="000000"/>
              </a:solidFill>
            </a:ln>
          </p:spPr>
          <p:txBody>
            <a:bodyPr wrap="squar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kern="0" dirty="0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PC</a:t>
              </a:r>
            </a:p>
          </p:txBody>
        </p:sp>
        <p:sp>
          <p:nvSpPr>
            <p:cNvPr id="68" name="Freeform 31">
              <a:extLst>
                <a:ext uri="{FF2B5EF4-FFF2-40B4-BE49-F238E27FC236}">
                  <a16:creationId xmlns:a16="http://schemas.microsoft.com/office/drawing/2014/main" id="{EB3AFB11-5548-0F60-A6F8-0D4686B39C7D}"/>
                </a:ext>
              </a:extLst>
            </p:cNvPr>
            <p:cNvSpPr/>
            <p:nvPr/>
          </p:nvSpPr>
          <p:spPr>
            <a:xfrm>
              <a:off x="3781321" y="963446"/>
              <a:ext cx="5086953" cy="3249973"/>
            </a:xfrm>
            <a:custGeom>
              <a:avLst/>
              <a:gdLst>
                <a:gd name="connsiteX0" fmla="*/ 0 w 5056094"/>
                <a:gd name="connsiteY0" fmla="*/ 32273 h 3195021"/>
                <a:gd name="connsiteX1" fmla="*/ 0 w 5056094"/>
                <a:gd name="connsiteY1" fmla="*/ 3195021 h 3195021"/>
                <a:gd name="connsiteX2" fmla="*/ 5056094 w 5056094"/>
                <a:gd name="connsiteY2" fmla="*/ 3195021 h 3195021"/>
                <a:gd name="connsiteX3" fmla="*/ 5056094 w 5056094"/>
                <a:gd name="connsiteY3" fmla="*/ 903642 h 3195021"/>
                <a:gd name="connsiteX4" fmla="*/ 3313355 w 5056094"/>
                <a:gd name="connsiteY4" fmla="*/ 903642 h 3195021"/>
                <a:gd name="connsiteX5" fmla="*/ 3313355 w 5056094"/>
                <a:gd name="connsiteY5" fmla="*/ 0 h 3195021"/>
                <a:gd name="connsiteX6" fmla="*/ 0 w 5056094"/>
                <a:gd name="connsiteY6" fmla="*/ 32273 h 3195021"/>
                <a:gd name="connsiteX0-1" fmla="*/ 0 w 5056094"/>
                <a:gd name="connsiteY0-2" fmla="*/ 32273 h 3195021"/>
                <a:gd name="connsiteX1-3" fmla="*/ 0 w 5056094"/>
                <a:gd name="connsiteY1-4" fmla="*/ 3195021 h 3195021"/>
                <a:gd name="connsiteX2-5" fmla="*/ 5056094 w 5056094"/>
                <a:gd name="connsiteY2-6" fmla="*/ 3195021 h 3195021"/>
                <a:gd name="connsiteX3-7" fmla="*/ 5056094 w 5056094"/>
                <a:gd name="connsiteY3-8" fmla="*/ 903642 h 3195021"/>
                <a:gd name="connsiteX4-9" fmla="*/ 2702513 w 5056094"/>
                <a:gd name="connsiteY4-10" fmla="*/ 914906 h 3195021"/>
                <a:gd name="connsiteX5-11" fmla="*/ 3313355 w 5056094"/>
                <a:gd name="connsiteY5-12" fmla="*/ 0 h 3195021"/>
                <a:gd name="connsiteX6-13" fmla="*/ 0 w 5056094"/>
                <a:gd name="connsiteY6-14" fmla="*/ 32273 h 3195021"/>
                <a:gd name="connsiteX0-15" fmla="*/ 0 w 5056094"/>
                <a:gd name="connsiteY0-16" fmla="*/ 9745 h 3172493"/>
                <a:gd name="connsiteX1-17" fmla="*/ 0 w 5056094"/>
                <a:gd name="connsiteY1-18" fmla="*/ 3172493 h 3172493"/>
                <a:gd name="connsiteX2-19" fmla="*/ 5056094 w 5056094"/>
                <a:gd name="connsiteY2-20" fmla="*/ 3172493 h 3172493"/>
                <a:gd name="connsiteX3-21" fmla="*/ 5056094 w 5056094"/>
                <a:gd name="connsiteY3-22" fmla="*/ 881114 h 3172493"/>
                <a:gd name="connsiteX4-23" fmla="*/ 2702513 w 5056094"/>
                <a:gd name="connsiteY4-24" fmla="*/ 892378 h 3172493"/>
                <a:gd name="connsiteX5-25" fmla="*/ 2690297 w 5056094"/>
                <a:gd name="connsiteY5-26" fmla="*/ 0 h 3172493"/>
                <a:gd name="connsiteX6-27" fmla="*/ 0 w 5056094"/>
                <a:gd name="connsiteY6-28" fmla="*/ 9745 h 3172493"/>
                <a:gd name="connsiteX0-29" fmla="*/ 0 w 5056094"/>
                <a:gd name="connsiteY0-30" fmla="*/ 9745 h 3172493"/>
                <a:gd name="connsiteX1-31" fmla="*/ 0 w 5056094"/>
                <a:gd name="connsiteY1-32" fmla="*/ 3172493 h 3172493"/>
                <a:gd name="connsiteX2-33" fmla="*/ 5056094 w 5056094"/>
                <a:gd name="connsiteY2-34" fmla="*/ 3172493 h 3172493"/>
                <a:gd name="connsiteX3-35" fmla="*/ 5056094 w 5056094"/>
                <a:gd name="connsiteY3-36" fmla="*/ 881114 h 3172493"/>
                <a:gd name="connsiteX4-37" fmla="*/ 2682546 w 5056094"/>
                <a:gd name="connsiteY4-38" fmla="*/ 892378 h 3172493"/>
                <a:gd name="connsiteX5-39" fmla="*/ 2690297 w 5056094"/>
                <a:gd name="connsiteY5-40" fmla="*/ 0 h 3172493"/>
                <a:gd name="connsiteX6-41" fmla="*/ 0 w 5056094"/>
                <a:gd name="connsiteY6-42" fmla="*/ 9745 h 3172493"/>
                <a:gd name="connsiteX0-43" fmla="*/ 0 w 5056094"/>
                <a:gd name="connsiteY0-44" fmla="*/ 0 h 3162748"/>
                <a:gd name="connsiteX1-45" fmla="*/ 0 w 5056094"/>
                <a:gd name="connsiteY1-46" fmla="*/ 3162748 h 3162748"/>
                <a:gd name="connsiteX2-47" fmla="*/ 5056094 w 5056094"/>
                <a:gd name="connsiteY2-48" fmla="*/ 3162748 h 3162748"/>
                <a:gd name="connsiteX3-49" fmla="*/ 5056094 w 5056094"/>
                <a:gd name="connsiteY3-50" fmla="*/ 871369 h 3162748"/>
                <a:gd name="connsiteX4-51" fmla="*/ 2682546 w 5056094"/>
                <a:gd name="connsiteY4-52" fmla="*/ 882633 h 3162748"/>
                <a:gd name="connsiteX5-53" fmla="*/ 2683641 w 5056094"/>
                <a:gd name="connsiteY5-54" fmla="*/ 2529 h 3162748"/>
                <a:gd name="connsiteX6-55" fmla="*/ 0 w 5056094"/>
                <a:gd name="connsiteY6-56" fmla="*/ 0 h 316274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</a:cxnLst>
              <a:rect l="l" t="t" r="r" b="b"/>
              <a:pathLst>
                <a:path w="5056094" h="3162748">
                  <a:moveTo>
                    <a:pt x="0" y="0"/>
                  </a:moveTo>
                  <a:lnTo>
                    <a:pt x="0" y="3162748"/>
                  </a:lnTo>
                  <a:lnTo>
                    <a:pt x="5056094" y="3162748"/>
                  </a:lnTo>
                  <a:lnTo>
                    <a:pt x="5056094" y="871369"/>
                  </a:lnTo>
                  <a:lnTo>
                    <a:pt x="2682546" y="882633"/>
                  </a:lnTo>
                  <a:cubicBezTo>
                    <a:pt x="2685130" y="585174"/>
                    <a:pt x="2681057" y="299988"/>
                    <a:pt x="2683641" y="252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1F497D">
                <a:lumMod val="20000"/>
                <a:lumOff val="80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wrap="square" rtlCol="0" anchor="ctr">
              <a:noAutofit/>
            </a:bodyPr>
            <a:lstStyle/>
            <a:p>
              <a:pPr algn="l" fontAlgn="auto">
                <a:spcBef>
                  <a:spcPts val="0"/>
                </a:spcBef>
                <a:spcAft>
                  <a:spcPts val="0"/>
                </a:spcAft>
              </a:pPr>
              <a:endParaRPr lang="en-US" sz="1800" b="0" kern="0" dirty="0">
                <a:solidFill>
                  <a:srgbClr val="000000"/>
                </a:solidFill>
                <a:latin typeface="Arial" panose="020B0604020202020204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cxnSp>
          <p:nvCxnSpPr>
            <p:cNvPr id="69" name="Straight Arrow Connector 35">
              <a:extLst>
                <a:ext uri="{FF2B5EF4-FFF2-40B4-BE49-F238E27FC236}">
                  <a16:creationId xmlns:a16="http://schemas.microsoft.com/office/drawing/2014/main" id="{00AD9926-0E7E-9752-E203-7FA88CF14AB6}"/>
                </a:ext>
              </a:extLst>
            </p:cNvPr>
            <p:cNvCxnSpPr/>
            <p:nvPr/>
          </p:nvCxnSpPr>
          <p:spPr>
            <a:xfrm>
              <a:off x="42221" y="3229464"/>
              <a:ext cx="728984" cy="0"/>
            </a:xfrm>
            <a:prstGeom prst="straightConnector1">
              <a:avLst/>
            </a:prstGeom>
            <a:ln w="25400" cap="rnd">
              <a:solidFill>
                <a:schemeClr val="tx1"/>
              </a:solidFill>
              <a:headEnd type="none" w="med" len="lg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Rectangle 29" descr="e">
              <a:extLst>
                <a:ext uri="{FF2B5EF4-FFF2-40B4-BE49-F238E27FC236}">
                  <a16:creationId xmlns:a16="http://schemas.microsoft.com/office/drawing/2014/main" id="{455AA7AE-16AF-C2A5-35B9-E6EF43FD4D94}"/>
                </a:ext>
              </a:extLst>
            </p:cNvPr>
            <p:cNvSpPr/>
            <p:nvPr/>
          </p:nvSpPr>
          <p:spPr>
            <a:xfrm>
              <a:off x="6984039" y="1009241"/>
              <a:ext cx="1817553" cy="746508"/>
            </a:xfrm>
            <a:prstGeom prst="rect">
              <a:avLst/>
            </a:prstGeom>
            <a:solidFill>
              <a:srgbClr val="8064A2">
                <a:lumMod val="40000"/>
                <a:lumOff val="60000"/>
              </a:srgbClr>
            </a:solidFill>
            <a:ln w="254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wrap="square" rtlCol="0" anchor="ctr">
              <a:no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sz="2000" kern="0" dirty="0">
                <a:solidFill>
                  <a:srgbClr val="000000"/>
                </a:solidFill>
                <a:latin typeface="+mn-ea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71" name="Rectangle 29" descr="e">
              <a:extLst>
                <a:ext uri="{FF2B5EF4-FFF2-40B4-BE49-F238E27FC236}">
                  <a16:creationId xmlns:a16="http://schemas.microsoft.com/office/drawing/2014/main" id="{BE7C17F7-802F-071B-3ECB-E882C952AA61}"/>
                </a:ext>
              </a:extLst>
            </p:cNvPr>
            <p:cNvSpPr/>
            <p:nvPr/>
          </p:nvSpPr>
          <p:spPr>
            <a:xfrm>
              <a:off x="6984041" y="2939295"/>
              <a:ext cx="1817553" cy="59908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noAutofit/>
            </a:bodyPr>
            <a:lstStyle/>
            <a:p>
              <a:endPara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72" name="矩形 22">
              <a:extLst>
                <a:ext uri="{FF2B5EF4-FFF2-40B4-BE49-F238E27FC236}">
                  <a16:creationId xmlns:a16="http://schemas.microsoft.com/office/drawing/2014/main" id="{450249E3-D3CB-55D3-D856-84DBA8DC4CC3}"/>
                </a:ext>
              </a:extLst>
            </p:cNvPr>
            <p:cNvSpPr/>
            <p:nvPr/>
          </p:nvSpPr>
          <p:spPr>
            <a:xfrm>
              <a:off x="2832293" y="1811460"/>
              <a:ext cx="1034668" cy="39878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0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指令</a:t>
              </a:r>
            </a:p>
          </p:txBody>
        </p:sp>
        <p:cxnSp>
          <p:nvCxnSpPr>
            <p:cNvPr id="73" name="Straight Arrow Connector 35">
              <a:extLst>
                <a:ext uri="{FF2B5EF4-FFF2-40B4-BE49-F238E27FC236}">
                  <a16:creationId xmlns:a16="http://schemas.microsoft.com/office/drawing/2014/main" id="{06AD4CD2-8A95-89A5-652D-462C43451AA7}"/>
                </a:ext>
              </a:extLst>
            </p:cNvPr>
            <p:cNvCxnSpPr/>
            <p:nvPr/>
          </p:nvCxnSpPr>
          <p:spPr>
            <a:xfrm>
              <a:off x="5649680" y="2375145"/>
              <a:ext cx="1328970" cy="0"/>
            </a:xfrm>
            <a:prstGeom prst="straightConnector1">
              <a:avLst/>
            </a:prstGeom>
            <a:ln w="25400" cap="rnd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Arrow Connector 35">
              <a:extLst>
                <a:ext uri="{FF2B5EF4-FFF2-40B4-BE49-F238E27FC236}">
                  <a16:creationId xmlns:a16="http://schemas.microsoft.com/office/drawing/2014/main" id="{EA009A4A-6751-3059-75F0-494738B3CE4F}"/>
                </a:ext>
              </a:extLst>
            </p:cNvPr>
            <p:cNvCxnSpPr/>
            <p:nvPr/>
          </p:nvCxnSpPr>
          <p:spPr>
            <a:xfrm>
              <a:off x="2902453" y="2235488"/>
              <a:ext cx="1044092" cy="0"/>
            </a:xfrm>
            <a:prstGeom prst="straightConnector1">
              <a:avLst/>
            </a:prstGeom>
            <a:ln w="25400" cap="rnd">
              <a:solidFill>
                <a:schemeClr val="tx1"/>
              </a:solidFill>
              <a:headEnd type="none" w="med" len="lg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矩形 22">
              <a:extLst>
                <a:ext uri="{FF2B5EF4-FFF2-40B4-BE49-F238E27FC236}">
                  <a16:creationId xmlns:a16="http://schemas.microsoft.com/office/drawing/2014/main" id="{B3217753-84F0-5697-28D6-805FC2B39386}"/>
                </a:ext>
              </a:extLst>
            </p:cNvPr>
            <p:cNvSpPr/>
            <p:nvPr/>
          </p:nvSpPr>
          <p:spPr>
            <a:xfrm>
              <a:off x="-140194" y="2855965"/>
              <a:ext cx="985502" cy="39878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0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时钟</a:t>
              </a:r>
            </a:p>
          </p:txBody>
        </p:sp>
        <p:cxnSp>
          <p:nvCxnSpPr>
            <p:cNvPr id="76" name="Straight Connector 47">
              <a:extLst>
                <a:ext uri="{FF2B5EF4-FFF2-40B4-BE49-F238E27FC236}">
                  <a16:creationId xmlns:a16="http://schemas.microsoft.com/office/drawing/2014/main" id="{BF02CCD8-F962-7C9D-839C-CE5008EB8791}"/>
                </a:ext>
              </a:extLst>
            </p:cNvPr>
            <p:cNvCxnSpPr>
              <a:cxnSpLocks/>
            </p:cNvCxnSpPr>
            <p:nvPr/>
          </p:nvCxnSpPr>
          <p:spPr>
            <a:xfrm>
              <a:off x="7908161" y="3540862"/>
              <a:ext cx="0" cy="438809"/>
            </a:xfrm>
            <a:prstGeom prst="line">
              <a:avLst/>
            </a:prstGeom>
            <a:ln w="2540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矩形 22">
              <a:extLst>
                <a:ext uri="{FF2B5EF4-FFF2-40B4-BE49-F238E27FC236}">
                  <a16:creationId xmlns:a16="http://schemas.microsoft.com/office/drawing/2014/main" id="{EC25D52F-D355-27B4-0281-0883F8999C3B}"/>
                </a:ext>
              </a:extLst>
            </p:cNvPr>
            <p:cNvSpPr/>
            <p:nvPr/>
          </p:nvSpPr>
          <p:spPr>
            <a:xfrm>
              <a:off x="8206386" y="2364395"/>
              <a:ext cx="985502" cy="39878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0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时钟</a:t>
              </a:r>
            </a:p>
          </p:txBody>
        </p:sp>
        <p:cxnSp>
          <p:nvCxnSpPr>
            <p:cNvPr id="78" name="Straight Arrow Connector 35">
              <a:extLst>
                <a:ext uri="{FF2B5EF4-FFF2-40B4-BE49-F238E27FC236}">
                  <a16:creationId xmlns:a16="http://schemas.microsoft.com/office/drawing/2014/main" id="{824F4BED-8D42-34E7-725E-BB92E5C38CF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30814" y="1755749"/>
              <a:ext cx="0" cy="607408"/>
            </a:xfrm>
            <a:prstGeom prst="straightConnector1">
              <a:avLst/>
            </a:prstGeom>
            <a:ln w="25400" cap="rnd">
              <a:solidFill>
                <a:schemeClr val="tx1"/>
              </a:solidFill>
              <a:headEnd type="none" w="med" len="lg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矩形 22">
              <a:extLst>
                <a:ext uri="{FF2B5EF4-FFF2-40B4-BE49-F238E27FC236}">
                  <a16:creationId xmlns:a16="http://schemas.microsoft.com/office/drawing/2014/main" id="{AB4C9D6A-C6C7-541B-0528-2C81E3D0CCE2}"/>
                </a:ext>
              </a:extLst>
            </p:cNvPr>
            <p:cNvSpPr/>
            <p:nvPr/>
          </p:nvSpPr>
          <p:spPr>
            <a:xfrm>
              <a:off x="5504504" y="1871801"/>
              <a:ext cx="1328970" cy="95590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0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rPr>
                <a:t>控制信号</a:t>
              </a:r>
              <a:r>
                <a:rPr lang="en-US" altLang="zh-CN" sz="20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rPr>
                <a:t>&amp;</a:t>
              </a:r>
              <a:r>
                <a:rPr lang="zh-CN" altLang="en-US" sz="20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rPr>
                <a:t>数据</a:t>
              </a:r>
            </a:p>
          </p:txBody>
        </p:sp>
        <p:cxnSp>
          <p:nvCxnSpPr>
            <p:cNvPr id="80" name="Straight Connector 106">
              <a:extLst>
                <a:ext uri="{FF2B5EF4-FFF2-40B4-BE49-F238E27FC236}">
                  <a16:creationId xmlns:a16="http://schemas.microsoft.com/office/drawing/2014/main" id="{33AAD783-D4CA-0D47-8A2F-744ADA61F74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37637" y="3972120"/>
              <a:ext cx="6266291" cy="0"/>
            </a:xfrm>
            <a:prstGeom prst="line">
              <a:avLst/>
            </a:prstGeom>
            <a:ln w="28575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Rectangle 29" descr="e">
              <a:extLst>
                <a:ext uri="{FF2B5EF4-FFF2-40B4-BE49-F238E27FC236}">
                  <a16:creationId xmlns:a16="http://schemas.microsoft.com/office/drawing/2014/main" id="{AEB4E1AF-5882-F9DA-02B7-371533DF4D61}"/>
                </a:ext>
              </a:extLst>
            </p:cNvPr>
            <p:cNvSpPr/>
            <p:nvPr/>
          </p:nvSpPr>
          <p:spPr>
            <a:xfrm>
              <a:off x="4602826" y="3829010"/>
              <a:ext cx="684330" cy="274064"/>
            </a:xfrm>
            <a:prstGeom prst="rect">
              <a:avLst/>
            </a:prstGeom>
            <a:solidFill>
              <a:srgbClr val="C7D9F2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noAutofit/>
            </a:bodyPr>
            <a:lstStyle/>
            <a:p>
              <a:r>
                <a:rPr lang="en-US" altLang="zh-CN" sz="16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MUX</a:t>
              </a:r>
            </a:p>
          </p:txBody>
        </p:sp>
        <p:cxnSp>
          <p:nvCxnSpPr>
            <p:cNvPr id="82" name="Straight Arrow Connector 35">
              <a:extLst>
                <a:ext uri="{FF2B5EF4-FFF2-40B4-BE49-F238E27FC236}">
                  <a16:creationId xmlns:a16="http://schemas.microsoft.com/office/drawing/2014/main" id="{EE20E3E0-890C-B1BF-9EF9-B86E8C27DD74}"/>
                </a:ext>
              </a:extLst>
            </p:cNvPr>
            <p:cNvCxnSpPr/>
            <p:nvPr/>
          </p:nvCxnSpPr>
          <p:spPr>
            <a:xfrm>
              <a:off x="4925770" y="3394205"/>
              <a:ext cx="0" cy="434805"/>
            </a:xfrm>
            <a:prstGeom prst="straightConnector1">
              <a:avLst/>
            </a:prstGeom>
            <a:ln w="25400" cap="rnd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78">
              <a:extLst>
                <a:ext uri="{FF2B5EF4-FFF2-40B4-BE49-F238E27FC236}">
                  <a16:creationId xmlns:a16="http://schemas.microsoft.com/office/drawing/2014/main" id="{B349BEE9-5870-E790-B976-63A2CA41A9AA}"/>
                </a:ext>
              </a:extLst>
            </p:cNvPr>
            <p:cNvCxnSpPr/>
            <p:nvPr/>
          </p:nvCxnSpPr>
          <p:spPr>
            <a:xfrm>
              <a:off x="1637637" y="3358731"/>
              <a:ext cx="0" cy="608936"/>
            </a:xfrm>
            <a:prstGeom prst="line">
              <a:avLst/>
            </a:prstGeom>
            <a:ln w="25400" cap="rnd">
              <a:solidFill>
                <a:schemeClr val="tx1"/>
              </a:solidFill>
              <a:head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矩形 22">
              <a:extLst>
                <a:ext uri="{FF2B5EF4-FFF2-40B4-BE49-F238E27FC236}">
                  <a16:creationId xmlns:a16="http://schemas.microsoft.com/office/drawing/2014/main" id="{4C7BF769-36B6-730E-5CDB-9373B253C1C1}"/>
                </a:ext>
              </a:extLst>
            </p:cNvPr>
            <p:cNvSpPr/>
            <p:nvPr/>
          </p:nvSpPr>
          <p:spPr>
            <a:xfrm>
              <a:off x="1596300" y="3611371"/>
              <a:ext cx="2053693" cy="368300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r>
                <a:rPr lang="zh-CN" altLang="en-US" sz="18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下一条指令地址</a:t>
              </a:r>
            </a:p>
          </p:txBody>
        </p:sp>
        <p:sp>
          <p:nvSpPr>
            <p:cNvPr id="85" name="矩形 22">
              <a:extLst>
                <a:ext uri="{FF2B5EF4-FFF2-40B4-BE49-F238E27FC236}">
                  <a16:creationId xmlns:a16="http://schemas.microsoft.com/office/drawing/2014/main" id="{BD81AB13-2B97-A6BA-D554-798E49E5AED5}"/>
                </a:ext>
              </a:extLst>
            </p:cNvPr>
            <p:cNvSpPr/>
            <p:nvPr/>
          </p:nvSpPr>
          <p:spPr>
            <a:xfrm>
              <a:off x="5172772" y="3611371"/>
              <a:ext cx="2463940" cy="368300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r>
                <a:rPr lang="zh-CN" altLang="en-US" sz="18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可能的下条指令地址</a:t>
              </a:r>
            </a:p>
          </p:txBody>
        </p:sp>
        <p:cxnSp>
          <p:nvCxnSpPr>
            <p:cNvPr id="86" name="Straight Arrow Connector 35">
              <a:extLst>
                <a:ext uri="{FF2B5EF4-FFF2-40B4-BE49-F238E27FC236}">
                  <a16:creationId xmlns:a16="http://schemas.microsoft.com/office/drawing/2014/main" id="{D43EDAEF-DBE9-28A6-3768-8220582E4619}"/>
                </a:ext>
              </a:extLst>
            </p:cNvPr>
            <p:cNvCxnSpPr>
              <a:cxnSpLocks/>
              <a:stCxn id="88" idx="2"/>
            </p:cNvCxnSpPr>
            <p:nvPr/>
          </p:nvCxnSpPr>
          <p:spPr>
            <a:xfrm flipH="1">
              <a:off x="7641367" y="2553246"/>
              <a:ext cx="4643" cy="386048"/>
            </a:xfrm>
            <a:prstGeom prst="straightConnector1">
              <a:avLst/>
            </a:prstGeom>
            <a:ln w="25400" cap="rnd">
              <a:solidFill>
                <a:schemeClr val="tx1"/>
              </a:solidFill>
              <a:headEnd type="triangle" w="med" len="lg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Arrow Connector 34">
              <a:extLst>
                <a:ext uri="{FF2B5EF4-FFF2-40B4-BE49-F238E27FC236}">
                  <a16:creationId xmlns:a16="http://schemas.microsoft.com/office/drawing/2014/main" id="{1FBEFCFA-8175-392F-EE2D-037983A2C070}"/>
                </a:ext>
              </a:extLst>
            </p:cNvPr>
            <p:cNvCxnSpPr/>
            <p:nvPr/>
          </p:nvCxnSpPr>
          <p:spPr>
            <a:xfrm flipH="1">
              <a:off x="7639045" y="1781150"/>
              <a:ext cx="4643" cy="386048"/>
            </a:xfrm>
            <a:prstGeom prst="straightConnector1">
              <a:avLst/>
            </a:prstGeom>
            <a:ln w="25400" cap="rnd">
              <a:solidFill>
                <a:schemeClr val="tx1"/>
              </a:solidFill>
              <a:headEnd type="triangle" w="med" len="lg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Rectangle 41">
              <a:extLst>
                <a:ext uri="{FF2B5EF4-FFF2-40B4-BE49-F238E27FC236}">
                  <a16:creationId xmlns:a16="http://schemas.microsoft.com/office/drawing/2014/main" id="{5914A8A6-61D5-57D8-3F7F-5FD453F9C3F0}"/>
                </a:ext>
              </a:extLst>
            </p:cNvPr>
            <p:cNvSpPr/>
            <p:nvPr/>
          </p:nvSpPr>
          <p:spPr>
            <a:xfrm>
              <a:off x="6988686" y="2173069"/>
              <a:ext cx="1314647" cy="380177"/>
            </a:xfrm>
            <a:prstGeom prst="rect">
              <a:avLst/>
            </a:prstGeom>
            <a:solidFill>
              <a:srgbClr val="8064A2">
                <a:lumMod val="40000"/>
                <a:lumOff val="60000"/>
              </a:srgbClr>
            </a:solidFill>
            <a:ln w="254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wrap="square" rtlCol="0" anchor="ctr">
              <a:no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800" kern="0" dirty="0">
                  <a:solidFill>
                    <a:schemeClr val="tx1"/>
                  </a:solidFill>
                  <a:latin typeface="+mn-ea"/>
                  <a:ea typeface="+mn-ea"/>
                  <a:cs typeface="Arial" panose="020B0604020202020204" pitchFamily="34" charset="0"/>
                </a:rPr>
                <a:t>寄存器</a:t>
              </a:r>
            </a:p>
          </p:txBody>
        </p:sp>
        <p:sp>
          <p:nvSpPr>
            <p:cNvPr id="89" name="Freeform 32">
              <a:extLst>
                <a:ext uri="{FF2B5EF4-FFF2-40B4-BE49-F238E27FC236}">
                  <a16:creationId xmlns:a16="http://schemas.microsoft.com/office/drawing/2014/main" id="{98AAFDDD-DADC-F533-CAFF-1B21CF5618A2}"/>
                </a:ext>
              </a:extLst>
            </p:cNvPr>
            <p:cNvSpPr/>
            <p:nvPr/>
          </p:nvSpPr>
          <p:spPr>
            <a:xfrm>
              <a:off x="6741590" y="1422677"/>
              <a:ext cx="242451" cy="1724378"/>
            </a:xfrm>
            <a:custGeom>
              <a:avLst/>
              <a:gdLst>
                <a:gd name="connsiteX0" fmla="*/ 852054 w 857250"/>
                <a:gd name="connsiteY0" fmla="*/ 0 h 789709"/>
                <a:gd name="connsiteX1" fmla="*/ 701386 w 857250"/>
                <a:gd name="connsiteY1" fmla="*/ 5196 h 789709"/>
                <a:gd name="connsiteX2" fmla="*/ 0 w 857250"/>
                <a:gd name="connsiteY2" fmla="*/ 5196 h 789709"/>
                <a:gd name="connsiteX3" fmla="*/ 0 w 857250"/>
                <a:gd name="connsiteY3" fmla="*/ 789709 h 789709"/>
                <a:gd name="connsiteX4" fmla="*/ 857250 w 857250"/>
                <a:gd name="connsiteY4" fmla="*/ 789709 h 7897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250" h="789709">
                  <a:moveTo>
                    <a:pt x="852054" y="0"/>
                  </a:moveTo>
                  <a:lnTo>
                    <a:pt x="701386" y="5196"/>
                  </a:lnTo>
                  <a:lnTo>
                    <a:pt x="0" y="5196"/>
                  </a:lnTo>
                  <a:lnTo>
                    <a:pt x="0" y="789709"/>
                  </a:lnTo>
                  <a:lnTo>
                    <a:pt x="857250" y="789709"/>
                  </a:lnTo>
                </a:path>
              </a:pathLst>
            </a:custGeom>
            <a:noFill/>
            <a:ln>
              <a:headEnd type="triangl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4600"/>
            </a:p>
          </p:txBody>
        </p:sp>
        <p:sp>
          <p:nvSpPr>
            <p:cNvPr id="91" name="Rectangle 29" descr="e">
              <a:extLst>
                <a:ext uri="{FF2B5EF4-FFF2-40B4-BE49-F238E27FC236}">
                  <a16:creationId xmlns:a16="http://schemas.microsoft.com/office/drawing/2014/main" id="{C6A164AD-041B-605F-3E7A-8E45FB6F693F}"/>
                </a:ext>
              </a:extLst>
            </p:cNvPr>
            <p:cNvSpPr/>
            <p:nvPr/>
          </p:nvSpPr>
          <p:spPr>
            <a:xfrm>
              <a:off x="2634930" y="1070496"/>
              <a:ext cx="267523" cy="2301372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noAutofit/>
            </a:bodyPr>
            <a:lstStyle/>
            <a:p>
              <a:r>
                <a:rPr lang="zh-CN" altLang="en-US" sz="16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接口</a:t>
              </a:r>
            </a:p>
          </p:txBody>
        </p:sp>
        <p:sp>
          <p:nvSpPr>
            <p:cNvPr id="92" name="矩形 10">
              <a:extLst>
                <a:ext uri="{FF2B5EF4-FFF2-40B4-BE49-F238E27FC236}">
                  <a16:creationId xmlns:a16="http://schemas.microsoft.com/office/drawing/2014/main" id="{340F405F-48A1-A12A-C6FD-E2F800B33D73}"/>
                </a:ext>
              </a:extLst>
            </p:cNvPr>
            <p:cNvSpPr/>
            <p:nvPr/>
          </p:nvSpPr>
          <p:spPr>
            <a:xfrm>
              <a:off x="3946544" y="2501591"/>
              <a:ext cx="1691025" cy="5835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1600" b="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rPr>
                <a:t>指令解码</a:t>
              </a:r>
              <a:endParaRPr lang="en-US" altLang="zh-CN" sz="1600" b="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endParaRPr>
            </a:p>
            <a:p>
              <a:r>
                <a:rPr lang="en-US" altLang="zh-CN" sz="1600" b="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rPr>
                <a:t>&amp; </a:t>
              </a:r>
              <a:r>
                <a:rPr lang="zh-CN" altLang="en-US" sz="1600" b="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rPr>
                <a:t>控制信号生成</a:t>
              </a:r>
            </a:p>
          </p:txBody>
        </p:sp>
        <p:sp>
          <p:nvSpPr>
            <p:cNvPr id="93" name="Rectangle 29" descr="e">
              <a:extLst>
                <a:ext uri="{FF2B5EF4-FFF2-40B4-BE49-F238E27FC236}">
                  <a16:creationId xmlns:a16="http://schemas.microsoft.com/office/drawing/2014/main" id="{19C964B0-4376-CB1A-8D63-0455179480F4}"/>
                </a:ext>
              </a:extLst>
            </p:cNvPr>
            <p:cNvSpPr/>
            <p:nvPr/>
          </p:nvSpPr>
          <p:spPr>
            <a:xfrm>
              <a:off x="780939" y="1070497"/>
              <a:ext cx="1853991" cy="1962818"/>
            </a:xfrm>
            <a:prstGeom prst="rect">
              <a:avLst/>
            </a:prstGeom>
            <a:solidFill>
              <a:srgbClr val="8064A2">
                <a:lumMod val="40000"/>
                <a:lumOff val="60000"/>
              </a:srgbClr>
            </a:solidFill>
            <a:ln w="254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wrap="square" rtlCol="0" anchor="t">
              <a:no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28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指令存储</a:t>
              </a:r>
            </a:p>
          </p:txBody>
        </p:sp>
        <p:sp>
          <p:nvSpPr>
            <p:cNvPr id="94" name="Rectangle 29" descr="e">
              <a:extLst>
                <a:ext uri="{FF2B5EF4-FFF2-40B4-BE49-F238E27FC236}">
                  <a16:creationId xmlns:a16="http://schemas.microsoft.com/office/drawing/2014/main" id="{1E924C66-2A52-D0CC-561B-8E67F95EEC00}"/>
                </a:ext>
              </a:extLst>
            </p:cNvPr>
            <p:cNvSpPr/>
            <p:nvPr/>
          </p:nvSpPr>
          <p:spPr>
            <a:xfrm>
              <a:off x="3952600" y="1076772"/>
              <a:ext cx="1691024" cy="2317433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t">
              <a:noAutofit/>
            </a:bodyPr>
            <a:lstStyle/>
            <a:p>
              <a:endPara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endParaRPr>
            </a:p>
            <a:p>
              <a:r>
                <a:rPr lang="zh-CN" altLang="en-US" sz="28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控制模块</a:t>
              </a:r>
            </a:p>
          </p:txBody>
        </p:sp>
        <p:sp>
          <p:nvSpPr>
            <p:cNvPr id="95" name="矩形 10">
              <a:extLst>
                <a:ext uri="{FF2B5EF4-FFF2-40B4-BE49-F238E27FC236}">
                  <a16:creationId xmlns:a16="http://schemas.microsoft.com/office/drawing/2014/main" id="{947ECD1A-DB1E-33EB-8499-098D46004E7A}"/>
                </a:ext>
              </a:extLst>
            </p:cNvPr>
            <p:cNvSpPr/>
            <p:nvPr/>
          </p:nvSpPr>
          <p:spPr>
            <a:xfrm>
              <a:off x="782680" y="2343484"/>
              <a:ext cx="1842445" cy="5835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1600" b="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所有指令按地址顺序存储</a:t>
              </a:r>
            </a:p>
          </p:txBody>
        </p:sp>
      </p:grpSp>
      <p:pic>
        <p:nvPicPr>
          <p:cNvPr id="103" name="Picture 102">
            <a:extLst>
              <a:ext uri="{FF2B5EF4-FFF2-40B4-BE49-F238E27FC236}">
                <a16:creationId xmlns:a16="http://schemas.microsoft.com/office/drawing/2014/main" id="{199A1F43-91EE-5912-3A21-0934E37583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0274" y="1284784"/>
            <a:ext cx="4088822" cy="2203421"/>
          </a:xfrm>
          <a:prstGeom prst="rect">
            <a:avLst/>
          </a:prstGeom>
        </p:spPr>
      </p:pic>
      <p:sp>
        <p:nvSpPr>
          <p:cNvPr id="48" name="标题 1">
            <a:extLst>
              <a:ext uri="{FF2B5EF4-FFF2-40B4-BE49-F238E27FC236}">
                <a16:creationId xmlns:a16="http://schemas.microsoft.com/office/drawing/2014/main" id="{1D50A983-6B2E-5A07-6C0F-475C56A6A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032" y="136525"/>
            <a:ext cx="8407937" cy="1143000"/>
          </a:xfrm>
        </p:spPr>
        <p:txBody>
          <a:bodyPr>
            <a:noAutofit/>
          </a:bodyPr>
          <a:lstStyle/>
          <a:p>
            <a:r>
              <a:rPr lang="zh-CN" altLang="en-US" sz="36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如何支持通用算法</a:t>
            </a:r>
            <a:endParaRPr lang="zh-CN" altLang="en-US" sz="3600" dirty="0">
              <a:solidFill>
                <a:schemeClr val="tx1"/>
              </a:solidFill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617104EB-09C2-A5CF-84FD-59519B6393B4}"/>
              </a:ext>
            </a:extLst>
          </p:cNvPr>
          <p:cNvSpPr/>
          <p:nvPr/>
        </p:nvSpPr>
        <p:spPr>
          <a:xfrm>
            <a:off x="7163130" y="1359238"/>
            <a:ext cx="473581" cy="27406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PC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050AC2EE-3D4D-BA2F-58D0-A89C694FA2FB}"/>
              </a:ext>
            </a:extLst>
          </p:cNvPr>
          <p:cNvSpPr txBox="1"/>
          <p:nvPr/>
        </p:nvSpPr>
        <p:spPr>
          <a:xfrm>
            <a:off x="278863" y="1300793"/>
            <a:ext cx="4666128" cy="12754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6400" marR="0" lvl="0" indent="-406400" algn="l" defTabSz="685800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更多功能（可选）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marL="685800" marR="0" lvl="1" indent="-34290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系统字体常规体"/>
              <a:buChar char="–"/>
            </a:pP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计算功能（如浮点计算等）</a:t>
            </a:r>
            <a:endParaRPr kumimoji="0" lang="en-US" altLang="zh-CN" sz="2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marL="685800" marR="0" lvl="1" indent="-34290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系统字体常规体"/>
              <a:buChar char="–"/>
            </a:pPr>
            <a:r>
              <a:rPr lang="zh-CN" altLang="en-US" sz="2100" b="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外部设备（如传感器、计时器等）</a:t>
            </a:r>
            <a:endParaRPr kumimoji="0" lang="en-US" altLang="zh-CN" sz="2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EAA172C-BC46-4A42-5FB4-FDFC77AA8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t>24</a:t>
            </a:fld>
            <a:endParaRPr lang="en-US" altLang="zh-CN"/>
          </a:p>
        </p:txBody>
      </p:sp>
      <p:sp>
        <p:nvSpPr>
          <p:cNvPr id="3" name="Rectangle 36">
            <a:extLst>
              <a:ext uri="{FF2B5EF4-FFF2-40B4-BE49-F238E27FC236}">
                <a16:creationId xmlns:a16="http://schemas.microsoft.com/office/drawing/2014/main" id="{A9AEF46F-A62D-7BAC-7C4B-3B72B2A0018B}"/>
              </a:ext>
            </a:extLst>
          </p:cNvPr>
          <p:cNvSpPr/>
          <p:nvPr/>
        </p:nvSpPr>
        <p:spPr>
          <a:xfrm>
            <a:off x="8444753" y="1359238"/>
            <a:ext cx="526447" cy="27406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ctr">
            <a:noAutofit/>
          </a:bodyPr>
          <a:lstStyle/>
          <a:p>
            <a:r>
              <a:rPr lang="en-US" sz="1400" dirty="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REG</a:t>
            </a:r>
          </a:p>
        </p:txBody>
      </p:sp>
      <p:sp>
        <p:nvSpPr>
          <p:cNvPr id="4" name="Rectangle 29" descr="e">
            <a:extLst>
              <a:ext uri="{FF2B5EF4-FFF2-40B4-BE49-F238E27FC236}">
                <a16:creationId xmlns:a16="http://schemas.microsoft.com/office/drawing/2014/main" id="{12A786AB-9D03-79B2-A810-E0BAE76A9F25}"/>
              </a:ext>
            </a:extLst>
          </p:cNvPr>
          <p:cNvSpPr/>
          <p:nvPr/>
        </p:nvSpPr>
        <p:spPr>
          <a:xfrm>
            <a:off x="7134199" y="5577585"/>
            <a:ext cx="557100" cy="2886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ctr">
            <a:noAutofit/>
          </a:bodyPr>
          <a:lstStyle/>
          <a:p>
            <a:r>
              <a:rPr lang="en-US" altLang="zh-CN" sz="18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ALU</a:t>
            </a:r>
          </a:p>
        </p:txBody>
      </p:sp>
      <p:sp>
        <p:nvSpPr>
          <p:cNvPr id="5" name="Rectangle 29" descr="e">
            <a:extLst>
              <a:ext uri="{FF2B5EF4-FFF2-40B4-BE49-F238E27FC236}">
                <a16:creationId xmlns:a16="http://schemas.microsoft.com/office/drawing/2014/main" id="{EC7D9357-4546-3220-A854-E301212FC5F0}"/>
              </a:ext>
            </a:extLst>
          </p:cNvPr>
          <p:cNvSpPr/>
          <p:nvPr/>
        </p:nvSpPr>
        <p:spPr>
          <a:xfrm>
            <a:off x="7805360" y="5574207"/>
            <a:ext cx="1018973" cy="2886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ctr">
            <a:noAutofit/>
          </a:bodyPr>
          <a:lstStyle/>
          <a:p>
            <a:r>
              <a:rPr lang="zh-CN" altLang="en-US" sz="18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浮点</a:t>
            </a:r>
            <a:r>
              <a:rPr lang="en-US" altLang="zh-CN" sz="18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ALU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6299B55-C4D2-AF3F-E195-E81B6B50970F}"/>
              </a:ext>
            </a:extLst>
          </p:cNvPr>
          <p:cNvSpPr txBox="1"/>
          <p:nvPr/>
        </p:nvSpPr>
        <p:spPr>
          <a:xfrm>
            <a:off x="7647875" y="5738226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0" dirty="0">
                <a:solidFill>
                  <a:schemeClr val="tx1"/>
                </a:solidFill>
                <a:latin typeface="+mj-lt"/>
              </a:rPr>
              <a:t>……</a:t>
            </a:r>
            <a:endParaRPr lang="zh-CN" altLang="en-US" sz="18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9" name="Rectangle 29" descr="e">
            <a:extLst>
              <a:ext uri="{FF2B5EF4-FFF2-40B4-BE49-F238E27FC236}">
                <a16:creationId xmlns:a16="http://schemas.microsoft.com/office/drawing/2014/main" id="{5355F646-5A5A-9DFC-832A-FB01FEC33459}"/>
              </a:ext>
            </a:extLst>
          </p:cNvPr>
          <p:cNvSpPr/>
          <p:nvPr/>
        </p:nvSpPr>
        <p:spPr>
          <a:xfrm>
            <a:off x="7118082" y="3628950"/>
            <a:ext cx="949917" cy="2886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ctr">
            <a:noAutofit/>
          </a:bodyPr>
          <a:lstStyle/>
          <a:p>
            <a:r>
              <a:rPr lang="zh-CN" altLang="en-US" sz="18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数据存储</a:t>
            </a:r>
            <a:endParaRPr lang="en-US" altLang="zh-CN" sz="1800" dirty="0">
              <a:solidFill>
                <a:schemeClr val="tx1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cxnSp>
        <p:nvCxnSpPr>
          <p:cNvPr id="13" name="Straight Arrow Connector 35">
            <a:extLst>
              <a:ext uri="{FF2B5EF4-FFF2-40B4-BE49-F238E27FC236}">
                <a16:creationId xmlns:a16="http://schemas.microsoft.com/office/drawing/2014/main" id="{50662575-E53B-1DD2-68D6-BBB53CCF9E34}"/>
              </a:ext>
            </a:extLst>
          </p:cNvPr>
          <p:cNvCxnSpPr>
            <a:cxnSpLocks/>
          </p:cNvCxnSpPr>
          <p:nvPr/>
        </p:nvCxnSpPr>
        <p:spPr>
          <a:xfrm flipH="1">
            <a:off x="8386892" y="4946801"/>
            <a:ext cx="660958" cy="0"/>
          </a:xfrm>
          <a:prstGeom prst="straightConnector1">
            <a:avLst/>
          </a:prstGeom>
          <a:ln w="25400" cap="rnd">
            <a:solidFill>
              <a:schemeClr val="tx1"/>
            </a:solidFill>
            <a:headEnd type="non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29" descr="e">
            <a:extLst>
              <a:ext uri="{FF2B5EF4-FFF2-40B4-BE49-F238E27FC236}">
                <a16:creationId xmlns:a16="http://schemas.microsoft.com/office/drawing/2014/main" id="{4065A929-F5EE-6718-736C-255D93498813}"/>
              </a:ext>
            </a:extLst>
          </p:cNvPr>
          <p:cNvSpPr/>
          <p:nvPr/>
        </p:nvSpPr>
        <p:spPr>
          <a:xfrm>
            <a:off x="7118083" y="3979036"/>
            <a:ext cx="700530" cy="2886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ctr">
            <a:noAutofit/>
          </a:bodyPr>
          <a:lstStyle/>
          <a:p>
            <a:r>
              <a:rPr lang="zh-CN" altLang="en-US" sz="18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计时器</a:t>
            </a:r>
            <a:endParaRPr lang="en-US" altLang="zh-CN" sz="1800" dirty="0">
              <a:solidFill>
                <a:schemeClr val="tx1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Rectangle 29" descr="e">
            <a:extLst>
              <a:ext uri="{FF2B5EF4-FFF2-40B4-BE49-F238E27FC236}">
                <a16:creationId xmlns:a16="http://schemas.microsoft.com/office/drawing/2014/main" id="{8AF7B6CD-6622-D26D-0DD4-4296E83A7F5D}"/>
              </a:ext>
            </a:extLst>
          </p:cNvPr>
          <p:cNvSpPr/>
          <p:nvPr/>
        </p:nvSpPr>
        <p:spPr>
          <a:xfrm>
            <a:off x="8133117" y="3628950"/>
            <a:ext cx="705682" cy="2886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ctr">
            <a:noAutofit/>
          </a:bodyPr>
          <a:lstStyle/>
          <a:p>
            <a:r>
              <a:rPr lang="zh-CN" altLang="en-US" sz="18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传感器</a:t>
            </a:r>
            <a:endParaRPr lang="en-US" altLang="zh-CN" sz="1800" dirty="0">
              <a:solidFill>
                <a:schemeClr val="tx1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D25FDDE-15D2-2B5C-9B8E-83B6033D97A5}"/>
              </a:ext>
            </a:extLst>
          </p:cNvPr>
          <p:cNvSpPr txBox="1"/>
          <p:nvPr/>
        </p:nvSpPr>
        <p:spPr>
          <a:xfrm>
            <a:off x="8040653" y="3888879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0" dirty="0">
                <a:solidFill>
                  <a:schemeClr val="tx1"/>
                </a:solidFill>
                <a:latin typeface="+mj-lt"/>
              </a:rPr>
              <a:t>……</a:t>
            </a:r>
            <a:endParaRPr lang="zh-CN" altLang="en-US" sz="1800" dirty="0">
              <a:solidFill>
                <a:schemeClr val="tx1"/>
              </a:solidFill>
              <a:latin typeface="+mj-lt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322FE131-0764-E434-BD16-816E5BE4C630}"/>
                  </a:ext>
                </a:extLst>
              </p14:cNvPr>
              <p14:cNvContentPartPr/>
              <p14:nvPr/>
            </p14:nvContentPartPr>
            <p14:xfrm>
              <a:off x="7874280" y="2592000"/>
              <a:ext cx="360" cy="360"/>
            </p14:xfrm>
          </p:contentPart>
        </mc:Choice>
        <mc:Fallback xmlns=""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322FE131-0764-E434-BD16-816E5BE4C63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864920" y="2582640"/>
                <a:ext cx="19080" cy="1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05300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组合 36">
            <a:extLst>
              <a:ext uri="{FF2B5EF4-FFF2-40B4-BE49-F238E27FC236}">
                <a16:creationId xmlns:a16="http://schemas.microsoft.com/office/drawing/2014/main" id="{E77B807D-D473-2B1D-AB42-2D7D193AB4D9}"/>
              </a:ext>
            </a:extLst>
          </p:cNvPr>
          <p:cNvGrpSpPr/>
          <p:nvPr/>
        </p:nvGrpSpPr>
        <p:grpSpPr>
          <a:xfrm>
            <a:off x="-52240" y="3535102"/>
            <a:ext cx="9341080" cy="3249973"/>
            <a:chOff x="-140194" y="963446"/>
            <a:chExt cx="9341080" cy="3249973"/>
          </a:xfrm>
        </p:grpSpPr>
        <p:sp>
          <p:nvSpPr>
            <p:cNvPr id="43" name="Rectangle 53">
              <a:extLst>
                <a:ext uri="{FF2B5EF4-FFF2-40B4-BE49-F238E27FC236}">
                  <a16:creationId xmlns:a16="http://schemas.microsoft.com/office/drawing/2014/main" id="{968CB83F-55C1-A7EF-C4FF-1CE292AFF823}"/>
                </a:ext>
              </a:extLst>
            </p:cNvPr>
            <p:cNvSpPr/>
            <p:nvPr/>
          </p:nvSpPr>
          <p:spPr>
            <a:xfrm>
              <a:off x="780939" y="3033315"/>
              <a:ext cx="1852450" cy="337185"/>
            </a:xfrm>
            <a:prstGeom prst="rect">
              <a:avLst/>
            </a:prstGeom>
            <a:solidFill>
              <a:srgbClr val="8064A2">
                <a:lumMod val="40000"/>
                <a:lumOff val="60000"/>
              </a:srgbClr>
            </a:solidFill>
            <a:ln w="25400">
              <a:solidFill>
                <a:srgbClr val="000000"/>
              </a:solidFill>
            </a:ln>
          </p:spPr>
          <p:txBody>
            <a:bodyPr wrap="squar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kern="0" dirty="0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PC</a:t>
              </a:r>
            </a:p>
          </p:txBody>
        </p:sp>
        <p:sp>
          <p:nvSpPr>
            <p:cNvPr id="44" name="Freeform 31">
              <a:extLst>
                <a:ext uri="{FF2B5EF4-FFF2-40B4-BE49-F238E27FC236}">
                  <a16:creationId xmlns:a16="http://schemas.microsoft.com/office/drawing/2014/main" id="{4804935D-C072-E50B-2D94-BE5DECDDFC36}"/>
                </a:ext>
              </a:extLst>
            </p:cNvPr>
            <p:cNvSpPr/>
            <p:nvPr/>
          </p:nvSpPr>
          <p:spPr>
            <a:xfrm>
              <a:off x="3781322" y="963446"/>
              <a:ext cx="4713852" cy="3249973"/>
            </a:xfrm>
            <a:custGeom>
              <a:avLst/>
              <a:gdLst>
                <a:gd name="connsiteX0" fmla="*/ 0 w 5056094"/>
                <a:gd name="connsiteY0" fmla="*/ 32273 h 3195021"/>
                <a:gd name="connsiteX1" fmla="*/ 0 w 5056094"/>
                <a:gd name="connsiteY1" fmla="*/ 3195021 h 3195021"/>
                <a:gd name="connsiteX2" fmla="*/ 5056094 w 5056094"/>
                <a:gd name="connsiteY2" fmla="*/ 3195021 h 3195021"/>
                <a:gd name="connsiteX3" fmla="*/ 5056094 w 5056094"/>
                <a:gd name="connsiteY3" fmla="*/ 903642 h 3195021"/>
                <a:gd name="connsiteX4" fmla="*/ 3313355 w 5056094"/>
                <a:gd name="connsiteY4" fmla="*/ 903642 h 3195021"/>
                <a:gd name="connsiteX5" fmla="*/ 3313355 w 5056094"/>
                <a:gd name="connsiteY5" fmla="*/ 0 h 3195021"/>
                <a:gd name="connsiteX6" fmla="*/ 0 w 5056094"/>
                <a:gd name="connsiteY6" fmla="*/ 32273 h 3195021"/>
                <a:gd name="connsiteX0-1" fmla="*/ 0 w 5056094"/>
                <a:gd name="connsiteY0-2" fmla="*/ 32273 h 3195021"/>
                <a:gd name="connsiteX1-3" fmla="*/ 0 w 5056094"/>
                <a:gd name="connsiteY1-4" fmla="*/ 3195021 h 3195021"/>
                <a:gd name="connsiteX2-5" fmla="*/ 5056094 w 5056094"/>
                <a:gd name="connsiteY2-6" fmla="*/ 3195021 h 3195021"/>
                <a:gd name="connsiteX3-7" fmla="*/ 5056094 w 5056094"/>
                <a:gd name="connsiteY3-8" fmla="*/ 903642 h 3195021"/>
                <a:gd name="connsiteX4-9" fmla="*/ 2702513 w 5056094"/>
                <a:gd name="connsiteY4-10" fmla="*/ 914906 h 3195021"/>
                <a:gd name="connsiteX5-11" fmla="*/ 3313355 w 5056094"/>
                <a:gd name="connsiteY5-12" fmla="*/ 0 h 3195021"/>
                <a:gd name="connsiteX6-13" fmla="*/ 0 w 5056094"/>
                <a:gd name="connsiteY6-14" fmla="*/ 32273 h 3195021"/>
                <a:gd name="connsiteX0-15" fmla="*/ 0 w 5056094"/>
                <a:gd name="connsiteY0-16" fmla="*/ 9745 h 3172493"/>
                <a:gd name="connsiteX1-17" fmla="*/ 0 w 5056094"/>
                <a:gd name="connsiteY1-18" fmla="*/ 3172493 h 3172493"/>
                <a:gd name="connsiteX2-19" fmla="*/ 5056094 w 5056094"/>
                <a:gd name="connsiteY2-20" fmla="*/ 3172493 h 3172493"/>
                <a:gd name="connsiteX3-21" fmla="*/ 5056094 w 5056094"/>
                <a:gd name="connsiteY3-22" fmla="*/ 881114 h 3172493"/>
                <a:gd name="connsiteX4-23" fmla="*/ 2702513 w 5056094"/>
                <a:gd name="connsiteY4-24" fmla="*/ 892378 h 3172493"/>
                <a:gd name="connsiteX5-25" fmla="*/ 2690297 w 5056094"/>
                <a:gd name="connsiteY5-26" fmla="*/ 0 h 3172493"/>
                <a:gd name="connsiteX6-27" fmla="*/ 0 w 5056094"/>
                <a:gd name="connsiteY6-28" fmla="*/ 9745 h 3172493"/>
                <a:gd name="connsiteX0-29" fmla="*/ 0 w 5056094"/>
                <a:gd name="connsiteY0-30" fmla="*/ 9745 h 3172493"/>
                <a:gd name="connsiteX1-31" fmla="*/ 0 w 5056094"/>
                <a:gd name="connsiteY1-32" fmla="*/ 3172493 h 3172493"/>
                <a:gd name="connsiteX2-33" fmla="*/ 5056094 w 5056094"/>
                <a:gd name="connsiteY2-34" fmla="*/ 3172493 h 3172493"/>
                <a:gd name="connsiteX3-35" fmla="*/ 5056094 w 5056094"/>
                <a:gd name="connsiteY3-36" fmla="*/ 881114 h 3172493"/>
                <a:gd name="connsiteX4-37" fmla="*/ 2682546 w 5056094"/>
                <a:gd name="connsiteY4-38" fmla="*/ 892378 h 3172493"/>
                <a:gd name="connsiteX5-39" fmla="*/ 2690297 w 5056094"/>
                <a:gd name="connsiteY5-40" fmla="*/ 0 h 3172493"/>
                <a:gd name="connsiteX6-41" fmla="*/ 0 w 5056094"/>
                <a:gd name="connsiteY6-42" fmla="*/ 9745 h 3172493"/>
                <a:gd name="connsiteX0-43" fmla="*/ 0 w 5056094"/>
                <a:gd name="connsiteY0-44" fmla="*/ 0 h 3162748"/>
                <a:gd name="connsiteX1-45" fmla="*/ 0 w 5056094"/>
                <a:gd name="connsiteY1-46" fmla="*/ 3162748 h 3162748"/>
                <a:gd name="connsiteX2-47" fmla="*/ 5056094 w 5056094"/>
                <a:gd name="connsiteY2-48" fmla="*/ 3162748 h 3162748"/>
                <a:gd name="connsiteX3-49" fmla="*/ 5056094 w 5056094"/>
                <a:gd name="connsiteY3-50" fmla="*/ 871369 h 3162748"/>
                <a:gd name="connsiteX4-51" fmla="*/ 2682546 w 5056094"/>
                <a:gd name="connsiteY4-52" fmla="*/ 882633 h 3162748"/>
                <a:gd name="connsiteX5-53" fmla="*/ 2683641 w 5056094"/>
                <a:gd name="connsiteY5-54" fmla="*/ 2529 h 3162748"/>
                <a:gd name="connsiteX6-55" fmla="*/ 0 w 5056094"/>
                <a:gd name="connsiteY6-56" fmla="*/ 0 h 316274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</a:cxnLst>
              <a:rect l="l" t="t" r="r" b="b"/>
              <a:pathLst>
                <a:path w="5056094" h="3162748">
                  <a:moveTo>
                    <a:pt x="0" y="0"/>
                  </a:moveTo>
                  <a:lnTo>
                    <a:pt x="0" y="3162748"/>
                  </a:lnTo>
                  <a:lnTo>
                    <a:pt x="5056094" y="3162748"/>
                  </a:lnTo>
                  <a:lnTo>
                    <a:pt x="5056094" y="871369"/>
                  </a:lnTo>
                  <a:lnTo>
                    <a:pt x="2682546" y="882633"/>
                  </a:lnTo>
                  <a:cubicBezTo>
                    <a:pt x="2685130" y="585174"/>
                    <a:pt x="2681057" y="299988"/>
                    <a:pt x="2683641" y="252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1F497D">
                <a:lumMod val="20000"/>
                <a:lumOff val="80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wrap="square" rtlCol="0" anchor="ctr">
              <a:noAutofit/>
            </a:bodyPr>
            <a:lstStyle/>
            <a:p>
              <a:pPr algn="l" fontAlgn="auto">
                <a:spcBef>
                  <a:spcPts val="0"/>
                </a:spcBef>
                <a:spcAft>
                  <a:spcPts val="0"/>
                </a:spcAft>
              </a:pPr>
              <a:endParaRPr lang="en-US" sz="1800" b="0" kern="0" dirty="0">
                <a:solidFill>
                  <a:srgbClr val="000000"/>
                </a:solidFill>
                <a:latin typeface="Arial" panose="020B0604020202020204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cxnSp>
          <p:nvCxnSpPr>
            <p:cNvPr id="45" name="Straight Arrow Connector 35">
              <a:extLst>
                <a:ext uri="{FF2B5EF4-FFF2-40B4-BE49-F238E27FC236}">
                  <a16:creationId xmlns:a16="http://schemas.microsoft.com/office/drawing/2014/main" id="{45FFAF15-70D0-545D-C5C3-E73C28AD8B83}"/>
                </a:ext>
              </a:extLst>
            </p:cNvPr>
            <p:cNvCxnSpPr/>
            <p:nvPr/>
          </p:nvCxnSpPr>
          <p:spPr>
            <a:xfrm>
              <a:off x="42221" y="3229464"/>
              <a:ext cx="728984" cy="0"/>
            </a:xfrm>
            <a:prstGeom prst="straightConnector1">
              <a:avLst/>
            </a:prstGeom>
            <a:ln w="25400" cap="rnd">
              <a:solidFill>
                <a:schemeClr val="tx1"/>
              </a:solidFill>
              <a:headEnd type="none" w="med" len="lg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Rectangle 29" descr="e">
              <a:extLst>
                <a:ext uri="{FF2B5EF4-FFF2-40B4-BE49-F238E27FC236}">
                  <a16:creationId xmlns:a16="http://schemas.microsoft.com/office/drawing/2014/main" id="{04DA7ADA-A6B4-F648-9235-AC05D0FCC2D3}"/>
                </a:ext>
              </a:extLst>
            </p:cNvPr>
            <p:cNvSpPr/>
            <p:nvPr/>
          </p:nvSpPr>
          <p:spPr>
            <a:xfrm>
              <a:off x="6984041" y="1076773"/>
              <a:ext cx="1314651" cy="678976"/>
            </a:xfrm>
            <a:prstGeom prst="rect">
              <a:avLst/>
            </a:prstGeom>
            <a:solidFill>
              <a:srgbClr val="8064A2">
                <a:lumMod val="40000"/>
                <a:lumOff val="60000"/>
              </a:srgbClr>
            </a:solidFill>
            <a:ln w="254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wrap="square" rtlCol="0" anchor="ctr">
              <a:no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2000" kern="0" dirty="0">
                  <a:solidFill>
                    <a:srgbClr val="000000"/>
                  </a:solidFill>
                  <a:latin typeface="+mn-ea"/>
                  <a:ea typeface="+mn-ea"/>
                  <a:cs typeface="Arial" panose="020B0604020202020204" pitchFamily="34" charset="0"/>
                </a:rPr>
                <a:t>数据存储</a:t>
              </a:r>
            </a:p>
          </p:txBody>
        </p:sp>
        <p:sp>
          <p:nvSpPr>
            <p:cNvPr id="47" name="Rectangle 29" descr="e">
              <a:extLst>
                <a:ext uri="{FF2B5EF4-FFF2-40B4-BE49-F238E27FC236}">
                  <a16:creationId xmlns:a16="http://schemas.microsoft.com/office/drawing/2014/main" id="{E133AB7C-840B-1ADA-E406-05CD6E347F5D}"/>
                </a:ext>
              </a:extLst>
            </p:cNvPr>
            <p:cNvSpPr/>
            <p:nvPr/>
          </p:nvSpPr>
          <p:spPr>
            <a:xfrm>
              <a:off x="6984041" y="2939296"/>
              <a:ext cx="1314651" cy="45491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noAutofit/>
            </a:bodyPr>
            <a:lstStyle/>
            <a:p>
              <a:r>
                <a:rPr lang="en-US" altLang="zh-CN" sz="20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ALU</a:t>
              </a:r>
            </a:p>
          </p:txBody>
        </p:sp>
        <p:sp>
          <p:nvSpPr>
            <p:cNvPr id="49" name="矩形 22">
              <a:extLst>
                <a:ext uri="{FF2B5EF4-FFF2-40B4-BE49-F238E27FC236}">
                  <a16:creationId xmlns:a16="http://schemas.microsoft.com/office/drawing/2014/main" id="{93E29CB6-37A7-5E2E-2AE0-E3153A07A45C}"/>
                </a:ext>
              </a:extLst>
            </p:cNvPr>
            <p:cNvSpPr/>
            <p:nvPr/>
          </p:nvSpPr>
          <p:spPr>
            <a:xfrm>
              <a:off x="2832293" y="1811460"/>
              <a:ext cx="1034668" cy="39878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0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指令</a:t>
              </a:r>
            </a:p>
          </p:txBody>
        </p:sp>
        <p:cxnSp>
          <p:nvCxnSpPr>
            <p:cNvPr id="50" name="Straight Arrow Connector 35">
              <a:extLst>
                <a:ext uri="{FF2B5EF4-FFF2-40B4-BE49-F238E27FC236}">
                  <a16:creationId xmlns:a16="http://schemas.microsoft.com/office/drawing/2014/main" id="{EC22F24C-F411-E977-D8D1-C0E0137DF727}"/>
                </a:ext>
              </a:extLst>
            </p:cNvPr>
            <p:cNvCxnSpPr/>
            <p:nvPr/>
          </p:nvCxnSpPr>
          <p:spPr>
            <a:xfrm>
              <a:off x="5649680" y="2375145"/>
              <a:ext cx="1328970" cy="0"/>
            </a:xfrm>
            <a:prstGeom prst="straightConnector1">
              <a:avLst/>
            </a:prstGeom>
            <a:ln w="25400" cap="rnd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35">
              <a:extLst>
                <a:ext uri="{FF2B5EF4-FFF2-40B4-BE49-F238E27FC236}">
                  <a16:creationId xmlns:a16="http://schemas.microsoft.com/office/drawing/2014/main" id="{861A4C55-94DE-C090-489D-BEBE591FCCB4}"/>
                </a:ext>
              </a:extLst>
            </p:cNvPr>
            <p:cNvCxnSpPr/>
            <p:nvPr/>
          </p:nvCxnSpPr>
          <p:spPr>
            <a:xfrm>
              <a:off x="2902453" y="2235488"/>
              <a:ext cx="1044092" cy="0"/>
            </a:xfrm>
            <a:prstGeom prst="straightConnector1">
              <a:avLst/>
            </a:prstGeom>
            <a:ln w="25400" cap="rnd">
              <a:solidFill>
                <a:schemeClr val="tx1"/>
              </a:solidFill>
              <a:headEnd type="none" w="med" len="lg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矩形 22">
              <a:extLst>
                <a:ext uri="{FF2B5EF4-FFF2-40B4-BE49-F238E27FC236}">
                  <a16:creationId xmlns:a16="http://schemas.microsoft.com/office/drawing/2014/main" id="{E098777A-68D9-2BF8-1A35-A587B172F3C6}"/>
                </a:ext>
              </a:extLst>
            </p:cNvPr>
            <p:cNvSpPr/>
            <p:nvPr/>
          </p:nvSpPr>
          <p:spPr>
            <a:xfrm>
              <a:off x="-140194" y="2855965"/>
              <a:ext cx="985502" cy="39878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0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时钟</a:t>
              </a:r>
            </a:p>
          </p:txBody>
        </p:sp>
        <p:cxnSp>
          <p:nvCxnSpPr>
            <p:cNvPr id="53" name="Straight Connector 47">
              <a:extLst>
                <a:ext uri="{FF2B5EF4-FFF2-40B4-BE49-F238E27FC236}">
                  <a16:creationId xmlns:a16="http://schemas.microsoft.com/office/drawing/2014/main" id="{7F8E1388-DFE2-6885-5B60-AD9451C8B1A8}"/>
                </a:ext>
              </a:extLst>
            </p:cNvPr>
            <p:cNvCxnSpPr/>
            <p:nvPr/>
          </p:nvCxnSpPr>
          <p:spPr>
            <a:xfrm>
              <a:off x="7641367" y="3403738"/>
              <a:ext cx="0" cy="573453"/>
            </a:xfrm>
            <a:prstGeom prst="line">
              <a:avLst/>
            </a:prstGeom>
            <a:ln w="2540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矩形 22">
              <a:extLst>
                <a:ext uri="{FF2B5EF4-FFF2-40B4-BE49-F238E27FC236}">
                  <a16:creationId xmlns:a16="http://schemas.microsoft.com/office/drawing/2014/main" id="{00023C84-CD11-489B-7D15-759AFDA79A05}"/>
                </a:ext>
              </a:extLst>
            </p:cNvPr>
            <p:cNvSpPr/>
            <p:nvPr/>
          </p:nvSpPr>
          <p:spPr>
            <a:xfrm>
              <a:off x="8215384" y="1174250"/>
              <a:ext cx="985502" cy="39878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0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时钟</a:t>
              </a:r>
            </a:p>
          </p:txBody>
        </p:sp>
        <p:cxnSp>
          <p:nvCxnSpPr>
            <p:cNvPr id="55" name="Straight Arrow Connector 35">
              <a:extLst>
                <a:ext uri="{FF2B5EF4-FFF2-40B4-BE49-F238E27FC236}">
                  <a16:creationId xmlns:a16="http://schemas.microsoft.com/office/drawing/2014/main" id="{837CE583-8151-C207-9557-BA91EFB617E2}"/>
                </a:ext>
              </a:extLst>
            </p:cNvPr>
            <p:cNvCxnSpPr/>
            <p:nvPr/>
          </p:nvCxnSpPr>
          <p:spPr>
            <a:xfrm flipH="1">
              <a:off x="8298692" y="1578429"/>
              <a:ext cx="700178" cy="0"/>
            </a:xfrm>
            <a:prstGeom prst="straightConnector1">
              <a:avLst/>
            </a:prstGeom>
            <a:ln w="25400" cap="rnd">
              <a:solidFill>
                <a:schemeClr val="tx1"/>
              </a:solidFill>
              <a:headEnd type="none" w="med" len="lg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矩形 22">
              <a:extLst>
                <a:ext uri="{FF2B5EF4-FFF2-40B4-BE49-F238E27FC236}">
                  <a16:creationId xmlns:a16="http://schemas.microsoft.com/office/drawing/2014/main" id="{C830E780-8A93-4625-F182-67381422CC1E}"/>
                </a:ext>
              </a:extLst>
            </p:cNvPr>
            <p:cNvSpPr/>
            <p:nvPr/>
          </p:nvSpPr>
          <p:spPr>
            <a:xfrm>
              <a:off x="5504504" y="1871801"/>
              <a:ext cx="1328970" cy="95590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0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rPr>
                <a:t>控制信号</a:t>
              </a:r>
              <a:r>
                <a:rPr lang="en-US" altLang="zh-CN" sz="20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rPr>
                <a:t>&amp;</a:t>
              </a:r>
              <a:r>
                <a:rPr lang="zh-CN" altLang="en-US" sz="20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rPr>
                <a:t>数据</a:t>
              </a:r>
            </a:p>
          </p:txBody>
        </p:sp>
        <p:cxnSp>
          <p:nvCxnSpPr>
            <p:cNvPr id="57" name="Straight Connector 106">
              <a:extLst>
                <a:ext uri="{FF2B5EF4-FFF2-40B4-BE49-F238E27FC236}">
                  <a16:creationId xmlns:a16="http://schemas.microsoft.com/office/drawing/2014/main" id="{5F1D59B8-497C-D9BA-6119-2DA3B049EB9A}"/>
                </a:ext>
              </a:extLst>
            </p:cNvPr>
            <p:cNvCxnSpPr/>
            <p:nvPr/>
          </p:nvCxnSpPr>
          <p:spPr>
            <a:xfrm flipH="1">
              <a:off x="1637637" y="3967887"/>
              <a:ext cx="5999299" cy="0"/>
            </a:xfrm>
            <a:prstGeom prst="line">
              <a:avLst/>
            </a:prstGeom>
            <a:ln w="28575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Rectangle 29" descr="e">
              <a:extLst>
                <a:ext uri="{FF2B5EF4-FFF2-40B4-BE49-F238E27FC236}">
                  <a16:creationId xmlns:a16="http://schemas.microsoft.com/office/drawing/2014/main" id="{BEF284A8-E043-2151-88C7-5DF5B597D5BE}"/>
                </a:ext>
              </a:extLst>
            </p:cNvPr>
            <p:cNvSpPr/>
            <p:nvPr/>
          </p:nvSpPr>
          <p:spPr>
            <a:xfrm>
              <a:off x="4602826" y="3829010"/>
              <a:ext cx="684330" cy="274064"/>
            </a:xfrm>
            <a:prstGeom prst="rect">
              <a:avLst/>
            </a:prstGeom>
            <a:solidFill>
              <a:srgbClr val="C7D9F2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noAutofit/>
            </a:bodyPr>
            <a:lstStyle/>
            <a:p>
              <a:r>
                <a:rPr lang="en-US" altLang="zh-CN" sz="16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MUX</a:t>
              </a:r>
            </a:p>
          </p:txBody>
        </p:sp>
        <p:cxnSp>
          <p:nvCxnSpPr>
            <p:cNvPr id="59" name="Straight Arrow Connector 35">
              <a:extLst>
                <a:ext uri="{FF2B5EF4-FFF2-40B4-BE49-F238E27FC236}">
                  <a16:creationId xmlns:a16="http://schemas.microsoft.com/office/drawing/2014/main" id="{10663D45-8EBB-BFD4-7880-4AB3FA67E707}"/>
                </a:ext>
              </a:extLst>
            </p:cNvPr>
            <p:cNvCxnSpPr/>
            <p:nvPr/>
          </p:nvCxnSpPr>
          <p:spPr>
            <a:xfrm>
              <a:off x="4925770" y="3394205"/>
              <a:ext cx="0" cy="434805"/>
            </a:xfrm>
            <a:prstGeom prst="straightConnector1">
              <a:avLst/>
            </a:prstGeom>
            <a:ln w="25400" cap="rnd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78">
              <a:extLst>
                <a:ext uri="{FF2B5EF4-FFF2-40B4-BE49-F238E27FC236}">
                  <a16:creationId xmlns:a16="http://schemas.microsoft.com/office/drawing/2014/main" id="{F87B4CAF-7A8F-1664-9653-BF3D4A991113}"/>
                </a:ext>
              </a:extLst>
            </p:cNvPr>
            <p:cNvCxnSpPr/>
            <p:nvPr/>
          </p:nvCxnSpPr>
          <p:spPr>
            <a:xfrm>
              <a:off x="1637637" y="3358731"/>
              <a:ext cx="0" cy="608936"/>
            </a:xfrm>
            <a:prstGeom prst="line">
              <a:avLst/>
            </a:prstGeom>
            <a:ln w="25400" cap="rnd">
              <a:solidFill>
                <a:schemeClr val="tx1"/>
              </a:solidFill>
              <a:head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矩形 22">
              <a:extLst>
                <a:ext uri="{FF2B5EF4-FFF2-40B4-BE49-F238E27FC236}">
                  <a16:creationId xmlns:a16="http://schemas.microsoft.com/office/drawing/2014/main" id="{224B8C6E-D28F-1A63-C8BA-F8FBCE7AAFDE}"/>
                </a:ext>
              </a:extLst>
            </p:cNvPr>
            <p:cNvSpPr/>
            <p:nvPr/>
          </p:nvSpPr>
          <p:spPr>
            <a:xfrm>
              <a:off x="1596300" y="3611371"/>
              <a:ext cx="2053693" cy="368300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r>
                <a:rPr lang="zh-CN" altLang="en-US" sz="18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下一条指令地址</a:t>
              </a:r>
            </a:p>
          </p:txBody>
        </p:sp>
        <p:sp>
          <p:nvSpPr>
            <p:cNvPr id="62" name="矩形 22">
              <a:extLst>
                <a:ext uri="{FF2B5EF4-FFF2-40B4-BE49-F238E27FC236}">
                  <a16:creationId xmlns:a16="http://schemas.microsoft.com/office/drawing/2014/main" id="{D23FAA3E-80EC-C025-3B6C-C11DB5E93F75}"/>
                </a:ext>
              </a:extLst>
            </p:cNvPr>
            <p:cNvSpPr/>
            <p:nvPr/>
          </p:nvSpPr>
          <p:spPr>
            <a:xfrm>
              <a:off x="5172772" y="3611371"/>
              <a:ext cx="2463940" cy="368300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r>
                <a:rPr lang="zh-CN" altLang="en-US" sz="18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可能的下条指令地址</a:t>
              </a:r>
            </a:p>
          </p:txBody>
        </p:sp>
        <p:cxnSp>
          <p:nvCxnSpPr>
            <p:cNvPr id="63" name="Straight Arrow Connector 35">
              <a:extLst>
                <a:ext uri="{FF2B5EF4-FFF2-40B4-BE49-F238E27FC236}">
                  <a16:creationId xmlns:a16="http://schemas.microsoft.com/office/drawing/2014/main" id="{EBA24E6C-10B3-775B-A1DF-58BB68CFB771}"/>
                </a:ext>
              </a:extLst>
            </p:cNvPr>
            <p:cNvCxnSpPr>
              <a:cxnSpLocks/>
              <a:stCxn id="65" idx="2"/>
            </p:cNvCxnSpPr>
            <p:nvPr/>
          </p:nvCxnSpPr>
          <p:spPr>
            <a:xfrm flipH="1">
              <a:off x="7641367" y="2553246"/>
              <a:ext cx="4643" cy="386048"/>
            </a:xfrm>
            <a:prstGeom prst="straightConnector1">
              <a:avLst/>
            </a:prstGeom>
            <a:ln w="25400" cap="rnd">
              <a:solidFill>
                <a:schemeClr val="tx1"/>
              </a:solidFill>
              <a:headEnd type="triangle" w="med" len="lg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Arrow Connector 34">
              <a:extLst>
                <a:ext uri="{FF2B5EF4-FFF2-40B4-BE49-F238E27FC236}">
                  <a16:creationId xmlns:a16="http://schemas.microsoft.com/office/drawing/2014/main" id="{D382A31D-59C5-4953-D92D-757C7DCAD433}"/>
                </a:ext>
              </a:extLst>
            </p:cNvPr>
            <p:cNvCxnSpPr/>
            <p:nvPr/>
          </p:nvCxnSpPr>
          <p:spPr>
            <a:xfrm flipH="1">
              <a:off x="7639045" y="1781150"/>
              <a:ext cx="4643" cy="386048"/>
            </a:xfrm>
            <a:prstGeom prst="straightConnector1">
              <a:avLst/>
            </a:prstGeom>
            <a:ln w="25400" cap="rnd">
              <a:solidFill>
                <a:schemeClr val="tx1"/>
              </a:solidFill>
              <a:headEnd type="triangle" w="med" len="lg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Rectangle 41">
              <a:extLst>
                <a:ext uri="{FF2B5EF4-FFF2-40B4-BE49-F238E27FC236}">
                  <a16:creationId xmlns:a16="http://schemas.microsoft.com/office/drawing/2014/main" id="{A9BB3AA7-1734-D734-E554-5870655D6161}"/>
                </a:ext>
              </a:extLst>
            </p:cNvPr>
            <p:cNvSpPr/>
            <p:nvPr/>
          </p:nvSpPr>
          <p:spPr>
            <a:xfrm>
              <a:off x="6988686" y="2173069"/>
              <a:ext cx="1314647" cy="380177"/>
            </a:xfrm>
            <a:prstGeom prst="rect">
              <a:avLst/>
            </a:prstGeom>
            <a:solidFill>
              <a:srgbClr val="8064A2">
                <a:lumMod val="40000"/>
                <a:lumOff val="60000"/>
              </a:srgbClr>
            </a:solidFill>
            <a:ln w="254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wrap="square" rtlCol="0" anchor="ctr">
              <a:no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800" kern="0" dirty="0">
                  <a:solidFill>
                    <a:schemeClr val="tx1"/>
                  </a:solidFill>
                  <a:latin typeface="+mn-ea"/>
                  <a:ea typeface="+mn-ea"/>
                  <a:cs typeface="Arial" panose="020B0604020202020204" pitchFamily="34" charset="0"/>
                </a:rPr>
                <a:t>寄存器</a:t>
              </a:r>
            </a:p>
          </p:txBody>
        </p:sp>
        <p:sp>
          <p:nvSpPr>
            <p:cNvPr id="66" name="Freeform 32">
              <a:extLst>
                <a:ext uri="{FF2B5EF4-FFF2-40B4-BE49-F238E27FC236}">
                  <a16:creationId xmlns:a16="http://schemas.microsoft.com/office/drawing/2014/main" id="{4CA57DF8-3C06-D4FB-CC16-87E17EDDF5D5}"/>
                </a:ext>
              </a:extLst>
            </p:cNvPr>
            <p:cNvSpPr/>
            <p:nvPr/>
          </p:nvSpPr>
          <p:spPr>
            <a:xfrm>
              <a:off x="6741590" y="1422677"/>
              <a:ext cx="242451" cy="1724378"/>
            </a:xfrm>
            <a:custGeom>
              <a:avLst/>
              <a:gdLst>
                <a:gd name="connsiteX0" fmla="*/ 852054 w 857250"/>
                <a:gd name="connsiteY0" fmla="*/ 0 h 789709"/>
                <a:gd name="connsiteX1" fmla="*/ 701386 w 857250"/>
                <a:gd name="connsiteY1" fmla="*/ 5196 h 789709"/>
                <a:gd name="connsiteX2" fmla="*/ 0 w 857250"/>
                <a:gd name="connsiteY2" fmla="*/ 5196 h 789709"/>
                <a:gd name="connsiteX3" fmla="*/ 0 w 857250"/>
                <a:gd name="connsiteY3" fmla="*/ 789709 h 789709"/>
                <a:gd name="connsiteX4" fmla="*/ 857250 w 857250"/>
                <a:gd name="connsiteY4" fmla="*/ 789709 h 7897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250" h="789709">
                  <a:moveTo>
                    <a:pt x="852054" y="0"/>
                  </a:moveTo>
                  <a:lnTo>
                    <a:pt x="701386" y="5196"/>
                  </a:lnTo>
                  <a:lnTo>
                    <a:pt x="0" y="5196"/>
                  </a:lnTo>
                  <a:lnTo>
                    <a:pt x="0" y="789709"/>
                  </a:lnTo>
                  <a:lnTo>
                    <a:pt x="857250" y="789709"/>
                  </a:lnTo>
                </a:path>
              </a:pathLst>
            </a:custGeom>
            <a:noFill/>
            <a:ln>
              <a:headEnd type="triangl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4600"/>
            </a:p>
          </p:txBody>
        </p:sp>
        <p:sp>
          <p:nvSpPr>
            <p:cNvPr id="67" name="Freeform 2">
              <a:extLst>
                <a:ext uri="{FF2B5EF4-FFF2-40B4-BE49-F238E27FC236}">
                  <a16:creationId xmlns:a16="http://schemas.microsoft.com/office/drawing/2014/main" id="{0AF25300-54B3-D4A6-9534-103B4BA7CC31}"/>
                </a:ext>
              </a:extLst>
            </p:cNvPr>
            <p:cNvSpPr/>
            <p:nvPr/>
          </p:nvSpPr>
          <p:spPr>
            <a:xfrm>
              <a:off x="8315661" y="1559859"/>
              <a:ext cx="430306" cy="806823"/>
            </a:xfrm>
            <a:custGeom>
              <a:avLst/>
              <a:gdLst>
                <a:gd name="connsiteX0" fmla="*/ 430306 w 430306"/>
                <a:gd name="connsiteY0" fmla="*/ 0 h 806823"/>
                <a:gd name="connsiteX1" fmla="*/ 430306 w 430306"/>
                <a:gd name="connsiteY1" fmla="*/ 806823 h 806823"/>
                <a:gd name="connsiteX2" fmla="*/ 0 w 430306"/>
                <a:gd name="connsiteY2" fmla="*/ 806823 h 806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0306" h="806823">
                  <a:moveTo>
                    <a:pt x="430306" y="0"/>
                  </a:moveTo>
                  <a:lnTo>
                    <a:pt x="430306" y="806823"/>
                  </a:lnTo>
                  <a:lnTo>
                    <a:pt x="0" y="806823"/>
                  </a:lnTo>
                </a:path>
              </a:pathLst>
            </a:custGeom>
            <a:noFill/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4600"/>
            </a:p>
          </p:txBody>
        </p:sp>
        <p:sp>
          <p:nvSpPr>
            <p:cNvPr id="68" name="Rectangle 29" descr="e">
              <a:extLst>
                <a:ext uri="{FF2B5EF4-FFF2-40B4-BE49-F238E27FC236}">
                  <a16:creationId xmlns:a16="http://schemas.microsoft.com/office/drawing/2014/main" id="{9784E0C6-7D78-2521-7663-959BC48B8046}"/>
                </a:ext>
              </a:extLst>
            </p:cNvPr>
            <p:cNvSpPr/>
            <p:nvPr/>
          </p:nvSpPr>
          <p:spPr>
            <a:xfrm>
              <a:off x="2634930" y="1070496"/>
              <a:ext cx="267523" cy="2301372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noAutofit/>
            </a:bodyPr>
            <a:lstStyle/>
            <a:p>
              <a:r>
                <a:rPr lang="zh-CN" altLang="en-US" sz="16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接口</a:t>
              </a:r>
            </a:p>
          </p:txBody>
        </p:sp>
        <p:sp>
          <p:nvSpPr>
            <p:cNvPr id="69" name="矩形 10">
              <a:extLst>
                <a:ext uri="{FF2B5EF4-FFF2-40B4-BE49-F238E27FC236}">
                  <a16:creationId xmlns:a16="http://schemas.microsoft.com/office/drawing/2014/main" id="{2D9201CA-3011-6CAD-5A07-36C92095F597}"/>
                </a:ext>
              </a:extLst>
            </p:cNvPr>
            <p:cNvSpPr/>
            <p:nvPr/>
          </p:nvSpPr>
          <p:spPr>
            <a:xfrm>
              <a:off x="3946544" y="2501591"/>
              <a:ext cx="1691025" cy="5835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1600" b="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rPr>
                <a:t>指令解码</a:t>
              </a:r>
              <a:endParaRPr lang="en-US" altLang="zh-CN" sz="1600" b="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endParaRPr>
            </a:p>
            <a:p>
              <a:r>
                <a:rPr lang="en-US" altLang="zh-CN" sz="1600" b="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rPr>
                <a:t>&amp; </a:t>
              </a:r>
              <a:r>
                <a:rPr lang="zh-CN" altLang="en-US" sz="1600" b="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rPr>
                <a:t>控制信号生成</a:t>
              </a:r>
            </a:p>
          </p:txBody>
        </p:sp>
        <p:sp>
          <p:nvSpPr>
            <p:cNvPr id="70" name="Rectangle 29" descr="e">
              <a:extLst>
                <a:ext uri="{FF2B5EF4-FFF2-40B4-BE49-F238E27FC236}">
                  <a16:creationId xmlns:a16="http://schemas.microsoft.com/office/drawing/2014/main" id="{1171ABC3-06B8-4892-D942-60050B4CFB4C}"/>
                </a:ext>
              </a:extLst>
            </p:cNvPr>
            <p:cNvSpPr/>
            <p:nvPr/>
          </p:nvSpPr>
          <p:spPr>
            <a:xfrm>
              <a:off x="780939" y="1070497"/>
              <a:ext cx="1853991" cy="1962818"/>
            </a:xfrm>
            <a:prstGeom prst="rect">
              <a:avLst/>
            </a:prstGeom>
            <a:solidFill>
              <a:srgbClr val="8064A2">
                <a:lumMod val="40000"/>
                <a:lumOff val="60000"/>
              </a:srgbClr>
            </a:solidFill>
            <a:ln w="254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wrap="square" rtlCol="0" anchor="t">
              <a:no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28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指令存储</a:t>
              </a:r>
            </a:p>
          </p:txBody>
        </p:sp>
        <p:sp>
          <p:nvSpPr>
            <p:cNvPr id="71" name="Rectangle 29" descr="e">
              <a:extLst>
                <a:ext uri="{FF2B5EF4-FFF2-40B4-BE49-F238E27FC236}">
                  <a16:creationId xmlns:a16="http://schemas.microsoft.com/office/drawing/2014/main" id="{694DA9C9-C3C9-9031-E736-4EE17DCC8BE4}"/>
                </a:ext>
              </a:extLst>
            </p:cNvPr>
            <p:cNvSpPr/>
            <p:nvPr/>
          </p:nvSpPr>
          <p:spPr>
            <a:xfrm>
              <a:off x="3952600" y="1076772"/>
              <a:ext cx="1691024" cy="2317433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t">
              <a:noAutofit/>
            </a:bodyPr>
            <a:lstStyle/>
            <a:p>
              <a:endPara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endParaRPr>
            </a:p>
            <a:p>
              <a:r>
                <a:rPr lang="zh-CN" altLang="en-US" sz="28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控制模块</a:t>
              </a:r>
            </a:p>
          </p:txBody>
        </p:sp>
        <p:sp>
          <p:nvSpPr>
            <p:cNvPr id="72" name="矩形 10">
              <a:extLst>
                <a:ext uri="{FF2B5EF4-FFF2-40B4-BE49-F238E27FC236}">
                  <a16:creationId xmlns:a16="http://schemas.microsoft.com/office/drawing/2014/main" id="{D802B710-F205-68C3-0F8F-43BD757D3BAD}"/>
                </a:ext>
              </a:extLst>
            </p:cNvPr>
            <p:cNvSpPr/>
            <p:nvPr/>
          </p:nvSpPr>
          <p:spPr>
            <a:xfrm>
              <a:off x="782680" y="2343484"/>
              <a:ext cx="1842445" cy="5835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1600" b="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所有指令按地址顺序存储</a:t>
              </a:r>
            </a:p>
          </p:txBody>
        </p:sp>
      </p:grpSp>
      <p:sp>
        <p:nvSpPr>
          <p:cNvPr id="48" name="标题 1"/>
          <p:cNvSpPr>
            <a:spLocks noGrp="1"/>
          </p:cNvSpPr>
          <p:nvPr>
            <p:ph type="title"/>
          </p:nvPr>
        </p:nvSpPr>
        <p:spPr>
          <a:xfrm>
            <a:off x="368032" y="136525"/>
            <a:ext cx="8407937" cy="1143000"/>
          </a:xfrm>
        </p:spPr>
        <p:txBody>
          <a:bodyPr>
            <a:noAutofit/>
          </a:bodyPr>
          <a:lstStyle/>
          <a:p>
            <a:r>
              <a:rPr lang="zh-CN" altLang="en-US" sz="4000" dirty="0">
                <a:latin typeface="Arial" panose="020B0604020202020204" pitchFamily="34" charset="0"/>
                <a:ea typeface="黑体" panose="02010609060101010101" pitchFamily="49" charset="-122"/>
              </a:rPr>
              <a:t>从专用芯片到处理器：总结</a:t>
            </a:r>
            <a:endParaRPr lang="zh-CN" altLang="en-US" sz="4000" dirty="0">
              <a:solidFill>
                <a:schemeClr val="tx1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grpSp>
        <p:nvGrpSpPr>
          <p:cNvPr id="2" name="Group 41"/>
          <p:cNvGrpSpPr/>
          <p:nvPr/>
        </p:nvGrpSpPr>
        <p:grpSpPr>
          <a:xfrm>
            <a:off x="590369" y="1541889"/>
            <a:ext cx="7983296" cy="1536113"/>
            <a:chOff x="228600" y="1013366"/>
            <a:chExt cx="7983296" cy="1536113"/>
          </a:xfrm>
        </p:grpSpPr>
        <p:sp>
          <p:nvSpPr>
            <p:cNvPr id="4" name="Rectangle 29" descr="e"/>
            <p:cNvSpPr/>
            <p:nvPr/>
          </p:nvSpPr>
          <p:spPr>
            <a:xfrm>
              <a:off x="228600" y="1013366"/>
              <a:ext cx="3316991" cy="153611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noAutofit/>
            </a:bodyPr>
            <a:lstStyle/>
            <a:p>
              <a:pPr algn="l"/>
              <a:r>
                <a:rPr lang="zh-CN" altLang="en-US" sz="28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存储器</a:t>
              </a:r>
            </a:p>
          </p:txBody>
        </p:sp>
        <p:sp>
          <p:nvSpPr>
            <p:cNvPr id="9" name="Rectangle 29" descr="e"/>
            <p:cNvSpPr/>
            <p:nvPr/>
          </p:nvSpPr>
          <p:spPr>
            <a:xfrm>
              <a:off x="1690213" y="1013366"/>
              <a:ext cx="1855377" cy="77959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noAutofit/>
            </a:bodyPr>
            <a:lstStyle/>
            <a:p>
              <a:r>
                <a:rPr lang="zh-CN" altLang="en-US" sz="24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指令存储</a:t>
              </a:r>
            </a:p>
          </p:txBody>
        </p:sp>
        <p:sp>
          <p:nvSpPr>
            <p:cNvPr id="26" name="Rectangle 29" descr="e"/>
            <p:cNvSpPr/>
            <p:nvPr/>
          </p:nvSpPr>
          <p:spPr>
            <a:xfrm>
              <a:off x="4797907" y="1253490"/>
              <a:ext cx="1026411" cy="1084705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noAutofit/>
            </a:bodyPr>
            <a:lstStyle/>
            <a:p>
              <a:r>
                <a:rPr lang="zh-CN" altLang="en-US" sz="24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控制模块</a:t>
              </a:r>
            </a:p>
          </p:txBody>
        </p:sp>
        <p:sp>
          <p:nvSpPr>
            <p:cNvPr id="38" name="Rectangle 29" descr="e"/>
            <p:cNvSpPr/>
            <p:nvPr/>
          </p:nvSpPr>
          <p:spPr>
            <a:xfrm>
              <a:off x="6125532" y="1252038"/>
              <a:ext cx="1026411" cy="1086157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noAutofit/>
            </a:bodyPr>
            <a:lstStyle/>
            <a:p>
              <a:r>
                <a:rPr lang="zh-CN" altLang="en-US" sz="28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算术模块</a:t>
              </a:r>
            </a:p>
          </p:txBody>
        </p:sp>
        <p:sp>
          <p:nvSpPr>
            <p:cNvPr id="39" name="Rectangle 29" descr="e"/>
            <p:cNvSpPr/>
            <p:nvPr/>
          </p:nvSpPr>
          <p:spPr>
            <a:xfrm>
              <a:off x="1690212" y="1801606"/>
              <a:ext cx="1855377" cy="74787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noAutofit/>
            </a:bodyPr>
            <a:lstStyle/>
            <a:p>
              <a:r>
                <a:rPr lang="zh-CN" altLang="en-US" sz="24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数据存储</a:t>
              </a:r>
            </a:p>
          </p:txBody>
        </p:sp>
        <p:sp>
          <p:nvSpPr>
            <p:cNvPr id="40" name="Rectangle 29" descr="e"/>
            <p:cNvSpPr/>
            <p:nvPr/>
          </p:nvSpPr>
          <p:spPr>
            <a:xfrm>
              <a:off x="4572000" y="1013366"/>
              <a:ext cx="3639896" cy="1536113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t">
              <a:noAutofit/>
            </a:bodyPr>
            <a:lstStyle/>
            <a:p>
              <a:pPr algn="r"/>
              <a:r>
                <a:rPr lang="en-US" altLang="zh-CN" sz="20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CPU</a:t>
              </a:r>
            </a:p>
          </p:txBody>
        </p:sp>
        <p:sp>
          <p:nvSpPr>
            <p:cNvPr id="41" name="Left-Right Arrow 5"/>
            <p:cNvSpPr/>
            <p:nvPr/>
          </p:nvSpPr>
          <p:spPr>
            <a:xfrm>
              <a:off x="3545589" y="1559860"/>
              <a:ext cx="1026411" cy="451821"/>
            </a:xfrm>
            <a:prstGeom prst="leftRightArrow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noAutofit/>
            </a:bodyPr>
            <a:lstStyle/>
            <a:p>
              <a:pPr algn="l"/>
              <a:endPara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" name="Rectangle 29" descr="e"/>
            <p:cNvSpPr/>
            <p:nvPr/>
          </p:nvSpPr>
          <p:spPr>
            <a:xfrm>
              <a:off x="7296563" y="1477494"/>
              <a:ext cx="717529" cy="86070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noAutofit/>
            </a:bodyPr>
            <a:lstStyle/>
            <a:p>
              <a:r>
                <a:rPr lang="en-US" altLang="zh-CN" sz="18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REG</a:t>
              </a:r>
            </a:p>
          </p:txBody>
        </p:sp>
      </p:grpSp>
      <p:sp>
        <p:nvSpPr>
          <p:cNvPr id="36" name="灯片编号占位符 35">
            <a:extLst>
              <a:ext uri="{FF2B5EF4-FFF2-40B4-BE49-F238E27FC236}">
                <a16:creationId xmlns:a16="http://schemas.microsoft.com/office/drawing/2014/main" id="{84247A4D-A77D-FFEF-C847-705957E89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t>25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本节课目录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solidFill>
                  <a:srgbClr val="0432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引言</a:t>
            </a:r>
            <a:endParaRPr lang="en-US" altLang="zh-CN" dirty="0">
              <a:solidFill>
                <a:srgbClr val="0432FF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1"/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从算法到处理器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1"/>
            <a:r>
              <a:rPr lang="zh-CN" altLang="en-US" dirty="0">
                <a:solidFill>
                  <a:srgbClr val="0432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通用处理器的结构</a:t>
            </a:r>
            <a:endParaRPr lang="en-US" altLang="zh-CN" dirty="0">
              <a:solidFill>
                <a:srgbClr val="0432FF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1"/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程序执行流程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指令集设计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总结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5A03B4C-D838-0862-428C-1FEC8D128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t>26</a:t>
            </a:fld>
            <a:endParaRPr lang="en-US" altLang="zh-CN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处理器的演变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226" b="19584"/>
          <a:stretch>
            <a:fillRect/>
          </a:stretch>
        </p:blipFill>
        <p:spPr bwMode="auto">
          <a:xfrm>
            <a:off x="876270" y="1366221"/>
            <a:ext cx="2629949" cy="1582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876270" y="2743763"/>
            <a:ext cx="2629949" cy="82994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算盘</a:t>
            </a:r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r>
              <a:rPr lang="zh-CN" altLang="en-US" sz="24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（北宋）</a:t>
            </a:r>
          </a:p>
        </p:txBody>
      </p:sp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6429" y="1165915"/>
            <a:ext cx="3012414" cy="18388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5476684" y="2743763"/>
            <a:ext cx="2151904" cy="82994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机械计算机</a:t>
            </a:r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r>
              <a:rPr lang="zh-CN" altLang="en-US" sz="24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（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17</a:t>
            </a:r>
            <a:r>
              <a:rPr lang="zh-CN" altLang="en-US" sz="24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世纪）</a:t>
            </a:r>
          </a:p>
        </p:txBody>
      </p:sp>
      <p:pic>
        <p:nvPicPr>
          <p:cNvPr id="9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1961" y="3752071"/>
            <a:ext cx="2580258" cy="17287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3566250" y="5502657"/>
            <a:ext cx="2011680" cy="82994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电子管计算机</a:t>
            </a:r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r>
              <a:rPr lang="zh-CN" altLang="en-US" sz="24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（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1946</a:t>
            </a:r>
            <a:r>
              <a:rPr lang="zh-CN" altLang="en-US" sz="24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年）</a:t>
            </a:r>
          </a:p>
        </p:txBody>
      </p:sp>
      <p:pic>
        <p:nvPicPr>
          <p:cNvPr id="11" name="Picture 8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23" r="6335"/>
          <a:stretch>
            <a:fillRect/>
          </a:stretch>
        </p:blipFill>
        <p:spPr bwMode="auto">
          <a:xfrm>
            <a:off x="6302800" y="3756085"/>
            <a:ext cx="2580259" cy="17287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6428975" y="5502657"/>
            <a:ext cx="2481580" cy="82994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处理器芯片</a:t>
            </a:r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r>
              <a:rPr lang="zh-CN" altLang="en-US" sz="24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（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1971</a:t>
            </a:r>
            <a:r>
              <a:rPr lang="zh-CN" altLang="en-US" sz="24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年至今）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AF786D77-3A3C-FCCA-9B6B-3D2E1901B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t>27</a:t>
            </a:fld>
            <a:endParaRPr lang="en-US" altLang="zh-CN"/>
          </a:p>
        </p:txBody>
      </p:sp>
      <p:sp>
        <p:nvSpPr>
          <p:cNvPr id="20" name="Rectangle 9">
            <a:extLst>
              <a:ext uri="{FF2B5EF4-FFF2-40B4-BE49-F238E27FC236}">
                <a16:creationId xmlns:a16="http://schemas.microsoft.com/office/drawing/2014/main" id="{38C4F7AE-76B7-B385-DD59-6A3A6F1608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432" y="5501605"/>
            <a:ext cx="1798890" cy="83099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图灵机模型</a:t>
            </a:r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r>
              <a:rPr lang="zh-CN" altLang="en-US" sz="24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（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1936</a:t>
            </a:r>
            <a:r>
              <a:rPr lang="zh-CN" altLang="en-US" sz="24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年）</a:t>
            </a:r>
          </a:p>
        </p:txBody>
      </p:sp>
      <p:pic>
        <p:nvPicPr>
          <p:cNvPr id="13" name="Picture 4">
            <a:extLst>
              <a:ext uri="{FF2B5EF4-FFF2-40B4-BE49-F238E27FC236}">
                <a16:creationId xmlns:a16="http://schemas.microsoft.com/office/drawing/2014/main" id="{70A7919A-315D-BF82-1E35-7547BBCAB4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208" y="3654988"/>
            <a:ext cx="2077734" cy="1892116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Rectangle 54">
            <a:extLst>
              <a:ext uri="{FF2B5EF4-FFF2-40B4-BE49-F238E27FC236}">
                <a16:creationId xmlns:a16="http://schemas.microsoft.com/office/drawing/2014/main" id="{9B1325CC-51E9-FF26-6A21-209F691AC5D8}"/>
              </a:ext>
            </a:extLst>
          </p:cNvPr>
          <p:cNvSpPr/>
          <p:nvPr/>
        </p:nvSpPr>
        <p:spPr>
          <a:xfrm>
            <a:off x="2371360" y="3891599"/>
            <a:ext cx="346797" cy="1994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l"/>
            <a:endParaRPr lang="zh-CN" altLang="en-US" sz="18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处理器的演变：普林斯顿架构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275069" y="1295426"/>
            <a:ext cx="8267517" cy="1501157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20000"/>
              </a:lnSpc>
            </a:pPr>
            <a:r>
              <a:rPr kumimoji="1" lang="zh-CN" altLang="en-US" sz="3300" dirty="0">
                <a:solidFill>
                  <a:srgbClr val="0432FF"/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普林斯顿架构</a:t>
            </a:r>
            <a:r>
              <a:rPr lang="zh-CN" altLang="en-US" sz="33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*（或称</a:t>
            </a:r>
            <a:r>
              <a:rPr lang="zh-CN" altLang="en-US" sz="3300" dirty="0">
                <a:solidFill>
                  <a:srgbClr val="0432FF"/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冯</a:t>
            </a:r>
            <a:r>
              <a:rPr lang="en-US" altLang="zh-CN" sz="3300" dirty="0">
                <a:solidFill>
                  <a:srgbClr val="0432FF"/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·</a:t>
            </a:r>
            <a:r>
              <a:rPr lang="zh-CN" altLang="en-US" sz="3300" dirty="0">
                <a:solidFill>
                  <a:srgbClr val="0432FF"/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诺依曼架构</a:t>
            </a:r>
            <a:r>
              <a:rPr lang="zh-CN" altLang="en-US" sz="33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）</a:t>
            </a:r>
            <a:endParaRPr lang="en-US" altLang="zh-CN" sz="3300" dirty="0"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lvl="1">
              <a:lnSpc>
                <a:spcPct val="120000"/>
              </a:lnSpc>
            </a:pPr>
            <a:r>
              <a:rPr lang="zh-CN" altLang="en-US" b="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存储器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同时存储指令和其他数据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lvl="1">
              <a:lnSpc>
                <a:spcPct val="120000"/>
              </a:lnSpc>
            </a:pPr>
            <a:r>
              <a:rPr lang="en-US" altLang="zh-CN" b="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CPU</a:t>
            </a:r>
            <a:r>
              <a:rPr lang="zh-CN" altLang="en-US" b="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处理器包括控制单元和计算单元（</a:t>
            </a:r>
            <a:r>
              <a:rPr lang="en-US" altLang="zh-CN" b="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ALU</a:t>
            </a:r>
            <a:r>
              <a:rPr lang="zh-CN" altLang="en-US" b="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）</a:t>
            </a:r>
            <a:endParaRPr lang="en-US" altLang="zh-CN" b="0" dirty="0"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97142" y="6425389"/>
            <a:ext cx="834544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 b="0" i="1" dirty="0">
                <a:solidFill>
                  <a:prstClr val="black"/>
                </a:solidFill>
                <a:latin typeface="+mn-lt"/>
                <a:ea typeface="黑体" panose="02010609060101010101" pitchFamily="49" charset="-122"/>
                <a:cs typeface="Arial" panose="020B0604020202020204" pitchFamily="34" charset="0"/>
              </a:rPr>
              <a:t>*</a:t>
            </a:r>
            <a:r>
              <a:rPr lang="en-US" altLang="zh-CN" sz="1200" b="0" i="1" dirty="0">
                <a:solidFill>
                  <a:prstClr val="black"/>
                </a:solidFill>
                <a:latin typeface="+mn-lt"/>
                <a:ea typeface="黑体" panose="02010609060101010101" pitchFamily="49" charset="-122"/>
                <a:cs typeface="Arial" panose="020B0604020202020204" pitchFamily="34" charset="0"/>
              </a:rPr>
              <a:t>Von Neumann J. First Draft of a Report on the EDVAC[J]. IEEE Annals of the History of Computing, 1993, 15(4): 27-75.</a:t>
            </a:r>
            <a:endParaRPr lang="zh-CN" altLang="en-US" sz="1200" b="0" i="1" dirty="0">
              <a:latin typeface="+mn-lt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4296062" y="2828244"/>
            <a:ext cx="4592838" cy="3429279"/>
            <a:chOff x="4296062" y="2828244"/>
            <a:chExt cx="4592838" cy="3429279"/>
          </a:xfrm>
        </p:grpSpPr>
        <p:sp>
          <p:nvSpPr>
            <p:cNvPr id="20" name="矩形 19"/>
            <p:cNvSpPr/>
            <p:nvPr/>
          </p:nvSpPr>
          <p:spPr>
            <a:xfrm>
              <a:off x="5263925" y="3968854"/>
              <a:ext cx="2663501" cy="2285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CPU</a:t>
              </a:r>
            </a:p>
            <a:p>
              <a:pPr algn="ctr"/>
              <a:endPara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  <a:p>
              <a:pPr algn="ctr"/>
              <a:endPara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  <a:p>
              <a:pPr algn="ctr"/>
              <a:endPara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  <a:p>
              <a:pPr algn="ctr"/>
              <a:endPara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  <a:p>
              <a:pPr algn="ctr"/>
              <a:endPara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  <a:p>
              <a:pPr algn="ctr"/>
              <a:endPara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21" name="矩形 20"/>
            <p:cNvSpPr/>
            <p:nvPr/>
          </p:nvSpPr>
          <p:spPr>
            <a:xfrm>
              <a:off x="5485667" y="4751093"/>
              <a:ext cx="1012614" cy="131207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ALU</a:t>
              </a:r>
            </a:p>
          </p:txBody>
        </p:sp>
        <p:sp>
          <p:nvSpPr>
            <p:cNvPr id="22" name="矩形 21"/>
            <p:cNvSpPr/>
            <p:nvPr/>
          </p:nvSpPr>
          <p:spPr>
            <a:xfrm>
              <a:off x="6692518" y="4751093"/>
              <a:ext cx="1012614" cy="131207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控制单元</a:t>
              </a:r>
            </a:p>
          </p:txBody>
        </p:sp>
        <p:sp>
          <p:nvSpPr>
            <p:cNvPr id="23" name="右箭头 50"/>
            <p:cNvSpPr/>
            <p:nvPr/>
          </p:nvSpPr>
          <p:spPr>
            <a:xfrm>
              <a:off x="4798352" y="4943525"/>
              <a:ext cx="426597" cy="336656"/>
            </a:xfrm>
            <a:prstGeom prst="rightArrow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4600"/>
            </a:p>
          </p:txBody>
        </p:sp>
        <p:sp>
          <p:nvSpPr>
            <p:cNvPr id="24" name="右箭头 51"/>
            <p:cNvSpPr/>
            <p:nvPr/>
          </p:nvSpPr>
          <p:spPr>
            <a:xfrm>
              <a:off x="7931327" y="4943525"/>
              <a:ext cx="426597" cy="336656"/>
            </a:xfrm>
            <a:prstGeom prst="rightArrow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4600"/>
            </a:p>
          </p:txBody>
        </p:sp>
        <p:sp>
          <p:nvSpPr>
            <p:cNvPr id="26" name="矩形 25"/>
            <p:cNvSpPr/>
            <p:nvPr/>
          </p:nvSpPr>
          <p:spPr>
            <a:xfrm>
              <a:off x="5806617" y="2828244"/>
              <a:ext cx="1595442" cy="78467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800" b="1" dirty="0">
                  <a:solidFill>
                    <a:schemeClr val="accent1">
                      <a:lumMod val="75000"/>
                    </a:schemeClr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rPr>
                <a:t>存储器</a:t>
              </a:r>
              <a:r>
                <a:rPr lang="en-US" altLang="zh-CN" sz="1800" b="1" dirty="0">
                  <a:solidFill>
                    <a:schemeClr val="accent1">
                      <a:lumMod val="75000"/>
                    </a:schemeClr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rPr>
                <a:t>:</a:t>
              </a:r>
            </a:p>
            <a:p>
              <a:pPr algn="ctr"/>
              <a:r>
                <a:rPr lang="zh-CN" altLang="en-US" sz="1800" dirty="0">
                  <a:solidFill>
                    <a:schemeClr val="accent1">
                      <a:lumMod val="75000"/>
                    </a:schemeClr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rPr>
                <a:t>指令</a:t>
              </a:r>
              <a:r>
                <a:rPr lang="en-US" altLang="zh-CN" sz="1800" dirty="0">
                  <a:solidFill>
                    <a:schemeClr val="accent1">
                      <a:lumMod val="75000"/>
                    </a:schemeClr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rPr>
                <a:t>&amp;</a:t>
              </a:r>
              <a:r>
                <a:rPr lang="zh-CN" altLang="en-US" sz="1800" dirty="0">
                  <a:solidFill>
                    <a:schemeClr val="accent1">
                      <a:lumMod val="75000"/>
                    </a:schemeClr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rPr>
                <a:t>数据</a:t>
              </a:r>
              <a:endParaRPr lang="zh-CN" altLang="en-US" sz="18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endParaRPr>
            </a:p>
          </p:txBody>
        </p:sp>
        <p:sp>
          <p:nvSpPr>
            <p:cNvPr id="27" name="上下箭头 58"/>
            <p:cNvSpPr/>
            <p:nvPr/>
          </p:nvSpPr>
          <p:spPr>
            <a:xfrm>
              <a:off x="6498835" y="3612921"/>
              <a:ext cx="193683" cy="355933"/>
            </a:xfrm>
            <a:prstGeom prst="upDownArrow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4600"/>
            </a:p>
          </p:txBody>
        </p:sp>
        <p:sp>
          <p:nvSpPr>
            <p:cNvPr id="28" name="矩形 27"/>
            <p:cNvSpPr/>
            <p:nvPr/>
          </p:nvSpPr>
          <p:spPr>
            <a:xfrm rot="16200000">
              <a:off x="3404208" y="4863379"/>
              <a:ext cx="2285998" cy="50229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输入</a:t>
              </a:r>
            </a:p>
          </p:txBody>
        </p:sp>
        <p:sp>
          <p:nvSpPr>
            <p:cNvPr id="29" name="矩形 28"/>
            <p:cNvSpPr/>
            <p:nvPr/>
          </p:nvSpPr>
          <p:spPr>
            <a:xfrm rot="16200000">
              <a:off x="7494756" y="4863378"/>
              <a:ext cx="2285998" cy="50229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输出</a:t>
              </a:r>
            </a:p>
          </p:txBody>
        </p:sp>
      </p:grpSp>
      <p:pic>
        <p:nvPicPr>
          <p:cNvPr id="31" name="Picture 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458" y="3130475"/>
            <a:ext cx="3134758" cy="3124378"/>
          </a:xfrm>
          <a:prstGeom prst="rect">
            <a:avLst/>
          </a:prstGeom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CA296B8-78DC-8988-ECBC-4355E1693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t>28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标题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处理器的演变：哈佛架构</a:t>
            </a:r>
          </a:p>
        </p:txBody>
      </p:sp>
      <p:sp>
        <p:nvSpPr>
          <p:cNvPr id="42" name="TextBox 30"/>
          <p:cNvSpPr txBox="1"/>
          <p:nvPr/>
        </p:nvSpPr>
        <p:spPr>
          <a:xfrm>
            <a:off x="5784983" y="1289029"/>
            <a:ext cx="2277719" cy="4603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哈佛架构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850734" y="4305047"/>
            <a:ext cx="184731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sz="4600" dirty="0"/>
          </a:p>
        </p:txBody>
      </p:sp>
      <p:sp>
        <p:nvSpPr>
          <p:cNvPr id="19" name="矩形 18"/>
          <p:cNvSpPr/>
          <p:nvPr/>
        </p:nvSpPr>
        <p:spPr>
          <a:xfrm>
            <a:off x="5607585" y="2994441"/>
            <a:ext cx="2663501" cy="2285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CPU</a:t>
            </a:r>
          </a:p>
          <a:p>
            <a:pPr algn="ctr"/>
            <a:endParaRPr lang="en-US" altLang="zh-CN" sz="2000" dirty="0">
              <a:solidFill>
                <a:schemeClr val="tx1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algn="ctr"/>
            <a:endParaRPr lang="en-US" altLang="zh-CN" sz="2000" dirty="0">
              <a:solidFill>
                <a:schemeClr val="tx1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algn="ctr"/>
            <a:endParaRPr lang="en-US" altLang="zh-CN" sz="2000" dirty="0">
              <a:solidFill>
                <a:schemeClr val="tx1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algn="ctr"/>
            <a:endParaRPr lang="en-US" altLang="zh-CN" sz="2000" dirty="0">
              <a:solidFill>
                <a:schemeClr val="tx1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algn="ctr"/>
            <a:endParaRPr lang="en-US" altLang="zh-CN" sz="2000" dirty="0">
              <a:solidFill>
                <a:schemeClr val="tx1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algn="ctr"/>
            <a:endParaRPr lang="zh-CN" altLang="en-US" sz="2000" dirty="0">
              <a:solidFill>
                <a:schemeClr val="tx1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23" name="右箭头 50"/>
          <p:cNvSpPr/>
          <p:nvPr/>
        </p:nvSpPr>
        <p:spPr>
          <a:xfrm>
            <a:off x="5267719" y="3969112"/>
            <a:ext cx="328615" cy="336656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600"/>
          </a:p>
        </p:txBody>
      </p:sp>
      <p:sp>
        <p:nvSpPr>
          <p:cNvPr id="24" name="右箭头 51"/>
          <p:cNvSpPr/>
          <p:nvPr/>
        </p:nvSpPr>
        <p:spPr>
          <a:xfrm>
            <a:off x="8271086" y="3969112"/>
            <a:ext cx="284425" cy="336656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600"/>
          </a:p>
        </p:txBody>
      </p:sp>
      <p:sp>
        <p:nvSpPr>
          <p:cNvPr id="25" name="矩形 24"/>
          <p:cNvSpPr/>
          <p:nvPr/>
        </p:nvSpPr>
        <p:spPr>
          <a:xfrm>
            <a:off x="6126124" y="2016133"/>
            <a:ext cx="1595442" cy="6223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rgbClr val="0432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数据存储</a:t>
            </a:r>
          </a:p>
        </p:txBody>
      </p:sp>
      <p:sp>
        <p:nvSpPr>
          <p:cNvPr id="26" name="上下箭头 58"/>
          <p:cNvSpPr/>
          <p:nvPr/>
        </p:nvSpPr>
        <p:spPr>
          <a:xfrm>
            <a:off x="6818342" y="2638508"/>
            <a:ext cx="193683" cy="355933"/>
          </a:xfrm>
          <a:prstGeom prst="upDown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600"/>
          </a:p>
        </p:txBody>
      </p:sp>
      <p:sp>
        <p:nvSpPr>
          <p:cNvPr id="27" name="矩形 26"/>
          <p:cNvSpPr/>
          <p:nvPr/>
        </p:nvSpPr>
        <p:spPr>
          <a:xfrm rot="16200000">
            <a:off x="3970295" y="3931896"/>
            <a:ext cx="2285998" cy="4164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输入</a:t>
            </a:r>
          </a:p>
        </p:txBody>
      </p:sp>
      <p:sp>
        <p:nvSpPr>
          <p:cNvPr id="28" name="矩形 27"/>
          <p:cNvSpPr/>
          <p:nvPr/>
        </p:nvSpPr>
        <p:spPr>
          <a:xfrm rot="16200000">
            <a:off x="7649413" y="3931895"/>
            <a:ext cx="2285998" cy="41642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输出</a:t>
            </a:r>
          </a:p>
        </p:txBody>
      </p:sp>
      <p:sp>
        <p:nvSpPr>
          <p:cNvPr id="29" name="矩形 28"/>
          <p:cNvSpPr/>
          <p:nvPr/>
        </p:nvSpPr>
        <p:spPr>
          <a:xfrm>
            <a:off x="6126124" y="5667512"/>
            <a:ext cx="1595442" cy="6223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rgbClr val="0432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指令存储</a:t>
            </a:r>
          </a:p>
        </p:txBody>
      </p:sp>
      <p:sp>
        <p:nvSpPr>
          <p:cNvPr id="43" name="上下箭头 58"/>
          <p:cNvSpPr/>
          <p:nvPr/>
        </p:nvSpPr>
        <p:spPr>
          <a:xfrm>
            <a:off x="6818342" y="5291512"/>
            <a:ext cx="193683" cy="355933"/>
          </a:xfrm>
          <a:prstGeom prst="upDown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600"/>
          </a:p>
        </p:txBody>
      </p:sp>
      <p:sp>
        <p:nvSpPr>
          <p:cNvPr id="18" name="矩形 17"/>
          <p:cNvSpPr/>
          <p:nvPr/>
        </p:nvSpPr>
        <p:spPr>
          <a:xfrm>
            <a:off x="1014916" y="2994198"/>
            <a:ext cx="2663501" cy="2285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CPU</a:t>
            </a:r>
          </a:p>
          <a:p>
            <a:pPr algn="ctr"/>
            <a:endParaRPr lang="en-US" altLang="zh-CN" sz="2000" dirty="0">
              <a:solidFill>
                <a:schemeClr val="tx1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algn="ctr"/>
            <a:endParaRPr lang="en-US" altLang="zh-CN" sz="2000" dirty="0">
              <a:solidFill>
                <a:schemeClr val="tx1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algn="ctr"/>
            <a:endParaRPr lang="en-US" altLang="zh-CN" sz="2000" dirty="0">
              <a:solidFill>
                <a:schemeClr val="tx1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algn="ctr"/>
            <a:endParaRPr lang="en-US" altLang="zh-CN" sz="2000" dirty="0">
              <a:solidFill>
                <a:schemeClr val="tx1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algn="ctr"/>
            <a:endParaRPr lang="en-US" altLang="zh-CN" sz="2000" dirty="0">
              <a:solidFill>
                <a:schemeClr val="tx1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algn="ctr"/>
            <a:endParaRPr lang="zh-CN" altLang="en-US" sz="2000" dirty="0">
              <a:solidFill>
                <a:schemeClr val="tx1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1234924" y="3776437"/>
            <a:ext cx="992674" cy="131207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ALU</a:t>
            </a:r>
          </a:p>
        </p:txBody>
      </p:sp>
      <p:sp>
        <p:nvSpPr>
          <p:cNvPr id="31" name="矩形 30"/>
          <p:cNvSpPr/>
          <p:nvPr/>
        </p:nvSpPr>
        <p:spPr>
          <a:xfrm>
            <a:off x="2492965" y="3776437"/>
            <a:ext cx="992673" cy="131207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控制单元</a:t>
            </a:r>
          </a:p>
        </p:txBody>
      </p:sp>
      <p:sp>
        <p:nvSpPr>
          <p:cNvPr id="32" name="右箭头 50"/>
          <p:cNvSpPr/>
          <p:nvPr/>
        </p:nvSpPr>
        <p:spPr>
          <a:xfrm>
            <a:off x="603133" y="3968869"/>
            <a:ext cx="426597" cy="336656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600"/>
          </a:p>
        </p:txBody>
      </p:sp>
      <p:sp>
        <p:nvSpPr>
          <p:cNvPr id="33" name="右箭头 51"/>
          <p:cNvSpPr/>
          <p:nvPr/>
        </p:nvSpPr>
        <p:spPr>
          <a:xfrm>
            <a:off x="3682318" y="3968869"/>
            <a:ext cx="261465" cy="336656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600"/>
          </a:p>
        </p:txBody>
      </p:sp>
      <p:sp>
        <p:nvSpPr>
          <p:cNvPr id="34" name="TextBox 8"/>
          <p:cNvSpPr txBox="1"/>
          <p:nvPr/>
        </p:nvSpPr>
        <p:spPr>
          <a:xfrm>
            <a:off x="1014916" y="1289029"/>
            <a:ext cx="2663501" cy="4603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普林斯顿架构</a:t>
            </a:r>
          </a:p>
        </p:txBody>
      </p:sp>
      <p:sp>
        <p:nvSpPr>
          <p:cNvPr id="35" name="矩形 34"/>
          <p:cNvSpPr/>
          <p:nvPr/>
        </p:nvSpPr>
        <p:spPr>
          <a:xfrm>
            <a:off x="1234924" y="2165525"/>
            <a:ext cx="2240810" cy="4727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dirty="0">
                <a:solidFill>
                  <a:srgbClr val="0432FF"/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数据</a:t>
            </a:r>
            <a:r>
              <a:rPr lang="en-US" altLang="zh-CN" sz="1800" dirty="0">
                <a:solidFill>
                  <a:srgbClr val="0432FF"/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&amp;</a:t>
            </a:r>
            <a:r>
              <a:rPr lang="zh-CN" altLang="en-US" sz="1800" dirty="0">
                <a:solidFill>
                  <a:srgbClr val="0432FF"/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指令存储</a:t>
            </a:r>
          </a:p>
        </p:txBody>
      </p:sp>
      <p:sp>
        <p:nvSpPr>
          <p:cNvPr id="36" name="上下箭头 58"/>
          <p:cNvSpPr/>
          <p:nvPr/>
        </p:nvSpPr>
        <p:spPr>
          <a:xfrm>
            <a:off x="2249826" y="2638265"/>
            <a:ext cx="193683" cy="355933"/>
          </a:xfrm>
          <a:prstGeom prst="upDown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600"/>
          </a:p>
        </p:txBody>
      </p:sp>
      <p:sp>
        <p:nvSpPr>
          <p:cNvPr id="37" name="矩形 36"/>
          <p:cNvSpPr/>
          <p:nvPr/>
        </p:nvSpPr>
        <p:spPr>
          <a:xfrm rot="16200000">
            <a:off x="-655443" y="3935214"/>
            <a:ext cx="2285998" cy="42659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输入</a:t>
            </a:r>
          </a:p>
        </p:txBody>
      </p:sp>
      <p:sp>
        <p:nvSpPr>
          <p:cNvPr id="38" name="矩形 37"/>
          <p:cNvSpPr/>
          <p:nvPr/>
        </p:nvSpPr>
        <p:spPr>
          <a:xfrm rot="16200000">
            <a:off x="3014084" y="3923899"/>
            <a:ext cx="2285998" cy="42659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输出</a:t>
            </a:r>
          </a:p>
        </p:txBody>
      </p:sp>
      <p:sp>
        <p:nvSpPr>
          <p:cNvPr id="52" name="矩形 29"/>
          <p:cNvSpPr/>
          <p:nvPr/>
        </p:nvSpPr>
        <p:spPr>
          <a:xfrm>
            <a:off x="5813979" y="3776437"/>
            <a:ext cx="992674" cy="131207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ALU</a:t>
            </a:r>
          </a:p>
        </p:txBody>
      </p:sp>
      <p:sp>
        <p:nvSpPr>
          <p:cNvPr id="53" name="矩形 30"/>
          <p:cNvSpPr/>
          <p:nvPr/>
        </p:nvSpPr>
        <p:spPr>
          <a:xfrm>
            <a:off x="7072020" y="3776437"/>
            <a:ext cx="992673" cy="131207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控制单元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1AD52AA8-17A9-E32B-F42B-1BE1ACA04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t>29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黑体" pitchFamily="49" charset="-122"/>
              </a:rPr>
              <a:t>本节课目录</a:t>
            </a:r>
            <a:endParaRPr lang="zh-CN" altLang="en-US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solidFill>
                  <a:srgbClr val="0432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引言</a:t>
            </a:r>
            <a:endParaRPr lang="en-US" altLang="zh-CN" dirty="0">
              <a:solidFill>
                <a:srgbClr val="0432FF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1"/>
            <a:r>
              <a:rPr lang="zh-CN" altLang="en-US" dirty="0">
                <a:latin typeface="Arial" panose="020B0604020202020204" pitchFamily="34" charset="0"/>
              </a:rPr>
              <a:t>从算法到处理器</a:t>
            </a:r>
            <a:endParaRPr lang="en-US" altLang="zh-CN" dirty="0">
              <a:latin typeface="Arial" panose="020B0604020202020204" pitchFamily="34" charset="0"/>
            </a:endParaRPr>
          </a:p>
          <a:p>
            <a:pPr lvl="1"/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通用处理器的结构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1"/>
            <a:r>
              <a:rPr lang="zh-CN" altLang="en-US" dirty="0">
                <a:solidFill>
                  <a:srgbClr val="0432FF"/>
                </a:solidFill>
                <a:latin typeface="Arial" panose="020B0604020202020204" pitchFamily="34" charset="0"/>
              </a:rPr>
              <a:t>程序执行流程</a:t>
            </a:r>
            <a:endParaRPr lang="en-US" altLang="zh-CN" dirty="0">
              <a:solidFill>
                <a:srgbClr val="0432FF"/>
              </a:solidFill>
              <a:latin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指令集设计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总结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08BE2FC-378A-0324-C967-89CD57F49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t>30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5703348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程序执行流程：数据存储格式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939"/>
            <a:ext cx="8229600" cy="4525963"/>
          </a:xfrm>
        </p:spPr>
        <p:txBody>
          <a:bodyPr/>
          <a:lstStyle/>
          <a:p>
            <a:r>
              <a:rPr kumimoji="1" lang="zh-CN" altLang="en-US" sz="28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使用</a:t>
            </a:r>
            <a:r>
              <a:rPr kumimoji="1" lang="en-US" altLang="zh-CN" sz="28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0/1</a:t>
            </a:r>
            <a:r>
              <a:rPr kumimoji="1" lang="zh-CN" altLang="en-US" sz="28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组成的二进制序列表示数据</a:t>
            </a:r>
            <a:endParaRPr kumimoji="1" lang="en-US" altLang="zh-CN" sz="2800" dirty="0"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r>
              <a:rPr lang="zh-CN" altLang="en-US" sz="28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指令和数据被编码为</a:t>
            </a:r>
            <a:r>
              <a:rPr lang="en-US" altLang="zh-CN" sz="28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0</a:t>
            </a:r>
            <a:r>
              <a:rPr lang="zh-CN" altLang="en-US" sz="28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和</a:t>
            </a:r>
            <a:r>
              <a:rPr lang="en-US" altLang="zh-CN" sz="28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1</a:t>
            </a:r>
            <a:r>
              <a:rPr lang="zh-CN" altLang="en-US" sz="28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，存放在指定地址</a:t>
            </a:r>
            <a:endParaRPr kumimoji="1" lang="zh-CN" altLang="en-US" sz="2800" dirty="0"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grpSp>
        <p:nvGrpSpPr>
          <p:cNvPr id="22" name="Group 21"/>
          <p:cNvGrpSpPr/>
          <p:nvPr/>
        </p:nvGrpSpPr>
        <p:grpSpPr>
          <a:xfrm>
            <a:off x="1348547" y="2630306"/>
            <a:ext cx="6831997" cy="3895745"/>
            <a:chOff x="1021892" y="2285746"/>
            <a:chExt cx="6831997" cy="3895745"/>
          </a:xfrm>
        </p:grpSpPr>
        <p:grpSp>
          <p:nvGrpSpPr>
            <p:cNvPr id="23" name="Group 22"/>
            <p:cNvGrpSpPr/>
            <p:nvPr/>
          </p:nvGrpSpPr>
          <p:grpSpPr>
            <a:xfrm>
              <a:off x="1846543" y="2766461"/>
              <a:ext cx="6007346" cy="3415030"/>
              <a:chOff x="1463018" y="2281029"/>
              <a:chExt cx="6007346" cy="3415030"/>
            </a:xfrm>
          </p:grpSpPr>
          <p:sp>
            <p:nvSpPr>
              <p:cNvPr id="31" name="Text Box 11"/>
              <p:cNvSpPr txBox="1">
                <a:spLocks noChangeArrowheads="1"/>
              </p:cNvSpPr>
              <p:nvPr/>
            </p:nvSpPr>
            <p:spPr bwMode="auto">
              <a:xfrm>
                <a:off x="1463018" y="2281029"/>
                <a:ext cx="5989364" cy="341503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 type="none" w="sm" len="sm"/>
                <a:tailEnd type="none" w="sm" len="sm"/>
              </a:ln>
              <a:effectLst/>
            </p:spPr>
            <p:txBody>
              <a:bodyPr wrap="square" lIns="92075" tIns="46038" rIns="92075" bIns="46038">
                <a:spAutoFit/>
              </a:bodyPr>
              <a:lstStyle>
                <a:lvl1pPr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50000"/>
                  </a:lnSpc>
                </a:pPr>
                <a:r>
                  <a:rPr lang="en-US" altLang="zh-CN" sz="2400" dirty="0">
                    <a:ea typeface="黑体" panose="02010609060101010101" pitchFamily="49" charset="-122"/>
                    <a:cs typeface="Arial" panose="020B0604020202020204" pitchFamily="34" charset="0"/>
                  </a:rPr>
                  <a:t>00100000 00001000 00000000 00000001</a:t>
                </a:r>
              </a:p>
              <a:p>
                <a:pPr eaLnBrk="1" hangingPunct="1">
                  <a:lnSpc>
                    <a:spcPct val="150000"/>
                  </a:lnSpc>
                </a:pPr>
                <a:r>
                  <a:rPr lang="en-US" altLang="zh-CN" sz="2400" dirty="0">
                    <a:ea typeface="黑体" panose="02010609060101010101" pitchFamily="49" charset="-122"/>
                    <a:cs typeface="Arial" panose="020B0604020202020204" pitchFamily="34" charset="0"/>
                  </a:rPr>
                  <a:t>00100001 00001000 00000000 00000010</a:t>
                </a:r>
              </a:p>
              <a:p>
                <a:pPr eaLnBrk="1" hangingPunct="1">
                  <a:lnSpc>
                    <a:spcPct val="150000"/>
                  </a:lnSpc>
                </a:pPr>
                <a:r>
                  <a:rPr lang="en-US" altLang="zh-CN" sz="2400" dirty="0">
                    <a:ea typeface="黑体" panose="02010609060101010101" pitchFamily="49" charset="-122"/>
                    <a:cs typeface="Arial" panose="020B0604020202020204" pitchFamily="34" charset="0"/>
                  </a:rPr>
                  <a:t>10101100 00001000 00011111 01000000</a:t>
                </a:r>
              </a:p>
            </p:txBody>
          </p:sp>
          <p:cxnSp>
            <p:nvCxnSpPr>
              <p:cNvPr id="32" name="Straight Connector 31"/>
              <p:cNvCxnSpPr/>
              <p:nvPr/>
            </p:nvCxnSpPr>
            <p:spPr>
              <a:xfrm>
                <a:off x="1463018" y="2886075"/>
                <a:ext cx="5989364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" name="AutoShape 14"/>
              <p:cNvSpPr>
                <a:spLocks noChangeArrowheads="1"/>
              </p:cNvSpPr>
              <p:nvPr/>
            </p:nvSpPr>
            <p:spPr bwMode="auto">
              <a:xfrm>
                <a:off x="1463018" y="2338179"/>
                <a:ext cx="6007346" cy="2929639"/>
              </a:xfrm>
              <a:prstGeom prst="flowChartDocument">
                <a:avLst/>
              </a:prstGeom>
              <a:noFill/>
              <a:ln w="19050" algn="ctr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</p:spPr>
            <p:txBody>
              <a:bodyPr wrap="square" lIns="92075" tIns="46038" rIns="92075" bIns="46038" anchor="ctr">
                <a:spAutoFit/>
              </a:bodyPr>
              <a:lstStyle/>
              <a:p>
                <a:endParaRPr lang="zh-CN" altLang="en-US" sz="4600"/>
              </a:p>
            </p:txBody>
          </p:sp>
          <p:cxnSp>
            <p:nvCxnSpPr>
              <p:cNvPr id="34" name="Straight Connector 33"/>
              <p:cNvCxnSpPr/>
              <p:nvPr/>
            </p:nvCxnSpPr>
            <p:spPr>
              <a:xfrm>
                <a:off x="1463018" y="3429000"/>
                <a:ext cx="5989364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>
              <a:xfrm>
                <a:off x="1463018" y="3986567"/>
                <a:ext cx="5989364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4" name="TextBox 23"/>
            <p:cNvSpPr txBox="1"/>
            <p:nvPr/>
          </p:nvSpPr>
          <p:spPr>
            <a:xfrm>
              <a:off x="1021892" y="2285746"/>
              <a:ext cx="792480" cy="460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>
                  <a:solidFill>
                    <a:srgbClr val="0432FF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地址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131499" y="2904722"/>
              <a:ext cx="655955" cy="3987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>
                  <a:solidFill>
                    <a:srgbClr val="0432FF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0x0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131499" y="3438681"/>
              <a:ext cx="655955" cy="3987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>
                  <a:solidFill>
                    <a:srgbClr val="0432FF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0x4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131499" y="3982806"/>
              <a:ext cx="655955" cy="3987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>
                  <a:solidFill>
                    <a:srgbClr val="0432FF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0x8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 rot="5400000">
              <a:off x="1125557" y="4765040"/>
              <a:ext cx="792480" cy="460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>
                  <a:solidFill>
                    <a:srgbClr val="0432FF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……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 rot="5400000">
              <a:off x="4592657" y="4765040"/>
              <a:ext cx="792480" cy="460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……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4452706" y="2285746"/>
              <a:ext cx="792480" cy="460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内容</a:t>
              </a:r>
            </a:p>
          </p:txBody>
        </p:sp>
      </p:grp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7703996-FA16-3BA2-4E32-8B98AB459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t>31</a:t>
            </a:fld>
            <a:endParaRPr lang="en-US" altLang="zh-CN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2"/>
          <p:cNvSpPr txBox="1"/>
          <p:nvPr/>
        </p:nvSpPr>
        <p:spPr bwMode="auto">
          <a:xfrm>
            <a:off x="457200" y="1174917"/>
            <a:ext cx="8229600" cy="79929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latin typeface="+mn-lt"/>
                <a:ea typeface="黑体" panose="02010609060101010101" pitchFamily="49" charset="-122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chemeClr val="tx1"/>
                </a:solidFill>
                <a:latin typeface="+mn-lt"/>
                <a:ea typeface="黑体" panose="02010609060101010101" pitchFamily="49" charset="-122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黑体" panose="02010609060101010101" pitchFamily="49" charset="-122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latin typeface="+mn-lt"/>
                <a:ea typeface="黑体" panose="02010609060101010101" pitchFamily="49" charset="-122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黑体" panose="02010609060101010101" pitchFamily="49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50000"/>
              </a:lnSpc>
            </a:pPr>
            <a:r>
              <a:rPr kumimoji="1" lang="zh-CN" altLang="en-US" sz="2800" kern="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指令集架构中数据应如何存储？以</a:t>
            </a:r>
            <a:r>
              <a:rPr kumimoji="1" lang="en-US" altLang="zh-CN" sz="2800" kern="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MIPS</a:t>
            </a:r>
            <a:r>
              <a:rPr kumimoji="1" lang="zh-CN" altLang="en-US" sz="2800" kern="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为例</a:t>
            </a:r>
            <a:endParaRPr kumimoji="1" lang="en-US" altLang="zh-CN" sz="2800" kern="0" dirty="0"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1159915" y="4691446"/>
            <a:ext cx="2379336" cy="4931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l"/>
            <a:endParaRPr lang="en-US" sz="1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指令集：存储结构</a:t>
            </a:r>
          </a:p>
        </p:txBody>
      </p:sp>
      <p:sp>
        <p:nvSpPr>
          <p:cNvPr id="31" name="内容占位符 5"/>
          <p:cNvSpPr txBox="1"/>
          <p:nvPr/>
        </p:nvSpPr>
        <p:spPr>
          <a:xfrm>
            <a:off x="3817797" y="1848076"/>
            <a:ext cx="5077873" cy="3951288"/>
          </a:xfrm>
          <a:prstGeom prst="rect">
            <a:avLst/>
          </a:prstGeom>
        </p:spPr>
        <p:txBody>
          <a:bodyPr/>
          <a:lstStyle>
            <a:lvl1pPr marL="406400" indent="-406400" algn="l" defTabSz="685800" rtl="0" eaLnBrk="1" latinLnBrk="0" hangingPunct="1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685800" indent="-342900" algn="l" defTabSz="685800" rtl="0" eaLnBrk="1" latinLnBrk="0" hangingPunct="1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ü"/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»"/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b="0" dirty="0">
                <a:ea typeface="黑体" panose="02010609060101010101" pitchFamily="49" charset="-122"/>
                <a:cs typeface="黑体" panose="02010609060101010101" pitchFamily="49" charset="-122"/>
              </a:rPr>
              <a:t>数据按行存储</a:t>
            </a:r>
            <a:endParaRPr lang="en-US" altLang="zh-CN" b="0" dirty="0"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lvl="1" fontAlgn="auto">
              <a:lnSpc>
                <a:spcPct val="150000"/>
              </a:lnSpc>
              <a:spcAft>
                <a:spcPts val="0"/>
              </a:spcAft>
              <a:buFont typeface="系统字体常规体"/>
              <a:buChar char="–"/>
            </a:pPr>
            <a:r>
              <a:rPr lang="zh-CN" altLang="en-US" sz="2000" b="0" dirty="0">
                <a:ea typeface="黑体" panose="02010609060101010101" pitchFamily="49" charset="-122"/>
                <a:cs typeface="黑体" panose="02010609060101010101" pitchFamily="49" charset="-122"/>
              </a:rPr>
              <a:t>以字节为单位索引</a:t>
            </a:r>
            <a:endParaRPr lang="en-US" altLang="zh-CN" sz="2000" b="0" dirty="0"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lvl="1" fontAlgn="auto">
              <a:lnSpc>
                <a:spcPct val="150000"/>
              </a:lnSpc>
              <a:spcAft>
                <a:spcPts val="0"/>
              </a:spcAft>
              <a:buFont typeface="系统字体常规体"/>
              <a:buChar char="–"/>
            </a:pPr>
            <a:r>
              <a:rPr lang="zh-CN" altLang="en-US" sz="2000" b="0" dirty="0">
                <a:ea typeface="黑体" panose="02010609060101010101" pitchFamily="49" charset="-122"/>
                <a:cs typeface="黑体" panose="02010609060101010101" pitchFamily="49" charset="-122"/>
              </a:rPr>
              <a:t>每个地址对应</a:t>
            </a:r>
            <a:r>
              <a:rPr lang="en-US" altLang="zh-CN" sz="2000" b="0" dirty="0">
                <a:ea typeface="黑体" panose="02010609060101010101" pitchFamily="49" charset="-122"/>
                <a:cs typeface="黑体" panose="02010609060101010101" pitchFamily="49" charset="-122"/>
              </a:rPr>
              <a:t>1</a:t>
            </a:r>
            <a:r>
              <a:rPr lang="zh-CN" altLang="en-US" sz="2000" b="0" dirty="0">
                <a:ea typeface="黑体" panose="02010609060101010101" pitchFamily="49" charset="-122"/>
                <a:cs typeface="黑体" panose="02010609060101010101" pitchFamily="49" charset="-122"/>
              </a:rPr>
              <a:t>字节数据</a:t>
            </a:r>
            <a:endParaRPr lang="en-US" altLang="zh-CN" sz="2000" b="0" dirty="0"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fontAlgn="auto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b="0" dirty="0">
                <a:ea typeface="黑体" panose="02010609060101010101" pitchFamily="49" charset="-122"/>
                <a:cs typeface="黑体" panose="02010609060101010101" pitchFamily="49" charset="-122"/>
              </a:rPr>
              <a:t>字节序</a:t>
            </a:r>
            <a:endParaRPr lang="en-US" altLang="zh-CN" b="0" dirty="0"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lvl="1" fontAlgn="auto">
              <a:lnSpc>
                <a:spcPct val="150000"/>
              </a:lnSpc>
              <a:spcAft>
                <a:spcPts val="0"/>
              </a:spcAft>
              <a:buFont typeface="系统字体常规体"/>
              <a:buChar char="–"/>
            </a:pPr>
            <a:r>
              <a:rPr lang="zh-CN" altLang="en-US" sz="2000" b="0" dirty="0">
                <a:ea typeface="黑体" panose="02010609060101010101" pitchFamily="49" charset="-122"/>
                <a:cs typeface="黑体" panose="02010609060101010101" pitchFamily="49" charset="-122"/>
              </a:rPr>
              <a:t>多字节数据的存储顺序</a:t>
            </a:r>
            <a:endParaRPr lang="en-US" altLang="zh-CN" sz="2000" b="0" dirty="0"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lvl="1" fontAlgn="auto">
              <a:lnSpc>
                <a:spcPct val="150000"/>
              </a:lnSpc>
              <a:spcAft>
                <a:spcPts val="0"/>
              </a:spcAft>
              <a:buFont typeface="系统字体常规体"/>
              <a:buChar char="–"/>
            </a:pPr>
            <a:r>
              <a:rPr lang="zh-CN" altLang="en-US" sz="2000" b="0" dirty="0">
                <a:ea typeface="黑体" panose="02010609060101010101" pitchFamily="49" charset="-122"/>
                <a:cs typeface="黑体" panose="02010609060101010101" pitchFamily="49" charset="-122"/>
              </a:rPr>
              <a:t>以</a:t>
            </a:r>
            <a:r>
              <a:rPr lang="en-US" altLang="zh-CN" sz="2000" b="0" dirty="0">
                <a:ea typeface="黑体" panose="02010609060101010101" pitchFamily="49" charset="-122"/>
                <a:cs typeface="黑体" panose="02010609060101010101" pitchFamily="49" charset="-122"/>
              </a:rPr>
              <a:t>4</a:t>
            </a:r>
            <a:r>
              <a:rPr lang="zh-CN" altLang="en-US" sz="2000" b="0" dirty="0">
                <a:ea typeface="黑体" panose="02010609060101010101" pitchFamily="49" charset="-122"/>
                <a:cs typeface="黑体" panose="02010609060101010101" pitchFamily="49" charset="-122"/>
              </a:rPr>
              <a:t>字节数据</a:t>
            </a:r>
            <a:r>
              <a:rPr lang="en-US" altLang="zh-CN" sz="2000" b="0" dirty="0">
                <a:ea typeface="黑体" panose="02010609060101010101" pitchFamily="49" charset="-122"/>
                <a:cs typeface="黑体" panose="02010609060101010101" pitchFamily="49" charset="-122"/>
              </a:rPr>
              <a:t>0x</a:t>
            </a:r>
            <a:r>
              <a:rPr lang="en-US" altLang="zh-CN" sz="2000" b="0" dirty="0">
                <a:solidFill>
                  <a:srgbClr val="FF9966"/>
                </a:solidFill>
                <a:ea typeface="黑体" panose="02010609060101010101" pitchFamily="49" charset="-122"/>
                <a:cs typeface="黑体" panose="02010609060101010101" pitchFamily="49" charset="-122"/>
              </a:rPr>
              <a:t>12</a:t>
            </a:r>
            <a:r>
              <a:rPr lang="en-US" altLang="zh-CN" sz="2000" b="0" dirty="0">
                <a:solidFill>
                  <a:srgbClr val="7030A0"/>
                </a:solidFill>
                <a:ea typeface="黑体" panose="02010609060101010101" pitchFamily="49" charset="-122"/>
                <a:cs typeface="黑体" panose="02010609060101010101" pitchFamily="49" charset="-122"/>
              </a:rPr>
              <a:t>34</a:t>
            </a:r>
            <a:r>
              <a:rPr lang="en-US" altLang="zh-CN" sz="2000" b="0" dirty="0">
                <a:solidFill>
                  <a:srgbClr val="00B050"/>
                </a:solidFill>
                <a:ea typeface="黑体" panose="02010609060101010101" pitchFamily="49" charset="-122"/>
                <a:cs typeface="黑体" panose="02010609060101010101" pitchFamily="49" charset="-122"/>
              </a:rPr>
              <a:t>56</a:t>
            </a:r>
            <a:r>
              <a:rPr lang="en-US" altLang="zh-CN" sz="2000" b="0" dirty="0">
                <a:solidFill>
                  <a:srgbClr val="0070C0"/>
                </a:solidFill>
                <a:ea typeface="黑体" panose="02010609060101010101" pitchFamily="49" charset="-122"/>
                <a:cs typeface="黑体" panose="02010609060101010101" pitchFamily="49" charset="-122"/>
              </a:rPr>
              <a:t>78</a:t>
            </a:r>
            <a:r>
              <a:rPr lang="zh-CN" altLang="en-US" sz="2000" b="0" dirty="0">
                <a:ea typeface="黑体" panose="02010609060101010101" pitchFamily="49" charset="-122"/>
                <a:cs typeface="黑体" panose="02010609060101010101" pitchFamily="49" charset="-122"/>
              </a:rPr>
              <a:t>的存储为例：</a:t>
            </a:r>
          </a:p>
        </p:txBody>
      </p:sp>
      <p:grpSp>
        <p:nvGrpSpPr>
          <p:cNvPr id="44" name="Group 43"/>
          <p:cNvGrpSpPr/>
          <p:nvPr/>
        </p:nvGrpSpPr>
        <p:grpSpPr>
          <a:xfrm>
            <a:off x="263085" y="1886592"/>
            <a:ext cx="3297596" cy="7244585"/>
            <a:chOff x="263085" y="1886592"/>
            <a:chExt cx="3297596" cy="7244585"/>
          </a:xfrm>
        </p:grpSpPr>
        <p:grpSp>
          <p:nvGrpSpPr>
            <p:cNvPr id="9" name="Group 8"/>
            <p:cNvGrpSpPr/>
            <p:nvPr/>
          </p:nvGrpSpPr>
          <p:grpSpPr>
            <a:xfrm>
              <a:off x="1159916" y="2391922"/>
              <a:ext cx="2400765" cy="6739255"/>
              <a:chOff x="1463018" y="2219721"/>
              <a:chExt cx="6029829" cy="6739255"/>
            </a:xfrm>
          </p:grpSpPr>
          <p:sp>
            <p:nvSpPr>
              <p:cNvPr id="14" name="Text Box 11"/>
              <p:cNvSpPr txBox="1">
                <a:spLocks noChangeArrowheads="1"/>
              </p:cNvSpPr>
              <p:nvPr/>
            </p:nvSpPr>
            <p:spPr bwMode="auto">
              <a:xfrm>
                <a:off x="1503483" y="2219721"/>
                <a:ext cx="5989364" cy="6739255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 type="none" w="sm" len="sm"/>
                <a:tailEnd type="none" w="sm" len="sm"/>
              </a:ln>
              <a:effectLst/>
            </p:spPr>
            <p:txBody>
              <a:bodyPr wrap="square" lIns="92075" tIns="46038" rIns="92075" bIns="46038">
                <a:spAutoFit/>
              </a:bodyPr>
              <a:lstStyle>
                <a:lvl1pPr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50000"/>
                  </a:lnSpc>
                </a:pPr>
                <a:r>
                  <a:rPr lang="en-US" altLang="zh-CN" sz="2400" dirty="0">
                    <a:ea typeface="黑体" panose="02010609060101010101" pitchFamily="49" charset="-122"/>
                    <a:cs typeface="Arial" panose="020B0604020202020204" pitchFamily="34" charset="0"/>
                  </a:rPr>
                  <a:t>0010      1000    0000      0001</a:t>
                </a:r>
              </a:p>
              <a:p>
                <a:pPr eaLnBrk="1" hangingPunct="1">
                  <a:lnSpc>
                    <a:spcPct val="150000"/>
                  </a:lnSpc>
                </a:pPr>
                <a:r>
                  <a:rPr lang="en-US" altLang="zh-CN" sz="2400" dirty="0">
                    <a:ea typeface="黑体" panose="02010609060101010101" pitchFamily="49" charset="-122"/>
                    <a:cs typeface="Arial" panose="020B0604020202020204" pitchFamily="34" charset="0"/>
                  </a:rPr>
                  <a:t>0010      0010</a:t>
                </a:r>
              </a:p>
              <a:p>
                <a:pPr marL="457200" indent="-457200" eaLnBrk="1" hangingPunct="1">
                  <a:lnSpc>
                    <a:spcPct val="150000"/>
                  </a:lnSpc>
                  <a:buAutoNum type="arabicPlain" startAt="1010"/>
                </a:pPr>
                <a:r>
                  <a:rPr lang="en-US" altLang="zh-CN" sz="2400" dirty="0">
                    <a:ea typeface="黑体" panose="02010609060101010101" pitchFamily="49" charset="-122"/>
                    <a:cs typeface="Arial" panose="020B0604020202020204" pitchFamily="34" charset="0"/>
                  </a:rPr>
                  <a:t>      0000</a:t>
                </a:r>
              </a:p>
              <a:p>
                <a:pPr eaLnBrk="1" hangingPunct="1">
                  <a:lnSpc>
                    <a:spcPct val="150000"/>
                  </a:lnSpc>
                </a:pPr>
                <a:r>
                  <a:rPr lang="en-US" altLang="zh-CN" sz="2400" dirty="0">
                    <a:ea typeface="黑体" panose="02010609060101010101" pitchFamily="49" charset="-122"/>
                    <a:cs typeface="Arial" panose="020B0604020202020204" pitchFamily="34" charset="0"/>
                  </a:rPr>
                  <a:t>0001      1000</a:t>
                </a:r>
              </a:p>
              <a:p>
                <a:pPr marL="457200" indent="-457200" eaLnBrk="1" hangingPunct="1">
                  <a:lnSpc>
                    <a:spcPct val="150000"/>
                  </a:lnSpc>
                  <a:buAutoNum type="arabicPlain" startAt="1010"/>
                </a:pPr>
                <a:endParaRPr lang="en-US" altLang="zh-CN" sz="2400" dirty="0">
                  <a:ea typeface="黑体" panose="02010609060101010101" pitchFamily="49" charset="-122"/>
                  <a:cs typeface="Arial" panose="020B0604020202020204" pitchFamily="34" charset="0"/>
                </a:endParaRPr>
              </a:p>
              <a:p>
                <a:pPr eaLnBrk="1" hangingPunct="1">
                  <a:lnSpc>
                    <a:spcPct val="150000"/>
                  </a:lnSpc>
                </a:pPr>
                <a:endParaRPr lang="en-US" altLang="zh-CN" sz="2400" dirty="0">
                  <a:ea typeface="黑体" panose="02010609060101010101" pitchFamily="49" charset="-122"/>
                  <a:cs typeface="Arial" panose="020B0604020202020204" pitchFamily="34" charset="0"/>
                </a:endParaRPr>
              </a:p>
              <a:p>
                <a:pPr eaLnBrk="1" hangingPunct="1">
                  <a:lnSpc>
                    <a:spcPct val="150000"/>
                  </a:lnSpc>
                </a:pPr>
                <a:endParaRPr lang="en-US" altLang="zh-CN" sz="2400" dirty="0">
                  <a:ea typeface="黑体" panose="02010609060101010101" pitchFamily="49" charset="-122"/>
                  <a:cs typeface="Arial" panose="020B0604020202020204" pitchFamily="34" charset="0"/>
                </a:endParaRPr>
              </a:p>
            </p:txBody>
          </p:sp>
          <p:cxnSp>
            <p:nvCxnSpPr>
              <p:cNvPr id="15" name="Straight Connector 14"/>
              <p:cNvCxnSpPr/>
              <p:nvPr/>
            </p:nvCxnSpPr>
            <p:spPr>
              <a:xfrm>
                <a:off x="1463018" y="2886075"/>
                <a:ext cx="5989364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AutoShape 14"/>
              <p:cNvSpPr>
                <a:spLocks noChangeArrowheads="1"/>
              </p:cNvSpPr>
              <p:nvPr/>
            </p:nvSpPr>
            <p:spPr bwMode="auto">
              <a:xfrm>
                <a:off x="1463018" y="2338179"/>
                <a:ext cx="5989363" cy="3804271"/>
              </a:xfrm>
              <a:prstGeom prst="flowChartDocument">
                <a:avLst/>
              </a:prstGeom>
              <a:noFill/>
              <a:ln w="19050" algn="ctr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</p:spPr>
            <p:txBody>
              <a:bodyPr wrap="square" lIns="92075" tIns="46038" rIns="92075" bIns="46038" anchor="ctr">
                <a:spAutoFit/>
              </a:bodyPr>
              <a:lstStyle/>
              <a:p>
                <a:endParaRPr lang="zh-CN" altLang="en-US" sz="4600"/>
              </a:p>
            </p:txBody>
          </p:sp>
          <p:cxnSp>
            <p:nvCxnSpPr>
              <p:cNvPr id="17" name="Straight Connector 16"/>
              <p:cNvCxnSpPr/>
              <p:nvPr/>
            </p:nvCxnSpPr>
            <p:spPr>
              <a:xfrm>
                <a:off x="1463018" y="3429000"/>
                <a:ext cx="5989364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/>
              <p:cNvCxnSpPr/>
              <p:nvPr/>
            </p:nvCxnSpPr>
            <p:spPr>
              <a:xfrm>
                <a:off x="1463018" y="3986567"/>
                <a:ext cx="5989364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TextBox 9"/>
            <p:cNvSpPr txBox="1"/>
            <p:nvPr/>
          </p:nvSpPr>
          <p:spPr>
            <a:xfrm>
              <a:off x="263086" y="2040735"/>
              <a:ext cx="881148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>
                  <a:solidFill>
                    <a:srgbClr val="0432FF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地址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63086" y="2594495"/>
              <a:ext cx="881148" cy="3987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solidFill>
                    <a:srgbClr val="0432FF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0x00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 rot="5400000">
              <a:off x="381624" y="5334616"/>
              <a:ext cx="792480" cy="460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>
                  <a:solidFill>
                    <a:srgbClr val="0432FF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……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 rot="5400000">
              <a:off x="2077388" y="5347650"/>
              <a:ext cx="792480" cy="460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……</a:t>
              </a:r>
            </a:p>
          </p:txBody>
        </p:sp>
        <p:sp>
          <p:nvSpPr>
            <p:cNvPr id="19" name="Right Brace 18"/>
            <p:cNvSpPr/>
            <p:nvPr/>
          </p:nvSpPr>
          <p:spPr>
            <a:xfrm rot="16200000" flipV="1">
              <a:off x="2326580" y="1253829"/>
              <a:ext cx="155448" cy="2227191"/>
            </a:xfrm>
            <a:prstGeom prst="rightBrace">
              <a:avLst>
                <a:gd name="adj1" fmla="val 57352"/>
                <a:gd name="adj2" fmla="val 50000"/>
              </a:avLst>
            </a:prstGeom>
            <a:ln w="3810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460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263085" y="3139711"/>
              <a:ext cx="881148" cy="3987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solidFill>
                    <a:srgbClr val="0432FF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0x04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263085" y="3684364"/>
              <a:ext cx="881148" cy="3987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solidFill>
                    <a:srgbClr val="0432FF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0x08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263085" y="4218923"/>
              <a:ext cx="881148" cy="3987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solidFill>
                    <a:srgbClr val="0432FF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0x0C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963730" y="1886592"/>
              <a:ext cx="881148" cy="3987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32bit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2128971" y="4142167"/>
              <a:ext cx="487680" cy="460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…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2123653" y="3592888"/>
              <a:ext cx="487680" cy="460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…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2123653" y="3044411"/>
              <a:ext cx="487680" cy="460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…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2118335" y="2495132"/>
              <a:ext cx="487680" cy="460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…</a:t>
              </a:r>
            </a:p>
          </p:txBody>
        </p:sp>
        <p:cxnSp>
          <p:nvCxnSpPr>
            <p:cNvPr id="41" name="Straight Connector 40"/>
            <p:cNvCxnSpPr/>
            <p:nvPr/>
          </p:nvCxnSpPr>
          <p:spPr>
            <a:xfrm>
              <a:off x="1159916" y="4693716"/>
              <a:ext cx="238465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>
              <a:off x="1154597" y="5176560"/>
              <a:ext cx="238465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/>
            <p:cNvSpPr txBox="1"/>
            <p:nvPr/>
          </p:nvSpPr>
          <p:spPr>
            <a:xfrm>
              <a:off x="263085" y="4730863"/>
              <a:ext cx="881148" cy="3987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solidFill>
                    <a:srgbClr val="0432FF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0x10</a:t>
              </a:r>
            </a:p>
          </p:txBody>
        </p:sp>
      </p:grpSp>
      <p:sp>
        <p:nvSpPr>
          <p:cNvPr id="52" name="TextBox 51"/>
          <p:cNvSpPr txBox="1"/>
          <p:nvPr/>
        </p:nvSpPr>
        <p:spPr>
          <a:xfrm>
            <a:off x="2129857" y="4649664"/>
            <a:ext cx="4876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30310" y="5124593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rgbClr val="0432FF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0x</a:t>
            </a:r>
            <a:r>
              <a:rPr lang="en-US" altLang="zh-CN" sz="1800" dirty="0">
                <a:solidFill>
                  <a:srgbClr val="0432FF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0</a:t>
            </a:r>
            <a:r>
              <a:rPr lang="en-US" sz="1800" dirty="0">
                <a:solidFill>
                  <a:srgbClr val="0432FF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15008" y="5129107"/>
            <a:ext cx="6495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 dirty="0">
                <a:solidFill>
                  <a:srgbClr val="0432FF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地址</a:t>
            </a:r>
          </a:p>
        </p:txBody>
      </p:sp>
      <p:cxnSp>
        <p:nvCxnSpPr>
          <p:cNvPr id="55" name="Straight Arrow Connector 54"/>
          <p:cNvCxnSpPr/>
          <p:nvPr/>
        </p:nvCxnSpPr>
        <p:spPr>
          <a:xfrm flipH="1">
            <a:off x="4572000" y="5153435"/>
            <a:ext cx="3699874" cy="0"/>
          </a:xfrm>
          <a:prstGeom prst="straightConnector1">
            <a:avLst/>
          </a:prstGeom>
          <a:ln w="31750" cap="rnd">
            <a:solidFill>
              <a:srgbClr val="0432FF"/>
            </a:solidFill>
            <a:headEnd type="triangle" w="med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5591114" y="4801231"/>
            <a:ext cx="15985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 dirty="0">
                <a:solidFill>
                  <a:srgbClr val="0432FF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地址增长方向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5E9CD1D0-5EB6-63CC-9A65-99355B9A4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t>32</a:t>
            </a:fld>
            <a:endParaRPr lang="en-US" altLang="zh-CN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5F9E7B51-5A58-BBAB-48C4-82DAD52E195A}"/>
              </a:ext>
            </a:extLst>
          </p:cNvPr>
          <p:cNvGrpSpPr/>
          <p:nvPr/>
        </p:nvGrpSpPr>
        <p:grpSpPr>
          <a:xfrm>
            <a:off x="3528575" y="5927400"/>
            <a:ext cx="5541916" cy="376621"/>
            <a:chOff x="3517900" y="4961253"/>
            <a:chExt cx="5541916" cy="376621"/>
          </a:xfrm>
        </p:grpSpPr>
        <p:sp>
          <p:nvSpPr>
            <p:cNvPr id="32" name="Rectangle 31"/>
            <p:cNvSpPr/>
            <p:nvPr/>
          </p:nvSpPr>
          <p:spPr>
            <a:xfrm>
              <a:off x="4372651" y="4977148"/>
              <a:ext cx="993733" cy="36072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noAutofit/>
            </a:bodyPr>
            <a:lstStyle/>
            <a:p>
              <a:r>
                <a:rPr lang="en-US" sz="18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0</a:t>
              </a:r>
              <a:r>
                <a:rPr lang="en-US" altLang="zh-CN" sz="18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x12</a:t>
              </a:r>
              <a:endParaRPr lang="en-US" sz="18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5366384" y="4977148"/>
              <a:ext cx="993733" cy="360726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noAutofit/>
            </a:bodyPr>
            <a:lstStyle/>
            <a:p>
              <a:r>
                <a:rPr lang="en-US" sz="18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0x34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6360117" y="4977148"/>
              <a:ext cx="993733" cy="360726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noAutofit/>
            </a:bodyPr>
            <a:lstStyle/>
            <a:p>
              <a:r>
                <a:rPr lang="en-US" sz="18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0</a:t>
              </a:r>
              <a:r>
                <a:rPr lang="en-US" altLang="zh-CN" sz="18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x56</a:t>
              </a:r>
              <a:endParaRPr lang="en-US" sz="18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7353850" y="4977148"/>
              <a:ext cx="993733" cy="360726"/>
            </a:xfrm>
            <a:prstGeom prst="rect">
              <a:avLst/>
            </a:prstGeom>
            <a:solidFill>
              <a:srgbClr val="00B0F0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noAutofit/>
            </a:bodyPr>
            <a:lstStyle/>
            <a:p>
              <a:r>
                <a:rPr lang="en-US" sz="18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0x78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8419736" y="4961253"/>
              <a:ext cx="64008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8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数据</a:t>
              </a:r>
            </a:p>
          </p:txBody>
        </p:sp>
        <p:sp>
          <p:nvSpPr>
            <p:cNvPr id="6" name="TextBox 50">
              <a:extLst>
                <a:ext uri="{FF2B5EF4-FFF2-40B4-BE49-F238E27FC236}">
                  <a16:creationId xmlns:a16="http://schemas.microsoft.com/office/drawing/2014/main" id="{263BA2F5-A432-3792-C3EE-B776948A0262}"/>
                </a:ext>
              </a:extLst>
            </p:cNvPr>
            <p:cNvSpPr txBox="1"/>
            <p:nvPr/>
          </p:nvSpPr>
          <p:spPr>
            <a:xfrm>
              <a:off x="3517900" y="4964868"/>
              <a:ext cx="88197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8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大端序</a:t>
              </a:r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DA82D124-8143-11E9-C844-E1BC301809B3}"/>
              </a:ext>
            </a:extLst>
          </p:cNvPr>
          <p:cNvGrpSpPr/>
          <p:nvPr/>
        </p:nvGrpSpPr>
        <p:grpSpPr>
          <a:xfrm>
            <a:off x="3528575" y="5460608"/>
            <a:ext cx="5541916" cy="376621"/>
            <a:chOff x="3517900" y="4961253"/>
            <a:chExt cx="5541916" cy="376621"/>
          </a:xfrm>
        </p:grpSpPr>
        <p:sp>
          <p:nvSpPr>
            <p:cNvPr id="27" name="Rectangle 31">
              <a:extLst>
                <a:ext uri="{FF2B5EF4-FFF2-40B4-BE49-F238E27FC236}">
                  <a16:creationId xmlns:a16="http://schemas.microsoft.com/office/drawing/2014/main" id="{450EFE21-277C-673C-858D-1C882170CFE9}"/>
                </a:ext>
              </a:extLst>
            </p:cNvPr>
            <p:cNvSpPr/>
            <p:nvPr/>
          </p:nvSpPr>
          <p:spPr>
            <a:xfrm>
              <a:off x="4372651" y="4977148"/>
              <a:ext cx="993733" cy="360726"/>
            </a:xfrm>
            <a:prstGeom prst="rect">
              <a:avLst/>
            </a:prstGeom>
            <a:solidFill>
              <a:srgbClr val="00B0F0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noAutofit/>
            </a:bodyPr>
            <a:lstStyle/>
            <a:p>
              <a:r>
                <a:rPr lang="en-US" sz="18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0</a:t>
              </a:r>
              <a:r>
                <a:rPr lang="en-US" altLang="zh-CN" sz="18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x78</a:t>
              </a:r>
              <a:endParaRPr lang="en-US" sz="18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30" name="Rectangle 32">
              <a:extLst>
                <a:ext uri="{FF2B5EF4-FFF2-40B4-BE49-F238E27FC236}">
                  <a16:creationId xmlns:a16="http://schemas.microsoft.com/office/drawing/2014/main" id="{013A6198-04A0-77E7-F1EF-F0AA8E5F76C7}"/>
                </a:ext>
              </a:extLst>
            </p:cNvPr>
            <p:cNvSpPr/>
            <p:nvPr/>
          </p:nvSpPr>
          <p:spPr>
            <a:xfrm>
              <a:off x="5366384" y="4977148"/>
              <a:ext cx="993733" cy="360726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noAutofit/>
            </a:bodyPr>
            <a:lstStyle/>
            <a:p>
              <a:r>
                <a:rPr lang="en-US" sz="18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0x56</a:t>
              </a:r>
            </a:p>
          </p:txBody>
        </p:sp>
        <p:sp>
          <p:nvSpPr>
            <p:cNvPr id="36" name="Rectangle 33">
              <a:extLst>
                <a:ext uri="{FF2B5EF4-FFF2-40B4-BE49-F238E27FC236}">
                  <a16:creationId xmlns:a16="http://schemas.microsoft.com/office/drawing/2014/main" id="{2B9887DE-35EB-1CE0-4EC9-FB83BB034129}"/>
                </a:ext>
              </a:extLst>
            </p:cNvPr>
            <p:cNvSpPr/>
            <p:nvPr/>
          </p:nvSpPr>
          <p:spPr>
            <a:xfrm>
              <a:off x="6360117" y="4977148"/>
              <a:ext cx="993733" cy="360726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noAutofit/>
            </a:bodyPr>
            <a:lstStyle/>
            <a:p>
              <a:r>
                <a:rPr lang="en-US" sz="18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0</a:t>
              </a:r>
              <a:r>
                <a:rPr lang="en-US" altLang="zh-CN" sz="18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x34</a:t>
              </a:r>
              <a:endParaRPr lang="en-US" sz="18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45" name="Rectangle 34">
              <a:extLst>
                <a:ext uri="{FF2B5EF4-FFF2-40B4-BE49-F238E27FC236}">
                  <a16:creationId xmlns:a16="http://schemas.microsoft.com/office/drawing/2014/main" id="{A61BA2C7-7343-0137-1F49-F55E89FCA866}"/>
                </a:ext>
              </a:extLst>
            </p:cNvPr>
            <p:cNvSpPr/>
            <p:nvPr/>
          </p:nvSpPr>
          <p:spPr>
            <a:xfrm>
              <a:off x="7353850" y="4977148"/>
              <a:ext cx="993733" cy="36072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noAutofit/>
            </a:bodyPr>
            <a:lstStyle/>
            <a:p>
              <a:r>
                <a:rPr lang="en-US" sz="18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0x12</a:t>
              </a:r>
            </a:p>
          </p:txBody>
        </p:sp>
        <p:sp>
          <p:nvSpPr>
            <p:cNvPr id="46" name="TextBox 50">
              <a:extLst>
                <a:ext uri="{FF2B5EF4-FFF2-40B4-BE49-F238E27FC236}">
                  <a16:creationId xmlns:a16="http://schemas.microsoft.com/office/drawing/2014/main" id="{5930E82D-7B84-795E-ED5B-76B0B6667F4A}"/>
                </a:ext>
              </a:extLst>
            </p:cNvPr>
            <p:cNvSpPr txBox="1"/>
            <p:nvPr/>
          </p:nvSpPr>
          <p:spPr>
            <a:xfrm>
              <a:off x="8419736" y="4961253"/>
              <a:ext cx="64008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8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数据</a:t>
              </a:r>
            </a:p>
          </p:txBody>
        </p:sp>
        <p:sp>
          <p:nvSpPr>
            <p:cNvPr id="47" name="TextBox 50">
              <a:extLst>
                <a:ext uri="{FF2B5EF4-FFF2-40B4-BE49-F238E27FC236}">
                  <a16:creationId xmlns:a16="http://schemas.microsoft.com/office/drawing/2014/main" id="{EB0CE530-A327-2997-3815-7034AA872B2B}"/>
                </a:ext>
              </a:extLst>
            </p:cNvPr>
            <p:cNvSpPr txBox="1"/>
            <p:nvPr/>
          </p:nvSpPr>
          <p:spPr>
            <a:xfrm>
              <a:off x="3517900" y="4964868"/>
              <a:ext cx="88197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8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小端序</a:t>
              </a:r>
            </a:p>
          </p:txBody>
        </p:sp>
      </p:grpSp>
      <p:sp>
        <p:nvSpPr>
          <p:cNvPr id="49" name="TextBox 36">
            <a:extLst>
              <a:ext uri="{FF2B5EF4-FFF2-40B4-BE49-F238E27FC236}">
                <a16:creationId xmlns:a16="http://schemas.microsoft.com/office/drawing/2014/main" id="{DE8EF8C8-EF1D-75B6-AEDB-BBD0F598B959}"/>
              </a:ext>
            </a:extLst>
          </p:cNvPr>
          <p:cNvSpPr txBox="1"/>
          <p:nvPr/>
        </p:nvSpPr>
        <p:spPr>
          <a:xfrm>
            <a:off x="5524621" y="5124593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rgbClr val="0432FF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0x</a:t>
            </a:r>
            <a:r>
              <a:rPr lang="en-US" altLang="zh-CN" sz="1800" dirty="0">
                <a:solidFill>
                  <a:srgbClr val="0432FF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0</a:t>
            </a:r>
            <a:r>
              <a:rPr lang="en-US" sz="1800" dirty="0">
                <a:solidFill>
                  <a:srgbClr val="0432FF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1</a:t>
            </a:r>
          </a:p>
        </p:txBody>
      </p:sp>
      <p:sp>
        <p:nvSpPr>
          <p:cNvPr id="54" name="TextBox 36">
            <a:extLst>
              <a:ext uri="{FF2B5EF4-FFF2-40B4-BE49-F238E27FC236}">
                <a16:creationId xmlns:a16="http://schemas.microsoft.com/office/drawing/2014/main" id="{67D940BF-8F0C-1FAC-A4CB-8584CA1416E3}"/>
              </a:ext>
            </a:extLst>
          </p:cNvPr>
          <p:cNvSpPr txBox="1"/>
          <p:nvPr/>
        </p:nvSpPr>
        <p:spPr>
          <a:xfrm>
            <a:off x="6518930" y="5124593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rgbClr val="0432FF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0x</a:t>
            </a:r>
            <a:r>
              <a:rPr lang="en-US" altLang="zh-CN" sz="1800" dirty="0">
                <a:solidFill>
                  <a:srgbClr val="0432FF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0</a:t>
            </a:r>
            <a:r>
              <a:rPr lang="en-US" sz="1800" dirty="0">
                <a:solidFill>
                  <a:srgbClr val="0432FF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2</a:t>
            </a:r>
          </a:p>
        </p:txBody>
      </p:sp>
      <p:sp>
        <p:nvSpPr>
          <p:cNvPr id="56" name="TextBox 36">
            <a:extLst>
              <a:ext uri="{FF2B5EF4-FFF2-40B4-BE49-F238E27FC236}">
                <a16:creationId xmlns:a16="http://schemas.microsoft.com/office/drawing/2014/main" id="{5141F930-FCBD-8852-11C3-E91B60993473}"/>
              </a:ext>
            </a:extLst>
          </p:cNvPr>
          <p:cNvSpPr txBox="1"/>
          <p:nvPr/>
        </p:nvSpPr>
        <p:spPr>
          <a:xfrm>
            <a:off x="7513240" y="5124593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rgbClr val="0432FF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0x</a:t>
            </a:r>
            <a:r>
              <a:rPr lang="en-US" altLang="zh-CN" sz="1800" dirty="0">
                <a:solidFill>
                  <a:srgbClr val="0432FF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0</a:t>
            </a:r>
            <a:r>
              <a:rPr lang="en-US" sz="1800" dirty="0">
                <a:solidFill>
                  <a:srgbClr val="0432FF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652011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50" grpId="0"/>
      <p:bldP spid="58" grpId="0"/>
      <p:bldP spid="49" grpId="0"/>
      <p:bldP spid="54" grpId="0"/>
      <p:bldP spid="5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标题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程序执行流程：汇编语言</a:t>
            </a:r>
          </a:p>
        </p:txBody>
      </p:sp>
      <p:sp>
        <p:nvSpPr>
          <p:cNvPr id="1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汇编语言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1"/>
            <a:r>
              <a:rPr kumimoji="1" lang="zh-CN" altLang="en-US" b="0" dirty="0">
                <a:latin typeface="Arial" panose="020B0604020202020204" pitchFamily="34" charset="0"/>
                <a:ea typeface="黑体" panose="02010609060101010101" pitchFamily="49" charset="-122"/>
              </a:rPr>
              <a:t>使用助记符帮助阅读和编写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858406" y="3314366"/>
            <a:ext cx="7577874" cy="2486147"/>
            <a:chOff x="456070" y="2897509"/>
            <a:chExt cx="7577874" cy="2486147"/>
          </a:xfrm>
        </p:grpSpPr>
        <p:sp>
          <p:nvSpPr>
            <p:cNvPr id="18" name="Text Box 13"/>
            <p:cNvSpPr txBox="1">
              <a:spLocks noChangeArrowheads="1"/>
            </p:cNvSpPr>
            <p:nvPr/>
          </p:nvSpPr>
          <p:spPr bwMode="auto">
            <a:xfrm>
              <a:off x="5928806" y="2897509"/>
              <a:ext cx="2105138" cy="46037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lIns="92075" tIns="46038" rIns="92075" bIns="46038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400" dirty="0">
                  <a:ea typeface="黑体" panose="02010609060101010101" pitchFamily="49" charset="-122"/>
                </a:rPr>
                <a:t>机器语言程序</a:t>
              </a:r>
            </a:p>
          </p:txBody>
        </p:sp>
        <p:sp>
          <p:nvSpPr>
            <p:cNvPr id="12" name="Text Box 12"/>
            <p:cNvSpPr txBox="1">
              <a:spLocks noChangeArrowheads="1"/>
            </p:cNvSpPr>
            <p:nvPr/>
          </p:nvSpPr>
          <p:spPr bwMode="auto">
            <a:xfrm>
              <a:off x="713562" y="2898740"/>
              <a:ext cx="2322195" cy="46037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>
                  <a:ea typeface="黑体" panose="02010609060101010101" pitchFamily="49" charset="-122"/>
                </a:rPr>
                <a:t>汇编语言源程序</a:t>
              </a:r>
            </a:p>
          </p:txBody>
        </p:sp>
        <p:sp>
          <p:nvSpPr>
            <p:cNvPr id="13" name="AutoShape 14"/>
            <p:cNvSpPr>
              <a:spLocks noChangeArrowheads="1"/>
            </p:cNvSpPr>
            <p:nvPr/>
          </p:nvSpPr>
          <p:spPr bwMode="auto">
            <a:xfrm>
              <a:off x="456070" y="3441268"/>
              <a:ext cx="2841625" cy="1942388"/>
            </a:xfrm>
            <a:prstGeom prst="flowChartDocument">
              <a:avLst/>
            </a:prstGeom>
            <a:noFill/>
            <a:ln w="19050" algn="ctr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square" lIns="92075" tIns="46038" rIns="92075" bIns="46038" anchor="ctr">
              <a:spAutoFit/>
            </a:bodyPr>
            <a:lstStyle/>
            <a:p>
              <a:endParaRPr lang="zh-CN" altLang="en-US" sz="4600"/>
            </a:p>
          </p:txBody>
        </p:sp>
        <p:sp>
          <p:nvSpPr>
            <p:cNvPr id="14" name="Rectangle 15"/>
            <p:cNvSpPr>
              <a:spLocks noChangeArrowheads="1"/>
            </p:cNvSpPr>
            <p:nvPr/>
          </p:nvSpPr>
          <p:spPr bwMode="auto">
            <a:xfrm>
              <a:off x="553700" y="3708713"/>
              <a:ext cx="2646363" cy="120097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lIns="92075" tIns="46038" rIns="92075" bIns="46038">
              <a:spAutoFit/>
            </a:bodyPr>
            <a:lstStyle/>
            <a:p>
              <a:r>
                <a:rPr lang="pt-BR" altLang="zh-CN" sz="2400" dirty="0">
                  <a:solidFill>
                    <a:srgbClr val="0432FF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addi $s1, $0, 1</a:t>
              </a:r>
            </a:p>
            <a:p>
              <a:r>
                <a:rPr lang="pt-BR" altLang="zh-CN" sz="2400" dirty="0">
                  <a:solidFill>
                    <a:srgbClr val="0432FF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addi $s1, $s1, 2</a:t>
              </a:r>
            </a:p>
            <a:p>
              <a:r>
                <a:rPr lang="pt-BR" altLang="zh-CN" sz="2400" dirty="0">
                  <a:solidFill>
                    <a:srgbClr val="0432FF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sw $s1</a:t>
              </a:r>
              <a:r>
                <a:rPr lang="en-US" altLang="zh-CN" sz="2400" dirty="0">
                  <a:solidFill>
                    <a:srgbClr val="0432FF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, </a:t>
              </a:r>
              <a:r>
                <a:rPr lang="pt-BR" altLang="zh-CN" sz="2400" dirty="0">
                  <a:solidFill>
                    <a:srgbClr val="0432FF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8000($0) </a:t>
              </a:r>
              <a:endParaRPr lang="en-US" altLang="zh-CN" sz="2400" dirty="0">
                <a:solidFill>
                  <a:srgbClr val="0432FF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17" name="Text Box 11"/>
            <p:cNvSpPr txBox="1">
              <a:spLocks noChangeArrowheads="1"/>
            </p:cNvSpPr>
            <p:nvPr/>
          </p:nvSpPr>
          <p:spPr bwMode="auto">
            <a:xfrm>
              <a:off x="6147481" y="3441268"/>
              <a:ext cx="1667788" cy="1198880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square" lIns="92075" tIns="46038" rIns="92075" bIns="46038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400" dirty="0">
                  <a:ea typeface="黑体" panose="02010609060101010101" pitchFamily="49" charset="-122"/>
                  <a:cs typeface="Arial" panose="020B0604020202020204" pitchFamily="34" charset="0"/>
                </a:rPr>
                <a:t>0010…</a:t>
              </a:r>
            </a:p>
            <a:p>
              <a:pPr algn="ctr" eaLnBrk="1" hangingPunct="1"/>
              <a:r>
                <a:rPr lang="en-US" altLang="zh-CN" sz="2400" dirty="0">
                  <a:ea typeface="黑体" panose="02010609060101010101" pitchFamily="49" charset="-122"/>
                  <a:cs typeface="Arial" panose="020B0604020202020204" pitchFamily="34" charset="0"/>
                </a:rPr>
                <a:t>0010…</a:t>
              </a:r>
            </a:p>
            <a:p>
              <a:pPr algn="ctr" eaLnBrk="1" hangingPunct="1"/>
              <a:r>
                <a:rPr lang="en-US" altLang="zh-CN" sz="2400" dirty="0">
                  <a:ea typeface="黑体" panose="02010609060101010101" pitchFamily="49" charset="-122"/>
                  <a:cs typeface="Arial" panose="020B0604020202020204" pitchFamily="34" charset="0"/>
                </a:rPr>
                <a:t>1010…</a:t>
              </a:r>
            </a:p>
          </p:txBody>
        </p:sp>
        <p:cxnSp>
          <p:nvCxnSpPr>
            <p:cNvPr id="19" name="直线箭头连接符 5"/>
            <p:cNvCxnSpPr/>
            <p:nvPr/>
          </p:nvCxnSpPr>
          <p:spPr>
            <a:xfrm>
              <a:off x="3481432" y="4188996"/>
              <a:ext cx="2447374" cy="0"/>
            </a:xfrm>
            <a:prstGeom prst="straightConnector1">
              <a:avLst/>
            </a:prstGeom>
            <a:ln w="38100" cap="rnd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 Box 13"/>
            <p:cNvSpPr txBox="1">
              <a:spLocks noChangeArrowheads="1"/>
            </p:cNvSpPr>
            <p:nvPr/>
          </p:nvSpPr>
          <p:spPr bwMode="auto">
            <a:xfrm>
              <a:off x="3342734" y="3480468"/>
              <a:ext cx="2923844" cy="70675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lIns="92075" tIns="46038" rIns="92075" bIns="46038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000" dirty="0">
                  <a:solidFill>
                    <a:srgbClr val="0432FF"/>
                  </a:solidFill>
                  <a:ea typeface="黑体" panose="02010609060101010101" pitchFamily="49" charset="-122"/>
                  <a:cs typeface="黑体" panose="02010609060101010101" pitchFamily="49" charset="-122"/>
                </a:rPr>
                <a:t>汇编器（</a:t>
              </a:r>
              <a:r>
                <a:rPr lang="en-US" altLang="zh-CN" sz="2000" dirty="0">
                  <a:solidFill>
                    <a:srgbClr val="0432FF"/>
                  </a:solidFill>
                  <a:ea typeface="黑体" panose="02010609060101010101" pitchFamily="49" charset="-122"/>
                  <a:cs typeface="黑体" panose="02010609060101010101" pitchFamily="49" charset="-122"/>
                </a:rPr>
                <a:t>Assembler</a:t>
              </a:r>
              <a:r>
                <a:rPr lang="zh-CN" altLang="en-US" sz="2000" dirty="0">
                  <a:solidFill>
                    <a:srgbClr val="0432FF"/>
                  </a:solidFill>
                  <a:ea typeface="黑体" panose="02010609060101010101" pitchFamily="49" charset="-122"/>
                  <a:cs typeface="黑体" panose="02010609060101010101" pitchFamily="49" charset="-122"/>
                </a:rPr>
                <a:t>）翻译</a:t>
              </a:r>
            </a:p>
          </p:txBody>
        </p:sp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5649A8E-5093-503D-7752-B32CBA4D1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t>33</a:t>
            </a:fld>
            <a:endParaRPr lang="en-US" altLang="zh-CN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程序执行流程：高级语言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1569622" y="3734791"/>
            <a:ext cx="6496151" cy="1456440"/>
            <a:chOff x="1569622" y="4694149"/>
            <a:chExt cx="6496151" cy="1456440"/>
          </a:xfrm>
        </p:grpSpPr>
        <p:sp>
          <p:nvSpPr>
            <p:cNvPr id="6" name="文本框 4"/>
            <p:cNvSpPr txBox="1"/>
            <p:nvPr/>
          </p:nvSpPr>
          <p:spPr>
            <a:xfrm>
              <a:off x="1569622" y="5134926"/>
              <a:ext cx="1346318" cy="101566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noAutofit/>
            </a:bodyPr>
            <a:lstStyle/>
            <a:p>
              <a:pPr algn="ctr"/>
              <a:r>
                <a:rPr lang="zh-CN" altLang="en-US" sz="1800" b="0">
                  <a:latin typeface="Arial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rPr>
                <a:t>人类语言</a:t>
              </a:r>
              <a:endParaRPr lang="en-US" altLang="zh-CN" sz="1800" b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endParaRPr>
            </a:p>
            <a:p>
              <a:pPr algn="ctr"/>
              <a:endParaRPr lang="en-US" altLang="zh-CN" sz="180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endParaRPr>
            </a:p>
            <a:p>
              <a:pPr algn="ctr"/>
              <a:r>
                <a:rPr lang="en-US" altLang="zh-CN" sz="1800" b="0">
                  <a:latin typeface="Arial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rPr>
                <a:t>C</a:t>
              </a:r>
              <a:r>
                <a:rPr lang="zh-CN" altLang="en-US" sz="1800" b="0">
                  <a:latin typeface="Arial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rPr>
                <a:t>等于</a:t>
              </a:r>
              <a:r>
                <a:rPr lang="en-US" altLang="zh-CN" sz="1800" b="0">
                  <a:latin typeface="Arial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rPr>
                <a:t>A</a:t>
              </a:r>
              <a:r>
                <a:rPr lang="zh-CN" altLang="en-US" sz="1800" b="0">
                  <a:latin typeface="Arial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rPr>
                <a:t>加</a:t>
              </a:r>
              <a:r>
                <a:rPr lang="en-US" altLang="zh-CN" sz="1800" b="0">
                  <a:latin typeface="Arial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rPr>
                <a:t>B</a:t>
              </a:r>
              <a:endParaRPr lang="zh-CN" altLang="en-US" sz="1800" b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endParaRPr>
            </a:p>
          </p:txBody>
        </p:sp>
        <p:sp>
          <p:nvSpPr>
            <p:cNvPr id="7" name="文本框 5"/>
            <p:cNvSpPr txBox="1"/>
            <p:nvPr/>
          </p:nvSpPr>
          <p:spPr>
            <a:xfrm>
              <a:off x="3286233" y="5134927"/>
              <a:ext cx="1346318" cy="101566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noAutofit/>
            </a:bodyPr>
            <a:lstStyle/>
            <a:p>
              <a:pPr algn="ctr"/>
              <a:r>
                <a:rPr lang="zh-CN" altLang="en-US" sz="1800" b="0" dirty="0">
                  <a:latin typeface="Arial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rPr>
                <a:t>高级语言</a:t>
              </a:r>
              <a:endParaRPr lang="en-US" altLang="zh-CN" sz="1800" b="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endParaRPr>
            </a:p>
            <a:p>
              <a:pPr algn="ctr"/>
              <a:endParaRPr lang="en-US" altLang="zh-CN" sz="1800" b="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endParaRPr>
            </a:p>
            <a:p>
              <a:pPr algn="ctr"/>
              <a:r>
                <a:rPr lang="en-US" altLang="zh-CN" sz="1800" b="0" dirty="0">
                  <a:latin typeface="Arial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rPr>
                <a:t>C=A+B;</a:t>
              </a:r>
              <a:endParaRPr lang="zh-CN" altLang="en-US" sz="1800" b="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endParaRPr>
            </a:p>
          </p:txBody>
        </p:sp>
        <p:sp>
          <p:nvSpPr>
            <p:cNvPr id="8" name="文本框 6"/>
            <p:cNvSpPr txBox="1"/>
            <p:nvPr/>
          </p:nvSpPr>
          <p:spPr>
            <a:xfrm>
              <a:off x="5002844" y="5134925"/>
              <a:ext cx="1346318" cy="1015663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noAutofit/>
            </a:bodyPr>
            <a:lstStyle/>
            <a:p>
              <a:pPr algn="ctr"/>
              <a:r>
                <a:rPr lang="zh-CN" altLang="en-US" sz="1800" b="0">
                  <a:latin typeface="Arial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rPr>
                <a:t>汇编语言</a:t>
              </a:r>
              <a:endParaRPr lang="en-US" altLang="zh-CN" sz="1800" b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endParaRPr>
            </a:p>
            <a:p>
              <a:pPr algn="ctr"/>
              <a:endParaRPr lang="en-US" altLang="zh-CN" sz="1800" b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endParaRPr>
            </a:p>
            <a:p>
              <a:pPr algn="ctr"/>
              <a:r>
                <a:rPr lang="en-US" altLang="zh-CN" sz="1400" b="0">
                  <a:latin typeface="Arial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rPr>
                <a:t>add $C $A $B</a:t>
              </a:r>
              <a:endParaRPr lang="zh-CN" altLang="en-US" sz="1400" b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endParaRPr>
            </a:p>
          </p:txBody>
        </p:sp>
        <p:sp>
          <p:nvSpPr>
            <p:cNvPr id="9" name="文本框 7"/>
            <p:cNvSpPr txBox="1"/>
            <p:nvPr/>
          </p:nvSpPr>
          <p:spPr>
            <a:xfrm>
              <a:off x="6719455" y="5134926"/>
              <a:ext cx="1346318" cy="1015663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noAutofit/>
            </a:bodyPr>
            <a:lstStyle/>
            <a:p>
              <a:pPr algn="ctr"/>
              <a:r>
                <a:rPr lang="zh-CN" altLang="en-US" sz="2000" b="0">
                  <a:latin typeface="Arial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rPr>
                <a:t>机器语言</a:t>
              </a:r>
              <a:endParaRPr lang="en-US" altLang="zh-CN" sz="2000" b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endParaRPr>
            </a:p>
            <a:p>
              <a:pPr algn="ctr"/>
              <a:endParaRPr lang="en-US" altLang="zh-CN" sz="200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endParaRPr>
            </a:p>
            <a:p>
              <a:pPr algn="ctr"/>
              <a:r>
                <a:rPr lang="en-US" altLang="zh-CN" sz="1600" b="0">
                  <a:latin typeface="Arial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rPr>
                <a:t>0010….1011</a:t>
              </a:r>
            </a:p>
            <a:p>
              <a:pPr algn="ctr"/>
              <a:endParaRPr lang="en-US" altLang="zh-CN" sz="200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endParaRPr>
            </a:p>
            <a:p>
              <a:pPr algn="ctr"/>
              <a:endParaRPr lang="zh-CN" altLang="en-US" sz="200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endParaRPr>
            </a:p>
          </p:txBody>
        </p:sp>
        <p:cxnSp>
          <p:nvCxnSpPr>
            <p:cNvPr id="10" name="直接箭头连接符 8"/>
            <p:cNvCxnSpPr>
              <a:stCxn id="6" idx="3"/>
              <a:endCxn id="7" idx="1"/>
            </p:cNvCxnSpPr>
            <p:nvPr/>
          </p:nvCxnSpPr>
          <p:spPr>
            <a:xfrm>
              <a:off x="2915940" y="5642757"/>
              <a:ext cx="370293" cy="1"/>
            </a:xfrm>
            <a:prstGeom prst="straightConnector1">
              <a:avLst/>
            </a:prstGeom>
            <a:ln w="19050" cap="rnd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箭头连接符 9"/>
            <p:cNvCxnSpPr>
              <a:stCxn id="7" idx="3"/>
              <a:endCxn id="8" idx="1"/>
            </p:cNvCxnSpPr>
            <p:nvPr/>
          </p:nvCxnSpPr>
          <p:spPr>
            <a:xfrm flipV="1">
              <a:off x="4632551" y="5642757"/>
              <a:ext cx="370293" cy="1"/>
            </a:xfrm>
            <a:prstGeom prst="straightConnector1">
              <a:avLst/>
            </a:prstGeom>
            <a:ln w="19050" cap="rnd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箭头连接符 10"/>
            <p:cNvCxnSpPr>
              <a:stCxn id="8" idx="3"/>
              <a:endCxn id="9" idx="1"/>
            </p:cNvCxnSpPr>
            <p:nvPr/>
          </p:nvCxnSpPr>
          <p:spPr>
            <a:xfrm>
              <a:off x="6349162" y="5642757"/>
              <a:ext cx="370293" cy="1"/>
            </a:xfrm>
            <a:prstGeom prst="straightConnector1">
              <a:avLst/>
            </a:prstGeom>
            <a:ln w="19050" cap="rnd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文本框 11"/>
            <p:cNvSpPr txBox="1"/>
            <p:nvPr/>
          </p:nvSpPr>
          <p:spPr>
            <a:xfrm>
              <a:off x="2427927" y="4694149"/>
              <a:ext cx="1346318" cy="3987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程序员</a:t>
              </a:r>
            </a:p>
          </p:txBody>
        </p:sp>
        <p:sp>
          <p:nvSpPr>
            <p:cNvPr id="14" name="文本框 12"/>
            <p:cNvSpPr txBox="1"/>
            <p:nvPr/>
          </p:nvSpPr>
          <p:spPr>
            <a:xfrm>
              <a:off x="4131413" y="4694149"/>
              <a:ext cx="1346318" cy="3987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编译器</a:t>
              </a:r>
            </a:p>
          </p:txBody>
        </p:sp>
        <p:sp>
          <p:nvSpPr>
            <p:cNvPr id="15" name="文本框 13"/>
            <p:cNvSpPr txBox="1"/>
            <p:nvPr/>
          </p:nvSpPr>
          <p:spPr>
            <a:xfrm>
              <a:off x="5834899" y="4694149"/>
              <a:ext cx="1346318" cy="3987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汇编器</a:t>
              </a:r>
            </a:p>
          </p:txBody>
        </p:sp>
      </p:grp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37A21FD-C17A-7930-E158-02041C158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t>34</a:t>
            </a:fld>
            <a:endParaRPr lang="en-US" altLang="zh-CN"/>
          </a:p>
        </p:txBody>
      </p:sp>
      <p:sp>
        <p:nvSpPr>
          <p:cNvPr id="17" name="内容占位符 16">
            <a:extLst>
              <a:ext uri="{FF2B5EF4-FFF2-40B4-BE49-F238E27FC236}">
                <a16:creationId xmlns:a16="http://schemas.microsoft.com/office/drawing/2014/main" id="{84F8FA17-4A3F-18F1-D400-2977167BC9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50635"/>
            <a:ext cx="8229600" cy="5260230"/>
          </a:xfrm>
        </p:spPr>
        <p:txBody>
          <a:bodyPr/>
          <a:lstStyle/>
          <a:p>
            <a:pPr hangingPunct="1">
              <a:spcBef>
                <a:spcPts val="768"/>
              </a:spcBef>
            </a:pPr>
            <a:r>
              <a:rPr lang="zh-CN" altLang="en-US" sz="2800" b="1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实现更高的开发效率</a:t>
            </a:r>
            <a:endParaRPr lang="en-US" altLang="zh-CN" sz="2800" b="1" dirty="0"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lvl="1">
              <a:spcBef>
                <a:spcPts val="768"/>
              </a:spcBef>
            </a:pPr>
            <a:r>
              <a:rPr lang="zh-CN" altLang="en-US" sz="24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高级语言：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C</a:t>
            </a:r>
            <a:r>
              <a:rPr lang="zh-CN" altLang="en-US" sz="24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、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Java</a:t>
            </a:r>
            <a:r>
              <a:rPr lang="zh-CN" altLang="en-US" sz="24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、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Python</a:t>
            </a:r>
            <a:r>
              <a:rPr lang="zh-CN" altLang="en-US" sz="24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等等</a:t>
            </a:r>
          </a:p>
          <a:p>
            <a:pPr hangingPunct="1">
              <a:spcBef>
                <a:spcPts val="768"/>
              </a:spcBef>
            </a:pPr>
            <a:r>
              <a:rPr lang="zh-CN" altLang="en-US" sz="28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运行高级语言程序</a:t>
            </a:r>
          </a:p>
          <a:p>
            <a:pPr lvl="1" hangingPunct="1">
              <a:spcBef>
                <a:spcPts val="768"/>
              </a:spcBef>
            </a:pPr>
            <a:r>
              <a:rPr lang="zh-CN" altLang="en-US" sz="2400" b="1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使用编译器（</a:t>
            </a:r>
            <a:r>
              <a:rPr lang="en-US" altLang="zh-CN" sz="2400" b="1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Compiler</a:t>
            </a:r>
            <a:r>
              <a:rPr lang="zh-CN" altLang="en-US" sz="2400" b="1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）</a:t>
            </a:r>
            <a:r>
              <a:rPr lang="zh-CN" altLang="en-US" sz="2400" b="1" dirty="0">
                <a:solidFill>
                  <a:srgbClr val="0432FF"/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编译</a:t>
            </a:r>
            <a:endParaRPr lang="en-US" altLang="zh-CN" sz="2400" b="1" dirty="0">
              <a:solidFill>
                <a:srgbClr val="0432FF"/>
              </a:solidFill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lvl="2">
              <a:spcBef>
                <a:spcPts val="768"/>
              </a:spcBef>
            </a:pPr>
            <a:r>
              <a:rPr lang="zh-CN" altLang="en-US" sz="20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高级语言 </a:t>
            </a:r>
            <a: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  <a:sym typeface="Wingdings" panose="05000000000000000000" pitchFamily="2" charset="2"/>
              </a:rPr>
              <a:t> </a:t>
            </a:r>
            <a:r>
              <a:rPr lang="zh-CN" altLang="en-US" sz="20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  <a:sym typeface="Wingdings" panose="05000000000000000000" pitchFamily="2" charset="2"/>
              </a:rPr>
              <a:t>等价汇编指令序列 </a:t>
            </a:r>
            <a: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  <a:sym typeface="Wingdings" panose="05000000000000000000" pitchFamily="2" charset="2"/>
              </a:rPr>
              <a:t> </a:t>
            </a:r>
            <a:r>
              <a:rPr lang="zh-CN" altLang="en-US" sz="20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  <a:sym typeface="Wingdings" panose="05000000000000000000" pitchFamily="2" charset="2"/>
              </a:rPr>
              <a:t>等价机器语言程序</a:t>
            </a:r>
            <a:endParaRPr lang="en-US" altLang="zh-CN" sz="2000" dirty="0"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  <a:sym typeface="Wingdings" panose="05000000000000000000" pitchFamily="2" charset="2"/>
            </a:endParaRPr>
          </a:p>
          <a:p>
            <a:pPr lvl="2">
              <a:spcBef>
                <a:spcPts val="768"/>
              </a:spcBef>
            </a:pPr>
            <a:endParaRPr lang="en-US" altLang="zh-CN" sz="2000" dirty="0"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  <a:sym typeface="Wingdings" panose="05000000000000000000" pitchFamily="2" charset="2"/>
            </a:endParaRPr>
          </a:p>
          <a:p>
            <a:pPr lvl="1" hangingPunct="1">
              <a:spcBef>
                <a:spcPts val="768"/>
              </a:spcBef>
            </a:pPr>
            <a:endParaRPr lang="en-US" altLang="zh-CN" sz="2400" b="1" dirty="0"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marL="457200" lvl="1" indent="0" hangingPunct="1">
              <a:spcBef>
                <a:spcPts val="768"/>
              </a:spcBef>
              <a:buNone/>
            </a:pPr>
            <a:endParaRPr lang="en-US" altLang="zh-CN" sz="2400" b="1" dirty="0"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marL="457200" lvl="1" indent="0" hangingPunct="1">
              <a:spcBef>
                <a:spcPts val="768"/>
              </a:spcBef>
              <a:buNone/>
            </a:pPr>
            <a:endParaRPr lang="en-US" altLang="zh-CN" sz="1400" b="1" dirty="0"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lvl="1" hangingPunct="1">
              <a:spcBef>
                <a:spcPts val="768"/>
              </a:spcBef>
            </a:pPr>
            <a:r>
              <a:rPr lang="zh-CN" altLang="en-US" sz="2400" b="1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使用解释器（</a:t>
            </a:r>
            <a:r>
              <a:rPr lang="en-US" altLang="zh-CN" sz="2400" b="1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Interpreter</a:t>
            </a:r>
            <a:r>
              <a:rPr lang="zh-CN" altLang="en-US" sz="2400" b="1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）</a:t>
            </a:r>
            <a:r>
              <a:rPr lang="zh-CN" altLang="en-US" sz="2400" b="1" dirty="0">
                <a:solidFill>
                  <a:srgbClr val="0432FF"/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解释</a:t>
            </a:r>
            <a:endParaRPr lang="en-US" altLang="zh-CN" sz="2400" b="1" dirty="0">
              <a:solidFill>
                <a:srgbClr val="0432FF"/>
              </a:solidFill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lvl="2">
              <a:spcBef>
                <a:spcPts val="768"/>
              </a:spcBef>
            </a:pPr>
            <a:r>
              <a:rPr lang="zh-CN" altLang="en-US" sz="20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逐条执行高级指令</a:t>
            </a:r>
            <a:endParaRPr lang="en-US" altLang="zh-CN" sz="2000" dirty="0"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引言总结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0B05E1AD-1A1E-ED6E-FFF0-BDEF8D51B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t>35</a:t>
            </a:fld>
            <a:endParaRPr lang="en-US" altLang="zh-CN"/>
          </a:p>
        </p:txBody>
      </p:sp>
      <p:cxnSp>
        <p:nvCxnSpPr>
          <p:cNvPr id="6" name="Straight Connector 6">
            <a:extLst>
              <a:ext uri="{FF2B5EF4-FFF2-40B4-BE49-F238E27FC236}">
                <a16:creationId xmlns:a16="http://schemas.microsoft.com/office/drawing/2014/main" id="{FA0654D0-AC34-0047-C756-352D4EED61D3}"/>
              </a:ext>
            </a:extLst>
          </p:cNvPr>
          <p:cNvCxnSpPr>
            <a:cxnSpLocks/>
          </p:cNvCxnSpPr>
          <p:nvPr/>
        </p:nvCxnSpPr>
        <p:spPr>
          <a:xfrm flipV="1">
            <a:off x="3186546" y="3341116"/>
            <a:ext cx="0" cy="1149572"/>
          </a:xfrm>
          <a:prstGeom prst="line">
            <a:avLst/>
          </a:prstGeom>
          <a:noFill/>
          <a:ln w="38100" cap="rnd" cmpd="sng" algn="ctr">
            <a:solidFill>
              <a:srgbClr val="4F81BD">
                <a:lumMod val="75000"/>
              </a:srgbClr>
            </a:solidFill>
            <a:prstDash val="solid"/>
            <a:tailEnd type="triangle" w="med" len="lg"/>
          </a:ln>
          <a:effectLst/>
        </p:spPr>
      </p:cxnSp>
      <p:cxnSp>
        <p:nvCxnSpPr>
          <p:cNvPr id="16" name="Straight Connector 7">
            <a:extLst>
              <a:ext uri="{FF2B5EF4-FFF2-40B4-BE49-F238E27FC236}">
                <a16:creationId xmlns:a16="http://schemas.microsoft.com/office/drawing/2014/main" id="{56E07E6E-65A7-ED11-E38F-3169DA596906}"/>
              </a:ext>
            </a:extLst>
          </p:cNvPr>
          <p:cNvCxnSpPr>
            <a:cxnSpLocks/>
          </p:cNvCxnSpPr>
          <p:nvPr/>
        </p:nvCxnSpPr>
        <p:spPr>
          <a:xfrm>
            <a:off x="3174356" y="5058561"/>
            <a:ext cx="0" cy="607821"/>
          </a:xfrm>
          <a:prstGeom prst="line">
            <a:avLst/>
          </a:prstGeom>
          <a:noFill/>
          <a:ln w="38100" cap="rnd" cmpd="sng" algn="ctr">
            <a:solidFill>
              <a:srgbClr val="4F81BD">
                <a:lumMod val="75000"/>
              </a:srgbClr>
            </a:solidFill>
            <a:prstDash val="solid"/>
            <a:tailEnd type="triangle" w="med" len="lg"/>
          </a:ln>
          <a:effectLst/>
        </p:spPr>
      </p:cxnSp>
      <p:cxnSp>
        <p:nvCxnSpPr>
          <p:cNvPr id="17" name="Straight Connector 8">
            <a:extLst>
              <a:ext uri="{FF2B5EF4-FFF2-40B4-BE49-F238E27FC236}">
                <a16:creationId xmlns:a16="http://schemas.microsoft.com/office/drawing/2014/main" id="{5D4E5347-EDB8-63FE-1A5D-EEE8C44CA961}"/>
              </a:ext>
            </a:extLst>
          </p:cNvPr>
          <p:cNvCxnSpPr>
            <a:cxnSpLocks/>
          </p:cNvCxnSpPr>
          <p:nvPr/>
        </p:nvCxnSpPr>
        <p:spPr>
          <a:xfrm flipV="1">
            <a:off x="3180475" y="1523470"/>
            <a:ext cx="0" cy="713737"/>
          </a:xfrm>
          <a:prstGeom prst="line">
            <a:avLst/>
          </a:prstGeom>
          <a:noFill/>
          <a:ln w="38100" cap="rnd" cmpd="sng" algn="ctr">
            <a:solidFill>
              <a:srgbClr val="4F81BD">
                <a:lumMod val="75000"/>
              </a:srgbClr>
            </a:solidFill>
            <a:prstDash val="solid"/>
            <a:tailEnd type="triangle" w="med" len="lg"/>
          </a:ln>
          <a:effectLst/>
        </p:spPr>
      </p:cxnSp>
      <p:cxnSp>
        <p:nvCxnSpPr>
          <p:cNvPr id="18" name="Straight Connector 9">
            <a:extLst>
              <a:ext uri="{FF2B5EF4-FFF2-40B4-BE49-F238E27FC236}">
                <a16:creationId xmlns:a16="http://schemas.microsoft.com/office/drawing/2014/main" id="{DB5B1AAE-E32B-C860-17A6-9075FEDF8723}"/>
              </a:ext>
            </a:extLst>
          </p:cNvPr>
          <p:cNvCxnSpPr>
            <a:cxnSpLocks/>
          </p:cNvCxnSpPr>
          <p:nvPr/>
        </p:nvCxnSpPr>
        <p:spPr>
          <a:xfrm>
            <a:off x="2918235" y="3347450"/>
            <a:ext cx="660803" cy="0"/>
          </a:xfrm>
          <a:prstGeom prst="line">
            <a:avLst/>
          </a:prstGeom>
          <a:noFill/>
          <a:ln w="38100" cap="rnd" cmpd="sng" algn="ctr">
            <a:solidFill>
              <a:srgbClr val="C00000"/>
            </a:solidFill>
            <a:prstDash val="solid"/>
          </a:ln>
          <a:effectLst/>
        </p:spPr>
      </p:cxnSp>
      <p:graphicFrame>
        <p:nvGraphicFramePr>
          <p:cNvPr id="19" name="Table 9">
            <a:extLst>
              <a:ext uri="{FF2B5EF4-FFF2-40B4-BE49-F238E27FC236}">
                <a16:creationId xmlns:a16="http://schemas.microsoft.com/office/drawing/2014/main" id="{6E8D66FD-1A75-2CB8-93E5-57ED5D17164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4371668"/>
              </p:ext>
            </p:extLst>
          </p:nvPr>
        </p:nvGraphicFramePr>
        <p:xfrm>
          <a:off x="3579038" y="1523470"/>
          <a:ext cx="1985924" cy="4142912"/>
        </p:xfrm>
        <a:graphic>
          <a:graphicData uri="http://schemas.openxmlformats.org/drawingml/2006/table">
            <a:tbl>
              <a:tblPr firstRow="1" bandRow="1"/>
              <a:tblGrid>
                <a:gridCol w="1985924">
                  <a:extLst>
                    <a:ext uri="{9D8B030D-6E8A-4147-A177-3AD203B41FA5}">
                      <a16:colId xmlns:a16="http://schemas.microsoft.com/office/drawing/2014/main" val="1946283791"/>
                    </a:ext>
                  </a:extLst>
                </a:gridCol>
              </a:tblGrid>
              <a:tr h="51786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zh-CN" altLang="en-US" sz="1800" b="1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程序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BB59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554620"/>
                  </a:ext>
                </a:extLst>
              </a:tr>
              <a:tr h="51786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zh-CN" altLang="en-US" sz="1800" b="1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算法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BB59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3496159"/>
                  </a:ext>
                </a:extLst>
              </a:tr>
              <a:tr h="51786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编译器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BB59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2005890"/>
                  </a:ext>
                </a:extLst>
              </a:tr>
              <a:tr h="51786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zh-CN" altLang="en-US" sz="1800" b="1">
                          <a:solidFill>
                            <a:srgbClr val="C00000"/>
                          </a:solidFill>
                          <a:latin typeface="+mj-ea"/>
                          <a:ea typeface="+mj-ea"/>
                        </a:rPr>
                        <a:t>指令集体系结构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0806289"/>
                  </a:ext>
                </a:extLst>
              </a:tr>
              <a:tr h="51786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zh-CN" altLang="en-US" sz="1800" b="1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微体系结构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6812972"/>
                  </a:ext>
                </a:extLst>
              </a:tr>
              <a:tr h="51786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功能部件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7467303"/>
                  </a:ext>
                </a:extLst>
              </a:tr>
              <a:tr h="51786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zh-CN" altLang="en-US" sz="1800" b="1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电路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9204186"/>
                  </a:ext>
                </a:extLst>
              </a:tr>
              <a:tr h="51786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器件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2963798"/>
                  </a:ext>
                </a:extLst>
              </a:tr>
            </a:tbl>
          </a:graphicData>
        </a:graphic>
      </p:graphicFrame>
      <p:sp>
        <p:nvSpPr>
          <p:cNvPr id="20" name="TextBox 11">
            <a:extLst>
              <a:ext uri="{FF2B5EF4-FFF2-40B4-BE49-F238E27FC236}">
                <a16:creationId xmlns:a16="http://schemas.microsoft.com/office/drawing/2014/main" id="{8FAE3BA1-035C-2700-6C4A-137398B630B9}"/>
              </a:ext>
            </a:extLst>
          </p:cNvPr>
          <p:cNvSpPr txBox="1"/>
          <p:nvPr/>
        </p:nvSpPr>
        <p:spPr>
          <a:xfrm>
            <a:off x="3700485" y="5742688"/>
            <a:ext cx="17556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>
                <a:solidFill>
                  <a:srgbClr val="000000"/>
                </a:solidFill>
                <a:latin typeface="+mn-ea"/>
                <a:ea typeface="+mn-ea"/>
              </a:rPr>
              <a:t>计算机系统</a:t>
            </a:r>
          </a:p>
        </p:txBody>
      </p:sp>
      <p:cxnSp>
        <p:nvCxnSpPr>
          <p:cNvPr id="21" name="Straight Connector 12">
            <a:extLst>
              <a:ext uri="{FF2B5EF4-FFF2-40B4-BE49-F238E27FC236}">
                <a16:creationId xmlns:a16="http://schemas.microsoft.com/office/drawing/2014/main" id="{C5C1ED37-6F93-CA04-E97A-DE8993373FFF}"/>
              </a:ext>
            </a:extLst>
          </p:cNvPr>
          <p:cNvCxnSpPr>
            <a:cxnSpLocks/>
          </p:cNvCxnSpPr>
          <p:nvPr/>
        </p:nvCxnSpPr>
        <p:spPr>
          <a:xfrm>
            <a:off x="3187317" y="2776756"/>
            <a:ext cx="0" cy="570694"/>
          </a:xfrm>
          <a:prstGeom prst="line">
            <a:avLst/>
          </a:prstGeom>
          <a:noFill/>
          <a:ln w="38100" cap="rnd" cmpd="sng" algn="ctr">
            <a:solidFill>
              <a:srgbClr val="4F81BD">
                <a:lumMod val="75000"/>
              </a:srgbClr>
            </a:solidFill>
            <a:prstDash val="solid"/>
            <a:tailEnd type="triangle" w="med" len="lg"/>
          </a:ln>
          <a:effectLst/>
        </p:spPr>
      </p:cxnSp>
      <p:sp>
        <p:nvSpPr>
          <p:cNvPr id="22" name="TextBox 13">
            <a:extLst>
              <a:ext uri="{FF2B5EF4-FFF2-40B4-BE49-F238E27FC236}">
                <a16:creationId xmlns:a16="http://schemas.microsoft.com/office/drawing/2014/main" id="{79172D38-A73A-FEDE-71D8-ECD7B44224C2}"/>
              </a:ext>
            </a:extLst>
          </p:cNvPr>
          <p:cNvSpPr txBox="1"/>
          <p:nvPr/>
        </p:nvSpPr>
        <p:spPr>
          <a:xfrm>
            <a:off x="2780795" y="2239571"/>
            <a:ext cx="8130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>
                <a:solidFill>
                  <a:srgbClr val="4F81BD">
                    <a:lumMod val="75000"/>
                  </a:srgbClr>
                </a:solidFill>
                <a:latin typeface="+mn-ea"/>
                <a:ea typeface="+mn-ea"/>
              </a:rPr>
              <a:t>软件</a:t>
            </a:r>
          </a:p>
        </p:txBody>
      </p:sp>
      <p:sp>
        <p:nvSpPr>
          <p:cNvPr id="23" name="TextBox 14">
            <a:extLst>
              <a:ext uri="{FF2B5EF4-FFF2-40B4-BE49-F238E27FC236}">
                <a16:creationId xmlns:a16="http://schemas.microsoft.com/office/drawing/2014/main" id="{B4F3AC6F-CF43-087B-98CB-9C04237E1D73}"/>
              </a:ext>
            </a:extLst>
          </p:cNvPr>
          <p:cNvSpPr txBox="1"/>
          <p:nvPr/>
        </p:nvSpPr>
        <p:spPr>
          <a:xfrm>
            <a:off x="2767837" y="4543792"/>
            <a:ext cx="8130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>
                <a:solidFill>
                  <a:srgbClr val="4F81BD">
                    <a:lumMod val="75000"/>
                  </a:srgbClr>
                </a:solidFill>
                <a:latin typeface="+mn-ea"/>
                <a:ea typeface="+mn-ea"/>
              </a:rPr>
              <a:t>硬件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本节课目录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引言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>
              <a:lnSpc>
                <a:spcPct val="110000"/>
              </a:lnSpc>
            </a:pPr>
            <a:r>
              <a:rPr lang="zh-CN" altLang="en-US" dirty="0">
                <a:solidFill>
                  <a:srgbClr val="0432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指令集设计</a:t>
            </a:r>
            <a:endParaRPr lang="en-US" altLang="zh-CN" dirty="0">
              <a:solidFill>
                <a:srgbClr val="0432FF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1">
              <a:lnSpc>
                <a:spcPct val="110000"/>
              </a:lnSpc>
            </a:pPr>
            <a:r>
              <a:rPr lang="zh-CN" altLang="en-US" dirty="0">
                <a:solidFill>
                  <a:srgbClr val="0432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指令集：角色和地位</a:t>
            </a:r>
            <a:endParaRPr lang="en-US" altLang="zh-CN" dirty="0">
              <a:solidFill>
                <a:srgbClr val="0432FF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1">
              <a:lnSpc>
                <a:spcPct val="110000"/>
              </a:lnSpc>
            </a:pP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指令集：性能评价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1">
              <a:lnSpc>
                <a:spcPct val="110000"/>
              </a:lnSpc>
            </a:pP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指令集：数据访问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1">
              <a:lnSpc>
                <a:spcPct val="110000"/>
              </a:lnSpc>
            </a:pP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指令集设计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>
              <a:lnSpc>
                <a:spcPct val="110000"/>
              </a:lnSpc>
            </a:pP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总结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72086E4-CDC1-61EB-1FDC-95D6FF4C4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t>36</a:t>
            </a:fld>
            <a:endParaRPr lang="en-US" altLang="zh-CN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指令集：角色</a:t>
            </a:r>
          </a:p>
        </p:txBody>
      </p:sp>
      <p:sp>
        <p:nvSpPr>
          <p:cNvPr id="32" name="内容占位符 1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问题：指令集设计目标？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执行高效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硬件复杂度低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其他指标（功耗、可靠性等）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FB6A532-9AF4-ED46-9351-B52A1E09E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t>37</a:t>
            </a:fld>
            <a:endParaRPr lang="en-US" altLang="zh-CN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指令集：角色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450024" y="1276562"/>
            <a:ext cx="8229600" cy="5256584"/>
          </a:xfrm>
        </p:spPr>
        <p:txBody>
          <a:bodyPr/>
          <a:lstStyle/>
          <a:p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软件和通用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CPU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间的桥梁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1DE2FA8-E126-C759-93AB-ECA9EDD61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t>38</a:t>
            </a:fld>
            <a:endParaRPr lang="en-US" altLang="zh-CN"/>
          </a:p>
        </p:txBody>
      </p:sp>
      <p:sp>
        <p:nvSpPr>
          <p:cNvPr id="4" name="直角上箭头 3">
            <a:extLst>
              <a:ext uri="{FF2B5EF4-FFF2-40B4-BE49-F238E27FC236}">
                <a16:creationId xmlns:a16="http://schemas.microsoft.com/office/drawing/2014/main" id="{4C45A4B9-95D0-7C98-CA4E-D8502C5B3809}"/>
              </a:ext>
            </a:extLst>
          </p:cNvPr>
          <p:cNvSpPr/>
          <p:nvPr/>
        </p:nvSpPr>
        <p:spPr>
          <a:xfrm flipV="1">
            <a:off x="2493304" y="3037724"/>
            <a:ext cx="5938177" cy="1169201"/>
          </a:xfrm>
          <a:prstGeom prst="bentUpArrow">
            <a:avLst>
              <a:gd name="adj1" fmla="val 23007"/>
              <a:gd name="adj2" fmla="val 25000"/>
              <a:gd name="adj3" fmla="val 25675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zh-CN" altLang="en-US" dirty="0"/>
          </a:p>
        </p:txBody>
      </p:sp>
      <p:sp>
        <p:nvSpPr>
          <p:cNvPr id="7" name="内容占位符 5">
            <a:extLst>
              <a:ext uri="{FF2B5EF4-FFF2-40B4-BE49-F238E27FC236}">
                <a16:creationId xmlns:a16="http://schemas.microsoft.com/office/drawing/2014/main" id="{F6B6126E-24C1-27B2-DFE9-C0D4E902B0D9}"/>
              </a:ext>
            </a:extLst>
          </p:cNvPr>
          <p:cNvSpPr txBox="1"/>
          <p:nvPr/>
        </p:nvSpPr>
        <p:spPr bwMode="auto">
          <a:xfrm>
            <a:off x="1101816" y="2211019"/>
            <a:ext cx="1399955" cy="199590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54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kumimoji="1" lang="en-US" altLang="zh-CN" sz="1400" dirty="0">
                <a:solidFill>
                  <a:schemeClr val="dk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i=0;S=0;r=0;</a:t>
            </a:r>
          </a:p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kumimoji="1" lang="en-US" altLang="zh-CN" sz="1400" dirty="0">
                <a:solidFill>
                  <a:schemeClr val="dk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while(i&lt;10){</a:t>
            </a:r>
          </a:p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kumimoji="1" lang="en-US" altLang="zh-CN" sz="1400" dirty="0">
                <a:solidFill>
                  <a:schemeClr val="dk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   r=A[i];</a:t>
            </a:r>
          </a:p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kumimoji="1" lang="en-US" altLang="zh-CN" sz="1400" dirty="0">
                <a:solidFill>
                  <a:schemeClr val="dk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   S=</a:t>
            </a:r>
            <a:r>
              <a:rPr kumimoji="1" lang="en-US" altLang="zh-CN" sz="1400" dirty="0" err="1">
                <a:solidFill>
                  <a:schemeClr val="dk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S+r</a:t>
            </a:r>
            <a:r>
              <a:rPr kumimoji="1" lang="en-US" altLang="zh-CN" sz="1400" dirty="0">
                <a:solidFill>
                  <a:schemeClr val="dk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;</a:t>
            </a:r>
          </a:p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kumimoji="1" lang="en-US" altLang="zh-CN" sz="1400" dirty="0">
                <a:solidFill>
                  <a:schemeClr val="dk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   i=i+1;</a:t>
            </a:r>
          </a:p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kumimoji="1" lang="en-US" altLang="zh-CN" sz="1400" dirty="0">
                <a:solidFill>
                  <a:schemeClr val="dk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}</a:t>
            </a:r>
          </a:p>
        </p:txBody>
      </p:sp>
      <p:sp>
        <p:nvSpPr>
          <p:cNvPr id="12" name="右箭头 11">
            <a:extLst>
              <a:ext uri="{FF2B5EF4-FFF2-40B4-BE49-F238E27FC236}">
                <a16:creationId xmlns:a16="http://schemas.microsoft.com/office/drawing/2014/main" id="{4CEFC9A6-1FFD-D305-E772-15A795F4E2E8}"/>
              </a:ext>
            </a:extLst>
          </p:cNvPr>
          <p:cNvSpPr/>
          <p:nvPr/>
        </p:nvSpPr>
        <p:spPr>
          <a:xfrm flipH="1">
            <a:off x="4461422" y="5092882"/>
            <a:ext cx="2859689" cy="805812"/>
          </a:xfrm>
          <a:prstGeom prst="rightArrow">
            <a:avLst>
              <a:gd name="adj1" fmla="val 38210"/>
              <a:gd name="adj2" fmla="val 50000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zh-CN" altLang="en-US">
              <a:solidFill>
                <a:schemeClr val="lt1"/>
              </a:solidFill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E62F247-E6BD-6510-D184-28AC133D545B}"/>
              </a:ext>
            </a:extLst>
          </p:cNvPr>
          <p:cNvSpPr/>
          <p:nvPr/>
        </p:nvSpPr>
        <p:spPr>
          <a:xfrm>
            <a:off x="5790590" y="2960167"/>
            <a:ext cx="70724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kumimoji="1" lang="zh-CN" altLang="en-US" sz="20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编译</a:t>
            </a:r>
            <a:endParaRPr kumimoji="1" lang="en-US" altLang="zh-CN" sz="2000" dirty="0">
              <a:solidFill>
                <a:schemeClr val="tx1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C5180EF2-D381-3DBB-F437-CFB190DC84B5}"/>
              </a:ext>
            </a:extLst>
          </p:cNvPr>
          <p:cNvSpPr/>
          <p:nvPr/>
        </p:nvSpPr>
        <p:spPr>
          <a:xfrm>
            <a:off x="3590991" y="2171303"/>
            <a:ext cx="2962209" cy="459475"/>
          </a:xfrm>
          <a:prstGeom prst="roundRect">
            <a:avLst>
              <a:gd name="adj" fmla="val 13146"/>
            </a:avLst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zh-CN" altLang="en-US" sz="1800" dirty="0">
                <a:solidFill>
                  <a:srgbClr val="0432FF"/>
                </a:solidFill>
                <a:latin typeface="Arial" panose="020B0604020202020204" pitchFamily="34" charset="0"/>
              </a:rPr>
              <a:t>指令集</a:t>
            </a:r>
            <a:endParaRPr kumimoji="1" lang="en-US" altLang="zh-CN" sz="1800" dirty="0">
              <a:solidFill>
                <a:srgbClr val="0432FF"/>
              </a:solidFill>
              <a:latin typeface="Arial" panose="020B0604020202020204" pitchFamily="34" charset="0"/>
            </a:endParaRPr>
          </a:p>
        </p:txBody>
      </p:sp>
      <p:sp>
        <p:nvSpPr>
          <p:cNvPr id="21" name="下箭头 20">
            <a:extLst>
              <a:ext uri="{FF2B5EF4-FFF2-40B4-BE49-F238E27FC236}">
                <a16:creationId xmlns:a16="http://schemas.microsoft.com/office/drawing/2014/main" id="{D74D0F88-26C3-F7E1-00E1-5F64F308065A}"/>
              </a:ext>
            </a:extLst>
          </p:cNvPr>
          <p:cNvSpPr/>
          <p:nvPr/>
        </p:nvSpPr>
        <p:spPr>
          <a:xfrm>
            <a:off x="4949007" y="2669557"/>
            <a:ext cx="255181" cy="350503"/>
          </a:xfrm>
          <a:prstGeom prst="down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zh-CN" altLang="en-US" sz="4600"/>
          </a:p>
        </p:txBody>
      </p:sp>
      <p:sp>
        <p:nvSpPr>
          <p:cNvPr id="27" name="圆角矩形 26">
            <a:extLst>
              <a:ext uri="{FF2B5EF4-FFF2-40B4-BE49-F238E27FC236}">
                <a16:creationId xmlns:a16="http://schemas.microsoft.com/office/drawing/2014/main" id="{B2374D44-5074-7C0A-BB1D-3E3E924F9760}"/>
              </a:ext>
            </a:extLst>
          </p:cNvPr>
          <p:cNvSpPr/>
          <p:nvPr/>
        </p:nvSpPr>
        <p:spPr>
          <a:xfrm>
            <a:off x="1115432" y="4587594"/>
            <a:ext cx="3320573" cy="1758507"/>
          </a:xfrm>
          <a:prstGeom prst="roundRect">
            <a:avLst>
              <a:gd name="adj" fmla="val 12435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zh-CN" altLang="en-US" sz="2800" dirty="0">
                <a:solidFill>
                  <a:schemeClr val="dk1"/>
                </a:solidFill>
                <a:latin typeface="Arial" panose="020B0604020202020204" pitchFamily="34" charset="0"/>
              </a:rPr>
              <a:t>通用处理器</a:t>
            </a:r>
            <a:endParaRPr kumimoji="1" lang="en-US" altLang="zh-CN" sz="2800" dirty="0">
              <a:solidFill>
                <a:schemeClr val="dk1"/>
              </a:solidFill>
              <a:latin typeface="Arial" panose="020B0604020202020204" pitchFamily="34" charset="0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625D3AC-C0D6-87A5-9E32-2DB9131E97CE}"/>
              </a:ext>
            </a:extLst>
          </p:cNvPr>
          <p:cNvSpPr/>
          <p:nvPr/>
        </p:nvSpPr>
        <p:spPr>
          <a:xfrm>
            <a:off x="5228611" y="4642494"/>
            <a:ext cx="159851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kumimoji="1" lang="zh-CN" altLang="en-US" sz="1800" dirty="0">
                <a:solidFill>
                  <a:schemeClr val="dk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描述每条指令</a:t>
            </a:r>
            <a:br>
              <a:rPr kumimoji="1" lang="en-US" altLang="zh-CN" sz="1800" dirty="0">
                <a:solidFill>
                  <a:schemeClr val="dk1"/>
                </a:solidFill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kumimoji="1" lang="zh-CN" altLang="en-US" sz="1800" dirty="0">
                <a:solidFill>
                  <a:schemeClr val="dk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需执行的操作</a:t>
            </a:r>
            <a:endParaRPr kumimoji="1" lang="en-US" altLang="zh-CN" sz="1800" dirty="0">
              <a:solidFill>
                <a:schemeClr val="dk1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grpSp>
        <p:nvGrpSpPr>
          <p:cNvPr id="29" name="Group 34">
            <a:extLst>
              <a:ext uri="{FF2B5EF4-FFF2-40B4-BE49-F238E27FC236}">
                <a16:creationId xmlns:a16="http://schemas.microsoft.com/office/drawing/2014/main" id="{C91FBFA8-0770-BE98-46AA-9063B7C2BD98}"/>
              </a:ext>
            </a:extLst>
          </p:cNvPr>
          <p:cNvGrpSpPr/>
          <p:nvPr/>
        </p:nvGrpSpPr>
        <p:grpSpPr>
          <a:xfrm>
            <a:off x="7356944" y="4238596"/>
            <a:ext cx="1551605" cy="1937721"/>
            <a:chOff x="1103242" y="4371599"/>
            <a:chExt cx="1551605" cy="1937721"/>
          </a:xfrm>
        </p:grpSpPr>
        <p:sp>
          <p:nvSpPr>
            <p:cNvPr id="30" name="圆角矩形 18">
              <a:extLst>
                <a:ext uri="{FF2B5EF4-FFF2-40B4-BE49-F238E27FC236}">
                  <a16:creationId xmlns:a16="http://schemas.microsoft.com/office/drawing/2014/main" id="{08AACCEB-53D8-C276-85E9-70D3410DB78B}"/>
                </a:ext>
              </a:extLst>
            </p:cNvPr>
            <p:cNvSpPr/>
            <p:nvPr/>
          </p:nvSpPr>
          <p:spPr>
            <a:xfrm>
              <a:off x="1124133" y="4371599"/>
              <a:ext cx="1509823" cy="1937721"/>
            </a:xfrm>
            <a:prstGeom prst="roundRect">
              <a:avLst/>
            </a:prstGeom>
            <a:solidFill>
              <a:schemeClr val="tx2">
                <a:lumMod val="20000"/>
                <a:lumOff val="80000"/>
              </a:schemeClr>
            </a:solidFill>
            <a:ln w="254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kumimoji="1" lang="zh-CN" altLang="en-US" sz="2000">
                <a:latin typeface="+mj-ea"/>
                <a:ea typeface="+mj-ea"/>
              </a:endParaRPr>
            </a:p>
          </p:txBody>
        </p:sp>
        <p:sp>
          <p:nvSpPr>
            <p:cNvPr id="45" name="矩形 21">
              <a:extLst>
                <a:ext uri="{FF2B5EF4-FFF2-40B4-BE49-F238E27FC236}">
                  <a16:creationId xmlns:a16="http://schemas.microsoft.com/office/drawing/2014/main" id="{E44EE3AF-549D-560E-12EB-1BAB38E4529C}"/>
                </a:ext>
              </a:extLst>
            </p:cNvPr>
            <p:cNvSpPr/>
            <p:nvPr/>
          </p:nvSpPr>
          <p:spPr>
            <a:xfrm rot="5400000">
              <a:off x="1635412" y="5319826"/>
              <a:ext cx="678392" cy="70675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/>
              <a:r>
                <a:rPr kumimoji="1" lang="en-US" altLang="zh-CN" sz="2000">
                  <a:solidFill>
                    <a:schemeClr val="dk1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……</a:t>
              </a:r>
            </a:p>
          </p:txBody>
        </p:sp>
        <p:cxnSp>
          <p:nvCxnSpPr>
            <p:cNvPr id="46" name="Straight Connector 37">
              <a:extLst>
                <a:ext uri="{FF2B5EF4-FFF2-40B4-BE49-F238E27FC236}">
                  <a16:creationId xmlns:a16="http://schemas.microsoft.com/office/drawing/2014/main" id="{ECB70FAC-38F0-A150-1EE1-B3F79F548778}"/>
                </a:ext>
              </a:extLst>
            </p:cNvPr>
            <p:cNvCxnSpPr/>
            <p:nvPr/>
          </p:nvCxnSpPr>
          <p:spPr>
            <a:xfrm>
              <a:off x="1103242" y="4733925"/>
              <a:ext cx="153071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38">
              <a:extLst>
                <a:ext uri="{FF2B5EF4-FFF2-40B4-BE49-F238E27FC236}">
                  <a16:creationId xmlns:a16="http://schemas.microsoft.com/office/drawing/2014/main" id="{D9098588-1375-F746-3FB8-43B8678A1829}"/>
                </a:ext>
              </a:extLst>
            </p:cNvPr>
            <p:cNvCxnSpPr/>
            <p:nvPr/>
          </p:nvCxnSpPr>
          <p:spPr>
            <a:xfrm>
              <a:off x="1103242" y="5074668"/>
              <a:ext cx="153071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39">
              <a:extLst>
                <a:ext uri="{FF2B5EF4-FFF2-40B4-BE49-F238E27FC236}">
                  <a16:creationId xmlns:a16="http://schemas.microsoft.com/office/drawing/2014/main" id="{FFF66B86-FD8F-7343-35E3-904603228828}"/>
                </a:ext>
              </a:extLst>
            </p:cNvPr>
            <p:cNvCxnSpPr/>
            <p:nvPr/>
          </p:nvCxnSpPr>
          <p:spPr>
            <a:xfrm>
              <a:off x="1124133" y="5941443"/>
              <a:ext cx="153071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0">
              <a:extLst>
                <a:ext uri="{FF2B5EF4-FFF2-40B4-BE49-F238E27FC236}">
                  <a16:creationId xmlns:a16="http://schemas.microsoft.com/office/drawing/2014/main" id="{995130E5-53F3-9733-8837-042AB3030874}"/>
                </a:ext>
              </a:extLst>
            </p:cNvPr>
            <p:cNvSpPr txBox="1"/>
            <p:nvPr/>
          </p:nvSpPr>
          <p:spPr>
            <a:xfrm>
              <a:off x="1221023" y="4377206"/>
              <a:ext cx="141737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rPr>
                <a:t>Instruction 1</a:t>
              </a:r>
              <a:endParaRPr lang="zh-CN" altLang="en-US" sz="16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endParaRPr>
            </a:p>
          </p:txBody>
        </p:sp>
        <p:sp>
          <p:nvSpPr>
            <p:cNvPr id="50" name="TextBox 41">
              <a:extLst>
                <a:ext uri="{FF2B5EF4-FFF2-40B4-BE49-F238E27FC236}">
                  <a16:creationId xmlns:a16="http://schemas.microsoft.com/office/drawing/2014/main" id="{5A6259BF-2B7B-90E6-AAC6-425B8B8A2118}"/>
                </a:ext>
              </a:extLst>
            </p:cNvPr>
            <p:cNvSpPr txBox="1"/>
            <p:nvPr/>
          </p:nvSpPr>
          <p:spPr>
            <a:xfrm>
              <a:off x="1221023" y="4739345"/>
              <a:ext cx="141737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rPr>
                <a:t>Instruction 2</a:t>
              </a:r>
              <a:endParaRPr lang="zh-CN" altLang="en-US" sz="16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endParaRPr>
            </a:p>
          </p:txBody>
        </p:sp>
        <p:sp>
          <p:nvSpPr>
            <p:cNvPr id="51" name="TextBox 42">
              <a:extLst>
                <a:ext uri="{FF2B5EF4-FFF2-40B4-BE49-F238E27FC236}">
                  <a16:creationId xmlns:a16="http://schemas.microsoft.com/office/drawing/2014/main" id="{407F6D68-F023-906A-8B73-11AC0E9D9F1A}"/>
                </a:ext>
              </a:extLst>
            </p:cNvPr>
            <p:cNvSpPr txBox="1"/>
            <p:nvPr/>
          </p:nvSpPr>
          <p:spPr>
            <a:xfrm>
              <a:off x="1221023" y="5956992"/>
              <a:ext cx="141737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rPr>
                <a:t>Instruction 3</a:t>
              </a:r>
              <a:endParaRPr lang="zh-CN" altLang="en-US" sz="16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endParaRPr>
            </a:p>
          </p:txBody>
        </p:sp>
      </p:grpSp>
      <p:sp>
        <p:nvSpPr>
          <p:cNvPr id="52" name="文本框 6">
            <a:extLst>
              <a:ext uri="{FF2B5EF4-FFF2-40B4-BE49-F238E27FC236}">
                <a16:creationId xmlns:a16="http://schemas.microsoft.com/office/drawing/2014/main" id="{6BD528EB-4706-0047-C70A-C5AE00E8E5EC}"/>
              </a:ext>
            </a:extLst>
          </p:cNvPr>
          <p:cNvSpPr txBox="1"/>
          <p:nvPr/>
        </p:nvSpPr>
        <p:spPr>
          <a:xfrm>
            <a:off x="1584764" y="3832910"/>
            <a:ext cx="6559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800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程序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766F5ACA-6E9E-6D59-CC36-178B75EE981E}"/>
              </a:ext>
            </a:extLst>
          </p:cNvPr>
          <p:cNvSpPr/>
          <p:nvPr/>
        </p:nvSpPr>
        <p:spPr>
          <a:xfrm>
            <a:off x="5763774" y="5275097"/>
            <a:ext cx="70724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kumimoji="1" lang="zh-CN" altLang="en-US" sz="20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执行</a:t>
            </a:r>
            <a:endParaRPr kumimoji="1" lang="en-US" altLang="zh-CN" sz="2000" dirty="0">
              <a:solidFill>
                <a:schemeClr val="tx1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指令集：角色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309281" y="1501924"/>
            <a:ext cx="5488073" cy="5069537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指令集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lvl="1">
              <a:lnSpc>
                <a:spcPct val="110000"/>
              </a:lnSpc>
            </a:pP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程序和指令：定义？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lvl="1">
              <a:lnSpc>
                <a:spcPct val="110000"/>
              </a:lnSpc>
            </a:pPr>
            <a:r>
              <a:rPr lang="zh-CN" altLang="en-US" dirty="0">
                <a:solidFill>
                  <a:srgbClr val="0432FF"/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指令集</a:t>
            </a:r>
            <a:endParaRPr lang="en-US" altLang="zh-CN" dirty="0">
              <a:solidFill>
                <a:srgbClr val="0432FF"/>
              </a:solidFill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lvl="2">
              <a:lnSpc>
                <a:spcPct val="110000"/>
              </a:lnSpc>
            </a:pPr>
            <a:r>
              <a:rPr lang="zh-CN" altLang="en-US" b="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指令类型的集合</a:t>
            </a:r>
            <a:endParaRPr lang="en-US" altLang="zh-CN" b="0" dirty="0"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lvl="2">
              <a:lnSpc>
                <a:spcPct val="110000"/>
              </a:lnSpc>
            </a:pPr>
            <a:r>
              <a:rPr lang="zh-CN" altLang="en-US" b="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控制处理器的规则表</a:t>
            </a:r>
            <a:endParaRPr lang="en-US" altLang="zh-CN" b="0" dirty="0"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lvl="1">
              <a:lnSpc>
                <a:spcPct val="110000"/>
              </a:lnSpc>
            </a:pPr>
            <a:r>
              <a:rPr lang="zh-CN" altLang="en-US" b="1" dirty="0">
                <a:solidFill>
                  <a:srgbClr val="0432FF"/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指令集架构</a:t>
            </a:r>
            <a:r>
              <a:rPr lang="en-US" altLang="zh-CN" b="1" dirty="0">
                <a:solidFill>
                  <a:srgbClr val="0432FF"/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(ISA)</a:t>
            </a:r>
          </a:p>
          <a:p>
            <a:pPr lvl="2">
              <a:lnSpc>
                <a:spcPct val="110000"/>
              </a:lnSpc>
            </a:pPr>
            <a:r>
              <a:rPr lang="zh-CN" altLang="en-US" b="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使用有限长序列完成通用任务</a:t>
            </a:r>
            <a:endParaRPr lang="en-US" altLang="zh-CN" b="0" dirty="0"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lvl="2">
              <a:lnSpc>
                <a:spcPct val="110000"/>
              </a:lnSpc>
            </a:pPr>
            <a:r>
              <a:rPr lang="zh-CN" altLang="en-US" u="sng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完整</a:t>
            </a:r>
            <a:r>
              <a:rPr lang="zh-CN" altLang="en-US" b="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指令集合</a:t>
            </a:r>
            <a:endParaRPr lang="en-US" altLang="zh-CN" b="0" dirty="0"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398693" y="1927808"/>
            <a:ext cx="1203283" cy="86979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程序</a:t>
            </a:r>
          </a:p>
        </p:txBody>
      </p:sp>
      <p:sp>
        <p:nvSpPr>
          <p:cNvPr id="12" name="矩形 11"/>
          <p:cNvSpPr/>
          <p:nvPr/>
        </p:nvSpPr>
        <p:spPr>
          <a:xfrm>
            <a:off x="6314491" y="4459136"/>
            <a:ext cx="1371686" cy="113742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处理器的操作</a:t>
            </a:r>
          </a:p>
        </p:txBody>
      </p:sp>
      <p:sp>
        <p:nvSpPr>
          <p:cNvPr id="15" name="下箭头 14"/>
          <p:cNvSpPr/>
          <p:nvPr/>
        </p:nvSpPr>
        <p:spPr>
          <a:xfrm>
            <a:off x="6275687" y="2942569"/>
            <a:ext cx="1449295" cy="1371600"/>
          </a:xfrm>
          <a:prstGeom prst="downArrow">
            <a:avLst>
              <a:gd name="adj1" fmla="val 50000"/>
              <a:gd name="adj2" fmla="val 29592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sz="16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846372" y="1501924"/>
            <a:ext cx="2307924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0432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通用计算机</a:t>
            </a:r>
          </a:p>
        </p:txBody>
      </p:sp>
      <p:sp>
        <p:nvSpPr>
          <p:cNvPr id="2" name="矩形 1"/>
          <p:cNvSpPr/>
          <p:nvPr/>
        </p:nvSpPr>
        <p:spPr>
          <a:xfrm>
            <a:off x="6710018" y="3082532"/>
            <a:ext cx="580632" cy="10147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指令集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236E1B8F-53F8-EFE3-0E04-2EB6BA5CF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t>39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本节课目录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引言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0432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指令集设计</a:t>
            </a:r>
            <a:endParaRPr lang="en-US" altLang="zh-CN" dirty="0">
              <a:solidFill>
                <a:srgbClr val="0432FF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1">
              <a:lnSpc>
                <a:spcPct val="120000"/>
              </a:lnSpc>
            </a:pP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指令集：角色和地位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1">
              <a:lnSpc>
                <a:spcPct val="120000"/>
              </a:lnSpc>
            </a:pPr>
            <a:r>
              <a:rPr lang="zh-CN" altLang="en-US" dirty="0">
                <a:solidFill>
                  <a:srgbClr val="0432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指令集：性能评价</a:t>
            </a:r>
            <a:endParaRPr lang="en-US" altLang="zh-CN" dirty="0">
              <a:solidFill>
                <a:srgbClr val="0432FF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1">
              <a:lnSpc>
                <a:spcPct val="120000"/>
              </a:lnSpc>
            </a:pP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指令集：数据访问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1">
              <a:lnSpc>
                <a:spcPct val="120000"/>
              </a:lnSpc>
            </a:pP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指令集设计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总结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9299B0C-773F-EA49-A02F-2F4ADF965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t>40</a:t>
            </a:fld>
            <a:endParaRPr lang="en-US" altLang="zh-CN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zh-CN" altLang="en-US" kern="1200" dirty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性能评价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计算机性能评价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400050" lvl="1" indent="0">
              <a:lnSpc>
                <a:spcPts val="3600"/>
              </a:lnSpc>
              <a:buNone/>
            </a:pPr>
            <a:endParaRPr lang="en-US" altLang="zh-CN" sz="2800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1009650" lvl="1" indent="-609600">
              <a:lnSpc>
                <a:spcPts val="3600"/>
              </a:lnSpc>
            </a:pPr>
            <a:endParaRPr lang="en-US" altLang="zh-CN" sz="2800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1009650" lvl="1" indent="-609600">
              <a:lnSpc>
                <a:spcPts val="3600"/>
              </a:lnSpc>
            </a:pPr>
            <a:r>
              <a:rPr lang="zh-CN" altLang="en-US" sz="2800" dirty="0">
                <a:latin typeface="Arial" panose="020B0604020202020204" pitchFamily="34" charset="0"/>
                <a:ea typeface="黑体" panose="02010609060101010101" pitchFamily="49" charset="-122"/>
              </a:rPr>
              <a:t>其他评价标准：面积、功耗等</a:t>
            </a:r>
            <a:endParaRPr lang="en-US" altLang="zh-CN" sz="2800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26628" name="Rectangle 4"/>
          <p:cNvSpPr>
            <a:spLocks noChangeArrowheads="1"/>
          </p:cNvSpPr>
          <p:nvPr/>
        </p:nvSpPr>
        <p:spPr bwMode="auto">
          <a:xfrm>
            <a:off x="450850" y="1562100"/>
            <a:ext cx="184150" cy="579438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2075" tIns="46038" rIns="92075" bIns="46038">
            <a:spAutoFit/>
          </a:bodyPr>
          <a:lstStyle/>
          <a:p>
            <a:endParaRPr lang="zh-CN" altLang="zh-CN" sz="3200">
              <a:solidFill>
                <a:schemeClr val="accent2"/>
              </a:solidFill>
              <a:latin typeface="Franklin Gothic Medium" panose="020B0603020102020204" pitchFamily="34" charset="0"/>
            </a:endParaRP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783047" y="4044970"/>
            <a:ext cx="3577905" cy="2315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1963112" y="2106813"/>
            <a:ext cx="5217775" cy="1097419"/>
            <a:chOff x="1812424" y="3987121"/>
            <a:chExt cx="5217775" cy="1097419"/>
          </a:xfrm>
        </p:grpSpPr>
        <p:sp>
          <p:nvSpPr>
            <p:cNvPr id="13" name="Text Box 5"/>
            <p:cNvSpPr txBox="1">
              <a:spLocks noChangeArrowheads="1"/>
            </p:cNvSpPr>
            <p:nvPr/>
          </p:nvSpPr>
          <p:spPr bwMode="auto">
            <a:xfrm>
              <a:off x="4996340" y="3987121"/>
              <a:ext cx="386323" cy="52386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dirty="0">
                  <a:solidFill>
                    <a:srgbClr val="0432FF"/>
                  </a:solidFill>
                  <a:ea typeface="黑体" panose="02010609060101010101" pitchFamily="49" charset="-122"/>
                </a:rPr>
                <a:t>1</a:t>
              </a:r>
            </a:p>
          </p:txBody>
        </p:sp>
        <p:sp>
          <p:nvSpPr>
            <p:cNvPr id="14" name="Text Box 6"/>
            <p:cNvSpPr txBox="1">
              <a:spLocks noChangeArrowheads="1"/>
            </p:cNvSpPr>
            <p:nvPr/>
          </p:nvSpPr>
          <p:spPr bwMode="auto">
            <a:xfrm>
              <a:off x="4307012" y="4562570"/>
              <a:ext cx="1697037" cy="52197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92075" tIns="46038" rIns="92075" bIns="46038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dirty="0">
                  <a:solidFill>
                    <a:srgbClr val="0432FF"/>
                  </a:solidFill>
                  <a:ea typeface="黑体" panose="02010609060101010101" pitchFamily="49" charset="-122"/>
                </a:rPr>
                <a:t>执行时间</a:t>
              </a:r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1812424" y="4170393"/>
              <a:ext cx="5217775" cy="58356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lIns="92075" tIns="46038" rIns="92075" bIns="46038">
              <a:spAutoFit/>
            </a:bodyPr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zh-CN" altLang="en-US" sz="3200" dirty="0">
                  <a:solidFill>
                    <a:srgbClr val="0432FF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rPr>
                <a:t>性能 ＝ </a:t>
              </a:r>
              <a:r>
                <a:rPr lang="en-US" altLang="zh-CN" sz="3200" dirty="0">
                  <a:solidFill>
                    <a:srgbClr val="0432FF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rPr>
                <a:t>————</a:t>
              </a:r>
            </a:p>
          </p:txBody>
        </p:sp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F26C247-E036-1D26-744A-9C91B63F7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t>41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6"/>
              <p:cNvSpPr txBox="1">
                <a:spLocks noChangeArrowheads="1"/>
              </p:cNvSpPr>
              <p:nvPr/>
            </p:nvSpPr>
            <p:spPr>
              <a:xfrm>
                <a:off x="457201" y="1453696"/>
                <a:ext cx="8304244" cy="384175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lnSpcReduction="10000"/>
              </a:bodyPr>
              <a:lstStyle>
                <a:lvl1pPr marL="406400" indent="-406400" algn="l" defTabSz="685800" rtl="0" eaLnBrk="1" latinLnBrk="0" hangingPunct="1">
                  <a:lnSpc>
                    <a:spcPct val="120000"/>
                  </a:lnSpc>
                  <a:spcBef>
                    <a:spcPct val="20000"/>
                  </a:spcBef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defRPr>
                </a:lvl1pPr>
                <a:lvl2pPr marL="685800" indent="-342900" algn="l" defTabSz="685800" rtl="0" eaLnBrk="1" latinLnBrk="0" hangingPunct="1">
                  <a:lnSpc>
                    <a:spcPct val="120000"/>
                  </a:lnSpc>
                  <a:spcBef>
                    <a:spcPts val="0"/>
                  </a:spcBef>
                  <a:buFont typeface="Wingdings" panose="05000000000000000000" pitchFamily="2" charset="2"/>
                  <a:buChar char="ü"/>
                  <a:defRPr sz="2100" kern="1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defRPr>
                </a:lvl2pPr>
                <a:lvl3pPr marL="857250" indent="-171450" algn="l" defTabSz="685800" rtl="0" eaLnBrk="1" latinLnBrk="0" hangingPunct="1">
                  <a:lnSpc>
                    <a:spcPct val="12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defRPr>
                </a:lvl3pPr>
                <a:lvl4pPr marL="1200150" indent="-171450" algn="l" defTabSz="685800" rtl="0" eaLnBrk="1" latinLnBrk="0" hangingPunct="1">
                  <a:lnSpc>
                    <a:spcPct val="120000"/>
                  </a:lnSpc>
                  <a:spcBef>
                    <a:spcPts val="0"/>
                  </a:spcBef>
                  <a:buFont typeface="Arial" panose="020B0604020202020204" pitchFamily="34" charset="0"/>
                  <a:buChar char="–"/>
                  <a:defRPr sz="1500" kern="1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defRPr>
                </a:lvl4pPr>
                <a:lvl5pPr marL="1543050" indent="-171450" algn="l" defTabSz="685800" rtl="0" eaLnBrk="1" latinLnBrk="0" hangingPunct="1">
                  <a:lnSpc>
                    <a:spcPct val="120000"/>
                  </a:lnSpc>
                  <a:spcBef>
                    <a:spcPts val="0"/>
                  </a:spcBef>
                  <a:buFont typeface="Arial" panose="020B0604020202020204" pitchFamily="34" charset="0"/>
                  <a:buChar char="»"/>
                  <a:defRPr sz="1500" kern="1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defRPr>
                </a:lvl5pPr>
                <a:lvl6pPr marL="1885950" indent="-171450" algn="l" defTabSz="6858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auto"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altLang="zh-CN" sz="2800" dirty="0">
                    <a:latin typeface="Arial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rPr>
                  <a:t>CPU</a:t>
                </a:r>
                <a:r>
                  <a:rPr lang="zh-CN" altLang="en-US" sz="2800" dirty="0">
                    <a:latin typeface="Arial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rPr>
                  <a:t>执行任务的时间</a:t>
                </a:r>
                <a:endParaRPr lang="en-US" altLang="zh-CN" sz="2800" dirty="0">
                  <a:latin typeface="Arial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  <a:p>
                <a:pPr lvl="1" fontAlgn="auto">
                  <a:lnSpc>
                    <a:spcPct val="150000"/>
                  </a:lnSpc>
                  <a:spcAft>
                    <a:spcPts val="0"/>
                  </a:spcAft>
                  <a:buFont typeface="系统字体常规体"/>
                  <a:buChar char="–"/>
                </a:pPr>
                <a:r>
                  <a:rPr lang="zh-CN" altLang="en-US" sz="2400" dirty="0">
                    <a:latin typeface="Arial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rPr>
                  <a:t>总时间 </a:t>
                </a:r>
                <a:r>
                  <a:rPr lang="en-US" altLang="zh-CN" sz="2400" dirty="0">
                    <a:latin typeface="Arial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rPr>
                  <a:t>= </a:t>
                </a:r>
                <a:r>
                  <a:rPr lang="zh-CN" altLang="en-US" sz="2400" dirty="0">
                    <a:latin typeface="Arial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rPr>
                  <a:t>等待</a:t>
                </a:r>
                <a:r>
                  <a:rPr lang="en-US" altLang="zh-CN" sz="2400" dirty="0">
                    <a:latin typeface="Arial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rPr>
                  <a:t>I/O</a:t>
                </a:r>
                <a:r>
                  <a:rPr lang="zh-CN" altLang="en-US" sz="2400" dirty="0">
                    <a:latin typeface="Arial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rPr>
                  <a:t>的时间</a:t>
                </a:r>
                <a:r>
                  <a:rPr lang="en-US" altLang="zh-CN" sz="2400" dirty="0">
                    <a:latin typeface="Arial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rPr>
                  <a:t> + </a:t>
                </a:r>
                <a:r>
                  <a:rPr lang="zh-CN" altLang="en-US" sz="2400" dirty="0">
                    <a:latin typeface="Arial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rPr>
                  <a:t>执行时间</a:t>
                </a:r>
                <a:endParaRPr lang="en-US" altLang="zh-CN" sz="2400" dirty="0">
                  <a:latin typeface="Arial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  <a:p>
                <a:pPr lvl="1" fontAlgn="auto">
                  <a:lnSpc>
                    <a:spcPct val="150000"/>
                  </a:lnSpc>
                  <a:spcAft>
                    <a:spcPts val="0"/>
                  </a:spcAft>
                  <a:buFont typeface="系统字体常规体"/>
                  <a:buChar char="–"/>
                </a:pPr>
                <a:r>
                  <a:rPr lang="zh-CN" altLang="en-US" sz="2400" dirty="0">
                    <a:latin typeface="Arial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rPr>
                  <a:t>执行时间 </a:t>
                </a:r>
                <a:r>
                  <a:rPr lang="en-US" altLang="zh-CN" sz="2400" dirty="0">
                    <a:latin typeface="Arial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rPr>
                  <a:t>= </a:t>
                </a:r>
                <a:r>
                  <a:rPr lang="zh-CN" altLang="en-US" sz="2400" dirty="0">
                    <a:solidFill>
                      <a:srgbClr val="00B050"/>
                    </a:solidFill>
                    <a:latin typeface="Arial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rPr>
                  <a:t>时钟周期数</a:t>
                </a:r>
                <a:r>
                  <a:rPr lang="en-US" altLang="zh-CN" sz="2400" dirty="0">
                    <a:latin typeface="Arial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  <a:sym typeface="Symbol" panose="05050102010706020507" pitchFamily="18" charset="2"/>
                  </a:rPr>
                  <a:t> </a:t>
                </a:r>
                <a:r>
                  <a:rPr lang="zh-CN" altLang="en-US" sz="2400" dirty="0">
                    <a:latin typeface="Arial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  <a:sym typeface="Symbol" panose="05050102010706020507" pitchFamily="18" charset="2"/>
                  </a:rPr>
                  <a:t> 时钟周期</a:t>
                </a:r>
                <a:r>
                  <a:rPr lang="en-US" altLang="zh-CN" sz="2400" dirty="0">
                    <a:latin typeface="Arial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  <a:sym typeface="Symbol" panose="05050102010706020507" pitchFamily="18" charset="2"/>
                  </a:rPr>
                  <a:t> T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+mn-ea"/>
                            <a:cs typeface="DejaVu Math TeX Gyre" panose="02000503000000000000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>
                          <a:rPr lang="zh-CN" altLang="en-US" sz="2400" b="1" i="1" smtClean="0">
                            <a:latin typeface="Cambria Math" panose="02040503050406030204" pitchFamily="18" charset="0"/>
                            <a:ea typeface="+mn-ea"/>
                            <a:cs typeface="DejaVu Math TeX Gyre" panose="02000503000000000000" charset="0"/>
                            <a:sym typeface="Symbol" panose="05050102010706020507" pitchFamily="18" charset="2"/>
                          </a:rPr>
                          <m:t>时钟周期数</m:t>
                        </m:r>
                      </m:num>
                      <m:den>
                        <m:r>
                          <a:rPr lang="zh-CN" altLang="en-US" sz="2400" b="1" i="1" dirty="0" smtClean="0">
                            <a:latin typeface="Cambria Math" panose="02040503050406030204" pitchFamily="18" charset="0"/>
                            <a:ea typeface="+mn-ea"/>
                            <a:cs typeface="DejaVu Math TeX Gyre" panose="02000503000000000000" charset="0"/>
                            <a:sym typeface="Symbol" panose="05050102010706020507" pitchFamily="18" charset="2"/>
                          </a:rPr>
                          <m:t>时钟频率</m:t>
                        </m:r>
                        <m:r>
                          <m:rPr>
                            <m:nor/>
                          </m:rPr>
                          <a:rPr lang="en-US" altLang="zh-CN" sz="2400" i="1" dirty="0" smtClean="0">
                            <a:latin typeface="+mn-lt"/>
                            <a:ea typeface="+mn-ea"/>
                            <a:cs typeface="DejaVu Math TeX Gyre" panose="02000503000000000000" charset="0"/>
                            <a:sym typeface="Symbol" panose="05050102010706020507" pitchFamily="18" charset="2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CN" sz="2400" i="1" dirty="0" smtClean="0">
                            <a:latin typeface="+mn-lt"/>
                            <a:ea typeface="+mn-ea"/>
                            <a:cs typeface="DejaVu Math TeX Gyre" panose="02000503000000000000" charset="0"/>
                          </a:rPr>
                          <m:t>f</m:t>
                        </m:r>
                        <m:r>
                          <a:rPr lang="zh-CN" altLang="en-US" sz="2400" b="1" i="1" dirty="0" smtClean="0">
                            <a:latin typeface="Cambria Math" panose="02040503050406030204" pitchFamily="18" charset="0"/>
                            <a:ea typeface="+mn-ea"/>
                            <a:cs typeface="DejaVu Math TeX Gyre" panose="02000503000000000000" charset="0"/>
                          </a:rPr>
                          <m:t> </m:t>
                        </m:r>
                      </m:den>
                    </m:f>
                  </m:oMath>
                </a14:m>
                <a:endParaRPr lang="en-US" altLang="zh-CN" sz="2400" dirty="0">
                  <a:latin typeface="+mn-lt"/>
                  <a:ea typeface="+mn-ea"/>
                  <a:cs typeface="黑体" panose="02010609060101010101" pitchFamily="49" charset="-122"/>
                  <a:sym typeface="Symbol" panose="05050102010706020507" pitchFamily="18" charset="2"/>
                </a:endParaRPr>
              </a:p>
              <a:p>
                <a:pPr lvl="1" fontAlgn="auto">
                  <a:lnSpc>
                    <a:spcPct val="150000"/>
                  </a:lnSpc>
                  <a:spcAft>
                    <a:spcPts val="0"/>
                  </a:spcAft>
                  <a:buFont typeface="系统字体常规体"/>
                  <a:buChar char="–"/>
                </a:pPr>
                <a:r>
                  <a:rPr lang="zh-CN" altLang="en-US" sz="2400" dirty="0">
                    <a:solidFill>
                      <a:srgbClr val="00B050"/>
                    </a:solidFill>
                    <a:latin typeface="Arial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rPr>
                  <a:t>时钟周期数</a:t>
                </a:r>
                <a:r>
                  <a:rPr lang="en-US" altLang="zh-CN" sz="2400" dirty="0">
                    <a:solidFill>
                      <a:srgbClr val="00B050"/>
                    </a:solidFill>
                    <a:latin typeface="Arial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  <a:sym typeface="Symbol" panose="05050102010706020507" pitchFamily="18" charset="2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  <a:sym typeface="Symbol" panose="05050102010706020507" pitchFamily="18" charset="2"/>
                  </a:rPr>
                  <a:t>= </a:t>
                </a:r>
                <a:r>
                  <a:rPr lang="zh-CN" altLang="en-US" sz="2400" dirty="0">
                    <a:solidFill>
                      <a:schemeClr val="accent6">
                        <a:lumMod val="50000"/>
                      </a:schemeClr>
                    </a:solidFill>
                    <a:latin typeface="Arial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  <a:sym typeface="Symbol" panose="05050102010706020507" pitchFamily="18" charset="2"/>
                  </a:rPr>
                  <a:t>程序指令数</a:t>
                </a:r>
                <a:r>
                  <a:rPr lang="en-US" altLang="zh-CN" sz="2400" dirty="0">
                    <a:solidFill>
                      <a:schemeClr val="accent6">
                        <a:lumMod val="50000"/>
                      </a:schemeClr>
                    </a:solidFill>
                    <a:latin typeface="Arial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  <a:sym typeface="Symbol" panose="05050102010706020507" pitchFamily="18" charset="2"/>
                  </a:rPr>
                  <a:t> </a:t>
                </a:r>
                <a:r>
                  <a:rPr lang="zh-CN" altLang="en-US" sz="2400" dirty="0">
                    <a:latin typeface="Arial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  <a:sym typeface="Symbol" panose="05050102010706020507" pitchFamily="18" charset="2"/>
                  </a:rPr>
                  <a:t> </a:t>
                </a:r>
                <a:r>
                  <a:rPr lang="zh-CN" altLang="en-US" sz="2400" dirty="0">
                    <a:solidFill>
                      <a:srgbClr val="7030A0"/>
                    </a:solidFill>
                    <a:latin typeface="Arial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  <a:sym typeface="Symbol" panose="05050102010706020507" pitchFamily="18" charset="2"/>
                  </a:rPr>
                  <a:t>每条指令平均周期数</a:t>
                </a:r>
                <a:endParaRPr lang="en-US" altLang="zh-CN" sz="2400" dirty="0">
                  <a:solidFill>
                    <a:srgbClr val="7030A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  <a:sym typeface="Symbol" panose="05050102010706020507" pitchFamily="18" charset="2"/>
                </a:endParaRPr>
              </a:p>
              <a:p>
                <a:pPr lvl="1" fontAlgn="auto">
                  <a:lnSpc>
                    <a:spcPct val="150000"/>
                  </a:lnSpc>
                  <a:spcAft>
                    <a:spcPts val="0"/>
                  </a:spcAft>
                  <a:buFont typeface="系统字体常规体"/>
                  <a:buChar char="–"/>
                </a:pPr>
                <a:r>
                  <a:rPr lang="zh-CN" altLang="en-US" sz="2400" dirty="0">
                    <a:solidFill>
                      <a:srgbClr val="7030A0"/>
                    </a:solidFill>
                    <a:latin typeface="Arial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  <a:sym typeface="Symbol" panose="05050102010706020507" pitchFamily="18" charset="2"/>
                  </a:rPr>
                  <a:t>每条指令平均周期数</a:t>
                </a:r>
                <a:endParaRPr lang="en-US" altLang="zh-CN" sz="2400" dirty="0">
                  <a:solidFill>
                    <a:srgbClr val="7030A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  <a:sym typeface="Symbol" panose="05050102010706020507" pitchFamily="18" charset="2"/>
                </a:endParaRPr>
              </a:p>
              <a:p>
                <a:pPr lvl="2" fontAlgn="auto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zh-CN" altLang="en-US" sz="2400" dirty="0">
                    <a:solidFill>
                      <a:srgbClr val="0432FF"/>
                    </a:solidFill>
                    <a:latin typeface="Arial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  <a:sym typeface="Symbol" panose="05050102010706020507" pitchFamily="18" charset="2"/>
                  </a:rPr>
                  <a:t>又称为 </a:t>
                </a:r>
                <a:r>
                  <a:rPr lang="en-US" altLang="zh-CN" sz="3600" dirty="0">
                    <a:solidFill>
                      <a:srgbClr val="0432FF"/>
                    </a:solidFill>
                    <a:latin typeface="Arial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  <a:sym typeface="Symbol" panose="05050102010706020507" pitchFamily="18" charset="2"/>
                  </a:rPr>
                  <a:t>CPI</a:t>
                </a:r>
                <a:r>
                  <a:rPr lang="zh-CN" altLang="en-US" sz="2400" dirty="0">
                    <a:solidFill>
                      <a:srgbClr val="0432FF"/>
                    </a:solidFill>
                    <a:latin typeface="Arial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  <a:sym typeface="Symbol" panose="05050102010706020507" pitchFamily="18" charset="2"/>
                  </a:rPr>
                  <a:t>：</a:t>
                </a:r>
                <a:r>
                  <a:rPr lang="en-US" altLang="zh-CN" sz="2400" dirty="0">
                    <a:solidFill>
                      <a:srgbClr val="0432FF"/>
                    </a:solidFill>
                    <a:latin typeface="Arial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  <a:sym typeface="Symbol" panose="05050102010706020507" pitchFamily="18" charset="2"/>
                  </a:rPr>
                  <a:t>Cycles Per Instruction</a:t>
                </a:r>
              </a:p>
              <a:p>
                <a:pPr lvl="1" fontAlgn="auto">
                  <a:spcAft>
                    <a:spcPts val="0"/>
                  </a:spcAft>
                  <a:buFont typeface="Wingdings" panose="05000000000000000000" pitchFamily="2" charset="2"/>
                  <a:buNone/>
                </a:pPr>
                <a:endParaRPr lang="en-US" altLang="zh-CN" sz="2000" dirty="0">
                  <a:latin typeface="Arial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  <a:sym typeface="Symbol" panose="05050102010706020507" pitchFamily="18" charset="2"/>
                </a:endParaRPr>
              </a:p>
            </p:txBody>
          </p:sp>
        </mc:Choice>
        <mc:Fallback xmlns="">
          <p:sp>
            <p:nvSpPr>
              <p:cNvPr id="12" name="Rectangle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1" y="1453696"/>
                <a:ext cx="8304244" cy="3841754"/>
              </a:xfrm>
              <a:prstGeom prst="rect">
                <a:avLst/>
              </a:prstGeom>
              <a:blipFill>
                <a:blip r:embed="rId3"/>
                <a:stretch>
                  <a:fillRect l="-1322" t="-1902" b="-34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性能评价</a:t>
            </a:r>
          </a:p>
        </p:txBody>
      </p:sp>
      <p:sp>
        <p:nvSpPr>
          <p:cNvPr id="27653" name="Rectangle 8"/>
          <p:cNvSpPr>
            <a:spLocks noChangeArrowheads="1"/>
          </p:cNvSpPr>
          <p:nvPr/>
        </p:nvSpPr>
        <p:spPr bwMode="auto">
          <a:xfrm>
            <a:off x="732410" y="5358115"/>
            <a:ext cx="7679180" cy="953135"/>
          </a:xfrm>
          <a:prstGeom prst="rect">
            <a:avLst/>
          </a:prstGeom>
          <a:noFill/>
          <a:ln w="2857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 lIns="92075" tIns="46038" rIns="92075" bIns="46038">
            <a:spAutoFit/>
          </a:bodyPr>
          <a:lstStyle/>
          <a:p>
            <a:pPr algn="ctr"/>
            <a:r>
              <a:rPr lang="zh-CN" altLang="en-US" sz="28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执行时间 ＝ </a:t>
            </a:r>
            <a:br>
              <a:rPr lang="en-US" altLang="zh-CN" sz="28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</a:br>
            <a:r>
              <a:rPr lang="zh-CN" altLang="en-US" sz="28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指令数 </a:t>
            </a:r>
            <a:r>
              <a:rPr lang="zh-CN" altLang="en-US" sz="28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  <a:sym typeface="Symbol" panose="05050102010706020507" pitchFamily="18" charset="2"/>
              </a:rPr>
              <a:t></a:t>
            </a:r>
            <a:r>
              <a:rPr lang="zh-CN" altLang="en-US" sz="28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 </a:t>
            </a:r>
            <a:r>
              <a:rPr lang="en-US" altLang="zh-CN" sz="28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CPI </a:t>
            </a:r>
            <a:r>
              <a:rPr lang="en-US" altLang="zh-CN" sz="28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  <a:sym typeface="Symbol" panose="05050102010706020507" pitchFamily="18" charset="2"/>
              </a:rPr>
              <a:t> </a:t>
            </a:r>
            <a:r>
              <a:rPr lang="zh-CN" altLang="en-US" sz="28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  <a:sym typeface="Symbol" panose="05050102010706020507" pitchFamily="18" charset="2"/>
              </a:rPr>
              <a:t>时钟周期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5C1BF57-80EC-AE82-2580-9B525EE2E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t>42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3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性能评价</a:t>
            </a:r>
            <a:endParaRPr lang="zh-CN" altLang="en-US" kern="1200" dirty="0"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676" name="Object 4"/>
              <p:cNvSpPr txBox="1">
                <a:spLocks noGrp="1"/>
              </p:cNvSpPr>
              <p:nvPr>
                <p:ph idx="1"/>
              </p:nvPr>
            </p:nvSpPr>
            <p:spPr bwMode="auto">
              <a:xfrm>
                <a:off x="2692908" y="4234638"/>
                <a:ext cx="3529584" cy="172932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zh-CN" altLang="en-US" sz="2800" b="1" i="0" smtClean="0">
                          <a:solidFill>
                            <a:srgbClr val="000000"/>
                          </a:solidFill>
                          <a:cs typeface="DejaVu Math TeX Gyre" panose="02000503000000000000" charset="0"/>
                        </a:rPr>
                        <m:t>CPI</m:t>
                      </m:r>
                      <m:r>
                        <a:rPr lang="zh-CN" altLang="en-US" sz="28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S Mincho" charset="0"/>
                          <a:cs typeface="DejaVu Math TeX Gyre" panose="02000503000000000000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zh-CN" altLang="en-US" sz="28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</m:ctrlPr>
                        </m:naryPr>
                        <m:sub>
                          <m:r>
                            <a:rPr lang="zh-CN" altLang="en-US" sz="2800" b="1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𝐢</m:t>
                          </m:r>
                          <m:r>
                            <a:rPr lang="zh-CN" altLang="en-US" sz="28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S Mincho" charset="0"/>
                              <a:cs typeface="DejaVu Math TeX Gyre" panose="02000503000000000000" charset="0"/>
                            </a:rPr>
                            <m:t>=</m:t>
                          </m:r>
                          <m:r>
                            <a:rPr lang="zh-CN" altLang="en-US" sz="2800" b="1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𝟏</m:t>
                          </m:r>
                        </m:sub>
                        <m:sup>
                          <m:r>
                            <a:rPr lang="zh-CN" altLang="en-US" sz="2800" b="1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𝐧</m:t>
                          </m:r>
                        </m:sup>
                        <m:e>
                          <m:r>
                            <m:rPr>
                              <m:nor/>
                            </m:rPr>
                            <a:rPr lang="zh-CN" altLang="en-US" sz="2800" b="1" i="0">
                              <a:solidFill>
                                <a:srgbClr val="000000"/>
                              </a:solidFill>
                              <a:cs typeface="DejaVu Math TeX Gyre" panose="02000503000000000000" charset="0"/>
                            </a:rPr>
                            <m:t>CP</m:t>
                          </m:r>
                          <m:sSub>
                            <m:sSubPr>
                              <m:ctrlPr>
                                <a:rPr lang="zh-CN" altLang="en-US" sz="28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zh-CN" altLang="en-US" sz="2800" b="1" i="0">
                                  <a:solidFill>
                                    <a:srgbClr val="000000"/>
                                  </a:solidFill>
                                  <a:cs typeface="DejaVu Math TeX Gyre" panose="02000503000000000000" charset="0"/>
                                </a:rPr>
                                <m:t>I</m:t>
                              </m:r>
                            </m:e>
                            <m:sub>
                              <m:r>
                                <a:rPr lang="zh-CN" altLang="en-US" sz="2800" b="1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  <m:t>𝐢</m:t>
                              </m:r>
                            </m:sub>
                          </m:sSub>
                          <m:r>
                            <a:rPr lang="zh-CN" altLang="en-US" sz="28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S Mincho" charset="0"/>
                              <a:cs typeface="DejaVu Math TeX Gyre" panose="02000503000000000000" charset="0"/>
                            </a:rPr>
                            <m:t>×</m:t>
                          </m:r>
                          <m:sSub>
                            <m:sSubPr>
                              <m:ctrlPr>
                                <a:rPr lang="zh-CN" altLang="en-US" sz="28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b="1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  <m:t>𝐏</m:t>
                              </m:r>
                            </m:e>
                            <m:sub>
                              <m:r>
                                <a:rPr lang="zh-CN" altLang="en-US" sz="2800" b="1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  <m:t>𝐢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CN" altLang="en-US" sz="2800" b="1" dirty="0"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8676" name="Object 4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xfrm>
                <a:off x="2692908" y="4234638"/>
                <a:ext cx="3529584" cy="1729320"/>
              </a:xfrm>
              <a:prstGeom prst="rect">
                <a:avLst/>
              </a:prstGeom>
              <a:blipFill>
                <a:blip r:embed="rId3"/>
                <a:stretch>
                  <a:fillRect l="-6093" t="-78832" b="-9343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67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325095"/>
            <a:ext cx="7799294" cy="525621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CPI</a:t>
            </a:r>
            <a:r>
              <a:rPr lang="zh-CN" altLang="en-US" sz="28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：</a:t>
            </a:r>
            <a:r>
              <a:rPr lang="en-US" altLang="zh-CN" sz="28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cycle per instruction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简单的指令需要较少的时钟周期</a:t>
            </a:r>
            <a:endParaRPr lang="zh-CN" altLang="en-US" sz="3200" dirty="0"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lvl="2">
              <a:lnSpc>
                <a:spcPct val="150000"/>
              </a:lnSpc>
            </a:pP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P</a:t>
            </a:r>
            <a:r>
              <a:rPr lang="en-US" altLang="zh-CN" baseline="-250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i 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—— 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第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i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类指令出现的频度</a:t>
            </a:r>
          </a:p>
          <a:p>
            <a:pPr lvl="2">
              <a:lnSpc>
                <a:spcPct val="150000"/>
              </a:lnSpc>
            </a:pP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CPI</a:t>
            </a:r>
            <a:r>
              <a:rPr lang="en-US" altLang="zh-CN" baseline="-25000" dirty="0" err="1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i</a:t>
            </a:r>
            <a:r>
              <a:rPr lang="en-US" altLang="zh-CN" baseline="-250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 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—— 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执行第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i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类指令所需的时钟周期</a:t>
            </a:r>
          </a:p>
          <a:p>
            <a:pPr hangingPunct="1">
              <a:lnSpc>
                <a:spcPct val="150000"/>
              </a:lnSpc>
            </a:pP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04AF704-9D90-D1F5-7D2A-63DE3B673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t>43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性能评价：例子</a:t>
            </a:r>
            <a:endParaRPr lang="zh-CN" altLang="en-US" kern="1200" dirty="0"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867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375422"/>
            <a:ext cx="8229600" cy="2745167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altLang="zh-CN" sz="28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ISA</a:t>
            </a:r>
            <a:r>
              <a:rPr lang="zh-CN" altLang="en-US" sz="28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包括三种指令：</a:t>
            </a:r>
            <a:r>
              <a:rPr lang="en-US" altLang="zh-CN" sz="28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A</a:t>
            </a:r>
            <a:r>
              <a:rPr lang="zh-CN" altLang="en-US" sz="28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、</a:t>
            </a:r>
            <a:r>
              <a:rPr lang="en-US" altLang="zh-CN" sz="28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B</a:t>
            </a:r>
            <a:r>
              <a:rPr lang="zh-CN" altLang="en-US" sz="28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和</a:t>
            </a:r>
            <a:r>
              <a:rPr lang="en-US" altLang="zh-CN" sz="28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C </a:t>
            </a:r>
          </a:p>
          <a:p>
            <a:pPr lvl="1">
              <a:lnSpc>
                <a:spcPct val="110000"/>
              </a:lnSpc>
            </a:pP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问题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1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：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CPI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？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 </a:t>
            </a:r>
          </a:p>
          <a:p>
            <a:pPr lvl="1">
              <a:lnSpc>
                <a:spcPct val="110000"/>
              </a:lnSpc>
            </a:pP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问题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2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：如果可以将某个指令加速一倍（执行周期变为一半），应该加速哪个指令？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hangingPunct="1">
              <a:lnSpc>
                <a:spcPct val="110000"/>
              </a:lnSpc>
            </a:pPr>
            <a:endParaRPr lang="en-US" altLang="zh-CN" sz="3600" dirty="0"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5572981"/>
              </p:ext>
            </p:extLst>
          </p:nvPr>
        </p:nvGraphicFramePr>
        <p:xfrm>
          <a:off x="436813" y="3610195"/>
          <a:ext cx="8382000" cy="1485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5300">
                <a:tc>
                  <a:txBody>
                    <a:bodyPr/>
                    <a:lstStyle/>
                    <a:p>
                      <a:pPr algn="ctr"/>
                      <a:endParaRPr lang="zh-CN" altLang="en-US" sz="24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黑体" panose="02010609060101010101" pitchFamily="49" charset="-122"/>
                      </a:endParaRPr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A</a:t>
                      </a:r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B</a:t>
                      </a:r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C</a:t>
                      </a:r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执行所需周期</a:t>
                      </a: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2</a:t>
                      </a: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4</a:t>
                      </a: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8</a:t>
                      </a: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指令占比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50%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40%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10%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2325098" y="5257175"/>
            <a:ext cx="4605428" cy="86177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zh-CN" sz="28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CPI</a:t>
            </a:r>
            <a:r>
              <a:rPr lang="zh-CN" altLang="en-US" sz="28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</a:t>
            </a:r>
            <a:r>
              <a:rPr lang="en-US" altLang="zh-CN" sz="28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=</a:t>
            </a:r>
            <a:r>
              <a:rPr lang="zh-CN" altLang="en-US" sz="28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</a:t>
            </a:r>
            <a:r>
              <a:rPr lang="en-US" altLang="zh-CN" sz="28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2</a:t>
            </a:r>
            <a:r>
              <a:rPr lang="zh-CN" altLang="en-US" sz="28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*</a:t>
            </a:r>
            <a:r>
              <a:rPr lang="en-US" altLang="zh-CN" sz="28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50%+4</a:t>
            </a:r>
            <a:r>
              <a:rPr lang="zh-CN" altLang="en-US" sz="28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*</a:t>
            </a:r>
            <a:r>
              <a:rPr lang="en-US" altLang="zh-CN" sz="28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40%+8</a:t>
            </a:r>
            <a:r>
              <a:rPr lang="zh-CN" altLang="en-US" sz="28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*</a:t>
            </a:r>
            <a:r>
              <a:rPr lang="en-US" altLang="zh-CN" sz="28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10%</a:t>
            </a:r>
          </a:p>
          <a:p>
            <a:r>
              <a:rPr lang="en-US" altLang="zh-CN" sz="28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    =</a:t>
            </a:r>
            <a:r>
              <a:rPr lang="zh-CN" altLang="en-US" sz="28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</a:t>
            </a:r>
            <a:r>
              <a:rPr lang="en-US" altLang="zh-CN" sz="28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1+1.6+0.8 = 3.4</a:t>
            </a:r>
            <a:endParaRPr lang="zh-CN" altLang="en-US" sz="2800" dirty="0">
              <a:solidFill>
                <a:schemeClr val="tx1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9066840-16FF-FB0F-EE14-23263DAA1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t>44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性能评价：例子</a:t>
            </a:r>
            <a:endParaRPr lang="zh-CN" altLang="en-US" kern="1200" dirty="0"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867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375422"/>
            <a:ext cx="8229600" cy="2745167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altLang="zh-CN" sz="28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ISA</a:t>
            </a:r>
            <a:r>
              <a:rPr lang="zh-CN" altLang="en-US" sz="28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包括三种指令：</a:t>
            </a:r>
            <a:r>
              <a:rPr lang="en-US" altLang="zh-CN" sz="28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A</a:t>
            </a:r>
            <a:r>
              <a:rPr lang="zh-CN" altLang="en-US" sz="28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、</a:t>
            </a:r>
            <a:r>
              <a:rPr lang="en-US" altLang="zh-CN" sz="28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B</a:t>
            </a:r>
            <a:r>
              <a:rPr lang="zh-CN" altLang="en-US" sz="28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和</a:t>
            </a:r>
            <a:r>
              <a:rPr lang="en-US" altLang="zh-CN" sz="28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C </a:t>
            </a:r>
          </a:p>
          <a:p>
            <a:pPr lvl="1">
              <a:lnSpc>
                <a:spcPct val="110000"/>
              </a:lnSpc>
            </a:pP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问题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1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：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CPI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？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 </a:t>
            </a:r>
          </a:p>
          <a:p>
            <a:pPr lvl="1">
              <a:lnSpc>
                <a:spcPct val="110000"/>
              </a:lnSpc>
            </a:pP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问题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2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：如果可以将某个指令加速一倍（执行周期变为一半），应该加速哪个指令？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hangingPunct="1">
              <a:lnSpc>
                <a:spcPct val="110000"/>
              </a:lnSpc>
            </a:pPr>
            <a:endParaRPr lang="en-US" altLang="zh-CN" sz="3600" dirty="0"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436813" y="3610195"/>
          <a:ext cx="8382000" cy="1485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5300">
                <a:tc>
                  <a:txBody>
                    <a:bodyPr/>
                    <a:lstStyle/>
                    <a:p>
                      <a:pPr algn="ctr"/>
                      <a:endParaRPr lang="zh-CN" altLang="en-US" sz="24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黑体" panose="02010609060101010101" pitchFamily="49" charset="-122"/>
                      </a:endParaRPr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A</a:t>
                      </a:r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B</a:t>
                      </a:r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C</a:t>
                      </a:r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执行所需周期</a:t>
                      </a: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2</a:t>
                      </a: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4</a:t>
                      </a: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8</a:t>
                      </a: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指令占比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50%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40%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10%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2325098" y="5257175"/>
            <a:ext cx="4605428" cy="86177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zh-CN" sz="28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CPI</a:t>
            </a:r>
            <a:r>
              <a:rPr lang="zh-CN" altLang="en-US" sz="28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</a:t>
            </a:r>
            <a:r>
              <a:rPr lang="en-US" altLang="zh-CN" sz="28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=</a:t>
            </a:r>
            <a:r>
              <a:rPr lang="zh-CN" altLang="en-US" sz="28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</a:t>
            </a:r>
            <a:r>
              <a:rPr lang="en-US" altLang="zh-CN" sz="28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2</a:t>
            </a:r>
            <a:r>
              <a:rPr lang="zh-CN" altLang="en-US" sz="28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*</a:t>
            </a:r>
            <a:r>
              <a:rPr lang="en-US" altLang="zh-CN" sz="28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50%+</a:t>
            </a:r>
            <a:r>
              <a:rPr lang="en-US" altLang="zh-CN" sz="2800" dirty="0">
                <a:solidFill>
                  <a:srgbClr val="0432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2</a:t>
            </a:r>
            <a:r>
              <a:rPr lang="zh-CN" altLang="en-US" sz="2800" dirty="0">
                <a:solidFill>
                  <a:srgbClr val="0432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*</a:t>
            </a:r>
            <a:r>
              <a:rPr lang="en-US" altLang="zh-CN" sz="2800" dirty="0">
                <a:solidFill>
                  <a:srgbClr val="0432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40%</a:t>
            </a:r>
            <a:r>
              <a:rPr lang="en-US" altLang="zh-CN" sz="28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+8</a:t>
            </a:r>
            <a:r>
              <a:rPr lang="zh-CN" altLang="en-US" sz="28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*</a:t>
            </a:r>
            <a:r>
              <a:rPr lang="en-US" altLang="zh-CN" sz="28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10%</a:t>
            </a:r>
          </a:p>
          <a:p>
            <a:r>
              <a:rPr lang="en-US" altLang="zh-CN" sz="28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    =</a:t>
            </a:r>
            <a:r>
              <a:rPr lang="zh-CN" altLang="en-US" sz="28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</a:t>
            </a:r>
            <a:r>
              <a:rPr lang="en-US" altLang="zh-CN" sz="28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1+</a:t>
            </a:r>
            <a:r>
              <a:rPr lang="en-US" altLang="zh-CN" sz="2800" dirty="0">
                <a:solidFill>
                  <a:srgbClr val="0432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0.8</a:t>
            </a:r>
            <a:r>
              <a:rPr lang="en-US" altLang="zh-CN" sz="28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+0.8 = 2.6</a:t>
            </a:r>
            <a:endParaRPr lang="zh-CN" altLang="en-US" sz="2800" dirty="0">
              <a:solidFill>
                <a:schemeClr val="tx1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9066840-16FF-FB0F-EE14-23263DAA1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t>45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01183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性能评价：例子</a:t>
            </a:r>
            <a:endParaRPr lang="zh-CN" altLang="en-US" kern="1200" dirty="0"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7" name="矩形 4"/>
          <p:cNvSpPr/>
          <p:nvPr/>
        </p:nvSpPr>
        <p:spPr>
          <a:xfrm>
            <a:off x="529771" y="1972325"/>
            <a:ext cx="8157029" cy="2975428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8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关注瓶颈！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7A86598-2820-4404-963B-5266E4BFE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t>46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520860" y="1120684"/>
            <a:ext cx="7708739" cy="4525962"/>
          </a:xfrm>
        </p:spPr>
        <p:txBody>
          <a:bodyPr/>
          <a:lstStyle/>
          <a:p>
            <a:r>
              <a:rPr lang="zh-CN" altLang="en-US" sz="28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某段程序指令数目为</a:t>
            </a:r>
            <a:r>
              <a:rPr lang="en-US" altLang="zh-CN" sz="28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40</a:t>
            </a:r>
            <a:r>
              <a:rPr lang="zh-CN" altLang="en-US" sz="28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， </a:t>
            </a:r>
            <a:r>
              <a:rPr lang="en-US" altLang="zh-CN" sz="28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CPI</a:t>
            </a:r>
            <a:r>
              <a:rPr lang="zh-CN" altLang="en-US" sz="28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为</a:t>
            </a:r>
            <a:r>
              <a:rPr lang="en-US" altLang="zh-CN" sz="28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2.5</a:t>
            </a:r>
            <a:r>
              <a:rPr lang="zh-CN" altLang="en-US" sz="28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，要想在</a:t>
            </a:r>
            <a:r>
              <a:rPr lang="en-US" altLang="zh-CN" sz="28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1us</a:t>
            </a:r>
            <a:r>
              <a:rPr lang="zh-CN" altLang="en-US" sz="28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内完成计算，最低时钟频率为</a:t>
            </a:r>
            <a:endParaRPr lang="en-US" altLang="zh-CN" sz="2800" dirty="0"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marL="0" indent="0">
              <a:buNone/>
            </a:pP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hangingPunct="1"/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9" name="椭圆 18"/>
          <p:cNvSpPr>
            <a:spLocks noChangeAspect="1"/>
          </p:cNvSpPr>
          <p:nvPr>
            <p:custDataLst>
              <p:tags r:id="rId2"/>
            </p:custDataLst>
          </p:nvPr>
        </p:nvSpPr>
        <p:spPr bwMode="auto">
          <a:xfrm>
            <a:off x="781267" y="2404360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6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sym typeface="微软雅黑" panose="020B0503020204020204" pitchFamily="34" charset="-122"/>
              </a:rPr>
              <a:t>A</a:t>
            </a:r>
          </a:p>
        </p:txBody>
      </p:sp>
      <p:sp>
        <p:nvSpPr>
          <p:cNvPr id="10" name="椭圆 18"/>
          <p:cNvSpPr>
            <a:spLocks noChangeAspect="1"/>
          </p:cNvSpPr>
          <p:nvPr>
            <p:custDataLst>
              <p:tags r:id="rId3"/>
            </p:custDataLst>
          </p:nvPr>
        </p:nvSpPr>
        <p:spPr bwMode="auto">
          <a:xfrm>
            <a:off x="781267" y="3351845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6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sym typeface="微软雅黑" panose="020B0503020204020204" pitchFamily="34" charset="-122"/>
              </a:rPr>
              <a:t>B</a:t>
            </a:r>
          </a:p>
        </p:txBody>
      </p:sp>
      <p:sp>
        <p:nvSpPr>
          <p:cNvPr id="11" name="椭圆 18"/>
          <p:cNvSpPr>
            <a:spLocks noChangeAspect="1"/>
          </p:cNvSpPr>
          <p:nvPr>
            <p:custDataLst>
              <p:tags r:id="rId4"/>
            </p:custDataLst>
          </p:nvPr>
        </p:nvSpPr>
        <p:spPr bwMode="auto">
          <a:xfrm>
            <a:off x="781267" y="4299330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6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sym typeface="微软雅黑" panose="020B0503020204020204" pitchFamily="34" charset="-122"/>
              </a:rPr>
              <a:t>C</a:t>
            </a:r>
          </a:p>
        </p:txBody>
      </p:sp>
      <p:sp>
        <p:nvSpPr>
          <p:cNvPr id="12" name="椭圆 18"/>
          <p:cNvSpPr>
            <a:spLocks noChangeAspect="1"/>
          </p:cNvSpPr>
          <p:nvPr>
            <p:custDataLst>
              <p:tags r:id="rId5"/>
            </p:custDataLst>
          </p:nvPr>
        </p:nvSpPr>
        <p:spPr bwMode="auto">
          <a:xfrm>
            <a:off x="781267" y="5246815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6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sym typeface="微软雅黑" panose="020B0503020204020204" pitchFamily="34" charset="-122"/>
              </a:rPr>
              <a:t>D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530605" y="2390379"/>
            <a:ext cx="139573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50MHz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8724" y="3337864"/>
            <a:ext cx="16217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100MHz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8724" y="4285349"/>
            <a:ext cx="16217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150MHz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8724" y="5237945"/>
            <a:ext cx="16217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200MHz</a:t>
            </a:r>
          </a:p>
        </p:txBody>
      </p:sp>
      <p:sp>
        <p:nvSpPr>
          <p:cNvPr id="4" name="矩形: 圆角 3"/>
          <p:cNvSpPr/>
          <p:nvPr>
            <p:custDataLst>
              <p:tags r:id="rId6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rtlCol="0" anchor="ctr" anchorCtr="1">
            <a:noAutofit/>
          </a:bodyPr>
          <a:lstStyle/>
          <a:p>
            <a:pPr algn="l"/>
            <a:r>
              <a:rPr lang="zh-CN" altLang="en-US" sz="1600">
                <a:solidFill>
                  <a:srgbClr val="FFFFFF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微软雅黑" panose="020B0503020204020204" pitchFamily="34" charset="-122"/>
              </a:rPr>
              <a:t>提交</a:t>
            </a:r>
            <a:endParaRPr lang="zh-CN" altLang="en-US" sz="1600" dirty="0">
              <a:solidFill>
                <a:srgbClr val="FFFFFF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20" name="矩形 19" hidden="1"/>
          <p:cNvSpPr/>
          <p:nvPr>
            <p:custDataLst>
              <p:tags r:id="rId7"/>
            </p:custDataLst>
          </p:nvPr>
        </p:nvSpPr>
        <p:spPr>
          <a:xfrm>
            <a:off x="9525000" y="0"/>
            <a:ext cx="3840480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l"/>
            <a:endParaRPr lang="zh-CN" altLang="en-US" sz="180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文本框 25" hidden="1"/>
          <p:cNvSpPr txBox="1"/>
          <p:nvPr>
            <p:custDataLst>
              <p:tags r:id="rId8"/>
            </p:custDataLst>
          </p:nvPr>
        </p:nvSpPr>
        <p:spPr>
          <a:xfrm>
            <a:off x="9779000" y="1270000"/>
            <a:ext cx="3332480" cy="398780"/>
          </a:xfrm>
          <a:prstGeom prst="rect">
            <a:avLst/>
          </a:prstGeom>
          <a:noFill/>
        </p:spPr>
        <p:txBody>
          <a:bodyPr vert="horz" rtlCol="0" anchor="t" anchorCtr="0">
            <a:spAutoFit/>
          </a:bodyPr>
          <a:lstStyle/>
          <a:p>
            <a:pPr algn="l"/>
            <a:r>
              <a:rPr lang="zh-CN" altLang="en-US" sz="200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sym typeface="微软雅黑" panose="020B0503020204020204" pitchFamily="34" charset="-122"/>
              </a:rPr>
              <a:t>此处添加答案解析</a:t>
            </a:r>
          </a:p>
        </p:txBody>
      </p:sp>
      <p:grpSp>
        <p:nvGrpSpPr>
          <p:cNvPr id="24" name="组合 23" hidden="1"/>
          <p:cNvGrpSpPr/>
          <p:nvPr>
            <p:custDataLst>
              <p:tags r:id="rId9"/>
            </p:custDataLst>
          </p:nvPr>
        </p:nvGrpSpPr>
        <p:grpSpPr>
          <a:xfrm>
            <a:off x="9537700" y="0"/>
            <a:ext cx="3815080" cy="647700"/>
            <a:chOff x="9537700" y="0"/>
            <a:chExt cx="3815080" cy="647700"/>
          </a:xfrm>
        </p:grpSpPr>
        <p:sp>
          <p:nvSpPr>
            <p:cNvPr id="21" name="RemarkBack" hidden="1"/>
            <p:cNvSpPr/>
            <p:nvPr>
              <p:custDataLst>
                <p:tags r:id="rId16"/>
              </p:custDataLst>
            </p:nvPr>
          </p:nvSpPr>
          <p:spPr>
            <a:xfrm>
              <a:off x="9537700" y="12700"/>
              <a:ext cx="381508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dk1"/>
                  </a:solidFill>
                  <a:prstDash val="solid"/>
                </a14:hiddenLine>
              </a:ext>
            </a:ex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noAutofit/>
            </a:bodyPr>
            <a:lstStyle/>
            <a:p>
              <a:pPr algn="l"/>
              <a:endParaRPr lang="zh-CN" alt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RemarkBlock" hidden="1"/>
            <p:cNvSpPr/>
            <p:nvPr>
              <p:custDataLst>
                <p:tags r:id="rId17"/>
              </p:custDataLst>
            </p:nvPr>
          </p:nvSpPr>
          <p:spPr>
            <a:xfrm>
              <a:off x="9537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dk1"/>
                  </a:solidFill>
                  <a:prstDash val="solid"/>
                </a14:hiddenLine>
              </a:ext>
            </a:ex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noAutofit/>
            </a:bodyPr>
            <a:lstStyle/>
            <a:p>
              <a:pPr algn="l"/>
              <a:endParaRPr lang="zh-CN" alt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RemarkTitleText" hidden="1"/>
            <p:cNvSpPr txBox="1"/>
            <p:nvPr>
              <p:custDataLst>
                <p:tags r:id="rId18"/>
              </p:custDataLst>
            </p:nvPr>
          </p:nvSpPr>
          <p:spPr>
            <a:xfrm>
              <a:off x="9779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pPr algn="l"/>
              <a:r>
                <a:rPr lang="zh-CN" altLang="en-US" sz="1800">
                  <a:solidFill>
                    <a:srgbClr val="000000"/>
                  </a:solidFill>
                  <a:latin typeface="Arial" panose="020B0604020202020204" pitchFamily="34" charset="0"/>
                  <a:ea typeface="黑体" panose="02010609060101010101" pitchFamily="49" charset="-122"/>
                  <a:sym typeface="微软雅黑" panose="020B0503020204020204" pitchFamily="34" charset="-122"/>
                </a:rPr>
                <a:t>答案解析</a:t>
              </a:r>
            </a:p>
          </p:txBody>
        </p:sp>
      </p:grpSp>
      <p:sp>
        <p:nvSpPr>
          <p:cNvPr id="25" name="文本框 24">
            <a:extLst>
              <a:ext uri="{FF2B5EF4-FFF2-40B4-BE49-F238E27FC236}">
                <a16:creationId xmlns:a16="http://schemas.microsoft.com/office/drawing/2014/main" id="{FAF9993D-B1B3-EB8B-0081-49ABF08C74E9}"/>
              </a:ext>
            </a:extLst>
          </p:cNvPr>
          <p:cNvSpPr txBox="1"/>
          <p:nvPr/>
        </p:nvSpPr>
        <p:spPr>
          <a:xfrm>
            <a:off x="3810318" y="3351845"/>
            <a:ext cx="4572000" cy="95410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执行时间 ＝ </a:t>
            </a:r>
            <a:b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</a:b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指令数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  <a:sym typeface="Symbol" panose="05050102010706020507" pitchFamily="18" charset="2"/>
              </a:rPr>
              <a:t>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CPI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  <a:sym typeface="Symbol" panose="05050102010706020507" pitchFamily="18" charset="2"/>
              </a:rPr>
              <a:t>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  <a:sym typeface="Symbol" panose="05050102010706020507" pitchFamily="18" charset="2"/>
              </a:rPr>
              <a:t>时钟周期</a:t>
            </a:r>
          </a:p>
        </p:txBody>
      </p:sp>
      <p:grpSp>
        <p:nvGrpSpPr>
          <p:cNvPr id="19" name="组合 18"/>
          <p:cNvGrpSpPr/>
          <p:nvPr>
            <p:custDataLst>
              <p:tags r:id="rId10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8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dk1"/>
                  </a:solidFill>
                  <a:prstDash val="solid"/>
                </a14:hiddenLine>
              </a:ext>
            </a:ex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noAutofit/>
            </a:bodyPr>
            <a:lstStyle/>
            <a:p>
              <a:pPr algn="l"/>
              <a:endParaRPr lang="zh-CN" alt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dk1"/>
                  </a:solidFill>
                  <a:prstDash val="solid"/>
                </a14:hiddenLine>
              </a:ext>
            </a:ex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noAutofit/>
            </a:bodyPr>
            <a:lstStyle/>
            <a:p>
              <a:pPr algn="l"/>
              <a:endParaRPr lang="zh-CN" alt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pPr algn="l"/>
              <a:r>
                <a:rPr lang="zh-CN" altLang="en-US" sz="2600">
                  <a:solidFill>
                    <a:srgbClr val="000000"/>
                  </a:solidFill>
                  <a:latin typeface="Arial" panose="020B0604020202020204" pitchFamily="34" charset="0"/>
                  <a:ea typeface="黑体" panose="02010609060101010101" pitchFamily="49" charset="-122"/>
                  <a:sym typeface="微软雅黑" panose="020B0503020204020204" pitchFamily="34" charset="-122"/>
                </a:rPr>
                <a:t>单选题</a:t>
              </a:r>
            </a:p>
          </p:txBody>
        </p:sp>
        <p:sp>
          <p:nvSpPr>
            <p:cNvPr id="18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1524318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pPr algn="l"/>
              <a:r>
                <a:rPr lang="en-US" altLang="zh-CN" sz="2000">
                  <a:solidFill>
                    <a:srgbClr val="80808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  <a:sym typeface="微软雅黑" panose="020B0503020204020204" pitchFamily="34" charset="-122"/>
                </a:rPr>
                <a:t>分</a:t>
              </a:r>
            </a:p>
          </p:txBody>
        </p:sp>
      </p:grpSp>
      <p:pic>
        <p:nvPicPr>
          <p:cNvPr id="6" name="图片 5"/>
          <p:cNvPicPr/>
          <p:nvPr>
            <p:custDataLst>
              <p:tags r:id="rId11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答案解析</a:t>
            </a:r>
            <a:endParaRPr lang="zh-CN" altLang="en-US" kern="1200" dirty="0"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 txBox="1">
                <a:spLocks noChangeArrowheads="1"/>
              </p:cNvSpPr>
              <p:nvPr/>
            </p:nvSpPr>
            <p:spPr bwMode="auto">
              <a:xfrm>
                <a:off x="457200" y="1618225"/>
                <a:ext cx="8229600" cy="452596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vert="horz" wrap="square" lIns="91440" tIns="45720" rIns="91440" bIns="45720" numCol="1" anchor="t" anchorCtr="0" compatLnSpc="1"/>
              <a:lstStyle>
                <a:lvl1pPr marL="342900" indent="-3429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b="1">
                    <a:solidFill>
                      <a:schemeClr val="tx1"/>
                    </a:solidFill>
                    <a:latin typeface="+mn-lt"/>
                    <a:ea typeface="黑体" panose="02010609060101010101" pitchFamily="49" charset="-122"/>
                    <a:cs typeface="+mn-cs"/>
                  </a:defRPr>
                </a:lvl1pPr>
                <a:lvl2pPr marL="742950" indent="-28575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b="1">
                    <a:solidFill>
                      <a:schemeClr val="tx1"/>
                    </a:solidFill>
                    <a:latin typeface="+mn-lt"/>
                    <a:ea typeface="黑体" panose="02010609060101010101" pitchFamily="49" charset="-122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b="1">
                    <a:solidFill>
                      <a:schemeClr val="tx1"/>
                    </a:solidFill>
                    <a:latin typeface="+mn-lt"/>
                    <a:ea typeface="黑体" panose="02010609060101010101" pitchFamily="49" charset="-122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b="1">
                    <a:solidFill>
                      <a:schemeClr val="tx1"/>
                    </a:solidFill>
                    <a:latin typeface="+mn-lt"/>
                    <a:ea typeface="黑体" panose="02010609060101010101" pitchFamily="49" charset="-122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tx1"/>
                    </a:solidFill>
                    <a:latin typeface="+mn-lt"/>
                    <a:ea typeface="黑体" panose="02010609060101010101" pitchFamily="49" charset="-122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r>
                  <a:rPr lang="zh-CN" altLang="en-US" sz="2800" kern="0" dirty="0">
                    <a:latin typeface="Arial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rPr>
                  <a:t>某段程序指令数目为</a:t>
                </a:r>
                <a:r>
                  <a:rPr lang="en-US" altLang="zh-CN" sz="2800" kern="0" dirty="0">
                    <a:latin typeface="Arial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rPr>
                  <a:t>40</a:t>
                </a:r>
                <a:r>
                  <a:rPr lang="zh-CN" altLang="en-US" sz="2800" kern="0" dirty="0">
                    <a:latin typeface="Arial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rPr>
                  <a:t>， </a:t>
                </a:r>
                <a:r>
                  <a:rPr lang="en-US" altLang="zh-CN" sz="2800" kern="0" dirty="0">
                    <a:latin typeface="Arial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rPr>
                  <a:t>CPI</a:t>
                </a:r>
                <a:r>
                  <a:rPr lang="zh-CN" altLang="en-US" sz="2800" kern="0" dirty="0">
                    <a:latin typeface="Arial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rPr>
                  <a:t>为</a:t>
                </a:r>
                <a:r>
                  <a:rPr lang="en-US" altLang="zh-CN" sz="2800" kern="0" dirty="0">
                    <a:latin typeface="Arial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rPr>
                  <a:t>2.5</a:t>
                </a:r>
                <a:r>
                  <a:rPr lang="zh-CN" altLang="en-US" sz="2800" kern="0" dirty="0">
                    <a:latin typeface="Arial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rPr>
                  <a:t>，要想在</a:t>
                </a:r>
                <a:r>
                  <a:rPr lang="en-US" altLang="zh-CN" sz="2800" kern="0" dirty="0">
                    <a:latin typeface="Arial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rPr>
                  <a:t>1us</a:t>
                </a:r>
                <a:r>
                  <a:rPr lang="zh-CN" altLang="en-US" sz="2800" kern="0" dirty="0">
                    <a:latin typeface="Arial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rPr>
                  <a:t>内完成计算，最低时钟频率为</a:t>
                </a:r>
                <a:endParaRPr lang="en-US" altLang="zh-CN" sz="2800" kern="0" dirty="0">
                  <a:latin typeface="Arial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  <a:p>
                <a:pPr marL="457200" lvl="1" indent="0">
                  <a:buNone/>
                </a:pPr>
                <a:r>
                  <a:rPr lang="en-US" altLang="zh-CN" kern="0" dirty="0">
                    <a:latin typeface="Arial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rPr>
                  <a:t>A.50MHz   </a:t>
                </a:r>
                <a:r>
                  <a:rPr lang="en-US" altLang="zh-CN" kern="0" dirty="0">
                    <a:solidFill>
                      <a:srgbClr val="0432FF"/>
                    </a:solidFill>
                    <a:latin typeface="Arial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rPr>
                  <a:t>B.100MHz   </a:t>
                </a:r>
                <a:r>
                  <a:rPr lang="en-US" altLang="zh-CN" kern="0" dirty="0">
                    <a:latin typeface="Arial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rPr>
                  <a:t>C.150MHz   D.200MHz</a:t>
                </a:r>
              </a:p>
              <a:p>
                <a:pPr marL="457200" lvl="1" indent="0">
                  <a:buNone/>
                </a:pPr>
                <a:endParaRPr lang="en-US" altLang="zh-CN" kern="0" dirty="0">
                  <a:latin typeface="Arial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  <a:p>
                <a:pPr algn="l">
                  <a:lnSpc>
                    <a:spcPct val="150000"/>
                  </a:lnSpc>
                </a:pPr>
                <a:r>
                  <a:rPr lang="zh-CN" altLang="en-US" sz="2800" kern="0" dirty="0">
                    <a:solidFill>
                      <a:srgbClr val="0432FF"/>
                    </a:solidFill>
                    <a:latin typeface="Arial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rPr>
                  <a:t>解答：</a:t>
                </a:r>
                <a:r>
                  <a:rPr lang="en-US" altLang="zh-CN" sz="2800" kern="0" dirty="0">
                    <a:solidFill>
                      <a:srgbClr val="0432FF"/>
                    </a:solidFill>
                    <a:latin typeface="Arial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rPr>
                  <a:t>B</a:t>
                </a:r>
              </a:p>
              <a:p>
                <a:pPr marL="0" indent="0" algn="l">
                  <a:spcBef>
                    <a:spcPts val="600"/>
                  </a:spcBef>
                  <a:buNone/>
                </a:pPr>
                <a:endParaRPr lang="en-US" altLang="zh-CN" sz="2400" b="0" kern="0" dirty="0">
                  <a:latin typeface="Arial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  <a:p>
                <a:pPr marL="0" indent="0" algn="ctr">
                  <a:spcBef>
                    <a:spcPts val="600"/>
                  </a:spcBef>
                  <a:buNone/>
                </a:pPr>
                <a:r>
                  <a:rPr lang="zh-CN" altLang="en-US" sz="2400" b="0" kern="0" dirty="0">
                    <a:latin typeface="Arial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rPr>
                  <a:t>时钟周期 </a:t>
                </a:r>
                <a:r>
                  <a:rPr lang="en-US" altLang="zh-CN" sz="2400" b="0" kern="0" dirty="0">
                    <a:latin typeface="Arial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kern="0">
                            <a:latin typeface="Cambria Math" panose="02040503050406030204" pitchFamily="18" charset="0"/>
                            <a:ea typeface="+mn-ea"/>
                            <a:cs typeface="DejaVu Math TeX Gyre" panose="02000503000000000000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altLang="zh-CN" sz="2400" b="0" kern="0" dirty="0">
                            <a:ea typeface="+mn-ea"/>
                            <a:cs typeface="DejaVu Math TeX Gyre" panose="02000503000000000000" charset="0"/>
                          </a:rPr>
                          <m:t>CPU</m:t>
                        </m:r>
                        <m:r>
                          <m:rPr>
                            <m:nor/>
                          </m:rPr>
                          <a:rPr lang="zh-CN" altLang="en-US" sz="2400" b="0" kern="0" dirty="0">
                            <a:ea typeface="+mn-ea"/>
                            <a:cs typeface="DejaVu Math TeX Gyre" panose="02000503000000000000" charset="0"/>
                          </a:rPr>
                          <m:t>运行时间</m:t>
                        </m:r>
                      </m:num>
                      <m:den>
                        <m:r>
                          <m:rPr>
                            <m:nor/>
                          </m:rPr>
                          <a:rPr lang="zh-CN" altLang="en-US" sz="2400" b="0" kern="0" dirty="0">
                            <a:ea typeface="+mn-ea"/>
                            <a:cs typeface="DejaVu Math TeX Gyre" panose="02000503000000000000" charset="0"/>
                          </a:rPr>
                          <m:t>指令数</m:t>
                        </m:r>
                        <m:r>
                          <m:rPr>
                            <m:nor/>
                          </m:rPr>
                          <a:rPr lang="zh-CN" altLang="en-US" sz="2400" b="0" kern="0" dirty="0">
                            <a:ea typeface="+mn-ea"/>
                            <a:cs typeface="DejaVu Math TeX Gyre" panose="02000503000000000000" charset="0"/>
                          </a:rPr>
                          <m:t>∗</m:t>
                        </m:r>
                        <m:r>
                          <m:rPr>
                            <m:nor/>
                          </m:rPr>
                          <a:rPr lang="en-US" altLang="zh-CN" sz="2400" b="0" kern="0" dirty="0">
                            <a:ea typeface="+mn-ea"/>
                            <a:cs typeface="DejaVu Math TeX Gyre" panose="02000503000000000000" charset="0"/>
                          </a:rPr>
                          <m:t>CPI</m:t>
                        </m:r>
                      </m:den>
                    </m:f>
                  </m:oMath>
                </a14:m>
                <a:r>
                  <a:rPr lang="en-US" altLang="zh-CN" sz="2400" b="0" kern="0" dirty="0">
                    <a:latin typeface="Arial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rPr>
                  <a:t> = 1us/(40*2.5)  = 10ns</a:t>
                </a:r>
              </a:p>
              <a:p>
                <a:pPr marL="0" indent="0" algn="ctr">
                  <a:lnSpc>
                    <a:spcPct val="150000"/>
                  </a:lnSpc>
                  <a:buNone/>
                </a:pPr>
                <a:r>
                  <a:rPr lang="zh-CN" altLang="en-US" sz="2400" b="0" kern="0" dirty="0">
                    <a:latin typeface="Arial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rPr>
                  <a:t>最低频率</a:t>
                </a:r>
                <a:r>
                  <a:rPr lang="en-US" altLang="zh-CN" sz="2400" b="0" kern="0" dirty="0">
                    <a:latin typeface="Arial" panose="020B0604020202020204" pitchFamily="34" charset="0"/>
                    <a:ea typeface="黑体" panose="02010609060101010101" pitchFamily="49" charset="-122"/>
                    <a:cs typeface="黑体" panose="02010609060101010101" pitchFamily="49" charset="-122"/>
                  </a:rPr>
                  <a:t>f = 1/10ns = 100MHz</a:t>
                </a:r>
                <a:endParaRPr lang="zh-CN" altLang="en-US" sz="2400" b="0" kern="0" dirty="0">
                  <a:latin typeface="Arial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  <a:p>
                <a:pPr marL="457200" lvl="1" indent="0">
                  <a:buNone/>
                </a:pPr>
                <a:endParaRPr lang="en-US" altLang="zh-CN" kern="0" dirty="0">
                  <a:latin typeface="Arial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  <a:p>
                <a:endParaRPr lang="en-US" altLang="zh-CN" kern="0" dirty="0">
                  <a:latin typeface="Arial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200" y="1618225"/>
                <a:ext cx="8229600" cy="4525962"/>
              </a:xfrm>
              <a:prstGeom prst="rect">
                <a:avLst/>
              </a:prstGeom>
              <a:blipFill>
                <a:blip r:embed="rId3"/>
                <a:stretch>
                  <a:fillRect l="-1389" t="-1681" r="-617" b="-196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9789B90-D578-BF74-80DD-BC523FD59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t>48</a:t>
            </a:fld>
            <a:endParaRPr lang="en-US" altLang="zh-CN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E7A096B-4130-51DC-A0DE-198DBC6F51C2}"/>
              </a:ext>
            </a:extLst>
          </p:cNvPr>
          <p:cNvSpPr txBox="1"/>
          <p:nvPr/>
        </p:nvSpPr>
        <p:spPr>
          <a:xfrm>
            <a:off x="3810318" y="3351845"/>
            <a:ext cx="4572000" cy="95410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执行时间 ＝ </a:t>
            </a:r>
            <a:b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</a:b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指令数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  <a:sym typeface="Symbol" panose="05050102010706020507" pitchFamily="18" charset="2"/>
              </a:rPr>
              <a:t>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CPI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  <a:sym typeface="Symbol" panose="05050102010706020507" pitchFamily="18" charset="2"/>
              </a:rPr>
              <a:t>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  <a:sym typeface="Symbol" panose="05050102010706020507" pitchFamily="18" charset="2"/>
              </a:rPr>
              <a:t>时钟周期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影响性能的因素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989026"/>
            <a:ext cx="8229600" cy="4491530"/>
          </a:xfrm>
        </p:spPr>
        <p:txBody>
          <a:bodyPr/>
          <a:lstStyle/>
          <a:p>
            <a:pPr eaLnBrk="1" hangingPunct="1"/>
            <a:r>
              <a:rPr lang="zh-CN" altLang="en-US" sz="2800" b="1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指令数</a:t>
            </a:r>
            <a:endParaRPr lang="en-US" altLang="zh-CN" sz="2800" b="1" dirty="0"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lvl="1"/>
            <a:r>
              <a:rPr lang="zh-CN" altLang="en-US" sz="2400" b="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指令集架构（</a:t>
            </a:r>
            <a:r>
              <a:rPr lang="en-US" altLang="zh-CN" sz="2400" b="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ISA</a:t>
            </a:r>
            <a:r>
              <a:rPr lang="zh-CN" altLang="en-US" sz="2400" b="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），与指令集的具体实现无关</a:t>
            </a:r>
            <a:endParaRPr lang="en-US" altLang="zh-CN" sz="2400" b="0" dirty="0"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lvl="1"/>
            <a:r>
              <a:rPr lang="zh-CN" altLang="en-US" sz="2400" b="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编译器</a:t>
            </a:r>
          </a:p>
          <a:p>
            <a:r>
              <a:rPr lang="en-US" altLang="zh-CN" sz="2800" b="1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CPI</a:t>
            </a:r>
            <a:endParaRPr lang="zh-CN" altLang="en-US" sz="2800" b="1" dirty="0"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lvl="1" eaLnBrk="1" hangingPunct="1"/>
            <a:r>
              <a:rPr lang="zh-CN" altLang="en-US" sz="2400" b="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存储系统结构、处理器结构</a:t>
            </a:r>
          </a:p>
          <a:p>
            <a:pPr lvl="1" eaLnBrk="1" hangingPunct="1"/>
            <a:r>
              <a:rPr lang="zh-CN" altLang="en-US" sz="2400" b="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测试程序中各类指令的组成</a:t>
            </a:r>
          </a:p>
          <a:p>
            <a:pPr lvl="1" eaLnBrk="1" hangingPunct="1"/>
            <a:r>
              <a:rPr lang="zh-CN" altLang="en-US" sz="2400" b="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编译器</a:t>
            </a:r>
            <a:endParaRPr lang="en-US" altLang="zh-CN" sz="2400" b="0" dirty="0"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r>
              <a:rPr lang="zh-CN" altLang="en-US" sz="2800" b="1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时钟周期</a:t>
            </a:r>
          </a:p>
          <a:p>
            <a:pPr lvl="1"/>
            <a:r>
              <a:rPr lang="zh-CN" altLang="en-US" sz="2400" b="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机器的实现细节</a:t>
            </a:r>
            <a:endParaRPr lang="en-US" altLang="zh-CN" sz="2400" b="0" dirty="0"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lvl="1"/>
            <a:r>
              <a:rPr lang="zh-CN" altLang="en-US" sz="2400" b="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存储系统结构、处理器结构</a:t>
            </a:r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732410" y="1225239"/>
            <a:ext cx="7679180" cy="953135"/>
          </a:xfrm>
          <a:prstGeom prst="rect">
            <a:avLst/>
          </a:prstGeom>
          <a:noFill/>
          <a:ln w="2857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 lIns="92075" tIns="46038" rIns="92075" bIns="46038">
            <a:spAutoFit/>
          </a:bodyPr>
          <a:lstStyle/>
          <a:p>
            <a:pPr algn="ctr"/>
            <a:r>
              <a:rPr lang="zh-CN" altLang="en-US" sz="28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执行时间 ＝ </a:t>
            </a:r>
            <a:br>
              <a:rPr lang="en-US" altLang="zh-CN" sz="28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</a:br>
            <a:r>
              <a:rPr lang="zh-CN" altLang="en-US" sz="28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指令数 </a:t>
            </a:r>
            <a:r>
              <a:rPr lang="zh-CN" altLang="en-US" sz="28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  <a:sym typeface="Symbol" panose="05050102010706020507" pitchFamily="18" charset="2"/>
              </a:rPr>
              <a:t></a:t>
            </a:r>
            <a:r>
              <a:rPr lang="zh-CN" altLang="en-US" sz="28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 </a:t>
            </a:r>
            <a:r>
              <a:rPr lang="en-US" altLang="zh-CN" sz="28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CPI </a:t>
            </a:r>
            <a:r>
              <a:rPr lang="en-US" altLang="zh-CN" sz="28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  <a:sym typeface="Symbol" panose="05050102010706020507" pitchFamily="18" charset="2"/>
              </a:rPr>
              <a:t> </a:t>
            </a:r>
            <a:r>
              <a:rPr lang="zh-CN" altLang="en-US" sz="28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  <a:sym typeface="Symbol" panose="05050102010706020507" pitchFamily="18" charset="2"/>
              </a:rPr>
              <a:t>时钟周期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A4AD4C17-F32B-4A44-DAEC-F5B678E24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t>49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影响性能的因素</a:t>
            </a:r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732410" y="1224922"/>
            <a:ext cx="7679180" cy="953135"/>
          </a:xfrm>
          <a:prstGeom prst="rect">
            <a:avLst/>
          </a:prstGeom>
          <a:noFill/>
          <a:ln w="2857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 lIns="92075" tIns="46038" rIns="92075" bIns="46038">
            <a:spAutoFit/>
          </a:bodyPr>
          <a:lstStyle/>
          <a:p>
            <a:pPr algn="ctr"/>
            <a:r>
              <a:rPr lang="zh-CN" altLang="en-US" sz="28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执行时间 ＝ </a:t>
            </a:r>
            <a:br>
              <a:rPr lang="en-US" altLang="zh-CN" sz="28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</a:br>
            <a:r>
              <a:rPr lang="zh-CN" altLang="en-US" sz="28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指令数 </a:t>
            </a:r>
            <a:r>
              <a:rPr lang="zh-CN" altLang="en-US" sz="28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  <a:sym typeface="Symbol" panose="05050102010706020507" pitchFamily="18" charset="2"/>
              </a:rPr>
              <a:t></a:t>
            </a:r>
            <a:r>
              <a:rPr lang="zh-CN" altLang="en-US" sz="28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 </a:t>
            </a:r>
            <a:r>
              <a:rPr lang="en-US" altLang="zh-CN" sz="28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CPI </a:t>
            </a:r>
            <a:r>
              <a:rPr lang="en-US" altLang="zh-CN" sz="28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  <a:sym typeface="Symbol" panose="05050102010706020507" pitchFamily="18" charset="2"/>
              </a:rPr>
              <a:t> </a:t>
            </a:r>
            <a:r>
              <a:rPr lang="zh-CN" altLang="en-US" sz="28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  <a:sym typeface="Symbol" panose="05050102010706020507" pitchFamily="18" charset="2"/>
              </a:rPr>
              <a:t>时钟周期</a:t>
            </a:r>
          </a:p>
        </p:txBody>
      </p:sp>
      <p:graphicFrame>
        <p:nvGraphicFramePr>
          <p:cNvPr id="5" name="Group 35"/>
          <p:cNvGraphicFramePr/>
          <p:nvPr>
            <p:extLst>
              <p:ext uri="{D42A27DB-BD31-4B8C-83A1-F6EECF244321}">
                <p14:modId xmlns:p14="http://schemas.microsoft.com/office/powerpoint/2010/main" val="3161947332"/>
              </p:ext>
            </p:extLst>
          </p:nvPr>
        </p:nvGraphicFramePr>
        <p:xfrm>
          <a:off x="1455738" y="2349119"/>
          <a:ext cx="6740525" cy="2886074"/>
        </p:xfrm>
        <a:graphic>
          <a:graphicData uri="http://schemas.openxmlformats.org/drawingml/2006/table">
            <a:tbl>
              <a:tblPr/>
              <a:tblGrid>
                <a:gridCol w="28037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67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775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影响因素</a:t>
                      </a:r>
                    </a:p>
                  </a:txBody>
                  <a:tcPr marL="92075" marR="92075" marT="46031" marB="460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影响</a:t>
                      </a:r>
                    </a:p>
                  </a:txBody>
                  <a:tcPr marL="92075" marR="92075" marT="46031" marB="460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1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算法</a:t>
                      </a:r>
                    </a:p>
                  </a:txBody>
                  <a:tcPr marL="92075" marR="92075" marT="46031" marB="460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指令数、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CPI</a:t>
                      </a:r>
                    </a:p>
                  </a:txBody>
                  <a:tcPr marL="92075" marR="92075" marT="46031" marB="460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46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程序设计语言</a:t>
                      </a:r>
                    </a:p>
                  </a:txBody>
                  <a:tcPr marL="92075" marR="92075" marT="46031" marB="460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指令数、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CPI</a:t>
                      </a:r>
                    </a:p>
                  </a:txBody>
                  <a:tcPr marL="92075" marR="92075" marT="46031" marB="460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775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编译器</a:t>
                      </a:r>
                    </a:p>
                  </a:txBody>
                  <a:tcPr marL="92075" marR="92075" marT="46031" marB="460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指令数、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CPI</a:t>
                      </a:r>
                    </a:p>
                  </a:txBody>
                  <a:tcPr marL="92075" marR="92075" marT="46031" marB="460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61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zh-CN" sz="24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  <a:cs typeface="+mn-cs"/>
                        </a:rPr>
                        <a:t>指令集体系架构 </a:t>
                      </a:r>
                    </a:p>
                  </a:txBody>
                  <a:tcPr marL="92075" marR="92075" marT="46031" marB="460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指令数、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CPI</a:t>
                      </a: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、时钟周期</a:t>
                      </a:r>
                    </a:p>
                  </a:txBody>
                  <a:tcPr marL="92075" marR="92075" marT="46031" marB="460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775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硬件实现</a:t>
                      </a:r>
                    </a:p>
                  </a:txBody>
                  <a:tcPr marL="92075" marR="92075" marT="46031" marB="460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CPI</a:t>
                      </a: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、时钟周期</a:t>
                      </a:r>
                    </a:p>
                  </a:txBody>
                  <a:tcPr marL="92075" marR="92075" marT="46031" marB="460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9"/>
          <p:cNvSpPr txBox="1"/>
          <p:nvPr/>
        </p:nvSpPr>
        <p:spPr>
          <a:xfrm>
            <a:off x="3835803" y="5512937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相互影响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34DA7948-D3A1-E155-678B-B2E968D9F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t>50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影响性能的因素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279525"/>
            <a:ext cx="8229600" cy="5256584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zh-CN" altLang="en-US" sz="30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如何提升计算机性能？</a:t>
            </a:r>
            <a:endParaRPr lang="en-US" altLang="zh-CN" sz="3000" dirty="0"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600" b="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一些技术可以在保持其他两项不变的前提下减少其中的一项</a:t>
            </a:r>
            <a:r>
              <a:rPr lang="zh-CN" altLang="en-US" sz="2600" b="0" dirty="0">
                <a:latin typeface="Arial" panose="020B0604020202020204" pitchFamily="34" charset="0"/>
                <a:cs typeface="黑体" panose="02010609060101010101" pitchFamily="49" charset="-122"/>
              </a:rPr>
              <a:t>，例如？</a:t>
            </a:r>
            <a:endParaRPr lang="zh-CN" altLang="en-US" sz="2600" b="0" dirty="0"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600" b="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采用优化编译技术</a:t>
            </a:r>
            <a:endParaRPr lang="en-US" altLang="zh-CN" sz="2600" b="0" dirty="0"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600" b="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消除冗余代码，减少指令数</a:t>
            </a:r>
            <a:endParaRPr lang="en-US" altLang="zh-CN" sz="2600" b="0" dirty="0"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600" b="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不改变</a:t>
            </a:r>
            <a:r>
              <a:rPr lang="en-US" altLang="zh-CN" sz="2600" b="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CPI</a:t>
            </a:r>
            <a:r>
              <a:rPr lang="zh-CN" altLang="en-US" sz="2600" b="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和时钟周期</a:t>
            </a:r>
          </a:p>
          <a:p>
            <a:pPr lvl="1">
              <a:lnSpc>
                <a:spcPct val="150000"/>
              </a:lnSpc>
            </a:pPr>
            <a:r>
              <a:rPr lang="zh-CN" altLang="en-US" sz="2600" b="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采用快速电路技术或更为先进的电路结构</a:t>
            </a:r>
            <a:endParaRPr lang="en-US" altLang="zh-CN" sz="2600" b="0" dirty="0"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600" b="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减少信号传输延迟，减少时钟周期</a:t>
            </a:r>
            <a:endParaRPr lang="en-US" altLang="zh-CN" sz="2600" b="0" dirty="0"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600" b="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不改变</a:t>
            </a:r>
            <a:r>
              <a:rPr lang="en-US" altLang="zh-CN" sz="2600" b="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CPI</a:t>
            </a:r>
            <a:r>
              <a:rPr lang="zh-CN" altLang="en-US" sz="2600" b="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和指令数</a:t>
            </a:r>
          </a:p>
          <a:p>
            <a:pPr lvl="3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ü"/>
            </a:pPr>
            <a:endParaRPr lang="en-US" altLang="zh-CN" sz="2000" dirty="0"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CDBB049-8636-AE2E-2FD8-4D0A79710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t>51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7" name="Text Box 4"/>
          <p:cNvSpPr txBox="1">
            <a:spLocks noChangeArrowheads="1"/>
          </p:cNvSpPr>
          <p:nvPr/>
        </p:nvSpPr>
        <p:spPr bwMode="auto">
          <a:xfrm>
            <a:off x="2967529" y="2053571"/>
            <a:ext cx="3214330" cy="5372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900" b="1" dirty="0">
                <a:solidFill>
                  <a:srgbClr val="0432FF"/>
                </a:solidFill>
                <a:ea typeface="黑体" panose="02010609060101010101" pitchFamily="49" charset="-122"/>
                <a:cs typeface="黑体" panose="02010609060101010101" pitchFamily="49" charset="-122"/>
              </a:rPr>
              <a:t>N</a:t>
            </a:r>
            <a:r>
              <a:rPr lang="zh-CN" altLang="en-US" sz="2900" b="1" dirty="0">
                <a:solidFill>
                  <a:srgbClr val="0432FF"/>
                </a:solidFill>
                <a:ea typeface="黑体" panose="02010609060101010101" pitchFamily="49" charset="-122"/>
                <a:cs typeface="黑体" panose="02010609060101010101" pitchFamily="49" charset="-122"/>
              </a:rPr>
              <a:t>输入异或门设计</a:t>
            </a:r>
            <a:endParaRPr lang="en-US" altLang="zh-CN" sz="2900" b="1" dirty="0">
              <a:solidFill>
                <a:srgbClr val="0432FF"/>
              </a:solidFill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086376" y="4204834"/>
            <a:ext cx="5868903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zh-CN" altLang="en-US" sz="2400" b="1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简单，但是延时高</a:t>
            </a:r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750660" y="1365823"/>
            <a:ext cx="8229600" cy="631825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rmAutofit/>
          </a:bodyPr>
          <a:lstStyle>
            <a:lvl1pPr algn="l" defTabSz="685800" rtl="0" eaLnBrk="1" latinLnBrk="0" hangingPunct="1"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900" dirty="0">
                <a:ea typeface="黑体" panose="02010609060101010101" pitchFamily="49" charset="-122"/>
              </a:rPr>
              <a:t>快速电路技术：速度和规模提高了</a:t>
            </a:r>
          </a:p>
        </p:txBody>
      </p:sp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457200" y="136525"/>
            <a:ext cx="8229600" cy="1143000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影响性能的因素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E82E390-FE85-DD35-AA73-6D6DF60E5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t>52</a:t>
            </a:fld>
            <a:endParaRPr lang="en-US" altLang="zh-CN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EAFEA5C9-8537-465D-DDAA-CF6AEBE93621}"/>
              </a:ext>
            </a:extLst>
          </p:cNvPr>
          <p:cNvGrpSpPr/>
          <p:nvPr/>
        </p:nvGrpSpPr>
        <p:grpSpPr>
          <a:xfrm>
            <a:off x="861606" y="2738894"/>
            <a:ext cx="7287709" cy="1054767"/>
            <a:chOff x="861606" y="4724410"/>
            <a:chExt cx="7287709" cy="1054767"/>
          </a:xfrm>
        </p:grpSpPr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D6D815BC-D44A-ACBC-A57A-3AFB4ADAA6E4}"/>
                </a:ext>
              </a:extLst>
            </p:cNvPr>
            <p:cNvGrpSpPr/>
            <p:nvPr/>
          </p:nvGrpSpPr>
          <p:grpSpPr>
            <a:xfrm>
              <a:off x="1256371" y="5143722"/>
              <a:ext cx="1355641" cy="635455"/>
              <a:chOff x="1256371" y="5143722"/>
              <a:chExt cx="1486746" cy="696910"/>
            </a:xfrm>
          </p:grpSpPr>
          <p:grpSp>
            <p:nvGrpSpPr>
              <p:cNvPr id="49" name="组合 48">
                <a:extLst>
                  <a:ext uri="{FF2B5EF4-FFF2-40B4-BE49-F238E27FC236}">
                    <a16:creationId xmlns:a16="http://schemas.microsoft.com/office/drawing/2014/main" id="{6A0D5E08-C03B-9685-DC08-184FA1503784}"/>
                  </a:ext>
                </a:extLst>
              </p:cNvPr>
              <p:cNvGrpSpPr/>
              <p:nvPr/>
            </p:nvGrpSpPr>
            <p:grpSpPr>
              <a:xfrm>
                <a:off x="1429635" y="5143722"/>
                <a:ext cx="1313482" cy="696910"/>
                <a:chOff x="4338638" y="3305175"/>
                <a:chExt cx="2154237" cy="1143000"/>
              </a:xfrm>
            </p:grpSpPr>
            <p:sp>
              <p:nvSpPr>
                <p:cNvPr id="53" name="AutoShape 3">
                  <a:extLst>
                    <a:ext uri="{FF2B5EF4-FFF2-40B4-BE49-F238E27FC236}">
                      <a16:creationId xmlns:a16="http://schemas.microsoft.com/office/drawing/2014/main" id="{45E35378-1966-08C5-C65B-696D35C1E9EF}"/>
                    </a:ext>
                  </a:extLst>
                </p:cNvPr>
                <p:cNvSpPr>
                  <a:spLocks noChangeAspect="1" noChangeArrowheads="1" noTextEdit="1"/>
                </p:cNvSpPr>
                <p:nvPr/>
              </p:nvSpPr>
              <p:spPr bwMode="auto">
                <a:xfrm>
                  <a:off x="4338638" y="3305175"/>
                  <a:ext cx="2154237" cy="11430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4" name="Freeform 6">
                  <a:extLst>
                    <a:ext uri="{FF2B5EF4-FFF2-40B4-BE49-F238E27FC236}">
                      <a16:creationId xmlns:a16="http://schemas.microsoft.com/office/drawing/2014/main" id="{244F900B-0EEF-CCAE-EF89-0D08576A88B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7263" y="3381375"/>
                  <a:ext cx="1308100" cy="1014413"/>
                </a:xfrm>
                <a:custGeom>
                  <a:avLst/>
                  <a:gdLst>
                    <a:gd name="T0" fmla="*/ 943 w 943"/>
                    <a:gd name="T1" fmla="*/ 362 h 725"/>
                    <a:gd name="T2" fmla="*/ 283 w 943"/>
                    <a:gd name="T3" fmla="*/ 725 h 725"/>
                    <a:gd name="T4" fmla="*/ 0 w 943"/>
                    <a:gd name="T5" fmla="*/ 725 h 725"/>
                    <a:gd name="T6" fmla="*/ 0 w 943"/>
                    <a:gd name="T7" fmla="*/ 0 h 725"/>
                    <a:gd name="T8" fmla="*/ 283 w 943"/>
                    <a:gd name="T9" fmla="*/ 0 h 725"/>
                    <a:gd name="T10" fmla="*/ 943 w 943"/>
                    <a:gd name="T11" fmla="*/ 362 h 7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943" h="725">
                      <a:moveTo>
                        <a:pt x="943" y="362"/>
                      </a:moveTo>
                      <a:cubicBezTo>
                        <a:pt x="830" y="541"/>
                        <a:pt x="585" y="676"/>
                        <a:pt x="283" y="725"/>
                      </a:cubicBezTo>
                      <a:lnTo>
                        <a:pt x="0" y="725"/>
                      </a:lnTo>
                      <a:cubicBezTo>
                        <a:pt x="175" y="495"/>
                        <a:pt x="175" y="230"/>
                        <a:pt x="0" y="0"/>
                      </a:cubicBezTo>
                      <a:lnTo>
                        <a:pt x="283" y="0"/>
                      </a:lnTo>
                      <a:cubicBezTo>
                        <a:pt x="586" y="48"/>
                        <a:pt x="832" y="183"/>
                        <a:pt x="943" y="36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28575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5" name="Freeform 7">
                  <a:extLst>
                    <a:ext uri="{FF2B5EF4-FFF2-40B4-BE49-F238E27FC236}">
                      <a16:creationId xmlns:a16="http://schemas.microsoft.com/office/drawing/2014/main" id="{6994624D-3CD4-F4E2-E12B-A21DB0ACF034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635500" y="3381375"/>
                  <a:ext cx="1439862" cy="1014413"/>
                </a:xfrm>
                <a:custGeom>
                  <a:avLst/>
                  <a:gdLst>
                    <a:gd name="T0" fmla="*/ 1038 w 1038"/>
                    <a:gd name="T1" fmla="*/ 362 h 725"/>
                    <a:gd name="T2" fmla="*/ 378 w 1038"/>
                    <a:gd name="T3" fmla="*/ 725 h 725"/>
                    <a:gd name="T4" fmla="*/ 95 w 1038"/>
                    <a:gd name="T5" fmla="*/ 725 h 725"/>
                    <a:gd name="T6" fmla="*/ 95 w 1038"/>
                    <a:gd name="T7" fmla="*/ 0 h 725"/>
                    <a:gd name="T8" fmla="*/ 378 w 1038"/>
                    <a:gd name="T9" fmla="*/ 0 h 725"/>
                    <a:gd name="T10" fmla="*/ 1038 w 1038"/>
                    <a:gd name="T11" fmla="*/ 362 h 725"/>
                    <a:gd name="T12" fmla="*/ 0 w 1038"/>
                    <a:gd name="T13" fmla="*/ 725 h 725"/>
                    <a:gd name="T14" fmla="*/ 0 w 1038"/>
                    <a:gd name="T15" fmla="*/ 0 h 7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038" h="725">
                      <a:moveTo>
                        <a:pt x="1038" y="362"/>
                      </a:moveTo>
                      <a:cubicBezTo>
                        <a:pt x="925" y="541"/>
                        <a:pt x="680" y="676"/>
                        <a:pt x="378" y="725"/>
                      </a:cubicBezTo>
                      <a:lnTo>
                        <a:pt x="95" y="725"/>
                      </a:lnTo>
                      <a:cubicBezTo>
                        <a:pt x="270" y="495"/>
                        <a:pt x="270" y="230"/>
                        <a:pt x="95" y="0"/>
                      </a:cubicBezTo>
                      <a:lnTo>
                        <a:pt x="378" y="0"/>
                      </a:lnTo>
                      <a:cubicBezTo>
                        <a:pt x="681" y="48"/>
                        <a:pt x="927" y="183"/>
                        <a:pt x="1038" y="362"/>
                      </a:cubicBezTo>
                      <a:close/>
                      <a:moveTo>
                        <a:pt x="0" y="725"/>
                      </a:moveTo>
                      <a:cubicBezTo>
                        <a:pt x="175" y="495"/>
                        <a:pt x="175" y="230"/>
                        <a:pt x="0" y="0"/>
                      </a:cubicBezTo>
                    </a:path>
                  </a:pathLst>
                </a:custGeom>
                <a:noFill/>
                <a:ln w="28575" cap="rnd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cxnSp>
            <p:nvCxnSpPr>
              <p:cNvPr id="50" name="直线连接符 12">
                <a:extLst>
                  <a:ext uri="{FF2B5EF4-FFF2-40B4-BE49-F238E27FC236}">
                    <a16:creationId xmlns:a16="http://schemas.microsoft.com/office/drawing/2014/main" id="{F7F3337E-5EB9-A0A8-8DBF-8DE67BD9958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256371" y="5345052"/>
                <a:ext cx="434605" cy="0"/>
              </a:xfrm>
              <a:prstGeom prst="line">
                <a:avLst/>
              </a:prstGeom>
              <a:ln w="285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线连接符 13">
                <a:extLst>
                  <a:ext uri="{FF2B5EF4-FFF2-40B4-BE49-F238E27FC236}">
                    <a16:creationId xmlns:a16="http://schemas.microsoft.com/office/drawing/2014/main" id="{E88D2771-3CE2-5177-8791-D68C504F694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256371" y="5654790"/>
                <a:ext cx="434605" cy="0"/>
              </a:xfrm>
              <a:prstGeom prst="line">
                <a:avLst/>
              </a:prstGeom>
              <a:ln w="285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线连接符 16">
                <a:extLst>
                  <a:ext uri="{FF2B5EF4-FFF2-40B4-BE49-F238E27FC236}">
                    <a16:creationId xmlns:a16="http://schemas.microsoft.com/office/drawing/2014/main" id="{135807BA-E991-75E8-E96E-5B98C2E112CC}"/>
                  </a:ext>
                </a:extLst>
              </p:cNvPr>
              <p:cNvCxnSpPr>
                <a:cxnSpLocks/>
                <a:endCxn id="55" idx="0"/>
              </p:cNvCxnSpPr>
              <p:nvPr/>
            </p:nvCxnSpPr>
            <p:spPr>
              <a:xfrm flipH="1">
                <a:off x="2488552" y="5499010"/>
                <a:ext cx="150550" cy="1"/>
              </a:xfrm>
              <a:prstGeom prst="line">
                <a:avLst/>
              </a:prstGeom>
              <a:ln w="285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96721745-594A-96A3-0B81-35C713BB4B49}"/>
                </a:ext>
              </a:extLst>
            </p:cNvPr>
            <p:cNvSpPr txBox="1"/>
            <p:nvPr/>
          </p:nvSpPr>
          <p:spPr>
            <a:xfrm>
              <a:off x="861606" y="5099179"/>
              <a:ext cx="4235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800" b="0" dirty="0">
                  <a:solidFill>
                    <a:schemeClr val="tx1"/>
                  </a:solidFill>
                  <a:latin typeface="+mn-lt"/>
                </a:rPr>
                <a:t>A</a:t>
              </a:r>
              <a:r>
                <a:rPr kumimoji="1" lang="en-US" altLang="zh-CN" sz="1800" b="0" baseline="-25000" dirty="0">
                  <a:solidFill>
                    <a:schemeClr val="tx1"/>
                  </a:solidFill>
                  <a:latin typeface="+mn-lt"/>
                </a:rPr>
                <a:t>2</a:t>
              </a:r>
              <a:endParaRPr kumimoji="1" lang="zh-CN" altLang="en-US" sz="1800" b="0" baseline="-25000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580A7996-1755-0B42-298E-AE2B36252451}"/>
                </a:ext>
              </a:extLst>
            </p:cNvPr>
            <p:cNvSpPr txBox="1"/>
            <p:nvPr/>
          </p:nvSpPr>
          <p:spPr>
            <a:xfrm>
              <a:off x="861606" y="5394235"/>
              <a:ext cx="4235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800" b="0" dirty="0">
                  <a:solidFill>
                    <a:schemeClr val="tx1"/>
                  </a:solidFill>
                  <a:latin typeface="+mn-lt"/>
                </a:rPr>
                <a:t>A</a:t>
              </a:r>
              <a:r>
                <a:rPr kumimoji="1" lang="en-US" altLang="zh-CN" sz="1800" b="0" baseline="-25000" dirty="0">
                  <a:solidFill>
                    <a:schemeClr val="tx1"/>
                  </a:solidFill>
                  <a:latin typeface="+mn-lt"/>
                </a:rPr>
                <a:t>1</a:t>
              </a:r>
              <a:endParaRPr kumimoji="1" lang="zh-CN" altLang="en-US" sz="1800" b="0" baseline="-25000" dirty="0">
                <a:solidFill>
                  <a:schemeClr val="tx1"/>
                </a:solidFill>
                <a:latin typeface="+mn-lt"/>
              </a:endParaRPr>
            </a:p>
          </p:txBody>
        </p: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31DD9415-2170-4E91-60EF-B89AF574A002}"/>
                </a:ext>
              </a:extLst>
            </p:cNvPr>
            <p:cNvGrpSpPr/>
            <p:nvPr/>
          </p:nvGrpSpPr>
          <p:grpSpPr>
            <a:xfrm>
              <a:off x="2159540" y="4724410"/>
              <a:ext cx="2167004" cy="1054767"/>
              <a:chOff x="2159540" y="4724410"/>
              <a:chExt cx="2167004" cy="1054767"/>
            </a:xfrm>
          </p:grpSpPr>
          <p:grpSp>
            <p:nvGrpSpPr>
              <p:cNvPr id="37" name="组合 36">
                <a:extLst>
                  <a:ext uri="{FF2B5EF4-FFF2-40B4-BE49-F238E27FC236}">
                    <a16:creationId xmlns:a16="http://schemas.microsoft.com/office/drawing/2014/main" id="{822C2C4E-75AA-29EB-7F36-93C41F125BB7}"/>
                  </a:ext>
                </a:extLst>
              </p:cNvPr>
              <p:cNvGrpSpPr/>
              <p:nvPr/>
            </p:nvGrpSpPr>
            <p:grpSpPr>
              <a:xfrm>
                <a:off x="2517169" y="4910057"/>
                <a:ext cx="1809375" cy="869120"/>
                <a:chOff x="758756" y="4887459"/>
                <a:chExt cx="1984361" cy="953173"/>
              </a:xfrm>
            </p:grpSpPr>
            <p:grpSp>
              <p:nvGrpSpPr>
                <p:cNvPr id="39" name="组合 38">
                  <a:extLst>
                    <a:ext uri="{FF2B5EF4-FFF2-40B4-BE49-F238E27FC236}">
                      <a16:creationId xmlns:a16="http://schemas.microsoft.com/office/drawing/2014/main" id="{725C7C91-3E1B-FA9E-482A-0BB319F644B0}"/>
                    </a:ext>
                  </a:extLst>
                </p:cNvPr>
                <p:cNvGrpSpPr/>
                <p:nvPr/>
              </p:nvGrpSpPr>
              <p:grpSpPr>
                <a:xfrm>
                  <a:off x="1429635" y="5143722"/>
                  <a:ext cx="1313482" cy="696910"/>
                  <a:chOff x="4338638" y="3305175"/>
                  <a:chExt cx="2154237" cy="1143000"/>
                </a:xfrm>
              </p:grpSpPr>
              <p:sp>
                <p:nvSpPr>
                  <p:cNvPr id="46" name="AutoShape 3">
                    <a:extLst>
                      <a:ext uri="{FF2B5EF4-FFF2-40B4-BE49-F238E27FC236}">
                        <a16:creationId xmlns:a16="http://schemas.microsoft.com/office/drawing/2014/main" id="{C01211AA-7A89-C0B8-8D70-10C9CCA99ACD}"/>
                      </a:ext>
                    </a:extLst>
                  </p:cNvPr>
                  <p:cNvSpPr>
                    <a:spLocks noChangeAspect="1" noChangeArrowheads="1" noTextEdit="1"/>
                  </p:cNvSpPr>
                  <p:nvPr/>
                </p:nvSpPr>
                <p:spPr bwMode="auto">
                  <a:xfrm>
                    <a:off x="4338638" y="3305175"/>
                    <a:ext cx="2154237" cy="114300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7" name="Freeform 6">
                    <a:extLst>
                      <a:ext uri="{FF2B5EF4-FFF2-40B4-BE49-F238E27FC236}">
                        <a16:creationId xmlns:a16="http://schemas.microsoft.com/office/drawing/2014/main" id="{299C53B1-8130-4150-9A1A-F44DAA00C45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767263" y="3381375"/>
                    <a:ext cx="1308100" cy="1014413"/>
                  </a:xfrm>
                  <a:custGeom>
                    <a:avLst/>
                    <a:gdLst>
                      <a:gd name="T0" fmla="*/ 943 w 943"/>
                      <a:gd name="T1" fmla="*/ 362 h 725"/>
                      <a:gd name="T2" fmla="*/ 283 w 943"/>
                      <a:gd name="T3" fmla="*/ 725 h 725"/>
                      <a:gd name="T4" fmla="*/ 0 w 943"/>
                      <a:gd name="T5" fmla="*/ 725 h 725"/>
                      <a:gd name="T6" fmla="*/ 0 w 943"/>
                      <a:gd name="T7" fmla="*/ 0 h 725"/>
                      <a:gd name="T8" fmla="*/ 283 w 943"/>
                      <a:gd name="T9" fmla="*/ 0 h 725"/>
                      <a:gd name="T10" fmla="*/ 943 w 943"/>
                      <a:gd name="T11" fmla="*/ 362 h 72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943" h="725">
                        <a:moveTo>
                          <a:pt x="943" y="362"/>
                        </a:moveTo>
                        <a:cubicBezTo>
                          <a:pt x="830" y="541"/>
                          <a:pt x="585" y="676"/>
                          <a:pt x="283" y="725"/>
                        </a:cubicBezTo>
                        <a:lnTo>
                          <a:pt x="0" y="725"/>
                        </a:lnTo>
                        <a:cubicBezTo>
                          <a:pt x="175" y="495"/>
                          <a:pt x="175" y="230"/>
                          <a:pt x="0" y="0"/>
                        </a:cubicBezTo>
                        <a:lnTo>
                          <a:pt x="283" y="0"/>
                        </a:lnTo>
                        <a:cubicBezTo>
                          <a:pt x="586" y="48"/>
                          <a:pt x="832" y="183"/>
                          <a:pt x="943" y="36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28575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8" name="Freeform 7">
                    <a:extLst>
                      <a:ext uri="{FF2B5EF4-FFF2-40B4-BE49-F238E27FC236}">
                        <a16:creationId xmlns:a16="http://schemas.microsoft.com/office/drawing/2014/main" id="{EA40D632-9BA7-C10A-45A3-1D397B034588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4635500" y="3381375"/>
                    <a:ext cx="1439862" cy="1014413"/>
                  </a:xfrm>
                  <a:custGeom>
                    <a:avLst/>
                    <a:gdLst>
                      <a:gd name="T0" fmla="*/ 1038 w 1038"/>
                      <a:gd name="T1" fmla="*/ 362 h 725"/>
                      <a:gd name="T2" fmla="*/ 378 w 1038"/>
                      <a:gd name="T3" fmla="*/ 725 h 725"/>
                      <a:gd name="T4" fmla="*/ 95 w 1038"/>
                      <a:gd name="T5" fmla="*/ 725 h 725"/>
                      <a:gd name="T6" fmla="*/ 95 w 1038"/>
                      <a:gd name="T7" fmla="*/ 0 h 725"/>
                      <a:gd name="T8" fmla="*/ 378 w 1038"/>
                      <a:gd name="T9" fmla="*/ 0 h 725"/>
                      <a:gd name="T10" fmla="*/ 1038 w 1038"/>
                      <a:gd name="T11" fmla="*/ 362 h 725"/>
                      <a:gd name="T12" fmla="*/ 0 w 1038"/>
                      <a:gd name="T13" fmla="*/ 725 h 725"/>
                      <a:gd name="T14" fmla="*/ 0 w 1038"/>
                      <a:gd name="T15" fmla="*/ 0 h 72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1038" h="725">
                        <a:moveTo>
                          <a:pt x="1038" y="362"/>
                        </a:moveTo>
                        <a:cubicBezTo>
                          <a:pt x="925" y="541"/>
                          <a:pt x="680" y="676"/>
                          <a:pt x="378" y="725"/>
                        </a:cubicBezTo>
                        <a:lnTo>
                          <a:pt x="95" y="725"/>
                        </a:lnTo>
                        <a:cubicBezTo>
                          <a:pt x="270" y="495"/>
                          <a:pt x="270" y="230"/>
                          <a:pt x="95" y="0"/>
                        </a:cubicBezTo>
                        <a:lnTo>
                          <a:pt x="378" y="0"/>
                        </a:lnTo>
                        <a:cubicBezTo>
                          <a:pt x="681" y="48"/>
                          <a:pt x="927" y="183"/>
                          <a:pt x="1038" y="362"/>
                        </a:cubicBezTo>
                        <a:close/>
                        <a:moveTo>
                          <a:pt x="0" y="725"/>
                        </a:moveTo>
                        <a:cubicBezTo>
                          <a:pt x="175" y="495"/>
                          <a:pt x="175" y="230"/>
                          <a:pt x="0" y="0"/>
                        </a:cubicBezTo>
                      </a:path>
                    </a:pathLst>
                  </a:custGeom>
                  <a:noFill/>
                  <a:ln w="28575" cap="rnd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</p:grpSp>
            <p:cxnSp>
              <p:nvCxnSpPr>
                <p:cNvPr id="40" name="直线连接符 25">
                  <a:extLst>
                    <a:ext uri="{FF2B5EF4-FFF2-40B4-BE49-F238E27FC236}">
                      <a16:creationId xmlns:a16="http://schemas.microsoft.com/office/drawing/2014/main" id="{836D4814-7C7C-C274-A317-4D7FF277328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256371" y="5345052"/>
                  <a:ext cx="434605" cy="0"/>
                </a:xfrm>
                <a:prstGeom prst="line">
                  <a:avLst/>
                </a:prstGeom>
                <a:ln w="2857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直线连接符 26">
                  <a:extLst>
                    <a:ext uri="{FF2B5EF4-FFF2-40B4-BE49-F238E27FC236}">
                      <a16:creationId xmlns:a16="http://schemas.microsoft.com/office/drawing/2014/main" id="{FB260253-BCB2-E3BB-DCC1-CAF5B8892A6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62456" y="5654790"/>
                  <a:ext cx="928519" cy="0"/>
                </a:xfrm>
                <a:prstGeom prst="line">
                  <a:avLst/>
                </a:prstGeom>
                <a:ln w="2857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直线连接符 27">
                  <a:extLst>
                    <a:ext uri="{FF2B5EF4-FFF2-40B4-BE49-F238E27FC236}">
                      <a16:creationId xmlns:a16="http://schemas.microsoft.com/office/drawing/2014/main" id="{F7FAE5D9-7C2B-189F-BA9E-767FA91ECE73}"/>
                    </a:ext>
                  </a:extLst>
                </p:cNvPr>
                <p:cNvCxnSpPr>
                  <a:cxnSpLocks/>
                  <a:endCxn id="48" idx="0"/>
                </p:cNvCxnSpPr>
                <p:nvPr/>
              </p:nvCxnSpPr>
              <p:spPr>
                <a:xfrm flipH="1">
                  <a:off x="2488552" y="5499010"/>
                  <a:ext cx="150550" cy="1"/>
                </a:xfrm>
                <a:prstGeom prst="line">
                  <a:avLst/>
                </a:prstGeom>
                <a:ln w="2857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直线连接符 34">
                  <a:extLst>
                    <a:ext uri="{FF2B5EF4-FFF2-40B4-BE49-F238E27FC236}">
                      <a16:creationId xmlns:a16="http://schemas.microsoft.com/office/drawing/2014/main" id="{6688E700-F44C-5A07-4566-9942B05FF59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61036" y="5499437"/>
                  <a:ext cx="0" cy="155353"/>
                </a:xfrm>
                <a:prstGeom prst="line">
                  <a:avLst/>
                </a:prstGeom>
                <a:ln w="2857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直线连接符 41">
                  <a:extLst>
                    <a:ext uri="{FF2B5EF4-FFF2-40B4-BE49-F238E27FC236}">
                      <a16:creationId xmlns:a16="http://schemas.microsoft.com/office/drawing/2014/main" id="{F88411DD-E5B0-026C-B2C4-23920DEE605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56825" y="4887460"/>
                  <a:ext cx="0" cy="452793"/>
                </a:xfrm>
                <a:prstGeom prst="line">
                  <a:avLst/>
                </a:prstGeom>
                <a:ln w="2857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直线连接符 42">
                  <a:extLst>
                    <a:ext uri="{FF2B5EF4-FFF2-40B4-BE49-F238E27FC236}">
                      <a16:creationId xmlns:a16="http://schemas.microsoft.com/office/drawing/2014/main" id="{62BA8518-A0D6-BE71-CEF4-8AFEB976E13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58756" y="4887459"/>
                  <a:ext cx="493271" cy="0"/>
                </a:xfrm>
                <a:prstGeom prst="line">
                  <a:avLst/>
                </a:prstGeom>
                <a:ln w="2857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05D5A642-7DDC-623C-A878-EAE9CBF084C3}"/>
                  </a:ext>
                </a:extLst>
              </p:cNvPr>
              <p:cNvSpPr txBox="1"/>
              <p:nvPr/>
            </p:nvSpPr>
            <p:spPr>
              <a:xfrm>
                <a:off x="2159540" y="4724410"/>
                <a:ext cx="42351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sz="1800" b="0" dirty="0">
                    <a:solidFill>
                      <a:schemeClr val="tx1"/>
                    </a:solidFill>
                    <a:latin typeface="+mn-lt"/>
                  </a:rPr>
                  <a:t>A</a:t>
                </a:r>
                <a:r>
                  <a:rPr kumimoji="1" lang="en-US" altLang="zh-CN" sz="1800" b="0" baseline="-25000" dirty="0">
                    <a:solidFill>
                      <a:schemeClr val="tx1"/>
                    </a:solidFill>
                    <a:latin typeface="+mn-lt"/>
                  </a:rPr>
                  <a:t>3</a:t>
                </a:r>
                <a:endParaRPr kumimoji="1" lang="zh-CN" altLang="en-US" sz="1800" b="0" baseline="-25000" dirty="0">
                  <a:solidFill>
                    <a:schemeClr val="tx1"/>
                  </a:solidFill>
                  <a:latin typeface="+mn-lt"/>
                </a:endParaRPr>
              </a:p>
            </p:txBody>
          </p:sp>
        </p:grpSp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F653E59F-3DEA-4BDB-85F5-D6B711216147}"/>
                </a:ext>
              </a:extLst>
            </p:cNvPr>
            <p:cNvGrpSpPr/>
            <p:nvPr/>
          </p:nvGrpSpPr>
          <p:grpSpPr>
            <a:xfrm>
              <a:off x="3877022" y="4724410"/>
              <a:ext cx="2421091" cy="1054767"/>
              <a:chOff x="2159540" y="4724410"/>
              <a:chExt cx="2421091" cy="1054767"/>
            </a:xfrm>
          </p:grpSpPr>
          <p:grpSp>
            <p:nvGrpSpPr>
              <p:cNvPr id="25" name="组合 24">
                <a:extLst>
                  <a:ext uri="{FF2B5EF4-FFF2-40B4-BE49-F238E27FC236}">
                    <a16:creationId xmlns:a16="http://schemas.microsoft.com/office/drawing/2014/main" id="{7AF8169F-610D-DA41-2089-409E6084A8A0}"/>
                  </a:ext>
                </a:extLst>
              </p:cNvPr>
              <p:cNvGrpSpPr/>
              <p:nvPr/>
            </p:nvGrpSpPr>
            <p:grpSpPr>
              <a:xfrm>
                <a:off x="2517169" y="4910057"/>
                <a:ext cx="2063462" cy="869120"/>
                <a:chOff x="758756" y="4887459"/>
                <a:chExt cx="2263021" cy="953173"/>
              </a:xfrm>
            </p:grpSpPr>
            <p:grpSp>
              <p:nvGrpSpPr>
                <p:cNvPr id="27" name="组合 26">
                  <a:extLst>
                    <a:ext uri="{FF2B5EF4-FFF2-40B4-BE49-F238E27FC236}">
                      <a16:creationId xmlns:a16="http://schemas.microsoft.com/office/drawing/2014/main" id="{2F4E6E91-9087-F638-B3DF-C44366BEE0E9}"/>
                    </a:ext>
                  </a:extLst>
                </p:cNvPr>
                <p:cNvGrpSpPr/>
                <p:nvPr/>
              </p:nvGrpSpPr>
              <p:grpSpPr>
                <a:xfrm>
                  <a:off x="1429635" y="5143722"/>
                  <a:ext cx="1313482" cy="696910"/>
                  <a:chOff x="4338638" y="3305175"/>
                  <a:chExt cx="2154237" cy="1143000"/>
                </a:xfrm>
              </p:grpSpPr>
              <p:sp>
                <p:nvSpPr>
                  <p:cNvPr id="34" name="AutoShape 3">
                    <a:extLst>
                      <a:ext uri="{FF2B5EF4-FFF2-40B4-BE49-F238E27FC236}">
                        <a16:creationId xmlns:a16="http://schemas.microsoft.com/office/drawing/2014/main" id="{A8A17E5F-44CC-5D10-DD02-6A02F433D2EE}"/>
                      </a:ext>
                    </a:extLst>
                  </p:cNvPr>
                  <p:cNvSpPr>
                    <a:spLocks noChangeAspect="1" noChangeArrowheads="1" noTextEdit="1"/>
                  </p:cNvSpPr>
                  <p:nvPr/>
                </p:nvSpPr>
                <p:spPr bwMode="auto">
                  <a:xfrm>
                    <a:off x="4338638" y="3305175"/>
                    <a:ext cx="2154237" cy="114300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5" name="Freeform 6">
                    <a:extLst>
                      <a:ext uri="{FF2B5EF4-FFF2-40B4-BE49-F238E27FC236}">
                        <a16:creationId xmlns:a16="http://schemas.microsoft.com/office/drawing/2014/main" id="{4860864A-D255-F080-A7E8-C486B653260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767263" y="3381375"/>
                    <a:ext cx="1308100" cy="1014413"/>
                  </a:xfrm>
                  <a:custGeom>
                    <a:avLst/>
                    <a:gdLst>
                      <a:gd name="T0" fmla="*/ 943 w 943"/>
                      <a:gd name="T1" fmla="*/ 362 h 725"/>
                      <a:gd name="T2" fmla="*/ 283 w 943"/>
                      <a:gd name="T3" fmla="*/ 725 h 725"/>
                      <a:gd name="T4" fmla="*/ 0 w 943"/>
                      <a:gd name="T5" fmla="*/ 725 h 725"/>
                      <a:gd name="T6" fmla="*/ 0 w 943"/>
                      <a:gd name="T7" fmla="*/ 0 h 725"/>
                      <a:gd name="T8" fmla="*/ 283 w 943"/>
                      <a:gd name="T9" fmla="*/ 0 h 725"/>
                      <a:gd name="T10" fmla="*/ 943 w 943"/>
                      <a:gd name="T11" fmla="*/ 362 h 72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943" h="725">
                        <a:moveTo>
                          <a:pt x="943" y="362"/>
                        </a:moveTo>
                        <a:cubicBezTo>
                          <a:pt x="830" y="541"/>
                          <a:pt x="585" y="676"/>
                          <a:pt x="283" y="725"/>
                        </a:cubicBezTo>
                        <a:lnTo>
                          <a:pt x="0" y="725"/>
                        </a:lnTo>
                        <a:cubicBezTo>
                          <a:pt x="175" y="495"/>
                          <a:pt x="175" y="230"/>
                          <a:pt x="0" y="0"/>
                        </a:cubicBezTo>
                        <a:lnTo>
                          <a:pt x="283" y="0"/>
                        </a:lnTo>
                        <a:cubicBezTo>
                          <a:pt x="586" y="48"/>
                          <a:pt x="832" y="183"/>
                          <a:pt x="943" y="36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28575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6" name="Freeform 7">
                    <a:extLst>
                      <a:ext uri="{FF2B5EF4-FFF2-40B4-BE49-F238E27FC236}">
                        <a16:creationId xmlns:a16="http://schemas.microsoft.com/office/drawing/2014/main" id="{86C4E5C8-84BF-05DC-A53D-66EF875F2340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4635500" y="3381375"/>
                    <a:ext cx="1439862" cy="1014413"/>
                  </a:xfrm>
                  <a:custGeom>
                    <a:avLst/>
                    <a:gdLst>
                      <a:gd name="T0" fmla="*/ 1038 w 1038"/>
                      <a:gd name="T1" fmla="*/ 362 h 725"/>
                      <a:gd name="T2" fmla="*/ 378 w 1038"/>
                      <a:gd name="T3" fmla="*/ 725 h 725"/>
                      <a:gd name="T4" fmla="*/ 95 w 1038"/>
                      <a:gd name="T5" fmla="*/ 725 h 725"/>
                      <a:gd name="T6" fmla="*/ 95 w 1038"/>
                      <a:gd name="T7" fmla="*/ 0 h 725"/>
                      <a:gd name="T8" fmla="*/ 378 w 1038"/>
                      <a:gd name="T9" fmla="*/ 0 h 725"/>
                      <a:gd name="T10" fmla="*/ 1038 w 1038"/>
                      <a:gd name="T11" fmla="*/ 362 h 725"/>
                      <a:gd name="T12" fmla="*/ 0 w 1038"/>
                      <a:gd name="T13" fmla="*/ 725 h 725"/>
                      <a:gd name="T14" fmla="*/ 0 w 1038"/>
                      <a:gd name="T15" fmla="*/ 0 h 72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1038" h="725">
                        <a:moveTo>
                          <a:pt x="1038" y="362"/>
                        </a:moveTo>
                        <a:cubicBezTo>
                          <a:pt x="925" y="541"/>
                          <a:pt x="680" y="676"/>
                          <a:pt x="378" y="725"/>
                        </a:cubicBezTo>
                        <a:lnTo>
                          <a:pt x="95" y="725"/>
                        </a:lnTo>
                        <a:cubicBezTo>
                          <a:pt x="270" y="495"/>
                          <a:pt x="270" y="230"/>
                          <a:pt x="95" y="0"/>
                        </a:cubicBezTo>
                        <a:lnTo>
                          <a:pt x="378" y="0"/>
                        </a:lnTo>
                        <a:cubicBezTo>
                          <a:pt x="681" y="48"/>
                          <a:pt x="927" y="183"/>
                          <a:pt x="1038" y="362"/>
                        </a:cubicBezTo>
                        <a:close/>
                        <a:moveTo>
                          <a:pt x="0" y="725"/>
                        </a:moveTo>
                        <a:cubicBezTo>
                          <a:pt x="175" y="495"/>
                          <a:pt x="175" y="230"/>
                          <a:pt x="0" y="0"/>
                        </a:cubicBezTo>
                      </a:path>
                    </a:pathLst>
                  </a:custGeom>
                  <a:noFill/>
                  <a:ln w="28575" cap="rnd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</p:grpSp>
            <p:cxnSp>
              <p:nvCxnSpPr>
                <p:cNvPr id="28" name="直线连接符 55">
                  <a:extLst>
                    <a:ext uri="{FF2B5EF4-FFF2-40B4-BE49-F238E27FC236}">
                      <a16:creationId xmlns:a16="http://schemas.microsoft.com/office/drawing/2014/main" id="{F411D3CC-A465-C1BF-9E5C-DFEAC9E77A2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256371" y="5345052"/>
                  <a:ext cx="434605" cy="0"/>
                </a:xfrm>
                <a:prstGeom prst="line">
                  <a:avLst/>
                </a:prstGeom>
                <a:ln w="2857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直线连接符 56">
                  <a:extLst>
                    <a:ext uri="{FF2B5EF4-FFF2-40B4-BE49-F238E27FC236}">
                      <a16:creationId xmlns:a16="http://schemas.microsoft.com/office/drawing/2014/main" id="{53B0EE24-2253-7837-9EF0-C0467DB8F0E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62456" y="5654790"/>
                  <a:ext cx="928519" cy="0"/>
                </a:xfrm>
                <a:prstGeom prst="line">
                  <a:avLst/>
                </a:prstGeom>
                <a:ln w="2857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直线连接符 57">
                  <a:extLst>
                    <a:ext uri="{FF2B5EF4-FFF2-40B4-BE49-F238E27FC236}">
                      <a16:creationId xmlns:a16="http://schemas.microsoft.com/office/drawing/2014/main" id="{A6D05926-978F-8B05-0EEE-2CFD5AAB6550}"/>
                    </a:ext>
                  </a:extLst>
                </p:cNvPr>
                <p:cNvCxnSpPr>
                  <a:cxnSpLocks/>
                  <a:endCxn id="36" idx="0"/>
                </p:cNvCxnSpPr>
                <p:nvPr/>
              </p:nvCxnSpPr>
              <p:spPr>
                <a:xfrm flipH="1">
                  <a:off x="2488552" y="5499011"/>
                  <a:ext cx="533225" cy="0"/>
                </a:xfrm>
                <a:prstGeom prst="line">
                  <a:avLst/>
                </a:prstGeom>
                <a:ln w="28575" cap="rnd">
                  <a:solidFill>
                    <a:schemeClr val="tx1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直线连接符 58">
                  <a:extLst>
                    <a:ext uri="{FF2B5EF4-FFF2-40B4-BE49-F238E27FC236}">
                      <a16:creationId xmlns:a16="http://schemas.microsoft.com/office/drawing/2014/main" id="{440B34E0-A4B0-5122-E52A-B93A23E7759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61036" y="5499437"/>
                  <a:ext cx="0" cy="155353"/>
                </a:xfrm>
                <a:prstGeom prst="line">
                  <a:avLst/>
                </a:prstGeom>
                <a:ln w="2857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直线连接符 59">
                  <a:extLst>
                    <a:ext uri="{FF2B5EF4-FFF2-40B4-BE49-F238E27FC236}">
                      <a16:creationId xmlns:a16="http://schemas.microsoft.com/office/drawing/2014/main" id="{E3E149ED-AD9F-CF3C-4B84-84023B4FA05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56825" y="4887460"/>
                  <a:ext cx="0" cy="452793"/>
                </a:xfrm>
                <a:prstGeom prst="line">
                  <a:avLst/>
                </a:prstGeom>
                <a:ln w="2857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直线连接符 60">
                  <a:extLst>
                    <a:ext uri="{FF2B5EF4-FFF2-40B4-BE49-F238E27FC236}">
                      <a16:creationId xmlns:a16="http://schemas.microsoft.com/office/drawing/2014/main" id="{4CCF6AE5-9DB8-588A-3AC3-FC24A7FFEC6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58756" y="4887459"/>
                  <a:ext cx="493271" cy="0"/>
                </a:xfrm>
                <a:prstGeom prst="line">
                  <a:avLst/>
                </a:prstGeom>
                <a:ln w="2857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551EA773-61B9-B3CC-5E81-F1DAF87239C1}"/>
                  </a:ext>
                </a:extLst>
              </p:cNvPr>
              <p:cNvSpPr txBox="1"/>
              <p:nvPr/>
            </p:nvSpPr>
            <p:spPr>
              <a:xfrm>
                <a:off x="2159540" y="4724410"/>
                <a:ext cx="42351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sz="1800" b="0" dirty="0">
                    <a:solidFill>
                      <a:schemeClr val="tx1"/>
                    </a:solidFill>
                    <a:latin typeface="+mn-lt"/>
                  </a:rPr>
                  <a:t>A</a:t>
                </a:r>
                <a:r>
                  <a:rPr kumimoji="1" lang="en-US" altLang="zh-CN" sz="1800" b="0" baseline="-25000" dirty="0">
                    <a:solidFill>
                      <a:schemeClr val="tx1"/>
                    </a:solidFill>
                    <a:latin typeface="+mn-lt"/>
                  </a:rPr>
                  <a:t>4</a:t>
                </a:r>
                <a:endParaRPr kumimoji="1" lang="zh-CN" altLang="en-US" sz="1800" b="0" baseline="-25000" dirty="0">
                  <a:solidFill>
                    <a:schemeClr val="tx1"/>
                  </a:solidFill>
                  <a:latin typeface="+mn-lt"/>
                </a:endParaRPr>
              </a:p>
            </p:txBody>
          </p:sp>
        </p:grp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E713E5B1-A33E-4874-FDD1-A0A0174487FB}"/>
                </a:ext>
              </a:extLst>
            </p:cNvPr>
            <p:cNvGrpSpPr/>
            <p:nvPr/>
          </p:nvGrpSpPr>
          <p:grpSpPr>
            <a:xfrm>
              <a:off x="5969487" y="4724410"/>
              <a:ext cx="2179828" cy="1054767"/>
              <a:chOff x="2146716" y="4724410"/>
              <a:chExt cx="2179828" cy="1054767"/>
            </a:xfrm>
          </p:grpSpPr>
          <p:grpSp>
            <p:nvGrpSpPr>
              <p:cNvPr id="13" name="组合 12">
                <a:extLst>
                  <a:ext uri="{FF2B5EF4-FFF2-40B4-BE49-F238E27FC236}">
                    <a16:creationId xmlns:a16="http://schemas.microsoft.com/office/drawing/2014/main" id="{DEDCE1F6-A923-C630-BBB0-843586216D9E}"/>
                  </a:ext>
                </a:extLst>
              </p:cNvPr>
              <p:cNvGrpSpPr/>
              <p:nvPr/>
            </p:nvGrpSpPr>
            <p:grpSpPr>
              <a:xfrm>
                <a:off x="2517169" y="4910057"/>
                <a:ext cx="1809375" cy="869120"/>
                <a:chOff x="758756" y="4887459"/>
                <a:chExt cx="1984361" cy="953173"/>
              </a:xfrm>
            </p:grpSpPr>
            <p:grpSp>
              <p:nvGrpSpPr>
                <p:cNvPr id="15" name="组合 14">
                  <a:extLst>
                    <a:ext uri="{FF2B5EF4-FFF2-40B4-BE49-F238E27FC236}">
                      <a16:creationId xmlns:a16="http://schemas.microsoft.com/office/drawing/2014/main" id="{F4C5986C-DB6D-17F6-97B3-2960F130AE5E}"/>
                    </a:ext>
                  </a:extLst>
                </p:cNvPr>
                <p:cNvGrpSpPr/>
                <p:nvPr/>
              </p:nvGrpSpPr>
              <p:grpSpPr>
                <a:xfrm>
                  <a:off x="1429635" y="5143722"/>
                  <a:ext cx="1313482" cy="696910"/>
                  <a:chOff x="4338638" y="3305175"/>
                  <a:chExt cx="2154237" cy="1143000"/>
                </a:xfrm>
              </p:grpSpPr>
              <p:sp>
                <p:nvSpPr>
                  <p:cNvPr id="22" name="AutoShape 3">
                    <a:extLst>
                      <a:ext uri="{FF2B5EF4-FFF2-40B4-BE49-F238E27FC236}">
                        <a16:creationId xmlns:a16="http://schemas.microsoft.com/office/drawing/2014/main" id="{9B39F1C0-A884-20A4-C103-9D074B571FF9}"/>
                      </a:ext>
                    </a:extLst>
                  </p:cNvPr>
                  <p:cNvSpPr>
                    <a:spLocks noChangeAspect="1" noChangeArrowheads="1" noTextEdit="1"/>
                  </p:cNvSpPr>
                  <p:nvPr/>
                </p:nvSpPr>
                <p:spPr bwMode="auto">
                  <a:xfrm>
                    <a:off x="4338638" y="3305175"/>
                    <a:ext cx="2154237" cy="114300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23" name="Freeform 6">
                    <a:extLst>
                      <a:ext uri="{FF2B5EF4-FFF2-40B4-BE49-F238E27FC236}">
                        <a16:creationId xmlns:a16="http://schemas.microsoft.com/office/drawing/2014/main" id="{F3917581-FF87-6467-3B28-5CC4C862E84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767263" y="3381375"/>
                    <a:ext cx="1308100" cy="1014413"/>
                  </a:xfrm>
                  <a:custGeom>
                    <a:avLst/>
                    <a:gdLst>
                      <a:gd name="T0" fmla="*/ 943 w 943"/>
                      <a:gd name="T1" fmla="*/ 362 h 725"/>
                      <a:gd name="T2" fmla="*/ 283 w 943"/>
                      <a:gd name="T3" fmla="*/ 725 h 725"/>
                      <a:gd name="T4" fmla="*/ 0 w 943"/>
                      <a:gd name="T5" fmla="*/ 725 h 725"/>
                      <a:gd name="T6" fmla="*/ 0 w 943"/>
                      <a:gd name="T7" fmla="*/ 0 h 725"/>
                      <a:gd name="T8" fmla="*/ 283 w 943"/>
                      <a:gd name="T9" fmla="*/ 0 h 725"/>
                      <a:gd name="T10" fmla="*/ 943 w 943"/>
                      <a:gd name="T11" fmla="*/ 362 h 72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943" h="725">
                        <a:moveTo>
                          <a:pt x="943" y="362"/>
                        </a:moveTo>
                        <a:cubicBezTo>
                          <a:pt x="830" y="541"/>
                          <a:pt x="585" y="676"/>
                          <a:pt x="283" y="725"/>
                        </a:cubicBezTo>
                        <a:lnTo>
                          <a:pt x="0" y="725"/>
                        </a:lnTo>
                        <a:cubicBezTo>
                          <a:pt x="175" y="495"/>
                          <a:pt x="175" y="230"/>
                          <a:pt x="0" y="0"/>
                        </a:cubicBezTo>
                        <a:lnTo>
                          <a:pt x="283" y="0"/>
                        </a:lnTo>
                        <a:cubicBezTo>
                          <a:pt x="586" y="48"/>
                          <a:pt x="832" y="183"/>
                          <a:pt x="943" y="36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28575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24" name="Freeform 7">
                    <a:extLst>
                      <a:ext uri="{FF2B5EF4-FFF2-40B4-BE49-F238E27FC236}">
                        <a16:creationId xmlns:a16="http://schemas.microsoft.com/office/drawing/2014/main" id="{04CA9466-CD8E-E332-C6BB-7987F6F3B791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4635500" y="3381375"/>
                    <a:ext cx="1439862" cy="1014413"/>
                  </a:xfrm>
                  <a:custGeom>
                    <a:avLst/>
                    <a:gdLst>
                      <a:gd name="T0" fmla="*/ 1038 w 1038"/>
                      <a:gd name="T1" fmla="*/ 362 h 725"/>
                      <a:gd name="T2" fmla="*/ 378 w 1038"/>
                      <a:gd name="T3" fmla="*/ 725 h 725"/>
                      <a:gd name="T4" fmla="*/ 95 w 1038"/>
                      <a:gd name="T5" fmla="*/ 725 h 725"/>
                      <a:gd name="T6" fmla="*/ 95 w 1038"/>
                      <a:gd name="T7" fmla="*/ 0 h 725"/>
                      <a:gd name="T8" fmla="*/ 378 w 1038"/>
                      <a:gd name="T9" fmla="*/ 0 h 725"/>
                      <a:gd name="T10" fmla="*/ 1038 w 1038"/>
                      <a:gd name="T11" fmla="*/ 362 h 725"/>
                      <a:gd name="T12" fmla="*/ 0 w 1038"/>
                      <a:gd name="T13" fmla="*/ 725 h 725"/>
                      <a:gd name="T14" fmla="*/ 0 w 1038"/>
                      <a:gd name="T15" fmla="*/ 0 h 72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1038" h="725">
                        <a:moveTo>
                          <a:pt x="1038" y="362"/>
                        </a:moveTo>
                        <a:cubicBezTo>
                          <a:pt x="925" y="541"/>
                          <a:pt x="680" y="676"/>
                          <a:pt x="378" y="725"/>
                        </a:cubicBezTo>
                        <a:lnTo>
                          <a:pt x="95" y="725"/>
                        </a:lnTo>
                        <a:cubicBezTo>
                          <a:pt x="270" y="495"/>
                          <a:pt x="270" y="230"/>
                          <a:pt x="95" y="0"/>
                        </a:cubicBezTo>
                        <a:lnTo>
                          <a:pt x="378" y="0"/>
                        </a:lnTo>
                        <a:cubicBezTo>
                          <a:pt x="681" y="48"/>
                          <a:pt x="927" y="183"/>
                          <a:pt x="1038" y="362"/>
                        </a:cubicBezTo>
                        <a:close/>
                        <a:moveTo>
                          <a:pt x="0" y="725"/>
                        </a:moveTo>
                        <a:cubicBezTo>
                          <a:pt x="175" y="495"/>
                          <a:pt x="175" y="230"/>
                          <a:pt x="0" y="0"/>
                        </a:cubicBezTo>
                      </a:path>
                    </a:pathLst>
                  </a:custGeom>
                  <a:noFill/>
                  <a:ln w="28575" cap="rnd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</p:grpSp>
            <p:cxnSp>
              <p:nvCxnSpPr>
                <p:cNvPr id="16" name="直线连接符 59398">
                  <a:extLst>
                    <a:ext uri="{FF2B5EF4-FFF2-40B4-BE49-F238E27FC236}">
                      <a16:creationId xmlns:a16="http://schemas.microsoft.com/office/drawing/2014/main" id="{FDA303D7-2364-95FC-EF64-CF34724E1F5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256371" y="5345052"/>
                  <a:ext cx="434605" cy="0"/>
                </a:xfrm>
                <a:prstGeom prst="line">
                  <a:avLst/>
                </a:prstGeom>
                <a:ln w="2857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直线连接符 59399">
                  <a:extLst>
                    <a:ext uri="{FF2B5EF4-FFF2-40B4-BE49-F238E27FC236}">
                      <a16:creationId xmlns:a16="http://schemas.microsoft.com/office/drawing/2014/main" id="{A2264E7A-D21C-3D13-8626-29D6B846ABF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62456" y="5654790"/>
                  <a:ext cx="928519" cy="0"/>
                </a:xfrm>
                <a:prstGeom prst="line">
                  <a:avLst/>
                </a:prstGeom>
                <a:ln w="2857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直线连接符 59400">
                  <a:extLst>
                    <a:ext uri="{FF2B5EF4-FFF2-40B4-BE49-F238E27FC236}">
                      <a16:creationId xmlns:a16="http://schemas.microsoft.com/office/drawing/2014/main" id="{DB66A233-30E7-F49B-206B-0F8173E5AADA}"/>
                    </a:ext>
                  </a:extLst>
                </p:cNvPr>
                <p:cNvCxnSpPr>
                  <a:cxnSpLocks/>
                  <a:endCxn id="24" idx="0"/>
                </p:cNvCxnSpPr>
                <p:nvPr/>
              </p:nvCxnSpPr>
              <p:spPr>
                <a:xfrm flipH="1">
                  <a:off x="2488552" y="5499010"/>
                  <a:ext cx="150550" cy="1"/>
                </a:xfrm>
                <a:prstGeom prst="line">
                  <a:avLst/>
                </a:prstGeom>
                <a:ln w="2857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直线连接符 59401">
                  <a:extLst>
                    <a:ext uri="{FF2B5EF4-FFF2-40B4-BE49-F238E27FC236}">
                      <a16:creationId xmlns:a16="http://schemas.microsoft.com/office/drawing/2014/main" id="{ED509F41-7325-DEBD-9558-391192FC372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61036" y="5499437"/>
                  <a:ext cx="0" cy="155353"/>
                </a:xfrm>
                <a:prstGeom prst="line">
                  <a:avLst/>
                </a:prstGeom>
                <a:ln w="2857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直线连接符 59402">
                  <a:extLst>
                    <a:ext uri="{FF2B5EF4-FFF2-40B4-BE49-F238E27FC236}">
                      <a16:creationId xmlns:a16="http://schemas.microsoft.com/office/drawing/2014/main" id="{77597957-DD8C-6FCC-13F8-4E2278692E5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56825" y="4887460"/>
                  <a:ext cx="0" cy="452793"/>
                </a:xfrm>
                <a:prstGeom prst="line">
                  <a:avLst/>
                </a:prstGeom>
                <a:ln w="2857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直线连接符 59403">
                  <a:extLst>
                    <a:ext uri="{FF2B5EF4-FFF2-40B4-BE49-F238E27FC236}">
                      <a16:creationId xmlns:a16="http://schemas.microsoft.com/office/drawing/2014/main" id="{9F6271D8-908F-F36D-7D85-A83127DEE2F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58756" y="4887459"/>
                  <a:ext cx="493271" cy="0"/>
                </a:xfrm>
                <a:prstGeom prst="line">
                  <a:avLst/>
                </a:prstGeom>
                <a:ln w="2857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A1DE146B-58DB-560C-FB92-3EB353A2012D}"/>
                  </a:ext>
                </a:extLst>
              </p:cNvPr>
              <p:cNvSpPr txBox="1"/>
              <p:nvPr/>
            </p:nvSpPr>
            <p:spPr>
              <a:xfrm>
                <a:off x="2146716" y="4724410"/>
                <a:ext cx="44916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sz="1800" b="0" dirty="0">
                    <a:solidFill>
                      <a:schemeClr val="tx1"/>
                    </a:solidFill>
                    <a:latin typeface="+mn-lt"/>
                  </a:rPr>
                  <a:t>A</a:t>
                </a:r>
                <a:r>
                  <a:rPr kumimoji="1" lang="en-US" altLang="zh-CN" sz="1800" b="0" baseline="-25000" dirty="0">
                    <a:solidFill>
                      <a:schemeClr val="tx1"/>
                    </a:solidFill>
                    <a:latin typeface="+mn-lt"/>
                  </a:rPr>
                  <a:t>N</a:t>
                </a:r>
                <a:endParaRPr kumimoji="1" lang="zh-CN" altLang="en-US" sz="1800" b="0" baseline="-25000" dirty="0">
                  <a:solidFill>
                    <a:schemeClr val="tx1"/>
                  </a:solidFill>
                  <a:latin typeface="+mn-lt"/>
                </a:endParaRPr>
              </a:p>
            </p:txBody>
          </p:sp>
        </p:grpSp>
      </p:grpSp>
      <p:sp>
        <p:nvSpPr>
          <p:cNvPr id="56" name="文本框 55">
            <a:extLst>
              <a:ext uri="{FF2B5EF4-FFF2-40B4-BE49-F238E27FC236}">
                <a16:creationId xmlns:a16="http://schemas.microsoft.com/office/drawing/2014/main" id="{75CFA101-5514-EDEF-5AE4-94A6DA05E1BE}"/>
              </a:ext>
            </a:extLst>
          </p:cNvPr>
          <p:cNvSpPr txBox="1"/>
          <p:nvPr/>
        </p:nvSpPr>
        <p:spPr>
          <a:xfrm>
            <a:off x="2086376" y="4827087"/>
            <a:ext cx="5868903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b="1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A1</a:t>
            </a:r>
            <a:r>
              <a:rPr kumimoji="1" lang="zh-CN" altLang="en-US" sz="2400" b="1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输入到输出的延时是单个门延时的</a:t>
            </a:r>
            <a:r>
              <a:rPr kumimoji="1" lang="en-US" altLang="zh-CN" sz="2400" b="1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N</a:t>
            </a:r>
            <a:r>
              <a:rPr kumimoji="1" lang="zh-CN" altLang="en-US" sz="2400" b="1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倍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7" name="Text Box 4"/>
          <p:cNvSpPr txBox="1">
            <a:spLocks noChangeArrowheads="1"/>
          </p:cNvSpPr>
          <p:nvPr/>
        </p:nvSpPr>
        <p:spPr bwMode="auto">
          <a:xfrm>
            <a:off x="2967529" y="2053571"/>
            <a:ext cx="3214330" cy="5372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900" b="1" dirty="0">
                <a:solidFill>
                  <a:srgbClr val="0432FF"/>
                </a:solidFill>
                <a:ea typeface="黑体" panose="02010609060101010101" pitchFamily="49" charset="-122"/>
                <a:cs typeface="黑体" panose="02010609060101010101" pitchFamily="49" charset="-122"/>
              </a:rPr>
              <a:t>N</a:t>
            </a:r>
            <a:r>
              <a:rPr lang="zh-CN" altLang="en-US" sz="2900" b="1" dirty="0">
                <a:solidFill>
                  <a:srgbClr val="0432FF"/>
                </a:solidFill>
                <a:ea typeface="黑体" panose="02010609060101010101" pitchFamily="49" charset="-122"/>
                <a:cs typeface="黑体" panose="02010609060101010101" pitchFamily="49" charset="-122"/>
              </a:rPr>
              <a:t>输入异或门设计</a:t>
            </a:r>
            <a:endParaRPr lang="en-US" altLang="zh-CN" sz="2900" b="1" dirty="0">
              <a:solidFill>
                <a:srgbClr val="0432FF"/>
              </a:solidFill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cxnSp>
        <p:nvCxnSpPr>
          <p:cNvPr id="11" name="直线箭头连接符 2"/>
          <p:cNvCxnSpPr/>
          <p:nvPr/>
        </p:nvCxnSpPr>
        <p:spPr>
          <a:xfrm>
            <a:off x="4250028" y="3833425"/>
            <a:ext cx="0" cy="936268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Box 8"/>
          <p:cNvSpPr txBox="1">
            <a:spLocks noChangeArrowheads="1"/>
          </p:cNvSpPr>
          <p:nvPr/>
        </p:nvSpPr>
        <p:spPr bwMode="auto">
          <a:xfrm>
            <a:off x="5162200" y="4856159"/>
            <a:ext cx="3744913" cy="101473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ea typeface="黑体" panose="02010609060101010101" pitchFamily="49" charset="-122"/>
              </a:rPr>
              <a:t>速度更快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ea typeface="黑体" panose="02010609060101010101" pitchFamily="49" charset="-122"/>
              </a:rPr>
              <a:t>面积不变</a:t>
            </a: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750660" y="1370017"/>
            <a:ext cx="8229600" cy="631825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rmAutofit/>
          </a:bodyPr>
          <a:lstStyle>
            <a:lvl1pPr algn="l" defTabSz="685800" rtl="0" eaLnBrk="1" latinLnBrk="0" hangingPunct="1"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STHeiti" panose="02010600040101010101" pitchFamily="2" charset="-122"/>
                <a:cs typeface="Arial" panose="020B0604020202020204" pitchFamily="34" charset="0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900" dirty="0">
                <a:ea typeface="黑体" panose="02010609060101010101" pitchFamily="49" charset="-122"/>
              </a:rPr>
              <a:t>快速电路技术：速度和规模提高了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36525"/>
            <a:ext cx="8229600" cy="1143000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影响性能的因素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1104CA16-58B9-27D8-4887-7B510B07C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t>53</a:t>
            </a:fld>
            <a:endParaRPr lang="en-US" altLang="zh-CN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CD472F73-47B0-2293-A6A9-3B02E703722A}"/>
              </a:ext>
            </a:extLst>
          </p:cNvPr>
          <p:cNvGrpSpPr/>
          <p:nvPr/>
        </p:nvGrpSpPr>
        <p:grpSpPr>
          <a:xfrm>
            <a:off x="861606" y="2738894"/>
            <a:ext cx="7287709" cy="1054767"/>
            <a:chOff x="861606" y="4724410"/>
            <a:chExt cx="7287709" cy="1054767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6AED50EB-0248-E6DF-5F44-7AE30DCED019}"/>
                </a:ext>
              </a:extLst>
            </p:cNvPr>
            <p:cNvGrpSpPr/>
            <p:nvPr/>
          </p:nvGrpSpPr>
          <p:grpSpPr>
            <a:xfrm>
              <a:off x="1256371" y="5143722"/>
              <a:ext cx="1355641" cy="635455"/>
              <a:chOff x="1256371" y="5143722"/>
              <a:chExt cx="1486746" cy="696910"/>
            </a:xfrm>
          </p:grpSpPr>
          <p:grpSp>
            <p:nvGrpSpPr>
              <p:cNvPr id="51" name="组合 50">
                <a:extLst>
                  <a:ext uri="{FF2B5EF4-FFF2-40B4-BE49-F238E27FC236}">
                    <a16:creationId xmlns:a16="http://schemas.microsoft.com/office/drawing/2014/main" id="{EC955BD5-0833-E4E1-70DB-746FE3DC1932}"/>
                  </a:ext>
                </a:extLst>
              </p:cNvPr>
              <p:cNvGrpSpPr/>
              <p:nvPr/>
            </p:nvGrpSpPr>
            <p:grpSpPr>
              <a:xfrm>
                <a:off x="1429635" y="5143722"/>
                <a:ext cx="1313482" cy="696910"/>
                <a:chOff x="4338638" y="3305175"/>
                <a:chExt cx="2154237" cy="1143000"/>
              </a:xfrm>
            </p:grpSpPr>
            <p:sp>
              <p:nvSpPr>
                <p:cNvPr id="55" name="AutoShape 3">
                  <a:extLst>
                    <a:ext uri="{FF2B5EF4-FFF2-40B4-BE49-F238E27FC236}">
                      <a16:creationId xmlns:a16="http://schemas.microsoft.com/office/drawing/2014/main" id="{1F81547C-F118-1D65-3818-8549EB13022E}"/>
                    </a:ext>
                  </a:extLst>
                </p:cNvPr>
                <p:cNvSpPr>
                  <a:spLocks noChangeAspect="1" noChangeArrowheads="1" noTextEdit="1"/>
                </p:cNvSpPr>
                <p:nvPr/>
              </p:nvSpPr>
              <p:spPr bwMode="auto">
                <a:xfrm>
                  <a:off x="4338638" y="3305175"/>
                  <a:ext cx="2154237" cy="11430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6" name="Freeform 6">
                  <a:extLst>
                    <a:ext uri="{FF2B5EF4-FFF2-40B4-BE49-F238E27FC236}">
                      <a16:creationId xmlns:a16="http://schemas.microsoft.com/office/drawing/2014/main" id="{324D1C89-39DB-3B66-2340-DD9B5FB04DA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7263" y="3381375"/>
                  <a:ext cx="1308100" cy="1014413"/>
                </a:xfrm>
                <a:custGeom>
                  <a:avLst/>
                  <a:gdLst>
                    <a:gd name="T0" fmla="*/ 943 w 943"/>
                    <a:gd name="T1" fmla="*/ 362 h 725"/>
                    <a:gd name="T2" fmla="*/ 283 w 943"/>
                    <a:gd name="T3" fmla="*/ 725 h 725"/>
                    <a:gd name="T4" fmla="*/ 0 w 943"/>
                    <a:gd name="T5" fmla="*/ 725 h 725"/>
                    <a:gd name="T6" fmla="*/ 0 w 943"/>
                    <a:gd name="T7" fmla="*/ 0 h 725"/>
                    <a:gd name="T8" fmla="*/ 283 w 943"/>
                    <a:gd name="T9" fmla="*/ 0 h 725"/>
                    <a:gd name="T10" fmla="*/ 943 w 943"/>
                    <a:gd name="T11" fmla="*/ 362 h 7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943" h="725">
                      <a:moveTo>
                        <a:pt x="943" y="362"/>
                      </a:moveTo>
                      <a:cubicBezTo>
                        <a:pt x="830" y="541"/>
                        <a:pt x="585" y="676"/>
                        <a:pt x="283" y="725"/>
                      </a:cubicBezTo>
                      <a:lnTo>
                        <a:pt x="0" y="725"/>
                      </a:lnTo>
                      <a:cubicBezTo>
                        <a:pt x="175" y="495"/>
                        <a:pt x="175" y="230"/>
                        <a:pt x="0" y="0"/>
                      </a:cubicBezTo>
                      <a:lnTo>
                        <a:pt x="283" y="0"/>
                      </a:lnTo>
                      <a:cubicBezTo>
                        <a:pt x="586" y="48"/>
                        <a:pt x="832" y="183"/>
                        <a:pt x="943" y="36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28575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7" name="Freeform 7">
                  <a:extLst>
                    <a:ext uri="{FF2B5EF4-FFF2-40B4-BE49-F238E27FC236}">
                      <a16:creationId xmlns:a16="http://schemas.microsoft.com/office/drawing/2014/main" id="{5CA16A18-E7A3-E2EE-5846-DEF7AC9FEA6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635500" y="3381375"/>
                  <a:ext cx="1439862" cy="1014413"/>
                </a:xfrm>
                <a:custGeom>
                  <a:avLst/>
                  <a:gdLst>
                    <a:gd name="T0" fmla="*/ 1038 w 1038"/>
                    <a:gd name="T1" fmla="*/ 362 h 725"/>
                    <a:gd name="T2" fmla="*/ 378 w 1038"/>
                    <a:gd name="T3" fmla="*/ 725 h 725"/>
                    <a:gd name="T4" fmla="*/ 95 w 1038"/>
                    <a:gd name="T5" fmla="*/ 725 h 725"/>
                    <a:gd name="T6" fmla="*/ 95 w 1038"/>
                    <a:gd name="T7" fmla="*/ 0 h 725"/>
                    <a:gd name="T8" fmla="*/ 378 w 1038"/>
                    <a:gd name="T9" fmla="*/ 0 h 725"/>
                    <a:gd name="T10" fmla="*/ 1038 w 1038"/>
                    <a:gd name="T11" fmla="*/ 362 h 725"/>
                    <a:gd name="T12" fmla="*/ 0 w 1038"/>
                    <a:gd name="T13" fmla="*/ 725 h 725"/>
                    <a:gd name="T14" fmla="*/ 0 w 1038"/>
                    <a:gd name="T15" fmla="*/ 0 h 7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038" h="725">
                      <a:moveTo>
                        <a:pt x="1038" y="362"/>
                      </a:moveTo>
                      <a:cubicBezTo>
                        <a:pt x="925" y="541"/>
                        <a:pt x="680" y="676"/>
                        <a:pt x="378" y="725"/>
                      </a:cubicBezTo>
                      <a:lnTo>
                        <a:pt x="95" y="725"/>
                      </a:lnTo>
                      <a:cubicBezTo>
                        <a:pt x="270" y="495"/>
                        <a:pt x="270" y="230"/>
                        <a:pt x="95" y="0"/>
                      </a:cubicBezTo>
                      <a:lnTo>
                        <a:pt x="378" y="0"/>
                      </a:lnTo>
                      <a:cubicBezTo>
                        <a:pt x="681" y="48"/>
                        <a:pt x="927" y="183"/>
                        <a:pt x="1038" y="362"/>
                      </a:cubicBezTo>
                      <a:close/>
                      <a:moveTo>
                        <a:pt x="0" y="725"/>
                      </a:moveTo>
                      <a:cubicBezTo>
                        <a:pt x="175" y="495"/>
                        <a:pt x="175" y="230"/>
                        <a:pt x="0" y="0"/>
                      </a:cubicBezTo>
                    </a:path>
                  </a:pathLst>
                </a:custGeom>
                <a:noFill/>
                <a:ln w="28575" cap="rnd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cxnSp>
            <p:nvCxnSpPr>
              <p:cNvPr id="52" name="直线连接符 51">
                <a:extLst>
                  <a:ext uri="{FF2B5EF4-FFF2-40B4-BE49-F238E27FC236}">
                    <a16:creationId xmlns:a16="http://schemas.microsoft.com/office/drawing/2014/main" id="{955DFFEA-3566-0868-BE2C-52DA47A9DF9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256371" y="5345052"/>
                <a:ext cx="434605" cy="0"/>
              </a:xfrm>
              <a:prstGeom prst="line">
                <a:avLst/>
              </a:prstGeom>
              <a:ln w="285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线连接符 52">
                <a:extLst>
                  <a:ext uri="{FF2B5EF4-FFF2-40B4-BE49-F238E27FC236}">
                    <a16:creationId xmlns:a16="http://schemas.microsoft.com/office/drawing/2014/main" id="{57B2C6D7-D70D-B29D-B0D4-416132EE4F0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256371" y="5654790"/>
                <a:ext cx="434605" cy="0"/>
              </a:xfrm>
              <a:prstGeom prst="line">
                <a:avLst/>
              </a:prstGeom>
              <a:ln w="285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线连接符 53">
                <a:extLst>
                  <a:ext uri="{FF2B5EF4-FFF2-40B4-BE49-F238E27FC236}">
                    <a16:creationId xmlns:a16="http://schemas.microsoft.com/office/drawing/2014/main" id="{1331DD00-2E91-D0B1-809F-AC3DD617CA95}"/>
                  </a:ext>
                </a:extLst>
              </p:cNvPr>
              <p:cNvCxnSpPr>
                <a:cxnSpLocks/>
                <a:endCxn id="57" idx="0"/>
              </p:cNvCxnSpPr>
              <p:nvPr/>
            </p:nvCxnSpPr>
            <p:spPr>
              <a:xfrm flipH="1">
                <a:off x="2488552" y="5499010"/>
                <a:ext cx="150550" cy="1"/>
              </a:xfrm>
              <a:prstGeom prst="line">
                <a:avLst/>
              </a:prstGeom>
              <a:ln w="285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7934DCE4-1639-8C4D-986C-3409A1B24F22}"/>
                </a:ext>
              </a:extLst>
            </p:cNvPr>
            <p:cNvSpPr txBox="1"/>
            <p:nvPr/>
          </p:nvSpPr>
          <p:spPr>
            <a:xfrm>
              <a:off x="861606" y="5099179"/>
              <a:ext cx="4235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800" b="0" dirty="0">
                  <a:solidFill>
                    <a:schemeClr val="tx1"/>
                  </a:solidFill>
                  <a:latin typeface="+mn-lt"/>
                </a:rPr>
                <a:t>A</a:t>
              </a:r>
              <a:r>
                <a:rPr kumimoji="1" lang="en-US" altLang="zh-CN" sz="1800" b="0" baseline="-25000" dirty="0">
                  <a:solidFill>
                    <a:schemeClr val="tx1"/>
                  </a:solidFill>
                  <a:latin typeface="+mn-lt"/>
                </a:rPr>
                <a:t>2</a:t>
              </a:r>
              <a:endParaRPr kumimoji="1" lang="zh-CN" altLang="en-US" sz="1800" b="0" baseline="-25000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0F4AF8F4-8A3E-A75F-CC50-A22FAC5711B3}"/>
                </a:ext>
              </a:extLst>
            </p:cNvPr>
            <p:cNvSpPr txBox="1"/>
            <p:nvPr/>
          </p:nvSpPr>
          <p:spPr>
            <a:xfrm>
              <a:off x="861606" y="5394235"/>
              <a:ext cx="4235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800" b="0" dirty="0">
                  <a:solidFill>
                    <a:schemeClr val="tx1"/>
                  </a:solidFill>
                  <a:latin typeface="+mn-lt"/>
                </a:rPr>
                <a:t>A</a:t>
              </a:r>
              <a:r>
                <a:rPr kumimoji="1" lang="en-US" altLang="zh-CN" sz="1800" b="0" baseline="-25000" dirty="0">
                  <a:solidFill>
                    <a:schemeClr val="tx1"/>
                  </a:solidFill>
                  <a:latin typeface="+mn-lt"/>
                </a:rPr>
                <a:t>1</a:t>
              </a:r>
              <a:endParaRPr kumimoji="1" lang="zh-CN" altLang="en-US" sz="1800" b="0" baseline="-25000" dirty="0">
                <a:solidFill>
                  <a:schemeClr val="tx1"/>
                </a:solidFill>
                <a:latin typeface="+mn-lt"/>
              </a:endParaRPr>
            </a:p>
          </p:txBody>
        </p:sp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B6A3FD8C-87B2-F716-C5E2-4A16E0199B80}"/>
                </a:ext>
              </a:extLst>
            </p:cNvPr>
            <p:cNvGrpSpPr/>
            <p:nvPr/>
          </p:nvGrpSpPr>
          <p:grpSpPr>
            <a:xfrm>
              <a:off x="2159540" y="4724410"/>
              <a:ext cx="2167004" cy="1054767"/>
              <a:chOff x="2159540" y="4724410"/>
              <a:chExt cx="2167004" cy="1054767"/>
            </a:xfrm>
          </p:grpSpPr>
          <p:grpSp>
            <p:nvGrpSpPr>
              <p:cNvPr id="39" name="组合 38">
                <a:extLst>
                  <a:ext uri="{FF2B5EF4-FFF2-40B4-BE49-F238E27FC236}">
                    <a16:creationId xmlns:a16="http://schemas.microsoft.com/office/drawing/2014/main" id="{14332E4F-381A-2901-9F7D-8875D7C177B9}"/>
                  </a:ext>
                </a:extLst>
              </p:cNvPr>
              <p:cNvGrpSpPr/>
              <p:nvPr/>
            </p:nvGrpSpPr>
            <p:grpSpPr>
              <a:xfrm>
                <a:off x="2517169" y="4910057"/>
                <a:ext cx="1809375" cy="869120"/>
                <a:chOff x="758756" y="4887459"/>
                <a:chExt cx="1984361" cy="953173"/>
              </a:xfrm>
            </p:grpSpPr>
            <p:grpSp>
              <p:nvGrpSpPr>
                <p:cNvPr id="41" name="组合 40">
                  <a:extLst>
                    <a:ext uri="{FF2B5EF4-FFF2-40B4-BE49-F238E27FC236}">
                      <a16:creationId xmlns:a16="http://schemas.microsoft.com/office/drawing/2014/main" id="{9E7401E6-1310-1609-62B3-E70A4DB79D15}"/>
                    </a:ext>
                  </a:extLst>
                </p:cNvPr>
                <p:cNvGrpSpPr/>
                <p:nvPr/>
              </p:nvGrpSpPr>
              <p:grpSpPr>
                <a:xfrm>
                  <a:off x="1429635" y="5143722"/>
                  <a:ext cx="1313482" cy="696910"/>
                  <a:chOff x="4338638" y="3305175"/>
                  <a:chExt cx="2154237" cy="1143000"/>
                </a:xfrm>
              </p:grpSpPr>
              <p:sp>
                <p:nvSpPr>
                  <p:cNvPr id="48" name="AutoShape 3">
                    <a:extLst>
                      <a:ext uri="{FF2B5EF4-FFF2-40B4-BE49-F238E27FC236}">
                        <a16:creationId xmlns:a16="http://schemas.microsoft.com/office/drawing/2014/main" id="{C93A962B-22DD-A8CA-48BA-4BB624A972DE}"/>
                      </a:ext>
                    </a:extLst>
                  </p:cNvPr>
                  <p:cNvSpPr>
                    <a:spLocks noChangeAspect="1" noChangeArrowheads="1" noTextEdit="1"/>
                  </p:cNvSpPr>
                  <p:nvPr/>
                </p:nvSpPr>
                <p:spPr bwMode="auto">
                  <a:xfrm>
                    <a:off x="4338638" y="3305175"/>
                    <a:ext cx="2154237" cy="114300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9" name="Freeform 6">
                    <a:extLst>
                      <a:ext uri="{FF2B5EF4-FFF2-40B4-BE49-F238E27FC236}">
                        <a16:creationId xmlns:a16="http://schemas.microsoft.com/office/drawing/2014/main" id="{30CAB8F2-BE29-7467-E2B7-9B900E2E217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767263" y="3381375"/>
                    <a:ext cx="1308100" cy="1014413"/>
                  </a:xfrm>
                  <a:custGeom>
                    <a:avLst/>
                    <a:gdLst>
                      <a:gd name="T0" fmla="*/ 943 w 943"/>
                      <a:gd name="T1" fmla="*/ 362 h 725"/>
                      <a:gd name="T2" fmla="*/ 283 w 943"/>
                      <a:gd name="T3" fmla="*/ 725 h 725"/>
                      <a:gd name="T4" fmla="*/ 0 w 943"/>
                      <a:gd name="T5" fmla="*/ 725 h 725"/>
                      <a:gd name="T6" fmla="*/ 0 w 943"/>
                      <a:gd name="T7" fmla="*/ 0 h 725"/>
                      <a:gd name="T8" fmla="*/ 283 w 943"/>
                      <a:gd name="T9" fmla="*/ 0 h 725"/>
                      <a:gd name="T10" fmla="*/ 943 w 943"/>
                      <a:gd name="T11" fmla="*/ 362 h 72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943" h="725">
                        <a:moveTo>
                          <a:pt x="943" y="362"/>
                        </a:moveTo>
                        <a:cubicBezTo>
                          <a:pt x="830" y="541"/>
                          <a:pt x="585" y="676"/>
                          <a:pt x="283" y="725"/>
                        </a:cubicBezTo>
                        <a:lnTo>
                          <a:pt x="0" y="725"/>
                        </a:lnTo>
                        <a:cubicBezTo>
                          <a:pt x="175" y="495"/>
                          <a:pt x="175" y="230"/>
                          <a:pt x="0" y="0"/>
                        </a:cubicBezTo>
                        <a:lnTo>
                          <a:pt x="283" y="0"/>
                        </a:lnTo>
                        <a:cubicBezTo>
                          <a:pt x="586" y="48"/>
                          <a:pt x="832" y="183"/>
                          <a:pt x="943" y="36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28575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50" name="Freeform 7">
                    <a:extLst>
                      <a:ext uri="{FF2B5EF4-FFF2-40B4-BE49-F238E27FC236}">
                        <a16:creationId xmlns:a16="http://schemas.microsoft.com/office/drawing/2014/main" id="{34D642F8-8EA9-8E46-1D9D-72864750791C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4635500" y="3381375"/>
                    <a:ext cx="1439862" cy="1014413"/>
                  </a:xfrm>
                  <a:custGeom>
                    <a:avLst/>
                    <a:gdLst>
                      <a:gd name="T0" fmla="*/ 1038 w 1038"/>
                      <a:gd name="T1" fmla="*/ 362 h 725"/>
                      <a:gd name="T2" fmla="*/ 378 w 1038"/>
                      <a:gd name="T3" fmla="*/ 725 h 725"/>
                      <a:gd name="T4" fmla="*/ 95 w 1038"/>
                      <a:gd name="T5" fmla="*/ 725 h 725"/>
                      <a:gd name="T6" fmla="*/ 95 w 1038"/>
                      <a:gd name="T7" fmla="*/ 0 h 725"/>
                      <a:gd name="T8" fmla="*/ 378 w 1038"/>
                      <a:gd name="T9" fmla="*/ 0 h 725"/>
                      <a:gd name="T10" fmla="*/ 1038 w 1038"/>
                      <a:gd name="T11" fmla="*/ 362 h 725"/>
                      <a:gd name="T12" fmla="*/ 0 w 1038"/>
                      <a:gd name="T13" fmla="*/ 725 h 725"/>
                      <a:gd name="T14" fmla="*/ 0 w 1038"/>
                      <a:gd name="T15" fmla="*/ 0 h 72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1038" h="725">
                        <a:moveTo>
                          <a:pt x="1038" y="362"/>
                        </a:moveTo>
                        <a:cubicBezTo>
                          <a:pt x="925" y="541"/>
                          <a:pt x="680" y="676"/>
                          <a:pt x="378" y="725"/>
                        </a:cubicBezTo>
                        <a:lnTo>
                          <a:pt x="95" y="725"/>
                        </a:lnTo>
                        <a:cubicBezTo>
                          <a:pt x="270" y="495"/>
                          <a:pt x="270" y="230"/>
                          <a:pt x="95" y="0"/>
                        </a:cubicBezTo>
                        <a:lnTo>
                          <a:pt x="378" y="0"/>
                        </a:lnTo>
                        <a:cubicBezTo>
                          <a:pt x="681" y="48"/>
                          <a:pt x="927" y="183"/>
                          <a:pt x="1038" y="362"/>
                        </a:cubicBezTo>
                        <a:close/>
                        <a:moveTo>
                          <a:pt x="0" y="725"/>
                        </a:moveTo>
                        <a:cubicBezTo>
                          <a:pt x="175" y="495"/>
                          <a:pt x="175" y="230"/>
                          <a:pt x="0" y="0"/>
                        </a:cubicBezTo>
                      </a:path>
                    </a:pathLst>
                  </a:custGeom>
                  <a:noFill/>
                  <a:ln w="28575" cap="rnd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</p:grpSp>
            <p:cxnSp>
              <p:nvCxnSpPr>
                <p:cNvPr id="42" name="直线连接符 41">
                  <a:extLst>
                    <a:ext uri="{FF2B5EF4-FFF2-40B4-BE49-F238E27FC236}">
                      <a16:creationId xmlns:a16="http://schemas.microsoft.com/office/drawing/2014/main" id="{48389BBB-88A8-D40E-FEC7-D9024A408C6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256371" y="5345052"/>
                  <a:ext cx="434605" cy="0"/>
                </a:xfrm>
                <a:prstGeom prst="line">
                  <a:avLst/>
                </a:prstGeom>
                <a:ln w="2857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直线连接符 42">
                  <a:extLst>
                    <a:ext uri="{FF2B5EF4-FFF2-40B4-BE49-F238E27FC236}">
                      <a16:creationId xmlns:a16="http://schemas.microsoft.com/office/drawing/2014/main" id="{F2DEE6EF-1932-48A3-963B-98CEACDB5A2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62456" y="5654790"/>
                  <a:ext cx="928519" cy="0"/>
                </a:xfrm>
                <a:prstGeom prst="line">
                  <a:avLst/>
                </a:prstGeom>
                <a:ln w="2857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直线连接符 43">
                  <a:extLst>
                    <a:ext uri="{FF2B5EF4-FFF2-40B4-BE49-F238E27FC236}">
                      <a16:creationId xmlns:a16="http://schemas.microsoft.com/office/drawing/2014/main" id="{BCC8DAA7-72FD-6202-4D5E-6B9B025C4B7B}"/>
                    </a:ext>
                  </a:extLst>
                </p:cNvPr>
                <p:cNvCxnSpPr>
                  <a:cxnSpLocks/>
                  <a:endCxn id="50" idx="0"/>
                </p:cNvCxnSpPr>
                <p:nvPr/>
              </p:nvCxnSpPr>
              <p:spPr>
                <a:xfrm flipH="1">
                  <a:off x="2488552" y="5499010"/>
                  <a:ext cx="150550" cy="1"/>
                </a:xfrm>
                <a:prstGeom prst="line">
                  <a:avLst/>
                </a:prstGeom>
                <a:ln w="2857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直线连接符 44">
                  <a:extLst>
                    <a:ext uri="{FF2B5EF4-FFF2-40B4-BE49-F238E27FC236}">
                      <a16:creationId xmlns:a16="http://schemas.microsoft.com/office/drawing/2014/main" id="{88A1B105-742F-8426-40BE-62A2A82F3CF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61036" y="5499437"/>
                  <a:ext cx="0" cy="155353"/>
                </a:xfrm>
                <a:prstGeom prst="line">
                  <a:avLst/>
                </a:prstGeom>
                <a:ln w="2857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直线连接符 45">
                  <a:extLst>
                    <a:ext uri="{FF2B5EF4-FFF2-40B4-BE49-F238E27FC236}">
                      <a16:creationId xmlns:a16="http://schemas.microsoft.com/office/drawing/2014/main" id="{45D1D64F-0BC7-9141-4A95-3D0F1E0B609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56825" y="4887460"/>
                  <a:ext cx="0" cy="452793"/>
                </a:xfrm>
                <a:prstGeom prst="line">
                  <a:avLst/>
                </a:prstGeom>
                <a:ln w="2857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直线连接符 46">
                  <a:extLst>
                    <a:ext uri="{FF2B5EF4-FFF2-40B4-BE49-F238E27FC236}">
                      <a16:creationId xmlns:a16="http://schemas.microsoft.com/office/drawing/2014/main" id="{D43C07B9-6D75-D713-C077-B9D6DCBF4AB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58756" y="4887459"/>
                  <a:ext cx="493271" cy="0"/>
                </a:xfrm>
                <a:prstGeom prst="line">
                  <a:avLst/>
                </a:prstGeom>
                <a:ln w="2857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747325C1-2EB9-5F7D-9CF3-C835DCFC6757}"/>
                  </a:ext>
                </a:extLst>
              </p:cNvPr>
              <p:cNvSpPr txBox="1"/>
              <p:nvPr/>
            </p:nvSpPr>
            <p:spPr>
              <a:xfrm>
                <a:off x="2159540" y="4724410"/>
                <a:ext cx="42351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sz="1800" b="0" dirty="0">
                    <a:solidFill>
                      <a:schemeClr val="tx1"/>
                    </a:solidFill>
                    <a:latin typeface="+mn-lt"/>
                  </a:rPr>
                  <a:t>A</a:t>
                </a:r>
                <a:r>
                  <a:rPr kumimoji="1" lang="en-US" altLang="zh-CN" sz="1800" b="0" baseline="-25000" dirty="0">
                    <a:solidFill>
                      <a:schemeClr val="tx1"/>
                    </a:solidFill>
                    <a:latin typeface="+mn-lt"/>
                  </a:rPr>
                  <a:t>3</a:t>
                </a:r>
                <a:endParaRPr kumimoji="1" lang="zh-CN" altLang="en-US" sz="1800" b="0" baseline="-25000" dirty="0">
                  <a:solidFill>
                    <a:schemeClr val="tx1"/>
                  </a:solidFill>
                  <a:latin typeface="+mn-lt"/>
                </a:endParaRPr>
              </a:p>
            </p:txBody>
          </p:sp>
        </p:grpSp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470FE962-531A-1E6C-4FD2-EB556F52F7B7}"/>
                </a:ext>
              </a:extLst>
            </p:cNvPr>
            <p:cNvGrpSpPr/>
            <p:nvPr/>
          </p:nvGrpSpPr>
          <p:grpSpPr>
            <a:xfrm>
              <a:off x="3877022" y="4724410"/>
              <a:ext cx="2421091" cy="1054767"/>
              <a:chOff x="2159540" y="4724410"/>
              <a:chExt cx="2421091" cy="1054767"/>
            </a:xfrm>
          </p:grpSpPr>
          <p:grpSp>
            <p:nvGrpSpPr>
              <p:cNvPr id="27" name="组合 26">
                <a:extLst>
                  <a:ext uri="{FF2B5EF4-FFF2-40B4-BE49-F238E27FC236}">
                    <a16:creationId xmlns:a16="http://schemas.microsoft.com/office/drawing/2014/main" id="{EB5F1C90-E9BE-0587-6A97-60292F673FC1}"/>
                  </a:ext>
                </a:extLst>
              </p:cNvPr>
              <p:cNvGrpSpPr/>
              <p:nvPr/>
            </p:nvGrpSpPr>
            <p:grpSpPr>
              <a:xfrm>
                <a:off x="2517169" y="4910057"/>
                <a:ext cx="2063462" cy="869120"/>
                <a:chOff x="758756" y="4887459"/>
                <a:chExt cx="2263021" cy="953173"/>
              </a:xfrm>
            </p:grpSpPr>
            <p:grpSp>
              <p:nvGrpSpPr>
                <p:cNvPr id="29" name="组合 28">
                  <a:extLst>
                    <a:ext uri="{FF2B5EF4-FFF2-40B4-BE49-F238E27FC236}">
                      <a16:creationId xmlns:a16="http://schemas.microsoft.com/office/drawing/2014/main" id="{8E4D0585-F787-A17C-0004-C38D4A5C49E8}"/>
                    </a:ext>
                  </a:extLst>
                </p:cNvPr>
                <p:cNvGrpSpPr/>
                <p:nvPr/>
              </p:nvGrpSpPr>
              <p:grpSpPr>
                <a:xfrm>
                  <a:off x="1429635" y="5143722"/>
                  <a:ext cx="1313482" cy="696910"/>
                  <a:chOff x="4338638" y="3305175"/>
                  <a:chExt cx="2154237" cy="1143000"/>
                </a:xfrm>
              </p:grpSpPr>
              <p:sp>
                <p:nvSpPr>
                  <p:cNvPr id="36" name="AutoShape 3">
                    <a:extLst>
                      <a:ext uri="{FF2B5EF4-FFF2-40B4-BE49-F238E27FC236}">
                        <a16:creationId xmlns:a16="http://schemas.microsoft.com/office/drawing/2014/main" id="{B8AF332D-5A10-F33C-F9C8-DCB4F2490869}"/>
                      </a:ext>
                    </a:extLst>
                  </p:cNvPr>
                  <p:cNvSpPr>
                    <a:spLocks noChangeAspect="1" noChangeArrowheads="1" noTextEdit="1"/>
                  </p:cNvSpPr>
                  <p:nvPr/>
                </p:nvSpPr>
                <p:spPr bwMode="auto">
                  <a:xfrm>
                    <a:off x="4338638" y="3305175"/>
                    <a:ext cx="2154237" cy="114300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7" name="Freeform 6">
                    <a:extLst>
                      <a:ext uri="{FF2B5EF4-FFF2-40B4-BE49-F238E27FC236}">
                        <a16:creationId xmlns:a16="http://schemas.microsoft.com/office/drawing/2014/main" id="{79238218-F35E-39B1-28B8-5BEB1776C50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767263" y="3381375"/>
                    <a:ext cx="1308100" cy="1014413"/>
                  </a:xfrm>
                  <a:custGeom>
                    <a:avLst/>
                    <a:gdLst>
                      <a:gd name="T0" fmla="*/ 943 w 943"/>
                      <a:gd name="T1" fmla="*/ 362 h 725"/>
                      <a:gd name="T2" fmla="*/ 283 w 943"/>
                      <a:gd name="T3" fmla="*/ 725 h 725"/>
                      <a:gd name="T4" fmla="*/ 0 w 943"/>
                      <a:gd name="T5" fmla="*/ 725 h 725"/>
                      <a:gd name="T6" fmla="*/ 0 w 943"/>
                      <a:gd name="T7" fmla="*/ 0 h 725"/>
                      <a:gd name="T8" fmla="*/ 283 w 943"/>
                      <a:gd name="T9" fmla="*/ 0 h 725"/>
                      <a:gd name="T10" fmla="*/ 943 w 943"/>
                      <a:gd name="T11" fmla="*/ 362 h 72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943" h="725">
                        <a:moveTo>
                          <a:pt x="943" y="362"/>
                        </a:moveTo>
                        <a:cubicBezTo>
                          <a:pt x="830" y="541"/>
                          <a:pt x="585" y="676"/>
                          <a:pt x="283" y="725"/>
                        </a:cubicBezTo>
                        <a:lnTo>
                          <a:pt x="0" y="725"/>
                        </a:lnTo>
                        <a:cubicBezTo>
                          <a:pt x="175" y="495"/>
                          <a:pt x="175" y="230"/>
                          <a:pt x="0" y="0"/>
                        </a:cubicBezTo>
                        <a:lnTo>
                          <a:pt x="283" y="0"/>
                        </a:lnTo>
                        <a:cubicBezTo>
                          <a:pt x="586" y="48"/>
                          <a:pt x="832" y="183"/>
                          <a:pt x="943" y="36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28575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8" name="Freeform 7">
                    <a:extLst>
                      <a:ext uri="{FF2B5EF4-FFF2-40B4-BE49-F238E27FC236}">
                        <a16:creationId xmlns:a16="http://schemas.microsoft.com/office/drawing/2014/main" id="{24B2C052-E337-1DB0-2EB9-63A41CAFA3C4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4635500" y="3381375"/>
                    <a:ext cx="1439862" cy="1014413"/>
                  </a:xfrm>
                  <a:custGeom>
                    <a:avLst/>
                    <a:gdLst>
                      <a:gd name="T0" fmla="*/ 1038 w 1038"/>
                      <a:gd name="T1" fmla="*/ 362 h 725"/>
                      <a:gd name="T2" fmla="*/ 378 w 1038"/>
                      <a:gd name="T3" fmla="*/ 725 h 725"/>
                      <a:gd name="T4" fmla="*/ 95 w 1038"/>
                      <a:gd name="T5" fmla="*/ 725 h 725"/>
                      <a:gd name="T6" fmla="*/ 95 w 1038"/>
                      <a:gd name="T7" fmla="*/ 0 h 725"/>
                      <a:gd name="T8" fmla="*/ 378 w 1038"/>
                      <a:gd name="T9" fmla="*/ 0 h 725"/>
                      <a:gd name="T10" fmla="*/ 1038 w 1038"/>
                      <a:gd name="T11" fmla="*/ 362 h 725"/>
                      <a:gd name="T12" fmla="*/ 0 w 1038"/>
                      <a:gd name="T13" fmla="*/ 725 h 725"/>
                      <a:gd name="T14" fmla="*/ 0 w 1038"/>
                      <a:gd name="T15" fmla="*/ 0 h 72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1038" h="725">
                        <a:moveTo>
                          <a:pt x="1038" y="362"/>
                        </a:moveTo>
                        <a:cubicBezTo>
                          <a:pt x="925" y="541"/>
                          <a:pt x="680" y="676"/>
                          <a:pt x="378" y="725"/>
                        </a:cubicBezTo>
                        <a:lnTo>
                          <a:pt x="95" y="725"/>
                        </a:lnTo>
                        <a:cubicBezTo>
                          <a:pt x="270" y="495"/>
                          <a:pt x="270" y="230"/>
                          <a:pt x="95" y="0"/>
                        </a:cubicBezTo>
                        <a:lnTo>
                          <a:pt x="378" y="0"/>
                        </a:lnTo>
                        <a:cubicBezTo>
                          <a:pt x="681" y="48"/>
                          <a:pt x="927" y="183"/>
                          <a:pt x="1038" y="362"/>
                        </a:cubicBezTo>
                        <a:close/>
                        <a:moveTo>
                          <a:pt x="0" y="725"/>
                        </a:moveTo>
                        <a:cubicBezTo>
                          <a:pt x="175" y="495"/>
                          <a:pt x="175" y="230"/>
                          <a:pt x="0" y="0"/>
                        </a:cubicBezTo>
                      </a:path>
                    </a:pathLst>
                  </a:custGeom>
                  <a:noFill/>
                  <a:ln w="28575" cap="rnd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</p:grpSp>
            <p:cxnSp>
              <p:nvCxnSpPr>
                <p:cNvPr id="30" name="直线连接符 29">
                  <a:extLst>
                    <a:ext uri="{FF2B5EF4-FFF2-40B4-BE49-F238E27FC236}">
                      <a16:creationId xmlns:a16="http://schemas.microsoft.com/office/drawing/2014/main" id="{5F0F690E-320B-20FB-D04C-723B7505D97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256371" y="5345052"/>
                  <a:ext cx="434605" cy="0"/>
                </a:xfrm>
                <a:prstGeom prst="line">
                  <a:avLst/>
                </a:prstGeom>
                <a:ln w="2857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直线连接符 30">
                  <a:extLst>
                    <a:ext uri="{FF2B5EF4-FFF2-40B4-BE49-F238E27FC236}">
                      <a16:creationId xmlns:a16="http://schemas.microsoft.com/office/drawing/2014/main" id="{400E2AA9-B49A-83B2-B232-BD50BF07545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62456" y="5654790"/>
                  <a:ext cx="928519" cy="0"/>
                </a:xfrm>
                <a:prstGeom prst="line">
                  <a:avLst/>
                </a:prstGeom>
                <a:ln w="2857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直线连接符 31">
                  <a:extLst>
                    <a:ext uri="{FF2B5EF4-FFF2-40B4-BE49-F238E27FC236}">
                      <a16:creationId xmlns:a16="http://schemas.microsoft.com/office/drawing/2014/main" id="{37027984-F0CD-166C-BF89-C87AFD50D599}"/>
                    </a:ext>
                  </a:extLst>
                </p:cNvPr>
                <p:cNvCxnSpPr>
                  <a:cxnSpLocks/>
                  <a:endCxn id="38" idx="0"/>
                </p:cNvCxnSpPr>
                <p:nvPr/>
              </p:nvCxnSpPr>
              <p:spPr>
                <a:xfrm flipH="1">
                  <a:off x="2488552" y="5499011"/>
                  <a:ext cx="533225" cy="0"/>
                </a:xfrm>
                <a:prstGeom prst="line">
                  <a:avLst/>
                </a:prstGeom>
                <a:ln w="28575" cap="rnd">
                  <a:solidFill>
                    <a:schemeClr val="tx1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直线连接符 32">
                  <a:extLst>
                    <a:ext uri="{FF2B5EF4-FFF2-40B4-BE49-F238E27FC236}">
                      <a16:creationId xmlns:a16="http://schemas.microsoft.com/office/drawing/2014/main" id="{12ED928B-1A3F-DB39-C323-AF7672DA972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61036" y="5499437"/>
                  <a:ext cx="0" cy="155353"/>
                </a:xfrm>
                <a:prstGeom prst="line">
                  <a:avLst/>
                </a:prstGeom>
                <a:ln w="2857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直线连接符 33">
                  <a:extLst>
                    <a:ext uri="{FF2B5EF4-FFF2-40B4-BE49-F238E27FC236}">
                      <a16:creationId xmlns:a16="http://schemas.microsoft.com/office/drawing/2014/main" id="{13F1F4C7-9EFD-C8EB-9AEF-445FC301FB7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56825" y="4887460"/>
                  <a:ext cx="0" cy="452793"/>
                </a:xfrm>
                <a:prstGeom prst="line">
                  <a:avLst/>
                </a:prstGeom>
                <a:ln w="2857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直线连接符 34">
                  <a:extLst>
                    <a:ext uri="{FF2B5EF4-FFF2-40B4-BE49-F238E27FC236}">
                      <a16:creationId xmlns:a16="http://schemas.microsoft.com/office/drawing/2014/main" id="{88E992D2-FE62-6F99-9434-6813B5A5F19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58756" y="4887459"/>
                  <a:ext cx="493271" cy="0"/>
                </a:xfrm>
                <a:prstGeom prst="line">
                  <a:avLst/>
                </a:prstGeom>
                <a:ln w="2857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C3AF6C3F-702C-F545-ABD3-348BA6FF9022}"/>
                  </a:ext>
                </a:extLst>
              </p:cNvPr>
              <p:cNvSpPr txBox="1"/>
              <p:nvPr/>
            </p:nvSpPr>
            <p:spPr>
              <a:xfrm>
                <a:off x="2159540" y="4724410"/>
                <a:ext cx="42351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sz="1800" b="0" dirty="0">
                    <a:solidFill>
                      <a:schemeClr val="tx1"/>
                    </a:solidFill>
                    <a:latin typeface="+mn-lt"/>
                  </a:rPr>
                  <a:t>A</a:t>
                </a:r>
                <a:r>
                  <a:rPr kumimoji="1" lang="en-US" altLang="zh-CN" sz="1800" b="0" baseline="-25000" dirty="0">
                    <a:solidFill>
                      <a:schemeClr val="tx1"/>
                    </a:solidFill>
                    <a:latin typeface="+mn-lt"/>
                  </a:rPr>
                  <a:t>4</a:t>
                </a:r>
                <a:endParaRPr kumimoji="1" lang="zh-CN" altLang="en-US" sz="1800" b="0" baseline="-25000" dirty="0">
                  <a:solidFill>
                    <a:schemeClr val="tx1"/>
                  </a:solidFill>
                  <a:latin typeface="+mn-lt"/>
                </a:endParaRPr>
              </a:p>
            </p:txBody>
          </p:sp>
        </p:grpSp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3D978EAE-B5B7-49AE-7B6A-0C88617AA3D5}"/>
                </a:ext>
              </a:extLst>
            </p:cNvPr>
            <p:cNvGrpSpPr/>
            <p:nvPr/>
          </p:nvGrpSpPr>
          <p:grpSpPr>
            <a:xfrm>
              <a:off x="5969487" y="4724410"/>
              <a:ext cx="2179828" cy="1054767"/>
              <a:chOff x="2146716" y="4724410"/>
              <a:chExt cx="2179828" cy="1054767"/>
            </a:xfrm>
          </p:grpSpPr>
          <p:grpSp>
            <p:nvGrpSpPr>
              <p:cNvPr id="15" name="组合 14">
                <a:extLst>
                  <a:ext uri="{FF2B5EF4-FFF2-40B4-BE49-F238E27FC236}">
                    <a16:creationId xmlns:a16="http://schemas.microsoft.com/office/drawing/2014/main" id="{16BE3283-F5F4-AE20-AD9C-194759CEC643}"/>
                  </a:ext>
                </a:extLst>
              </p:cNvPr>
              <p:cNvGrpSpPr/>
              <p:nvPr/>
            </p:nvGrpSpPr>
            <p:grpSpPr>
              <a:xfrm>
                <a:off x="2517169" y="4910057"/>
                <a:ext cx="1809375" cy="869120"/>
                <a:chOff x="758756" y="4887459"/>
                <a:chExt cx="1984361" cy="953173"/>
              </a:xfrm>
            </p:grpSpPr>
            <p:grpSp>
              <p:nvGrpSpPr>
                <p:cNvPr id="17" name="组合 16">
                  <a:extLst>
                    <a:ext uri="{FF2B5EF4-FFF2-40B4-BE49-F238E27FC236}">
                      <a16:creationId xmlns:a16="http://schemas.microsoft.com/office/drawing/2014/main" id="{07D18E11-00F2-9A7B-97AE-FCBF6A1F3572}"/>
                    </a:ext>
                  </a:extLst>
                </p:cNvPr>
                <p:cNvGrpSpPr/>
                <p:nvPr/>
              </p:nvGrpSpPr>
              <p:grpSpPr>
                <a:xfrm>
                  <a:off x="1429635" y="5143722"/>
                  <a:ext cx="1313482" cy="696910"/>
                  <a:chOff x="4338638" y="3305175"/>
                  <a:chExt cx="2154237" cy="1143000"/>
                </a:xfrm>
              </p:grpSpPr>
              <p:sp>
                <p:nvSpPr>
                  <p:cNvPr id="24" name="AutoShape 3">
                    <a:extLst>
                      <a:ext uri="{FF2B5EF4-FFF2-40B4-BE49-F238E27FC236}">
                        <a16:creationId xmlns:a16="http://schemas.microsoft.com/office/drawing/2014/main" id="{68342AFC-A951-5027-172E-9CE1CD56DF52}"/>
                      </a:ext>
                    </a:extLst>
                  </p:cNvPr>
                  <p:cNvSpPr>
                    <a:spLocks noChangeAspect="1" noChangeArrowheads="1" noTextEdit="1"/>
                  </p:cNvSpPr>
                  <p:nvPr/>
                </p:nvSpPr>
                <p:spPr bwMode="auto">
                  <a:xfrm>
                    <a:off x="4338638" y="3305175"/>
                    <a:ext cx="2154237" cy="114300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25" name="Freeform 6">
                    <a:extLst>
                      <a:ext uri="{FF2B5EF4-FFF2-40B4-BE49-F238E27FC236}">
                        <a16:creationId xmlns:a16="http://schemas.microsoft.com/office/drawing/2014/main" id="{625168E2-2901-C3D5-B9BB-41FC172D4A3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767263" y="3381375"/>
                    <a:ext cx="1308100" cy="1014413"/>
                  </a:xfrm>
                  <a:custGeom>
                    <a:avLst/>
                    <a:gdLst>
                      <a:gd name="T0" fmla="*/ 943 w 943"/>
                      <a:gd name="T1" fmla="*/ 362 h 725"/>
                      <a:gd name="T2" fmla="*/ 283 w 943"/>
                      <a:gd name="T3" fmla="*/ 725 h 725"/>
                      <a:gd name="T4" fmla="*/ 0 w 943"/>
                      <a:gd name="T5" fmla="*/ 725 h 725"/>
                      <a:gd name="T6" fmla="*/ 0 w 943"/>
                      <a:gd name="T7" fmla="*/ 0 h 725"/>
                      <a:gd name="T8" fmla="*/ 283 w 943"/>
                      <a:gd name="T9" fmla="*/ 0 h 725"/>
                      <a:gd name="T10" fmla="*/ 943 w 943"/>
                      <a:gd name="T11" fmla="*/ 362 h 72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943" h="725">
                        <a:moveTo>
                          <a:pt x="943" y="362"/>
                        </a:moveTo>
                        <a:cubicBezTo>
                          <a:pt x="830" y="541"/>
                          <a:pt x="585" y="676"/>
                          <a:pt x="283" y="725"/>
                        </a:cubicBezTo>
                        <a:lnTo>
                          <a:pt x="0" y="725"/>
                        </a:lnTo>
                        <a:cubicBezTo>
                          <a:pt x="175" y="495"/>
                          <a:pt x="175" y="230"/>
                          <a:pt x="0" y="0"/>
                        </a:cubicBezTo>
                        <a:lnTo>
                          <a:pt x="283" y="0"/>
                        </a:lnTo>
                        <a:cubicBezTo>
                          <a:pt x="586" y="48"/>
                          <a:pt x="832" y="183"/>
                          <a:pt x="943" y="36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28575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26" name="Freeform 7">
                    <a:extLst>
                      <a:ext uri="{FF2B5EF4-FFF2-40B4-BE49-F238E27FC236}">
                        <a16:creationId xmlns:a16="http://schemas.microsoft.com/office/drawing/2014/main" id="{7DAA499E-329F-5487-7ECD-54A7CAD6BEAC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4635500" y="3381375"/>
                    <a:ext cx="1439862" cy="1014413"/>
                  </a:xfrm>
                  <a:custGeom>
                    <a:avLst/>
                    <a:gdLst>
                      <a:gd name="T0" fmla="*/ 1038 w 1038"/>
                      <a:gd name="T1" fmla="*/ 362 h 725"/>
                      <a:gd name="T2" fmla="*/ 378 w 1038"/>
                      <a:gd name="T3" fmla="*/ 725 h 725"/>
                      <a:gd name="T4" fmla="*/ 95 w 1038"/>
                      <a:gd name="T5" fmla="*/ 725 h 725"/>
                      <a:gd name="T6" fmla="*/ 95 w 1038"/>
                      <a:gd name="T7" fmla="*/ 0 h 725"/>
                      <a:gd name="T8" fmla="*/ 378 w 1038"/>
                      <a:gd name="T9" fmla="*/ 0 h 725"/>
                      <a:gd name="T10" fmla="*/ 1038 w 1038"/>
                      <a:gd name="T11" fmla="*/ 362 h 725"/>
                      <a:gd name="T12" fmla="*/ 0 w 1038"/>
                      <a:gd name="T13" fmla="*/ 725 h 725"/>
                      <a:gd name="T14" fmla="*/ 0 w 1038"/>
                      <a:gd name="T15" fmla="*/ 0 h 72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1038" h="725">
                        <a:moveTo>
                          <a:pt x="1038" y="362"/>
                        </a:moveTo>
                        <a:cubicBezTo>
                          <a:pt x="925" y="541"/>
                          <a:pt x="680" y="676"/>
                          <a:pt x="378" y="725"/>
                        </a:cubicBezTo>
                        <a:lnTo>
                          <a:pt x="95" y="725"/>
                        </a:lnTo>
                        <a:cubicBezTo>
                          <a:pt x="270" y="495"/>
                          <a:pt x="270" y="230"/>
                          <a:pt x="95" y="0"/>
                        </a:cubicBezTo>
                        <a:lnTo>
                          <a:pt x="378" y="0"/>
                        </a:lnTo>
                        <a:cubicBezTo>
                          <a:pt x="681" y="48"/>
                          <a:pt x="927" y="183"/>
                          <a:pt x="1038" y="362"/>
                        </a:cubicBezTo>
                        <a:close/>
                        <a:moveTo>
                          <a:pt x="0" y="725"/>
                        </a:moveTo>
                        <a:cubicBezTo>
                          <a:pt x="175" y="495"/>
                          <a:pt x="175" y="230"/>
                          <a:pt x="0" y="0"/>
                        </a:cubicBezTo>
                      </a:path>
                    </a:pathLst>
                  </a:custGeom>
                  <a:noFill/>
                  <a:ln w="28575" cap="rnd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</p:grpSp>
            <p:cxnSp>
              <p:nvCxnSpPr>
                <p:cNvPr id="18" name="直线连接符 17">
                  <a:extLst>
                    <a:ext uri="{FF2B5EF4-FFF2-40B4-BE49-F238E27FC236}">
                      <a16:creationId xmlns:a16="http://schemas.microsoft.com/office/drawing/2014/main" id="{5ED7A8C8-BF47-30E9-E4F0-8333270D1FA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256371" y="5345052"/>
                  <a:ext cx="434605" cy="0"/>
                </a:xfrm>
                <a:prstGeom prst="line">
                  <a:avLst/>
                </a:prstGeom>
                <a:ln w="2857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直线连接符 18">
                  <a:extLst>
                    <a:ext uri="{FF2B5EF4-FFF2-40B4-BE49-F238E27FC236}">
                      <a16:creationId xmlns:a16="http://schemas.microsoft.com/office/drawing/2014/main" id="{F5D067E4-B20B-FF68-CB03-ED2A51328ED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62456" y="5654790"/>
                  <a:ext cx="928519" cy="0"/>
                </a:xfrm>
                <a:prstGeom prst="line">
                  <a:avLst/>
                </a:prstGeom>
                <a:ln w="2857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直线连接符 19">
                  <a:extLst>
                    <a:ext uri="{FF2B5EF4-FFF2-40B4-BE49-F238E27FC236}">
                      <a16:creationId xmlns:a16="http://schemas.microsoft.com/office/drawing/2014/main" id="{1A33A744-A23A-BC7F-387E-3FDFD9C1BD8A}"/>
                    </a:ext>
                  </a:extLst>
                </p:cNvPr>
                <p:cNvCxnSpPr>
                  <a:cxnSpLocks/>
                  <a:endCxn id="26" idx="0"/>
                </p:cNvCxnSpPr>
                <p:nvPr/>
              </p:nvCxnSpPr>
              <p:spPr>
                <a:xfrm flipH="1">
                  <a:off x="2488552" y="5499010"/>
                  <a:ext cx="150550" cy="1"/>
                </a:xfrm>
                <a:prstGeom prst="line">
                  <a:avLst/>
                </a:prstGeom>
                <a:ln w="2857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直线连接符 20">
                  <a:extLst>
                    <a:ext uri="{FF2B5EF4-FFF2-40B4-BE49-F238E27FC236}">
                      <a16:creationId xmlns:a16="http://schemas.microsoft.com/office/drawing/2014/main" id="{FB921D43-05EA-A79B-900B-D0BF0D463FE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61036" y="5499437"/>
                  <a:ext cx="0" cy="155353"/>
                </a:xfrm>
                <a:prstGeom prst="line">
                  <a:avLst/>
                </a:prstGeom>
                <a:ln w="2857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直线连接符 21">
                  <a:extLst>
                    <a:ext uri="{FF2B5EF4-FFF2-40B4-BE49-F238E27FC236}">
                      <a16:creationId xmlns:a16="http://schemas.microsoft.com/office/drawing/2014/main" id="{39F5824C-7B9D-F78D-278A-C4124F41016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56825" y="4887460"/>
                  <a:ext cx="0" cy="452793"/>
                </a:xfrm>
                <a:prstGeom prst="line">
                  <a:avLst/>
                </a:prstGeom>
                <a:ln w="2857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直线连接符 22">
                  <a:extLst>
                    <a:ext uri="{FF2B5EF4-FFF2-40B4-BE49-F238E27FC236}">
                      <a16:creationId xmlns:a16="http://schemas.microsoft.com/office/drawing/2014/main" id="{4C980F7F-3502-E200-3AB2-8904419A69B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58756" y="4887459"/>
                  <a:ext cx="493271" cy="0"/>
                </a:xfrm>
                <a:prstGeom prst="line">
                  <a:avLst/>
                </a:prstGeom>
                <a:ln w="2857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59209A05-1F4D-1252-1ACF-AACE9048703F}"/>
                  </a:ext>
                </a:extLst>
              </p:cNvPr>
              <p:cNvSpPr txBox="1"/>
              <p:nvPr/>
            </p:nvSpPr>
            <p:spPr>
              <a:xfrm>
                <a:off x="2146716" y="4724410"/>
                <a:ext cx="44916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sz="1800" b="0" dirty="0">
                    <a:solidFill>
                      <a:schemeClr val="tx1"/>
                    </a:solidFill>
                    <a:latin typeface="+mn-lt"/>
                  </a:rPr>
                  <a:t>A</a:t>
                </a:r>
                <a:r>
                  <a:rPr kumimoji="1" lang="en-US" altLang="zh-CN" sz="1800" b="0" baseline="-25000" dirty="0">
                    <a:solidFill>
                      <a:schemeClr val="tx1"/>
                    </a:solidFill>
                    <a:latin typeface="+mn-lt"/>
                  </a:rPr>
                  <a:t>N</a:t>
                </a:r>
                <a:endParaRPr kumimoji="1" lang="zh-CN" altLang="en-US" sz="1800" b="0" baseline="-25000" dirty="0">
                  <a:solidFill>
                    <a:schemeClr val="tx1"/>
                  </a:solidFill>
                  <a:latin typeface="+mn-lt"/>
                </a:endParaRPr>
              </a:p>
            </p:txBody>
          </p:sp>
        </p:grpSp>
      </p:grpSp>
      <p:grpSp>
        <p:nvGrpSpPr>
          <p:cNvPr id="58" name="组合 57">
            <a:extLst>
              <a:ext uri="{FF2B5EF4-FFF2-40B4-BE49-F238E27FC236}">
                <a16:creationId xmlns:a16="http://schemas.microsoft.com/office/drawing/2014/main" id="{958C247A-265D-1216-35B0-41F4656A951F}"/>
              </a:ext>
            </a:extLst>
          </p:cNvPr>
          <p:cNvGrpSpPr/>
          <p:nvPr/>
        </p:nvGrpSpPr>
        <p:grpSpPr>
          <a:xfrm>
            <a:off x="1817838" y="4224193"/>
            <a:ext cx="4037783" cy="2472002"/>
            <a:chOff x="808584" y="4224193"/>
            <a:chExt cx="4037783" cy="2472002"/>
          </a:xfrm>
        </p:grpSpPr>
        <p:grpSp>
          <p:nvGrpSpPr>
            <p:cNvPr id="59" name="组合 58">
              <a:extLst>
                <a:ext uri="{FF2B5EF4-FFF2-40B4-BE49-F238E27FC236}">
                  <a16:creationId xmlns:a16="http://schemas.microsoft.com/office/drawing/2014/main" id="{651CFDB0-3DB9-6D53-571F-F3921E32A658}"/>
                </a:ext>
              </a:extLst>
            </p:cNvPr>
            <p:cNvGrpSpPr/>
            <p:nvPr/>
          </p:nvGrpSpPr>
          <p:grpSpPr>
            <a:xfrm>
              <a:off x="808584" y="4224193"/>
              <a:ext cx="4037783" cy="2111025"/>
              <a:chOff x="808584" y="4293425"/>
              <a:chExt cx="4655352" cy="2433901"/>
            </a:xfrm>
          </p:grpSpPr>
          <p:grpSp>
            <p:nvGrpSpPr>
              <p:cNvPr id="59402" name="组合 59401">
                <a:extLst>
                  <a:ext uri="{FF2B5EF4-FFF2-40B4-BE49-F238E27FC236}">
                    <a16:creationId xmlns:a16="http://schemas.microsoft.com/office/drawing/2014/main" id="{BE5E2958-610E-6F94-8C1D-12BEF36E63B0}"/>
                  </a:ext>
                </a:extLst>
              </p:cNvPr>
              <p:cNvGrpSpPr/>
              <p:nvPr/>
            </p:nvGrpSpPr>
            <p:grpSpPr>
              <a:xfrm>
                <a:off x="821408" y="4293425"/>
                <a:ext cx="1627124" cy="608379"/>
                <a:chOff x="811989" y="4293422"/>
                <a:chExt cx="2008373" cy="750927"/>
              </a:xfrm>
            </p:grpSpPr>
            <p:grpSp>
              <p:nvGrpSpPr>
                <p:cNvPr id="59457" name="组合 59456">
                  <a:extLst>
                    <a:ext uri="{FF2B5EF4-FFF2-40B4-BE49-F238E27FC236}">
                      <a16:creationId xmlns:a16="http://schemas.microsoft.com/office/drawing/2014/main" id="{67EEA188-05E3-3A8B-3499-3EA1008DEC56}"/>
                    </a:ext>
                  </a:extLst>
                </p:cNvPr>
                <p:cNvGrpSpPr/>
                <p:nvPr/>
              </p:nvGrpSpPr>
              <p:grpSpPr>
                <a:xfrm>
                  <a:off x="1256371" y="4337965"/>
                  <a:ext cx="1563991" cy="635455"/>
                  <a:chOff x="1256371" y="5143722"/>
                  <a:chExt cx="1715246" cy="696910"/>
                </a:xfrm>
              </p:grpSpPr>
              <p:grpSp>
                <p:nvGrpSpPr>
                  <p:cNvPr id="59460" name="组合 59459">
                    <a:extLst>
                      <a:ext uri="{FF2B5EF4-FFF2-40B4-BE49-F238E27FC236}">
                        <a16:creationId xmlns:a16="http://schemas.microsoft.com/office/drawing/2014/main" id="{6AF57EF1-3076-7063-3418-0D9028F26F62}"/>
                      </a:ext>
                    </a:extLst>
                  </p:cNvPr>
                  <p:cNvGrpSpPr/>
                  <p:nvPr/>
                </p:nvGrpSpPr>
                <p:grpSpPr>
                  <a:xfrm>
                    <a:off x="1429635" y="5143722"/>
                    <a:ext cx="1313482" cy="696910"/>
                    <a:chOff x="4338638" y="3305175"/>
                    <a:chExt cx="2154237" cy="1143000"/>
                  </a:xfrm>
                </p:grpSpPr>
                <p:sp>
                  <p:nvSpPr>
                    <p:cNvPr id="59464" name="AutoShape 3">
                      <a:extLst>
                        <a:ext uri="{FF2B5EF4-FFF2-40B4-BE49-F238E27FC236}">
                          <a16:creationId xmlns:a16="http://schemas.microsoft.com/office/drawing/2014/main" id="{533F9FB4-4581-62DD-9D38-E3E14E435D1F}"/>
                        </a:ext>
                      </a:extLst>
                    </p:cNvPr>
                    <p:cNvSpPr>
                      <a:spLocks noChangeAspect="1" noChangeArrowheads="1" noTextEdit="1"/>
                    </p:cNvSpPr>
                    <p:nvPr/>
                  </p:nvSpPr>
                  <p:spPr bwMode="auto">
                    <a:xfrm>
                      <a:off x="4338638" y="3305175"/>
                      <a:ext cx="2154237" cy="11430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59465" name="Freeform 6">
                      <a:extLst>
                        <a:ext uri="{FF2B5EF4-FFF2-40B4-BE49-F238E27FC236}">
                          <a16:creationId xmlns:a16="http://schemas.microsoft.com/office/drawing/2014/main" id="{7E92F9DE-6231-53BE-8134-E8A77ED08E1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4767263" y="3381375"/>
                      <a:ext cx="1308100" cy="1014413"/>
                    </a:xfrm>
                    <a:custGeom>
                      <a:avLst/>
                      <a:gdLst>
                        <a:gd name="T0" fmla="*/ 943 w 943"/>
                        <a:gd name="T1" fmla="*/ 362 h 725"/>
                        <a:gd name="T2" fmla="*/ 283 w 943"/>
                        <a:gd name="T3" fmla="*/ 725 h 725"/>
                        <a:gd name="T4" fmla="*/ 0 w 943"/>
                        <a:gd name="T5" fmla="*/ 725 h 725"/>
                        <a:gd name="T6" fmla="*/ 0 w 943"/>
                        <a:gd name="T7" fmla="*/ 0 h 725"/>
                        <a:gd name="T8" fmla="*/ 283 w 943"/>
                        <a:gd name="T9" fmla="*/ 0 h 725"/>
                        <a:gd name="T10" fmla="*/ 943 w 943"/>
                        <a:gd name="T11" fmla="*/ 362 h 72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943" h="725">
                          <a:moveTo>
                            <a:pt x="943" y="362"/>
                          </a:moveTo>
                          <a:cubicBezTo>
                            <a:pt x="830" y="541"/>
                            <a:pt x="585" y="676"/>
                            <a:pt x="283" y="725"/>
                          </a:cubicBezTo>
                          <a:lnTo>
                            <a:pt x="0" y="725"/>
                          </a:lnTo>
                          <a:cubicBezTo>
                            <a:pt x="175" y="495"/>
                            <a:pt x="175" y="230"/>
                            <a:pt x="0" y="0"/>
                          </a:cubicBezTo>
                          <a:lnTo>
                            <a:pt x="283" y="0"/>
                          </a:lnTo>
                          <a:cubicBezTo>
                            <a:pt x="586" y="48"/>
                            <a:pt x="832" y="183"/>
                            <a:pt x="943" y="362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28575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59466" name="Freeform 7">
                      <a:extLst>
                        <a:ext uri="{FF2B5EF4-FFF2-40B4-BE49-F238E27FC236}">
                          <a16:creationId xmlns:a16="http://schemas.microsoft.com/office/drawing/2014/main" id="{124EB715-C7F2-9A2C-BF1F-175C277483DE}"/>
                        </a:ext>
                      </a:extLst>
                    </p:cNvPr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4635500" y="3381375"/>
                      <a:ext cx="1439862" cy="1014413"/>
                    </a:xfrm>
                    <a:custGeom>
                      <a:avLst/>
                      <a:gdLst>
                        <a:gd name="T0" fmla="*/ 1038 w 1038"/>
                        <a:gd name="T1" fmla="*/ 362 h 725"/>
                        <a:gd name="T2" fmla="*/ 378 w 1038"/>
                        <a:gd name="T3" fmla="*/ 725 h 725"/>
                        <a:gd name="T4" fmla="*/ 95 w 1038"/>
                        <a:gd name="T5" fmla="*/ 725 h 725"/>
                        <a:gd name="T6" fmla="*/ 95 w 1038"/>
                        <a:gd name="T7" fmla="*/ 0 h 725"/>
                        <a:gd name="T8" fmla="*/ 378 w 1038"/>
                        <a:gd name="T9" fmla="*/ 0 h 725"/>
                        <a:gd name="T10" fmla="*/ 1038 w 1038"/>
                        <a:gd name="T11" fmla="*/ 362 h 725"/>
                        <a:gd name="T12" fmla="*/ 0 w 1038"/>
                        <a:gd name="T13" fmla="*/ 725 h 725"/>
                        <a:gd name="T14" fmla="*/ 0 w 1038"/>
                        <a:gd name="T15" fmla="*/ 0 h 72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</a:cxnLst>
                      <a:rect l="0" t="0" r="r" b="b"/>
                      <a:pathLst>
                        <a:path w="1038" h="725">
                          <a:moveTo>
                            <a:pt x="1038" y="362"/>
                          </a:moveTo>
                          <a:cubicBezTo>
                            <a:pt x="925" y="541"/>
                            <a:pt x="680" y="676"/>
                            <a:pt x="378" y="725"/>
                          </a:cubicBezTo>
                          <a:lnTo>
                            <a:pt x="95" y="725"/>
                          </a:lnTo>
                          <a:cubicBezTo>
                            <a:pt x="270" y="495"/>
                            <a:pt x="270" y="230"/>
                            <a:pt x="95" y="0"/>
                          </a:cubicBezTo>
                          <a:lnTo>
                            <a:pt x="378" y="0"/>
                          </a:lnTo>
                          <a:cubicBezTo>
                            <a:pt x="681" y="48"/>
                            <a:pt x="927" y="183"/>
                            <a:pt x="1038" y="362"/>
                          </a:cubicBezTo>
                          <a:close/>
                          <a:moveTo>
                            <a:pt x="0" y="725"/>
                          </a:moveTo>
                          <a:cubicBezTo>
                            <a:pt x="175" y="495"/>
                            <a:pt x="175" y="230"/>
                            <a:pt x="0" y="0"/>
                          </a:cubicBezTo>
                        </a:path>
                      </a:pathLst>
                    </a:custGeom>
                    <a:noFill/>
                    <a:ln w="28575" cap="rnd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/>
                    </a:p>
                  </p:txBody>
                </p:sp>
              </p:grpSp>
              <p:cxnSp>
                <p:nvCxnSpPr>
                  <p:cNvPr id="59461" name="直线连接符 59431">
                    <a:extLst>
                      <a:ext uri="{FF2B5EF4-FFF2-40B4-BE49-F238E27FC236}">
                        <a16:creationId xmlns:a16="http://schemas.microsoft.com/office/drawing/2014/main" id="{832B3629-16E3-EDBF-3D57-8B5228C9103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256371" y="5345052"/>
                    <a:ext cx="434605" cy="0"/>
                  </a:xfrm>
                  <a:prstGeom prst="line">
                    <a:avLst/>
                  </a:prstGeom>
                  <a:ln w="28575" cap="rnd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9462" name="直线连接符 59432">
                    <a:extLst>
                      <a:ext uri="{FF2B5EF4-FFF2-40B4-BE49-F238E27FC236}">
                        <a16:creationId xmlns:a16="http://schemas.microsoft.com/office/drawing/2014/main" id="{40EC5F10-8065-A036-4CF9-2C7CA8B0903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256371" y="5654790"/>
                    <a:ext cx="434605" cy="0"/>
                  </a:xfrm>
                  <a:prstGeom prst="line">
                    <a:avLst/>
                  </a:prstGeom>
                  <a:ln w="28575" cap="rnd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9463" name="直线连接符 59433">
                    <a:extLst>
                      <a:ext uri="{FF2B5EF4-FFF2-40B4-BE49-F238E27FC236}">
                        <a16:creationId xmlns:a16="http://schemas.microsoft.com/office/drawing/2014/main" id="{4871A57F-9A42-34BD-CD00-9D226D6ADA34}"/>
                      </a:ext>
                    </a:extLst>
                  </p:cNvPr>
                  <p:cNvCxnSpPr>
                    <a:cxnSpLocks/>
                    <a:endCxn id="59466" idx="0"/>
                  </p:cNvCxnSpPr>
                  <p:nvPr/>
                </p:nvCxnSpPr>
                <p:spPr>
                  <a:xfrm flipH="1" flipV="1">
                    <a:off x="2488551" y="5499010"/>
                    <a:ext cx="483066" cy="1"/>
                  </a:xfrm>
                  <a:prstGeom prst="line">
                    <a:avLst/>
                  </a:prstGeom>
                  <a:ln w="28575" cap="rnd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59458" name="文本框 59457">
                  <a:extLst>
                    <a:ext uri="{FF2B5EF4-FFF2-40B4-BE49-F238E27FC236}">
                      <a16:creationId xmlns:a16="http://schemas.microsoft.com/office/drawing/2014/main" id="{76165596-09E8-04A9-BA7D-A702BD9148E6}"/>
                    </a:ext>
                  </a:extLst>
                </p:cNvPr>
                <p:cNvSpPr txBox="1"/>
                <p:nvPr/>
              </p:nvSpPr>
              <p:spPr>
                <a:xfrm>
                  <a:off x="811989" y="4293422"/>
                  <a:ext cx="522747" cy="45586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zh-CN" sz="1800" b="0" dirty="0">
                      <a:solidFill>
                        <a:schemeClr val="tx1"/>
                      </a:solidFill>
                      <a:latin typeface="+mn-lt"/>
                    </a:rPr>
                    <a:t>A</a:t>
                  </a:r>
                  <a:r>
                    <a:rPr kumimoji="1" lang="en-US" altLang="zh-CN" sz="1800" b="0" baseline="-25000" dirty="0">
                      <a:solidFill>
                        <a:schemeClr val="tx1"/>
                      </a:solidFill>
                      <a:latin typeface="+mn-lt"/>
                    </a:rPr>
                    <a:t>1</a:t>
                  </a:r>
                  <a:endParaRPr kumimoji="1" lang="zh-CN" altLang="en-US" sz="1800" b="0" baseline="-25000" dirty="0">
                    <a:solidFill>
                      <a:schemeClr val="tx1"/>
                    </a:solidFill>
                    <a:latin typeface="+mn-lt"/>
                  </a:endParaRPr>
                </a:p>
              </p:txBody>
            </p:sp>
            <p:sp>
              <p:nvSpPr>
                <p:cNvPr id="59459" name="文本框 59458">
                  <a:extLst>
                    <a:ext uri="{FF2B5EF4-FFF2-40B4-BE49-F238E27FC236}">
                      <a16:creationId xmlns:a16="http://schemas.microsoft.com/office/drawing/2014/main" id="{6E8753E4-0276-4878-DF2D-4D0F9E17A952}"/>
                    </a:ext>
                  </a:extLst>
                </p:cNvPr>
                <p:cNvSpPr txBox="1"/>
                <p:nvPr/>
              </p:nvSpPr>
              <p:spPr>
                <a:xfrm>
                  <a:off x="811989" y="4588480"/>
                  <a:ext cx="522747" cy="45586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zh-CN" sz="1800" b="0" dirty="0">
                      <a:solidFill>
                        <a:schemeClr val="tx1"/>
                      </a:solidFill>
                      <a:latin typeface="+mn-lt"/>
                    </a:rPr>
                    <a:t>A</a:t>
                  </a:r>
                  <a:r>
                    <a:rPr kumimoji="1" lang="en-US" altLang="zh-CN" sz="1800" b="0" baseline="-25000" dirty="0">
                      <a:solidFill>
                        <a:schemeClr val="tx1"/>
                      </a:solidFill>
                      <a:latin typeface="+mn-lt"/>
                    </a:rPr>
                    <a:t>2</a:t>
                  </a:r>
                  <a:endParaRPr kumimoji="1" lang="zh-CN" altLang="en-US" sz="1800" b="0" baseline="-25000" dirty="0">
                    <a:solidFill>
                      <a:schemeClr val="tx1"/>
                    </a:solidFill>
                    <a:latin typeface="+mn-lt"/>
                  </a:endParaRPr>
                </a:p>
              </p:txBody>
            </p:sp>
          </p:grpSp>
          <p:grpSp>
            <p:nvGrpSpPr>
              <p:cNvPr id="59403" name="组合 59402">
                <a:extLst>
                  <a:ext uri="{FF2B5EF4-FFF2-40B4-BE49-F238E27FC236}">
                    <a16:creationId xmlns:a16="http://schemas.microsoft.com/office/drawing/2014/main" id="{5A4962E8-5A26-5037-05C0-F1AECB57967E}"/>
                  </a:ext>
                </a:extLst>
              </p:cNvPr>
              <p:cNvGrpSpPr/>
              <p:nvPr/>
            </p:nvGrpSpPr>
            <p:grpSpPr>
              <a:xfrm>
                <a:off x="821408" y="4972357"/>
                <a:ext cx="1627124" cy="608379"/>
                <a:chOff x="811989" y="4293422"/>
                <a:chExt cx="2008373" cy="750927"/>
              </a:xfrm>
            </p:grpSpPr>
            <p:grpSp>
              <p:nvGrpSpPr>
                <p:cNvPr id="59447" name="组合 59446">
                  <a:extLst>
                    <a:ext uri="{FF2B5EF4-FFF2-40B4-BE49-F238E27FC236}">
                      <a16:creationId xmlns:a16="http://schemas.microsoft.com/office/drawing/2014/main" id="{769577E6-10F6-9140-7236-3DAE3E2D1AD4}"/>
                    </a:ext>
                  </a:extLst>
                </p:cNvPr>
                <p:cNvGrpSpPr/>
                <p:nvPr/>
              </p:nvGrpSpPr>
              <p:grpSpPr>
                <a:xfrm>
                  <a:off x="1256371" y="4337965"/>
                  <a:ext cx="1563991" cy="635455"/>
                  <a:chOff x="1256371" y="5143722"/>
                  <a:chExt cx="1715246" cy="696910"/>
                </a:xfrm>
              </p:grpSpPr>
              <p:grpSp>
                <p:nvGrpSpPr>
                  <p:cNvPr id="59450" name="组合 59449">
                    <a:extLst>
                      <a:ext uri="{FF2B5EF4-FFF2-40B4-BE49-F238E27FC236}">
                        <a16:creationId xmlns:a16="http://schemas.microsoft.com/office/drawing/2014/main" id="{541FF7CA-729D-346D-BC85-27FAD30B5EBD}"/>
                      </a:ext>
                    </a:extLst>
                  </p:cNvPr>
                  <p:cNvGrpSpPr/>
                  <p:nvPr/>
                </p:nvGrpSpPr>
                <p:grpSpPr>
                  <a:xfrm>
                    <a:off x="1429635" y="5143722"/>
                    <a:ext cx="1313482" cy="696910"/>
                    <a:chOff x="4338638" y="3305175"/>
                    <a:chExt cx="2154237" cy="1143000"/>
                  </a:xfrm>
                </p:grpSpPr>
                <p:sp>
                  <p:nvSpPr>
                    <p:cNvPr id="59454" name="AutoShape 3">
                      <a:extLst>
                        <a:ext uri="{FF2B5EF4-FFF2-40B4-BE49-F238E27FC236}">
                          <a16:creationId xmlns:a16="http://schemas.microsoft.com/office/drawing/2014/main" id="{BBB21C91-32A6-1F12-5664-DF1B9BF9F873}"/>
                        </a:ext>
                      </a:extLst>
                    </p:cNvPr>
                    <p:cNvSpPr>
                      <a:spLocks noChangeAspect="1" noChangeArrowheads="1" noTextEdit="1"/>
                    </p:cNvSpPr>
                    <p:nvPr/>
                  </p:nvSpPr>
                  <p:spPr bwMode="auto">
                    <a:xfrm>
                      <a:off x="4338638" y="3305175"/>
                      <a:ext cx="2154237" cy="11430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59455" name="Freeform 6">
                      <a:extLst>
                        <a:ext uri="{FF2B5EF4-FFF2-40B4-BE49-F238E27FC236}">
                          <a16:creationId xmlns:a16="http://schemas.microsoft.com/office/drawing/2014/main" id="{17A08069-1B31-90DF-CD73-7D4EB58658E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4767263" y="3381375"/>
                      <a:ext cx="1308100" cy="1014413"/>
                    </a:xfrm>
                    <a:custGeom>
                      <a:avLst/>
                      <a:gdLst>
                        <a:gd name="T0" fmla="*/ 943 w 943"/>
                        <a:gd name="T1" fmla="*/ 362 h 725"/>
                        <a:gd name="T2" fmla="*/ 283 w 943"/>
                        <a:gd name="T3" fmla="*/ 725 h 725"/>
                        <a:gd name="T4" fmla="*/ 0 w 943"/>
                        <a:gd name="T5" fmla="*/ 725 h 725"/>
                        <a:gd name="T6" fmla="*/ 0 w 943"/>
                        <a:gd name="T7" fmla="*/ 0 h 725"/>
                        <a:gd name="T8" fmla="*/ 283 w 943"/>
                        <a:gd name="T9" fmla="*/ 0 h 725"/>
                        <a:gd name="T10" fmla="*/ 943 w 943"/>
                        <a:gd name="T11" fmla="*/ 362 h 72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943" h="725">
                          <a:moveTo>
                            <a:pt x="943" y="362"/>
                          </a:moveTo>
                          <a:cubicBezTo>
                            <a:pt x="830" y="541"/>
                            <a:pt x="585" y="676"/>
                            <a:pt x="283" y="725"/>
                          </a:cubicBezTo>
                          <a:lnTo>
                            <a:pt x="0" y="725"/>
                          </a:lnTo>
                          <a:cubicBezTo>
                            <a:pt x="175" y="495"/>
                            <a:pt x="175" y="230"/>
                            <a:pt x="0" y="0"/>
                          </a:cubicBezTo>
                          <a:lnTo>
                            <a:pt x="283" y="0"/>
                          </a:lnTo>
                          <a:cubicBezTo>
                            <a:pt x="586" y="48"/>
                            <a:pt x="832" y="183"/>
                            <a:pt x="943" y="362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28575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59456" name="Freeform 7">
                      <a:extLst>
                        <a:ext uri="{FF2B5EF4-FFF2-40B4-BE49-F238E27FC236}">
                          <a16:creationId xmlns:a16="http://schemas.microsoft.com/office/drawing/2014/main" id="{6004F39F-A4B5-825F-1EBD-4D7A1A1B69AA}"/>
                        </a:ext>
                      </a:extLst>
                    </p:cNvPr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4635500" y="3381375"/>
                      <a:ext cx="1439862" cy="1014413"/>
                    </a:xfrm>
                    <a:custGeom>
                      <a:avLst/>
                      <a:gdLst>
                        <a:gd name="T0" fmla="*/ 1038 w 1038"/>
                        <a:gd name="T1" fmla="*/ 362 h 725"/>
                        <a:gd name="T2" fmla="*/ 378 w 1038"/>
                        <a:gd name="T3" fmla="*/ 725 h 725"/>
                        <a:gd name="T4" fmla="*/ 95 w 1038"/>
                        <a:gd name="T5" fmla="*/ 725 h 725"/>
                        <a:gd name="T6" fmla="*/ 95 w 1038"/>
                        <a:gd name="T7" fmla="*/ 0 h 725"/>
                        <a:gd name="T8" fmla="*/ 378 w 1038"/>
                        <a:gd name="T9" fmla="*/ 0 h 725"/>
                        <a:gd name="T10" fmla="*/ 1038 w 1038"/>
                        <a:gd name="T11" fmla="*/ 362 h 725"/>
                        <a:gd name="T12" fmla="*/ 0 w 1038"/>
                        <a:gd name="T13" fmla="*/ 725 h 725"/>
                        <a:gd name="T14" fmla="*/ 0 w 1038"/>
                        <a:gd name="T15" fmla="*/ 0 h 72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</a:cxnLst>
                      <a:rect l="0" t="0" r="r" b="b"/>
                      <a:pathLst>
                        <a:path w="1038" h="725">
                          <a:moveTo>
                            <a:pt x="1038" y="362"/>
                          </a:moveTo>
                          <a:cubicBezTo>
                            <a:pt x="925" y="541"/>
                            <a:pt x="680" y="676"/>
                            <a:pt x="378" y="725"/>
                          </a:cubicBezTo>
                          <a:lnTo>
                            <a:pt x="95" y="725"/>
                          </a:lnTo>
                          <a:cubicBezTo>
                            <a:pt x="270" y="495"/>
                            <a:pt x="270" y="230"/>
                            <a:pt x="95" y="0"/>
                          </a:cubicBezTo>
                          <a:lnTo>
                            <a:pt x="378" y="0"/>
                          </a:lnTo>
                          <a:cubicBezTo>
                            <a:pt x="681" y="48"/>
                            <a:pt x="927" y="183"/>
                            <a:pt x="1038" y="362"/>
                          </a:cubicBezTo>
                          <a:close/>
                          <a:moveTo>
                            <a:pt x="0" y="725"/>
                          </a:moveTo>
                          <a:cubicBezTo>
                            <a:pt x="175" y="495"/>
                            <a:pt x="175" y="230"/>
                            <a:pt x="0" y="0"/>
                          </a:cubicBezTo>
                        </a:path>
                      </a:pathLst>
                    </a:custGeom>
                    <a:noFill/>
                    <a:ln w="28575" cap="rnd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/>
                    </a:p>
                  </p:txBody>
                </p:sp>
              </p:grpSp>
              <p:cxnSp>
                <p:nvCxnSpPr>
                  <p:cNvPr id="59451" name="直线连接符 59443">
                    <a:extLst>
                      <a:ext uri="{FF2B5EF4-FFF2-40B4-BE49-F238E27FC236}">
                        <a16:creationId xmlns:a16="http://schemas.microsoft.com/office/drawing/2014/main" id="{0491CD37-DA73-0EB2-706C-5B4A1091582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256371" y="5345052"/>
                    <a:ext cx="434605" cy="0"/>
                  </a:xfrm>
                  <a:prstGeom prst="line">
                    <a:avLst/>
                  </a:prstGeom>
                  <a:ln w="28575" cap="rnd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9452" name="直线连接符 59444">
                    <a:extLst>
                      <a:ext uri="{FF2B5EF4-FFF2-40B4-BE49-F238E27FC236}">
                        <a16:creationId xmlns:a16="http://schemas.microsoft.com/office/drawing/2014/main" id="{3F50749E-BC0C-AAB9-F121-47CEF1F24C3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256371" y="5654790"/>
                    <a:ext cx="434605" cy="0"/>
                  </a:xfrm>
                  <a:prstGeom prst="line">
                    <a:avLst/>
                  </a:prstGeom>
                  <a:ln w="28575" cap="rnd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9453" name="直线连接符 59445">
                    <a:extLst>
                      <a:ext uri="{FF2B5EF4-FFF2-40B4-BE49-F238E27FC236}">
                        <a16:creationId xmlns:a16="http://schemas.microsoft.com/office/drawing/2014/main" id="{20D5D8E7-7637-7EA1-8050-123C6B68C586}"/>
                      </a:ext>
                    </a:extLst>
                  </p:cNvPr>
                  <p:cNvCxnSpPr>
                    <a:cxnSpLocks/>
                    <a:endCxn id="59456" idx="0"/>
                  </p:cNvCxnSpPr>
                  <p:nvPr/>
                </p:nvCxnSpPr>
                <p:spPr>
                  <a:xfrm flipH="1" flipV="1">
                    <a:off x="2488551" y="5499010"/>
                    <a:ext cx="483066" cy="1"/>
                  </a:xfrm>
                  <a:prstGeom prst="line">
                    <a:avLst/>
                  </a:prstGeom>
                  <a:ln w="28575" cap="rnd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59448" name="文本框 59447">
                  <a:extLst>
                    <a:ext uri="{FF2B5EF4-FFF2-40B4-BE49-F238E27FC236}">
                      <a16:creationId xmlns:a16="http://schemas.microsoft.com/office/drawing/2014/main" id="{2C1F9E18-E523-C347-5934-2BDA91F6302A}"/>
                    </a:ext>
                  </a:extLst>
                </p:cNvPr>
                <p:cNvSpPr txBox="1"/>
                <p:nvPr/>
              </p:nvSpPr>
              <p:spPr>
                <a:xfrm>
                  <a:off x="811989" y="4293422"/>
                  <a:ext cx="522747" cy="45587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zh-CN" sz="1800" b="0" dirty="0">
                      <a:solidFill>
                        <a:schemeClr val="tx1"/>
                      </a:solidFill>
                      <a:latin typeface="+mn-lt"/>
                    </a:rPr>
                    <a:t>A</a:t>
                  </a:r>
                  <a:r>
                    <a:rPr kumimoji="1" lang="en-US" altLang="zh-CN" sz="1800" b="0" baseline="-25000" dirty="0">
                      <a:solidFill>
                        <a:schemeClr val="tx1"/>
                      </a:solidFill>
                      <a:latin typeface="+mn-lt"/>
                    </a:rPr>
                    <a:t>3</a:t>
                  </a:r>
                  <a:endParaRPr kumimoji="1" lang="zh-CN" altLang="en-US" sz="1800" b="0" baseline="-25000" dirty="0">
                    <a:solidFill>
                      <a:schemeClr val="tx1"/>
                    </a:solidFill>
                    <a:latin typeface="+mn-lt"/>
                  </a:endParaRPr>
                </a:p>
              </p:txBody>
            </p:sp>
            <p:sp>
              <p:nvSpPr>
                <p:cNvPr id="59449" name="文本框 59448">
                  <a:extLst>
                    <a:ext uri="{FF2B5EF4-FFF2-40B4-BE49-F238E27FC236}">
                      <a16:creationId xmlns:a16="http://schemas.microsoft.com/office/drawing/2014/main" id="{96667089-7360-28C5-B592-9816DF3DA71B}"/>
                    </a:ext>
                  </a:extLst>
                </p:cNvPr>
                <p:cNvSpPr txBox="1"/>
                <p:nvPr/>
              </p:nvSpPr>
              <p:spPr>
                <a:xfrm>
                  <a:off x="811989" y="4588480"/>
                  <a:ext cx="522747" cy="45586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zh-CN" sz="1800" b="0" dirty="0">
                      <a:solidFill>
                        <a:schemeClr val="tx1"/>
                      </a:solidFill>
                      <a:latin typeface="+mn-lt"/>
                    </a:rPr>
                    <a:t>A</a:t>
                  </a:r>
                  <a:r>
                    <a:rPr kumimoji="1" lang="en-US" altLang="zh-CN" sz="1800" b="0" baseline="-25000" dirty="0">
                      <a:solidFill>
                        <a:schemeClr val="tx1"/>
                      </a:solidFill>
                      <a:latin typeface="+mn-lt"/>
                    </a:rPr>
                    <a:t>4</a:t>
                  </a:r>
                  <a:endParaRPr kumimoji="1" lang="zh-CN" altLang="en-US" sz="1800" b="0" baseline="-25000" dirty="0">
                    <a:solidFill>
                      <a:schemeClr val="tx1"/>
                    </a:solidFill>
                    <a:latin typeface="+mn-lt"/>
                  </a:endParaRPr>
                </a:p>
              </p:txBody>
            </p:sp>
          </p:grpSp>
          <p:grpSp>
            <p:nvGrpSpPr>
              <p:cNvPr id="59404" name="组合 59403">
                <a:extLst>
                  <a:ext uri="{FF2B5EF4-FFF2-40B4-BE49-F238E27FC236}">
                    <a16:creationId xmlns:a16="http://schemas.microsoft.com/office/drawing/2014/main" id="{28AD9F04-CDDD-33C3-9FF7-348ECAD80C3E}"/>
                  </a:ext>
                </a:extLst>
              </p:cNvPr>
              <p:cNvGrpSpPr/>
              <p:nvPr/>
            </p:nvGrpSpPr>
            <p:grpSpPr>
              <a:xfrm>
                <a:off x="2449740" y="4594649"/>
                <a:ext cx="1815276" cy="667601"/>
                <a:chOff x="1122827" y="5047939"/>
                <a:chExt cx="2457301" cy="903716"/>
              </a:xfrm>
            </p:grpSpPr>
            <p:grpSp>
              <p:nvGrpSpPr>
                <p:cNvPr id="59437" name="组合 59436">
                  <a:extLst>
                    <a:ext uri="{FF2B5EF4-FFF2-40B4-BE49-F238E27FC236}">
                      <a16:creationId xmlns:a16="http://schemas.microsoft.com/office/drawing/2014/main" id="{2D25281F-84F2-F409-1813-AB7D77C8FF49}"/>
                    </a:ext>
                  </a:extLst>
                </p:cNvPr>
                <p:cNvGrpSpPr/>
                <p:nvPr/>
              </p:nvGrpSpPr>
              <p:grpSpPr>
                <a:xfrm>
                  <a:off x="1429635" y="5143722"/>
                  <a:ext cx="1313482" cy="696910"/>
                  <a:chOff x="4338638" y="3305175"/>
                  <a:chExt cx="2154237" cy="1143000"/>
                </a:xfrm>
              </p:grpSpPr>
              <p:sp>
                <p:nvSpPr>
                  <p:cNvPr id="59444" name="AutoShape 3">
                    <a:extLst>
                      <a:ext uri="{FF2B5EF4-FFF2-40B4-BE49-F238E27FC236}">
                        <a16:creationId xmlns:a16="http://schemas.microsoft.com/office/drawing/2014/main" id="{2E16A017-4F71-87A3-1676-A90F53590055}"/>
                      </a:ext>
                    </a:extLst>
                  </p:cNvPr>
                  <p:cNvSpPr>
                    <a:spLocks noChangeAspect="1" noChangeArrowheads="1" noTextEdit="1"/>
                  </p:cNvSpPr>
                  <p:nvPr/>
                </p:nvSpPr>
                <p:spPr bwMode="auto">
                  <a:xfrm>
                    <a:off x="4338638" y="3305175"/>
                    <a:ext cx="2154237" cy="114300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59445" name="Freeform 6">
                    <a:extLst>
                      <a:ext uri="{FF2B5EF4-FFF2-40B4-BE49-F238E27FC236}">
                        <a16:creationId xmlns:a16="http://schemas.microsoft.com/office/drawing/2014/main" id="{999CB2C0-6282-34A4-1745-5E1074CE545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767263" y="3381375"/>
                    <a:ext cx="1308100" cy="1014413"/>
                  </a:xfrm>
                  <a:custGeom>
                    <a:avLst/>
                    <a:gdLst>
                      <a:gd name="T0" fmla="*/ 943 w 943"/>
                      <a:gd name="T1" fmla="*/ 362 h 725"/>
                      <a:gd name="T2" fmla="*/ 283 w 943"/>
                      <a:gd name="T3" fmla="*/ 725 h 725"/>
                      <a:gd name="T4" fmla="*/ 0 w 943"/>
                      <a:gd name="T5" fmla="*/ 725 h 725"/>
                      <a:gd name="T6" fmla="*/ 0 w 943"/>
                      <a:gd name="T7" fmla="*/ 0 h 725"/>
                      <a:gd name="T8" fmla="*/ 283 w 943"/>
                      <a:gd name="T9" fmla="*/ 0 h 725"/>
                      <a:gd name="T10" fmla="*/ 943 w 943"/>
                      <a:gd name="T11" fmla="*/ 362 h 72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943" h="725">
                        <a:moveTo>
                          <a:pt x="943" y="362"/>
                        </a:moveTo>
                        <a:cubicBezTo>
                          <a:pt x="830" y="541"/>
                          <a:pt x="585" y="676"/>
                          <a:pt x="283" y="725"/>
                        </a:cubicBezTo>
                        <a:lnTo>
                          <a:pt x="0" y="725"/>
                        </a:lnTo>
                        <a:cubicBezTo>
                          <a:pt x="175" y="495"/>
                          <a:pt x="175" y="230"/>
                          <a:pt x="0" y="0"/>
                        </a:cubicBezTo>
                        <a:lnTo>
                          <a:pt x="283" y="0"/>
                        </a:lnTo>
                        <a:cubicBezTo>
                          <a:pt x="586" y="48"/>
                          <a:pt x="832" y="183"/>
                          <a:pt x="943" y="36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28575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59446" name="Freeform 7">
                    <a:extLst>
                      <a:ext uri="{FF2B5EF4-FFF2-40B4-BE49-F238E27FC236}">
                        <a16:creationId xmlns:a16="http://schemas.microsoft.com/office/drawing/2014/main" id="{69F308B8-F895-1DA1-D541-837BF4B4A3EF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4635500" y="3381375"/>
                    <a:ext cx="1439862" cy="1014413"/>
                  </a:xfrm>
                  <a:custGeom>
                    <a:avLst/>
                    <a:gdLst>
                      <a:gd name="T0" fmla="*/ 1038 w 1038"/>
                      <a:gd name="T1" fmla="*/ 362 h 725"/>
                      <a:gd name="T2" fmla="*/ 378 w 1038"/>
                      <a:gd name="T3" fmla="*/ 725 h 725"/>
                      <a:gd name="T4" fmla="*/ 95 w 1038"/>
                      <a:gd name="T5" fmla="*/ 725 h 725"/>
                      <a:gd name="T6" fmla="*/ 95 w 1038"/>
                      <a:gd name="T7" fmla="*/ 0 h 725"/>
                      <a:gd name="T8" fmla="*/ 378 w 1038"/>
                      <a:gd name="T9" fmla="*/ 0 h 725"/>
                      <a:gd name="T10" fmla="*/ 1038 w 1038"/>
                      <a:gd name="T11" fmla="*/ 362 h 725"/>
                      <a:gd name="T12" fmla="*/ 0 w 1038"/>
                      <a:gd name="T13" fmla="*/ 725 h 725"/>
                      <a:gd name="T14" fmla="*/ 0 w 1038"/>
                      <a:gd name="T15" fmla="*/ 0 h 72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1038" h="725">
                        <a:moveTo>
                          <a:pt x="1038" y="362"/>
                        </a:moveTo>
                        <a:cubicBezTo>
                          <a:pt x="925" y="541"/>
                          <a:pt x="680" y="676"/>
                          <a:pt x="378" y="725"/>
                        </a:cubicBezTo>
                        <a:lnTo>
                          <a:pt x="95" y="725"/>
                        </a:lnTo>
                        <a:cubicBezTo>
                          <a:pt x="270" y="495"/>
                          <a:pt x="270" y="230"/>
                          <a:pt x="95" y="0"/>
                        </a:cubicBezTo>
                        <a:lnTo>
                          <a:pt x="378" y="0"/>
                        </a:lnTo>
                        <a:cubicBezTo>
                          <a:pt x="681" y="48"/>
                          <a:pt x="927" y="183"/>
                          <a:pt x="1038" y="362"/>
                        </a:cubicBezTo>
                        <a:close/>
                        <a:moveTo>
                          <a:pt x="0" y="725"/>
                        </a:moveTo>
                        <a:cubicBezTo>
                          <a:pt x="175" y="495"/>
                          <a:pt x="175" y="230"/>
                          <a:pt x="0" y="0"/>
                        </a:cubicBezTo>
                      </a:path>
                    </a:pathLst>
                  </a:custGeom>
                  <a:noFill/>
                  <a:ln w="28575" cap="rnd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</p:grpSp>
            <p:cxnSp>
              <p:nvCxnSpPr>
                <p:cNvPr id="59438" name="直线连接符 59465">
                  <a:extLst>
                    <a:ext uri="{FF2B5EF4-FFF2-40B4-BE49-F238E27FC236}">
                      <a16:creationId xmlns:a16="http://schemas.microsoft.com/office/drawing/2014/main" id="{1A5D46CE-1FB8-120F-9F4C-46F072DEF5C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125491" y="5345052"/>
                  <a:ext cx="565486" cy="0"/>
                </a:xfrm>
                <a:prstGeom prst="line">
                  <a:avLst/>
                </a:prstGeom>
                <a:ln w="2857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439" name="直线连接符 59466">
                  <a:extLst>
                    <a:ext uri="{FF2B5EF4-FFF2-40B4-BE49-F238E27FC236}">
                      <a16:creationId xmlns:a16="http://schemas.microsoft.com/office/drawing/2014/main" id="{22520278-5062-91CF-A8A5-D68309D6F6A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125490" y="5654790"/>
                  <a:ext cx="565487" cy="0"/>
                </a:xfrm>
                <a:prstGeom prst="line">
                  <a:avLst/>
                </a:prstGeom>
                <a:ln w="2857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440" name="直线连接符 59467">
                  <a:extLst>
                    <a:ext uri="{FF2B5EF4-FFF2-40B4-BE49-F238E27FC236}">
                      <a16:creationId xmlns:a16="http://schemas.microsoft.com/office/drawing/2014/main" id="{8C8840E2-9690-9343-FD4A-5D25D9CAB367}"/>
                    </a:ext>
                  </a:extLst>
                </p:cNvPr>
                <p:cNvCxnSpPr>
                  <a:cxnSpLocks/>
                  <a:endCxn id="59446" idx="0"/>
                </p:cNvCxnSpPr>
                <p:nvPr/>
              </p:nvCxnSpPr>
              <p:spPr>
                <a:xfrm flipH="1">
                  <a:off x="2488552" y="5499010"/>
                  <a:ext cx="150550" cy="1"/>
                </a:xfrm>
                <a:prstGeom prst="line">
                  <a:avLst/>
                </a:prstGeom>
                <a:ln w="2857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441" name="直线连接符 59520">
                  <a:extLst>
                    <a:ext uri="{FF2B5EF4-FFF2-40B4-BE49-F238E27FC236}">
                      <a16:creationId xmlns:a16="http://schemas.microsoft.com/office/drawing/2014/main" id="{FA87E1F9-C68D-56BA-8035-45316DC5917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122827" y="5047939"/>
                  <a:ext cx="0" cy="297113"/>
                </a:xfrm>
                <a:prstGeom prst="line">
                  <a:avLst/>
                </a:prstGeom>
                <a:ln w="2857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442" name="直线连接符 59523">
                  <a:extLst>
                    <a:ext uri="{FF2B5EF4-FFF2-40B4-BE49-F238E27FC236}">
                      <a16:creationId xmlns:a16="http://schemas.microsoft.com/office/drawing/2014/main" id="{F08F57EB-793A-C9C4-A921-3788C8B6AFE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122827" y="5654542"/>
                  <a:ext cx="0" cy="297113"/>
                </a:xfrm>
                <a:prstGeom prst="line">
                  <a:avLst/>
                </a:prstGeom>
                <a:ln w="2857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443" name="直线连接符 59563">
                  <a:extLst>
                    <a:ext uri="{FF2B5EF4-FFF2-40B4-BE49-F238E27FC236}">
                      <a16:creationId xmlns:a16="http://schemas.microsoft.com/office/drawing/2014/main" id="{611A9D36-BFF1-9E24-A1DA-5E4B4A4F2D9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649777" y="5499011"/>
                  <a:ext cx="930351" cy="0"/>
                </a:xfrm>
                <a:prstGeom prst="line">
                  <a:avLst/>
                </a:prstGeom>
                <a:ln w="28575" cap="rnd">
                  <a:solidFill>
                    <a:schemeClr val="tx1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9405" name="组合 59404">
                <a:extLst>
                  <a:ext uri="{FF2B5EF4-FFF2-40B4-BE49-F238E27FC236}">
                    <a16:creationId xmlns:a16="http://schemas.microsoft.com/office/drawing/2014/main" id="{68BF67B7-C39C-A518-5996-EE83E94B3FB2}"/>
                  </a:ext>
                </a:extLst>
              </p:cNvPr>
              <p:cNvGrpSpPr/>
              <p:nvPr/>
            </p:nvGrpSpPr>
            <p:grpSpPr>
              <a:xfrm>
                <a:off x="808584" y="6155036"/>
                <a:ext cx="1639948" cy="572290"/>
                <a:chOff x="796160" y="4337965"/>
                <a:chExt cx="2024202" cy="706382"/>
              </a:xfrm>
            </p:grpSpPr>
            <p:grpSp>
              <p:nvGrpSpPr>
                <p:cNvPr id="59428" name="组合 59427">
                  <a:extLst>
                    <a:ext uri="{FF2B5EF4-FFF2-40B4-BE49-F238E27FC236}">
                      <a16:creationId xmlns:a16="http://schemas.microsoft.com/office/drawing/2014/main" id="{0FDC7809-0910-2E56-45C3-13BC417BB40D}"/>
                    </a:ext>
                  </a:extLst>
                </p:cNvPr>
                <p:cNvGrpSpPr/>
                <p:nvPr/>
              </p:nvGrpSpPr>
              <p:grpSpPr>
                <a:xfrm>
                  <a:off x="1256371" y="4337965"/>
                  <a:ext cx="1563991" cy="635455"/>
                  <a:chOff x="1256371" y="5143722"/>
                  <a:chExt cx="1715246" cy="696910"/>
                </a:xfrm>
              </p:grpSpPr>
              <p:grpSp>
                <p:nvGrpSpPr>
                  <p:cNvPr id="59430" name="组合 59429">
                    <a:extLst>
                      <a:ext uri="{FF2B5EF4-FFF2-40B4-BE49-F238E27FC236}">
                        <a16:creationId xmlns:a16="http://schemas.microsoft.com/office/drawing/2014/main" id="{F1CC7868-288A-8625-A736-AA502B49A7E3}"/>
                      </a:ext>
                    </a:extLst>
                  </p:cNvPr>
                  <p:cNvGrpSpPr/>
                  <p:nvPr/>
                </p:nvGrpSpPr>
                <p:grpSpPr>
                  <a:xfrm>
                    <a:off x="1429635" y="5143722"/>
                    <a:ext cx="1313482" cy="696910"/>
                    <a:chOff x="4338638" y="3305175"/>
                    <a:chExt cx="2154237" cy="1143000"/>
                  </a:xfrm>
                </p:grpSpPr>
                <p:sp>
                  <p:nvSpPr>
                    <p:cNvPr id="59434" name="AutoShape 3">
                      <a:extLst>
                        <a:ext uri="{FF2B5EF4-FFF2-40B4-BE49-F238E27FC236}">
                          <a16:creationId xmlns:a16="http://schemas.microsoft.com/office/drawing/2014/main" id="{1E471380-C206-9129-A762-D51CF5377D7D}"/>
                        </a:ext>
                      </a:extLst>
                    </p:cNvPr>
                    <p:cNvSpPr>
                      <a:spLocks noChangeAspect="1" noChangeArrowheads="1" noTextEdit="1"/>
                    </p:cNvSpPr>
                    <p:nvPr/>
                  </p:nvSpPr>
                  <p:spPr bwMode="auto">
                    <a:xfrm>
                      <a:off x="4338638" y="3305175"/>
                      <a:ext cx="2154237" cy="11430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59435" name="Freeform 6">
                      <a:extLst>
                        <a:ext uri="{FF2B5EF4-FFF2-40B4-BE49-F238E27FC236}">
                          <a16:creationId xmlns:a16="http://schemas.microsoft.com/office/drawing/2014/main" id="{D123299C-8533-F140-3C38-E6E0902B481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4767263" y="3381375"/>
                      <a:ext cx="1308100" cy="1014413"/>
                    </a:xfrm>
                    <a:custGeom>
                      <a:avLst/>
                      <a:gdLst>
                        <a:gd name="T0" fmla="*/ 943 w 943"/>
                        <a:gd name="T1" fmla="*/ 362 h 725"/>
                        <a:gd name="T2" fmla="*/ 283 w 943"/>
                        <a:gd name="T3" fmla="*/ 725 h 725"/>
                        <a:gd name="T4" fmla="*/ 0 w 943"/>
                        <a:gd name="T5" fmla="*/ 725 h 725"/>
                        <a:gd name="T6" fmla="*/ 0 w 943"/>
                        <a:gd name="T7" fmla="*/ 0 h 725"/>
                        <a:gd name="T8" fmla="*/ 283 w 943"/>
                        <a:gd name="T9" fmla="*/ 0 h 725"/>
                        <a:gd name="T10" fmla="*/ 943 w 943"/>
                        <a:gd name="T11" fmla="*/ 362 h 72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943" h="725">
                          <a:moveTo>
                            <a:pt x="943" y="362"/>
                          </a:moveTo>
                          <a:cubicBezTo>
                            <a:pt x="830" y="541"/>
                            <a:pt x="585" y="676"/>
                            <a:pt x="283" y="725"/>
                          </a:cubicBezTo>
                          <a:lnTo>
                            <a:pt x="0" y="725"/>
                          </a:lnTo>
                          <a:cubicBezTo>
                            <a:pt x="175" y="495"/>
                            <a:pt x="175" y="230"/>
                            <a:pt x="0" y="0"/>
                          </a:cubicBezTo>
                          <a:lnTo>
                            <a:pt x="283" y="0"/>
                          </a:lnTo>
                          <a:cubicBezTo>
                            <a:pt x="586" y="48"/>
                            <a:pt x="832" y="183"/>
                            <a:pt x="943" y="362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28575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59436" name="Freeform 7">
                      <a:extLst>
                        <a:ext uri="{FF2B5EF4-FFF2-40B4-BE49-F238E27FC236}">
                          <a16:creationId xmlns:a16="http://schemas.microsoft.com/office/drawing/2014/main" id="{E495F1EA-17CE-63E6-6914-8418A0C61CEA}"/>
                        </a:ext>
                      </a:extLst>
                    </p:cNvPr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4635500" y="3381375"/>
                      <a:ext cx="1439862" cy="1014413"/>
                    </a:xfrm>
                    <a:custGeom>
                      <a:avLst/>
                      <a:gdLst>
                        <a:gd name="T0" fmla="*/ 1038 w 1038"/>
                        <a:gd name="T1" fmla="*/ 362 h 725"/>
                        <a:gd name="T2" fmla="*/ 378 w 1038"/>
                        <a:gd name="T3" fmla="*/ 725 h 725"/>
                        <a:gd name="T4" fmla="*/ 95 w 1038"/>
                        <a:gd name="T5" fmla="*/ 725 h 725"/>
                        <a:gd name="T6" fmla="*/ 95 w 1038"/>
                        <a:gd name="T7" fmla="*/ 0 h 725"/>
                        <a:gd name="T8" fmla="*/ 378 w 1038"/>
                        <a:gd name="T9" fmla="*/ 0 h 725"/>
                        <a:gd name="T10" fmla="*/ 1038 w 1038"/>
                        <a:gd name="T11" fmla="*/ 362 h 725"/>
                        <a:gd name="T12" fmla="*/ 0 w 1038"/>
                        <a:gd name="T13" fmla="*/ 725 h 725"/>
                        <a:gd name="T14" fmla="*/ 0 w 1038"/>
                        <a:gd name="T15" fmla="*/ 0 h 72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</a:cxnLst>
                      <a:rect l="0" t="0" r="r" b="b"/>
                      <a:pathLst>
                        <a:path w="1038" h="725">
                          <a:moveTo>
                            <a:pt x="1038" y="362"/>
                          </a:moveTo>
                          <a:cubicBezTo>
                            <a:pt x="925" y="541"/>
                            <a:pt x="680" y="676"/>
                            <a:pt x="378" y="725"/>
                          </a:cubicBezTo>
                          <a:lnTo>
                            <a:pt x="95" y="725"/>
                          </a:lnTo>
                          <a:cubicBezTo>
                            <a:pt x="270" y="495"/>
                            <a:pt x="270" y="230"/>
                            <a:pt x="95" y="0"/>
                          </a:cubicBezTo>
                          <a:lnTo>
                            <a:pt x="378" y="0"/>
                          </a:lnTo>
                          <a:cubicBezTo>
                            <a:pt x="681" y="48"/>
                            <a:pt x="927" y="183"/>
                            <a:pt x="1038" y="362"/>
                          </a:cubicBezTo>
                          <a:close/>
                          <a:moveTo>
                            <a:pt x="0" y="725"/>
                          </a:moveTo>
                          <a:cubicBezTo>
                            <a:pt x="175" y="495"/>
                            <a:pt x="175" y="230"/>
                            <a:pt x="0" y="0"/>
                          </a:cubicBezTo>
                        </a:path>
                      </a:pathLst>
                    </a:custGeom>
                    <a:noFill/>
                    <a:ln w="28575" cap="rnd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/>
                    </a:p>
                  </p:txBody>
                </p:sp>
              </p:grpSp>
              <p:cxnSp>
                <p:nvCxnSpPr>
                  <p:cNvPr id="59431" name="直线连接符 59529">
                    <a:extLst>
                      <a:ext uri="{FF2B5EF4-FFF2-40B4-BE49-F238E27FC236}">
                        <a16:creationId xmlns:a16="http://schemas.microsoft.com/office/drawing/2014/main" id="{1D0DF4F9-1DA2-A08F-A2A4-531803E5341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256371" y="5345052"/>
                    <a:ext cx="434605" cy="0"/>
                  </a:xfrm>
                  <a:prstGeom prst="line">
                    <a:avLst/>
                  </a:prstGeom>
                  <a:ln w="28575" cap="rnd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9432" name="直线连接符 59530">
                    <a:extLst>
                      <a:ext uri="{FF2B5EF4-FFF2-40B4-BE49-F238E27FC236}">
                        <a16:creationId xmlns:a16="http://schemas.microsoft.com/office/drawing/2014/main" id="{A5221928-FE83-7C3F-F739-C4A32103347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256371" y="5654790"/>
                    <a:ext cx="434605" cy="0"/>
                  </a:xfrm>
                  <a:prstGeom prst="line">
                    <a:avLst/>
                  </a:prstGeom>
                  <a:ln w="28575" cap="rnd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9433" name="直线连接符 59531">
                    <a:extLst>
                      <a:ext uri="{FF2B5EF4-FFF2-40B4-BE49-F238E27FC236}">
                        <a16:creationId xmlns:a16="http://schemas.microsoft.com/office/drawing/2014/main" id="{9D75E0E9-7026-F54B-FB81-2EA54B805E83}"/>
                      </a:ext>
                    </a:extLst>
                  </p:cNvPr>
                  <p:cNvCxnSpPr>
                    <a:cxnSpLocks/>
                    <a:endCxn id="59436" idx="0"/>
                  </p:cNvCxnSpPr>
                  <p:nvPr/>
                </p:nvCxnSpPr>
                <p:spPr>
                  <a:xfrm flipH="1" flipV="1">
                    <a:off x="2488551" y="5499010"/>
                    <a:ext cx="483066" cy="1"/>
                  </a:xfrm>
                  <a:prstGeom prst="line">
                    <a:avLst/>
                  </a:prstGeom>
                  <a:ln w="28575" cap="rnd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59429" name="文本框 59428">
                  <a:extLst>
                    <a:ext uri="{FF2B5EF4-FFF2-40B4-BE49-F238E27FC236}">
                      <a16:creationId xmlns:a16="http://schemas.microsoft.com/office/drawing/2014/main" id="{C1C38C0F-32C7-21FD-1471-53B9E4A07206}"/>
                    </a:ext>
                  </a:extLst>
                </p:cNvPr>
                <p:cNvSpPr txBox="1"/>
                <p:nvPr/>
              </p:nvSpPr>
              <p:spPr>
                <a:xfrm>
                  <a:off x="796160" y="4588478"/>
                  <a:ext cx="554404" cy="45586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zh-CN" sz="1800" b="0" dirty="0">
                      <a:solidFill>
                        <a:schemeClr val="tx1"/>
                      </a:solidFill>
                      <a:latin typeface="+mn-lt"/>
                    </a:rPr>
                    <a:t>A</a:t>
                  </a:r>
                  <a:r>
                    <a:rPr kumimoji="1" lang="en-US" altLang="zh-CN" sz="1800" b="0" baseline="-25000" dirty="0">
                      <a:solidFill>
                        <a:schemeClr val="tx1"/>
                      </a:solidFill>
                      <a:latin typeface="+mn-lt"/>
                    </a:rPr>
                    <a:t>N</a:t>
                  </a:r>
                  <a:endParaRPr kumimoji="1" lang="zh-CN" altLang="en-US" sz="1800" b="0" baseline="-25000" dirty="0">
                    <a:solidFill>
                      <a:schemeClr val="tx1"/>
                    </a:solidFill>
                    <a:latin typeface="+mn-lt"/>
                  </a:endParaRPr>
                </a:p>
              </p:txBody>
            </p:sp>
          </p:grpSp>
          <p:grpSp>
            <p:nvGrpSpPr>
              <p:cNvPr id="59406" name="组合 59405">
                <a:extLst>
                  <a:ext uri="{FF2B5EF4-FFF2-40B4-BE49-F238E27FC236}">
                    <a16:creationId xmlns:a16="http://schemas.microsoft.com/office/drawing/2014/main" id="{D4AB7FC8-C029-13C7-2F05-7C11955AA152}"/>
                  </a:ext>
                </a:extLst>
              </p:cNvPr>
              <p:cNvGrpSpPr/>
              <p:nvPr/>
            </p:nvGrpSpPr>
            <p:grpSpPr>
              <a:xfrm>
                <a:off x="2091677" y="5811996"/>
                <a:ext cx="2173339" cy="596843"/>
                <a:chOff x="638125" y="5143722"/>
                <a:chExt cx="2942003" cy="807933"/>
              </a:xfrm>
            </p:grpSpPr>
            <p:grpSp>
              <p:nvGrpSpPr>
                <p:cNvPr id="59418" name="组合 59417">
                  <a:extLst>
                    <a:ext uri="{FF2B5EF4-FFF2-40B4-BE49-F238E27FC236}">
                      <a16:creationId xmlns:a16="http://schemas.microsoft.com/office/drawing/2014/main" id="{394F9487-24D6-F3B8-4E68-19A34826EEC1}"/>
                    </a:ext>
                  </a:extLst>
                </p:cNvPr>
                <p:cNvGrpSpPr/>
                <p:nvPr/>
              </p:nvGrpSpPr>
              <p:grpSpPr>
                <a:xfrm>
                  <a:off x="1429635" y="5143722"/>
                  <a:ext cx="1313482" cy="696910"/>
                  <a:chOff x="4338638" y="3305175"/>
                  <a:chExt cx="2154237" cy="1143000"/>
                </a:xfrm>
              </p:grpSpPr>
              <p:sp>
                <p:nvSpPr>
                  <p:cNvPr id="59425" name="AutoShape 3">
                    <a:extLst>
                      <a:ext uri="{FF2B5EF4-FFF2-40B4-BE49-F238E27FC236}">
                        <a16:creationId xmlns:a16="http://schemas.microsoft.com/office/drawing/2014/main" id="{E40FBE6D-DA68-B4D3-6C51-8E943B80C0BD}"/>
                      </a:ext>
                    </a:extLst>
                  </p:cNvPr>
                  <p:cNvSpPr>
                    <a:spLocks noChangeAspect="1" noChangeArrowheads="1" noTextEdit="1"/>
                  </p:cNvSpPr>
                  <p:nvPr/>
                </p:nvSpPr>
                <p:spPr bwMode="auto">
                  <a:xfrm>
                    <a:off x="4338638" y="3305175"/>
                    <a:ext cx="2154237" cy="114300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59426" name="Freeform 6">
                    <a:extLst>
                      <a:ext uri="{FF2B5EF4-FFF2-40B4-BE49-F238E27FC236}">
                        <a16:creationId xmlns:a16="http://schemas.microsoft.com/office/drawing/2014/main" id="{BFA85139-EF50-E93B-062E-A7A1C201EB3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767263" y="3381375"/>
                    <a:ext cx="1308100" cy="1014413"/>
                  </a:xfrm>
                  <a:custGeom>
                    <a:avLst/>
                    <a:gdLst>
                      <a:gd name="T0" fmla="*/ 943 w 943"/>
                      <a:gd name="T1" fmla="*/ 362 h 725"/>
                      <a:gd name="T2" fmla="*/ 283 w 943"/>
                      <a:gd name="T3" fmla="*/ 725 h 725"/>
                      <a:gd name="T4" fmla="*/ 0 w 943"/>
                      <a:gd name="T5" fmla="*/ 725 h 725"/>
                      <a:gd name="T6" fmla="*/ 0 w 943"/>
                      <a:gd name="T7" fmla="*/ 0 h 725"/>
                      <a:gd name="T8" fmla="*/ 283 w 943"/>
                      <a:gd name="T9" fmla="*/ 0 h 725"/>
                      <a:gd name="T10" fmla="*/ 943 w 943"/>
                      <a:gd name="T11" fmla="*/ 362 h 72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943" h="725">
                        <a:moveTo>
                          <a:pt x="943" y="362"/>
                        </a:moveTo>
                        <a:cubicBezTo>
                          <a:pt x="830" y="541"/>
                          <a:pt x="585" y="676"/>
                          <a:pt x="283" y="725"/>
                        </a:cubicBezTo>
                        <a:lnTo>
                          <a:pt x="0" y="725"/>
                        </a:lnTo>
                        <a:cubicBezTo>
                          <a:pt x="175" y="495"/>
                          <a:pt x="175" y="230"/>
                          <a:pt x="0" y="0"/>
                        </a:cubicBezTo>
                        <a:lnTo>
                          <a:pt x="283" y="0"/>
                        </a:lnTo>
                        <a:cubicBezTo>
                          <a:pt x="586" y="48"/>
                          <a:pt x="832" y="183"/>
                          <a:pt x="943" y="36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28575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59427" name="Freeform 7">
                    <a:extLst>
                      <a:ext uri="{FF2B5EF4-FFF2-40B4-BE49-F238E27FC236}">
                        <a16:creationId xmlns:a16="http://schemas.microsoft.com/office/drawing/2014/main" id="{F17A956A-E07B-3940-0983-6C3E68B4B37C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4635500" y="3381375"/>
                    <a:ext cx="1439862" cy="1014413"/>
                  </a:xfrm>
                  <a:custGeom>
                    <a:avLst/>
                    <a:gdLst>
                      <a:gd name="T0" fmla="*/ 1038 w 1038"/>
                      <a:gd name="T1" fmla="*/ 362 h 725"/>
                      <a:gd name="T2" fmla="*/ 378 w 1038"/>
                      <a:gd name="T3" fmla="*/ 725 h 725"/>
                      <a:gd name="T4" fmla="*/ 95 w 1038"/>
                      <a:gd name="T5" fmla="*/ 725 h 725"/>
                      <a:gd name="T6" fmla="*/ 95 w 1038"/>
                      <a:gd name="T7" fmla="*/ 0 h 725"/>
                      <a:gd name="T8" fmla="*/ 378 w 1038"/>
                      <a:gd name="T9" fmla="*/ 0 h 725"/>
                      <a:gd name="T10" fmla="*/ 1038 w 1038"/>
                      <a:gd name="T11" fmla="*/ 362 h 725"/>
                      <a:gd name="T12" fmla="*/ 0 w 1038"/>
                      <a:gd name="T13" fmla="*/ 725 h 725"/>
                      <a:gd name="T14" fmla="*/ 0 w 1038"/>
                      <a:gd name="T15" fmla="*/ 0 h 72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1038" h="725">
                        <a:moveTo>
                          <a:pt x="1038" y="362"/>
                        </a:moveTo>
                        <a:cubicBezTo>
                          <a:pt x="925" y="541"/>
                          <a:pt x="680" y="676"/>
                          <a:pt x="378" y="725"/>
                        </a:cubicBezTo>
                        <a:lnTo>
                          <a:pt x="95" y="725"/>
                        </a:lnTo>
                        <a:cubicBezTo>
                          <a:pt x="270" y="495"/>
                          <a:pt x="270" y="230"/>
                          <a:pt x="95" y="0"/>
                        </a:cubicBezTo>
                        <a:lnTo>
                          <a:pt x="378" y="0"/>
                        </a:lnTo>
                        <a:cubicBezTo>
                          <a:pt x="681" y="48"/>
                          <a:pt x="927" y="183"/>
                          <a:pt x="1038" y="362"/>
                        </a:cubicBezTo>
                        <a:close/>
                        <a:moveTo>
                          <a:pt x="0" y="725"/>
                        </a:moveTo>
                        <a:cubicBezTo>
                          <a:pt x="175" y="495"/>
                          <a:pt x="175" y="230"/>
                          <a:pt x="0" y="0"/>
                        </a:cubicBezTo>
                      </a:path>
                    </a:pathLst>
                  </a:custGeom>
                  <a:noFill/>
                  <a:ln w="28575" cap="rnd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</p:grpSp>
            <p:cxnSp>
              <p:nvCxnSpPr>
                <p:cNvPr id="59419" name="直线连接符 59537">
                  <a:extLst>
                    <a:ext uri="{FF2B5EF4-FFF2-40B4-BE49-F238E27FC236}">
                      <a16:creationId xmlns:a16="http://schemas.microsoft.com/office/drawing/2014/main" id="{C740A5D1-7809-66A7-4DDB-CD956381B6C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125491" y="5345052"/>
                  <a:ext cx="565486" cy="0"/>
                </a:xfrm>
                <a:prstGeom prst="line">
                  <a:avLst/>
                </a:prstGeom>
                <a:ln w="2857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420" name="直线连接符 59538">
                  <a:extLst>
                    <a:ext uri="{FF2B5EF4-FFF2-40B4-BE49-F238E27FC236}">
                      <a16:creationId xmlns:a16="http://schemas.microsoft.com/office/drawing/2014/main" id="{3E6DBF02-9579-E64A-AAEC-C9AC87DE631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125490" y="5654790"/>
                  <a:ext cx="565487" cy="0"/>
                </a:xfrm>
                <a:prstGeom prst="line">
                  <a:avLst/>
                </a:prstGeom>
                <a:ln w="2857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421" name="直线连接符 59539">
                  <a:extLst>
                    <a:ext uri="{FF2B5EF4-FFF2-40B4-BE49-F238E27FC236}">
                      <a16:creationId xmlns:a16="http://schemas.microsoft.com/office/drawing/2014/main" id="{45B8AAC4-47BA-C5AF-43D8-89F4E9F30A20}"/>
                    </a:ext>
                  </a:extLst>
                </p:cNvPr>
                <p:cNvCxnSpPr>
                  <a:cxnSpLocks/>
                  <a:endCxn id="59427" idx="0"/>
                </p:cNvCxnSpPr>
                <p:nvPr/>
              </p:nvCxnSpPr>
              <p:spPr>
                <a:xfrm flipH="1">
                  <a:off x="2488552" y="5499010"/>
                  <a:ext cx="150550" cy="1"/>
                </a:xfrm>
                <a:prstGeom prst="line">
                  <a:avLst/>
                </a:prstGeom>
                <a:ln w="2857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422" name="直线连接符 59541">
                  <a:extLst>
                    <a:ext uri="{FF2B5EF4-FFF2-40B4-BE49-F238E27FC236}">
                      <a16:creationId xmlns:a16="http://schemas.microsoft.com/office/drawing/2014/main" id="{CBFB380E-B3D2-0D9B-52D5-1AD4E7F7307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122827" y="5654542"/>
                  <a:ext cx="0" cy="297113"/>
                </a:xfrm>
                <a:prstGeom prst="line">
                  <a:avLst/>
                </a:prstGeom>
                <a:ln w="2857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423" name="直线连接符 59545">
                  <a:extLst>
                    <a:ext uri="{FF2B5EF4-FFF2-40B4-BE49-F238E27FC236}">
                      <a16:creationId xmlns:a16="http://schemas.microsoft.com/office/drawing/2014/main" id="{0DFFCDB8-47F4-D7FE-63DA-BCCB4711595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38125" y="5345052"/>
                  <a:ext cx="483067" cy="0"/>
                </a:xfrm>
                <a:prstGeom prst="line">
                  <a:avLst/>
                </a:prstGeom>
                <a:ln w="28575" cap="rnd">
                  <a:solidFill>
                    <a:schemeClr val="tx1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424" name="直线连接符 59571">
                  <a:extLst>
                    <a:ext uri="{FF2B5EF4-FFF2-40B4-BE49-F238E27FC236}">
                      <a16:creationId xmlns:a16="http://schemas.microsoft.com/office/drawing/2014/main" id="{D25D2CA1-213B-FE6F-5F33-CBB8FCD252C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639102" y="5499011"/>
                  <a:ext cx="941026" cy="0"/>
                </a:xfrm>
                <a:prstGeom prst="line">
                  <a:avLst/>
                </a:prstGeom>
                <a:ln w="28575" cap="rnd">
                  <a:solidFill>
                    <a:schemeClr val="tx1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9407" name="文本框 59406">
                <a:extLst>
                  <a:ext uri="{FF2B5EF4-FFF2-40B4-BE49-F238E27FC236}">
                    <a16:creationId xmlns:a16="http://schemas.microsoft.com/office/drawing/2014/main" id="{A01745E2-E783-25AC-85CB-541438D87FB7}"/>
                  </a:ext>
                </a:extLst>
              </p:cNvPr>
              <p:cNvSpPr txBox="1"/>
              <p:nvPr/>
            </p:nvSpPr>
            <p:spPr>
              <a:xfrm rot="5400000">
                <a:off x="887193" y="5689356"/>
                <a:ext cx="41549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sz="1800" b="0" dirty="0">
                    <a:solidFill>
                      <a:schemeClr val="tx1"/>
                    </a:solidFill>
                    <a:latin typeface="+mn-lt"/>
                  </a:rPr>
                  <a:t>…</a:t>
                </a:r>
                <a:endParaRPr kumimoji="1" lang="zh-CN" altLang="en-US" sz="1800" b="0" baseline="-25000" dirty="0">
                  <a:solidFill>
                    <a:schemeClr val="tx1"/>
                  </a:solidFill>
                  <a:latin typeface="+mn-lt"/>
                </a:endParaRPr>
              </a:p>
            </p:txBody>
          </p:sp>
          <p:grpSp>
            <p:nvGrpSpPr>
              <p:cNvPr id="59408" name="组合 59407">
                <a:extLst>
                  <a:ext uri="{FF2B5EF4-FFF2-40B4-BE49-F238E27FC236}">
                    <a16:creationId xmlns:a16="http://schemas.microsoft.com/office/drawing/2014/main" id="{2473993E-37B2-FE66-0C8A-B8922C909AD9}"/>
                  </a:ext>
                </a:extLst>
              </p:cNvPr>
              <p:cNvGrpSpPr/>
              <p:nvPr/>
            </p:nvGrpSpPr>
            <p:grpSpPr>
              <a:xfrm>
                <a:off x="4266983" y="4929167"/>
                <a:ext cx="1196953" cy="1140242"/>
                <a:chOff x="1122827" y="4694279"/>
                <a:chExt cx="1620290" cy="1543521"/>
              </a:xfrm>
            </p:grpSpPr>
            <p:grpSp>
              <p:nvGrpSpPr>
                <p:cNvPr id="59409" name="组合 59408">
                  <a:extLst>
                    <a:ext uri="{FF2B5EF4-FFF2-40B4-BE49-F238E27FC236}">
                      <a16:creationId xmlns:a16="http://schemas.microsoft.com/office/drawing/2014/main" id="{760948C9-783D-D496-BE31-4660C1770C2A}"/>
                    </a:ext>
                  </a:extLst>
                </p:cNvPr>
                <p:cNvGrpSpPr/>
                <p:nvPr/>
              </p:nvGrpSpPr>
              <p:grpSpPr>
                <a:xfrm>
                  <a:off x="1429635" y="5143722"/>
                  <a:ext cx="1313482" cy="696910"/>
                  <a:chOff x="4338638" y="3305175"/>
                  <a:chExt cx="2154237" cy="1143000"/>
                </a:xfrm>
              </p:grpSpPr>
              <p:sp>
                <p:nvSpPr>
                  <p:cNvPr id="59415" name="AutoShape 3">
                    <a:extLst>
                      <a:ext uri="{FF2B5EF4-FFF2-40B4-BE49-F238E27FC236}">
                        <a16:creationId xmlns:a16="http://schemas.microsoft.com/office/drawing/2014/main" id="{1D9E56DE-055D-7851-B8AD-D127F24E9D3A}"/>
                      </a:ext>
                    </a:extLst>
                  </p:cNvPr>
                  <p:cNvSpPr>
                    <a:spLocks noChangeAspect="1" noChangeArrowheads="1" noTextEdit="1"/>
                  </p:cNvSpPr>
                  <p:nvPr/>
                </p:nvSpPr>
                <p:spPr bwMode="auto">
                  <a:xfrm>
                    <a:off x="4338638" y="3305175"/>
                    <a:ext cx="2154237" cy="114300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59416" name="Freeform 6">
                    <a:extLst>
                      <a:ext uri="{FF2B5EF4-FFF2-40B4-BE49-F238E27FC236}">
                        <a16:creationId xmlns:a16="http://schemas.microsoft.com/office/drawing/2014/main" id="{3ACAF831-9A03-19E9-04E1-35E0A3A2703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767263" y="3381377"/>
                    <a:ext cx="1308099" cy="1014413"/>
                  </a:xfrm>
                  <a:custGeom>
                    <a:avLst/>
                    <a:gdLst>
                      <a:gd name="T0" fmla="*/ 943 w 943"/>
                      <a:gd name="T1" fmla="*/ 362 h 725"/>
                      <a:gd name="T2" fmla="*/ 283 w 943"/>
                      <a:gd name="T3" fmla="*/ 725 h 725"/>
                      <a:gd name="T4" fmla="*/ 0 w 943"/>
                      <a:gd name="T5" fmla="*/ 725 h 725"/>
                      <a:gd name="T6" fmla="*/ 0 w 943"/>
                      <a:gd name="T7" fmla="*/ 0 h 725"/>
                      <a:gd name="T8" fmla="*/ 283 w 943"/>
                      <a:gd name="T9" fmla="*/ 0 h 725"/>
                      <a:gd name="T10" fmla="*/ 943 w 943"/>
                      <a:gd name="T11" fmla="*/ 362 h 72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943" h="725">
                        <a:moveTo>
                          <a:pt x="943" y="362"/>
                        </a:moveTo>
                        <a:cubicBezTo>
                          <a:pt x="830" y="541"/>
                          <a:pt x="585" y="676"/>
                          <a:pt x="283" y="725"/>
                        </a:cubicBezTo>
                        <a:lnTo>
                          <a:pt x="0" y="725"/>
                        </a:lnTo>
                        <a:cubicBezTo>
                          <a:pt x="175" y="495"/>
                          <a:pt x="175" y="230"/>
                          <a:pt x="0" y="0"/>
                        </a:cubicBezTo>
                        <a:lnTo>
                          <a:pt x="283" y="0"/>
                        </a:lnTo>
                        <a:cubicBezTo>
                          <a:pt x="586" y="48"/>
                          <a:pt x="832" y="183"/>
                          <a:pt x="943" y="36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28575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59417" name="Freeform 7">
                    <a:extLst>
                      <a:ext uri="{FF2B5EF4-FFF2-40B4-BE49-F238E27FC236}">
                        <a16:creationId xmlns:a16="http://schemas.microsoft.com/office/drawing/2014/main" id="{237D2DB6-AF30-A4B2-3732-320033A12CE6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4635500" y="3381375"/>
                    <a:ext cx="1439862" cy="1014413"/>
                  </a:xfrm>
                  <a:custGeom>
                    <a:avLst/>
                    <a:gdLst>
                      <a:gd name="T0" fmla="*/ 1038 w 1038"/>
                      <a:gd name="T1" fmla="*/ 362 h 725"/>
                      <a:gd name="T2" fmla="*/ 378 w 1038"/>
                      <a:gd name="T3" fmla="*/ 725 h 725"/>
                      <a:gd name="T4" fmla="*/ 95 w 1038"/>
                      <a:gd name="T5" fmla="*/ 725 h 725"/>
                      <a:gd name="T6" fmla="*/ 95 w 1038"/>
                      <a:gd name="T7" fmla="*/ 0 h 725"/>
                      <a:gd name="T8" fmla="*/ 378 w 1038"/>
                      <a:gd name="T9" fmla="*/ 0 h 725"/>
                      <a:gd name="T10" fmla="*/ 1038 w 1038"/>
                      <a:gd name="T11" fmla="*/ 362 h 725"/>
                      <a:gd name="T12" fmla="*/ 0 w 1038"/>
                      <a:gd name="T13" fmla="*/ 725 h 725"/>
                      <a:gd name="T14" fmla="*/ 0 w 1038"/>
                      <a:gd name="T15" fmla="*/ 0 h 72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1038" h="725">
                        <a:moveTo>
                          <a:pt x="1038" y="362"/>
                        </a:moveTo>
                        <a:cubicBezTo>
                          <a:pt x="925" y="541"/>
                          <a:pt x="680" y="676"/>
                          <a:pt x="378" y="725"/>
                        </a:cubicBezTo>
                        <a:lnTo>
                          <a:pt x="95" y="725"/>
                        </a:lnTo>
                        <a:cubicBezTo>
                          <a:pt x="270" y="495"/>
                          <a:pt x="270" y="230"/>
                          <a:pt x="95" y="0"/>
                        </a:cubicBezTo>
                        <a:lnTo>
                          <a:pt x="378" y="0"/>
                        </a:lnTo>
                        <a:cubicBezTo>
                          <a:pt x="681" y="48"/>
                          <a:pt x="927" y="183"/>
                          <a:pt x="1038" y="362"/>
                        </a:cubicBezTo>
                        <a:close/>
                        <a:moveTo>
                          <a:pt x="0" y="725"/>
                        </a:moveTo>
                        <a:cubicBezTo>
                          <a:pt x="175" y="495"/>
                          <a:pt x="175" y="230"/>
                          <a:pt x="0" y="0"/>
                        </a:cubicBezTo>
                      </a:path>
                    </a:pathLst>
                  </a:custGeom>
                  <a:noFill/>
                  <a:ln w="28575" cap="rnd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</p:grpSp>
            <p:cxnSp>
              <p:nvCxnSpPr>
                <p:cNvPr id="59410" name="直线连接符 59550">
                  <a:extLst>
                    <a:ext uri="{FF2B5EF4-FFF2-40B4-BE49-F238E27FC236}">
                      <a16:creationId xmlns:a16="http://schemas.microsoft.com/office/drawing/2014/main" id="{04F9770B-6DC4-97CF-EA16-61C43CFC632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125491" y="5345052"/>
                  <a:ext cx="565486" cy="0"/>
                </a:xfrm>
                <a:prstGeom prst="line">
                  <a:avLst/>
                </a:prstGeom>
                <a:ln w="2857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411" name="直线连接符 59551">
                  <a:extLst>
                    <a:ext uri="{FF2B5EF4-FFF2-40B4-BE49-F238E27FC236}">
                      <a16:creationId xmlns:a16="http://schemas.microsoft.com/office/drawing/2014/main" id="{D4DF0E46-342B-1F2F-E001-0439EC9C810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125490" y="5654790"/>
                  <a:ext cx="565487" cy="0"/>
                </a:xfrm>
                <a:prstGeom prst="line">
                  <a:avLst/>
                </a:prstGeom>
                <a:ln w="2857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412" name="直线连接符 59552">
                  <a:extLst>
                    <a:ext uri="{FF2B5EF4-FFF2-40B4-BE49-F238E27FC236}">
                      <a16:creationId xmlns:a16="http://schemas.microsoft.com/office/drawing/2014/main" id="{213F5F0F-42DA-ACA1-A8DE-34E265778C38}"/>
                    </a:ext>
                  </a:extLst>
                </p:cNvPr>
                <p:cNvCxnSpPr>
                  <a:cxnSpLocks/>
                  <a:endCxn id="59417" idx="0"/>
                </p:cNvCxnSpPr>
                <p:nvPr/>
              </p:nvCxnSpPr>
              <p:spPr>
                <a:xfrm flipH="1">
                  <a:off x="2488552" y="5499010"/>
                  <a:ext cx="150550" cy="1"/>
                </a:xfrm>
                <a:prstGeom prst="line">
                  <a:avLst/>
                </a:prstGeom>
                <a:ln w="2857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413" name="直线连接符 59553">
                  <a:extLst>
                    <a:ext uri="{FF2B5EF4-FFF2-40B4-BE49-F238E27FC236}">
                      <a16:creationId xmlns:a16="http://schemas.microsoft.com/office/drawing/2014/main" id="{1B285BA3-12B6-B6A3-42F5-B9EDA3D2E6A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122827" y="4694279"/>
                  <a:ext cx="0" cy="650772"/>
                </a:xfrm>
                <a:prstGeom prst="line">
                  <a:avLst/>
                </a:prstGeom>
                <a:ln w="2857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414" name="直线连接符 59554">
                  <a:extLst>
                    <a:ext uri="{FF2B5EF4-FFF2-40B4-BE49-F238E27FC236}">
                      <a16:creationId xmlns:a16="http://schemas.microsoft.com/office/drawing/2014/main" id="{065E6C20-B003-3421-83D7-93E40D68716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122827" y="5654541"/>
                  <a:ext cx="0" cy="583259"/>
                </a:xfrm>
                <a:prstGeom prst="line">
                  <a:avLst/>
                </a:prstGeom>
                <a:ln w="2857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60" name="组合 59">
              <a:extLst>
                <a:ext uri="{FF2B5EF4-FFF2-40B4-BE49-F238E27FC236}">
                  <a16:creationId xmlns:a16="http://schemas.microsoft.com/office/drawing/2014/main" id="{537E2CA1-D054-6DBB-0C5D-F24E2F34F791}"/>
                </a:ext>
              </a:extLst>
            </p:cNvPr>
            <p:cNvGrpSpPr/>
            <p:nvPr/>
          </p:nvGrpSpPr>
          <p:grpSpPr>
            <a:xfrm>
              <a:off x="1268555" y="4224193"/>
              <a:ext cx="1309188" cy="2472002"/>
              <a:chOff x="1268555" y="4224193"/>
              <a:chExt cx="1309188" cy="2472002"/>
            </a:xfrm>
          </p:grpSpPr>
          <p:cxnSp>
            <p:nvCxnSpPr>
              <p:cNvPr id="59399" name="直线连接符 59578">
                <a:extLst>
                  <a:ext uri="{FF2B5EF4-FFF2-40B4-BE49-F238E27FC236}">
                    <a16:creationId xmlns:a16="http://schemas.microsoft.com/office/drawing/2014/main" id="{96D9F0C4-C65A-42BC-CCEC-04D2A115494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68555" y="4224193"/>
                <a:ext cx="0" cy="2070897"/>
              </a:xfrm>
              <a:prstGeom prst="line">
                <a:avLst/>
              </a:prstGeom>
              <a:ln w="57150" cap="rnd">
                <a:solidFill>
                  <a:srgbClr val="0432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400" name="直线连接符 59579">
                <a:extLst>
                  <a:ext uri="{FF2B5EF4-FFF2-40B4-BE49-F238E27FC236}">
                    <a16:creationId xmlns:a16="http://schemas.microsoft.com/office/drawing/2014/main" id="{03F07194-84DD-2209-4B3E-7D915AA1F2A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68555" y="6294681"/>
                <a:ext cx="371658" cy="375861"/>
              </a:xfrm>
              <a:prstGeom prst="line">
                <a:avLst/>
              </a:prstGeom>
              <a:ln w="57150" cap="rnd">
                <a:solidFill>
                  <a:srgbClr val="0432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9401" name="文本框 59400">
                    <a:extLst>
                      <a:ext uri="{FF2B5EF4-FFF2-40B4-BE49-F238E27FC236}">
                        <a16:creationId xmlns:a16="http://schemas.microsoft.com/office/drawing/2014/main" id="{0E541C28-FC85-B22F-649D-39414D7F8037}"/>
                      </a:ext>
                    </a:extLst>
                  </p:cNvPr>
                  <p:cNvSpPr txBox="1"/>
                  <p:nvPr/>
                </p:nvSpPr>
                <p:spPr>
                  <a:xfrm>
                    <a:off x="1589460" y="6269027"/>
                    <a:ext cx="988283" cy="427168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kumimoji="1" lang="en-US" altLang="zh-C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nor/>
                                </m:rPr>
                                <a:rPr kumimoji="1" lang="en-US" altLang="zh-CN" sz="1800" b="0" i="0" smtClean="0">
                                  <a:solidFill>
                                    <a:schemeClr val="tx1"/>
                                  </a:solidFill>
                                  <a:latin typeface="+mn-lt"/>
                                </a:rPr>
                                <m:t>2</m:t>
                              </m:r>
                            </m:e>
                            <m:sup>
                              <m:func>
                                <m:funcPr>
                                  <m:ctrlPr>
                                    <a:rPr kumimoji="1" lang="en-US" altLang="zh-C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kumimoji="1" lang="en-US" altLang="zh-CN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kumimoji="1" lang="en-US" altLang="zh-CN" sz="1800" b="0" i="0" smtClean="0">
                                          <a:solidFill>
                                            <a:schemeClr val="tx1"/>
                                          </a:solidFill>
                                          <a:latin typeface="+mn-lt"/>
                                        </a:rPr>
                                        <m:t>log</m:t>
                                      </m:r>
                                    </m:e>
                                    <m:sub>
                                      <m:r>
                                        <a:rPr kumimoji="1" lang="en-US" altLang="zh-CN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fName>
                                <m:e>
                                  <m:r>
                                    <m:rPr>
                                      <m:nor/>
                                    </m:rPr>
                                    <a:rPr kumimoji="1" lang="en-US" altLang="zh-CN" sz="1800" b="0" i="0" smtClean="0">
                                      <a:solidFill>
                                        <a:schemeClr val="tx1"/>
                                      </a:solidFill>
                                      <a:latin typeface="+mn-lt"/>
                                    </a:rPr>
                                    <m:t>N</m:t>
                                  </m:r>
                                </m:e>
                              </m:func>
                            </m:sup>
                          </m:sSup>
                        </m:oMath>
                      </m:oMathPara>
                    </a14:m>
                    <a:endParaRPr kumimoji="1" lang="zh-CN" altLang="en-US" sz="1800" b="0" dirty="0">
                      <a:solidFill>
                        <a:schemeClr val="tx1"/>
                      </a:solidFill>
                      <a:latin typeface="+mn-lt"/>
                    </a:endParaRPr>
                  </a:p>
                </p:txBody>
              </p:sp>
            </mc:Choice>
            <mc:Fallback xmlns="">
              <p:sp>
                <p:nvSpPr>
                  <p:cNvPr id="59589" name="文本框 59588">
                    <a:extLst>
                      <a:ext uri="{FF2B5EF4-FFF2-40B4-BE49-F238E27FC236}">
                        <a16:creationId xmlns:a16="http://schemas.microsoft.com/office/drawing/2014/main" id="{8A8A6BD9-4687-5828-C3F8-9C870145623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89460" y="6269027"/>
                    <a:ext cx="988283" cy="427168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61" name="组合 60">
              <a:extLst>
                <a:ext uri="{FF2B5EF4-FFF2-40B4-BE49-F238E27FC236}">
                  <a16:creationId xmlns:a16="http://schemas.microsoft.com/office/drawing/2014/main" id="{CBA9A153-1824-2A26-F14D-C27B709FCAFA}"/>
                </a:ext>
              </a:extLst>
            </p:cNvPr>
            <p:cNvGrpSpPr/>
            <p:nvPr/>
          </p:nvGrpSpPr>
          <p:grpSpPr>
            <a:xfrm>
              <a:off x="2425854" y="4224193"/>
              <a:ext cx="1687043" cy="2189487"/>
              <a:chOff x="1268555" y="4509530"/>
              <a:chExt cx="1687043" cy="2189487"/>
            </a:xfrm>
          </p:grpSpPr>
          <p:cxnSp>
            <p:nvCxnSpPr>
              <p:cNvPr id="59394" name="直线连接符 59591">
                <a:extLst>
                  <a:ext uri="{FF2B5EF4-FFF2-40B4-BE49-F238E27FC236}">
                    <a16:creationId xmlns:a16="http://schemas.microsoft.com/office/drawing/2014/main" id="{AA2031FD-F786-7C18-F089-74EB1DBFCB0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68555" y="4509530"/>
                <a:ext cx="0" cy="1785560"/>
              </a:xfrm>
              <a:prstGeom prst="line">
                <a:avLst/>
              </a:prstGeom>
              <a:ln w="57150" cap="rnd">
                <a:solidFill>
                  <a:srgbClr val="0432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395" name="直线连接符 59592">
                <a:extLst>
                  <a:ext uri="{FF2B5EF4-FFF2-40B4-BE49-F238E27FC236}">
                    <a16:creationId xmlns:a16="http://schemas.microsoft.com/office/drawing/2014/main" id="{AF8AD6C7-D005-C469-13F1-82BEE7F6DBC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68555" y="6294681"/>
                <a:ext cx="371658" cy="375861"/>
              </a:xfrm>
              <a:prstGeom prst="line">
                <a:avLst/>
              </a:prstGeom>
              <a:ln w="57150" cap="rnd">
                <a:solidFill>
                  <a:srgbClr val="0432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9398" name="文本框 59397">
                    <a:extLst>
                      <a:ext uri="{FF2B5EF4-FFF2-40B4-BE49-F238E27FC236}">
                        <a16:creationId xmlns:a16="http://schemas.microsoft.com/office/drawing/2014/main" id="{899E7E32-7F7D-181D-604F-92082CA20E3A}"/>
                      </a:ext>
                    </a:extLst>
                  </p:cNvPr>
                  <p:cNvSpPr txBox="1"/>
                  <p:nvPr/>
                </p:nvSpPr>
                <p:spPr>
                  <a:xfrm>
                    <a:off x="1608241" y="6269027"/>
                    <a:ext cx="1347357" cy="42999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kumimoji="1" lang="en-US" altLang="zh-C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nor/>
                                </m:rPr>
                                <a:rPr kumimoji="1" lang="en-US" altLang="zh-CN" sz="1800" b="0" i="0" smtClean="0">
                                  <a:solidFill>
                                    <a:schemeClr val="tx1"/>
                                  </a:solidFill>
                                  <a:latin typeface="+mn-lt"/>
                                </a:rPr>
                                <m:t>2</m:t>
                              </m:r>
                            </m:e>
                            <m:sup>
                              <m:func>
                                <m:funcPr>
                                  <m:ctrlPr>
                                    <a:rPr kumimoji="1" lang="en-US" altLang="zh-C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kumimoji="1" lang="en-US" altLang="zh-CN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kumimoji="1" lang="en-US" altLang="zh-CN" sz="1800" b="0" i="0" smtClean="0">
                                          <a:solidFill>
                                            <a:schemeClr val="tx1"/>
                                          </a:solidFill>
                                          <a:latin typeface="+mn-lt"/>
                                        </a:rPr>
                                        <m:t>log</m:t>
                                      </m:r>
                                    </m:e>
                                    <m:sub>
                                      <m:r>
                                        <a:rPr kumimoji="1" lang="en-US" altLang="zh-CN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fName>
                                <m:e>
                                  <m:r>
                                    <m:rPr>
                                      <m:nor/>
                                    </m:rPr>
                                    <a:rPr kumimoji="1" lang="en-US" altLang="zh-CN" sz="1800" b="0" i="0" smtClean="0">
                                      <a:solidFill>
                                        <a:schemeClr val="tx1"/>
                                      </a:solidFill>
                                      <a:latin typeface="+mn-lt"/>
                                    </a:rPr>
                                    <m:t>(</m:t>
                                  </m:r>
                                  <m:r>
                                    <m:rPr>
                                      <m:nor/>
                                    </m:rPr>
                                    <a:rPr kumimoji="1" lang="en-US" altLang="zh-CN" sz="1800" b="0" i="0" smtClean="0">
                                      <a:solidFill>
                                        <a:schemeClr val="tx1"/>
                                      </a:solidFill>
                                      <a:latin typeface="+mn-lt"/>
                                    </a:rPr>
                                    <m:t>N</m:t>
                                  </m:r>
                                  <m:r>
                                    <m:rPr>
                                      <m:nor/>
                                    </m:rPr>
                                    <a:rPr kumimoji="1" lang="en-US" altLang="zh-CN" sz="1800" b="0" i="0" smtClean="0">
                                      <a:solidFill>
                                        <a:schemeClr val="tx1"/>
                                      </a:solidFill>
                                      <a:latin typeface="+mn-lt"/>
                                    </a:rPr>
                                    <m:t>−1)</m:t>
                                  </m:r>
                                </m:e>
                              </m:func>
                            </m:sup>
                          </m:sSup>
                        </m:oMath>
                      </m:oMathPara>
                    </a14:m>
                    <a:endParaRPr kumimoji="1" lang="zh-CN" altLang="en-US" sz="1800" b="0" dirty="0">
                      <a:solidFill>
                        <a:schemeClr val="tx1"/>
                      </a:solidFill>
                      <a:latin typeface="+mn-lt"/>
                    </a:endParaRPr>
                  </a:p>
                </p:txBody>
              </p:sp>
            </mc:Choice>
            <mc:Fallback xmlns="">
              <p:sp>
                <p:nvSpPr>
                  <p:cNvPr id="59594" name="文本框 59593">
                    <a:extLst>
                      <a:ext uri="{FF2B5EF4-FFF2-40B4-BE49-F238E27FC236}">
                        <a16:creationId xmlns:a16="http://schemas.microsoft.com/office/drawing/2014/main" id="{CC2D9B61-5C6A-25AB-5EDB-D0676569C31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08241" y="6269027"/>
                    <a:ext cx="1347357" cy="429990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62" name="组合 61">
              <a:extLst>
                <a:ext uri="{FF2B5EF4-FFF2-40B4-BE49-F238E27FC236}">
                  <a16:creationId xmlns:a16="http://schemas.microsoft.com/office/drawing/2014/main" id="{ED4D0306-D171-7831-7FD0-C1B8566CD79F}"/>
                </a:ext>
              </a:extLst>
            </p:cNvPr>
            <p:cNvGrpSpPr/>
            <p:nvPr/>
          </p:nvGrpSpPr>
          <p:grpSpPr>
            <a:xfrm>
              <a:off x="3971919" y="4224193"/>
              <a:ext cx="844341" cy="1743526"/>
              <a:chOff x="1268555" y="4953375"/>
              <a:chExt cx="844341" cy="1743526"/>
            </a:xfrm>
          </p:grpSpPr>
          <p:cxnSp>
            <p:nvCxnSpPr>
              <p:cNvPr id="63" name="直线连接符 59595">
                <a:extLst>
                  <a:ext uri="{FF2B5EF4-FFF2-40B4-BE49-F238E27FC236}">
                    <a16:creationId xmlns:a16="http://schemas.microsoft.com/office/drawing/2014/main" id="{B2C694AB-5936-A933-163E-2C72B4D378E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68555" y="4953375"/>
                <a:ext cx="0" cy="1341715"/>
              </a:xfrm>
              <a:prstGeom prst="line">
                <a:avLst/>
              </a:prstGeom>
              <a:ln w="57150" cap="rnd">
                <a:solidFill>
                  <a:srgbClr val="0432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392" name="直线连接符 59596">
                <a:extLst>
                  <a:ext uri="{FF2B5EF4-FFF2-40B4-BE49-F238E27FC236}">
                    <a16:creationId xmlns:a16="http://schemas.microsoft.com/office/drawing/2014/main" id="{00EE7D0C-DF45-BED2-49CA-DB66637C133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68555" y="6294681"/>
                <a:ext cx="371658" cy="375861"/>
              </a:xfrm>
              <a:prstGeom prst="line">
                <a:avLst/>
              </a:prstGeom>
              <a:ln w="57150" cap="rnd">
                <a:solidFill>
                  <a:srgbClr val="0432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9393" name="文本框 59392">
                    <a:extLst>
                      <a:ext uri="{FF2B5EF4-FFF2-40B4-BE49-F238E27FC236}">
                        <a16:creationId xmlns:a16="http://schemas.microsoft.com/office/drawing/2014/main" id="{B7AC91A8-0025-2AB9-27DE-5551B0F71F63}"/>
                      </a:ext>
                    </a:extLst>
                  </p:cNvPr>
                  <p:cNvSpPr txBox="1"/>
                  <p:nvPr/>
                </p:nvSpPr>
                <p:spPr>
                  <a:xfrm>
                    <a:off x="1598075" y="6269027"/>
                    <a:ext cx="514821" cy="42787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kumimoji="1" lang="en-US" altLang="zh-C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nor/>
                                </m:rPr>
                                <a:rPr kumimoji="1" lang="en-US" altLang="zh-CN" sz="1800" b="0" i="0" smtClean="0">
                                  <a:solidFill>
                                    <a:schemeClr val="tx1"/>
                                  </a:solidFill>
                                  <a:latin typeface="+mn-lt"/>
                                </a:rPr>
                                <m:t>2</m:t>
                              </m:r>
                            </m:e>
                            <m:sup>
                              <m:r>
                                <m:rPr>
                                  <m:nor/>
                                </m:rPr>
                                <a:rPr kumimoji="1" lang="en-US" altLang="zh-CN" sz="1800" b="0" i="0" smtClean="0">
                                  <a:solidFill>
                                    <a:schemeClr val="tx1"/>
                                  </a:solidFill>
                                  <a:latin typeface="+mn-lt"/>
                                </a:rPr>
                                <m:t>1</m:t>
                              </m:r>
                            </m:sup>
                          </m:sSup>
                        </m:oMath>
                      </m:oMathPara>
                    </a14:m>
                    <a:endParaRPr kumimoji="1" lang="zh-CN" altLang="en-US" sz="1800" b="0" dirty="0">
                      <a:solidFill>
                        <a:schemeClr val="tx1"/>
                      </a:solidFill>
                      <a:latin typeface="+mn-lt"/>
                    </a:endParaRPr>
                  </a:p>
                </p:txBody>
              </p:sp>
            </mc:Choice>
            <mc:Fallback xmlns="">
              <p:sp>
                <p:nvSpPr>
                  <p:cNvPr id="59598" name="文本框 59597">
                    <a:extLst>
                      <a:ext uri="{FF2B5EF4-FFF2-40B4-BE49-F238E27FC236}">
                        <a16:creationId xmlns:a16="http://schemas.microsoft.com/office/drawing/2014/main" id="{2E78F2D3-CB63-0E8B-9793-1151965F6CD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98075" y="6269027"/>
                    <a:ext cx="514821" cy="427874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影响性能的因素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idx="1"/>
          </p:nvPr>
        </p:nvSpPr>
        <p:spPr>
          <a:xfrm>
            <a:off x="283334" y="1404426"/>
            <a:ext cx="8731876" cy="4525963"/>
          </a:xfrm>
        </p:spPr>
        <p:txBody>
          <a:bodyPr/>
          <a:lstStyle/>
          <a:p>
            <a:r>
              <a:rPr lang="zh-CN" altLang="en-US" sz="28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提高计算机性能的途径</a:t>
            </a:r>
            <a:endParaRPr lang="en-US" altLang="zh-CN" sz="2800" dirty="0"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lvl="1"/>
            <a:r>
              <a:rPr lang="zh-CN" altLang="en-US" sz="24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一些技术可能在减少某一项的同时，会恶化另一项或两项</a:t>
            </a:r>
          </a:p>
          <a:p>
            <a:pPr lvl="2"/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每条指令执行的操作数量     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  <a:sym typeface="Wingdings" panose="05000000000000000000" pitchFamily="2" charset="2"/>
              </a:rPr>
              <a:t> 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指令数</a:t>
            </a:r>
            <a:endParaRPr lang="en-US" altLang="zh-CN" dirty="0">
              <a:solidFill>
                <a:schemeClr val="hlink"/>
              </a:solidFill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1315882" y="3429000"/>
            <a:ext cx="6666779" cy="2257531"/>
            <a:chOff x="1296924" y="3782017"/>
            <a:chExt cx="6666779" cy="2257531"/>
          </a:xfrm>
        </p:grpSpPr>
        <p:grpSp>
          <p:nvGrpSpPr>
            <p:cNvPr id="15" name="Group 14"/>
            <p:cNvGrpSpPr/>
            <p:nvPr/>
          </p:nvGrpSpPr>
          <p:grpSpPr>
            <a:xfrm>
              <a:off x="1296924" y="3782017"/>
              <a:ext cx="6666779" cy="1890440"/>
              <a:chOff x="1296924" y="3782017"/>
              <a:chExt cx="6666779" cy="1890440"/>
            </a:xfrm>
          </p:grpSpPr>
          <p:pic>
            <p:nvPicPr>
              <p:cNvPr id="9" name="Picture 8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608137" y="3782017"/>
                <a:ext cx="1890440" cy="1890440"/>
              </a:xfrm>
              <a:prstGeom prst="rect">
                <a:avLst/>
              </a:prstGeom>
            </p:spPr>
          </p:pic>
          <p:pic>
            <p:nvPicPr>
              <p:cNvPr id="4" name="Picture 3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flipH="1">
                <a:off x="1779291" y="4296298"/>
                <a:ext cx="1778280" cy="1111425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</p:pic>
          <p:cxnSp>
            <p:nvCxnSpPr>
              <p:cNvPr id="19" name="直接连接符 3"/>
              <p:cNvCxnSpPr/>
              <p:nvPr/>
            </p:nvCxnSpPr>
            <p:spPr>
              <a:xfrm>
                <a:off x="1296924" y="4882448"/>
                <a:ext cx="600139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连接符 9"/>
              <p:cNvCxnSpPr/>
              <p:nvPr/>
            </p:nvCxnSpPr>
            <p:spPr>
              <a:xfrm>
                <a:off x="1296924" y="5282821"/>
                <a:ext cx="2820692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 22"/>
              <p:cNvCxnSpPr/>
              <p:nvPr/>
            </p:nvCxnSpPr>
            <p:spPr>
              <a:xfrm>
                <a:off x="5143011" y="4882448"/>
                <a:ext cx="686289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3"/>
              <p:cNvCxnSpPr/>
              <p:nvPr/>
            </p:nvCxnSpPr>
            <p:spPr>
              <a:xfrm>
                <a:off x="5143011" y="5282821"/>
                <a:ext cx="2820692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"/>
              <p:cNvCxnSpPr/>
              <p:nvPr/>
            </p:nvCxnSpPr>
            <p:spPr>
              <a:xfrm>
                <a:off x="3433763" y="4882448"/>
                <a:ext cx="683853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22"/>
              <p:cNvCxnSpPr/>
              <p:nvPr/>
            </p:nvCxnSpPr>
            <p:spPr>
              <a:xfrm>
                <a:off x="7310478" y="4882448"/>
                <a:ext cx="653225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5" name="Arrow: Down 34"/>
            <p:cNvSpPr/>
            <p:nvPr/>
          </p:nvSpPr>
          <p:spPr>
            <a:xfrm rot="16200000">
              <a:off x="4441561" y="4424212"/>
              <a:ext cx="377505" cy="706635"/>
            </a:xfrm>
            <a:prstGeom prst="downArrow">
              <a:avLst>
                <a:gd name="adj1" fmla="val 33619"/>
                <a:gd name="adj2" fmla="val 79567"/>
              </a:avLst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noAutofit/>
            </a:bodyPr>
            <a:lstStyle/>
            <a:p>
              <a:pPr algn="l"/>
              <a:endParaRPr lang="zh-CN" altLang="en-US"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" name="Rectangle 2"/>
            <p:cNvSpPr txBox="1">
              <a:spLocks noChangeArrowheads="1"/>
            </p:cNvSpPr>
            <p:nvPr/>
          </p:nvSpPr>
          <p:spPr>
            <a:xfrm>
              <a:off x="3161654" y="5407723"/>
              <a:ext cx="2820692" cy="631825"/>
            </a:xfrm>
            <a:prstGeom prst="rect">
              <a:avLst/>
            </a:prstGeom>
          </p:spPr>
          <p:txBody>
            <a:bodyPr vert="horz" wrap="none" lIns="91440" tIns="45720" rIns="91440" bIns="45720" rtlCol="0" anchor="ctr">
              <a:normAutofit/>
            </a:bodyPr>
            <a:lstStyle>
              <a:lvl1pPr algn="l" defTabSz="685800" rtl="0" eaLnBrk="1" latinLnBrk="0" hangingPunct="1">
                <a:spcBef>
                  <a:spcPct val="0"/>
                </a:spcBef>
                <a:buNone/>
                <a:defRPr sz="4000" b="1" kern="1200">
                  <a:solidFill>
                    <a:schemeClr val="tx1"/>
                  </a:solidFill>
                  <a:latin typeface="Arial" panose="020B0604020202020204" pitchFamily="34" charset="0"/>
                  <a:ea typeface="STHeiti" panose="02010600040101010101" pitchFamily="2" charset="-122"/>
                  <a:cs typeface="Arial" panose="020B0604020202020204" pitchFamily="34" charset="0"/>
                </a:defRPr>
              </a:lvl1pPr>
            </a:lstStyle>
            <a:p>
              <a:pPr fontAlgn="auto">
                <a:spcAft>
                  <a:spcPts val="0"/>
                </a:spcAft>
              </a:pPr>
              <a:r>
                <a:rPr lang="zh-CN" altLang="en-US" sz="2400" dirty="0">
                  <a:solidFill>
                    <a:srgbClr val="0432FF"/>
                  </a:solidFill>
                  <a:ea typeface="黑体" panose="02010609060101010101" pitchFamily="49" charset="-122"/>
                </a:rPr>
                <a:t>容量更大，时间更长</a:t>
              </a:r>
            </a:p>
          </p:txBody>
        </p:sp>
      </p:grpSp>
      <p:cxnSp>
        <p:nvCxnSpPr>
          <p:cNvPr id="17" name="Straight Arrow Connector 16"/>
          <p:cNvCxnSpPr/>
          <p:nvPr/>
        </p:nvCxnSpPr>
        <p:spPr>
          <a:xfrm flipV="1">
            <a:off x="6827164" y="2438108"/>
            <a:ext cx="0" cy="304800"/>
          </a:xfrm>
          <a:prstGeom prst="straightConnector1">
            <a:avLst/>
          </a:prstGeom>
          <a:ln w="41275" cap="rnd">
            <a:solidFill>
              <a:srgbClr val="C000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flipV="1">
            <a:off x="5098233" y="2395076"/>
            <a:ext cx="0" cy="304800"/>
          </a:xfrm>
          <a:prstGeom prst="straightConnector1">
            <a:avLst/>
          </a:prstGeom>
          <a:ln w="41275" cap="rnd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7ADEBD6-E479-7DD4-25EF-2A804A931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t>54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1005801" flipV="1">
            <a:off x="3986286" y="2853088"/>
            <a:ext cx="1171428" cy="682789"/>
          </a:xfrm>
          <a:prstGeom prst="rect">
            <a:avLst/>
          </a:prstGeom>
        </p:spPr>
      </p:pic>
      <p:sp>
        <p:nvSpPr>
          <p:cNvPr id="11" name="内容占位符 2"/>
          <p:cNvSpPr>
            <a:spLocks noGrp="1"/>
          </p:cNvSpPr>
          <p:nvPr>
            <p:ph idx="1"/>
          </p:nvPr>
        </p:nvSpPr>
        <p:spPr>
          <a:xfrm>
            <a:off x="457200" y="1349727"/>
            <a:ext cx="8229600" cy="4525963"/>
          </a:xfrm>
        </p:spPr>
        <p:txBody>
          <a:bodyPr/>
          <a:lstStyle/>
          <a:p>
            <a:r>
              <a:rPr kumimoji="1"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高速公路带来的启发</a:t>
            </a:r>
            <a:endParaRPr kumimoji="1"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endParaRPr kumimoji="1" lang="zh-CN" altLang="en-US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046648" y="4506264"/>
            <a:ext cx="3506552" cy="126188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l"/>
            <a:r>
              <a:rPr lang="zh-CN" altLang="en-US" sz="28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一次执行一条指令</a:t>
            </a:r>
            <a:endParaRPr lang="en-US" altLang="zh-CN" sz="2800" dirty="0">
              <a:solidFill>
                <a:schemeClr val="tx1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一条路一辆车</a:t>
            </a:r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效率低下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36525"/>
            <a:ext cx="8229600" cy="1143000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影响性能的因素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4DD3C57-6D30-6598-7FAC-B4AD5C912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t>55</a:t>
            </a:fld>
            <a:endParaRPr lang="en-US" altLang="zh-CN"/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FE6B5D9B-7F00-A996-B2F2-79CFF21E6250}"/>
              </a:ext>
            </a:extLst>
          </p:cNvPr>
          <p:cNvGrpSpPr/>
          <p:nvPr/>
        </p:nvGrpSpPr>
        <p:grpSpPr>
          <a:xfrm>
            <a:off x="2315396" y="3585942"/>
            <a:ext cx="4879993" cy="767200"/>
            <a:chOff x="2315396" y="3784722"/>
            <a:chExt cx="4879993" cy="767200"/>
          </a:xfrm>
        </p:grpSpPr>
        <p:sp>
          <p:nvSpPr>
            <p:cNvPr id="6" name="Freeform: Shape 5"/>
            <p:cNvSpPr/>
            <p:nvPr/>
          </p:nvSpPr>
          <p:spPr>
            <a:xfrm rot="16555416" flipV="1">
              <a:off x="4387713" y="1912014"/>
              <a:ext cx="706492" cy="4451908"/>
            </a:xfrm>
            <a:custGeom>
              <a:avLst/>
              <a:gdLst>
                <a:gd name="connsiteX0" fmla="*/ 205530 w 383333"/>
                <a:gd name="connsiteY0" fmla="*/ 0 h 2348917"/>
                <a:gd name="connsiteX1" fmla="*/ 377505 w 383333"/>
                <a:gd name="connsiteY1" fmla="*/ 713064 h 2348917"/>
                <a:gd name="connsiteX2" fmla="*/ 310393 w 383333"/>
                <a:gd name="connsiteY2" fmla="*/ 1749104 h 2348917"/>
                <a:gd name="connsiteX3" fmla="*/ 0 w 383333"/>
                <a:gd name="connsiteY3" fmla="*/ 2348917 h 2348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3333" h="2348917">
                  <a:moveTo>
                    <a:pt x="205530" y="0"/>
                  </a:moveTo>
                  <a:cubicBezTo>
                    <a:pt x="282779" y="210773"/>
                    <a:pt x="360028" y="421547"/>
                    <a:pt x="377505" y="713064"/>
                  </a:cubicBezTo>
                  <a:cubicBezTo>
                    <a:pt x="394982" y="1004581"/>
                    <a:pt x="373311" y="1476462"/>
                    <a:pt x="310393" y="1749104"/>
                  </a:cubicBezTo>
                  <a:cubicBezTo>
                    <a:pt x="247476" y="2021746"/>
                    <a:pt x="123738" y="2185331"/>
                    <a:pt x="0" y="2348917"/>
                  </a:cubicBezTo>
                </a:path>
              </a:pathLst>
            </a:custGeom>
            <a:noFill/>
            <a:ln w="38100" cap="rnd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4600"/>
            </a:p>
          </p:txBody>
        </p:sp>
        <p:sp>
          <p:nvSpPr>
            <p:cNvPr id="16" name="Star: 5 Points 15"/>
            <p:cNvSpPr/>
            <p:nvPr/>
          </p:nvSpPr>
          <p:spPr>
            <a:xfrm>
              <a:off x="6754333" y="4110866"/>
              <a:ext cx="441056" cy="441056"/>
            </a:xfrm>
            <a:prstGeom prst="star5">
              <a:avLst/>
            </a:prstGeom>
            <a:solidFill>
              <a:schemeClr val="bg1"/>
            </a:solidFill>
            <a:ln w="38100">
              <a:solidFill>
                <a:srgbClr val="C0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noAutofit/>
            </a:bodyPr>
            <a:lstStyle/>
            <a:p>
              <a:pPr algn="l"/>
              <a:endParaRPr lang="en-US"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9AC81D47-FE85-862A-D0DE-363885F89AE3}"/>
                </a:ext>
              </a:extLst>
            </p:cNvPr>
            <p:cNvGrpSpPr/>
            <p:nvPr/>
          </p:nvGrpSpPr>
          <p:grpSpPr>
            <a:xfrm>
              <a:off x="2315396" y="4110866"/>
              <a:ext cx="367511" cy="367511"/>
              <a:chOff x="2388941" y="4145967"/>
              <a:chExt cx="273187" cy="273187"/>
            </a:xfrm>
          </p:grpSpPr>
          <p:sp>
            <p:nvSpPr>
              <p:cNvPr id="7" name="椭圆 6">
                <a:extLst>
                  <a:ext uri="{FF2B5EF4-FFF2-40B4-BE49-F238E27FC236}">
                    <a16:creationId xmlns:a16="http://schemas.microsoft.com/office/drawing/2014/main" id="{F49F7ABA-B92E-E06C-91A8-01CC0BC23F1E}"/>
                  </a:ext>
                </a:extLst>
              </p:cNvPr>
              <p:cNvSpPr/>
              <p:nvPr/>
            </p:nvSpPr>
            <p:spPr>
              <a:xfrm>
                <a:off x="2388941" y="4145967"/>
                <a:ext cx="273187" cy="273187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8" name="椭圆 7">
                <a:extLst>
                  <a:ext uri="{FF2B5EF4-FFF2-40B4-BE49-F238E27FC236}">
                    <a16:creationId xmlns:a16="http://schemas.microsoft.com/office/drawing/2014/main" id="{3514B983-21D9-2984-781D-07AF37E7BDB2}"/>
                  </a:ext>
                </a:extLst>
              </p:cNvPr>
              <p:cNvSpPr/>
              <p:nvPr/>
            </p:nvSpPr>
            <p:spPr>
              <a:xfrm>
                <a:off x="2463757" y="4220783"/>
                <a:ext cx="123555" cy="123555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74685" flipH="1">
            <a:off x="3783820" y="2862471"/>
            <a:ext cx="1791916" cy="859723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3131429" y="4350030"/>
            <a:ext cx="2881141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8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流水线执行指令</a:t>
            </a:r>
            <a:endParaRPr lang="en-US" altLang="zh-CN" sz="2800" dirty="0">
              <a:solidFill>
                <a:schemeClr val="tx1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一条路多辆车</a:t>
            </a:r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优点：效率提高</a:t>
            </a:r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不同车速度不同？</a:t>
            </a:r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依赖性？</a:t>
            </a:r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36525"/>
            <a:ext cx="8229600" cy="1143000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影响性能的因素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F23DA524-3F87-707C-4D9B-3C9571FFF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t>56</a:t>
            </a:fld>
            <a:endParaRPr lang="en-US" altLang="zh-CN"/>
          </a:p>
        </p:txBody>
      </p:sp>
      <p:pic>
        <p:nvPicPr>
          <p:cNvPr id="14" name="Graphic 4">
            <a:extLst>
              <a:ext uri="{FF2B5EF4-FFF2-40B4-BE49-F238E27FC236}">
                <a16:creationId xmlns:a16="http://schemas.microsoft.com/office/drawing/2014/main" id="{DEB16711-C7F7-F9D7-76B0-EF37C0DBE2C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9569292" flipV="1">
            <a:off x="2428626" y="3044382"/>
            <a:ext cx="1171428" cy="682789"/>
          </a:xfrm>
          <a:prstGeom prst="rect">
            <a:avLst/>
          </a:prstGeom>
        </p:spPr>
      </p:pic>
      <p:pic>
        <p:nvPicPr>
          <p:cNvPr id="15" name="Graphic 4">
            <a:extLst>
              <a:ext uri="{FF2B5EF4-FFF2-40B4-BE49-F238E27FC236}">
                <a16:creationId xmlns:a16="http://schemas.microsoft.com/office/drawing/2014/main" id="{62F2D042-A7EC-AF2A-0FAE-18BC620C1D9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1944691" flipV="1">
            <a:off x="5780311" y="3124371"/>
            <a:ext cx="1171428" cy="682789"/>
          </a:xfrm>
          <a:prstGeom prst="rect">
            <a:avLst/>
          </a:prstGeom>
        </p:spPr>
      </p:pic>
      <p:grpSp>
        <p:nvGrpSpPr>
          <p:cNvPr id="20" name="组合 19">
            <a:extLst>
              <a:ext uri="{FF2B5EF4-FFF2-40B4-BE49-F238E27FC236}">
                <a16:creationId xmlns:a16="http://schemas.microsoft.com/office/drawing/2014/main" id="{5B74682F-12B0-0886-1438-89BD1975D0E9}"/>
              </a:ext>
            </a:extLst>
          </p:cNvPr>
          <p:cNvGrpSpPr/>
          <p:nvPr/>
        </p:nvGrpSpPr>
        <p:grpSpPr>
          <a:xfrm>
            <a:off x="2315396" y="3585942"/>
            <a:ext cx="4879993" cy="767200"/>
            <a:chOff x="2315396" y="3784722"/>
            <a:chExt cx="4879993" cy="767200"/>
          </a:xfrm>
        </p:grpSpPr>
        <p:sp>
          <p:nvSpPr>
            <p:cNvPr id="24" name="Freeform: Shape 5">
              <a:extLst>
                <a:ext uri="{FF2B5EF4-FFF2-40B4-BE49-F238E27FC236}">
                  <a16:creationId xmlns:a16="http://schemas.microsoft.com/office/drawing/2014/main" id="{2C41475F-04A7-A9B5-5A7E-033B9ED43300}"/>
                </a:ext>
              </a:extLst>
            </p:cNvPr>
            <p:cNvSpPr/>
            <p:nvPr/>
          </p:nvSpPr>
          <p:spPr>
            <a:xfrm rot="16555416" flipV="1">
              <a:off x="4387713" y="1912014"/>
              <a:ext cx="706492" cy="4451908"/>
            </a:xfrm>
            <a:custGeom>
              <a:avLst/>
              <a:gdLst>
                <a:gd name="connsiteX0" fmla="*/ 205530 w 383333"/>
                <a:gd name="connsiteY0" fmla="*/ 0 h 2348917"/>
                <a:gd name="connsiteX1" fmla="*/ 377505 w 383333"/>
                <a:gd name="connsiteY1" fmla="*/ 713064 h 2348917"/>
                <a:gd name="connsiteX2" fmla="*/ 310393 w 383333"/>
                <a:gd name="connsiteY2" fmla="*/ 1749104 h 2348917"/>
                <a:gd name="connsiteX3" fmla="*/ 0 w 383333"/>
                <a:gd name="connsiteY3" fmla="*/ 2348917 h 2348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3333" h="2348917">
                  <a:moveTo>
                    <a:pt x="205530" y="0"/>
                  </a:moveTo>
                  <a:cubicBezTo>
                    <a:pt x="282779" y="210773"/>
                    <a:pt x="360028" y="421547"/>
                    <a:pt x="377505" y="713064"/>
                  </a:cubicBezTo>
                  <a:cubicBezTo>
                    <a:pt x="394982" y="1004581"/>
                    <a:pt x="373311" y="1476462"/>
                    <a:pt x="310393" y="1749104"/>
                  </a:cubicBezTo>
                  <a:cubicBezTo>
                    <a:pt x="247476" y="2021746"/>
                    <a:pt x="123738" y="2185331"/>
                    <a:pt x="0" y="2348917"/>
                  </a:cubicBezTo>
                </a:path>
              </a:pathLst>
            </a:custGeom>
            <a:noFill/>
            <a:ln w="38100" cap="rnd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4600"/>
            </a:p>
          </p:txBody>
        </p:sp>
        <p:sp>
          <p:nvSpPr>
            <p:cNvPr id="25" name="Star: 5 Points 15">
              <a:extLst>
                <a:ext uri="{FF2B5EF4-FFF2-40B4-BE49-F238E27FC236}">
                  <a16:creationId xmlns:a16="http://schemas.microsoft.com/office/drawing/2014/main" id="{16F0CFCB-8D7E-04D5-9685-32DF0E9A7B55}"/>
                </a:ext>
              </a:extLst>
            </p:cNvPr>
            <p:cNvSpPr/>
            <p:nvPr/>
          </p:nvSpPr>
          <p:spPr>
            <a:xfrm>
              <a:off x="6754333" y="4110866"/>
              <a:ext cx="441056" cy="441056"/>
            </a:xfrm>
            <a:prstGeom prst="star5">
              <a:avLst/>
            </a:prstGeom>
            <a:solidFill>
              <a:schemeClr val="bg1"/>
            </a:solidFill>
            <a:ln w="38100">
              <a:solidFill>
                <a:srgbClr val="C0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noAutofit/>
            </a:bodyPr>
            <a:lstStyle/>
            <a:p>
              <a:pPr algn="l"/>
              <a:endParaRPr lang="en-US"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11A5B46C-B030-9062-F095-7F1B1B2E6D54}"/>
                </a:ext>
              </a:extLst>
            </p:cNvPr>
            <p:cNvGrpSpPr/>
            <p:nvPr/>
          </p:nvGrpSpPr>
          <p:grpSpPr>
            <a:xfrm>
              <a:off x="2315396" y="4110866"/>
              <a:ext cx="367511" cy="367511"/>
              <a:chOff x="2388941" y="4145967"/>
              <a:chExt cx="273187" cy="273187"/>
            </a:xfrm>
          </p:grpSpPr>
          <p:sp>
            <p:nvSpPr>
              <p:cNvPr id="27" name="椭圆 26">
                <a:extLst>
                  <a:ext uri="{FF2B5EF4-FFF2-40B4-BE49-F238E27FC236}">
                    <a16:creationId xmlns:a16="http://schemas.microsoft.com/office/drawing/2014/main" id="{4C76EDED-91D2-1E66-05A6-3C2A254DC972}"/>
                  </a:ext>
                </a:extLst>
              </p:cNvPr>
              <p:cNvSpPr/>
              <p:nvPr/>
            </p:nvSpPr>
            <p:spPr>
              <a:xfrm>
                <a:off x="2388941" y="4145967"/>
                <a:ext cx="273187" cy="273187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8" name="椭圆 27">
                <a:extLst>
                  <a:ext uri="{FF2B5EF4-FFF2-40B4-BE49-F238E27FC236}">
                    <a16:creationId xmlns:a16="http://schemas.microsoft.com/office/drawing/2014/main" id="{C1F6601C-D3FA-12F6-2837-CA01ED803B17}"/>
                  </a:ext>
                </a:extLst>
              </p:cNvPr>
              <p:cNvSpPr/>
              <p:nvPr/>
            </p:nvSpPr>
            <p:spPr>
              <a:xfrm>
                <a:off x="2463757" y="4220783"/>
                <a:ext cx="123555" cy="123555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sp>
        <p:nvSpPr>
          <p:cNvPr id="29" name="内容占位符 2">
            <a:extLst>
              <a:ext uri="{FF2B5EF4-FFF2-40B4-BE49-F238E27FC236}">
                <a16:creationId xmlns:a16="http://schemas.microsoft.com/office/drawing/2014/main" id="{3FD994CA-E6E6-B863-93FB-31F81B6B4A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9727"/>
            <a:ext cx="8229600" cy="4525963"/>
          </a:xfrm>
        </p:spPr>
        <p:txBody>
          <a:bodyPr/>
          <a:lstStyle/>
          <a:p>
            <a:r>
              <a:rPr kumimoji="1"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高速公路带来的启发</a:t>
            </a:r>
            <a:endParaRPr kumimoji="1"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endParaRPr kumimoji="1" lang="zh-CN" altLang="en-US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内容占位符 2">
            <a:extLst>
              <a:ext uri="{FF2B5EF4-FFF2-40B4-BE49-F238E27FC236}">
                <a16:creationId xmlns:a16="http://schemas.microsoft.com/office/drawing/2014/main" id="{2FBF1B96-DE9B-DD7A-FAA7-E7D37A0DC8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9727"/>
            <a:ext cx="8229600" cy="4525963"/>
          </a:xfrm>
        </p:spPr>
        <p:txBody>
          <a:bodyPr/>
          <a:lstStyle/>
          <a:p>
            <a:r>
              <a:rPr kumimoji="1"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高速公路带来的启发</a:t>
            </a:r>
            <a:endParaRPr kumimoji="1"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endParaRPr kumimoji="1" lang="zh-CN" altLang="en-US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564894" y="4957494"/>
            <a:ext cx="3396191" cy="163121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l"/>
            <a:r>
              <a:rPr lang="zh-CN" altLang="en-US" sz="28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并行执行多条指令</a:t>
            </a:r>
            <a:endParaRPr lang="en-US" altLang="zh-CN" sz="2800" dirty="0">
              <a:solidFill>
                <a:schemeClr val="tx1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多条路多辆车</a:t>
            </a:r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优点：更高的吞吐量</a:t>
            </a:r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现在的瓶颈？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1811EBF9-1DE3-2526-5265-55AE21F94990}"/>
              </a:ext>
            </a:extLst>
          </p:cNvPr>
          <p:cNvGrpSpPr/>
          <p:nvPr/>
        </p:nvGrpSpPr>
        <p:grpSpPr>
          <a:xfrm>
            <a:off x="6081004" y="4814287"/>
            <a:ext cx="2605796" cy="1789632"/>
            <a:chOff x="7154471" y="3554250"/>
            <a:chExt cx="2605796" cy="1789632"/>
          </a:xfrm>
        </p:grpSpPr>
        <p:cxnSp>
          <p:nvCxnSpPr>
            <p:cNvPr id="26" name="Straight Connector 25"/>
            <p:cNvCxnSpPr/>
            <p:nvPr/>
          </p:nvCxnSpPr>
          <p:spPr>
            <a:xfrm>
              <a:off x="7154471" y="3755866"/>
              <a:ext cx="1739063" cy="0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7154471" y="4490005"/>
              <a:ext cx="1352446" cy="0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7172529" y="5180752"/>
              <a:ext cx="1352446" cy="0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23" name="Graphic 2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flipH="1">
              <a:off x="7490988" y="3554250"/>
              <a:ext cx="950375" cy="474911"/>
            </a:xfrm>
            <a:prstGeom prst="rect">
              <a:avLst/>
            </a:prstGeom>
          </p:spPr>
        </p:pic>
        <p:pic>
          <p:nvPicPr>
            <p:cNvPr id="24" name="Graphic 23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flipH="1">
              <a:off x="7488497" y="4239651"/>
              <a:ext cx="656574" cy="413484"/>
            </a:xfrm>
            <a:prstGeom prst="rect">
              <a:avLst/>
            </a:prstGeom>
          </p:spPr>
        </p:pic>
        <p:pic>
          <p:nvPicPr>
            <p:cNvPr id="25" name="Graphic 24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flipH="1">
              <a:off x="7495582" y="4919113"/>
              <a:ext cx="656574" cy="413484"/>
            </a:xfrm>
            <a:prstGeom prst="rect">
              <a:avLst/>
            </a:prstGeom>
          </p:spPr>
        </p:pic>
        <p:cxnSp>
          <p:nvCxnSpPr>
            <p:cNvPr id="15" name="Straight Connector 14"/>
            <p:cNvCxnSpPr/>
            <p:nvPr/>
          </p:nvCxnSpPr>
          <p:spPr>
            <a:xfrm>
              <a:off x="7159447" y="3918996"/>
              <a:ext cx="1353820" cy="0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7159447" y="4653135"/>
              <a:ext cx="1353820" cy="0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7177505" y="5343882"/>
              <a:ext cx="1716029" cy="0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 flipV="1">
              <a:off x="8506917" y="3918996"/>
              <a:ext cx="0" cy="571009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>
            <a:xfrm flipV="1">
              <a:off x="8513267" y="4653135"/>
              <a:ext cx="0" cy="527617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1" name="Straight Connector 60"/>
            <p:cNvCxnSpPr/>
            <p:nvPr/>
          </p:nvCxnSpPr>
          <p:spPr>
            <a:xfrm flipV="1">
              <a:off x="8893534" y="3755866"/>
              <a:ext cx="0" cy="392782"/>
            </a:xfrm>
            <a:prstGeom prst="line">
              <a:avLst/>
            </a:prstGeom>
            <a:ln w="25400" cap="rnd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3" name="Straight Connector 62"/>
            <p:cNvCxnSpPr/>
            <p:nvPr/>
          </p:nvCxnSpPr>
          <p:spPr>
            <a:xfrm flipV="1">
              <a:off x="8893534" y="4890466"/>
              <a:ext cx="0" cy="453416"/>
            </a:xfrm>
            <a:prstGeom prst="line">
              <a:avLst/>
            </a:prstGeom>
            <a:ln w="25400" cap="rnd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/>
            <p:nvPr/>
          </p:nvCxnSpPr>
          <p:spPr>
            <a:xfrm>
              <a:off x="8893534" y="4148648"/>
              <a:ext cx="721458" cy="0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/>
            <p:nvPr/>
          </p:nvCxnSpPr>
          <p:spPr>
            <a:xfrm>
              <a:off x="8893534" y="4890466"/>
              <a:ext cx="721458" cy="0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69" name="Graphic 68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flipH="1">
              <a:off x="8624382" y="4434088"/>
              <a:ext cx="656574" cy="413484"/>
            </a:xfrm>
            <a:prstGeom prst="rect">
              <a:avLst/>
            </a:prstGeom>
          </p:spPr>
        </p:pic>
        <p:pic>
          <p:nvPicPr>
            <p:cNvPr id="70" name="Graphic 69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flipH="1">
              <a:off x="8607277" y="4021497"/>
              <a:ext cx="656574" cy="413484"/>
            </a:xfrm>
            <a:prstGeom prst="rect">
              <a:avLst/>
            </a:prstGeom>
          </p:spPr>
        </p:pic>
        <p:grpSp>
          <p:nvGrpSpPr>
            <p:cNvPr id="99" name="Group 98"/>
            <p:cNvGrpSpPr/>
            <p:nvPr/>
          </p:nvGrpSpPr>
          <p:grpSpPr>
            <a:xfrm>
              <a:off x="9267610" y="3656040"/>
              <a:ext cx="389495" cy="400145"/>
              <a:chOff x="6874669" y="2076450"/>
              <a:chExt cx="609600" cy="626269"/>
            </a:xfrm>
            <a:solidFill>
              <a:srgbClr val="0070C0"/>
            </a:solidFill>
          </p:grpSpPr>
          <p:sp>
            <p:nvSpPr>
              <p:cNvPr id="68" name="Oval 67"/>
              <p:cNvSpPr/>
              <p:nvPr/>
            </p:nvSpPr>
            <p:spPr>
              <a:xfrm>
                <a:off x="6986230" y="2152792"/>
                <a:ext cx="220979" cy="22097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 anchor="ctr">
                <a:noAutofit/>
              </a:bodyPr>
              <a:lstStyle/>
              <a:p>
                <a:pPr algn="l"/>
                <a:endParaRPr lang="zh-CN" altLang="en-US" sz="1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1" name="Rectangle: Top Corners Rounded 70"/>
              <p:cNvSpPr/>
              <p:nvPr/>
            </p:nvSpPr>
            <p:spPr>
              <a:xfrm>
                <a:off x="6986229" y="2386084"/>
                <a:ext cx="220980" cy="202203"/>
              </a:xfrm>
              <a:prstGeom prst="round2SameRect">
                <a:avLst/>
              </a:prstGeom>
              <a:grp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 anchor="ctr">
                <a:noAutofit/>
              </a:bodyPr>
              <a:lstStyle/>
              <a:p>
                <a:pPr algn="l"/>
                <a:endParaRPr lang="zh-CN" altLang="en-US" sz="1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73" name="Straight Connector 72"/>
              <p:cNvCxnSpPr/>
              <p:nvPr/>
            </p:nvCxnSpPr>
            <p:spPr>
              <a:xfrm>
                <a:off x="7188484" y="2443538"/>
                <a:ext cx="90997" cy="90997"/>
              </a:xfrm>
              <a:prstGeom prst="line">
                <a:avLst/>
              </a:prstGeom>
              <a:grpFill/>
              <a:ln w="76200" cap="rnd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/>
              <p:cNvCxnSpPr/>
              <p:nvPr/>
            </p:nvCxnSpPr>
            <p:spPr>
              <a:xfrm>
                <a:off x="7279481" y="2541970"/>
                <a:ext cx="115854" cy="0"/>
              </a:xfrm>
              <a:prstGeom prst="line">
                <a:avLst/>
              </a:prstGeom>
              <a:grpFill/>
              <a:ln w="69850" cap="rnd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/>
              <p:cNvCxnSpPr/>
              <p:nvPr/>
            </p:nvCxnSpPr>
            <p:spPr>
              <a:xfrm flipV="1">
                <a:off x="7362558" y="2076450"/>
                <a:ext cx="0" cy="276225"/>
              </a:xfrm>
              <a:prstGeom prst="line">
                <a:avLst/>
              </a:prstGeom>
              <a:grpFill/>
              <a:ln w="31750" cap="rnd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/>
              <p:cNvCxnSpPr/>
              <p:nvPr/>
            </p:nvCxnSpPr>
            <p:spPr>
              <a:xfrm>
                <a:off x="6874669" y="2076450"/>
                <a:ext cx="487889" cy="0"/>
              </a:xfrm>
              <a:prstGeom prst="line">
                <a:avLst/>
              </a:prstGeom>
              <a:grpFill/>
              <a:ln w="31750" cap="rnd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/>
              <p:cNvCxnSpPr/>
              <p:nvPr/>
            </p:nvCxnSpPr>
            <p:spPr>
              <a:xfrm flipV="1">
                <a:off x="7362558" y="2638425"/>
                <a:ext cx="0" cy="64294"/>
              </a:xfrm>
              <a:prstGeom prst="line">
                <a:avLst/>
              </a:prstGeom>
              <a:grpFill/>
              <a:ln w="31750" cap="rnd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/>
              <p:cNvCxnSpPr/>
              <p:nvPr/>
            </p:nvCxnSpPr>
            <p:spPr>
              <a:xfrm>
                <a:off x="6874669" y="2702719"/>
                <a:ext cx="487889" cy="0"/>
              </a:xfrm>
              <a:prstGeom prst="line">
                <a:avLst/>
              </a:prstGeom>
              <a:grpFill/>
              <a:ln w="31750" cap="rnd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/>
              <p:cNvCxnSpPr/>
              <p:nvPr/>
            </p:nvCxnSpPr>
            <p:spPr>
              <a:xfrm flipV="1">
                <a:off x="6874669" y="2076450"/>
                <a:ext cx="0" cy="626269"/>
              </a:xfrm>
              <a:prstGeom prst="line">
                <a:avLst/>
              </a:prstGeom>
              <a:grpFill/>
              <a:ln w="31750" cap="rnd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/>
              <p:cNvCxnSpPr/>
              <p:nvPr/>
            </p:nvCxnSpPr>
            <p:spPr>
              <a:xfrm>
                <a:off x="7395335" y="2443538"/>
                <a:ext cx="88934" cy="0"/>
              </a:xfrm>
              <a:prstGeom prst="line">
                <a:avLst/>
              </a:prstGeom>
              <a:grpFill/>
              <a:ln w="5080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3" name="Group 112"/>
            <p:cNvGrpSpPr/>
            <p:nvPr/>
          </p:nvGrpSpPr>
          <p:grpSpPr>
            <a:xfrm>
              <a:off x="9370772" y="4186034"/>
              <a:ext cx="389495" cy="400145"/>
              <a:chOff x="6874669" y="2076450"/>
              <a:chExt cx="609600" cy="626269"/>
            </a:xfrm>
            <a:solidFill>
              <a:srgbClr val="0070C0"/>
            </a:solidFill>
          </p:grpSpPr>
          <p:sp>
            <p:nvSpPr>
              <p:cNvPr id="114" name="Oval 113"/>
              <p:cNvSpPr/>
              <p:nvPr/>
            </p:nvSpPr>
            <p:spPr>
              <a:xfrm>
                <a:off x="6986230" y="2152792"/>
                <a:ext cx="220979" cy="22097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 anchor="ctr">
                <a:noAutofit/>
              </a:bodyPr>
              <a:lstStyle/>
              <a:p>
                <a:pPr algn="l"/>
                <a:endParaRPr lang="zh-CN" altLang="en-US" sz="1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5" name="Rectangle: Top Corners Rounded 114"/>
              <p:cNvSpPr/>
              <p:nvPr/>
            </p:nvSpPr>
            <p:spPr>
              <a:xfrm>
                <a:off x="6986229" y="2386084"/>
                <a:ext cx="220980" cy="202203"/>
              </a:xfrm>
              <a:prstGeom prst="round2SameRect">
                <a:avLst/>
              </a:prstGeom>
              <a:grp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 anchor="ctr">
                <a:noAutofit/>
              </a:bodyPr>
              <a:lstStyle/>
              <a:p>
                <a:pPr algn="l"/>
                <a:endParaRPr lang="zh-CN" altLang="en-US" sz="1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116" name="Straight Connector 115"/>
              <p:cNvCxnSpPr/>
              <p:nvPr/>
            </p:nvCxnSpPr>
            <p:spPr>
              <a:xfrm>
                <a:off x="7188484" y="2443538"/>
                <a:ext cx="90997" cy="90997"/>
              </a:xfrm>
              <a:prstGeom prst="line">
                <a:avLst/>
              </a:prstGeom>
              <a:grpFill/>
              <a:ln w="76200" cap="rnd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Connector 116"/>
              <p:cNvCxnSpPr/>
              <p:nvPr/>
            </p:nvCxnSpPr>
            <p:spPr>
              <a:xfrm>
                <a:off x="7279481" y="2541970"/>
                <a:ext cx="115854" cy="0"/>
              </a:xfrm>
              <a:prstGeom prst="line">
                <a:avLst/>
              </a:prstGeom>
              <a:grpFill/>
              <a:ln w="69850" cap="rnd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Connector 117"/>
              <p:cNvCxnSpPr/>
              <p:nvPr/>
            </p:nvCxnSpPr>
            <p:spPr>
              <a:xfrm flipV="1">
                <a:off x="7362558" y="2076450"/>
                <a:ext cx="0" cy="276225"/>
              </a:xfrm>
              <a:prstGeom prst="line">
                <a:avLst/>
              </a:prstGeom>
              <a:grpFill/>
              <a:ln w="31750" cap="rnd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Straight Connector 118"/>
              <p:cNvCxnSpPr/>
              <p:nvPr/>
            </p:nvCxnSpPr>
            <p:spPr>
              <a:xfrm>
                <a:off x="6874669" y="2076450"/>
                <a:ext cx="487889" cy="0"/>
              </a:xfrm>
              <a:prstGeom prst="line">
                <a:avLst/>
              </a:prstGeom>
              <a:grpFill/>
              <a:ln w="31750" cap="rnd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Straight Connector 119"/>
              <p:cNvCxnSpPr/>
              <p:nvPr/>
            </p:nvCxnSpPr>
            <p:spPr>
              <a:xfrm flipV="1">
                <a:off x="7362558" y="2638425"/>
                <a:ext cx="0" cy="64294"/>
              </a:xfrm>
              <a:prstGeom prst="line">
                <a:avLst/>
              </a:prstGeom>
              <a:grpFill/>
              <a:ln w="31750" cap="rnd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Straight Connector 120"/>
              <p:cNvCxnSpPr/>
              <p:nvPr/>
            </p:nvCxnSpPr>
            <p:spPr>
              <a:xfrm>
                <a:off x="6874669" y="2702719"/>
                <a:ext cx="487889" cy="0"/>
              </a:xfrm>
              <a:prstGeom prst="line">
                <a:avLst/>
              </a:prstGeom>
              <a:grpFill/>
              <a:ln w="31750" cap="rnd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Straight Connector 121"/>
              <p:cNvCxnSpPr/>
              <p:nvPr/>
            </p:nvCxnSpPr>
            <p:spPr>
              <a:xfrm flipV="1">
                <a:off x="6874669" y="2076450"/>
                <a:ext cx="0" cy="626269"/>
              </a:xfrm>
              <a:prstGeom prst="line">
                <a:avLst/>
              </a:prstGeom>
              <a:grpFill/>
              <a:ln w="31750" cap="rnd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Connector 122"/>
              <p:cNvCxnSpPr/>
              <p:nvPr/>
            </p:nvCxnSpPr>
            <p:spPr>
              <a:xfrm>
                <a:off x="7395335" y="2443538"/>
                <a:ext cx="88934" cy="0"/>
              </a:xfrm>
              <a:prstGeom prst="line">
                <a:avLst/>
              </a:prstGeom>
              <a:grpFill/>
              <a:ln w="5080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26" name="Straight Arrow Connector 125"/>
          <p:cNvCxnSpPr>
            <a:cxnSpLocks/>
            <a:stCxn id="23" idx="0"/>
          </p:cNvCxnSpPr>
          <p:nvPr/>
        </p:nvCxnSpPr>
        <p:spPr>
          <a:xfrm flipH="1" flipV="1">
            <a:off x="6415030" y="4447619"/>
            <a:ext cx="477678" cy="366668"/>
          </a:xfrm>
          <a:prstGeom prst="straightConnector1">
            <a:avLst/>
          </a:prstGeom>
          <a:ln w="63500" cap="rnd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8">
            <a:extLst>
              <a:ext uri="{FF2B5EF4-FFF2-40B4-BE49-F238E27FC236}">
                <a16:creationId xmlns:a16="http://schemas.microsoft.com/office/drawing/2014/main" id="{75C91549-2C11-93B9-417C-D628D7384E1F}"/>
              </a:ext>
            </a:extLst>
          </p:cNvPr>
          <p:cNvGrpSpPr/>
          <p:nvPr/>
        </p:nvGrpSpPr>
        <p:grpSpPr>
          <a:xfrm rot="5400000">
            <a:off x="3097260" y="1095602"/>
            <a:ext cx="2618983" cy="4351779"/>
            <a:chOff x="3603199" y="3384550"/>
            <a:chExt cx="1634779" cy="2716396"/>
          </a:xfrm>
        </p:grpSpPr>
        <p:sp>
          <p:nvSpPr>
            <p:cNvPr id="21" name="Rectangle 20"/>
            <p:cNvSpPr/>
            <p:nvPr/>
          </p:nvSpPr>
          <p:spPr>
            <a:xfrm>
              <a:off x="3786912" y="3577884"/>
              <a:ext cx="1175041" cy="7324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noAutofit/>
            </a:bodyPr>
            <a:lstStyle/>
            <a:p>
              <a:pPr algn="l"/>
              <a:endParaRPr lang="en-US"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Freeform: Shape 5"/>
            <p:cNvSpPr/>
            <p:nvPr/>
          </p:nvSpPr>
          <p:spPr>
            <a:xfrm>
              <a:off x="4789483" y="3389626"/>
              <a:ext cx="427838" cy="2495251"/>
            </a:xfrm>
            <a:custGeom>
              <a:avLst/>
              <a:gdLst>
                <a:gd name="connsiteX0" fmla="*/ 205530 w 383333"/>
                <a:gd name="connsiteY0" fmla="*/ 0 h 2348917"/>
                <a:gd name="connsiteX1" fmla="*/ 377505 w 383333"/>
                <a:gd name="connsiteY1" fmla="*/ 713064 h 2348917"/>
                <a:gd name="connsiteX2" fmla="*/ 310393 w 383333"/>
                <a:gd name="connsiteY2" fmla="*/ 1749104 h 2348917"/>
                <a:gd name="connsiteX3" fmla="*/ 0 w 383333"/>
                <a:gd name="connsiteY3" fmla="*/ 2348917 h 2348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3333" h="2348917">
                  <a:moveTo>
                    <a:pt x="205530" y="0"/>
                  </a:moveTo>
                  <a:cubicBezTo>
                    <a:pt x="282779" y="210773"/>
                    <a:pt x="360028" y="421547"/>
                    <a:pt x="377505" y="713064"/>
                  </a:cubicBezTo>
                  <a:cubicBezTo>
                    <a:pt x="394982" y="1004581"/>
                    <a:pt x="373311" y="1476462"/>
                    <a:pt x="310393" y="1749104"/>
                  </a:cubicBezTo>
                  <a:cubicBezTo>
                    <a:pt x="247476" y="2021746"/>
                    <a:pt x="123738" y="2185331"/>
                    <a:pt x="0" y="2348917"/>
                  </a:cubicBezTo>
                </a:path>
              </a:pathLst>
            </a:custGeom>
            <a:noFill/>
            <a:ln w="38100" cap="rnd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4600"/>
            </a:p>
          </p:txBody>
        </p:sp>
        <p:pic>
          <p:nvPicPr>
            <p:cNvPr id="12" name="Graphic 11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rot="15993215" flipH="1">
              <a:off x="4028251" y="4734786"/>
              <a:ext cx="950375" cy="474911"/>
            </a:xfrm>
            <a:prstGeom prst="rect">
              <a:avLst/>
            </a:prstGeom>
          </p:spPr>
        </p:pic>
        <p:pic>
          <p:nvPicPr>
            <p:cNvPr id="22" name="Graphic 21"/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 rot="17114086" flipH="1">
              <a:off x="3597229" y="3585731"/>
              <a:ext cx="656574" cy="413484"/>
            </a:xfrm>
            <a:prstGeom prst="rect">
              <a:avLst/>
            </a:prstGeom>
          </p:spPr>
        </p:pic>
        <p:sp>
          <p:nvSpPr>
            <p:cNvPr id="3" name="Freeform: Shape 2"/>
            <p:cNvSpPr/>
            <p:nvPr/>
          </p:nvSpPr>
          <p:spPr>
            <a:xfrm>
              <a:off x="4043676" y="3429000"/>
              <a:ext cx="897824" cy="2448273"/>
            </a:xfrm>
            <a:custGeom>
              <a:avLst/>
              <a:gdLst>
                <a:gd name="connsiteX0" fmla="*/ 1484466 w 1484466"/>
                <a:gd name="connsiteY0" fmla="*/ 0 h 2533650"/>
                <a:gd name="connsiteX1" fmla="*/ 208116 w 1484466"/>
                <a:gd name="connsiteY1" fmla="*/ 406400 h 2533650"/>
                <a:gd name="connsiteX2" fmla="*/ 112866 w 1484466"/>
                <a:gd name="connsiteY2" fmla="*/ 2082800 h 2533650"/>
                <a:gd name="connsiteX3" fmla="*/ 1325716 w 1484466"/>
                <a:gd name="connsiteY3" fmla="*/ 2533650 h 2533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84466" h="2533650">
                  <a:moveTo>
                    <a:pt x="1484466" y="0"/>
                  </a:moveTo>
                  <a:cubicBezTo>
                    <a:pt x="960591" y="29633"/>
                    <a:pt x="436716" y="59267"/>
                    <a:pt x="208116" y="406400"/>
                  </a:cubicBezTo>
                  <a:cubicBezTo>
                    <a:pt x="-20484" y="753533"/>
                    <a:pt x="-73401" y="1728258"/>
                    <a:pt x="112866" y="2082800"/>
                  </a:cubicBezTo>
                  <a:cubicBezTo>
                    <a:pt x="299133" y="2437342"/>
                    <a:pt x="812424" y="2485496"/>
                    <a:pt x="1325716" y="2533650"/>
                  </a:cubicBezTo>
                </a:path>
              </a:pathLst>
            </a:custGeom>
            <a:noFill/>
            <a:ln w="38100" cap="rnd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4600" dirty="0"/>
            </a:p>
          </p:txBody>
        </p:sp>
        <p:sp>
          <p:nvSpPr>
            <p:cNvPr id="4" name="Freeform: Shape 3"/>
            <p:cNvSpPr/>
            <p:nvPr/>
          </p:nvSpPr>
          <p:spPr>
            <a:xfrm>
              <a:off x="4616397" y="3384550"/>
              <a:ext cx="378013" cy="2501900"/>
            </a:xfrm>
            <a:custGeom>
              <a:avLst/>
              <a:gdLst>
                <a:gd name="connsiteX0" fmla="*/ 378013 w 378013"/>
                <a:gd name="connsiteY0" fmla="*/ 0 h 2501900"/>
                <a:gd name="connsiteX1" fmla="*/ 9713 w 378013"/>
                <a:gd name="connsiteY1" fmla="*/ 628650 h 2501900"/>
                <a:gd name="connsiteX2" fmla="*/ 143063 w 378013"/>
                <a:gd name="connsiteY2" fmla="*/ 2501900 h 2501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8013" h="2501900">
                  <a:moveTo>
                    <a:pt x="378013" y="0"/>
                  </a:moveTo>
                  <a:cubicBezTo>
                    <a:pt x="213442" y="105833"/>
                    <a:pt x="48871" y="211667"/>
                    <a:pt x="9713" y="628650"/>
                  </a:cubicBezTo>
                  <a:cubicBezTo>
                    <a:pt x="-29445" y="1045633"/>
                    <a:pt x="56809" y="1773766"/>
                    <a:pt x="143063" y="2501900"/>
                  </a:cubicBezTo>
                </a:path>
              </a:pathLst>
            </a:custGeom>
            <a:noFill/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4600"/>
            </a:p>
          </p:txBody>
        </p:sp>
        <p:pic>
          <p:nvPicPr>
            <p:cNvPr id="62" name="Graphic 61"/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 rot="16200000" flipH="1">
              <a:off x="3481654" y="4474333"/>
              <a:ext cx="656574" cy="413484"/>
            </a:xfrm>
            <a:prstGeom prst="rect">
              <a:avLst/>
            </a:prstGeom>
          </p:spPr>
        </p:pic>
        <p:pic>
          <p:nvPicPr>
            <p:cNvPr id="64" name="Graphic 63"/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 rot="16200000" flipH="1">
              <a:off x="4057278" y="3792122"/>
              <a:ext cx="656574" cy="413484"/>
            </a:xfrm>
            <a:prstGeom prst="rect">
              <a:avLst/>
            </a:prstGeom>
          </p:spPr>
        </p:pic>
        <p:pic>
          <p:nvPicPr>
            <p:cNvPr id="66" name="Graphic 65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rot="13993845" flipH="1">
              <a:off x="3553349" y="5388303"/>
              <a:ext cx="950375" cy="474911"/>
            </a:xfrm>
            <a:prstGeom prst="rect">
              <a:avLst/>
            </a:prstGeom>
          </p:spPr>
        </p:pic>
        <p:pic>
          <p:nvPicPr>
            <p:cNvPr id="72" name="Graphic 71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rot="15679667" flipH="1">
              <a:off x="4525335" y="3876100"/>
              <a:ext cx="950375" cy="474911"/>
            </a:xfrm>
            <a:prstGeom prst="rect">
              <a:avLst/>
            </a:prstGeom>
          </p:spPr>
        </p:pic>
        <p:pic>
          <p:nvPicPr>
            <p:cNvPr id="74" name="Graphic 73"/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 rot="16200000" flipH="1">
              <a:off x="4619703" y="4785110"/>
              <a:ext cx="656574" cy="413484"/>
            </a:xfrm>
            <a:prstGeom prst="rect">
              <a:avLst/>
            </a:prstGeom>
          </p:spPr>
        </p:pic>
      </p:grpSp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36525"/>
            <a:ext cx="8229600" cy="1143000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影响性能的因素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F6127D8-7825-9CF8-58E6-008595989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t>57</a:t>
            </a:fld>
            <a:endParaRPr lang="en-US" altLang="zh-CN"/>
          </a:p>
        </p:txBody>
      </p:sp>
      <p:sp>
        <p:nvSpPr>
          <p:cNvPr id="13" name="Star: 5 Points 15">
            <a:extLst>
              <a:ext uri="{FF2B5EF4-FFF2-40B4-BE49-F238E27FC236}">
                <a16:creationId xmlns:a16="http://schemas.microsoft.com/office/drawing/2014/main" id="{BF7D703B-2D8F-80B5-8148-2A4ECE550059}"/>
              </a:ext>
            </a:extLst>
          </p:cNvPr>
          <p:cNvSpPr/>
          <p:nvPr/>
        </p:nvSpPr>
        <p:spPr>
          <a:xfrm>
            <a:off x="6296094" y="3945536"/>
            <a:ext cx="441056" cy="441056"/>
          </a:xfrm>
          <a:prstGeom prst="star5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l"/>
            <a:endParaRPr lang="en-US" sz="18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A12064EA-28AD-1BF0-6944-4B066BA9241F}"/>
              </a:ext>
            </a:extLst>
          </p:cNvPr>
          <p:cNvGrpSpPr/>
          <p:nvPr/>
        </p:nvGrpSpPr>
        <p:grpSpPr>
          <a:xfrm>
            <a:off x="2385125" y="3659107"/>
            <a:ext cx="367511" cy="367511"/>
            <a:chOff x="2315396" y="3912086"/>
            <a:chExt cx="367511" cy="367511"/>
          </a:xfrm>
        </p:grpSpPr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7930EE88-B51E-03AB-DEDD-7EFE28E180D7}"/>
                </a:ext>
              </a:extLst>
            </p:cNvPr>
            <p:cNvSpPr/>
            <p:nvPr/>
          </p:nvSpPr>
          <p:spPr>
            <a:xfrm>
              <a:off x="2315396" y="3912086"/>
              <a:ext cx="367511" cy="367511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34873424-0822-6D51-0619-D3CF12DED4EA}"/>
                </a:ext>
              </a:extLst>
            </p:cNvPr>
            <p:cNvSpPr/>
            <p:nvPr/>
          </p:nvSpPr>
          <p:spPr>
            <a:xfrm>
              <a:off x="2416044" y="4012734"/>
              <a:ext cx="166215" cy="166215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2187FFD6-8739-45C0-9F43-21835C37F6F9}"/>
                  </a:ext>
                </a:extLst>
              </p14:cNvPr>
              <p14:cNvContentPartPr/>
              <p14:nvPr/>
            </p14:nvContentPartPr>
            <p14:xfrm>
              <a:off x="9040320" y="1549080"/>
              <a:ext cx="360" cy="360"/>
            </p14:xfrm>
          </p:contentPart>
        </mc:Choice>
        <mc:Fallback xmlns=""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2187FFD6-8739-45C0-9F43-21835C37F6F9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9030960" y="1539720"/>
                <a:ext cx="19080" cy="19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本节课目录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引言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>
              <a:lnSpc>
                <a:spcPct val="110000"/>
              </a:lnSpc>
            </a:pPr>
            <a:r>
              <a:rPr lang="zh-CN" altLang="en-US" dirty="0">
                <a:solidFill>
                  <a:srgbClr val="0432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指令集设计</a:t>
            </a:r>
            <a:endParaRPr lang="en-US" altLang="zh-CN" dirty="0">
              <a:solidFill>
                <a:srgbClr val="0432FF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1">
              <a:lnSpc>
                <a:spcPct val="110000"/>
              </a:lnSpc>
            </a:pP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指令集：角色和地位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1">
              <a:lnSpc>
                <a:spcPct val="110000"/>
              </a:lnSpc>
            </a:pP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指令集：性能评价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1">
              <a:lnSpc>
                <a:spcPct val="110000"/>
              </a:lnSpc>
            </a:pPr>
            <a:r>
              <a:rPr lang="zh-CN" altLang="en-US" dirty="0">
                <a:solidFill>
                  <a:srgbClr val="0432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指令集：数据访问</a:t>
            </a:r>
            <a:endParaRPr lang="en-US" altLang="zh-CN" dirty="0">
              <a:solidFill>
                <a:srgbClr val="0432FF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1">
              <a:lnSpc>
                <a:spcPct val="110000"/>
              </a:lnSpc>
            </a:pP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指令集设计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>
              <a:lnSpc>
                <a:spcPct val="110000"/>
              </a:lnSpc>
            </a:pP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总结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6C57170-F68B-1C14-99D7-1D1C0E51D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t>58</a:t>
            </a:fld>
            <a:endParaRPr lang="en-US" altLang="zh-CN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</a:pP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指令集：数据访问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309386"/>
            <a:ext cx="8229600" cy="452596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kumimoji="1"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现代处理器中的数据存储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587532" y="1720917"/>
            <a:ext cx="7968935" cy="3604072"/>
            <a:chOff x="717865" y="1731676"/>
            <a:chExt cx="7968935" cy="3604072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 rotWithShape="1">
            <a:blip r:embed="rId3"/>
            <a:srcRect b="32934"/>
            <a:stretch>
              <a:fillRect/>
            </a:stretch>
          </p:blipFill>
          <p:spPr>
            <a:xfrm>
              <a:off x="5085861" y="2115708"/>
              <a:ext cx="3600939" cy="3220040"/>
            </a:xfrm>
            <a:prstGeom prst="rect">
              <a:avLst/>
            </a:prstGeom>
          </p:spPr>
        </p:pic>
        <p:sp>
          <p:nvSpPr>
            <p:cNvPr id="8" name="TextBox 7"/>
            <p:cNvSpPr txBox="1"/>
            <p:nvPr/>
          </p:nvSpPr>
          <p:spPr>
            <a:xfrm>
              <a:off x="726522" y="2016017"/>
              <a:ext cx="2384425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8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Intel Core i7-4790K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7607376" y="2194565"/>
              <a:ext cx="357048" cy="2613255"/>
            </a:xfrm>
            <a:prstGeom prst="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noAutofit/>
            </a:bodyPr>
            <a:lstStyle/>
            <a:p>
              <a:pPr algn="l"/>
              <a:endParaRPr lang="zh-CN" altLang="en-US" sz="180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7235356" y="1731676"/>
              <a:ext cx="1097280" cy="460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>
                  <a:solidFill>
                    <a:srgbClr val="C00000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存储器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6318505" y="3085220"/>
              <a:ext cx="1011166" cy="1151261"/>
            </a:xfrm>
            <a:prstGeom prst="rect">
              <a:avLst/>
            </a:prstGeom>
            <a:noFill/>
            <a:ln w="381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noAutofit/>
            </a:bodyPr>
            <a:lstStyle/>
            <a:p>
              <a:pPr algn="l"/>
              <a:endPara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7" name="Straight Connector 26"/>
            <p:cNvCxnSpPr/>
            <p:nvPr/>
          </p:nvCxnSpPr>
          <p:spPr>
            <a:xfrm flipH="1" flipV="1">
              <a:off x="5554237" y="2385349"/>
              <a:ext cx="764267" cy="699871"/>
            </a:xfrm>
            <a:prstGeom prst="line">
              <a:avLst/>
            </a:prstGeom>
            <a:ln w="38100" cap="rnd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 flipH="1">
              <a:off x="5543785" y="4238126"/>
              <a:ext cx="774719" cy="792091"/>
            </a:xfrm>
            <a:prstGeom prst="line">
              <a:avLst/>
            </a:prstGeom>
            <a:ln w="38100" cap="rnd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026" name="Picture 2" descr="See the source image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colorTemperature colorTemp="4700"/>
                      </a14:imgEffect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7865" y="2385349"/>
              <a:ext cx="4825920" cy="266179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4" name="Rectangle 33"/>
            <p:cNvSpPr/>
            <p:nvPr/>
          </p:nvSpPr>
          <p:spPr>
            <a:xfrm>
              <a:off x="4572000" y="4164428"/>
              <a:ext cx="92279" cy="104863"/>
            </a:xfrm>
            <a:prstGeom prst="rect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noAutofit/>
            </a:bodyPr>
            <a:lstStyle/>
            <a:p>
              <a:pPr algn="l"/>
              <a:endPara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3761529" y="4241414"/>
              <a:ext cx="1706880" cy="8299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>
                  <a:solidFill>
                    <a:schemeClr val="bg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rPr>
                <a:t>寄存器</a:t>
              </a:r>
              <a:br>
                <a:rPr lang="en-US" altLang="zh-CN" sz="2400" dirty="0">
                  <a:solidFill>
                    <a:schemeClr val="bg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rPr>
              </a:br>
              <a:r>
                <a:rPr lang="zh-CN" altLang="en-US" sz="2400" dirty="0">
                  <a:solidFill>
                    <a:schemeClr val="bg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rPr>
                <a:t>可能的位置</a:t>
              </a:r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95401" y="5537801"/>
            <a:ext cx="7124598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0" dirty="0">
                <a:solidFill>
                  <a:srgbClr val="0432FF"/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距离相差两个数量级</a:t>
            </a:r>
            <a:endParaRPr lang="en-US" altLang="zh-CN" sz="2400" b="0" dirty="0">
              <a:solidFill>
                <a:srgbClr val="0432FF"/>
              </a:solidFill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r>
              <a:rPr lang="zh-CN" altLang="en-US" sz="2400" dirty="0">
                <a:solidFill>
                  <a:srgbClr val="0432FF"/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  <a:sym typeface="Wingdings" panose="05000000000000000000" pitchFamily="2" charset="2"/>
              </a:rPr>
              <a:t>距离长 </a:t>
            </a:r>
            <a:r>
              <a:rPr lang="en-US" altLang="zh-CN" sz="2400" dirty="0">
                <a:solidFill>
                  <a:srgbClr val="0432FF"/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  <a:sym typeface="Wingdings" panose="05000000000000000000" pitchFamily="2" charset="2"/>
              </a:rPr>
              <a:t> </a:t>
            </a:r>
            <a:r>
              <a:rPr lang="zh-CN" altLang="en-US" sz="2400" dirty="0">
                <a:solidFill>
                  <a:srgbClr val="0432FF"/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  <a:sym typeface="Wingdings" panose="05000000000000000000" pitchFamily="2" charset="2"/>
              </a:rPr>
              <a:t>访问慢</a:t>
            </a:r>
            <a:endParaRPr lang="en-US" altLang="zh-CN" sz="2400" dirty="0">
              <a:solidFill>
                <a:srgbClr val="0432FF"/>
              </a:solidFill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0F652B9-29CE-A0E0-A4C0-4CC2CE015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t>59</a:t>
            </a:fld>
            <a:endParaRPr lang="en-US" altLang="zh-CN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457200" y="5356948"/>
            <a:ext cx="3784862" cy="105809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 altLang="zh-CN" sz="2000" b="1" dirty="0">
              <a:solidFill>
                <a:schemeClr val="tx1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algn="just"/>
            <a:endParaRPr lang="en-US" altLang="zh-CN" sz="2000" b="1" dirty="0">
              <a:solidFill>
                <a:schemeClr val="tx1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algn="r"/>
            <a:r>
              <a:rPr lang="zh-CN" altLang="en-US" sz="2000" b="1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寄存器堆</a:t>
            </a:r>
            <a:r>
              <a:rPr lang="en-US" altLang="zh-CN" sz="2000" b="1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Register File (RF)</a:t>
            </a:r>
            <a:endParaRPr lang="zh-CN" altLang="en-US" sz="2000" b="1" dirty="0">
              <a:solidFill>
                <a:schemeClr val="tx1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19185"/>
            <a:ext cx="4040188" cy="639762"/>
          </a:xfrm>
        </p:spPr>
        <p:txBody>
          <a:bodyPr>
            <a:normAutofit fontScale="92500"/>
          </a:bodyPr>
          <a:lstStyle/>
          <a:p>
            <a:r>
              <a:rPr lang="zh-CN" altLang="en-US" sz="3200" dirty="0">
                <a:latin typeface="Arial" panose="020B0604020202020204" pitchFamily="34" charset="0"/>
                <a:ea typeface="黑体" panose="02010609060101010101" pitchFamily="49" charset="-122"/>
              </a:rPr>
              <a:t>寄存器</a:t>
            </a:r>
            <a:r>
              <a:rPr lang="zh-CN" altLang="en-US" sz="3200" dirty="0">
                <a:latin typeface="Arial" panose="020B0604020202020204" pitchFamily="34" charset="0"/>
              </a:rPr>
              <a:t>与寄存器堆</a:t>
            </a:r>
            <a:endParaRPr lang="zh-CN" altLang="en-US" sz="3200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778244"/>
            <a:ext cx="4040188" cy="3951288"/>
          </a:xfrm>
        </p:spPr>
        <p:txBody>
          <a:bodyPr/>
          <a:lstStyle/>
          <a:p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访问方式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1"/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以</a:t>
            </a:r>
            <a:r>
              <a:rPr lang="zh-CN" altLang="en-US" dirty="0">
                <a:solidFill>
                  <a:srgbClr val="0432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编号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进行访问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1">
              <a:buClr>
                <a:schemeClr val="tx1"/>
              </a:buClr>
            </a:pPr>
            <a:r>
              <a:rPr lang="zh-CN" altLang="en-US" dirty="0">
                <a:solidFill>
                  <a:srgbClr val="0432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可同时访问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不同寄存器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规模与速度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1">
              <a:buClr>
                <a:schemeClr val="tx1"/>
              </a:buClr>
            </a:pPr>
            <a:r>
              <a:rPr lang="zh-CN" altLang="en-US" dirty="0">
                <a:solidFill>
                  <a:srgbClr val="0432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个数少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，访问</a:t>
            </a:r>
            <a:r>
              <a:rPr lang="zh-CN" altLang="en-US" dirty="0">
                <a:solidFill>
                  <a:srgbClr val="0432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速度快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515128" y="1219185"/>
            <a:ext cx="4445953" cy="639762"/>
          </a:xfrm>
        </p:spPr>
        <p:txBody>
          <a:bodyPr>
            <a:normAutofit fontScale="92500"/>
          </a:bodyPr>
          <a:lstStyle/>
          <a:p>
            <a:r>
              <a:rPr lang="zh-CN" altLang="en-US" sz="3200" dirty="0">
                <a:latin typeface="Arial" panose="020B0604020202020204" pitchFamily="34" charset="0"/>
                <a:ea typeface="黑体" panose="02010609060101010101" pitchFamily="49" charset="-122"/>
              </a:rPr>
              <a:t>主存储器</a:t>
            </a:r>
            <a:r>
              <a:rPr lang="en-US" altLang="zh-CN" sz="3200" dirty="0">
                <a:latin typeface="Arial" panose="020B0604020202020204" pitchFamily="34" charset="0"/>
                <a:ea typeface="黑体" panose="02010609060101010101" pitchFamily="49" charset="-122"/>
              </a:rPr>
              <a:t>(Main Memory)</a:t>
            </a:r>
            <a:endParaRPr lang="zh-CN" altLang="en-US" sz="3200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496919" y="1778244"/>
            <a:ext cx="4647082" cy="3951288"/>
          </a:xfrm>
        </p:spPr>
        <p:txBody>
          <a:bodyPr/>
          <a:lstStyle/>
          <a:p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访问方式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1"/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以</a:t>
            </a:r>
            <a:r>
              <a:rPr lang="zh-CN" altLang="en-US" dirty="0">
                <a:solidFill>
                  <a:srgbClr val="0432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地址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进行访问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1">
              <a:buClr>
                <a:schemeClr val="tx1"/>
              </a:buClr>
            </a:pPr>
            <a:r>
              <a:rPr lang="zh-CN" altLang="en-US" dirty="0">
                <a:solidFill>
                  <a:srgbClr val="0432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不可同时访问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不同地址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规模与速度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1">
              <a:buClr>
                <a:schemeClr val="tx1"/>
              </a:buClr>
            </a:pPr>
            <a:r>
              <a:rPr lang="zh-CN" altLang="en-US" dirty="0">
                <a:solidFill>
                  <a:srgbClr val="0432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地址范围大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，访问</a:t>
            </a:r>
            <a:r>
              <a:rPr lang="zh-CN" altLang="en-US" dirty="0">
                <a:solidFill>
                  <a:srgbClr val="0432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速度慢</a:t>
            </a:r>
            <a:endParaRPr lang="en-US" altLang="zh-CN" dirty="0">
              <a:solidFill>
                <a:srgbClr val="0432FF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>
              <a:buClr>
                <a:schemeClr val="tx1"/>
              </a:buClr>
            </a:pPr>
            <a:r>
              <a:rPr lang="zh-CN" altLang="en-US" dirty="0">
                <a:latin typeface="Arial" panose="020B0604020202020204" pitchFamily="34" charset="0"/>
              </a:rPr>
              <a:t>中文有时简称“</a:t>
            </a:r>
            <a:r>
              <a:rPr lang="zh-CN" altLang="en-US" dirty="0">
                <a:solidFill>
                  <a:srgbClr val="0432FF"/>
                </a:solidFill>
                <a:latin typeface="Arial" panose="020B0604020202020204" pitchFamily="34" charset="0"/>
              </a:rPr>
              <a:t>内存</a:t>
            </a:r>
            <a:r>
              <a:rPr lang="zh-CN" altLang="en-US" dirty="0">
                <a:latin typeface="Arial" panose="020B0604020202020204" pitchFamily="34" charset="0"/>
              </a:rPr>
              <a:t>”</a:t>
            </a:r>
            <a:endParaRPr lang="en-US" altLang="zh-CN" dirty="0">
              <a:latin typeface="Arial" panose="020B0604020202020204" pitchFamily="34" charset="0"/>
            </a:endParaRPr>
          </a:p>
          <a:p>
            <a:pPr lvl="1">
              <a:buClr>
                <a:schemeClr val="tx1"/>
              </a:buClr>
            </a:pPr>
            <a:r>
              <a:rPr lang="zh-CN" altLang="en-US" dirty="0">
                <a:latin typeface="Arial" panose="020B0604020202020204" pitchFamily="34" charset="0"/>
              </a:rPr>
              <a:t>注意：乃</a:t>
            </a:r>
            <a:r>
              <a:rPr lang="en-US" altLang="zh-CN" dirty="0">
                <a:latin typeface="Arial" panose="020B0604020202020204" pitchFamily="34" charset="0"/>
              </a:rPr>
              <a:t>CPU</a:t>
            </a:r>
            <a:r>
              <a:rPr lang="zh-CN" altLang="en-US" dirty="0">
                <a:latin typeface="Arial" panose="020B0604020202020204" pitchFamily="34" charset="0"/>
              </a:rPr>
              <a:t>芯片</a:t>
            </a:r>
            <a:r>
              <a:rPr lang="zh-CN" altLang="en-US" dirty="0">
                <a:solidFill>
                  <a:srgbClr val="0432FF"/>
                </a:solidFill>
                <a:latin typeface="Arial" panose="020B0604020202020204" pitchFamily="34" charset="0"/>
              </a:rPr>
              <a:t>“片外存储器”</a:t>
            </a:r>
            <a:endParaRPr lang="zh-CN" altLang="en-US" dirty="0">
              <a:solidFill>
                <a:srgbClr val="0432FF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endParaRPr lang="zh-CN" altLang="en-US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37328" y="5523861"/>
            <a:ext cx="574150" cy="480767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R0</a:t>
            </a:r>
          </a:p>
        </p:txBody>
      </p:sp>
      <p:sp>
        <p:nvSpPr>
          <p:cNvPr id="9" name="矩形 8"/>
          <p:cNvSpPr/>
          <p:nvPr/>
        </p:nvSpPr>
        <p:spPr>
          <a:xfrm>
            <a:off x="1165732" y="5523860"/>
            <a:ext cx="574150" cy="480767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R1</a:t>
            </a:r>
          </a:p>
        </p:txBody>
      </p:sp>
      <p:sp>
        <p:nvSpPr>
          <p:cNvPr id="10" name="矩形 9"/>
          <p:cNvSpPr/>
          <p:nvPr/>
        </p:nvSpPr>
        <p:spPr>
          <a:xfrm>
            <a:off x="1794136" y="5523859"/>
            <a:ext cx="574150" cy="480767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R2</a:t>
            </a:r>
          </a:p>
        </p:txBody>
      </p:sp>
      <p:sp>
        <p:nvSpPr>
          <p:cNvPr id="11" name="矩形 10"/>
          <p:cNvSpPr/>
          <p:nvPr/>
        </p:nvSpPr>
        <p:spPr>
          <a:xfrm>
            <a:off x="3611839" y="5523858"/>
            <a:ext cx="574150" cy="480767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Rn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2539926" y="5467297"/>
            <a:ext cx="895546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>
                <a:solidFill>
                  <a:srgbClr val="C0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……</a:t>
            </a:r>
          </a:p>
        </p:txBody>
      </p:sp>
      <p:cxnSp>
        <p:nvCxnSpPr>
          <p:cNvPr id="15" name="直接箭头连接符 14"/>
          <p:cNvCxnSpPr/>
          <p:nvPr/>
        </p:nvCxnSpPr>
        <p:spPr>
          <a:xfrm>
            <a:off x="712056" y="4668826"/>
            <a:ext cx="0" cy="855032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/>
          <p:nvPr/>
        </p:nvCxnSpPr>
        <p:spPr>
          <a:xfrm>
            <a:off x="940656" y="4668826"/>
            <a:ext cx="0" cy="855032"/>
          </a:xfrm>
          <a:prstGeom prst="straightConnector1">
            <a:avLst/>
          </a:prstGeom>
          <a:ln w="28575">
            <a:solidFill>
              <a:srgbClr val="C0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/>
          <p:nvPr/>
        </p:nvCxnSpPr>
        <p:spPr>
          <a:xfrm>
            <a:off x="1340706" y="4668826"/>
            <a:ext cx="0" cy="855032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/>
          <p:nvPr/>
        </p:nvCxnSpPr>
        <p:spPr>
          <a:xfrm>
            <a:off x="1569306" y="4668826"/>
            <a:ext cx="0" cy="855032"/>
          </a:xfrm>
          <a:prstGeom prst="straightConnector1">
            <a:avLst/>
          </a:prstGeom>
          <a:ln w="28575">
            <a:solidFill>
              <a:srgbClr val="C0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/>
          <p:nvPr/>
        </p:nvCxnSpPr>
        <p:spPr>
          <a:xfrm>
            <a:off x="1969356" y="4668826"/>
            <a:ext cx="0" cy="855032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/>
          <p:nvPr/>
        </p:nvCxnSpPr>
        <p:spPr>
          <a:xfrm>
            <a:off x="2197956" y="4668826"/>
            <a:ext cx="0" cy="855032"/>
          </a:xfrm>
          <a:prstGeom prst="straightConnector1">
            <a:avLst/>
          </a:prstGeom>
          <a:ln w="28575">
            <a:solidFill>
              <a:srgbClr val="C0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/>
          <p:nvPr/>
        </p:nvCxnSpPr>
        <p:spPr>
          <a:xfrm>
            <a:off x="3798156" y="4668826"/>
            <a:ext cx="0" cy="855032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/>
          <p:nvPr/>
        </p:nvCxnSpPr>
        <p:spPr>
          <a:xfrm>
            <a:off x="4026756" y="4668826"/>
            <a:ext cx="0" cy="855032"/>
          </a:xfrm>
          <a:prstGeom prst="straightConnector1">
            <a:avLst/>
          </a:prstGeom>
          <a:ln w="28575">
            <a:solidFill>
              <a:srgbClr val="C0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/>
          <p:nvPr/>
        </p:nvCxnSpPr>
        <p:spPr>
          <a:xfrm>
            <a:off x="584200" y="4103594"/>
            <a:ext cx="1387475" cy="3795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/>
          <p:nvPr/>
        </p:nvCxnSpPr>
        <p:spPr>
          <a:xfrm flipH="1">
            <a:off x="563253" y="4411409"/>
            <a:ext cx="1408422" cy="3090"/>
          </a:xfrm>
          <a:prstGeom prst="straightConnector1">
            <a:avLst/>
          </a:prstGeom>
          <a:ln w="28575">
            <a:solidFill>
              <a:srgbClr val="C0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占位符 2"/>
          <p:cNvSpPr txBox="1"/>
          <p:nvPr/>
        </p:nvSpPr>
        <p:spPr bwMode="auto">
          <a:xfrm>
            <a:off x="1971675" y="3921562"/>
            <a:ext cx="1842168" cy="36406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marL="0" indent="0" algn="l" rtl="0" fontAlgn="base">
              <a:spcBef>
                <a:spcPct val="20000"/>
              </a:spcBef>
              <a:spcAft>
                <a:spcPct val="0"/>
              </a:spcAft>
              <a:buNone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rtl="0" fontAlgn="base">
              <a:spcBef>
                <a:spcPct val="20000"/>
              </a:spcBef>
              <a:spcAft>
                <a:spcPct val="0"/>
              </a:spcAft>
              <a:buNone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914400" indent="0" algn="l" rtl="0" fontAlgn="base">
              <a:spcBef>
                <a:spcPct val="20000"/>
              </a:spcBef>
              <a:spcAft>
                <a:spcPct val="0"/>
              </a:spcAft>
              <a:buNone/>
              <a:defRPr sz="1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371600" indent="0" algn="l" rtl="0" fontAlgn="base">
              <a:spcBef>
                <a:spcPct val="20000"/>
              </a:spcBef>
              <a:spcAft>
                <a:spcPct val="0"/>
              </a:spcAft>
              <a:buNone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1828800" indent="0" algn="l" rtl="0" fontAlgn="base">
              <a:spcBef>
                <a:spcPct val="20000"/>
              </a:spcBef>
              <a:spcAft>
                <a:spcPct val="0"/>
              </a:spcAft>
              <a:buNone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286000" indent="0" algn="l" rtl="0" fontAlgn="base">
              <a:spcBef>
                <a:spcPct val="20000"/>
              </a:spcBef>
              <a:spcAft>
                <a:spcPct val="0"/>
              </a:spcAft>
              <a:buNone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743200" indent="0" algn="l" rtl="0" fontAlgn="base">
              <a:spcBef>
                <a:spcPct val="20000"/>
              </a:spcBef>
              <a:spcAft>
                <a:spcPct val="0"/>
              </a:spcAft>
              <a:buNone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200400" indent="0" algn="l" rtl="0" fontAlgn="base">
              <a:spcBef>
                <a:spcPct val="20000"/>
              </a:spcBef>
              <a:spcAft>
                <a:spcPct val="0"/>
              </a:spcAft>
              <a:buNone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657600" indent="0" algn="l" rtl="0" fontAlgn="base">
              <a:spcBef>
                <a:spcPct val="20000"/>
              </a:spcBef>
              <a:spcAft>
                <a:spcPct val="0"/>
              </a:spcAft>
              <a:buNone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sz="1800" kern="0">
                <a:solidFill>
                  <a:srgbClr val="0070C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指令（读、写）</a:t>
            </a:r>
          </a:p>
        </p:txBody>
      </p:sp>
      <p:sp>
        <p:nvSpPr>
          <p:cNvPr id="36" name="文本占位符 2"/>
          <p:cNvSpPr txBox="1"/>
          <p:nvPr/>
        </p:nvSpPr>
        <p:spPr bwMode="auto">
          <a:xfrm>
            <a:off x="1863677" y="4217797"/>
            <a:ext cx="844677" cy="36406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marL="0" indent="0" algn="l" rtl="0" fontAlgn="base">
              <a:spcBef>
                <a:spcPct val="20000"/>
              </a:spcBef>
              <a:spcAft>
                <a:spcPct val="0"/>
              </a:spcAft>
              <a:buNone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rtl="0" fontAlgn="base">
              <a:spcBef>
                <a:spcPct val="20000"/>
              </a:spcBef>
              <a:spcAft>
                <a:spcPct val="0"/>
              </a:spcAft>
              <a:buNone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914400" indent="0" algn="l" rtl="0" fontAlgn="base">
              <a:spcBef>
                <a:spcPct val="20000"/>
              </a:spcBef>
              <a:spcAft>
                <a:spcPct val="0"/>
              </a:spcAft>
              <a:buNone/>
              <a:defRPr sz="1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371600" indent="0" algn="l" rtl="0" fontAlgn="base">
              <a:spcBef>
                <a:spcPct val="20000"/>
              </a:spcBef>
              <a:spcAft>
                <a:spcPct val="0"/>
              </a:spcAft>
              <a:buNone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1828800" indent="0" algn="l" rtl="0" fontAlgn="base">
              <a:spcBef>
                <a:spcPct val="20000"/>
              </a:spcBef>
              <a:spcAft>
                <a:spcPct val="0"/>
              </a:spcAft>
              <a:buNone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286000" indent="0" algn="l" rtl="0" fontAlgn="base">
              <a:spcBef>
                <a:spcPct val="20000"/>
              </a:spcBef>
              <a:spcAft>
                <a:spcPct val="0"/>
              </a:spcAft>
              <a:buNone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743200" indent="0" algn="l" rtl="0" fontAlgn="base">
              <a:spcBef>
                <a:spcPct val="20000"/>
              </a:spcBef>
              <a:spcAft>
                <a:spcPct val="0"/>
              </a:spcAft>
              <a:buNone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200400" indent="0" algn="l" rtl="0" fontAlgn="base">
              <a:spcBef>
                <a:spcPct val="20000"/>
              </a:spcBef>
              <a:spcAft>
                <a:spcPct val="0"/>
              </a:spcAft>
              <a:buNone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657600" indent="0" algn="l" rtl="0" fontAlgn="base">
              <a:spcBef>
                <a:spcPct val="20000"/>
              </a:spcBef>
              <a:spcAft>
                <a:spcPct val="0"/>
              </a:spcAft>
              <a:buNone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ctr">
              <a:spcBef>
                <a:spcPct val="0"/>
              </a:spcBef>
            </a:pPr>
            <a:r>
              <a:rPr lang="zh-CN" altLang="en-US" sz="1800" kern="0">
                <a:solidFill>
                  <a:srgbClr val="C0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数据</a:t>
            </a:r>
          </a:p>
        </p:txBody>
      </p:sp>
      <p:sp>
        <p:nvSpPr>
          <p:cNvPr id="37" name="矩形 36"/>
          <p:cNvSpPr/>
          <p:nvPr/>
        </p:nvSpPr>
        <p:spPr>
          <a:xfrm>
            <a:off x="4973039" y="5356948"/>
            <a:ext cx="4004870" cy="888277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r"/>
            <a:endParaRPr lang="en-US" altLang="zh-CN" sz="2000" b="1" dirty="0">
              <a:solidFill>
                <a:srgbClr val="000000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0" algn="r"/>
            <a:r>
              <a:rPr lang="zh-CN" altLang="en-US" sz="2000" b="1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存储器</a:t>
            </a:r>
            <a:r>
              <a:rPr lang="en-US" altLang="zh-CN" sz="2000" b="1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(Main Memory)</a:t>
            </a:r>
            <a:endParaRPr lang="zh-CN" altLang="en-US" sz="2000" b="1" dirty="0">
              <a:solidFill>
                <a:srgbClr val="000000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cxnSp>
        <p:nvCxnSpPr>
          <p:cNvPr id="38" name="直接箭头连接符 37"/>
          <p:cNvCxnSpPr/>
          <p:nvPr/>
        </p:nvCxnSpPr>
        <p:spPr>
          <a:xfrm>
            <a:off x="5817218" y="5080760"/>
            <a:ext cx="0" cy="252000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/>
          <p:cNvCxnSpPr/>
          <p:nvPr/>
        </p:nvCxnSpPr>
        <p:spPr>
          <a:xfrm>
            <a:off x="8507078" y="5080760"/>
            <a:ext cx="0" cy="252000"/>
          </a:xfrm>
          <a:prstGeom prst="straightConnector1">
            <a:avLst/>
          </a:prstGeom>
          <a:ln w="28575">
            <a:solidFill>
              <a:srgbClr val="C0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/>
          <p:cNvCxnSpPr/>
          <p:nvPr/>
        </p:nvCxnSpPr>
        <p:spPr>
          <a:xfrm>
            <a:off x="7195196" y="5080760"/>
            <a:ext cx="0" cy="252000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占位符 2"/>
          <p:cNvSpPr txBox="1"/>
          <p:nvPr/>
        </p:nvSpPr>
        <p:spPr bwMode="auto">
          <a:xfrm>
            <a:off x="4963493" y="4700766"/>
            <a:ext cx="1842168" cy="36406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marL="0" indent="0" algn="l" rtl="0" fontAlgn="base">
              <a:spcBef>
                <a:spcPct val="20000"/>
              </a:spcBef>
              <a:spcAft>
                <a:spcPct val="0"/>
              </a:spcAft>
              <a:buNone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rtl="0" fontAlgn="base">
              <a:spcBef>
                <a:spcPct val="20000"/>
              </a:spcBef>
              <a:spcAft>
                <a:spcPct val="0"/>
              </a:spcAft>
              <a:buNone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914400" indent="0" algn="l" rtl="0" fontAlgn="base">
              <a:spcBef>
                <a:spcPct val="20000"/>
              </a:spcBef>
              <a:spcAft>
                <a:spcPct val="0"/>
              </a:spcAft>
              <a:buNone/>
              <a:defRPr sz="1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371600" indent="0" algn="l" rtl="0" fontAlgn="base">
              <a:spcBef>
                <a:spcPct val="20000"/>
              </a:spcBef>
              <a:spcAft>
                <a:spcPct val="0"/>
              </a:spcAft>
              <a:buNone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1828800" indent="0" algn="l" rtl="0" fontAlgn="base">
              <a:spcBef>
                <a:spcPct val="20000"/>
              </a:spcBef>
              <a:spcAft>
                <a:spcPct val="0"/>
              </a:spcAft>
              <a:buNone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286000" indent="0" algn="l" rtl="0" fontAlgn="base">
              <a:spcBef>
                <a:spcPct val="20000"/>
              </a:spcBef>
              <a:spcAft>
                <a:spcPct val="0"/>
              </a:spcAft>
              <a:buNone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743200" indent="0" algn="l" rtl="0" fontAlgn="base">
              <a:spcBef>
                <a:spcPct val="20000"/>
              </a:spcBef>
              <a:spcAft>
                <a:spcPct val="0"/>
              </a:spcAft>
              <a:buNone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200400" indent="0" algn="l" rtl="0" fontAlgn="base">
              <a:spcBef>
                <a:spcPct val="20000"/>
              </a:spcBef>
              <a:spcAft>
                <a:spcPct val="0"/>
              </a:spcAft>
              <a:buNone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657600" indent="0" algn="l" rtl="0" fontAlgn="base">
              <a:spcBef>
                <a:spcPct val="20000"/>
              </a:spcBef>
              <a:spcAft>
                <a:spcPct val="0"/>
              </a:spcAft>
              <a:buNone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sz="1800" kern="0" dirty="0">
                <a:solidFill>
                  <a:srgbClr val="0070C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指令（读、写）</a:t>
            </a:r>
          </a:p>
        </p:txBody>
      </p:sp>
      <p:sp>
        <p:nvSpPr>
          <p:cNvPr id="44" name="文本占位符 2"/>
          <p:cNvSpPr txBox="1"/>
          <p:nvPr/>
        </p:nvSpPr>
        <p:spPr bwMode="auto">
          <a:xfrm>
            <a:off x="6765043" y="4684835"/>
            <a:ext cx="860305" cy="36406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/>
            <a:r>
              <a:rPr lang="zh-CN" altLang="en-US" sz="1800" b="1" kern="0" dirty="0">
                <a:solidFill>
                  <a:srgbClr val="00B050"/>
                </a:solidFill>
                <a:ea typeface="黑体" panose="02010609060101010101" pitchFamily="49" charset="-122"/>
              </a:rPr>
              <a:t>地址</a:t>
            </a:r>
          </a:p>
        </p:txBody>
      </p:sp>
      <p:sp>
        <p:nvSpPr>
          <p:cNvPr id="45" name="文本占位符 2"/>
          <p:cNvSpPr txBox="1"/>
          <p:nvPr/>
        </p:nvSpPr>
        <p:spPr bwMode="auto">
          <a:xfrm>
            <a:off x="8064001" y="4687790"/>
            <a:ext cx="860305" cy="36406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/>
            <a:r>
              <a:rPr lang="zh-CN" altLang="en-US" sz="1800" b="1" kern="0" dirty="0">
                <a:solidFill>
                  <a:srgbClr val="C00000"/>
                </a:solidFill>
                <a:ea typeface="黑体" panose="02010609060101010101" pitchFamily="49" charset="-122"/>
              </a:rPr>
              <a:t>数据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36525"/>
            <a:ext cx="8229600" cy="1143000"/>
          </a:xfrm>
        </p:spPr>
        <p:txBody>
          <a:bodyPr/>
          <a:lstStyle/>
          <a:p>
            <a:pPr fontAlgn="auto">
              <a:spcAft>
                <a:spcPts val="0"/>
              </a:spcAft>
            </a:pPr>
            <a:r>
              <a:rPr lang="zh-CN" altLang="en-US" sz="40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指令集：寄存器 </a:t>
            </a:r>
            <a:r>
              <a:rPr lang="en-GB" altLang="zh-CN" sz="40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vs. </a:t>
            </a:r>
            <a:r>
              <a:rPr lang="zh-CN" altLang="en-US" sz="40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存储器</a:t>
            </a:r>
            <a:endParaRPr lang="zh-CN" altLang="en-US" dirty="0"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45E38EF-FBDD-29B8-D18C-1EE474E52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22BC1-7FC1-4B65-8DCC-88E2F449497B}" type="slidenum">
              <a:rPr lang="en-US" altLang="zh-CN" smtClean="0"/>
              <a:t>60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指令集：寄存器 </a:t>
            </a:r>
            <a:r>
              <a:rPr lang="en-GB" altLang="zh-CN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vs. 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存储器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74916"/>
            <a:ext cx="8229600" cy="452596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kumimoji="1" lang="zh-CN" altLang="en-US" sz="28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指令集架构中数据应如何存储？以</a:t>
            </a:r>
            <a:r>
              <a:rPr kumimoji="1" lang="en-US" altLang="zh-CN" sz="28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MIPS</a:t>
            </a:r>
            <a:r>
              <a:rPr kumimoji="1" lang="zh-CN" altLang="en-US" sz="28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为例</a:t>
            </a:r>
            <a:endParaRPr kumimoji="1" lang="en-US" altLang="zh-CN" sz="2800" dirty="0"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graphicFrame>
        <p:nvGraphicFramePr>
          <p:cNvPr id="5" name="Group 28"/>
          <p:cNvGraphicFramePr/>
          <p:nvPr>
            <p:extLst>
              <p:ext uri="{D42A27DB-BD31-4B8C-83A1-F6EECF244321}">
                <p14:modId xmlns:p14="http://schemas.microsoft.com/office/powerpoint/2010/main" val="3467204527"/>
              </p:ext>
            </p:extLst>
          </p:nvPr>
        </p:nvGraphicFramePr>
        <p:xfrm>
          <a:off x="1066799" y="2029623"/>
          <a:ext cx="7769597" cy="2785619"/>
        </p:xfrm>
        <a:graphic>
          <a:graphicData uri="http://schemas.openxmlformats.org/drawingml/2006/table">
            <a:tbl>
              <a:tblPr/>
              <a:tblGrid>
                <a:gridCol w="15227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70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098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12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名称</a:t>
                      </a:r>
                    </a:p>
                  </a:txBody>
                  <a:tcPr marT="45712" marB="4571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实例</a:t>
                      </a: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注释</a:t>
                      </a: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59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主要寄存器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32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个</a:t>
                      </a:r>
                    </a:p>
                  </a:txBody>
                  <a:tcPr marT="45712" marB="4571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$s0, …$s7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$t0,…$t7</a:t>
                      </a: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Char char="l"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快速定位数据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</a:endParaRP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Char char="l"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ALU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操作数只能为立即数或寄存器数</a:t>
                      </a: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851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内存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(Main Memory)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2</a:t>
                      </a:r>
                      <a:r>
                        <a:rPr kumimoji="0" lang="en-US" altLang="zh-CN" sz="20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32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个</a:t>
                      </a:r>
                    </a:p>
                  </a:txBody>
                  <a:tcPr marT="45712" marB="4571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字节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[1]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…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</a:rPr>
                        <a:t>字节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[2</a:t>
                      </a:r>
                      <a:r>
                        <a:rPr kumimoji="0" lang="en-US" altLang="zh-CN" sz="20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32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]</a:t>
                      </a: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Char char="l"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只能使用数据传送指令访问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</a:endParaRP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Char char="l"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以字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(word)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、半字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(half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 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word)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、字节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(byte)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 为单位访问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</a:endParaRP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Char char="l"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相邻字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(Word)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数据的地址相差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4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</a:endParaRP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 Box 24"/>
          <p:cNvSpPr txBox="1">
            <a:spLocks noChangeArrowheads="1"/>
          </p:cNvSpPr>
          <p:nvPr/>
        </p:nvSpPr>
        <p:spPr bwMode="auto">
          <a:xfrm>
            <a:off x="1066799" y="5775647"/>
            <a:ext cx="7117977" cy="46037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dirty="0">
                <a:solidFill>
                  <a:srgbClr val="0432FF"/>
                </a:solidFill>
                <a:ea typeface="黑体" panose="02010609060101010101" pitchFamily="49" charset="-122"/>
              </a:rPr>
              <a:t>回忆：数据在存储器中是如何存放的？</a:t>
            </a:r>
          </a:p>
        </p:txBody>
      </p:sp>
      <p:sp>
        <p:nvSpPr>
          <p:cNvPr id="7" name="Text Box 24"/>
          <p:cNvSpPr txBox="1">
            <a:spLocks noChangeArrowheads="1"/>
          </p:cNvSpPr>
          <p:nvPr/>
        </p:nvSpPr>
        <p:spPr bwMode="auto">
          <a:xfrm>
            <a:off x="1066799" y="5027873"/>
            <a:ext cx="7117977" cy="46037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 dirty="0">
                <a:ea typeface="黑体" panose="02010609060101010101" pitchFamily="49" charset="-122"/>
                <a:cs typeface="黑体" panose="02010609060101010101" pitchFamily="49" charset="-122"/>
              </a:rPr>
              <a:t>MIPS</a:t>
            </a:r>
            <a:r>
              <a:rPr lang="zh-CN" altLang="en-US" sz="2400" dirty="0">
                <a:ea typeface="黑体" panose="02010609060101010101" pitchFamily="49" charset="-122"/>
                <a:cs typeface="黑体" panose="02010609060101010101" pitchFamily="49" charset="-122"/>
              </a:rPr>
              <a:t>中</a:t>
            </a:r>
            <a:r>
              <a:rPr lang="en-US" altLang="zh-CN" sz="2400" dirty="0">
                <a:ea typeface="黑体" panose="02010609060101010101" pitchFamily="49" charset="-122"/>
                <a:cs typeface="黑体" panose="02010609060101010101" pitchFamily="49" charset="-122"/>
              </a:rPr>
              <a:t>, 1 word = 4 bytes = 32 bits</a:t>
            </a:r>
            <a:endParaRPr lang="zh-CN" altLang="en-US" sz="2400" dirty="0"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974EEBF-7163-694E-D0B4-101B30DCC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t>61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本节课目录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引言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>
              <a:lnSpc>
                <a:spcPct val="110000"/>
              </a:lnSpc>
            </a:pPr>
            <a:r>
              <a:rPr lang="zh-CN" altLang="en-US" dirty="0">
                <a:solidFill>
                  <a:srgbClr val="0432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指令集设计</a:t>
            </a:r>
            <a:endParaRPr lang="en-US" altLang="zh-CN" dirty="0">
              <a:solidFill>
                <a:srgbClr val="0432FF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1">
              <a:lnSpc>
                <a:spcPct val="110000"/>
              </a:lnSpc>
            </a:pP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指令集：角色和地位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1">
              <a:lnSpc>
                <a:spcPct val="110000"/>
              </a:lnSpc>
            </a:pP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指令集：性能评价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1">
              <a:lnSpc>
                <a:spcPct val="110000"/>
              </a:lnSpc>
            </a:pP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指令集：数据访问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1">
              <a:lnSpc>
                <a:spcPct val="110000"/>
              </a:lnSpc>
            </a:pPr>
            <a:r>
              <a:rPr lang="zh-CN" altLang="en-US" dirty="0">
                <a:solidFill>
                  <a:srgbClr val="0432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指令集设计</a:t>
            </a:r>
            <a:endParaRPr lang="en-US" altLang="zh-CN" dirty="0">
              <a:solidFill>
                <a:srgbClr val="0432FF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>
              <a:lnSpc>
                <a:spcPct val="110000"/>
              </a:lnSpc>
            </a:pP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总结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A34B215-14F1-ECD1-91FF-6BFBDBDAA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t>62</a:t>
            </a:fld>
            <a:endParaRPr lang="en-US" altLang="zh-CN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指令集设计：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RISC vs CISC</a:t>
            </a:r>
            <a:endParaRPr lang="zh-CN" altLang="en-US" dirty="0"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3277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403515"/>
            <a:ext cx="8229600" cy="4525963"/>
          </a:xfrm>
        </p:spPr>
        <p:txBody>
          <a:bodyPr>
            <a:normAutofit/>
          </a:bodyPr>
          <a:lstStyle/>
          <a:p>
            <a:r>
              <a:rPr lang="zh-CN" altLang="en-US" sz="28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在设计指令集时应该考虑哪些因素？</a:t>
            </a:r>
            <a:endParaRPr lang="en-US" altLang="zh-CN" sz="2800" dirty="0"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lvl="1"/>
            <a:r>
              <a:rPr lang="zh-CN" altLang="en-US" sz="24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指令集能够满足我们所有的需求</a:t>
            </a:r>
            <a:endParaRPr lang="en-US" altLang="zh-CN" sz="2400" dirty="0"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lvl="1"/>
            <a:r>
              <a:rPr lang="zh-CN" altLang="en-US" sz="24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指令集的指令数目少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 or</a:t>
            </a:r>
            <a:r>
              <a:rPr lang="zh-CN" altLang="en-US" sz="24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 多？</a:t>
            </a:r>
            <a:endParaRPr lang="en-US" altLang="zh-CN" sz="2400" dirty="0"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lvl="1"/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endParaRPr lang="en-US" altLang="zh-CN" sz="2800" dirty="0"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endParaRPr lang="en-US" altLang="zh-CN" sz="2800" dirty="0"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endParaRPr lang="en-US" altLang="zh-CN" sz="2800" dirty="0"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endParaRPr lang="en-US" altLang="zh-CN" sz="2800" dirty="0"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endParaRPr lang="en-US" altLang="zh-CN" sz="2800" dirty="0"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endParaRPr lang="en-US" altLang="zh-CN" sz="2800" dirty="0"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endParaRPr lang="en-US" altLang="zh-CN" sz="2800" dirty="0"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endParaRPr lang="en-US" altLang="zh-CN" sz="2800" dirty="0"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cxnSp>
        <p:nvCxnSpPr>
          <p:cNvPr id="3" name="Straight Arrow Connector 2"/>
          <p:cNvCxnSpPr/>
          <p:nvPr/>
        </p:nvCxnSpPr>
        <p:spPr>
          <a:xfrm flipH="1">
            <a:off x="2706624" y="2881476"/>
            <a:ext cx="1125788" cy="566928"/>
          </a:xfrm>
          <a:prstGeom prst="straightConnector1">
            <a:avLst/>
          </a:prstGeom>
          <a:ln w="25400" cap="rnd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249627" y="3448404"/>
            <a:ext cx="2913993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精简指令集</a:t>
            </a:r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RISC</a:t>
            </a:r>
          </a:p>
          <a:p>
            <a:pPr marL="342900" indent="-3429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000" b="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指令数目少</a:t>
            </a:r>
            <a:endParaRPr lang="en-US" altLang="zh-CN" sz="2000" b="0" dirty="0">
              <a:solidFill>
                <a:schemeClr val="tx1"/>
              </a:solidFill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marL="342900" indent="-3429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000" b="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CPU</a:t>
            </a:r>
            <a:r>
              <a:rPr lang="zh-CN" altLang="en-US" sz="2000" b="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设计更加简洁</a:t>
            </a:r>
            <a:endParaRPr lang="en-US" altLang="zh-CN" sz="2000" b="0" dirty="0">
              <a:solidFill>
                <a:schemeClr val="tx1"/>
              </a:solidFill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>
              <a:lnSpc>
                <a:spcPct val="120000"/>
              </a:lnSpc>
            </a:pPr>
            <a:endParaRPr lang="en-US" altLang="zh-CN" sz="2000" b="0" dirty="0">
              <a:solidFill>
                <a:srgbClr val="C00000"/>
              </a:solidFill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000" b="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时钟周期短</a:t>
            </a:r>
            <a:endParaRPr lang="en-US" altLang="zh-CN" sz="2000" b="0" dirty="0">
              <a:solidFill>
                <a:schemeClr val="tx1"/>
              </a:solidFill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000" b="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指令数多</a:t>
            </a:r>
            <a:endParaRPr lang="en-US" altLang="zh-CN" sz="2000" b="0" dirty="0">
              <a:solidFill>
                <a:schemeClr val="tx1"/>
              </a:solidFill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cxnSp>
        <p:nvCxnSpPr>
          <p:cNvPr id="23" name="Straight Arrow Connector 22"/>
          <p:cNvCxnSpPr/>
          <p:nvPr/>
        </p:nvCxnSpPr>
        <p:spPr>
          <a:xfrm>
            <a:off x="2697478" y="4641136"/>
            <a:ext cx="0" cy="310696"/>
          </a:xfrm>
          <a:prstGeom prst="straightConnector1">
            <a:avLst/>
          </a:prstGeom>
          <a:ln w="25400" cap="rnd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/>
          <p:cNvGrpSpPr/>
          <p:nvPr/>
        </p:nvGrpSpPr>
        <p:grpSpPr>
          <a:xfrm>
            <a:off x="4393555" y="2881476"/>
            <a:ext cx="3467734" cy="2873883"/>
            <a:chOff x="4393555" y="2236020"/>
            <a:chExt cx="3467734" cy="2873883"/>
          </a:xfrm>
        </p:grpSpPr>
        <p:cxnSp>
          <p:nvCxnSpPr>
            <p:cNvPr id="11" name="Straight Arrow Connector 10"/>
            <p:cNvCxnSpPr/>
            <p:nvPr/>
          </p:nvCxnSpPr>
          <p:spPr>
            <a:xfrm>
              <a:off x="4787153" y="2236020"/>
              <a:ext cx="1340270" cy="566928"/>
            </a:xfrm>
            <a:prstGeom prst="straightConnector1">
              <a:avLst/>
            </a:prstGeom>
            <a:ln w="25400" cap="rnd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/>
            <p:cNvSpPr txBox="1"/>
            <p:nvPr/>
          </p:nvSpPr>
          <p:spPr>
            <a:xfrm>
              <a:off x="4393555" y="2802948"/>
              <a:ext cx="3467734" cy="23069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20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rPr>
                <a:t>复杂指令集</a:t>
              </a:r>
              <a:r>
                <a:rPr lang="en-US" altLang="zh-CN" sz="20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rPr>
                <a:t>CISC</a:t>
              </a:r>
            </a:p>
            <a:p>
              <a:pPr marL="342900" indent="-342900" algn="l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zh-CN" altLang="en-US" sz="2000" b="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rPr>
                <a:t>指令种类多</a:t>
              </a:r>
              <a:endParaRPr lang="en-US" altLang="zh-CN" sz="2000" b="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endParaRPr>
            </a:p>
            <a:p>
              <a:pPr marL="342900" indent="-342900" algn="l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zh-CN" altLang="en-US" sz="2000" b="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rPr>
                <a:t>完成任务需要的指令少</a:t>
              </a:r>
              <a:endParaRPr lang="en-US" altLang="zh-CN" sz="2000" b="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endParaRPr>
            </a:p>
            <a:p>
              <a:pPr>
                <a:lnSpc>
                  <a:spcPct val="120000"/>
                </a:lnSpc>
              </a:pPr>
              <a:endParaRPr lang="en-US" altLang="zh-CN" sz="2000" b="0" dirty="0">
                <a:solidFill>
                  <a:srgbClr val="C00000"/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endParaRPr>
            </a:p>
            <a:p>
              <a:pPr>
                <a:lnSpc>
                  <a:spcPct val="120000"/>
                </a:lnSpc>
              </a:pPr>
              <a:r>
                <a:rPr lang="zh-CN" altLang="en-US" sz="2000" b="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rPr>
                <a:t>时钟周期长</a:t>
              </a:r>
              <a:endParaRPr lang="en-US" altLang="zh-CN" sz="2000" b="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endParaRPr>
            </a:p>
            <a:p>
              <a:pPr>
                <a:lnSpc>
                  <a:spcPct val="120000"/>
                </a:lnSpc>
              </a:pPr>
              <a:r>
                <a:rPr lang="zh-CN" altLang="en-US" sz="2000" b="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rPr>
                <a:t>指令数少</a:t>
              </a:r>
            </a:p>
          </p:txBody>
        </p:sp>
        <p:cxnSp>
          <p:nvCxnSpPr>
            <p:cNvPr id="25" name="Straight Arrow Connector 24"/>
            <p:cNvCxnSpPr/>
            <p:nvPr/>
          </p:nvCxnSpPr>
          <p:spPr>
            <a:xfrm>
              <a:off x="6127422" y="3995680"/>
              <a:ext cx="0" cy="310496"/>
            </a:xfrm>
            <a:prstGeom prst="straightConnector1">
              <a:avLst/>
            </a:prstGeom>
            <a:ln w="25400" cap="rnd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Rectangle 12"/>
          <p:cNvSpPr/>
          <p:nvPr/>
        </p:nvSpPr>
        <p:spPr>
          <a:xfrm>
            <a:off x="6593529" y="1437357"/>
            <a:ext cx="2017070" cy="79883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23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精简</a:t>
            </a:r>
            <a:r>
              <a:rPr lang="en-US" sz="23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/</a:t>
            </a:r>
            <a:r>
              <a:rPr lang="zh-CN" altLang="en-US" sz="23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复杂</a:t>
            </a:r>
            <a:br>
              <a:rPr lang="en-US" altLang="zh-CN" sz="23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</a:br>
            <a:r>
              <a:rPr lang="zh-CN" altLang="en-US" sz="23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指令集计算机</a:t>
            </a:r>
            <a:endParaRPr lang="en-US" sz="2300" dirty="0">
              <a:solidFill>
                <a:schemeClr val="tx1"/>
              </a:solidFill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14" name="Rectangle 8"/>
          <p:cNvSpPr>
            <a:spLocks noChangeArrowheads="1"/>
          </p:cNvSpPr>
          <p:nvPr/>
        </p:nvSpPr>
        <p:spPr bwMode="auto">
          <a:xfrm>
            <a:off x="732410" y="5647892"/>
            <a:ext cx="7679180" cy="953135"/>
          </a:xfrm>
          <a:prstGeom prst="rect">
            <a:avLst/>
          </a:prstGeom>
          <a:noFill/>
          <a:ln w="2857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 lIns="92075" tIns="46038" rIns="92075" bIns="46038">
            <a:spAutoFit/>
          </a:bodyPr>
          <a:lstStyle/>
          <a:p>
            <a:pPr algn="ctr"/>
            <a:r>
              <a:rPr lang="zh-CN" altLang="en-US" sz="28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执行时间 ＝ </a:t>
            </a:r>
            <a:br>
              <a:rPr lang="en-US" altLang="zh-CN" sz="28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</a:br>
            <a:r>
              <a:rPr lang="zh-CN" altLang="en-US" sz="28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指令数 </a:t>
            </a:r>
            <a:r>
              <a:rPr lang="zh-CN" altLang="en-US" sz="28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  <a:sym typeface="Symbol" panose="05050102010706020507" pitchFamily="18" charset="2"/>
              </a:rPr>
              <a:t></a:t>
            </a:r>
            <a:r>
              <a:rPr lang="zh-CN" altLang="en-US" sz="28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 </a:t>
            </a:r>
            <a:r>
              <a:rPr lang="en-US" altLang="zh-CN" sz="28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CPI </a:t>
            </a:r>
            <a:r>
              <a:rPr lang="en-US" altLang="zh-CN" sz="28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  <a:sym typeface="Symbol" panose="05050102010706020507" pitchFamily="18" charset="2"/>
              </a:rPr>
              <a:t> </a:t>
            </a:r>
            <a:r>
              <a:rPr lang="zh-CN" altLang="en-US" sz="28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  <a:sym typeface="Symbol" panose="05050102010706020507" pitchFamily="18" charset="2"/>
              </a:rPr>
              <a:t>时钟周期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439FA91-CFCC-41DD-E69A-39EE9516C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t>63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指令集设计：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RISC vs CISC</a:t>
            </a:r>
            <a:endParaRPr lang="zh-CN" altLang="en-US" kern="1200" dirty="0"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295939"/>
            <a:ext cx="8229600" cy="4525963"/>
          </a:xfrm>
        </p:spPr>
        <p:txBody>
          <a:bodyPr/>
          <a:lstStyle/>
          <a:p>
            <a:r>
              <a:rPr lang="zh-CN" altLang="en-US" sz="28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例：计算</a:t>
            </a:r>
            <a:r>
              <a:rPr lang="en-US" altLang="zh-CN" sz="28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1+2+3+……+100</a:t>
            </a:r>
            <a:endParaRPr lang="zh-CN" altLang="en-US" sz="2800" dirty="0"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04639" y="2345876"/>
            <a:ext cx="3449461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800" b="0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Sum:</a:t>
            </a:r>
          </a:p>
          <a:p>
            <a:pPr algn="l"/>
            <a:r>
              <a:rPr lang="en-US" altLang="zh-CN" sz="1800" b="0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    </a:t>
            </a:r>
            <a:r>
              <a:rPr lang="en-US" altLang="zh-CN" sz="1800" b="0" dirty="0" err="1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addi</a:t>
            </a:r>
            <a:r>
              <a:rPr lang="en-US" altLang="zh-CN" sz="1800" b="0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 $t0, $zero, 1;</a:t>
            </a:r>
          </a:p>
          <a:p>
            <a:pPr algn="l"/>
            <a:r>
              <a:rPr lang="en-US" altLang="zh-CN" sz="1800" b="0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    </a:t>
            </a:r>
            <a:r>
              <a:rPr lang="en-US" altLang="zh-CN" sz="1800" b="0" dirty="0" err="1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addi</a:t>
            </a:r>
            <a:r>
              <a:rPr lang="en-US" altLang="zh-CN" sz="1800" b="0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 $s0, $zero, 100;</a:t>
            </a:r>
          </a:p>
          <a:p>
            <a:pPr algn="l"/>
            <a:r>
              <a:rPr lang="en-US" altLang="zh-CN" sz="1800" b="0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    </a:t>
            </a:r>
            <a:r>
              <a:rPr lang="en-US" altLang="zh-CN" sz="1800" b="0" dirty="0" err="1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addi</a:t>
            </a:r>
            <a:r>
              <a:rPr lang="en-US" altLang="zh-CN" sz="1800" b="0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 $v0, $zero, 0;</a:t>
            </a:r>
          </a:p>
          <a:p>
            <a:pPr algn="l"/>
            <a:r>
              <a:rPr lang="en-US" altLang="zh-CN" sz="1800" b="0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For:</a:t>
            </a:r>
          </a:p>
          <a:p>
            <a:pPr algn="l"/>
            <a:r>
              <a:rPr lang="en-US" altLang="zh-CN" sz="1800" b="0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    </a:t>
            </a:r>
            <a:r>
              <a:rPr lang="en-US" altLang="zh-CN" sz="1800" b="0" dirty="0" err="1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bgt</a:t>
            </a:r>
            <a:r>
              <a:rPr lang="en-US" altLang="zh-CN" sz="1800" b="0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 $t0, $s0, Exit;</a:t>
            </a:r>
          </a:p>
          <a:p>
            <a:pPr algn="l"/>
            <a:r>
              <a:rPr lang="en-US" altLang="zh-CN" sz="1800" b="0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    add $v0, $v0, $t0;</a:t>
            </a:r>
          </a:p>
          <a:p>
            <a:pPr algn="l"/>
            <a:r>
              <a:rPr lang="en-US" altLang="zh-CN" sz="1800" b="0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    </a:t>
            </a:r>
            <a:r>
              <a:rPr lang="en-US" altLang="zh-CN" sz="1800" b="0" dirty="0" err="1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addi</a:t>
            </a:r>
            <a:r>
              <a:rPr lang="en-US" altLang="zh-CN" sz="1800" b="0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 $t0, $t0, 1;</a:t>
            </a:r>
          </a:p>
          <a:p>
            <a:pPr algn="l"/>
            <a:r>
              <a:rPr lang="en-US" altLang="zh-CN" sz="1800" b="0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    j For;</a:t>
            </a:r>
          </a:p>
          <a:p>
            <a:pPr algn="l"/>
            <a:r>
              <a:rPr lang="en-US" altLang="zh-CN" sz="1800" b="0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Exit:</a:t>
            </a:r>
          </a:p>
          <a:p>
            <a:pPr algn="l"/>
            <a:r>
              <a:rPr lang="en-US" altLang="zh-CN" sz="1800" b="0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    # Exit</a:t>
            </a:r>
          </a:p>
          <a:p>
            <a:pPr algn="l"/>
            <a:endParaRPr lang="en-US" altLang="zh-CN" sz="1800" b="0" dirty="0">
              <a:solidFill>
                <a:schemeClr val="tx1"/>
              </a:solidFill>
              <a:latin typeface="Consolas" panose="020B0609020204030204" pitchFamily="49" charset="0"/>
              <a:ea typeface="黑体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997478" y="2345876"/>
            <a:ext cx="3449461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800" b="0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Sum:</a:t>
            </a:r>
          </a:p>
          <a:p>
            <a:pPr algn="l"/>
            <a:r>
              <a:rPr lang="en-US" altLang="zh-CN" sz="1800" b="0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    mov </a:t>
            </a:r>
            <a:r>
              <a:rPr lang="en-US" altLang="zh-CN" sz="1800" b="0" dirty="0" err="1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ecx</a:t>
            </a:r>
            <a:r>
              <a:rPr lang="en-US" altLang="zh-CN" sz="1800" b="0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, 100;</a:t>
            </a:r>
          </a:p>
          <a:p>
            <a:pPr algn="l"/>
            <a:r>
              <a:rPr lang="en-US" altLang="zh-CN" sz="1800" b="0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    mov </a:t>
            </a:r>
            <a:r>
              <a:rPr lang="en-US" altLang="zh-CN" sz="1800" b="0" dirty="0" err="1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eax</a:t>
            </a:r>
            <a:r>
              <a:rPr lang="en-US" altLang="zh-CN" sz="1800" b="0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, 0;</a:t>
            </a:r>
          </a:p>
          <a:p>
            <a:pPr algn="l"/>
            <a:r>
              <a:rPr lang="en-US" altLang="zh-CN" sz="1800" b="0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For:</a:t>
            </a:r>
          </a:p>
          <a:p>
            <a:pPr algn="l"/>
            <a:r>
              <a:rPr lang="en-US" altLang="zh-CN" sz="1800" b="0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    add </a:t>
            </a:r>
            <a:r>
              <a:rPr lang="en-US" altLang="zh-CN" sz="1800" b="0" dirty="0" err="1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eax</a:t>
            </a:r>
            <a:r>
              <a:rPr lang="en-US" altLang="zh-CN" sz="1800" b="0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, </a:t>
            </a:r>
            <a:r>
              <a:rPr lang="en-US" altLang="zh-CN" sz="1800" b="0" dirty="0" err="1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ecx</a:t>
            </a:r>
            <a:r>
              <a:rPr lang="en-US" altLang="zh-CN" sz="1800" b="0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;</a:t>
            </a:r>
          </a:p>
          <a:p>
            <a:pPr algn="l"/>
            <a:r>
              <a:rPr lang="en-US" altLang="zh-CN" sz="1800" b="0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    loop For;</a:t>
            </a:r>
          </a:p>
          <a:p>
            <a:pPr algn="l"/>
            <a:r>
              <a:rPr lang="en-US" altLang="zh-CN" sz="1800" b="0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Exit:</a:t>
            </a:r>
          </a:p>
          <a:p>
            <a:pPr algn="l"/>
            <a:r>
              <a:rPr lang="en-US" altLang="zh-CN" sz="1800" b="0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    # Exit</a:t>
            </a:r>
          </a:p>
          <a:p>
            <a:pPr algn="l"/>
            <a:endParaRPr lang="en-US" altLang="zh-CN" sz="1800" b="0" dirty="0">
              <a:solidFill>
                <a:schemeClr val="tx1"/>
              </a:solidFill>
              <a:latin typeface="Consolas" panose="020B0609020204030204" pitchFamily="49" charset="0"/>
              <a:ea typeface="黑体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276641" y="3780271"/>
            <a:ext cx="2505456" cy="265176"/>
          </a:xfrm>
          <a:prstGeom prst="rect">
            <a:avLst/>
          </a:prstGeom>
          <a:noFill/>
          <a:ln w="31750">
            <a:solidFill>
              <a:srgbClr val="0432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l"/>
            <a:endParaRPr lang="zh-CN" altLang="en-US" sz="18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53958" y="1794780"/>
            <a:ext cx="328231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RISC</a:t>
            </a:r>
            <a:r>
              <a:rPr lang="zh-CN" altLang="en-US" sz="28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（例：</a:t>
            </a:r>
            <a:r>
              <a:rPr lang="en-US" altLang="zh-CN" sz="28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MIPS</a:t>
            </a:r>
            <a:r>
              <a:rPr lang="zh-CN" altLang="en-US" sz="28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1011" y="1794780"/>
            <a:ext cx="309435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CISC</a:t>
            </a:r>
            <a:r>
              <a:rPr lang="zh-CN" altLang="en-US" sz="28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（例：</a:t>
            </a:r>
            <a:r>
              <a:rPr lang="en-US" altLang="zh-CN" sz="28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x86</a:t>
            </a:r>
            <a:r>
              <a:rPr lang="zh-CN" altLang="en-US" sz="28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89271" y="4316719"/>
            <a:ext cx="2505456" cy="550472"/>
          </a:xfrm>
          <a:prstGeom prst="rect">
            <a:avLst/>
          </a:prstGeom>
          <a:noFill/>
          <a:ln w="31750">
            <a:solidFill>
              <a:srgbClr val="0432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l"/>
            <a:endParaRPr lang="zh-CN" altLang="en-US" sz="18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469480" y="3790351"/>
            <a:ext cx="1350868" cy="265176"/>
          </a:xfrm>
          <a:prstGeom prst="rect">
            <a:avLst/>
          </a:prstGeom>
          <a:noFill/>
          <a:ln w="31750">
            <a:solidFill>
              <a:srgbClr val="0432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l"/>
            <a:endParaRPr lang="zh-CN" altLang="en-US" sz="18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68619" y="5616683"/>
            <a:ext cx="338548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0432FF"/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三条指令实现</a:t>
            </a:r>
            <a:r>
              <a:rPr lang="en-US" altLang="zh-CN" sz="2000" dirty="0">
                <a:solidFill>
                  <a:srgbClr val="0432FF"/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for</a:t>
            </a:r>
            <a:r>
              <a:rPr lang="zh-CN" altLang="en-US" sz="2000" dirty="0">
                <a:solidFill>
                  <a:srgbClr val="0432FF"/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循环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97478" y="4753736"/>
            <a:ext cx="2913998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0432FF"/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一条指令实现</a:t>
            </a:r>
            <a:r>
              <a:rPr lang="en-US" altLang="zh-CN" sz="2000" dirty="0">
                <a:solidFill>
                  <a:srgbClr val="0432FF"/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for</a:t>
            </a:r>
            <a:r>
              <a:rPr lang="zh-CN" altLang="en-US" sz="2000" dirty="0">
                <a:solidFill>
                  <a:srgbClr val="0432FF"/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循环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65CEB3E-87F8-B920-6F01-08C3ADD1A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t>64</a:t>
            </a:fld>
            <a:endParaRPr lang="en-US" altLang="zh-CN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指令集设计：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RISC vs CISC</a:t>
            </a:r>
            <a:endParaRPr lang="zh-CN" altLang="en-US" dirty="0"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848" y="1279524"/>
            <a:ext cx="8640304" cy="5521791"/>
          </a:xfrm>
        </p:spPr>
        <p:txBody>
          <a:bodyPr>
            <a:normAutofit fontScale="87500" lnSpcReduction="20000"/>
          </a:bodyPr>
          <a:lstStyle/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zh-CN" altLang="en-US" sz="26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复杂指令集（</a:t>
            </a:r>
            <a:r>
              <a:rPr lang="en-US" altLang="zh-CN" sz="26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CISC, complex instruction set computing</a:t>
            </a:r>
            <a:r>
              <a:rPr lang="zh-CN" altLang="en-US" sz="26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）</a:t>
            </a:r>
            <a:endParaRPr lang="en-US" altLang="zh-CN" sz="2600" dirty="0"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zh-CN" altLang="en-US" sz="24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指令种类</a:t>
            </a:r>
            <a:r>
              <a:rPr lang="zh-CN" altLang="en-US" sz="2400" b="1" dirty="0">
                <a:solidFill>
                  <a:srgbClr val="0432FF"/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多</a:t>
            </a:r>
            <a:endParaRPr lang="en-US" altLang="zh-CN" sz="2400" b="1" dirty="0">
              <a:solidFill>
                <a:srgbClr val="0432FF"/>
              </a:solidFill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zh-CN" altLang="en-US" sz="24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每条指令</a:t>
            </a:r>
            <a:r>
              <a:rPr lang="zh-CN" altLang="en-US" sz="2400" b="1" dirty="0">
                <a:solidFill>
                  <a:srgbClr val="0432FF"/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字长不等</a:t>
            </a:r>
            <a:endParaRPr lang="en-US" altLang="zh-CN" sz="2400" b="1" dirty="0">
              <a:solidFill>
                <a:srgbClr val="0432FF"/>
              </a:solidFill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zh-CN" altLang="en-US" sz="24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完成相同任务需要的指令数目</a:t>
            </a:r>
            <a:r>
              <a:rPr lang="zh-CN" altLang="en-US" sz="2400" b="1" dirty="0">
                <a:solidFill>
                  <a:srgbClr val="0432FF"/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少</a:t>
            </a:r>
            <a:endParaRPr lang="en-US" altLang="zh-CN" sz="2400" dirty="0">
              <a:solidFill>
                <a:srgbClr val="0432FF"/>
              </a:solidFill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zh-CN" altLang="en-US" sz="26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精简指令集（</a:t>
            </a:r>
            <a:r>
              <a:rPr lang="en-US" altLang="zh-CN" sz="26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RISC, reduced instruction set computing</a:t>
            </a:r>
            <a:r>
              <a:rPr lang="zh-CN" altLang="en-US" sz="26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）</a:t>
            </a:r>
            <a:endParaRPr lang="en-US" altLang="zh-CN" sz="2600" dirty="0"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zh-CN" altLang="en-US" sz="24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指令种类</a:t>
            </a:r>
            <a:r>
              <a:rPr lang="zh-CN" altLang="en-US" sz="2400" b="1" dirty="0">
                <a:solidFill>
                  <a:srgbClr val="0432FF"/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少</a:t>
            </a:r>
            <a:endParaRPr lang="en-US" altLang="zh-CN" sz="2400" b="1" dirty="0">
              <a:solidFill>
                <a:srgbClr val="0432FF"/>
              </a:solidFill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zh-CN" altLang="en-US" sz="24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每条指令</a:t>
            </a:r>
            <a:r>
              <a:rPr lang="zh-CN" altLang="en-US" sz="2400" b="1" dirty="0">
                <a:solidFill>
                  <a:srgbClr val="0432FF"/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字长相等</a:t>
            </a:r>
            <a:endParaRPr lang="en-US" altLang="zh-CN" sz="2400" b="1" dirty="0">
              <a:solidFill>
                <a:srgbClr val="0432FF"/>
              </a:solidFill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zh-CN" altLang="en-US" sz="24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完成相同任务需要的指令数目</a:t>
            </a:r>
            <a:r>
              <a:rPr lang="zh-CN" altLang="en-US" sz="2400" b="1" dirty="0">
                <a:solidFill>
                  <a:srgbClr val="0432FF"/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多</a:t>
            </a:r>
            <a:endParaRPr lang="en-US" altLang="zh-CN" sz="2400" b="1" dirty="0">
              <a:solidFill>
                <a:srgbClr val="0432FF"/>
              </a:solidFill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zh-CN" altLang="en-US" sz="26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最简指令集（</a:t>
            </a:r>
            <a:r>
              <a:rPr lang="en-US" altLang="zh-CN" sz="26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URISC, ultimate reduced instruction set computer</a:t>
            </a:r>
            <a:r>
              <a:rPr lang="zh-CN" altLang="en-US" sz="26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）</a:t>
            </a:r>
            <a:endParaRPr lang="en-US" altLang="zh-CN" sz="2600" dirty="0"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zh-CN" altLang="en-US" sz="24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只有一条指令</a:t>
            </a:r>
            <a:endParaRPr lang="en-US" altLang="zh-CN" sz="2400" dirty="0"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zh-CN" altLang="en-US" sz="24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完备的指令集</a:t>
            </a:r>
            <a:endParaRPr lang="en-US" altLang="zh-CN" sz="2400" dirty="0"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zh-CN" altLang="en-US" sz="24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一般用来于教学和研究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endParaRPr kumimoji="1" lang="zh-CN" altLang="en-US" sz="2800" dirty="0"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555980" y="1865376"/>
            <a:ext cx="166497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0432FF"/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代表：</a:t>
            </a:r>
            <a:r>
              <a:rPr lang="en-US" altLang="zh-CN" sz="2400" dirty="0">
                <a:solidFill>
                  <a:srgbClr val="0432FF"/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x86</a:t>
            </a:r>
            <a:endParaRPr lang="zh-CN" altLang="en-US" sz="2400" dirty="0">
              <a:solidFill>
                <a:srgbClr val="0432FF"/>
              </a:solidFill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833320" y="3833809"/>
            <a:ext cx="30925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0432FF"/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代表：</a:t>
            </a:r>
            <a:r>
              <a:rPr lang="en-US" altLang="zh-CN" sz="2400" dirty="0">
                <a:solidFill>
                  <a:srgbClr val="0432FF"/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MIPS,</a:t>
            </a:r>
            <a:r>
              <a:rPr lang="zh-CN" altLang="en-US" sz="2400" dirty="0">
                <a:solidFill>
                  <a:srgbClr val="0432FF"/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 </a:t>
            </a:r>
            <a:r>
              <a:rPr lang="en-US" altLang="zh-CN" sz="2400" dirty="0">
                <a:solidFill>
                  <a:srgbClr val="0432FF"/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RISC-V</a:t>
            </a:r>
            <a:endParaRPr lang="zh-CN" altLang="en-US" sz="2400" dirty="0">
              <a:solidFill>
                <a:srgbClr val="0432FF"/>
              </a:solidFill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BF659DF-1F4F-7059-ECC8-FC4E1059F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t>65</a:t>
            </a:fld>
            <a:endParaRPr lang="en-US" altLang="zh-CN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351594"/>
            <a:ext cx="8229600" cy="5131756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考虑一个实际的计算程序的需求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回顾：需要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CPU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 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FSM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支持哪些操作？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指令集设计：示例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87946" y="2013824"/>
            <a:ext cx="3730508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18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int Fib(int n) </a:t>
            </a:r>
          </a:p>
          <a:p>
            <a:pPr algn="l"/>
            <a:r>
              <a:rPr lang="en-US" altLang="zh-CN" sz="18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{</a:t>
            </a:r>
          </a:p>
          <a:p>
            <a:pPr algn="l"/>
            <a:r>
              <a:rPr lang="en-US" altLang="zh-CN" sz="18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    int i, </a:t>
            </a:r>
            <a:r>
              <a:rPr lang="en-US" altLang="zh-CN" sz="1800" b="0" i="1" dirty="0" err="1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nextTerm</a:t>
            </a:r>
            <a:r>
              <a:rPr lang="en-US" altLang="zh-CN" sz="18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, t0, t1;</a:t>
            </a:r>
          </a:p>
          <a:p>
            <a:pPr algn="l"/>
            <a:r>
              <a:rPr lang="en-US" altLang="zh-CN" sz="18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    t0 = 0;</a:t>
            </a:r>
          </a:p>
          <a:p>
            <a:pPr algn="l"/>
            <a:r>
              <a:rPr lang="en-US" altLang="zh-CN" sz="18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    t1 = 1;</a:t>
            </a:r>
          </a:p>
          <a:p>
            <a:pPr algn="l"/>
            <a:r>
              <a:rPr lang="en-US" altLang="zh-CN" sz="18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    for(i = 1; i &lt;= n; ++i) </a:t>
            </a:r>
          </a:p>
          <a:p>
            <a:pPr algn="l"/>
            <a:r>
              <a:rPr lang="en-US" altLang="zh-CN" sz="18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    {</a:t>
            </a:r>
          </a:p>
          <a:p>
            <a:pPr algn="l"/>
            <a:r>
              <a:rPr lang="en-US" altLang="zh-CN" sz="18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        </a:t>
            </a:r>
            <a:r>
              <a:rPr lang="en-US" altLang="zh-CN" sz="1800" b="0" i="1" dirty="0" err="1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nextTerm</a:t>
            </a:r>
            <a:r>
              <a:rPr lang="en-US" altLang="zh-CN" sz="18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 = t0 + t1;</a:t>
            </a:r>
          </a:p>
          <a:p>
            <a:pPr algn="l"/>
            <a:r>
              <a:rPr lang="en-US" altLang="zh-CN" sz="18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        t0 = t1;</a:t>
            </a:r>
          </a:p>
          <a:p>
            <a:pPr algn="l"/>
            <a:r>
              <a:rPr lang="en-US" altLang="zh-CN" sz="18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        t1 = </a:t>
            </a:r>
            <a:r>
              <a:rPr lang="en-US" altLang="zh-CN" sz="1800" b="0" i="1" dirty="0" err="1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nextTerm</a:t>
            </a:r>
            <a:r>
              <a:rPr lang="en-US" altLang="zh-CN" sz="18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;</a:t>
            </a:r>
          </a:p>
          <a:p>
            <a:pPr algn="l"/>
            <a:r>
              <a:rPr lang="en-US" altLang="zh-CN" sz="18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    }</a:t>
            </a:r>
          </a:p>
          <a:p>
            <a:pPr algn="l"/>
            <a:r>
              <a:rPr lang="en-US" altLang="zh-CN" sz="18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    return t1;</a:t>
            </a:r>
          </a:p>
          <a:p>
            <a:pPr algn="l"/>
            <a:r>
              <a:rPr lang="en-US" altLang="zh-CN" sz="18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}</a:t>
            </a:r>
          </a:p>
          <a:p>
            <a:pPr algn="l"/>
            <a:endParaRPr lang="en-US" altLang="zh-CN" sz="1800" b="0" i="1" dirty="0">
              <a:solidFill>
                <a:schemeClr val="tx1"/>
              </a:solidFill>
              <a:latin typeface="Consolas" panose="020B0609020204030204" pitchFamily="49" charset="0"/>
              <a:ea typeface="黑体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07319" y="2013824"/>
            <a:ext cx="3603872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18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#define N 10</a:t>
            </a:r>
          </a:p>
          <a:p>
            <a:pPr algn="l"/>
            <a:endParaRPr lang="en-US" altLang="zh-CN" sz="1800" b="0" i="1" dirty="0">
              <a:solidFill>
                <a:schemeClr val="tx1"/>
              </a:solidFill>
              <a:latin typeface="Consolas" panose="020B0609020204030204" pitchFamily="49" charset="0"/>
              <a:ea typeface="黑体" panose="02010609060101010101" pitchFamily="49" charset="-122"/>
              <a:cs typeface="Consolas" panose="020B0609020204030204" pitchFamily="49" charset="0"/>
            </a:endParaRPr>
          </a:p>
          <a:p>
            <a:pPr algn="l"/>
            <a:r>
              <a:rPr lang="en-US" altLang="zh-CN" sz="18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int main() </a:t>
            </a:r>
          </a:p>
          <a:p>
            <a:pPr algn="l"/>
            <a:r>
              <a:rPr lang="en-US" altLang="zh-CN" sz="18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{</a:t>
            </a:r>
          </a:p>
          <a:p>
            <a:pPr algn="l"/>
            <a:r>
              <a:rPr lang="en-US" altLang="zh-CN" sz="18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    int i, s[N];</a:t>
            </a:r>
          </a:p>
          <a:p>
            <a:pPr algn="l"/>
            <a:r>
              <a:rPr lang="en-US" altLang="zh-CN" sz="18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    for(i = 0; i &lt; N; ++i) </a:t>
            </a:r>
          </a:p>
          <a:p>
            <a:pPr algn="l"/>
            <a:r>
              <a:rPr lang="en-US" altLang="zh-CN" sz="18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    {</a:t>
            </a:r>
          </a:p>
          <a:p>
            <a:pPr algn="l"/>
            <a:r>
              <a:rPr lang="en-US" altLang="zh-CN" sz="18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        s[i] = Fib(i);</a:t>
            </a:r>
          </a:p>
          <a:p>
            <a:pPr algn="l"/>
            <a:r>
              <a:rPr lang="en-US" altLang="zh-CN" sz="18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    }</a:t>
            </a:r>
          </a:p>
          <a:p>
            <a:pPr algn="l"/>
            <a:r>
              <a:rPr lang="en-US" altLang="zh-CN" sz="18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    return 0;</a:t>
            </a:r>
          </a:p>
          <a:p>
            <a:pPr algn="l"/>
            <a:r>
              <a:rPr lang="en-US" altLang="zh-CN" sz="18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}</a:t>
            </a:r>
          </a:p>
          <a:p>
            <a:pPr algn="l"/>
            <a:endParaRPr lang="en-US" altLang="zh-CN" sz="1800" b="0" i="1" dirty="0">
              <a:solidFill>
                <a:schemeClr val="tx1"/>
              </a:solidFill>
              <a:latin typeface="Consolas" panose="020B0609020204030204" pitchFamily="49" charset="0"/>
              <a:ea typeface="黑体" panose="02010609060101010101" pitchFamily="49" charset="-122"/>
              <a:cs typeface="Consolas" panose="020B0609020204030204" pitchFamily="49" charset="0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04BF338B-4CCF-9523-3142-83CB8A8F813A}"/>
              </a:ext>
            </a:extLst>
          </p:cNvPr>
          <p:cNvGrpSpPr/>
          <p:nvPr/>
        </p:nvGrpSpPr>
        <p:grpSpPr>
          <a:xfrm>
            <a:off x="207081" y="2298624"/>
            <a:ext cx="8819366" cy="3593185"/>
            <a:chOff x="207081" y="2298624"/>
            <a:chExt cx="8819366" cy="3593185"/>
          </a:xfrm>
        </p:grpSpPr>
        <p:sp>
          <p:nvSpPr>
            <p:cNvPr id="9" name="Oval 8"/>
            <p:cNvSpPr/>
            <p:nvPr/>
          </p:nvSpPr>
          <p:spPr>
            <a:xfrm>
              <a:off x="5059680" y="2767403"/>
              <a:ext cx="1564640" cy="1051560"/>
            </a:xfrm>
            <a:prstGeom prst="ellipse">
              <a:avLst/>
            </a:prstGeom>
            <a:noFill/>
            <a:ln w="317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noAutofit/>
            </a:bodyPr>
            <a:lstStyle/>
            <a:p>
              <a:pPr algn="l"/>
              <a:endParaRPr lang="zh-CN" altLang="en-US" sz="180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6624320" y="3293183"/>
              <a:ext cx="876803" cy="589280"/>
            </a:xfrm>
            <a:prstGeom prst="ellipse">
              <a:avLst/>
            </a:prstGeom>
            <a:noFill/>
            <a:ln w="317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noAutofit/>
            </a:bodyPr>
            <a:lstStyle/>
            <a:p>
              <a:pPr algn="l"/>
              <a:endParaRPr lang="zh-CN" altLang="en-US" sz="180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5547361" y="3811023"/>
              <a:ext cx="2830566" cy="589280"/>
            </a:xfrm>
            <a:prstGeom prst="ellipse">
              <a:avLst/>
            </a:prstGeom>
            <a:noFill/>
            <a:ln w="317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noAutofit/>
            </a:bodyPr>
            <a:lstStyle/>
            <a:p>
              <a:pPr algn="l"/>
              <a:endParaRPr lang="zh-CN" altLang="en-US" sz="180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4997198" y="4926083"/>
              <a:ext cx="1689603" cy="589280"/>
            </a:xfrm>
            <a:prstGeom prst="ellipse">
              <a:avLst/>
            </a:prstGeom>
            <a:noFill/>
            <a:ln w="31750">
              <a:solidFill>
                <a:srgbClr val="C0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noAutofit/>
            </a:bodyPr>
            <a:lstStyle/>
            <a:p>
              <a:pPr algn="l"/>
              <a:endParaRPr lang="zh-CN" altLang="en-US" sz="180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837361" y="2298624"/>
              <a:ext cx="792480" cy="4603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zh-CN" altLang="en-US" sz="2400">
                  <a:solidFill>
                    <a:schemeClr val="accent1">
                      <a:lumMod val="75000"/>
                    </a:schemeClr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赋值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276850" y="2958136"/>
              <a:ext cx="792480" cy="4603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zh-CN" altLang="en-US" sz="2400" dirty="0">
                  <a:solidFill>
                    <a:schemeClr val="accent1">
                      <a:lumMod val="75000"/>
                    </a:schemeClr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分支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7624367" y="4339560"/>
              <a:ext cx="1402080" cy="4603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zh-CN" altLang="en-US" sz="2400">
                  <a:solidFill>
                    <a:schemeClr val="accent1">
                      <a:lumMod val="75000"/>
                    </a:schemeClr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算术操作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6278549" y="5430144"/>
              <a:ext cx="2659702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zh-CN" altLang="en-US" sz="2400" dirty="0">
                  <a:solidFill>
                    <a:srgbClr val="C00000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过程调用（返回）</a:t>
              </a:r>
            </a:p>
          </p:txBody>
        </p:sp>
        <p:sp>
          <p:nvSpPr>
            <p:cNvPr id="17" name="Oval 16"/>
            <p:cNvSpPr/>
            <p:nvPr/>
          </p:nvSpPr>
          <p:spPr>
            <a:xfrm>
              <a:off x="1727772" y="3849658"/>
              <a:ext cx="1689603" cy="589280"/>
            </a:xfrm>
            <a:prstGeom prst="ellipse">
              <a:avLst/>
            </a:prstGeom>
            <a:noFill/>
            <a:ln w="317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noAutofit/>
            </a:bodyPr>
            <a:lstStyle/>
            <a:p>
              <a:pPr algn="l"/>
              <a:endParaRPr lang="zh-CN" altLang="en-US" sz="180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3479296" y="3721984"/>
              <a:ext cx="1402080" cy="8299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zh-CN" altLang="en-US" sz="2400" dirty="0">
                  <a:solidFill>
                    <a:schemeClr val="accent1">
                      <a:lumMod val="75000"/>
                    </a:schemeClr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过程调用</a:t>
              </a:r>
              <a:endParaRPr lang="en-US" altLang="zh-CN" sz="24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  <a:p>
              <a:r>
                <a:rPr lang="zh-CN" altLang="en-US" sz="2400" dirty="0">
                  <a:solidFill>
                    <a:schemeClr val="accent1">
                      <a:lumMod val="75000"/>
                    </a:schemeClr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访存</a:t>
              </a:r>
            </a:p>
          </p:txBody>
        </p:sp>
        <p:sp>
          <p:nvSpPr>
            <p:cNvPr id="3" name="任意多边形: 形状 2"/>
            <p:cNvSpPr/>
            <p:nvPr/>
          </p:nvSpPr>
          <p:spPr>
            <a:xfrm>
              <a:off x="1073959" y="3555035"/>
              <a:ext cx="154654" cy="887896"/>
            </a:xfrm>
            <a:custGeom>
              <a:avLst/>
              <a:gdLst>
                <a:gd name="connsiteX0" fmla="*/ 238543 w 238543"/>
                <a:gd name="connsiteY0" fmla="*/ 1013791 h 1013791"/>
                <a:gd name="connsiteX1" fmla="*/ 4 w 238543"/>
                <a:gd name="connsiteY1" fmla="*/ 443947 h 1013791"/>
                <a:gd name="connsiteX2" fmla="*/ 231917 w 238543"/>
                <a:gd name="connsiteY2" fmla="*/ 0 h 1013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543" h="1013791">
                  <a:moveTo>
                    <a:pt x="238543" y="1013791"/>
                  </a:moveTo>
                  <a:cubicBezTo>
                    <a:pt x="119825" y="813351"/>
                    <a:pt x="1108" y="612912"/>
                    <a:pt x="4" y="443947"/>
                  </a:cubicBezTo>
                  <a:cubicBezTo>
                    <a:pt x="-1100" y="274982"/>
                    <a:pt x="184430" y="72887"/>
                    <a:pt x="231917" y="0"/>
                  </a:cubicBezTo>
                </a:path>
              </a:pathLst>
            </a:custGeom>
            <a:noFill/>
            <a:ln w="57150"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4600"/>
            </a:p>
          </p:txBody>
        </p:sp>
        <p:sp>
          <p:nvSpPr>
            <p:cNvPr id="4" name="TextBox 17"/>
            <p:cNvSpPr txBox="1"/>
            <p:nvPr/>
          </p:nvSpPr>
          <p:spPr>
            <a:xfrm>
              <a:off x="207081" y="3811023"/>
              <a:ext cx="874166" cy="460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zh-CN" altLang="en-US" sz="2400" dirty="0">
                  <a:solidFill>
                    <a:schemeClr val="accent1">
                      <a:lumMod val="75000"/>
                    </a:schemeClr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跳转</a:t>
              </a:r>
            </a:p>
          </p:txBody>
        </p:sp>
      </p:grp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61C75D3-1469-3B3C-EC79-D4797F269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t>66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指令集设计：示例</a:t>
            </a:r>
            <a:endParaRPr lang="zh-CN" altLang="en-US" kern="1200" dirty="0"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3277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295939"/>
            <a:ext cx="8229600" cy="4525963"/>
          </a:xfrm>
        </p:spPr>
        <p:txBody>
          <a:bodyPr>
            <a:normAutofit/>
          </a:bodyPr>
          <a:lstStyle/>
          <a:p>
            <a:r>
              <a:rPr lang="zh-CN" altLang="en-US" sz="28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算术操作指令：变量和变量、立即数和变量之间的加、减、位运算</a:t>
            </a:r>
            <a:endParaRPr lang="en-US" altLang="zh-CN" sz="2800" dirty="0"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marL="0" lvl="2" indent="0">
              <a:buNone/>
            </a:pPr>
            <a:r>
              <a:rPr lang="en-US" altLang="zh-CN" sz="28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    </a:t>
            </a:r>
          </a:p>
        </p:txBody>
      </p:sp>
      <p:graphicFrame>
        <p:nvGraphicFramePr>
          <p:cNvPr id="3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6651304"/>
              </p:ext>
            </p:extLst>
          </p:nvPr>
        </p:nvGraphicFramePr>
        <p:xfrm>
          <a:off x="457200" y="2301239"/>
          <a:ext cx="8229600" cy="3931699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4217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指令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功能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指令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功能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342"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lang="en-US" altLang="zh-CN" sz="1600" i="1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 add a0, a1, a2;   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lang="en-US" altLang="zh-CN" sz="1600" i="1" kern="120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a0=a1 + a2 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lang="en-US" altLang="zh-CN" sz="1600" i="1" kern="1200" noProof="0" dirty="0" err="1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addi</a:t>
                      </a:r>
                      <a:r>
                        <a:rPr lang="en-US" altLang="zh-CN" sz="1600" i="1" kern="1200" noProof="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 a0, a1, 5;    </a:t>
                      </a:r>
                      <a:endParaRPr lang="zh-CN" altLang="en-US" sz="1600" i="1" kern="1200" dirty="0">
                        <a:solidFill>
                          <a:schemeClr val="dk1"/>
                        </a:solidFill>
                        <a:latin typeface="Consolas" panose="020B0609020204030204" pitchFamily="49" charset="0"/>
                        <a:ea typeface="黑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lang="en-US" altLang="zh-CN" sz="1600" i="1" kern="120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a0=a1 + 5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5342"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lang="en-US" altLang="zh-CN" sz="1600" i="1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 sub a0, a1, a2;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lang="en-US" altLang="zh-CN" sz="1600" i="1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a0=a1 - a2 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lang="en-US" altLang="zh-CN" sz="1600" i="1" kern="1200" err="1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subi</a:t>
                      </a:r>
                      <a:r>
                        <a:rPr lang="en-US" altLang="zh-CN" sz="1600" i="1" kern="120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 a0, a1, 5; </a:t>
                      </a:r>
                      <a:endParaRPr lang="zh-CN" altLang="en-US" sz="1600" i="1" kern="1200">
                        <a:solidFill>
                          <a:schemeClr val="dk1"/>
                        </a:solidFill>
                        <a:latin typeface="Consolas" panose="020B0609020204030204" pitchFamily="49" charset="0"/>
                        <a:ea typeface="黑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lang="en-US" altLang="zh-CN" sz="1600" i="1" kern="120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a0=a1 - 5 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5342"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lang="en-US" altLang="zh-CN" sz="1600" i="1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and a0, a1, a2;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i="1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a0=a1 &amp; a2 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lang="en-US" altLang="zh-CN" sz="1600" i="1" kern="1200" dirty="0" err="1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andi</a:t>
                      </a:r>
                      <a:r>
                        <a:rPr lang="en-US" altLang="zh-CN" sz="1600" i="1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 a0, a1, 5; </a:t>
                      </a:r>
                      <a:endParaRPr lang="zh-CN" altLang="en-US" sz="1600" i="1" kern="1200" dirty="0">
                        <a:solidFill>
                          <a:schemeClr val="dk1"/>
                        </a:solidFill>
                        <a:latin typeface="Consolas" panose="020B0609020204030204" pitchFamily="49" charset="0"/>
                        <a:ea typeface="黑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i="1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a0=a1 &amp; 5 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5342"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lang="en-US" altLang="zh-CN" sz="1600" i="1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 or a0, a1, a2;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i="1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a0=a1 | a2 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lang="en-US" altLang="zh-CN" sz="1600" i="1" kern="1200" dirty="0" err="1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ori</a:t>
                      </a:r>
                      <a:r>
                        <a:rPr lang="en-US" altLang="zh-CN" sz="1600" i="1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 a0, a1, 5; </a:t>
                      </a:r>
                      <a:endParaRPr lang="zh-CN" altLang="en-US" sz="1600" i="1" kern="1200" dirty="0">
                        <a:solidFill>
                          <a:schemeClr val="dk1"/>
                        </a:solidFill>
                        <a:latin typeface="Consolas" panose="020B0609020204030204" pitchFamily="49" charset="0"/>
                        <a:ea typeface="黑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i="1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a0=a1 | 5 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5342"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lang="en-US" altLang="zh-CN" sz="1600" i="1" kern="120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altLang="zh-CN" sz="1600" i="1" kern="1200" err="1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xor</a:t>
                      </a:r>
                      <a:r>
                        <a:rPr lang="en-US" altLang="zh-CN" sz="1600" i="1" kern="120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 a0, a1, a2; </a:t>
                      </a:r>
                      <a:endParaRPr lang="zh-CN" altLang="en-US" sz="1600" i="1" kern="1200">
                        <a:solidFill>
                          <a:schemeClr val="dk1"/>
                        </a:solidFill>
                        <a:latin typeface="Consolas" panose="020B0609020204030204" pitchFamily="49" charset="0"/>
                        <a:ea typeface="黑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i="1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a0=a1 ^ a2 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lang="en-US" altLang="zh-CN" sz="1600" i="1" kern="1200" dirty="0" err="1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xori</a:t>
                      </a:r>
                      <a:r>
                        <a:rPr lang="en-US" altLang="zh-CN" sz="1600" i="1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 a0, a1, 5; </a:t>
                      </a:r>
                      <a:endParaRPr lang="zh-CN" altLang="en-US" sz="1600" i="1" kern="1200" dirty="0">
                        <a:solidFill>
                          <a:schemeClr val="dk1"/>
                        </a:solidFill>
                        <a:latin typeface="Consolas" panose="020B0609020204030204" pitchFamily="49" charset="0"/>
                        <a:ea typeface="黑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i="1" kern="120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a0=a1 ^ 5 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2532"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lang="en-US" altLang="zh-CN" sz="1600" i="1" kern="120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altLang="zh-CN" sz="1600" i="1" kern="1200" err="1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sll</a:t>
                      </a:r>
                      <a:r>
                        <a:rPr lang="en-US" altLang="zh-CN" sz="1600" i="1" kern="120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 a0, a1, a2; </a:t>
                      </a:r>
                      <a:endParaRPr lang="zh-CN" altLang="en-US" sz="1600" i="1" kern="1200">
                        <a:solidFill>
                          <a:schemeClr val="dk1"/>
                        </a:solidFill>
                        <a:latin typeface="Consolas" panose="020B0609020204030204" pitchFamily="49" charset="0"/>
                        <a:ea typeface="黑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i="1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a0=a1 &lt;&lt; a2 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lang="en-US" altLang="zh-CN" sz="1600" i="1" kern="1200" dirty="0" err="1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slli</a:t>
                      </a:r>
                      <a:r>
                        <a:rPr lang="en-US" altLang="zh-CN" sz="1600" i="1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 a0, a1, 5; </a:t>
                      </a:r>
                      <a:endParaRPr lang="zh-CN" altLang="en-US" sz="1600" i="1" kern="1200" dirty="0">
                        <a:solidFill>
                          <a:schemeClr val="dk1"/>
                        </a:solidFill>
                        <a:latin typeface="Consolas" panose="020B0609020204030204" pitchFamily="49" charset="0"/>
                        <a:ea typeface="黑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i="1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a0=a1 &lt;&lt; 5 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1922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i="1" kern="120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altLang="zh-CN" sz="1600" i="1" kern="1200" err="1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srl</a:t>
                      </a:r>
                      <a:r>
                        <a:rPr lang="en-US" altLang="zh-CN" sz="1600" i="1" kern="120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 a0, a1, a2; </a:t>
                      </a:r>
                      <a:endParaRPr lang="zh-CN" altLang="en-US" sz="1600" i="1" kern="1200">
                        <a:solidFill>
                          <a:schemeClr val="dk1"/>
                        </a:solidFill>
                        <a:latin typeface="Consolas" panose="020B0609020204030204" pitchFamily="49" charset="0"/>
                        <a:ea typeface="黑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i="1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a0=a1 &gt;&gt; a2</a:t>
                      </a:r>
                    </a:p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（逻辑移位）</a:t>
                      </a:r>
                      <a:r>
                        <a:rPr lang="en-US" altLang="zh-CN" sz="1600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 </a:t>
                      </a:r>
                      <a:endParaRPr lang="zh-CN" altLang="en-US" sz="1600" kern="1200" dirty="0">
                        <a:solidFill>
                          <a:schemeClr val="dk1"/>
                        </a:solidFill>
                        <a:latin typeface="Consolas" panose="020B0609020204030204" pitchFamily="49" charset="0"/>
                        <a:ea typeface="黑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i="1" kern="1200" dirty="0" err="1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srli</a:t>
                      </a:r>
                      <a:r>
                        <a:rPr lang="en-US" altLang="zh-CN" sz="1600" i="1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 a0, a1, 5; </a:t>
                      </a:r>
                      <a:endParaRPr lang="zh-CN" altLang="en-US" sz="1600" i="1" kern="1200" dirty="0">
                        <a:solidFill>
                          <a:schemeClr val="dk1"/>
                        </a:solidFill>
                        <a:latin typeface="Consolas" panose="020B0609020204030204" pitchFamily="49" charset="0"/>
                        <a:ea typeface="黑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i="1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a0=a1 &gt;&gt; 5 </a:t>
                      </a:r>
                    </a:p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（逻辑移位）</a:t>
                      </a:r>
                      <a:r>
                        <a:rPr lang="en-US" altLang="zh-CN" sz="1600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 </a:t>
                      </a:r>
                      <a:endParaRPr lang="zh-CN" altLang="en-US" sz="1600" kern="1200" dirty="0">
                        <a:solidFill>
                          <a:schemeClr val="dk1"/>
                        </a:solidFill>
                        <a:latin typeface="Consolas" panose="020B0609020204030204" pitchFamily="49" charset="0"/>
                        <a:ea typeface="黑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31922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i="1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altLang="zh-CN" sz="1600" i="1" kern="1200" dirty="0" err="1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sra</a:t>
                      </a:r>
                      <a:r>
                        <a:rPr lang="en-US" altLang="zh-CN" sz="1600" i="1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 a0, a1, a2; </a:t>
                      </a:r>
                      <a:endParaRPr lang="zh-CN" altLang="en-US" sz="1600" i="1" kern="1200" dirty="0">
                        <a:solidFill>
                          <a:schemeClr val="dk1"/>
                        </a:solidFill>
                        <a:latin typeface="Consolas" panose="020B0609020204030204" pitchFamily="49" charset="0"/>
                        <a:ea typeface="黑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i="1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a0=a1 &gt;&gt; a2 </a:t>
                      </a:r>
                    </a:p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（算术移位）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i="1" kern="1200" dirty="0" err="1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srai</a:t>
                      </a:r>
                      <a:r>
                        <a:rPr lang="en-US" altLang="zh-CN" sz="1600" i="1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 a0, a1, 5; </a:t>
                      </a:r>
                      <a:endParaRPr lang="zh-CN" altLang="en-US" sz="1600" i="1" kern="1200" dirty="0">
                        <a:solidFill>
                          <a:schemeClr val="dk1"/>
                        </a:solidFill>
                        <a:latin typeface="Consolas" panose="020B0609020204030204" pitchFamily="49" charset="0"/>
                        <a:ea typeface="黑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i="1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a0=a1 &gt;&gt; 5</a:t>
                      </a:r>
                    </a:p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（算术移位）</a:t>
                      </a:r>
                      <a:r>
                        <a:rPr lang="en-US" altLang="zh-CN" sz="1600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 </a:t>
                      </a:r>
                      <a:endParaRPr lang="zh-CN" altLang="en-US" sz="1600" kern="1200" dirty="0">
                        <a:solidFill>
                          <a:schemeClr val="dk1"/>
                        </a:solidFill>
                        <a:latin typeface="Consolas" panose="020B0609020204030204" pitchFamily="49" charset="0"/>
                        <a:ea typeface="黑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633221A-ED1A-013E-B193-BC293AE9A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t>67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指令集设计：示例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279526"/>
            <a:ext cx="8458200" cy="4965700"/>
          </a:xfrm>
        </p:spPr>
        <p:txBody>
          <a:bodyPr>
            <a:normAutofit/>
          </a:bodyPr>
          <a:lstStyle/>
          <a:p>
            <a:r>
              <a:rPr lang="zh-CN" altLang="en-US" sz="2800" dirty="0">
                <a:latin typeface="Arial" panose="020B0604020202020204" pitchFamily="34" charset="0"/>
                <a:ea typeface="黑体" panose="02010609060101010101" pitchFamily="49" charset="-122"/>
              </a:rPr>
              <a:t>分支指令</a:t>
            </a:r>
            <a:endParaRPr lang="en-US" altLang="zh-CN" sz="2800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1"/>
            <a:r>
              <a:rPr lang="zh-CN" altLang="en-US" sz="2400" dirty="0">
                <a:latin typeface="Arial" panose="020B0604020202020204" pitchFamily="34" charset="0"/>
                <a:ea typeface="黑体" panose="02010609060101010101" pitchFamily="49" charset="-122"/>
              </a:rPr>
              <a:t>比较变量和变量、变量和立即数之间的大小并进行跳转</a:t>
            </a:r>
            <a:endParaRPr lang="en-US" altLang="zh-CN" sz="2400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1"/>
            <a:endParaRPr lang="en-US" altLang="zh-CN" sz="2400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1"/>
            <a:endParaRPr lang="en-US" altLang="zh-CN" sz="2400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1"/>
            <a:endParaRPr lang="en-US" altLang="zh-CN" sz="2400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1"/>
            <a:endParaRPr lang="en-US" altLang="zh-CN" sz="2400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1"/>
            <a:endParaRPr lang="en-US" altLang="zh-CN" sz="2400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457200" lvl="1" indent="0">
              <a:buNone/>
            </a:pPr>
            <a:endParaRPr lang="en-US" altLang="zh-CN" sz="2400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r>
              <a:rPr lang="zh-CN" altLang="en-US" sz="2800" dirty="0">
                <a:latin typeface="Arial" panose="020B0604020202020204" pitchFamily="34" charset="0"/>
                <a:ea typeface="黑体" panose="02010609060101010101" pitchFamily="49" charset="-122"/>
              </a:rPr>
              <a:t>跳转指令：直接跳转到某一条指令的位置</a:t>
            </a:r>
            <a:endParaRPr lang="en-US" altLang="zh-CN" sz="2800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342900" lvl="1" indent="0">
              <a:buNone/>
            </a:pPr>
            <a:endParaRPr lang="en-US" altLang="zh-CN" sz="3200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0" indent="0">
              <a:buNone/>
            </a:pPr>
            <a:endParaRPr lang="en-US" altLang="zh-CN" sz="3600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endParaRPr lang="en-US" altLang="zh-CN" sz="3600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898328"/>
              </p:ext>
            </p:extLst>
          </p:nvPr>
        </p:nvGraphicFramePr>
        <p:xfrm>
          <a:off x="457200" y="2291727"/>
          <a:ext cx="8229600" cy="257934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4864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83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05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42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3156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指令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功能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指令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功能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7862"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lang="en-US" altLang="zh-CN" sz="1600" i="1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altLang="zh-CN" sz="1600" i="1" kern="1200" dirty="0" err="1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beq</a:t>
                      </a:r>
                      <a:r>
                        <a:rPr lang="en-US" altLang="zh-CN" sz="1600" i="1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 a0, a1, label;    </a:t>
                      </a:r>
                      <a:endParaRPr lang="zh-CN" altLang="en-US" sz="1600" i="1" kern="1200" dirty="0">
                        <a:solidFill>
                          <a:schemeClr val="dk1"/>
                        </a:solidFill>
                        <a:latin typeface="Consolas" panose="020B0609020204030204" pitchFamily="49" charset="0"/>
                        <a:ea typeface="黑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lang="zh-CN" altLang="en-US" sz="1600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如果</a:t>
                      </a:r>
                      <a:r>
                        <a:rPr lang="en-US" altLang="zh-CN" sz="1600" i="1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a0 == a1</a:t>
                      </a:r>
                      <a:r>
                        <a:rPr lang="zh-CN" altLang="en-US" sz="1600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，则跳转到</a:t>
                      </a:r>
                      <a:r>
                        <a:rPr lang="en-US" altLang="zh-CN" sz="1600" i="1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label</a:t>
                      </a:r>
                      <a:r>
                        <a:rPr lang="en-US" altLang="zh-CN" sz="1600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 </a:t>
                      </a:r>
                      <a:endParaRPr lang="zh-CN" altLang="en-US" sz="1600" i="1" kern="1200" dirty="0">
                        <a:solidFill>
                          <a:schemeClr val="dk1"/>
                        </a:solidFill>
                        <a:latin typeface="Consolas" panose="020B0609020204030204" pitchFamily="49" charset="0"/>
                        <a:ea typeface="黑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lang="en-US" altLang="zh-CN" sz="1600" i="1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altLang="zh-CN" sz="1600" i="1" kern="1200" dirty="0" err="1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beqi</a:t>
                      </a:r>
                      <a:r>
                        <a:rPr lang="en-US" altLang="zh-CN" sz="1600" i="1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 a0, 5, label;    </a:t>
                      </a:r>
                      <a:endParaRPr lang="zh-CN" altLang="en-US" sz="1600" i="1" kern="1200" dirty="0">
                        <a:solidFill>
                          <a:schemeClr val="dk1"/>
                        </a:solidFill>
                        <a:latin typeface="Consolas" panose="020B0609020204030204" pitchFamily="49" charset="0"/>
                        <a:ea typeface="黑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lang="zh-CN" altLang="en-US" sz="1600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如果</a:t>
                      </a:r>
                      <a:r>
                        <a:rPr lang="en-US" altLang="zh-CN" sz="1600" i="1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a0 == 5</a:t>
                      </a:r>
                      <a:r>
                        <a:rPr lang="zh-CN" altLang="en-US" sz="1600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，则跳转到</a:t>
                      </a:r>
                      <a:r>
                        <a:rPr lang="en-US" altLang="zh-CN" sz="1600" i="1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label</a:t>
                      </a:r>
                      <a:r>
                        <a:rPr lang="en-US" altLang="zh-CN" sz="1600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 </a:t>
                      </a:r>
                      <a:endParaRPr lang="zh-CN" altLang="en-US" sz="1600" i="1" kern="1200" dirty="0">
                        <a:solidFill>
                          <a:schemeClr val="dk1"/>
                        </a:solidFill>
                        <a:latin typeface="Consolas" panose="020B0609020204030204" pitchFamily="49" charset="0"/>
                        <a:ea typeface="黑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7862"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lang="en-US" altLang="zh-CN" sz="1600" i="1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altLang="zh-CN" sz="1600" i="1" kern="1200" dirty="0" err="1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blt</a:t>
                      </a:r>
                      <a:r>
                        <a:rPr lang="en-US" altLang="zh-CN" sz="1600" i="1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 a0, a1, label; </a:t>
                      </a:r>
                      <a:endParaRPr lang="zh-CN" altLang="en-US" sz="1600" i="1" kern="1200" dirty="0">
                        <a:solidFill>
                          <a:schemeClr val="dk1"/>
                        </a:solidFill>
                        <a:latin typeface="Consolas" panose="020B0609020204030204" pitchFamily="49" charset="0"/>
                        <a:ea typeface="黑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lang="zh-CN" altLang="en-US" sz="1600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如果</a:t>
                      </a:r>
                      <a:r>
                        <a:rPr lang="en-US" altLang="zh-CN" sz="1600" i="1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a0 &lt; a1</a:t>
                      </a:r>
                      <a:r>
                        <a:rPr lang="zh-CN" altLang="en-US" sz="1600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，则跳转到</a:t>
                      </a:r>
                      <a:r>
                        <a:rPr lang="en-US" altLang="zh-CN" sz="1600" i="1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label</a:t>
                      </a:r>
                      <a:r>
                        <a:rPr lang="en-US" altLang="zh-CN" sz="1600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 </a:t>
                      </a:r>
                      <a:endParaRPr lang="zh-CN" altLang="en-US" sz="1600" i="1" kern="1200" dirty="0">
                        <a:solidFill>
                          <a:schemeClr val="dk1"/>
                        </a:solidFill>
                        <a:latin typeface="Consolas" panose="020B0609020204030204" pitchFamily="49" charset="0"/>
                        <a:ea typeface="黑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lang="en-US" altLang="zh-CN" sz="1600" i="1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altLang="zh-CN" sz="1600" i="1" kern="1200" dirty="0" err="1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blti</a:t>
                      </a:r>
                      <a:r>
                        <a:rPr lang="en-US" altLang="zh-CN" sz="1600" i="1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 a0, 5, label; </a:t>
                      </a:r>
                      <a:endParaRPr lang="zh-CN" altLang="en-US" sz="1600" i="1" kern="1200" dirty="0">
                        <a:solidFill>
                          <a:schemeClr val="dk1"/>
                        </a:solidFill>
                        <a:latin typeface="Consolas" panose="020B0609020204030204" pitchFamily="49" charset="0"/>
                        <a:ea typeface="黑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lang="zh-CN" altLang="en-US" sz="1600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如果</a:t>
                      </a:r>
                      <a:r>
                        <a:rPr lang="en-US" altLang="zh-CN" sz="1600" i="1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a0 &lt; 5</a:t>
                      </a:r>
                      <a:r>
                        <a:rPr lang="zh-CN" altLang="en-US" sz="1600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，则跳转到</a:t>
                      </a:r>
                      <a:r>
                        <a:rPr lang="en-US" altLang="zh-CN" sz="1600" i="1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label</a:t>
                      </a:r>
                      <a:r>
                        <a:rPr lang="en-US" altLang="zh-CN" sz="1600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 </a:t>
                      </a:r>
                      <a:endParaRPr lang="zh-CN" altLang="en-US" sz="1600" i="1" kern="1200" dirty="0">
                        <a:solidFill>
                          <a:schemeClr val="dk1"/>
                        </a:solidFill>
                        <a:latin typeface="Consolas" panose="020B0609020204030204" pitchFamily="49" charset="0"/>
                        <a:ea typeface="黑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7862"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lang="en-US" altLang="zh-CN" sz="1600" i="1" kern="1200" dirty="0" err="1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bgt</a:t>
                      </a:r>
                      <a:r>
                        <a:rPr lang="en-US" altLang="zh-CN" sz="1600" i="1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 a0, a1, label;</a:t>
                      </a:r>
                      <a:endParaRPr lang="zh-CN" altLang="en-US" sz="1600" i="1" kern="1200" dirty="0">
                        <a:solidFill>
                          <a:schemeClr val="dk1"/>
                        </a:solidFill>
                        <a:latin typeface="Consolas" panose="020B0609020204030204" pitchFamily="49" charset="0"/>
                        <a:ea typeface="黑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lang="zh-CN" altLang="en-US" sz="1600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如果</a:t>
                      </a:r>
                      <a:r>
                        <a:rPr lang="en-US" altLang="zh-CN" sz="1600" i="1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a0 &gt; a1</a:t>
                      </a:r>
                      <a:r>
                        <a:rPr lang="zh-CN" altLang="en-US" sz="1600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，则跳转到</a:t>
                      </a:r>
                      <a:r>
                        <a:rPr lang="en-US" altLang="zh-CN" sz="1600" i="1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label</a:t>
                      </a:r>
                      <a:r>
                        <a:rPr lang="en-US" altLang="zh-CN" sz="1600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 </a:t>
                      </a:r>
                      <a:endParaRPr lang="zh-CN" altLang="en-US" sz="1600" i="1" kern="1200" dirty="0">
                        <a:solidFill>
                          <a:schemeClr val="dk1"/>
                        </a:solidFill>
                        <a:latin typeface="Consolas" panose="020B0609020204030204" pitchFamily="49" charset="0"/>
                        <a:ea typeface="黑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lang="en-US" altLang="zh-CN" sz="1600" i="1" kern="1200" dirty="0" err="1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bgti</a:t>
                      </a:r>
                      <a:r>
                        <a:rPr lang="en-US" altLang="zh-CN" sz="1600" i="1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 a0, 5, label;</a:t>
                      </a:r>
                      <a:endParaRPr lang="zh-CN" altLang="en-US" sz="1600" i="1" kern="1200" dirty="0">
                        <a:solidFill>
                          <a:schemeClr val="dk1"/>
                        </a:solidFill>
                        <a:latin typeface="Consolas" panose="020B0609020204030204" pitchFamily="49" charset="0"/>
                        <a:ea typeface="黑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lang="zh-CN" altLang="en-US" sz="1600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如果</a:t>
                      </a:r>
                      <a:r>
                        <a:rPr lang="en-US" altLang="zh-CN" sz="1600" i="1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a0 &gt; 5</a:t>
                      </a:r>
                      <a:r>
                        <a:rPr lang="zh-CN" altLang="en-US" sz="1600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，则跳转到</a:t>
                      </a:r>
                      <a:r>
                        <a:rPr lang="en-US" altLang="zh-CN" sz="1600" i="1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label</a:t>
                      </a:r>
                      <a:r>
                        <a:rPr lang="en-US" altLang="zh-CN" sz="1600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 </a:t>
                      </a:r>
                      <a:endParaRPr lang="zh-CN" altLang="en-US" sz="1600" i="1" kern="1200" dirty="0">
                        <a:solidFill>
                          <a:schemeClr val="dk1"/>
                        </a:solidFill>
                        <a:latin typeface="Consolas" panose="020B0609020204030204" pitchFamily="49" charset="0"/>
                        <a:ea typeface="黑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8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5660878"/>
              </p:ext>
            </p:extLst>
          </p:nvPr>
        </p:nvGraphicFramePr>
        <p:xfrm>
          <a:off x="2143125" y="5437655"/>
          <a:ext cx="4857750" cy="85839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428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8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9196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20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指令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功能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196"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lang="en-US" altLang="zh-CN" sz="2000" i="1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j label;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lang="zh-CN" altLang="en-US" sz="2000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直接跳转到</a:t>
                      </a:r>
                      <a:r>
                        <a:rPr lang="en-US" altLang="zh-CN" sz="2000" i="1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label</a:t>
                      </a:r>
                      <a:endParaRPr lang="zh-CN" altLang="en-US" sz="2000" i="1" kern="1200" dirty="0">
                        <a:solidFill>
                          <a:schemeClr val="dk1"/>
                        </a:solidFill>
                        <a:latin typeface="Consolas" panose="020B0609020204030204" pitchFamily="49" charset="0"/>
                        <a:ea typeface="黑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60C5F09-78A6-1A62-DC0A-F3F725DD0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t>68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指令集设计：示例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idx="1"/>
          </p:nvPr>
        </p:nvSpPr>
        <p:spPr>
          <a:xfrm>
            <a:off x="342900" y="1279526"/>
            <a:ext cx="8686800" cy="4797870"/>
          </a:xfrm>
        </p:spPr>
        <p:txBody>
          <a:bodyPr>
            <a:normAutofit/>
          </a:bodyPr>
          <a:lstStyle/>
          <a:p>
            <a:r>
              <a:rPr lang="zh-CN" altLang="en-US" sz="28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赋值指令：将一个变量</a:t>
            </a:r>
            <a:r>
              <a:rPr lang="en-US" altLang="zh-CN" sz="28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/</a:t>
            </a:r>
            <a:r>
              <a:rPr lang="zh-CN" altLang="en-US" sz="28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常数的值赋值给另一个变量</a:t>
            </a:r>
            <a:endParaRPr lang="en-US" altLang="zh-CN" sz="2800" dirty="0"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endParaRPr lang="en-US" altLang="zh-CN" sz="2800" dirty="0"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marL="0" indent="0">
              <a:buNone/>
            </a:pPr>
            <a:endParaRPr lang="en-US" altLang="zh-CN" sz="2800" dirty="0"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r>
              <a:rPr lang="zh-CN" altLang="en-US" sz="28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访存指令：从存储器读取</a:t>
            </a:r>
            <a:r>
              <a:rPr lang="en-US" altLang="zh-CN" sz="28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/</a:t>
            </a:r>
            <a:r>
              <a:rPr lang="zh-CN" altLang="en-US" sz="28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向存储器写入数据</a:t>
            </a:r>
            <a:endParaRPr lang="en-US" altLang="zh-CN" sz="2800" dirty="0"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endParaRPr lang="en-US" altLang="zh-CN" sz="2800" dirty="0"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endParaRPr lang="en-US" altLang="zh-CN" sz="2800" dirty="0"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r>
              <a:rPr lang="zh-CN" altLang="en-US" sz="28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过程调用指令：跳转到被调过程和返回主调过程</a:t>
            </a:r>
            <a:endParaRPr lang="en-US" altLang="zh-CN" sz="2800" dirty="0"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graphicFrame>
        <p:nvGraphicFramePr>
          <p:cNvPr id="6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3676688"/>
              </p:ext>
            </p:extLst>
          </p:nvPr>
        </p:nvGraphicFramePr>
        <p:xfrm>
          <a:off x="342900" y="1853072"/>
          <a:ext cx="8458200" cy="85839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114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4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14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14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9196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8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指令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功能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8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指令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功能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196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i="1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mov a0, a1;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lang="zh-CN" altLang="en-US" sz="1600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将变量</a:t>
                      </a:r>
                      <a:r>
                        <a:rPr lang="en-US" altLang="zh-CN" sz="1600" i="1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a1</a:t>
                      </a:r>
                      <a:r>
                        <a:rPr lang="zh-CN" altLang="en-US" sz="1600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的值赋给</a:t>
                      </a:r>
                      <a:r>
                        <a:rPr lang="en-US" altLang="zh-CN" sz="1600" i="1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a0</a:t>
                      </a:r>
                      <a:endParaRPr lang="zh-CN" altLang="en-US" sz="1600" i="1" kern="1200" dirty="0">
                        <a:solidFill>
                          <a:schemeClr val="dk1"/>
                        </a:solidFill>
                        <a:latin typeface="Consolas" panose="020B0609020204030204" pitchFamily="49" charset="0"/>
                        <a:ea typeface="黑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i="1" kern="1200" noProof="0" dirty="0" err="1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movi</a:t>
                      </a:r>
                      <a:r>
                        <a:rPr lang="en-US" altLang="zh-CN" sz="1600" i="1" kern="1200" noProof="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 a0, 4;</a:t>
                      </a:r>
                      <a:endParaRPr lang="zh-CN" altLang="en-US" sz="1600" i="1" kern="1200" dirty="0">
                        <a:solidFill>
                          <a:schemeClr val="dk1"/>
                        </a:solidFill>
                        <a:latin typeface="Consolas" panose="020B0609020204030204" pitchFamily="49" charset="0"/>
                        <a:ea typeface="黑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lang="zh-CN" altLang="en-US" sz="1600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将常量</a:t>
                      </a:r>
                      <a:r>
                        <a:rPr lang="en-US" altLang="zh-CN" sz="1600" i="1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4</a:t>
                      </a:r>
                      <a:r>
                        <a:rPr lang="zh-CN" altLang="en-US" sz="1600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的值赋给</a:t>
                      </a:r>
                      <a:r>
                        <a:rPr lang="en-US" altLang="zh-CN" sz="1600" i="1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a0</a:t>
                      </a:r>
                      <a:endParaRPr lang="zh-CN" altLang="en-US" sz="1600" i="1" kern="1200" dirty="0">
                        <a:solidFill>
                          <a:schemeClr val="dk1"/>
                        </a:solidFill>
                        <a:latin typeface="Consolas" panose="020B0609020204030204" pitchFamily="49" charset="0"/>
                        <a:ea typeface="黑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9410324"/>
              </p:ext>
            </p:extLst>
          </p:nvPr>
        </p:nvGraphicFramePr>
        <p:xfrm>
          <a:off x="342900" y="3394175"/>
          <a:ext cx="8458200" cy="946003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114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4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14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14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8149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指令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功能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指令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功能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0243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i="1" kern="1200" dirty="0" err="1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lw</a:t>
                      </a:r>
                      <a:r>
                        <a:rPr lang="en-US" altLang="zh-CN" sz="1600" i="1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 a0, </a:t>
                      </a:r>
                      <a:r>
                        <a:rPr lang="en-US" altLang="zh-CN" sz="1600" i="1" kern="1200" dirty="0" err="1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addr</a:t>
                      </a:r>
                      <a:r>
                        <a:rPr lang="en-US" altLang="zh-CN" sz="1600" i="1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;</a:t>
                      </a:r>
                      <a:endParaRPr lang="zh-CN" altLang="en-US" sz="1600" i="1" kern="1200" dirty="0">
                        <a:solidFill>
                          <a:schemeClr val="dk1"/>
                        </a:solidFill>
                        <a:latin typeface="Consolas" panose="020B0609020204030204" pitchFamily="49" charset="0"/>
                        <a:ea typeface="黑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lang="zh-CN" altLang="en-US" sz="1600" dirty="0"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从存储器地址</a:t>
                      </a:r>
                      <a:r>
                        <a:rPr lang="en-US" altLang="zh-CN" sz="1600" i="1" kern="1200" dirty="0" err="1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addr</a:t>
                      </a:r>
                      <a:r>
                        <a:rPr lang="zh-CN" altLang="en-US" sz="1600" dirty="0"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取出数据赋值给变量</a:t>
                      </a:r>
                      <a:r>
                        <a:rPr lang="en-US" altLang="zh-CN" sz="1600" i="1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a0</a:t>
                      </a:r>
                      <a:endParaRPr lang="zh-CN" altLang="en-US" sz="1600" i="1" kern="1200" dirty="0">
                        <a:solidFill>
                          <a:schemeClr val="dk1"/>
                        </a:solidFill>
                        <a:latin typeface="Consolas" panose="020B0609020204030204" pitchFamily="49" charset="0"/>
                        <a:ea typeface="黑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i="1" kern="1200" dirty="0" err="1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sw</a:t>
                      </a:r>
                      <a:r>
                        <a:rPr lang="en-US" altLang="zh-CN" sz="1600" i="1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 a0, </a:t>
                      </a:r>
                      <a:r>
                        <a:rPr lang="en-US" altLang="zh-CN" sz="1600" i="1" kern="1200" dirty="0" err="1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addr</a:t>
                      </a:r>
                      <a:r>
                        <a:rPr lang="en-US" altLang="zh-CN" sz="1600" i="1" kern="1200" noProof="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;</a:t>
                      </a:r>
                      <a:endParaRPr lang="zh-CN" altLang="en-US" sz="1600" i="1" kern="1200" dirty="0">
                        <a:solidFill>
                          <a:schemeClr val="dk1"/>
                        </a:solidFill>
                        <a:latin typeface="Consolas" panose="020B0609020204030204" pitchFamily="49" charset="0"/>
                        <a:ea typeface="黑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lang="zh-CN" altLang="en-US" sz="1600" dirty="0"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将变量</a:t>
                      </a:r>
                      <a:r>
                        <a:rPr lang="en-US" altLang="zh-CN" sz="1600" i="1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a0</a:t>
                      </a:r>
                      <a:r>
                        <a:rPr lang="zh-CN" altLang="en-US" sz="1600" dirty="0"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的数据写入到存储器地址</a:t>
                      </a:r>
                      <a:r>
                        <a:rPr lang="en-US" altLang="zh-CN" sz="1600" i="1" kern="1200" dirty="0" err="1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addr</a:t>
                      </a:r>
                      <a:endParaRPr lang="zh-CN" altLang="en-US" sz="1600" i="1" kern="1200" dirty="0">
                        <a:solidFill>
                          <a:schemeClr val="dk1"/>
                        </a:solidFill>
                        <a:latin typeface="Consolas" panose="020B0609020204030204" pitchFamily="49" charset="0"/>
                        <a:ea typeface="黑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7111552"/>
              </p:ext>
            </p:extLst>
          </p:nvPr>
        </p:nvGraphicFramePr>
        <p:xfrm>
          <a:off x="342900" y="4962651"/>
          <a:ext cx="8458200" cy="119405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114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4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14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14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1094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8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指令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功能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8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指令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功能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4131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i="1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call a0, label;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lang="zh-CN" altLang="en-US" sz="1600" dirty="0"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将返回指令地址赋值给变量</a:t>
                      </a:r>
                      <a:r>
                        <a:rPr lang="en-US" altLang="zh-CN" sz="1600" i="1" dirty="0"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a0</a:t>
                      </a:r>
                      <a:r>
                        <a:rPr lang="zh-CN" altLang="en-US" sz="1600" dirty="0"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，然后调用</a:t>
                      </a:r>
                      <a:r>
                        <a:rPr lang="en-US" altLang="zh-CN" sz="1600" i="1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label</a:t>
                      </a:r>
                      <a:r>
                        <a:rPr lang="zh-CN" altLang="en-US" sz="1600" i="0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处的过程</a:t>
                      </a:r>
                      <a:endParaRPr lang="zh-CN" altLang="en-US" sz="1600" i="1" kern="1200" dirty="0">
                        <a:solidFill>
                          <a:schemeClr val="dk1"/>
                        </a:solidFill>
                        <a:latin typeface="Consolas" panose="020B0609020204030204" pitchFamily="49" charset="0"/>
                        <a:ea typeface="黑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i="1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ret a0</a:t>
                      </a:r>
                      <a:r>
                        <a:rPr lang="en-US" altLang="zh-CN" sz="1600" i="1" kern="1200" noProof="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;</a:t>
                      </a:r>
                      <a:endParaRPr lang="zh-CN" altLang="en-US" sz="1600" i="1" kern="1200" dirty="0">
                        <a:solidFill>
                          <a:schemeClr val="dk1"/>
                        </a:solidFill>
                        <a:latin typeface="Consolas" panose="020B0609020204030204" pitchFamily="49" charset="0"/>
                        <a:ea typeface="黑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lang="zh-CN" altLang="en-US" sz="1600" dirty="0"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返回到变量</a:t>
                      </a:r>
                      <a:r>
                        <a:rPr lang="en-US" altLang="zh-CN" sz="1600" i="1" dirty="0"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a0</a:t>
                      </a:r>
                      <a:r>
                        <a:rPr lang="zh-CN" altLang="en-US" sz="1600" dirty="0"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所存储的指令地址</a:t>
                      </a:r>
                      <a:endParaRPr lang="zh-CN" altLang="en-US" sz="1600" i="1" kern="1200" dirty="0">
                        <a:solidFill>
                          <a:schemeClr val="dk1"/>
                        </a:solidFill>
                        <a:latin typeface="Consolas" panose="020B0609020204030204" pitchFamily="49" charset="0"/>
                        <a:ea typeface="黑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E36C16AE-90D7-8338-B3E3-93DE55E7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t>69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指令集设计：示例</a:t>
            </a:r>
            <a:endParaRPr lang="zh-CN" altLang="en-US" kern="1200" dirty="0"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3277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093850"/>
            <a:ext cx="8229600" cy="504407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latin typeface="Arial" panose="020B0604020202020204" pitchFamily="34" charset="0"/>
                <a:ea typeface="黑体" panose="02010609060101010101" pitchFamily="49" charset="-122"/>
              </a:rPr>
              <a:t>总结现在已经设计的指令</a:t>
            </a:r>
          </a:p>
        </p:txBody>
      </p:sp>
      <p:graphicFrame>
        <p:nvGraphicFramePr>
          <p:cNvPr id="6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1162445"/>
              </p:ext>
            </p:extLst>
          </p:nvPr>
        </p:nvGraphicFramePr>
        <p:xfrm>
          <a:off x="342900" y="1813559"/>
          <a:ext cx="8458200" cy="475813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114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4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14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14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4866">
                <a:tc gridSpan="4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算术指令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752"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lang="en-US" altLang="zh-CN" sz="1400" i="1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 add a0, a1, a2;   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lang="en-US" altLang="zh-CN" sz="1400" i="1" kern="1200" noProof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addi a0, a1, 5;</a:t>
                      </a:r>
                      <a:endParaRPr lang="en-US" altLang="zh-CN" sz="1400" i="1" kern="1200" noProof="0" dirty="0">
                        <a:solidFill>
                          <a:schemeClr val="dk1"/>
                        </a:solidFill>
                        <a:latin typeface="Consolas" panose="020B0609020204030204" pitchFamily="49" charset="0"/>
                        <a:ea typeface="黑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lang="en-US" altLang="zh-CN" sz="1400" i="1" kern="120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sub a0, a1, a2; </a:t>
                      </a:r>
                      <a:endParaRPr lang="en-US" altLang="zh-CN" sz="1400" i="1" kern="1200" dirty="0">
                        <a:solidFill>
                          <a:schemeClr val="dk1"/>
                        </a:solidFill>
                        <a:latin typeface="Consolas" panose="020B0609020204030204" pitchFamily="49" charset="0"/>
                        <a:ea typeface="黑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lang="en-US" altLang="zh-CN" sz="1400" i="1" kern="120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subi a0, a1, 5; 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752"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lang="en-US" altLang="zh-CN" sz="1400" i="1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and a0, a1, a2;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lang="en-US" altLang="zh-CN" sz="1400" i="1" kern="1200" dirty="0" err="1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andi</a:t>
                      </a:r>
                      <a:r>
                        <a:rPr lang="en-US" altLang="zh-CN" sz="1400" i="1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 a0, a1, 5; 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lang="en-US" altLang="zh-CN" sz="1400" i="1" kern="120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 or a0, a1, a2;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lang="en-US" altLang="zh-CN" sz="1400" i="1" kern="120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ori a0, a1, 5; 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752"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lang="en-US" altLang="zh-CN" sz="1400" i="1" kern="120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 xor a0, a1, a2; </a:t>
                      </a:r>
                      <a:endParaRPr lang="en-US" altLang="zh-CN" sz="1400" i="1" kern="1200" dirty="0">
                        <a:solidFill>
                          <a:schemeClr val="dk1"/>
                        </a:solidFill>
                        <a:latin typeface="Consolas" panose="020B0609020204030204" pitchFamily="49" charset="0"/>
                        <a:ea typeface="黑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lang="en-US" altLang="zh-CN" sz="1400" i="1" kern="1200" dirty="0" err="1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xori</a:t>
                      </a:r>
                      <a:r>
                        <a:rPr lang="en-US" altLang="zh-CN" sz="1400" i="1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 a0, a1, 5; 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lang="en-US" altLang="zh-CN" sz="1400" i="1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altLang="zh-CN" sz="1400" i="1" kern="1200" dirty="0" err="1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sll</a:t>
                      </a:r>
                      <a:r>
                        <a:rPr lang="en-US" altLang="zh-CN" sz="1400" i="1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 a0, a1, a2;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lang="en-US" altLang="zh-CN" sz="1400" i="1" kern="120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slli a0, a1, 5; </a:t>
                      </a:r>
                      <a:endParaRPr lang="en-US" altLang="zh-CN" sz="1400" i="1" kern="1200" dirty="0">
                        <a:solidFill>
                          <a:schemeClr val="dk1"/>
                        </a:solidFill>
                        <a:latin typeface="Consolas" panose="020B0609020204030204" pitchFamily="49" charset="0"/>
                        <a:ea typeface="黑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5752"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lang="en-US" altLang="zh-CN" sz="1400" i="1" kern="120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 srl a0, a1, a2;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lang="en-US" altLang="zh-CN" sz="1400" i="1" kern="120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srli a0, a1, 5; </a:t>
                      </a:r>
                      <a:endParaRPr lang="en-US" altLang="zh-CN" sz="1400" i="1" kern="1200" dirty="0">
                        <a:solidFill>
                          <a:schemeClr val="dk1"/>
                        </a:solidFill>
                        <a:latin typeface="Consolas" panose="020B0609020204030204" pitchFamily="49" charset="0"/>
                        <a:ea typeface="黑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lang="en-US" altLang="zh-CN" sz="1400" i="1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altLang="zh-CN" sz="1400" i="1" kern="1200" dirty="0" err="1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sra</a:t>
                      </a:r>
                      <a:r>
                        <a:rPr lang="en-US" altLang="zh-CN" sz="1400" i="1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 a0, a1, a2;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lang="en-US" altLang="zh-CN" sz="1400" i="1" kern="120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srai a0, a1, 5; </a:t>
                      </a:r>
                      <a:endParaRPr lang="en-US" altLang="zh-CN" sz="1400" i="1" kern="1200" dirty="0">
                        <a:solidFill>
                          <a:schemeClr val="dk1"/>
                        </a:solidFill>
                        <a:latin typeface="Consolas" panose="020B0609020204030204" pitchFamily="49" charset="0"/>
                        <a:ea typeface="黑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5752">
                <a:tc gridSpan="4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 kern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分支指令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5752"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lang="en-US" altLang="zh-CN" sz="1400" i="1" kern="1200" dirty="0" err="1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beq</a:t>
                      </a:r>
                      <a:r>
                        <a:rPr lang="en-US" altLang="zh-CN" sz="1400" i="1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 a0, a1, label;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400" i="1" kern="1200" dirty="0" err="1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beqi</a:t>
                      </a:r>
                      <a:r>
                        <a:rPr lang="en-US" altLang="zh-CN" sz="1400" i="1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 a0, 5, label; 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lang="en-US" altLang="zh-CN" sz="1400" i="1" kern="120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blt a0, a1, label;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400" i="1" kern="1200" dirty="0" err="1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blti</a:t>
                      </a:r>
                      <a:r>
                        <a:rPr lang="en-US" altLang="zh-CN" sz="1400" i="1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 a0, 5, label; 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5752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400" i="1" kern="120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bgt a0, a1, label;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400" i="1" kern="1200" dirty="0" err="1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bgti</a:t>
                      </a:r>
                      <a:r>
                        <a:rPr lang="en-US" altLang="zh-CN" sz="1400" i="1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 a0, 5, label;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endParaRPr lang="zh-CN" altLang="en-US" sz="1400" i="1" kern="1200" dirty="0">
                        <a:solidFill>
                          <a:schemeClr val="dk1"/>
                        </a:solidFill>
                        <a:latin typeface="Consolas" panose="020B0609020204030204" pitchFamily="49" charset="0"/>
                        <a:ea typeface="黑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endParaRPr lang="zh-CN" altLang="en-US" sz="1400" i="1" kern="1200" dirty="0">
                        <a:solidFill>
                          <a:schemeClr val="dk1"/>
                        </a:solidFill>
                        <a:latin typeface="Consolas" panose="020B0609020204030204" pitchFamily="49" charset="0"/>
                        <a:ea typeface="黑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5752">
                <a:tc gridSpan="2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 kern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跳转指令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 kern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赋值指令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5752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400" i="1" kern="120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j label;</a:t>
                      </a:r>
                      <a:endParaRPr lang="en-US" altLang="zh-CN" sz="1400" i="1" kern="1200" dirty="0">
                        <a:solidFill>
                          <a:schemeClr val="dk1"/>
                        </a:solidFill>
                        <a:latin typeface="Consolas" panose="020B0609020204030204" pitchFamily="49" charset="0"/>
                        <a:ea typeface="黑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zh-CN" altLang="en-US" sz="1400" i="1" kern="1200" dirty="0">
                        <a:solidFill>
                          <a:schemeClr val="dk1"/>
                        </a:solidFill>
                        <a:latin typeface="Consolas" panose="020B0609020204030204" pitchFamily="49" charset="0"/>
                        <a:ea typeface="黑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400" i="1" kern="120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mov a0, a1;</a:t>
                      </a:r>
                      <a:endParaRPr lang="en-US" altLang="zh-CN" sz="1400" i="1" kern="1200" dirty="0">
                        <a:solidFill>
                          <a:schemeClr val="dk1"/>
                        </a:solidFill>
                        <a:latin typeface="Consolas" panose="020B0609020204030204" pitchFamily="49" charset="0"/>
                        <a:ea typeface="黑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400" i="1" kern="1200" dirty="0" err="1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movi</a:t>
                      </a:r>
                      <a:r>
                        <a:rPr lang="en-US" altLang="zh-CN" sz="1400" i="1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 a0, 4;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5752">
                <a:tc gridSpan="2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 kern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访存指令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 kern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过程调用指令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5752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400" i="1" kern="120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lw a0, addr;</a:t>
                      </a:r>
                      <a:endParaRPr lang="en-US" altLang="zh-CN" sz="1400" i="1" kern="1200" dirty="0">
                        <a:solidFill>
                          <a:schemeClr val="dk1"/>
                        </a:solidFill>
                        <a:latin typeface="Consolas" panose="020B0609020204030204" pitchFamily="49" charset="0"/>
                        <a:ea typeface="黑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400" i="1" kern="1200" dirty="0" err="1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sw</a:t>
                      </a:r>
                      <a:r>
                        <a:rPr lang="en-US" altLang="zh-CN" sz="1400" i="1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 a0, </a:t>
                      </a:r>
                      <a:r>
                        <a:rPr lang="en-US" altLang="zh-CN" sz="1400" i="1" kern="1200" dirty="0" err="1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addr</a:t>
                      </a:r>
                      <a:r>
                        <a:rPr lang="en-US" altLang="zh-CN" sz="1400" i="1" kern="1200" noProof="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;</a:t>
                      </a:r>
                      <a:endParaRPr lang="zh-CN" altLang="en-US" sz="1400" i="1" kern="1200" dirty="0">
                        <a:solidFill>
                          <a:schemeClr val="dk1"/>
                        </a:solidFill>
                        <a:latin typeface="Consolas" panose="020B0609020204030204" pitchFamily="49" charset="0"/>
                        <a:ea typeface="黑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400" i="1" kern="120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call a0, label;</a:t>
                      </a:r>
                      <a:endParaRPr lang="en-US" altLang="zh-CN" sz="1400" i="1" kern="1200" dirty="0">
                        <a:solidFill>
                          <a:schemeClr val="dk1"/>
                        </a:solidFill>
                        <a:latin typeface="Consolas" panose="020B0609020204030204" pitchFamily="49" charset="0"/>
                        <a:ea typeface="黑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400" i="1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ret a0;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BC9408D-E9CA-F8E8-A430-10D8F492E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t>70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8C005D-0932-08D0-4612-1C327B263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Content Placeholder 2">
            <a:extLst>
              <a:ext uri="{FF2B5EF4-FFF2-40B4-BE49-F238E27FC236}">
                <a16:creationId xmlns:a16="http://schemas.microsoft.com/office/drawing/2014/main" id="{63B3A488-1256-CE43-BB87-76EDD437FF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6280"/>
            <a:ext cx="8229600" cy="4525963"/>
          </a:xfrm>
        </p:spPr>
        <p:txBody>
          <a:bodyPr/>
          <a:lstStyle/>
          <a:p>
            <a:r>
              <a:rPr lang="zh-CN" altLang="en-US" sz="2400" dirty="0">
                <a:latin typeface="Arial" panose="020B0604020202020204" pitchFamily="34" charset="0"/>
                <a:ea typeface="黑体" panose="02010609060101010101" pitchFamily="49" charset="-122"/>
              </a:rPr>
              <a:t>使用我们设计的指令集实现程序</a:t>
            </a:r>
          </a:p>
        </p:txBody>
      </p:sp>
      <p:sp>
        <p:nvSpPr>
          <p:cNvPr id="12" name="标题 1">
            <a:extLst>
              <a:ext uri="{FF2B5EF4-FFF2-40B4-BE49-F238E27FC236}">
                <a16:creationId xmlns:a16="http://schemas.microsoft.com/office/drawing/2014/main" id="{1B33AAF4-9100-754C-6D8F-9773690E2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kumimoji="1" lang="zh-CN" altLang="en-US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指令集设计：示例</a:t>
            </a:r>
            <a:endParaRPr kumimoji="1" lang="zh-CN" altLang="en-US" kern="0" dirty="0"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36B2615-FA43-05DE-43F4-3F754DD1FACF}"/>
              </a:ext>
            </a:extLst>
          </p:cNvPr>
          <p:cNvSpPr txBox="1"/>
          <p:nvPr/>
        </p:nvSpPr>
        <p:spPr>
          <a:xfrm>
            <a:off x="304618" y="2235170"/>
            <a:ext cx="2441694" cy="224676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pPr algn="l"/>
            <a:r>
              <a:rPr lang="en-US" altLang="zh-CN" sz="20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int </a:t>
            </a:r>
            <a:r>
              <a:rPr lang="en-US" altLang="zh-CN" sz="2000" b="0" i="1" dirty="0" err="1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cnt</a:t>
            </a:r>
            <a:r>
              <a:rPr lang="en-US" altLang="zh-CN" sz="20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 = 0;</a:t>
            </a:r>
          </a:p>
          <a:p>
            <a:pPr algn="l"/>
            <a:r>
              <a:rPr lang="en-US" altLang="zh-CN" sz="20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for (</a:t>
            </a:r>
            <a:r>
              <a:rPr lang="en-US" altLang="zh-CN" sz="2000" b="0" i="1" dirty="0" err="1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i</a:t>
            </a:r>
            <a:r>
              <a:rPr lang="en-US" altLang="zh-CN" sz="20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=0;;i++)</a:t>
            </a:r>
          </a:p>
          <a:p>
            <a:pPr algn="l"/>
            <a:r>
              <a:rPr lang="en-US" altLang="zh-CN" sz="20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{</a:t>
            </a:r>
          </a:p>
          <a:p>
            <a:pPr algn="l"/>
            <a:r>
              <a:rPr lang="en-US" altLang="zh-CN" sz="20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    </a:t>
            </a:r>
            <a:r>
              <a:rPr lang="en-US" altLang="zh-CN" sz="2000" b="0" i="1" dirty="0" err="1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cnt</a:t>
            </a:r>
            <a:r>
              <a:rPr lang="en-US" altLang="zh-CN" sz="20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 += 1;</a:t>
            </a:r>
          </a:p>
          <a:p>
            <a:pPr algn="l"/>
            <a:r>
              <a:rPr lang="zh-CN" altLang="en-US" sz="20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    </a:t>
            </a:r>
            <a:r>
              <a:rPr lang="en-US" altLang="zh-CN" sz="20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if(</a:t>
            </a:r>
            <a:r>
              <a:rPr lang="en-US" altLang="zh-CN" sz="2000" b="0" i="1" dirty="0" err="1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cnt</a:t>
            </a:r>
            <a:r>
              <a:rPr lang="en-US" altLang="zh-CN" sz="20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 &gt; 7) </a:t>
            </a:r>
            <a:br>
              <a:rPr lang="en-US" altLang="zh-CN" sz="20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</a:br>
            <a:r>
              <a:rPr lang="en-US" altLang="zh-CN" sz="20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       </a:t>
            </a:r>
            <a:r>
              <a:rPr lang="en-US" altLang="zh-CN" sz="2000" b="0" i="1" dirty="0" err="1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cnt</a:t>
            </a:r>
            <a:r>
              <a:rPr lang="en-US" altLang="zh-CN" sz="20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 = 0;</a:t>
            </a:r>
          </a:p>
          <a:p>
            <a:pPr algn="l"/>
            <a:r>
              <a:rPr lang="en-US" altLang="zh-CN" sz="20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15" name="箭头: 左右 1">
            <a:extLst>
              <a:ext uri="{FF2B5EF4-FFF2-40B4-BE49-F238E27FC236}">
                <a16:creationId xmlns:a16="http://schemas.microsoft.com/office/drawing/2014/main" id="{CAEB1C7A-152C-E98D-54F7-F59D2590E116}"/>
              </a:ext>
            </a:extLst>
          </p:cNvPr>
          <p:cNvSpPr/>
          <p:nvPr/>
        </p:nvSpPr>
        <p:spPr>
          <a:xfrm rot="19800000">
            <a:off x="3220873" y="2539709"/>
            <a:ext cx="887712" cy="309256"/>
          </a:xfrm>
          <a:prstGeom prst="leftRightArrow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l"/>
            <a:endParaRPr lang="zh-CN" altLang="en-US" sz="1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6581621-9376-B4CE-9BD5-567C9566E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t>71</a:t>
            </a:fld>
            <a:endParaRPr lang="en-US" altLang="zh-CN"/>
          </a:p>
        </p:txBody>
      </p:sp>
      <p:sp>
        <p:nvSpPr>
          <p:cNvPr id="7" name="箭头: 左右 1">
            <a:extLst>
              <a:ext uri="{FF2B5EF4-FFF2-40B4-BE49-F238E27FC236}">
                <a16:creationId xmlns:a16="http://schemas.microsoft.com/office/drawing/2014/main" id="{6204A006-A50F-5560-7F3B-456C669B5AC1}"/>
              </a:ext>
            </a:extLst>
          </p:cNvPr>
          <p:cNvSpPr/>
          <p:nvPr/>
        </p:nvSpPr>
        <p:spPr>
          <a:xfrm rot="1800000">
            <a:off x="3220873" y="4226956"/>
            <a:ext cx="887712" cy="309256"/>
          </a:xfrm>
          <a:prstGeom prst="leftRightArrow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l"/>
            <a:endParaRPr lang="zh-CN" altLang="en-US" sz="1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7CD5B9-A8E9-585E-9AF5-403A8D64D2A2}"/>
              </a:ext>
            </a:extLst>
          </p:cNvPr>
          <p:cNvSpPr txBox="1"/>
          <p:nvPr/>
        </p:nvSpPr>
        <p:spPr>
          <a:xfrm>
            <a:off x="4263984" y="3647415"/>
            <a:ext cx="4950167" cy="304698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l"/>
            <a:r>
              <a:rPr lang="en-US" altLang="zh-CN" sz="16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# </a:t>
            </a:r>
            <a:r>
              <a:rPr lang="zh-CN" altLang="en-US" sz="1600" b="0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计数器在通用</a:t>
            </a:r>
            <a:r>
              <a:rPr lang="en-US" altLang="zh-CN" sz="1600" b="0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CPU</a:t>
            </a:r>
            <a:r>
              <a:rPr lang="zh-CN" altLang="en-US" sz="1600" b="0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上的汇编实现</a:t>
            </a:r>
            <a:endParaRPr lang="en-US" altLang="zh-CN" sz="1600" b="0" dirty="0">
              <a:solidFill>
                <a:schemeClr val="tx1"/>
              </a:solidFill>
              <a:latin typeface="Consolas" panose="020B0609020204030204" pitchFamily="49" charset="0"/>
              <a:ea typeface="黑体" panose="02010609060101010101" pitchFamily="49" charset="-122"/>
              <a:cs typeface="Consolas" panose="020B0609020204030204" pitchFamily="49" charset="0"/>
            </a:endParaRPr>
          </a:p>
          <a:p>
            <a:pPr algn="l"/>
            <a:r>
              <a:rPr lang="en-US" altLang="zh-CN" sz="16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    </a:t>
            </a:r>
            <a:r>
              <a:rPr lang="en-US" altLang="zh-CN" sz="1600" b="0" i="1" dirty="0" err="1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movi</a:t>
            </a:r>
            <a:r>
              <a:rPr lang="en-US" altLang="zh-CN" sz="16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 s0, 0;		# s0 = 0</a:t>
            </a:r>
            <a:r>
              <a:rPr lang="zh-CN" altLang="en-US" sz="1600" b="0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表示</a:t>
            </a:r>
            <a:r>
              <a:rPr lang="en-US" altLang="zh-CN" sz="1600" b="0" i="1" dirty="0" err="1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cnt</a:t>
            </a:r>
            <a:endParaRPr lang="en-US" altLang="zh-CN" sz="1600" b="0" i="1" dirty="0">
              <a:solidFill>
                <a:schemeClr val="tx1"/>
              </a:solidFill>
              <a:latin typeface="Consolas" panose="020B0609020204030204" pitchFamily="49" charset="0"/>
              <a:ea typeface="黑体" panose="02010609060101010101" pitchFamily="49" charset="-122"/>
              <a:cs typeface="Consolas" panose="020B0609020204030204" pitchFamily="49" charset="0"/>
            </a:endParaRPr>
          </a:p>
          <a:p>
            <a:pPr algn="l"/>
            <a:r>
              <a:rPr lang="en-US" altLang="zh-CN" sz="16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    </a:t>
            </a:r>
            <a:r>
              <a:rPr lang="en-US" altLang="zh-CN" sz="1600" b="0" i="1" dirty="0" err="1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movi</a:t>
            </a:r>
            <a:r>
              <a:rPr lang="en-US" altLang="zh-CN" sz="16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 s1, 0;		# s1 = 0</a:t>
            </a:r>
            <a:r>
              <a:rPr lang="zh-CN" altLang="en-US" sz="1600" b="0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表示</a:t>
            </a:r>
            <a:r>
              <a:rPr lang="en-US" altLang="zh-CN" sz="16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i</a:t>
            </a:r>
          </a:p>
          <a:p>
            <a:pPr algn="l"/>
            <a:r>
              <a:rPr lang="en-US" altLang="zh-CN" sz="16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loop:</a:t>
            </a:r>
          </a:p>
          <a:p>
            <a:pPr algn="l"/>
            <a:r>
              <a:rPr lang="en-US" altLang="zh-CN" sz="16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    addi s0, s0, 1;	# s0 = s0 + 1</a:t>
            </a:r>
          </a:p>
          <a:p>
            <a:pPr algn="l"/>
            <a:r>
              <a:rPr lang="en-US" altLang="zh-CN" sz="16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    </a:t>
            </a:r>
            <a:r>
              <a:rPr lang="en-US" altLang="zh-CN" sz="1600" b="0" i="1" dirty="0" err="1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bgti</a:t>
            </a:r>
            <a:r>
              <a:rPr lang="en-US" altLang="zh-CN" sz="16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 s0, 7, update;	# </a:t>
            </a:r>
            <a:r>
              <a:rPr lang="zh-CN" altLang="en-US" sz="1600" b="0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若</a:t>
            </a:r>
            <a:r>
              <a:rPr lang="en-US" altLang="zh-CN" sz="16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s0 &gt; 7</a:t>
            </a:r>
            <a:r>
              <a:rPr lang="zh-CN" altLang="en-US" sz="1600" b="0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则更新</a:t>
            </a:r>
            <a:endParaRPr lang="en-US" altLang="zh-CN" sz="1600" b="0" dirty="0">
              <a:solidFill>
                <a:schemeClr val="tx1"/>
              </a:solidFill>
              <a:latin typeface="Consolas" panose="020B0609020204030204" pitchFamily="49" charset="0"/>
              <a:ea typeface="黑体" panose="02010609060101010101" pitchFamily="49" charset="-122"/>
              <a:cs typeface="Consolas" panose="020B0609020204030204" pitchFamily="49" charset="0"/>
            </a:endParaRPr>
          </a:p>
          <a:p>
            <a:pPr algn="l"/>
            <a:r>
              <a:rPr lang="en-US" altLang="zh-CN" sz="16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    j </a:t>
            </a:r>
            <a:r>
              <a:rPr lang="en-US" altLang="zh-CN" sz="1600" b="0" i="1" dirty="0" err="1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end_update</a:t>
            </a:r>
            <a:r>
              <a:rPr lang="en-US" altLang="zh-CN" sz="16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;	# </a:t>
            </a:r>
            <a:r>
              <a:rPr lang="zh-CN" altLang="en-US" sz="1600" b="0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否则跳过更新</a:t>
            </a:r>
            <a:endParaRPr lang="en-US" altLang="zh-CN" sz="1600" b="0" dirty="0">
              <a:solidFill>
                <a:schemeClr val="tx1"/>
              </a:solidFill>
              <a:latin typeface="Consolas" panose="020B0609020204030204" pitchFamily="49" charset="0"/>
              <a:ea typeface="黑体" panose="02010609060101010101" pitchFamily="49" charset="-122"/>
              <a:cs typeface="Consolas" panose="020B0609020204030204" pitchFamily="49" charset="0"/>
            </a:endParaRPr>
          </a:p>
          <a:p>
            <a:pPr algn="l"/>
            <a:r>
              <a:rPr lang="en-US" altLang="zh-CN" sz="16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update:</a:t>
            </a:r>
          </a:p>
          <a:p>
            <a:pPr algn="l"/>
            <a:r>
              <a:rPr lang="en-US" altLang="zh-CN" sz="16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    </a:t>
            </a:r>
            <a:r>
              <a:rPr lang="en-US" altLang="zh-CN" sz="1600" b="0" i="1" dirty="0" err="1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movi</a:t>
            </a:r>
            <a:r>
              <a:rPr lang="en-US" altLang="zh-CN" sz="16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 s0, 0;		# </a:t>
            </a:r>
            <a:r>
              <a:rPr lang="zh-CN" altLang="en-US" sz="1600" b="0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更新</a:t>
            </a:r>
            <a:r>
              <a:rPr lang="en-US" altLang="zh-CN" sz="16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s0 = 0</a:t>
            </a:r>
          </a:p>
          <a:p>
            <a:pPr algn="l"/>
            <a:r>
              <a:rPr lang="en-US" altLang="zh-CN" sz="1600" b="0" i="1" dirty="0" err="1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end_update</a:t>
            </a:r>
            <a:r>
              <a:rPr lang="en-US" altLang="zh-CN" sz="16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:</a:t>
            </a:r>
          </a:p>
          <a:p>
            <a:pPr algn="l"/>
            <a:r>
              <a:rPr lang="en-US" altLang="zh-CN" sz="16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    addi s1, s1, 1;	# s1 = s1 + 1</a:t>
            </a:r>
          </a:p>
          <a:p>
            <a:pPr algn="l"/>
            <a:r>
              <a:rPr lang="en-US" altLang="zh-CN" sz="16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    j loop;		# </a:t>
            </a:r>
            <a:r>
              <a:rPr lang="zh-CN" altLang="en-US" sz="1600" b="0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继续循环</a:t>
            </a:r>
            <a:endParaRPr lang="en-US" altLang="zh-CN" sz="1600" b="0" dirty="0">
              <a:solidFill>
                <a:schemeClr val="tx1"/>
              </a:solidFill>
              <a:latin typeface="Consolas" panose="020B0609020204030204" pitchFamily="49" charset="0"/>
              <a:ea typeface="黑体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42" name="文本框 7">
            <a:extLst>
              <a:ext uri="{FF2B5EF4-FFF2-40B4-BE49-F238E27FC236}">
                <a16:creationId xmlns:a16="http://schemas.microsoft.com/office/drawing/2014/main" id="{CF3DE411-F334-3AAA-DD56-C216B1AB5CE7}"/>
              </a:ext>
            </a:extLst>
          </p:cNvPr>
          <p:cNvSpPr txBox="1"/>
          <p:nvPr/>
        </p:nvSpPr>
        <p:spPr>
          <a:xfrm>
            <a:off x="2759895" y="2042841"/>
            <a:ext cx="17612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 b="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专用硬件实现</a:t>
            </a:r>
          </a:p>
        </p:txBody>
      </p:sp>
      <p:sp>
        <p:nvSpPr>
          <p:cNvPr id="49" name="文本框 7">
            <a:extLst>
              <a:ext uri="{FF2B5EF4-FFF2-40B4-BE49-F238E27FC236}">
                <a16:creationId xmlns:a16="http://schemas.microsoft.com/office/drawing/2014/main" id="{0EDF7EE0-8172-CDB1-7597-DC00BAA8BFE8}"/>
              </a:ext>
            </a:extLst>
          </p:cNvPr>
          <p:cNvSpPr txBox="1"/>
          <p:nvPr/>
        </p:nvSpPr>
        <p:spPr>
          <a:xfrm>
            <a:off x="2839243" y="4737424"/>
            <a:ext cx="14909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 b="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通用</a:t>
            </a:r>
            <a:r>
              <a:rPr kumimoji="1" lang="en-US" altLang="zh-CN" sz="2000" b="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CPU</a:t>
            </a:r>
            <a:r>
              <a:rPr kumimoji="1" lang="zh-CN" altLang="en-US" sz="2000" b="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上的汇编实现</a:t>
            </a:r>
          </a:p>
        </p:txBody>
      </p: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E1C0F329-7FDC-32DA-8776-5630A9D3FADC}"/>
              </a:ext>
            </a:extLst>
          </p:cNvPr>
          <p:cNvCxnSpPr/>
          <p:nvPr/>
        </p:nvCxnSpPr>
        <p:spPr>
          <a:xfrm>
            <a:off x="4308767" y="3623411"/>
            <a:ext cx="4803913" cy="0"/>
          </a:xfrm>
          <a:prstGeom prst="line">
            <a:avLst/>
          </a:prstGeom>
          <a:ln w="28575" cap="rnd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50">
            <a:extLst>
              <a:ext uri="{FF2B5EF4-FFF2-40B4-BE49-F238E27FC236}">
                <a16:creationId xmlns:a16="http://schemas.microsoft.com/office/drawing/2014/main" id="{66606093-DF7B-66CB-B033-02F398E27932}"/>
              </a:ext>
            </a:extLst>
          </p:cNvPr>
          <p:cNvCxnSpPr/>
          <p:nvPr/>
        </p:nvCxnSpPr>
        <p:spPr>
          <a:xfrm>
            <a:off x="4308767" y="3623411"/>
            <a:ext cx="4803913" cy="0"/>
          </a:xfrm>
          <a:prstGeom prst="line">
            <a:avLst/>
          </a:prstGeom>
          <a:ln w="28575" cap="rnd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>
            <a:extLst>
              <a:ext uri="{FF2B5EF4-FFF2-40B4-BE49-F238E27FC236}">
                <a16:creationId xmlns:a16="http://schemas.microsoft.com/office/drawing/2014/main" id="{26717715-7C9F-D860-8A01-F9B03FA3620D}"/>
              </a:ext>
            </a:extLst>
          </p:cNvPr>
          <p:cNvGrpSpPr/>
          <p:nvPr/>
        </p:nvGrpSpPr>
        <p:grpSpPr>
          <a:xfrm>
            <a:off x="4416951" y="1897298"/>
            <a:ext cx="4557468" cy="1646208"/>
            <a:chOff x="4233973" y="1837254"/>
            <a:chExt cx="4845492" cy="2138770"/>
          </a:xfrm>
        </p:grpSpPr>
        <p:sp>
          <p:nvSpPr>
            <p:cNvPr id="5" name="矩形 63">
              <a:extLst>
                <a:ext uri="{FF2B5EF4-FFF2-40B4-BE49-F238E27FC236}">
                  <a16:creationId xmlns:a16="http://schemas.microsoft.com/office/drawing/2014/main" id="{6863C2CB-1901-A79E-D835-4DD7DFE94567}"/>
                </a:ext>
              </a:extLst>
            </p:cNvPr>
            <p:cNvSpPr/>
            <p:nvPr/>
          </p:nvSpPr>
          <p:spPr>
            <a:xfrm>
              <a:off x="5360126" y="2036669"/>
              <a:ext cx="1045313" cy="1418095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noAutofit/>
            </a:bodyPr>
            <a:lstStyle/>
            <a:p>
              <a:pPr algn="l"/>
              <a:endParaRPr lang="zh-CN" alt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矩形 62">
              <a:extLst>
                <a:ext uri="{FF2B5EF4-FFF2-40B4-BE49-F238E27FC236}">
                  <a16:creationId xmlns:a16="http://schemas.microsoft.com/office/drawing/2014/main" id="{89B39D5D-5FA4-0474-DC93-96CD0F59023D}"/>
                </a:ext>
              </a:extLst>
            </p:cNvPr>
            <p:cNvSpPr/>
            <p:nvPr/>
          </p:nvSpPr>
          <p:spPr>
            <a:xfrm>
              <a:off x="5249579" y="2142917"/>
              <a:ext cx="1045313" cy="1418095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noAutofit/>
            </a:bodyPr>
            <a:lstStyle/>
            <a:p>
              <a:pPr algn="l"/>
              <a:endParaRPr lang="zh-CN" alt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8908DE32-AAF7-6394-4ADC-F07778D7239C}"/>
                </a:ext>
              </a:extLst>
            </p:cNvPr>
            <p:cNvSpPr/>
            <p:nvPr/>
          </p:nvSpPr>
          <p:spPr>
            <a:xfrm>
              <a:off x="5139031" y="2249165"/>
              <a:ext cx="1045313" cy="1418095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noAutofit/>
            </a:bodyPr>
            <a:lstStyle/>
            <a:p>
              <a:pPr algn="l"/>
              <a:endParaRPr lang="zh-CN" alt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" name="文本框 5">
              <a:extLst>
                <a:ext uri="{FF2B5EF4-FFF2-40B4-BE49-F238E27FC236}">
                  <a16:creationId xmlns:a16="http://schemas.microsoft.com/office/drawing/2014/main" id="{2FAE270E-140D-06BD-0A17-9A9A3CDFCC47}"/>
                </a:ext>
              </a:extLst>
            </p:cNvPr>
            <p:cNvSpPr txBox="1"/>
            <p:nvPr/>
          </p:nvSpPr>
          <p:spPr>
            <a:xfrm>
              <a:off x="5139945" y="2329775"/>
              <a:ext cx="333213" cy="4798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D</a:t>
              </a:r>
            </a:p>
          </p:txBody>
        </p:sp>
        <p:sp>
          <p:nvSpPr>
            <p:cNvPr id="53" name="文本框 10">
              <a:extLst>
                <a:ext uri="{FF2B5EF4-FFF2-40B4-BE49-F238E27FC236}">
                  <a16:creationId xmlns:a16="http://schemas.microsoft.com/office/drawing/2014/main" id="{A623E4EA-5005-BA74-63DF-D7CC42401EB3}"/>
                </a:ext>
              </a:extLst>
            </p:cNvPr>
            <p:cNvSpPr txBox="1"/>
            <p:nvPr/>
          </p:nvSpPr>
          <p:spPr>
            <a:xfrm>
              <a:off x="5851131" y="2329775"/>
              <a:ext cx="333213" cy="4798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Q</a:t>
              </a:r>
            </a:p>
          </p:txBody>
        </p:sp>
        <p:sp>
          <p:nvSpPr>
            <p:cNvPr id="54" name="等腰三角形 14">
              <a:extLst>
                <a:ext uri="{FF2B5EF4-FFF2-40B4-BE49-F238E27FC236}">
                  <a16:creationId xmlns:a16="http://schemas.microsoft.com/office/drawing/2014/main" id="{40615211-0678-AA4E-1F30-A72F231E1FFA}"/>
                </a:ext>
              </a:extLst>
            </p:cNvPr>
            <p:cNvSpPr/>
            <p:nvPr/>
          </p:nvSpPr>
          <p:spPr>
            <a:xfrm rot="5400000">
              <a:off x="5117895" y="3169674"/>
              <a:ext cx="270413" cy="226316"/>
            </a:xfrm>
            <a:prstGeom prst="triangle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noAutofit/>
            </a:bodyPr>
            <a:lstStyle/>
            <a:p>
              <a:pPr algn="l"/>
              <a:endParaRPr lang="zh-CN" alt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55" name="组合 15">
              <a:extLst>
                <a:ext uri="{FF2B5EF4-FFF2-40B4-BE49-F238E27FC236}">
                  <a16:creationId xmlns:a16="http://schemas.microsoft.com/office/drawing/2014/main" id="{AEC87C4D-5AF9-C0AD-8B69-C98A9B70309E}"/>
                </a:ext>
              </a:extLst>
            </p:cNvPr>
            <p:cNvGrpSpPr/>
            <p:nvPr/>
          </p:nvGrpSpPr>
          <p:grpSpPr>
            <a:xfrm>
              <a:off x="7103564" y="2388305"/>
              <a:ext cx="543410" cy="1193800"/>
              <a:chOff x="5799138" y="4889500"/>
              <a:chExt cx="543410" cy="1193800"/>
            </a:xfrm>
          </p:grpSpPr>
          <p:grpSp>
            <p:nvGrpSpPr>
              <p:cNvPr id="74" name="Group 4">
                <a:extLst>
                  <a:ext uri="{FF2B5EF4-FFF2-40B4-BE49-F238E27FC236}">
                    <a16:creationId xmlns:a16="http://schemas.microsoft.com/office/drawing/2014/main" id="{15E29B9D-F83A-BE64-27E9-E63DEC1A2AD9}"/>
                  </a:ext>
                </a:extLst>
              </p:cNvPr>
              <p:cNvGrpSpPr/>
              <p:nvPr/>
            </p:nvGrpSpPr>
            <p:grpSpPr bwMode="auto">
              <a:xfrm>
                <a:off x="5799138" y="4889500"/>
                <a:ext cx="469900" cy="1193800"/>
                <a:chOff x="3692" y="2648"/>
                <a:chExt cx="296" cy="752"/>
              </a:xfrm>
            </p:grpSpPr>
            <p:sp>
              <p:nvSpPr>
                <p:cNvPr id="76" name="Line 5">
                  <a:extLst>
                    <a:ext uri="{FF2B5EF4-FFF2-40B4-BE49-F238E27FC236}">
                      <a16:creationId xmlns:a16="http://schemas.microsoft.com/office/drawing/2014/main" id="{1E839BFC-BB6C-4316-7D2E-52F78093BAD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96" y="2648"/>
                  <a:ext cx="0" cy="176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endParaRPr lang="zh-CN" altLang="en-US" sz="44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7" name="Line 6">
                  <a:extLst>
                    <a:ext uri="{FF2B5EF4-FFF2-40B4-BE49-F238E27FC236}">
                      <a16:creationId xmlns:a16="http://schemas.microsoft.com/office/drawing/2014/main" id="{81635E88-2DD6-DD73-D7A5-041C468C68C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704" y="2648"/>
                  <a:ext cx="284" cy="191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endParaRPr lang="zh-CN" altLang="en-US" sz="44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8" name="Line 7">
                  <a:extLst>
                    <a:ext uri="{FF2B5EF4-FFF2-40B4-BE49-F238E27FC236}">
                      <a16:creationId xmlns:a16="http://schemas.microsoft.com/office/drawing/2014/main" id="{5E4F9531-DE3F-BF53-1A0B-5FDD0332226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700" y="2821"/>
                  <a:ext cx="132" cy="99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endParaRPr lang="zh-CN" altLang="en-US" sz="44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9" name="Line 8">
                  <a:extLst>
                    <a:ext uri="{FF2B5EF4-FFF2-40B4-BE49-F238E27FC236}">
                      <a16:creationId xmlns:a16="http://schemas.microsoft.com/office/drawing/2014/main" id="{0F646D2C-5937-5DAC-3D3A-AA5C9A80DAE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31" y="2920"/>
                  <a:ext cx="0" cy="192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endParaRPr lang="zh-CN" altLang="en-US" sz="44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0" name="Line 9">
                  <a:extLst>
                    <a:ext uri="{FF2B5EF4-FFF2-40B4-BE49-F238E27FC236}">
                      <a16:creationId xmlns:a16="http://schemas.microsoft.com/office/drawing/2014/main" id="{FEC239D7-D3D5-27C7-8A82-3DB7FE784DC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984" y="2840"/>
                  <a:ext cx="0" cy="368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endParaRPr lang="zh-CN" altLang="en-US" sz="44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1" name="Line 10">
                  <a:extLst>
                    <a:ext uri="{FF2B5EF4-FFF2-40B4-BE49-F238E27FC236}">
                      <a16:creationId xmlns:a16="http://schemas.microsoft.com/office/drawing/2014/main" id="{BD59A9F8-1628-C91A-0E8B-75C6AE52C6C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96" y="3112"/>
                  <a:ext cx="136" cy="119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endParaRPr lang="zh-CN" altLang="en-US" sz="44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2" name="Line 11">
                  <a:extLst>
                    <a:ext uri="{FF2B5EF4-FFF2-40B4-BE49-F238E27FC236}">
                      <a16:creationId xmlns:a16="http://schemas.microsoft.com/office/drawing/2014/main" id="{BED849F7-6825-FDDF-313D-5EBEAB9A742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96" y="3224"/>
                  <a:ext cx="0" cy="176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endParaRPr lang="zh-CN" altLang="en-US" sz="44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3" name="Line 12">
                  <a:extLst>
                    <a:ext uri="{FF2B5EF4-FFF2-40B4-BE49-F238E27FC236}">
                      <a16:creationId xmlns:a16="http://schemas.microsoft.com/office/drawing/2014/main" id="{1EB1ABB9-D76D-7BD4-D1AB-289A9D0C936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92" y="3208"/>
                  <a:ext cx="284" cy="189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endParaRPr lang="zh-CN" altLang="en-US" sz="440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75" name="Rectangle 58">
                <a:extLst>
                  <a:ext uri="{FF2B5EF4-FFF2-40B4-BE49-F238E27FC236}">
                    <a16:creationId xmlns:a16="http://schemas.microsoft.com/office/drawing/2014/main" id="{D215EB7C-311B-763D-ECBE-DCBBBFB372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5725240" y="5310778"/>
                <a:ext cx="910115" cy="32450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alt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rPr>
                  <a:t>Adder</a:t>
                </a:r>
              </a:p>
            </p:txBody>
          </p:sp>
        </p:grpSp>
        <p:sp>
          <p:nvSpPr>
            <p:cNvPr id="56" name="Rectangle 73">
              <a:extLst>
                <a:ext uri="{FF2B5EF4-FFF2-40B4-BE49-F238E27FC236}">
                  <a16:creationId xmlns:a16="http://schemas.microsoft.com/office/drawing/2014/main" id="{0957727F-08AA-4C58-7FB1-9B8D26052C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34833" y="3249764"/>
              <a:ext cx="299960" cy="39653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4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1</a:t>
              </a:r>
            </a:p>
          </p:txBody>
        </p:sp>
        <p:sp>
          <p:nvSpPr>
            <p:cNvPr id="57" name="Line 74">
              <a:extLst>
                <a:ext uri="{FF2B5EF4-FFF2-40B4-BE49-F238E27FC236}">
                  <a16:creationId xmlns:a16="http://schemas.microsoft.com/office/drawing/2014/main" id="{DA14F6C8-3D69-19AA-E2D6-2598F58C6A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75467" y="3431256"/>
              <a:ext cx="3302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CN" altLang="en-US" sz="4400" dirty="0"/>
            </a:p>
          </p:txBody>
        </p:sp>
        <p:sp>
          <p:nvSpPr>
            <p:cNvPr id="58" name="Line 59">
              <a:extLst>
                <a:ext uri="{FF2B5EF4-FFF2-40B4-BE49-F238E27FC236}">
                  <a16:creationId xmlns:a16="http://schemas.microsoft.com/office/drawing/2014/main" id="{15BF82AE-1FF5-803B-B144-EA1F3998F7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67114" y="2944504"/>
              <a:ext cx="7917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zh-CN" altLang="en-US" sz="4400"/>
            </a:p>
          </p:txBody>
        </p:sp>
        <p:sp>
          <p:nvSpPr>
            <p:cNvPr id="59" name="Line 74">
              <a:extLst>
                <a:ext uri="{FF2B5EF4-FFF2-40B4-BE49-F238E27FC236}">
                  <a16:creationId xmlns:a16="http://schemas.microsoft.com/office/drawing/2014/main" id="{73A1728D-03A2-A18A-27A1-531B55B270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78483" y="2589918"/>
              <a:ext cx="3600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zh-CN" altLang="en-US" sz="4400" dirty="0"/>
            </a:p>
          </p:txBody>
        </p:sp>
        <p:sp>
          <p:nvSpPr>
            <p:cNvPr id="60" name="Rectangle 58">
              <a:extLst>
                <a:ext uri="{FF2B5EF4-FFF2-40B4-BE49-F238E27FC236}">
                  <a16:creationId xmlns:a16="http://schemas.microsoft.com/office/drawing/2014/main" id="{72D195C1-70CE-9FAA-95D1-B8AC941847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86592" y="2767986"/>
              <a:ext cx="616961" cy="43652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DFF</a:t>
              </a:r>
            </a:p>
          </p:txBody>
        </p:sp>
        <p:sp>
          <p:nvSpPr>
            <p:cNvPr id="61" name="Line 74">
              <a:extLst>
                <a:ext uri="{FF2B5EF4-FFF2-40B4-BE49-F238E27FC236}">
                  <a16:creationId xmlns:a16="http://schemas.microsoft.com/office/drawing/2014/main" id="{99EE8457-29AF-B5F4-0507-310C5949FE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47497" y="1837254"/>
              <a:ext cx="361140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zh-CN" altLang="en-US" sz="4400" dirty="0"/>
            </a:p>
          </p:txBody>
        </p:sp>
        <p:sp>
          <p:nvSpPr>
            <p:cNvPr id="62" name="Line 74">
              <a:extLst>
                <a:ext uri="{FF2B5EF4-FFF2-40B4-BE49-F238E27FC236}">
                  <a16:creationId xmlns:a16="http://schemas.microsoft.com/office/drawing/2014/main" id="{2869C02B-0584-15D1-0E2B-F452CEA507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47497" y="1837254"/>
              <a:ext cx="0" cy="69075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zh-CN" altLang="en-US" sz="4400" dirty="0"/>
            </a:p>
          </p:txBody>
        </p:sp>
        <p:sp>
          <p:nvSpPr>
            <p:cNvPr id="63" name="Line 74">
              <a:extLst>
                <a:ext uri="{FF2B5EF4-FFF2-40B4-BE49-F238E27FC236}">
                  <a16:creationId xmlns:a16="http://schemas.microsoft.com/office/drawing/2014/main" id="{00037703-DBC8-0C58-2A04-D4F619FE5D6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736036" y="2520682"/>
              <a:ext cx="396511" cy="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zh-CN" altLang="en-US" sz="4400" dirty="0"/>
            </a:p>
          </p:txBody>
        </p:sp>
        <p:sp>
          <p:nvSpPr>
            <p:cNvPr id="64" name="Line 74">
              <a:extLst>
                <a:ext uri="{FF2B5EF4-FFF2-40B4-BE49-F238E27FC236}">
                  <a16:creationId xmlns:a16="http://schemas.microsoft.com/office/drawing/2014/main" id="{C077ECDB-F988-D0D8-A95B-95DCCC9C88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58902" y="1837254"/>
              <a:ext cx="0" cy="111828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zh-CN" altLang="en-US" sz="4400" dirty="0"/>
            </a:p>
          </p:txBody>
        </p:sp>
        <p:sp>
          <p:nvSpPr>
            <p:cNvPr id="65" name="Line 74">
              <a:extLst>
                <a:ext uri="{FF2B5EF4-FFF2-40B4-BE49-F238E27FC236}">
                  <a16:creationId xmlns:a16="http://schemas.microsoft.com/office/drawing/2014/main" id="{C22CE8FF-83D1-B383-CF66-E61D23D92C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43656" y="3277305"/>
              <a:ext cx="0" cy="57326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zh-CN" altLang="en-US" sz="4400" dirty="0"/>
            </a:p>
          </p:txBody>
        </p:sp>
        <p:sp>
          <p:nvSpPr>
            <p:cNvPr id="66" name="Line 74">
              <a:extLst>
                <a:ext uri="{FF2B5EF4-FFF2-40B4-BE49-F238E27FC236}">
                  <a16:creationId xmlns:a16="http://schemas.microsoft.com/office/drawing/2014/main" id="{33A44772-7839-D473-0BB5-7BD6EA56DC0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735006" y="3287858"/>
              <a:ext cx="396511" cy="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zh-CN" altLang="en-US" sz="4400" dirty="0"/>
            </a:p>
          </p:txBody>
        </p:sp>
        <p:sp>
          <p:nvSpPr>
            <p:cNvPr id="67" name="Rectangle 58">
              <a:extLst>
                <a:ext uri="{FF2B5EF4-FFF2-40B4-BE49-F238E27FC236}">
                  <a16:creationId xmlns:a16="http://schemas.microsoft.com/office/drawing/2014/main" id="{CEC72D23-6149-15C3-E416-223200497F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3973" y="3539504"/>
              <a:ext cx="533450" cy="43652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 err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Clk</a:t>
              </a:r>
            </a:p>
          </p:txBody>
        </p:sp>
        <p:sp>
          <p:nvSpPr>
            <p:cNvPr id="68" name="Line 74">
              <a:extLst>
                <a:ext uri="{FF2B5EF4-FFF2-40B4-BE49-F238E27FC236}">
                  <a16:creationId xmlns:a16="http://schemas.microsoft.com/office/drawing/2014/main" id="{C97997F9-D799-3C88-2BF4-6E6677DEED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91961" y="2520068"/>
              <a:ext cx="3600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zh-CN" altLang="en-US" sz="4400" dirty="0"/>
            </a:p>
          </p:txBody>
        </p:sp>
        <p:sp>
          <p:nvSpPr>
            <p:cNvPr id="69" name="Line 74">
              <a:extLst>
                <a:ext uri="{FF2B5EF4-FFF2-40B4-BE49-F238E27FC236}">
                  <a16:creationId xmlns:a16="http://schemas.microsoft.com/office/drawing/2014/main" id="{A332E28F-5325-C514-5088-01D403C4FC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05439" y="2450218"/>
              <a:ext cx="3600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zh-CN" altLang="en-US" sz="4400" dirty="0"/>
            </a:p>
          </p:txBody>
        </p:sp>
        <p:sp>
          <p:nvSpPr>
            <p:cNvPr id="70" name="Line 74">
              <a:extLst>
                <a:ext uri="{FF2B5EF4-FFF2-40B4-BE49-F238E27FC236}">
                  <a16:creationId xmlns:a16="http://schemas.microsoft.com/office/drawing/2014/main" id="{5D3C571E-9DD5-DB17-2460-999B26840C1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529721" y="2450217"/>
              <a:ext cx="232235" cy="13968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zh-CN" altLang="en-US" sz="4400" dirty="0"/>
            </a:p>
          </p:txBody>
        </p:sp>
        <p:sp>
          <p:nvSpPr>
            <p:cNvPr id="71" name="Line 74">
              <a:extLst>
                <a:ext uri="{FF2B5EF4-FFF2-40B4-BE49-F238E27FC236}">
                  <a16:creationId xmlns:a16="http://schemas.microsoft.com/office/drawing/2014/main" id="{4BCAEC71-3D1C-BBB9-A7F3-A507D23D5B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98650" y="2520068"/>
              <a:ext cx="51126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zh-CN" altLang="en-US" sz="4400" dirty="0"/>
            </a:p>
          </p:txBody>
        </p:sp>
        <p:sp>
          <p:nvSpPr>
            <p:cNvPr id="72" name="Line 74">
              <a:extLst>
                <a:ext uri="{FF2B5EF4-FFF2-40B4-BE49-F238E27FC236}">
                  <a16:creationId xmlns:a16="http://schemas.microsoft.com/office/drawing/2014/main" id="{D9D24785-3A86-89CC-BC11-1C15DC9035F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808609" y="2453301"/>
              <a:ext cx="125006" cy="14363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zh-CN" altLang="en-US" sz="4400" dirty="0"/>
            </a:p>
          </p:txBody>
        </p:sp>
        <p:sp>
          <p:nvSpPr>
            <p:cNvPr id="73" name="矩形 4">
              <a:extLst>
                <a:ext uri="{FF2B5EF4-FFF2-40B4-BE49-F238E27FC236}">
                  <a16:creationId xmlns:a16="http://schemas.microsoft.com/office/drawing/2014/main" id="{6FF952E1-0D50-67BD-749D-B4FEFFF56802}"/>
                </a:ext>
              </a:extLst>
            </p:cNvPr>
            <p:cNvSpPr/>
            <p:nvPr/>
          </p:nvSpPr>
          <p:spPr>
            <a:xfrm>
              <a:off x="7674936" y="1989664"/>
              <a:ext cx="1404529" cy="705440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noAutofit/>
            </a:bodyPr>
            <a:lstStyle/>
            <a:p>
              <a:r>
                <a:rPr lang="en-US" altLang="zh-CN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Conditional reset</a:t>
              </a:r>
              <a:endPara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9970478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指令集设计：示例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36280"/>
            <a:ext cx="8229600" cy="4525963"/>
          </a:xfrm>
        </p:spPr>
        <p:txBody>
          <a:bodyPr/>
          <a:lstStyle/>
          <a:p>
            <a:r>
              <a:rPr lang="zh-CN" altLang="en-US" sz="2400" dirty="0">
                <a:latin typeface="Arial" panose="020B0604020202020204" pitchFamily="34" charset="0"/>
                <a:ea typeface="黑体" panose="02010609060101010101" pitchFamily="49" charset="-122"/>
              </a:rPr>
              <a:t>使用我们设计的指令集实现程序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6437" y="1879100"/>
            <a:ext cx="5753740" cy="3784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6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main:</a:t>
            </a:r>
          </a:p>
          <a:p>
            <a:pPr algn="l"/>
            <a:r>
              <a:rPr lang="en-US" altLang="zh-CN" sz="16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    </a:t>
            </a:r>
            <a:r>
              <a:rPr lang="en-US" altLang="zh-CN" sz="1600" b="0" i="1" dirty="0" err="1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movi</a:t>
            </a:r>
            <a:r>
              <a:rPr lang="en-US" altLang="zh-CN" sz="16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 s0, N;       # s0 = N</a:t>
            </a:r>
            <a:r>
              <a:rPr lang="zh-CN" altLang="en-US" sz="16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，</a:t>
            </a:r>
            <a:r>
              <a:rPr lang="zh-CN" altLang="en-US" sz="1600" b="0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表示循环次数</a:t>
            </a:r>
            <a:endParaRPr lang="en-US" altLang="zh-CN" sz="1600" b="0" dirty="0">
              <a:solidFill>
                <a:schemeClr val="tx1"/>
              </a:solidFill>
              <a:latin typeface="Consolas" panose="020B0609020204030204" pitchFamily="49" charset="0"/>
              <a:ea typeface="黑体" panose="02010609060101010101" pitchFamily="49" charset="-122"/>
              <a:cs typeface="Consolas" panose="020B0609020204030204" pitchFamily="49" charset="0"/>
            </a:endParaRPr>
          </a:p>
          <a:p>
            <a:pPr algn="l"/>
            <a:r>
              <a:rPr lang="en-US" altLang="zh-CN" sz="16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    </a:t>
            </a:r>
            <a:r>
              <a:rPr lang="en-US" altLang="zh-CN" sz="1600" b="0" i="1" dirty="0" err="1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movi</a:t>
            </a:r>
            <a:r>
              <a:rPr lang="en-US" altLang="zh-CN" sz="16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 s1, </a:t>
            </a:r>
            <a:r>
              <a:rPr lang="en-US" altLang="zh-CN" sz="1600" b="0" i="1" dirty="0" err="1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s_addr</a:t>
            </a:r>
            <a:r>
              <a:rPr lang="en-US" altLang="zh-CN" sz="16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;  # s1 = </a:t>
            </a:r>
            <a:r>
              <a:rPr lang="en-US" altLang="zh-CN" sz="1600" b="0" i="1" dirty="0" err="1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s_addr</a:t>
            </a:r>
            <a:r>
              <a:rPr lang="zh-CN" altLang="en-US" sz="1600" b="0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表示数组起始地址</a:t>
            </a:r>
            <a:endParaRPr lang="en-US" altLang="zh-CN" sz="1600" b="0" dirty="0">
              <a:solidFill>
                <a:schemeClr val="tx1"/>
              </a:solidFill>
              <a:latin typeface="Consolas" panose="020B0609020204030204" pitchFamily="49" charset="0"/>
              <a:ea typeface="黑体" panose="02010609060101010101" pitchFamily="49" charset="-122"/>
              <a:cs typeface="Consolas" panose="020B0609020204030204" pitchFamily="49" charset="0"/>
            </a:endParaRPr>
          </a:p>
          <a:p>
            <a:pPr algn="l"/>
            <a:r>
              <a:rPr lang="en-US" altLang="zh-CN" sz="16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    </a:t>
            </a:r>
            <a:r>
              <a:rPr lang="en-US" altLang="zh-CN" sz="1600" b="0" i="1" dirty="0" err="1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movi</a:t>
            </a:r>
            <a:r>
              <a:rPr lang="en-US" altLang="zh-CN" sz="16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 a0, 0;       # a0 = 0</a:t>
            </a:r>
            <a:r>
              <a:rPr lang="zh-CN" altLang="en-US" sz="16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，</a:t>
            </a:r>
            <a:r>
              <a:rPr lang="zh-CN" altLang="en-US" sz="1600" b="0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用于计数</a:t>
            </a:r>
            <a:endParaRPr lang="en-US" altLang="zh-CN" sz="1600" b="0" dirty="0">
              <a:solidFill>
                <a:schemeClr val="tx1"/>
              </a:solidFill>
              <a:latin typeface="Consolas" panose="020B0609020204030204" pitchFamily="49" charset="0"/>
              <a:ea typeface="黑体" panose="02010609060101010101" pitchFamily="49" charset="-122"/>
              <a:cs typeface="Consolas" panose="020B0609020204030204" pitchFamily="49" charset="0"/>
            </a:endParaRPr>
          </a:p>
          <a:p>
            <a:pPr algn="l"/>
            <a:r>
              <a:rPr lang="en-US" altLang="zh-CN" sz="1600" b="0" i="1" dirty="0" err="1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loop_outer</a:t>
            </a:r>
            <a:r>
              <a:rPr lang="en-US" altLang="zh-CN" sz="16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:</a:t>
            </a:r>
          </a:p>
          <a:p>
            <a:pPr algn="l"/>
            <a:r>
              <a:rPr lang="en-US" altLang="zh-CN" sz="16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    </a:t>
            </a:r>
            <a:r>
              <a:rPr lang="en-US" altLang="zh-CN" sz="1600" b="0" i="1" dirty="0" err="1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bgt</a:t>
            </a:r>
            <a:r>
              <a:rPr lang="en-US" altLang="zh-CN" sz="16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 a0, s0, exit; # </a:t>
            </a:r>
            <a:r>
              <a:rPr lang="zh-CN" altLang="en-US" sz="1600" b="0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如果</a:t>
            </a:r>
            <a:r>
              <a:rPr lang="en-US" altLang="zh-CN" sz="16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a0 &gt; s0</a:t>
            </a:r>
            <a:r>
              <a:rPr lang="zh-CN" altLang="en-US" sz="1600" b="0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则跳转到</a:t>
            </a:r>
            <a:r>
              <a:rPr lang="en-US" altLang="zh-CN" sz="16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exit</a:t>
            </a:r>
          </a:p>
          <a:p>
            <a:pPr algn="l"/>
            <a:r>
              <a:rPr lang="en-US" altLang="zh-CN" sz="16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    beq a0, s0, exit; # </a:t>
            </a:r>
            <a:r>
              <a:rPr lang="zh-CN" altLang="en-US" sz="1600" b="0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如果</a:t>
            </a:r>
            <a:r>
              <a:rPr lang="en-US" altLang="zh-CN" sz="16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a0 == s0</a:t>
            </a:r>
            <a:r>
              <a:rPr lang="zh-CN" altLang="en-US" sz="1600" b="0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则跳转到</a:t>
            </a:r>
            <a:r>
              <a:rPr lang="en-US" altLang="zh-CN" sz="16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exit</a:t>
            </a:r>
          </a:p>
          <a:p>
            <a:pPr algn="l"/>
            <a:r>
              <a:rPr lang="en-US" altLang="zh-CN" sz="16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    call s2, fib;     # s2 = </a:t>
            </a:r>
            <a:r>
              <a:rPr lang="zh-CN" altLang="en-US" sz="16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返回地址</a:t>
            </a:r>
            <a:r>
              <a:rPr lang="zh-CN" altLang="en-US" sz="1600" b="0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，然后调用</a:t>
            </a:r>
            <a:r>
              <a:rPr lang="en-US" altLang="zh-CN" sz="16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fib</a:t>
            </a:r>
          </a:p>
          <a:p>
            <a:pPr algn="l"/>
            <a:r>
              <a:rPr lang="en-US" altLang="zh-CN" sz="16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    </a:t>
            </a:r>
            <a:r>
              <a:rPr lang="en-US" altLang="zh-CN" sz="1600" b="0" i="1" dirty="0" err="1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slli</a:t>
            </a:r>
            <a:r>
              <a:rPr lang="en-US" altLang="zh-CN" sz="16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 t0, a0, 2;   # t0 = a0 &lt;&lt; 2</a:t>
            </a:r>
          </a:p>
          <a:p>
            <a:pPr algn="l"/>
            <a:r>
              <a:rPr lang="en-US" altLang="zh-CN" sz="16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    add t0, t0, s1;   # t0 = t0 + s1</a:t>
            </a:r>
          </a:p>
          <a:p>
            <a:pPr algn="l"/>
            <a:r>
              <a:rPr lang="en-US" altLang="zh-CN" sz="16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    sw v0, t0;        # </a:t>
            </a:r>
            <a:r>
              <a:rPr lang="zh-CN" altLang="en-US" sz="1600" b="0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将</a:t>
            </a:r>
            <a:r>
              <a:rPr lang="en-US" altLang="zh-CN" sz="16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v0</a:t>
            </a:r>
            <a:r>
              <a:rPr lang="zh-CN" altLang="en-US" sz="1600" b="0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中的返回值存入地址</a:t>
            </a:r>
            <a:r>
              <a:rPr lang="en-US" altLang="zh-CN" sz="16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t0</a:t>
            </a:r>
            <a:endParaRPr lang="en-US" altLang="zh-CN" sz="1600" b="0" dirty="0">
              <a:solidFill>
                <a:schemeClr val="tx1"/>
              </a:solidFill>
              <a:latin typeface="Consolas" panose="020B0609020204030204" pitchFamily="49" charset="0"/>
              <a:ea typeface="黑体" panose="02010609060101010101" pitchFamily="49" charset="-122"/>
              <a:cs typeface="Consolas" panose="020B0609020204030204" pitchFamily="49" charset="0"/>
            </a:endParaRPr>
          </a:p>
          <a:p>
            <a:pPr algn="l"/>
            <a:r>
              <a:rPr lang="en-US" altLang="zh-CN" sz="16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    addi a0, a0, 1;   # a0 = a0 + 1</a:t>
            </a:r>
          </a:p>
          <a:p>
            <a:pPr algn="l"/>
            <a:r>
              <a:rPr lang="en-US" altLang="zh-CN" sz="16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    j </a:t>
            </a:r>
            <a:r>
              <a:rPr lang="en-US" altLang="zh-CN" sz="1600" b="0" i="1" dirty="0" err="1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loop_outer</a:t>
            </a:r>
            <a:r>
              <a:rPr lang="en-US" altLang="zh-CN" sz="16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;     # </a:t>
            </a:r>
            <a:r>
              <a:rPr lang="zh-CN" altLang="en-US" sz="1600" b="0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跳转回</a:t>
            </a:r>
            <a:r>
              <a:rPr lang="en-US" altLang="zh-CN" sz="1600" b="0" i="1" dirty="0" err="1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loop_outer</a:t>
            </a:r>
            <a:endParaRPr lang="en-US" altLang="zh-CN" sz="1600" b="0" i="1" dirty="0">
              <a:solidFill>
                <a:schemeClr val="tx1"/>
              </a:solidFill>
              <a:latin typeface="Consolas" panose="020B0609020204030204" pitchFamily="49" charset="0"/>
              <a:ea typeface="黑体" panose="02010609060101010101" pitchFamily="49" charset="-122"/>
              <a:cs typeface="Consolas" panose="020B0609020204030204" pitchFamily="49" charset="0"/>
            </a:endParaRPr>
          </a:p>
          <a:p>
            <a:pPr algn="l"/>
            <a:r>
              <a:rPr lang="en-US" altLang="zh-CN" sz="16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exit:</a:t>
            </a:r>
          </a:p>
          <a:p>
            <a:pPr algn="l"/>
            <a:r>
              <a:rPr lang="en-US" altLang="zh-CN" sz="16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    # exit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0121" y="1995645"/>
            <a:ext cx="3214341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16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#define N 10</a:t>
            </a:r>
          </a:p>
          <a:p>
            <a:pPr algn="l"/>
            <a:endParaRPr lang="en-US" altLang="zh-CN" sz="1600" b="0" i="1" dirty="0">
              <a:solidFill>
                <a:schemeClr val="tx1"/>
              </a:solidFill>
              <a:latin typeface="Consolas" panose="020B0609020204030204" pitchFamily="49" charset="0"/>
              <a:ea typeface="黑体" panose="02010609060101010101" pitchFamily="49" charset="-122"/>
              <a:cs typeface="Consolas" panose="020B0609020204030204" pitchFamily="49" charset="0"/>
            </a:endParaRPr>
          </a:p>
          <a:p>
            <a:pPr algn="l"/>
            <a:r>
              <a:rPr lang="en-US" altLang="zh-CN" sz="16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int main() </a:t>
            </a:r>
          </a:p>
          <a:p>
            <a:pPr algn="l"/>
            <a:r>
              <a:rPr lang="en-US" altLang="zh-CN" sz="16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{</a:t>
            </a:r>
          </a:p>
          <a:p>
            <a:pPr algn="l"/>
            <a:r>
              <a:rPr lang="en-US" altLang="zh-CN" sz="16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    int i, s[N];</a:t>
            </a:r>
          </a:p>
          <a:p>
            <a:pPr algn="l"/>
            <a:r>
              <a:rPr lang="en-US" altLang="zh-CN" sz="16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    for(i = 0; i &lt; N; ++i) </a:t>
            </a:r>
          </a:p>
          <a:p>
            <a:pPr algn="l"/>
            <a:r>
              <a:rPr lang="en-US" altLang="zh-CN" sz="16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    {</a:t>
            </a:r>
          </a:p>
          <a:p>
            <a:pPr algn="l"/>
            <a:r>
              <a:rPr lang="en-US" altLang="zh-CN" sz="16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        s[i] = Fib(i);</a:t>
            </a:r>
          </a:p>
          <a:p>
            <a:pPr algn="l"/>
            <a:r>
              <a:rPr lang="en-US" altLang="zh-CN" sz="16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    }</a:t>
            </a:r>
          </a:p>
          <a:p>
            <a:pPr algn="l"/>
            <a:r>
              <a:rPr lang="en-US" altLang="zh-CN" sz="16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    return 0;</a:t>
            </a:r>
          </a:p>
          <a:p>
            <a:pPr algn="l"/>
            <a:r>
              <a:rPr lang="en-US" altLang="zh-CN" sz="16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}</a:t>
            </a:r>
          </a:p>
          <a:p>
            <a:pPr algn="l"/>
            <a:endParaRPr lang="en-US" altLang="zh-CN" sz="1600" b="0" i="1" dirty="0">
              <a:solidFill>
                <a:schemeClr val="tx1"/>
              </a:solidFill>
              <a:latin typeface="Consolas" panose="020B0609020204030204" pitchFamily="49" charset="0"/>
              <a:ea typeface="黑体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66ADF14-53C2-A0B2-6E28-39A6599CA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t>72</a:t>
            </a:fld>
            <a:endParaRPr lang="en-US" altLang="zh-CN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BCC3E4A-AA91-77E3-39C0-257BA76FDFB5}"/>
              </a:ext>
            </a:extLst>
          </p:cNvPr>
          <p:cNvSpPr txBox="1"/>
          <p:nvPr/>
        </p:nvSpPr>
        <p:spPr>
          <a:xfrm>
            <a:off x="670461" y="5663700"/>
            <a:ext cx="7455887" cy="92333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1800" b="0" dirty="0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rPr>
              <a:t>Note: (1)</a:t>
            </a:r>
            <a:r>
              <a:rPr kumimoji="1" lang="zh-CN" altLang="en-US" sz="1800" b="0" dirty="0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rPr>
              <a:t>函数调用会将返回值默认存入</a:t>
            </a:r>
            <a:r>
              <a:rPr kumimoji="1" lang="en-US" altLang="zh-CN" sz="1800" b="0" dirty="0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rPr>
              <a:t>v0, v1</a:t>
            </a:r>
            <a:r>
              <a:rPr kumimoji="1" lang="zh-CN" altLang="en-US" sz="1800" b="0" dirty="0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rPr>
              <a:t>等寄存器中；</a:t>
            </a:r>
            <a:endParaRPr kumimoji="1" lang="en-US" altLang="zh-CN" sz="1800" b="0" dirty="0">
              <a:solidFill>
                <a:schemeClr val="tx1"/>
              </a:solidFill>
              <a:latin typeface="+mn-ea"/>
              <a:ea typeface="+mn-ea"/>
              <a:cs typeface="Arial" panose="020B0604020202020204" pitchFamily="34" charset="0"/>
            </a:endParaRPr>
          </a:p>
          <a:p>
            <a:pPr algn="l"/>
            <a:r>
              <a:rPr kumimoji="1" lang="en-US" altLang="zh-CN" sz="1800" b="0" dirty="0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rPr>
              <a:t>      (2)</a:t>
            </a:r>
            <a:r>
              <a:rPr kumimoji="1" lang="zh-CN" altLang="en-US" sz="1800" b="0" dirty="0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rPr>
              <a:t>调用函数时，要保留返回后的第一条指令地址，这里存在</a:t>
            </a:r>
            <a:r>
              <a:rPr kumimoji="1" lang="en-US" altLang="zh-CN" sz="1800" b="0" dirty="0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rPr>
              <a:t>s2</a:t>
            </a:r>
            <a:r>
              <a:rPr kumimoji="1" lang="zh-CN" altLang="en-US" sz="1800" b="0" dirty="0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rPr>
              <a:t>中</a:t>
            </a:r>
            <a:endParaRPr kumimoji="1" lang="en-US" altLang="zh-CN" sz="1800" b="0" dirty="0">
              <a:solidFill>
                <a:schemeClr val="tx1"/>
              </a:solidFill>
              <a:latin typeface="+mn-ea"/>
              <a:ea typeface="+mn-ea"/>
              <a:cs typeface="Arial" panose="020B0604020202020204" pitchFamily="34" charset="0"/>
            </a:endParaRPr>
          </a:p>
          <a:p>
            <a:pPr algn="l"/>
            <a:r>
              <a:rPr kumimoji="1" lang="en-US" altLang="zh-CN" sz="1800" b="0" dirty="0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  <a:sym typeface="Wingdings" pitchFamily="2" charset="2"/>
              </a:rPr>
              <a:t></a:t>
            </a:r>
            <a:r>
              <a:rPr kumimoji="1" lang="zh-CN" altLang="en-US" sz="1800" b="0" dirty="0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rPr>
              <a:t>后续会进一步介绍调用的数值传递方法。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42E0F293-3A8B-4091-A2D6-CDA0EDD8298B}"/>
                  </a:ext>
                </a:extLst>
              </p14:cNvPr>
              <p14:cNvContentPartPr/>
              <p14:nvPr/>
            </p14:nvContentPartPr>
            <p14:xfrm>
              <a:off x="738720" y="2531160"/>
              <a:ext cx="8007840" cy="2170440"/>
            </p14:xfrm>
          </p:contentPart>
        </mc:Choice>
        <mc:Fallback xmlns=""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42E0F293-3A8B-4091-A2D6-CDA0EDD8298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29360" y="2521800"/>
                <a:ext cx="8026560" cy="21891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指令集设计：示例（续）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36280"/>
            <a:ext cx="8229600" cy="4525963"/>
          </a:xfrm>
        </p:spPr>
        <p:txBody>
          <a:bodyPr/>
          <a:lstStyle/>
          <a:p>
            <a:r>
              <a:rPr lang="zh-CN" altLang="en-US" sz="2400" dirty="0">
                <a:latin typeface="Arial" panose="020B0604020202020204" pitchFamily="34" charset="0"/>
                <a:ea typeface="黑体" panose="02010609060101010101" pitchFamily="49" charset="-122"/>
              </a:rPr>
              <a:t>使用我们设计的指令集实现程序</a:t>
            </a:r>
          </a:p>
        </p:txBody>
      </p:sp>
      <p:sp>
        <p:nvSpPr>
          <p:cNvPr id="4" name="TextBox 6"/>
          <p:cNvSpPr txBox="1"/>
          <p:nvPr/>
        </p:nvSpPr>
        <p:spPr>
          <a:xfrm>
            <a:off x="228600" y="2174730"/>
            <a:ext cx="3326552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16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int Fib(int n) </a:t>
            </a:r>
          </a:p>
          <a:p>
            <a:pPr algn="l"/>
            <a:r>
              <a:rPr lang="en-US" altLang="zh-CN" sz="16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{</a:t>
            </a:r>
          </a:p>
          <a:p>
            <a:pPr algn="l"/>
            <a:r>
              <a:rPr lang="en-US" altLang="zh-CN" sz="16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    int i, </a:t>
            </a:r>
            <a:r>
              <a:rPr lang="en-US" altLang="zh-CN" sz="1600" b="0" i="1" dirty="0" err="1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nextTerm</a:t>
            </a:r>
            <a:r>
              <a:rPr lang="en-US" altLang="zh-CN" sz="16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, t0, t1;</a:t>
            </a:r>
          </a:p>
          <a:p>
            <a:pPr algn="l"/>
            <a:r>
              <a:rPr lang="en-US" altLang="zh-CN" sz="16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    t0 = 0;</a:t>
            </a:r>
          </a:p>
          <a:p>
            <a:pPr algn="l"/>
            <a:r>
              <a:rPr lang="en-US" altLang="zh-CN" sz="16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    t1 = 1;</a:t>
            </a:r>
          </a:p>
          <a:p>
            <a:pPr algn="l"/>
            <a:r>
              <a:rPr lang="en-US" altLang="zh-CN" sz="16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    for(i = 1; i &lt;= n; ++i) </a:t>
            </a:r>
          </a:p>
          <a:p>
            <a:pPr algn="l"/>
            <a:r>
              <a:rPr lang="en-US" altLang="zh-CN" sz="16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    {</a:t>
            </a:r>
          </a:p>
          <a:p>
            <a:pPr algn="l"/>
            <a:r>
              <a:rPr lang="en-US" altLang="zh-CN" sz="16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        </a:t>
            </a:r>
            <a:r>
              <a:rPr lang="en-US" altLang="zh-CN" sz="1600" b="0" i="1" dirty="0" err="1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nextTerm</a:t>
            </a:r>
            <a:r>
              <a:rPr lang="en-US" altLang="zh-CN" sz="16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 = t0 + t1;</a:t>
            </a:r>
          </a:p>
          <a:p>
            <a:pPr algn="l"/>
            <a:r>
              <a:rPr lang="en-US" altLang="zh-CN" sz="16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        t0 = t1;</a:t>
            </a:r>
          </a:p>
          <a:p>
            <a:pPr algn="l"/>
            <a:r>
              <a:rPr lang="en-US" altLang="zh-CN" sz="16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        t1 = </a:t>
            </a:r>
            <a:r>
              <a:rPr lang="en-US" altLang="zh-CN" sz="1600" b="0" i="1" dirty="0" err="1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nextTerm</a:t>
            </a:r>
            <a:r>
              <a:rPr lang="en-US" altLang="zh-CN" sz="16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;</a:t>
            </a:r>
          </a:p>
          <a:p>
            <a:pPr algn="l"/>
            <a:r>
              <a:rPr lang="en-US" altLang="zh-CN" sz="16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    }</a:t>
            </a:r>
          </a:p>
          <a:p>
            <a:pPr algn="l"/>
            <a:r>
              <a:rPr lang="en-US" altLang="zh-CN" sz="16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    return t1;</a:t>
            </a:r>
          </a:p>
          <a:p>
            <a:pPr algn="l"/>
            <a:r>
              <a:rPr lang="en-US" altLang="zh-CN" sz="16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}</a:t>
            </a:r>
          </a:p>
          <a:p>
            <a:pPr algn="l"/>
            <a:endParaRPr lang="en-US" altLang="zh-CN" sz="1600" b="0" dirty="0">
              <a:solidFill>
                <a:schemeClr val="tx1"/>
              </a:solidFill>
              <a:latin typeface="Consolas" panose="020B0609020204030204" pitchFamily="49" charset="0"/>
              <a:ea typeface="黑体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5" name="TextBox 7"/>
          <p:cNvSpPr txBox="1"/>
          <p:nvPr/>
        </p:nvSpPr>
        <p:spPr>
          <a:xfrm>
            <a:off x="3814948" y="2174730"/>
            <a:ext cx="5212080" cy="4030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6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# Fib</a:t>
            </a:r>
            <a:r>
              <a:rPr lang="zh-CN" altLang="en-US" sz="1600" b="0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函数的实现</a:t>
            </a:r>
            <a:endParaRPr lang="en-US" altLang="zh-CN" sz="1600" b="0" dirty="0">
              <a:solidFill>
                <a:schemeClr val="tx1"/>
              </a:solidFill>
              <a:latin typeface="Consolas" panose="020B0609020204030204" pitchFamily="49" charset="0"/>
              <a:ea typeface="黑体" panose="02010609060101010101" pitchFamily="49" charset="-122"/>
              <a:cs typeface="Consolas" panose="020B0609020204030204" pitchFamily="49" charset="0"/>
            </a:endParaRPr>
          </a:p>
          <a:p>
            <a:pPr algn="l"/>
            <a:r>
              <a:rPr lang="en-US" altLang="zh-CN" sz="16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fib:</a:t>
            </a:r>
          </a:p>
          <a:p>
            <a:pPr algn="l"/>
            <a:r>
              <a:rPr lang="en-US" altLang="zh-CN" sz="16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    </a:t>
            </a:r>
            <a:r>
              <a:rPr lang="en-US" altLang="zh-CN" sz="1600" b="0" i="1" dirty="0" err="1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movi</a:t>
            </a:r>
            <a:r>
              <a:rPr lang="en-US" altLang="zh-CN" sz="16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 s3, 0;   # s3</a:t>
            </a:r>
            <a:r>
              <a:rPr lang="zh-CN" altLang="en-US" sz="16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 </a:t>
            </a:r>
            <a:r>
              <a:rPr lang="en-US" altLang="zh-CN" sz="16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=</a:t>
            </a:r>
            <a:r>
              <a:rPr lang="zh-CN" altLang="en-US" sz="16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 </a:t>
            </a:r>
            <a:r>
              <a:rPr lang="en-US" altLang="zh-CN" sz="16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0</a:t>
            </a:r>
            <a:r>
              <a:rPr lang="zh-CN" altLang="en-US" sz="1600" b="0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，初始值</a:t>
            </a:r>
            <a:r>
              <a:rPr lang="en-US" altLang="zh-CN" sz="1600" b="0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0</a:t>
            </a:r>
          </a:p>
          <a:p>
            <a:pPr algn="l"/>
            <a:r>
              <a:rPr lang="en-US" altLang="zh-CN" sz="16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    </a:t>
            </a:r>
            <a:r>
              <a:rPr lang="en-US" altLang="zh-CN" sz="1600" b="0" i="1" dirty="0" err="1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movi</a:t>
            </a:r>
            <a:r>
              <a:rPr lang="en-US" altLang="zh-CN" sz="16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 s4, 1;   # s4 = 1</a:t>
            </a:r>
            <a:r>
              <a:rPr lang="zh-CN" altLang="en-US" sz="1600" b="0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，初始值</a:t>
            </a:r>
            <a:r>
              <a:rPr lang="en-US" altLang="zh-CN" sz="1600" b="0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1</a:t>
            </a:r>
          </a:p>
          <a:p>
            <a:pPr algn="l"/>
            <a:r>
              <a:rPr lang="en-US" altLang="zh-CN" sz="16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    </a:t>
            </a:r>
            <a:r>
              <a:rPr lang="en-US" altLang="zh-CN" sz="1600" b="0" i="1" dirty="0" err="1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movi</a:t>
            </a:r>
            <a:r>
              <a:rPr lang="en-US" altLang="zh-CN" sz="16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 t0, 1;   # t0 = 1</a:t>
            </a:r>
            <a:r>
              <a:rPr lang="zh-CN" altLang="en-US" sz="1600" b="0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，用于计数</a:t>
            </a:r>
            <a:endParaRPr lang="en-US" altLang="zh-CN" sz="1600" b="0" dirty="0">
              <a:solidFill>
                <a:schemeClr val="tx1"/>
              </a:solidFill>
              <a:latin typeface="Consolas" panose="020B0609020204030204" pitchFamily="49" charset="0"/>
              <a:ea typeface="黑体" panose="02010609060101010101" pitchFamily="49" charset="-122"/>
              <a:cs typeface="Consolas" panose="020B0609020204030204" pitchFamily="49" charset="0"/>
            </a:endParaRPr>
          </a:p>
          <a:p>
            <a:pPr algn="l"/>
            <a:r>
              <a:rPr lang="en-US" altLang="zh-CN" sz="1600" b="0" i="1" dirty="0" err="1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loop_inner</a:t>
            </a:r>
            <a:r>
              <a:rPr lang="en-US" altLang="zh-CN" sz="16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:</a:t>
            </a:r>
          </a:p>
          <a:p>
            <a:pPr algn="l"/>
            <a:r>
              <a:rPr lang="en-US" altLang="zh-CN" sz="16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    </a:t>
            </a:r>
            <a:r>
              <a:rPr lang="en-US" altLang="zh-CN" sz="1600" b="0" i="1" dirty="0" err="1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bgt</a:t>
            </a:r>
            <a:r>
              <a:rPr lang="en-US" altLang="zh-CN" sz="16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 t0, a0, </a:t>
            </a:r>
            <a:r>
              <a:rPr lang="en-US" altLang="zh-CN" sz="1600" b="0" i="1" dirty="0" err="1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jump_out</a:t>
            </a:r>
            <a:r>
              <a:rPr lang="en-US" altLang="zh-CN" sz="16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; # </a:t>
            </a:r>
            <a:r>
              <a:rPr lang="zh-CN" altLang="en-US" sz="1600" b="0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如果</a:t>
            </a:r>
            <a:r>
              <a:rPr lang="en-US" altLang="zh-CN" sz="16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t0 &gt; a0</a:t>
            </a:r>
            <a:r>
              <a:rPr lang="zh-CN" altLang="en-US" sz="1600" b="0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则跳转</a:t>
            </a:r>
            <a:endParaRPr lang="en-US" altLang="zh-CN" sz="1600" b="0" dirty="0">
              <a:solidFill>
                <a:schemeClr val="tx1"/>
              </a:solidFill>
              <a:latin typeface="Consolas" panose="020B0609020204030204" pitchFamily="49" charset="0"/>
              <a:ea typeface="黑体" panose="02010609060101010101" pitchFamily="49" charset="-122"/>
              <a:cs typeface="Consolas" panose="020B0609020204030204" pitchFamily="49" charset="0"/>
            </a:endParaRPr>
          </a:p>
          <a:p>
            <a:pPr algn="l"/>
            <a:r>
              <a:rPr lang="en-US" altLang="zh-CN" sz="16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    add t1, s3, s4;       # t1 = s3 + s4</a:t>
            </a:r>
          </a:p>
          <a:p>
            <a:pPr algn="l"/>
            <a:r>
              <a:rPr lang="en-US" altLang="zh-CN" sz="16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    mov s3, s4;           # s3 = s4</a:t>
            </a:r>
          </a:p>
          <a:p>
            <a:pPr algn="l"/>
            <a:r>
              <a:rPr lang="en-US" altLang="zh-CN" sz="16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    mov s4, t1;           # s4 = t1</a:t>
            </a:r>
          </a:p>
          <a:p>
            <a:pPr algn="l"/>
            <a:r>
              <a:rPr lang="en-US" altLang="zh-CN" sz="16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    addi t0, t0, 1;       # t0 = t0 + 1</a:t>
            </a:r>
          </a:p>
          <a:p>
            <a:pPr algn="l"/>
            <a:r>
              <a:rPr lang="en-US" altLang="zh-CN" sz="16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    j </a:t>
            </a:r>
            <a:r>
              <a:rPr lang="en-US" altLang="zh-CN" sz="1600" b="0" i="1" dirty="0" err="1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loop_inner</a:t>
            </a:r>
            <a:r>
              <a:rPr lang="en-US" altLang="zh-CN" sz="16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;         # </a:t>
            </a:r>
            <a:r>
              <a:rPr lang="zh-CN" altLang="en-US" sz="1600" b="0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跳转到</a:t>
            </a:r>
            <a:r>
              <a:rPr lang="en-US" altLang="zh-CN" sz="1600" b="0" i="1" dirty="0" err="1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loop_inner</a:t>
            </a:r>
            <a:endParaRPr lang="en-US" altLang="zh-CN" sz="1600" b="0" i="1" dirty="0">
              <a:solidFill>
                <a:schemeClr val="tx1"/>
              </a:solidFill>
              <a:latin typeface="Consolas" panose="020B0609020204030204" pitchFamily="49" charset="0"/>
              <a:ea typeface="黑体" panose="02010609060101010101" pitchFamily="49" charset="-122"/>
              <a:cs typeface="Consolas" panose="020B0609020204030204" pitchFamily="49" charset="0"/>
            </a:endParaRPr>
          </a:p>
          <a:p>
            <a:pPr algn="l"/>
            <a:r>
              <a:rPr lang="en-US" altLang="zh-CN" sz="1600" b="0" i="1" dirty="0" err="1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jump_out</a:t>
            </a:r>
            <a:r>
              <a:rPr lang="en-US" altLang="zh-CN" sz="16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:</a:t>
            </a:r>
          </a:p>
          <a:p>
            <a:pPr algn="l"/>
            <a:r>
              <a:rPr lang="en-US" altLang="zh-CN" sz="16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    mov v0, s4;           # v0 = s4</a:t>
            </a:r>
          </a:p>
          <a:p>
            <a:pPr algn="l"/>
            <a:r>
              <a:rPr lang="en-US" altLang="zh-CN" sz="16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    ret s2;       # </a:t>
            </a:r>
            <a:r>
              <a:rPr lang="zh-CN" altLang="en-US" sz="1600" b="0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跳转回</a:t>
            </a:r>
            <a:r>
              <a:rPr lang="en-US" altLang="zh-CN" sz="1600" b="0" i="1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s2</a:t>
            </a:r>
            <a:r>
              <a:rPr lang="zh-CN" altLang="en-US" sz="1600" b="0" dirty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Consolas" panose="020B0609020204030204" pitchFamily="49" charset="0"/>
              </a:rPr>
              <a:t>存储的地址</a:t>
            </a:r>
            <a:endParaRPr lang="en-US" altLang="zh-CN" sz="1600" b="0" dirty="0">
              <a:solidFill>
                <a:schemeClr val="tx1"/>
              </a:solidFill>
              <a:latin typeface="Consolas" panose="020B0609020204030204" pitchFamily="49" charset="0"/>
              <a:ea typeface="黑体" panose="02010609060101010101" pitchFamily="49" charset="-122"/>
              <a:cs typeface="Consolas" panose="020B0609020204030204" pitchFamily="49" charset="0"/>
            </a:endParaRPr>
          </a:p>
          <a:p>
            <a:pPr algn="l"/>
            <a:endParaRPr lang="en-US" altLang="zh-CN" sz="1600" b="0" dirty="0">
              <a:solidFill>
                <a:schemeClr val="tx1"/>
              </a:solidFill>
              <a:latin typeface="Consolas" panose="020B0609020204030204" pitchFamily="49" charset="0"/>
              <a:ea typeface="黑体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092B04B-7C02-B0BE-3A1A-CC61C145C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t>73</a:t>
            </a:fld>
            <a:endParaRPr lang="en-US" altLang="zh-C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墨迹 6">
                <a:extLst>
                  <a:ext uri="{FF2B5EF4-FFF2-40B4-BE49-F238E27FC236}">
                    <a16:creationId xmlns:a16="http://schemas.microsoft.com/office/drawing/2014/main" id="{DAAF4AF4-5F7D-40AC-90E2-32F0EFBEB81D}"/>
                  </a:ext>
                </a:extLst>
              </p14:cNvPr>
              <p14:cNvContentPartPr/>
              <p14:nvPr/>
            </p14:nvContentPartPr>
            <p14:xfrm>
              <a:off x="1451880" y="4509360"/>
              <a:ext cx="6550560" cy="2364480"/>
            </p14:xfrm>
          </p:contentPart>
        </mc:Choice>
        <mc:Fallback xmlns="">
          <p:pic>
            <p:nvPicPr>
              <p:cNvPr id="7" name="墨迹 6">
                <a:extLst>
                  <a:ext uri="{FF2B5EF4-FFF2-40B4-BE49-F238E27FC236}">
                    <a16:creationId xmlns:a16="http://schemas.microsoft.com/office/drawing/2014/main" id="{DAAF4AF4-5F7D-40AC-90E2-32F0EFBEB81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42520" y="4500000"/>
                <a:ext cx="6569280" cy="2383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指令集设计：示例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279525"/>
            <a:ext cx="8229600" cy="4525963"/>
          </a:xfrm>
        </p:spPr>
        <p:txBody>
          <a:bodyPr>
            <a:normAutofit/>
          </a:bodyPr>
          <a:lstStyle/>
          <a:p>
            <a:r>
              <a:rPr lang="zh-CN" altLang="en-US" sz="28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思考：能否精简指令集？</a:t>
            </a:r>
            <a:endParaRPr lang="en-US" altLang="zh-CN" sz="2800" dirty="0"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lvl="1"/>
            <a:r>
              <a:rPr lang="zh-CN" altLang="en-US" sz="24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例如：赋值指令 </a:t>
            </a:r>
            <a:r>
              <a:rPr lang="en-US" altLang="zh-CN" sz="2400" i="1" dirty="0">
                <a:latin typeface="Consolas" panose="020B0609020204030204" pitchFamily="49" charset="0"/>
                <a:cs typeface="Consolas" panose="020B0609020204030204" pitchFamily="49" charset="0"/>
              </a:rPr>
              <a:t>mov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 </a:t>
            </a:r>
            <a:r>
              <a:rPr lang="zh-CN" altLang="en-US" sz="24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和 </a:t>
            </a:r>
            <a:r>
              <a:rPr lang="en-US" altLang="zh-CN" sz="2400" i="1" dirty="0" err="1">
                <a:latin typeface="Consolas" panose="020B0609020204030204" pitchFamily="49" charset="0"/>
                <a:cs typeface="Consolas" panose="020B0609020204030204" pitchFamily="49" charset="0"/>
              </a:rPr>
              <a:t>movi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 </a:t>
            </a:r>
            <a:r>
              <a:rPr lang="zh-CN" altLang="en-US" sz="24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可以用 </a:t>
            </a:r>
            <a:r>
              <a:rPr lang="en-US" altLang="zh-CN" sz="2400" i="1" dirty="0" err="1">
                <a:latin typeface="Consolas" panose="020B0609020204030204" pitchFamily="49" charset="0"/>
                <a:cs typeface="Consolas" panose="020B0609020204030204" pitchFamily="49" charset="0"/>
              </a:rPr>
              <a:t>addi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 </a:t>
            </a:r>
            <a:r>
              <a:rPr lang="zh-CN" altLang="en-US" sz="24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指令实现</a:t>
            </a:r>
            <a:endParaRPr lang="en-US" altLang="zh-CN" sz="2400" dirty="0"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lvl="1"/>
            <a:endParaRPr lang="en-US" altLang="zh-CN" sz="2400" dirty="0"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lvl="1"/>
            <a:endParaRPr lang="en-US" altLang="zh-CN" sz="2400" dirty="0">
              <a:latin typeface="Arial" panose="020B0604020202020204" pitchFamily="34" charset="0"/>
              <a:cs typeface="黑体" panose="02010609060101010101" pitchFamily="49" charset="-122"/>
            </a:endParaRPr>
          </a:p>
          <a:p>
            <a:pPr lvl="1"/>
            <a:endParaRPr lang="en-US" altLang="zh-CN" sz="2400" dirty="0">
              <a:latin typeface="Arial" panose="020B0604020202020204" pitchFamily="34" charset="0"/>
              <a:cs typeface="黑体" panose="02010609060101010101" pitchFamily="49" charset="-122"/>
            </a:endParaRPr>
          </a:p>
          <a:p>
            <a:pPr lvl="1"/>
            <a:endParaRPr lang="en-US" altLang="zh-CN" sz="2400" dirty="0"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lvl="1"/>
            <a:endParaRPr lang="en-US" altLang="zh-CN" sz="2400" dirty="0"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fontAlgn="auto">
              <a:spcAft>
                <a:spcPts val="0"/>
              </a:spcAft>
            </a:pPr>
            <a:r>
              <a:rPr lang="zh-CN" altLang="en-US" sz="2400" b="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优点：指令集减少了两条指令，译码与指令存储变简单</a:t>
            </a:r>
            <a:endParaRPr lang="en-US" altLang="zh-CN" sz="2400" b="0" dirty="0"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fontAlgn="auto">
              <a:spcAft>
                <a:spcPts val="0"/>
              </a:spcAft>
            </a:pPr>
            <a:r>
              <a:rPr lang="zh-CN" altLang="en-US" sz="2400" b="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缺点：赋值指令需要加法器 </a:t>
            </a:r>
            <a:r>
              <a:rPr lang="en-US" altLang="zh-CN" sz="2400" b="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  <a:sym typeface="Wingdings" panose="05000000000000000000" pitchFamily="2" charset="2"/>
              </a:rPr>
              <a:t> </a:t>
            </a:r>
            <a:r>
              <a:rPr lang="zh-CN" altLang="en-US" sz="2400" b="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  <a:sym typeface="Wingdings" panose="05000000000000000000" pitchFamily="2" charset="2"/>
              </a:rPr>
              <a:t>执行时间变长</a:t>
            </a:r>
            <a:endParaRPr lang="en-US" altLang="zh-CN" sz="2400" b="0" dirty="0"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lvl="1"/>
            <a:endParaRPr lang="en-US" altLang="zh-CN" sz="2400" dirty="0"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graphicFrame>
        <p:nvGraphicFramePr>
          <p:cNvPr id="6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9180242"/>
              </p:ext>
            </p:extLst>
          </p:nvPr>
        </p:nvGraphicFramePr>
        <p:xfrm>
          <a:off x="2143125" y="2449878"/>
          <a:ext cx="4857750" cy="174633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428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8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8143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8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指令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替代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8143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i="1" kern="120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mov a0, a1;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i="1" kern="1200" dirty="0" err="1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addi</a:t>
                      </a:r>
                      <a:r>
                        <a:rPr lang="en-US" altLang="zh-CN" sz="1600" i="1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 a0, a1, 0;</a:t>
                      </a:r>
                      <a:endParaRPr lang="zh-CN" altLang="en-US" sz="1600" i="1" kern="1200" dirty="0">
                        <a:solidFill>
                          <a:schemeClr val="dk1"/>
                        </a:solidFill>
                        <a:latin typeface="Consolas" panose="020B0609020204030204" pitchFamily="49" charset="0"/>
                        <a:ea typeface="黑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0048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i="1" kern="1200" dirty="0" err="1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movi</a:t>
                      </a:r>
                      <a:r>
                        <a:rPr lang="en-US" altLang="zh-CN" sz="1600" i="1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 a0, 5;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i="1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sub a0, a0, a0;</a:t>
                      </a:r>
                      <a:endParaRPr lang="zh-CN" altLang="en-US" sz="1600" i="1" kern="1200" dirty="0">
                        <a:solidFill>
                          <a:schemeClr val="dk1"/>
                        </a:solidFill>
                        <a:latin typeface="Consolas" panose="020B0609020204030204" pitchFamily="49" charset="0"/>
                        <a:ea typeface="黑体" panose="02010609060101010101" pitchFamily="49" charset="-122"/>
                        <a:cs typeface="Consolas" panose="020B0609020204030204" pitchFamily="49" charset="0"/>
                      </a:endParaRPr>
                    </a:p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i="1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黑体" panose="02010609060101010101" pitchFamily="49" charset="-122"/>
                          <a:cs typeface="Consolas" panose="020B0609020204030204" pitchFamily="49" charset="0"/>
                        </a:rPr>
                        <a:t>addi a0, a0, 5;</a:t>
                      </a:r>
                      <a:endParaRPr lang="zh-CN" altLang="en-US" sz="1600" i="1" kern="1200" dirty="0">
                        <a:solidFill>
                          <a:schemeClr val="dk1"/>
                        </a:solidFill>
                        <a:latin typeface="Consolas" panose="020B0609020204030204" pitchFamily="49" charset="0"/>
                        <a:ea typeface="黑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457200" y="4196212"/>
            <a:ext cx="8229600" cy="18400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06400" indent="-406400" algn="l" defTabSz="685800" rtl="0" eaLnBrk="1" latinLnBrk="0" hangingPunct="1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685800" indent="-342900" algn="l" defTabSz="685800" rtl="0" eaLnBrk="1" latinLnBrk="0" hangingPunct="1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ü"/>
              <a:defRPr sz="21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857250" indent="-171450" algn="l" defTabSz="6858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200150" indent="-171450" algn="l" defTabSz="6858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1543050" indent="-171450" algn="l" defTabSz="6858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»"/>
              <a:defRPr sz="15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150000"/>
              </a:lnSpc>
              <a:spcAft>
                <a:spcPts val="0"/>
              </a:spcAft>
            </a:pPr>
            <a:endParaRPr lang="en-US" altLang="zh-CN" sz="2200" b="0" dirty="0"/>
          </a:p>
        </p:txBody>
      </p:sp>
      <p:sp>
        <p:nvSpPr>
          <p:cNvPr id="7" name="TextBox 6"/>
          <p:cNvSpPr txBox="1"/>
          <p:nvPr/>
        </p:nvSpPr>
        <p:spPr>
          <a:xfrm>
            <a:off x="3492182" y="5501063"/>
            <a:ext cx="205994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solidFill>
                  <a:srgbClr val="0432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Trade-off ?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52090DC-479A-2D2B-0033-3A1AC2C0D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t>74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总结</a:t>
            </a:r>
          </a:p>
        </p:txBody>
      </p:sp>
      <p:grpSp>
        <p:nvGrpSpPr>
          <p:cNvPr id="89" name="Group 88"/>
          <p:cNvGrpSpPr/>
          <p:nvPr/>
        </p:nvGrpSpPr>
        <p:grpSpPr>
          <a:xfrm>
            <a:off x="303703" y="1338414"/>
            <a:ext cx="8536594" cy="4906812"/>
            <a:chOff x="303703" y="988791"/>
            <a:chExt cx="8536594" cy="5275085"/>
          </a:xfrm>
        </p:grpSpPr>
        <p:sp>
          <p:nvSpPr>
            <p:cNvPr id="6" name="圆角矩形 3"/>
            <p:cNvSpPr/>
            <p:nvPr/>
          </p:nvSpPr>
          <p:spPr>
            <a:xfrm>
              <a:off x="308388" y="1405052"/>
              <a:ext cx="2654267" cy="535226"/>
            </a:xfrm>
            <a:prstGeom prst="round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24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通用处理器</a:t>
              </a:r>
            </a:p>
          </p:txBody>
        </p:sp>
        <p:cxnSp>
          <p:nvCxnSpPr>
            <p:cNvPr id="7" name="肘形连接符 5"/>
            <p:cNvCxnSpPr/>
            <p:nvPr/>
          </p:nvCxnSpPr>
          <p:spPr>
            <a:xfrm flipV="1">
              <a:off x="2968843" y="1256404"/>
              <a:ext cx="636207" cy="416261"/>
            </a:xfrm>
            <a:prstGeom prst="bentConnector3">
              <a:avLst>
                <a:gd name="adj1" fmla="val 46812"/>
              </a:avLst>
            </a:prstGeom>
            <a:ln w="508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肘形连接符 6"/>
            <p:cNvCxnSpPr/>
            <p:nvPr/>
          </p:nvCxnSpPr>
          <p:spPr>
            <a:xfrm>
              <a:off x="2970339" y="1677926"/>
              <a:ext cx="636207" cy="377601"/>
            </a:xfrm>
            <a:prstGeom prst="bentConnector3">
              <a:avLst>
                <a:gd name="adj1" fmla="val 46812"/>
              </a:avLst>
            </a:prstGeom>
            <a:ln w="508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圆角矩形 11"/>
            <p:cNvSpPr/>
            <p:nvPr/>
          </p:nvSpPr>
          <p:spPr>
            <a:xfrm>
              <a:off x="303703" y="2938913"/>
              <a:ext cx="2654267" cy="535226"/>
            </a:xfrm>
            <a:prstGeom prst="round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24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指令集架构</a:t>
              </a:r>
            </a:p>
          </p:txBody>
        </p:sp>
        <p:sp>
          <p:nvSpPr>
            <p:cNvPr id="10" name="圆角矩形 13"/>
            <p:cNvSpPr/>
            <p:nvPr/>
          </p:nvSpPr>
          <p:spPr>
            <a:xfrm>
              <a:off x="308387" y="5153544"/>
              <a:ext cx="2649581" cy="535226"/>
            </a:xfrm>
            <a:prstGeom prst="round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zh-CN" altLang="en-US" sz="24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指令集架构设计</a:t>
              </a:r>
            </a:p>
          </p:txBody>
        </p:sp>
        <p:sp>
          <p:nvSpPr>
            <p:cNvPr id="11" name="圆角矩形 15"/>
            <p:cNvSpPr/>
            <p:nvPr/>
          </p:nvSpPr>
          <p:spPr>
            <a:xfrm>
              <a:off x="3618915" y="988791"/>
              <a:ext cx="2114373" cy="669352"/>
            </a:xfrm>
            <a:prstGeom prst="round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24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软件需求</a:t>
              </a:r>
            </a:p>
          </p:txBody>
        </p:sp>
        <p:sp>
          <p:nvSpPr>
            <p:cNvPr id="12" name="圆角矩形 16"/>
            <p:cNvSpPr/>
            <p:nvPr/>
          </p:nvSpPr>
          <p:spPr>
            <a:xfrm>
              <a:off x="3605051" y="1713423"/>
              <a:ext cx="2123750" cy="669352"/>
            </a:xfrm>
            <a:prstGeom prst="round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24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硬件实现</a:t>
              </a:r>
            </a:p>
          </p:txBody>
        </p:sp>
        <p:cxnSp>
          <p:nvCxnSpPr>
            <p:cNvPr id="15" name="直线箭头连接符 25"/>
            <p:cNvCxnSpPr/>
            <p:nvPr/>
          </p:nvCxnSpPr>
          <p:spPr>
            <a:xfrm>
              <a:off x="1648016" y="3686175"/>
              <a:ext cx="0" cy="1273631"/>
            </a:xfrm>
            <a:prstGeom prst="straightConnector1">
              <a:avLst/>
            </a:prstGeom>
            <a:ln w="508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线箭头连接符 49"/>
            <p:cNvCxnSpPr/>
            <p:nvPr/>
          </p:nvCxnSpPr>
          <p:spPr>
            <a:xfrm>
              <a:off x="1648016" y="2054667"/>
              <a:ext cx="0" cy="751730"/>
            </a:xfrm>
            <a:prstGeom prst="straightConnector1">
              <a:avLst/>
            </a:prstGeom>
            <a:ln w="508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肘形连接符 51"/>
            <p:cNvCxnSpPr>
              <a:stCxn id="10" idx="3"/>
              <a:endCxn id="50" idx="1"/>
            </p:cNvCxnSpPr>
            <p:nvPr/>
          </p:nvCxnSpPr>
          <p:spPr>
            <a:xfrm flipV="1">
              <a:off x="2957968" y="4959806"/>
              <a:ext cx="660947" cy="461351"/>
            </a:xfrm>
            <a:prstGeom prst="bentConnector3">
              <a:avLst>
                <a:gd name="adj1" fmla="val 50000"/>
              </a:avLst>
            </a:prstGeom>
            <a:ln w="508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肘形连接符 52"/>
            <p:cNvCxnSpPr>
              <a:stCxn id="10" idx="3"/>
              <a:endCxn id="51" idx="1"/>
            </p:cNvCxnSpPr>
            <p:nvPr/>
          </p:nvCxnSpPr>
          <p:spPr>
            <a:xfrm>
              <a:off x="2957968" y="5421157"/>
              <a:ext cx="660947" cy="508043"/>
            </a:xfrm>
            <a:prstGeom prst="bentConnector3">
              <a:avLst>
                <a:gd name="adj1" fmla="val 48079"/>
              </a:avLst>
            </a:prstGeom>
            <a:ln w="508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肘形连接符 47"/>
            <p:cNvCxnSpPr/>
            <p:nvPr/>
          </p:nvCxnSpPr>
          <p:spPr>
            <a:xfrm flipV="1">
              <a:off x="2970339" y="2806397"/>
              <a:ext cx="636207" cy="416261"/>
            </a:xfrm>
            <a:prstGeom prst="bentConnector3">
              <a:avLst>
                <a:gd name="adj1" fmla="val 46812"/>
              </a:avLst>
            </a:prstGeom>
            <a:ln w="508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肘形连接符 55"/>
            <p:cNvCxnSpPr/>
            <p:nvPr/>
          </p:nvCxnSpPr>
          <p:spPr>
            <a:xfrm>
              <a:off x="2971835" y="3227920"/>
              <a:ext cx="636207" cy="377601"/>
            </a:xfrm>
            <a:prstGeom prst="bentConnector3">
              <a:avLst>
                <a:gd name="adj1" fmla="val 46812"/>
              </a:avLst>
            </a:prstGeom>
            <a:ln w="508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肘形连接符 5"/>
            <p:cNvCxnSpPr/>
            <p:nvPr/>
          </p:nvCxnSpPr>
          <p:spPr>
            <a:xfrm flipH="1" flipV="1">
              <a:off x="5737234" y="1315433"/>
              <a:ext cx="636207" cy="416261"/>
            </a:xfrm>
            <a:prstGeom prst="bentConnector3">
              <a:avLst>
                <a:gd name="adj1" fmla="val 46812"/>
              </a:avLst>
            </a:prstGeom>
            <a:ln w="50800">
              <a:solidFill>
                <a:schemeClr val="tx1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肘形连接符 6"/>
            <p:cNvCxnSpPr/>
            <p:nvPr/>
          </p:nvCxnSpPr>
          <p:spPr>
            <a:xfrm flipH="1">
              <a:off x="5738730" y="1736955"/>
              <a:ext cx="636207" cy="377601"/>
            </a:xfrm>
            <a:prstGeom prst="bentConnector3">
              <a:avLst>
                <a:gd name="adj1" fmla="val 48249"/>
              </a:avLst>
            </a:prstGeom>
            <a:ln w="50800">
              <a:solidFill>
                <a:schemeClr val="tx1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圆角矩形 16"/>
            <p:cNvSpPr/>
            <p:nvPr/>
          </p:nvSpPr>
          <p:spPr>
            <a:xfrm>
              <a:off x="6381125" y="1399649"/>
              <a:ext cx="2454487" cy="669352"/>
            </a:xfrm>
            <a:prstGeom prst="round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24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处理器架构</a:t>
              </a:r>
            </a:p>
          </p:txBody>
        </p:sp>
        <p:sp>
          <p:nvSpPr>
            <p:cNvPr id="46" name="圆角矩形 16"/>
            <p:cNvSpPr/>
            <p:nvPr/>
          </p:nvSpPr>
          <p:spPr>
            <a:xfrm>
              <a:off x="3618915" y="2473868"/>
              <a:ext cx="2123750" cy="669352"/>
            </a:xfrm>
            <a:prstGeom prst="round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zh-CN" altLang="en-US" sz="24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角色和地位</a:t>
              </a:r>
            </a:p>
          </p:txBody>
        </p:sp>
        <p:sp>
          <p:nvSpPr>
            <p:cNvPr id="47" name="圆角矩形 16"/>
            <p:cNvSpPr/>
            <p:nvPr/>
          </p:nvSpPr>
          <p:spPr>
            <a:xfrm>
              <a:off x="3618915" y="3199647"/>
              <a:ext cx="2123750" cy="669352"/>
            </a:xfrm>
            <a:prstGeom prst="round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zh-CN" altLang="en-US" sz="24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性能评价</a:t>
              </a:r>
            </a:p>
          </p:txBody>
        </p:sp>
        <p:sp>
          <p:nvSpPr>
            <p:cNvPr id="50" name="圆角矩形 16"/>
            <p:cNvSpPr/>
            <p:nvPr/>
          </p:nvSpPr>
          <p:spPr>
            <a:xfrm>
              <a:off x="3618915" y="4625130"/>
              <a:ext cx="2123750" cy="669352"/>
            </a:xfrm>
            <a:prstGeom prst="round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zh-CN" altLang="en-US" sz="24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数据结构设计</a:t>
              </a:r>
            </a:p>
          </p:txBody>
        </p:sp>
        <p:sp>
          <p:nvSpPr>
            <p:cNvPr id="51" name="圆角矩形 16"/>
            <p:cNvSpPr/>
            <p:nvPr/>
          </p:nvSpPr>
          <p:spPr>
            <a:xfrm>
              <a:off x="3618915" y="5594524"/>
              <a:ext cx="2123750" cy="669352"/>
            </a:xfrm>
            <a:prstGeom prst="round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zh-CN" altLang="en-US" sz="24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指令设计</a:t>
              </a:r>
            </a:p>
          </p:txBody>
        </p:sp>
        <p:cxnSp>
          <p:nvCxnSpPr>
            <p:cNvPr id="59" name="肘形连接符 47"/>
            <p:cNvCxnSpPr>
              <a:stCxn id="47" idx="3"/>
              <a:endCxn id="61" idx="1"/>
            </p:cNvCxnSpPr>
            <p:nvPr/>
          </p:nvCxnSpPr>
          <p:spPr>
            <a:xfrm flipV="1">
              <a:off x="5742665" y="3155595"/>
              <a:ext cx="638460" cy="378728"/>
            </a:xfrm>
            <a:prstGeom prst="bentConnector3">
              <a:avLst>
                <a:gd name="adj1" fmla="val 45226"/>
              </a:avLst>
            </a:prstGeom>
            <a:ln w="508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肘形连接符 55"/>
            <p:cNvCxnSpPr>
              <a:stCxn id="47" idx="3"/>
              <a:endCxn id="62" idx="1"/>
            </p:cNvCxnSpPr>
            <p:nvPr/>
          </p:nvCxnSpPr>
          <p:spPr>
            <a:xfrm>
              <a:off x="5742665" y="3534323"/>
              <a:ext cx="636117" cy="371647"/>
            </a:xfrm>
            <a:prstGeom prst="bentConnector3">
              <a:avLst>
                <a:gd name="adj1" fmla="val 45209"/>
              </a:avLst>
            </a:prstGeom>
            <a:ln w="508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圆角矩形 11"/>
            <p:cNvSpPr/>
            <p:nvPr/>
          </p:nvSpPr>
          <p:spPr>
            <a:xfrm>
              <a:off x="6381125" y="2820919"/>
              <a:ext cx="2459172" cy="669352"/>
            </a:xfrm>
            <a:prstGeom prst="round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zh-CN" altLang="en-US" sz="24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评价指标</a:t>
              </a:r>
            </a:p>
          </p:txBody>
        </p:sp>
        <p:sp>
          <p:nvSpPr>
            <p:cNvPr id="62" name="圆角矩形 11"/>
            <p:cNvSpPr/>
            <p:nvPr/>
          </p:nvSpPr>
          <p:spPr>
            <a:xfrm>
              <a:off x="6378782" y="3571294"/>
              <a:ext cx="2459172" cy="669351"/>
            </a:xfrm>
            <a:prstGeom prst="round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zh-CN" altLang="en-US" sz="24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影响性能的因素</a:t>
              </a:r>
            </a:p>
          </p:txBody>
        </p:sp>
        <p:cxnSp>
          <p:nvCxnSpPr>
            <p:cNvPr id="72" name="肘形连接符 47"/>
            <p:cNvCxnSpPr>
              <a:endCxn id="74" idx="1"/>
            </p:cNvCxnSpPr>
            <p:nvPr/>
          </p:nvCxnSpPr>
          <p:spPr>
            <a:xfrm flipV="1">
              <a:off x="5740323" y="4773732"/>
              <a:ext cx="638460" cy="232853"/>
            </a:xfrm>
            <a:prstGeom prst="bentConnector3">
              <a:avLst>
                <a:gd name="adj1" fmla="val 50000"/>
              </a:avLst>
            </a:prstGeom>
            <a:ln w="508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肘形连接符 55"/>
            <p:cNvCxnSpPr>
              <a:endCxn id="75" idx="1"/>
            </p:cNvCxnSpPr>
            <p:nvPr/>
          </p:nvCxnSpPr>
          <p:spPr>
            <a:xfrm>
              <a:off x="5740323" y="5006585"/>
              <a:ext cx="636117" cy="225772"/>
            </a:xfrm>
            <a:prstGeom prst="bentConnector3">
              <a:avLst>
                <a:gd name="adj1" fmla="val 50000"/>
              </a:avLst>
            </a:prstGeom>
            <a:ln w="508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圆角矩形 11"/>
            <p:cNvSpPr/>
            <p:nvPr/>
          </p:nvSpPr>
          <p:spPr>
            <a:xfrm>
              <a:off x="6378783" y="4584931"/>
              <a:ext cx="2459172" cy="377602"/>
            </a:xfrm>
            <a:prstGeom prst="round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zh-CN" altLang="en-US" sz="24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寄存器</a:t>
              </a:r>
            </a:p>
          </p:txBody>
        </p:sp>
        <p:sp>
          <p:nvSpPr>
            <p:cNvPr id="75" name="圆角矩形 11"/>
            <p:cNvSpPr/>
            <p:nvPr/>
          </p:nvSpPr>
          <p:spPr>
            <a:xfrm>
              <a:off x="6376440" y="5043556"/>
              <a:ext cx="2459172" cy="377601"/>
            </a:xfrm>
            <a:prstGeom prst="round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zh-CN" altLang="en-US" sz="24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存储器</a:t>
              </a:r>
            </a:p>
          </p:txBody>
        </p:sp>
        <p:sp>
          <p:nvSpPr>
            <p:cNvPr id="84" name="圆角矩形 11"/>
            <p:cNvSpPr/>
            <p:nvPr/>
          </p:nvSpPr>
          <p:spPr>
            <a:xfrm>
              <a:off x="6381125" y="5594525"/>
              <a:ext cx="2459172" cy="669351"/>
            </a:xfrm>
            <a:prstGeom prst="round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zh-CN" altLang="en-US" sz="2400" dirty="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优化</a:t>
              </a:r>
            </a:p>
          </p:txBody>
        </p:sp>
        <p:cxnSp>
          <p:nvCxnSpPr>
            <p:cNvPr id="86" name="直线箭头连接符 25"/>
            <p:cNvCxnSpPr/>
            <p:nvPr/>
          </p:nvCxnSpPr>
          <p:spPr>
            <a:xfrm>
              <a:off x="5742665" y="5929200"/>
              <a:ext cx="638460" cy="1"/>
            </a:xfrm>
            <a:prstGeom prst="straightConnector1">
              <a:avLst/>
            </a:prstGeom>
            <a:ln w="508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8F84BE09-A604-C271-4A5F-2EBDD1251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t>75</a:t>
            </a:fld>
            <a:endParaRPr lang="en-US" altLang="zh-CN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总结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36280"/>
            <a:ext cx="8229600" cy="4525963"/>
          </a:xfrm>
        </p:spPr>
        <p:txBody>
          <a:bodyPr/>
          <a:lstStyle/>
          <a:p>
            <a:r>
              <a:rPr lang="zh-CN" altLang="en-US" sz="2800" dirty="0">
                <a:latin typeface="Arial" panose="020B0604020202020204" pitchFamily="34" charset="0"/>
                <a:ea typeface="黑体" panose="02010609060101010101" pitchFamily="49" charset="-122"/>
              </a:rPr>
              <a:t>指令集架构：桥梁，需要软硬件协同设计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22349FC-BD04-1F9B-83CC-C852ACE4C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t>76</a:t>
            </a:fld>
            <a:endParaRPr lang="en-US" altLang="zh-CN"/>
          </a:p>
        </p:txBody>
      </p:sp>
      <p:cxnSp>
        <p:nvCxnSpPr>
          <p:cNvPr id="4" name="Straight Connector 15">
            <a:extLst>
              <a:ext uri="{FF2B5EF4-FFF2-40B4-BE49-F238E27FC236}">
                <a16:creationId xmlns:a16="http://schemas.microsoft.com/office/drawing/2014/main" id="{A5797310-E6F1-B282-0C7B-35AC03C318B2}"/>
              </a:ext>
            </a:extLst>
          </p:cNvPr>
          <p:cNvCxnSpPr>
            <a:cxnSpLocks/>
          </p:cNvCxnSpPr>
          <p:nvPr/>
        </p:nvCxnSpPr>
        <p:spPr>
          <a:xfrm flipV="1">
            <a:off x="3186546" y="3750126"/>
            <a:ext cx="0" cy="1149572"/>
          </a:xfrm>
          <a:prstGeom prst="line">
            <a:avLst/>
          </a:prstGeom>
          <a:noFill/>
          <a:ln w="38100" cap="rnd" cmpd="sng" algn="ctr">
            <a:solidFill>
              <a:srgbClr val="4F81BD">
                <a:lumMod val="75000"/>
              </a:srgbClr>
            </a:solidFill>
            <a:prstDash val="solid"/>
            <a:tailEnd type="triangle" w="med" len="lg"/>
          </a:ln>
          <a:effectLst/>
        </p:spPr>
      </p:cxnSp>
      <p:cxnSp>
        <p:nvCxnSpPr>
          <p:cNvPr id="5" name="Straight Connector 16">
            <a:extLst>
              <a:ext uri="{FF2B5EF4-FFF2-40B4-BE49-F238E27FC236}">
                <a16:creationId xmlns:a16="http://schemas.microsoft.com/office/drawing/2014/main" id="{5D95F13C-1DC8-4A1C-6627-45417DCD8EFB}"/>
              </a:ext>
            </a:extLst>
          </p:cNvPr>
          <p:cNvCxnSpPr>
            <a:cxnSpLocks/>
          </p:cNvCxnSpPr>
          <p:nvPr/>
        </p:nvCxnSpPr>
        <p:spPr>
          <a:xfrm>
            <a:off x="3174356" y="5467571"/>
            <a:ext cx="0" cy="607821"/>
          </a:xfrm>
          <a:prstGeom prst="line">
            <a:avLst/>
          </a:prstGeom>
          <a:noFill/>
          <a:ln w="38100" cap="rnd" cmpd="sng" algn="ctr">
            <a:solidFill>
              <a:srgbClr val="4F81BD">
                <a:lumMod val="75000"/>
              </a:srgbClr>
            </a:solidFill>
            <a:prstDash val="solid"/>
            <a:tailEnd type="triangle" w="med" len="lg"/>
          </a:ln>
          <a:effectLst/>
        </p:spPr>
      </p:cxnSp>
      <p:cxnSp>
        <p:nvCxnSpPr>
          <p:cNvPr id="6" name="Straight Connector 18">
            <a:extLst>
              <a:ext uri="{FF2B5EF4-FFF2-40B4-BE49-F238E27FC236}">
                <a16:creationId xmlns:a16="http://schemas.microsoft.com/office/drawing/2014/main" id="{22FF4650-B196-4997-1964-CEB84624AF5C}"/>
              </a:ext>
            </a:extLst>
          </p:cNvPr>
          <p:cNvCxnSpPr>
            <a:cxnSpLocks/>
          </p:cNvCxnSpPr>
          <p:nvPr/>
        </p:nvCxnSpPr>
        <p:spPr>
          <a:xfrm flipV="1">
            <a:off x="3180475" y="1932480"/>
            <a:ext cx="0" cy="713737"/>
          </a:xfrm>
          <a:prstGeom prst="line">
            <a:avLst/>
          </a:prstGeom>
          <a:noFill/>
          <a:ln w="38100" cap="rnd" cmpd="sng" algn="ctr">
            <a:solidFill>
              <a:srgbClr val="4F81BD">
                <a:lumMod val="75000"/>
              </a:srgbClr>
            </a:solidFill>
            <a:prstDash val="solid"/>
            <a:tailEnd type="triangle" w="med" len="lg"/>
          </a:ln>
          <a:effectLst/>
        </p:spPr>
      </p:cxnSp>
      <p:cxnSp>
        <p:nvCxnSpPr>
          <p:cNvPr id="7" name="Straight Connector 21">
            <a:extLst>
              <a:ext uri="{FF2B5EF4-FFF2-40B4-BE49-F238E27FC236}">
                <a16:creationId xmlns:a16="http://schemas.microsoft.com/office/drawing/2014/main" id="{0717A671-BA41-CC39-DC72-A3EBF9DA74CE}"/>
              </a:ext>
            </a:extLst>
          </p:cNvPr>
          <p:cNvCxnSpPr>
            <a:cxnSpLocks/>
          </p:cNvCxnSpPr>
          <p:nvPr/>
        </p:nvCxnSpPr>
        <p:spPr>
          <a:xfrm>
            <a:off x="2918235" y="3756460"/>
            <a:ext cx="660803" cy="0"/>
          </a:xfrm>
          <a:prstGeom prst="line">
            <a:avLst/>
          </a:prstGeom>
          <a:noFill/>
          <a:ln w="38100" cap="rnd" cmpd="sng" algn="ctr">
            <a:solidFill>
              <a:srgbClr val="C00000"/>
            </a:solidFill>
            <a:prstDash val="solid"/>
          </a:ln>
          <a:effectLst/>
        </p:spPr>
      </p:cxnSp>
      <p:graphicFrame>
        <p:nvGraphicFramePr>
          <p:cNvPr id="8" name="Table 9">
            <a:extLst>
              <a:ext uri="{FF2B5EF4-FFF2-40B4-BE49-F238E27FC236}">
                <a16:creationId xmlns:a16="http://schemas.microsoft.com/office/drawing/2014/main" id="{ED41051A-ABFE-299D-88F9-7989C9513D0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73742527"/>
              </p:ext>
            </p:extLst>
          </p:nvPr>
        </p:nvGraphicFramePr>
        <p:xfrm>
          <a:off x="3579038" y="1932480"/>
          <a:ext cx="1985924" cy="4142912"/>
        </p:xfrm>
        <a:graphic>
          <a:graphicData uri="http://schemas.openxmlformats.org/drawingml/2006/table">
            <a:tbl>
              <a:tblPr firstRow="1" bandRow="1"/>
              <a:tblGrid>
                <a:gridCol w="1985924">
                  <a:extLst>
                    <a:ext uri="{9D8B030D-6E8A-4147-A177-3AD203B41FA5}">
                      <a16:colId xmlns:a16="http://schemas.microsoft.com/office/drawing/2014/main" val="1946283791"/>
                    </a:ext>
                  </a:extLst>
                </a:gridCol>
              </a:tblGrid>
              <a:tr h="51786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zh-CN" altLang="en-US" sz="1800" b="1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程序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BB59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554620"/>
                  </a:ext>
                </a:extLst>
              </a:tr>
              <a:tr h="51786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zh-CN" altLang="en-US" sz="1800" b="1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算法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BB59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3496159"/>
                  </a:ext>
                </a:extLst>
              </a:tr>
              <a:tr h="51786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编译器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BB59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2005890"/>
                  </a:ext>
                </a:extLst>
              </a:tr>
              <a:tr h="51786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zh-CN" altLang="en-US" sz="1800" b="1">
                          <a:solidFill>
                            <a:srgbClr val="C00000"/>
                          </a:solidFill>
                          <a:latin typeface="+mj-ea"/>
                          <a:ea typeface="+mj-ea"/>
                        </a:rPr>
                        <a:t>指令集体系结构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0806289"/>
                  </a:ext>
                </a:extLst>
              </a:tr>
              <a:tr h="51786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zh-CN" altLang="en-US" sz="1800" b="1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微体系结构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6812972"/>
                  </a:ext>
                </a:extLst>
              </a:tr>
              <a:tr h="51786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zh-CN" altLang="en-US" sz="1800" b="1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功能部件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7467303"/>
                  </a:ext>
                </a:extLst>
              </a:tr>
              <a:tr h="51786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zh-CN" altLang="en-US" sz="1800" b="1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电路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9204186"/>
                  </a:ext>
                </a:extLst>
              </a:tr>
              <a:tr h="51786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器件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2963798"/>
                  </a:ext>
                </a:extLst>
              </a:tr>
            </a:tbl>
          </a:graphicData>
        </a:graphic>
      </p:graphicFrame>
      <p:sp>
        <p:nvSpPr>
          <p:cNvPr id="9" name="TextBox 25">
            <a:extLst>
              <a:ext uri="{FF2B5EF4-FFF2-40B4-BE49-F238E27FC236}">
                <a16:creationId xmlns:a16="http://schemas.microsoft.com/office/drawing/2014/main" id="{05C7CF64-2918-345C-A97E-48F334D70C1B}"/>
              </a:ext>
            </a:extLst>
          </p:cNvPr>
          <p:cNvSpPr txBox="1"/>
          <p:nvPr/>
        </p:nvSpPr>
        <p:spPr>
          <a:xfrm>
            <a:off x="3700485" y="6151698"/>
            <a:ext cx="17556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>
                <a:solidFill>
                  <a:srgbClr val="000000"/>
                </a:solidFill>
                <a:latin typeface="+mn-ea"/>
                <a:ea typeface="+mn-ea"/>
              </a:rPr>
              <a:t>计算机系统</a:t>
            </a:r>
          </a:p>
        </p:txBody>
      </p:sp>
      <p:cxnSp>
        <p:nvCxnSpPr>
          <p:cNvPr id="10" name="Straight Connector 26">
            <a:extLst>
              <a:ext uri="{FF2B5EF4-FFF2-40B4-BE49-F238E27FC236}">
                <a16:creationId xmlns:a16="http://schemas.microsoft.com/office/drawing/2014/main" id="{1FB5001C-E7EA-70C0-9B50-420F851376DC}"/>
              </a:ext>
            </a:extLst>
          </p:cNvPr>
          <p:cNvCxnSpPr>
            <a:cxnSpLocks/>
          </p:cNvCxnSpPr>
          <p:nvPr/>
        </p:nvCxnSpPr>
        <p:spPr>
          <a:xfrm>
            <a:off x="3187317" y="3185766"/>
            <a:ext cx="0" cy="570694"/>
          </a:xfrm>
          <a:prstGeom prst="line">
            <a:avLst/>
          </a:prstGeom>
          <a:noFill/>
          <a:ln w="38100" cap="rnd" cmpd="sng" algn="ctr">
            <a:solidFill>
              <a:srgbClr val="4F81BD">
                <a:lumMod val="75000"/>
              </a:srgbClr>
            </a:solidFill>
            <a:prstDash val="solid"/>
            <a:tailEnd type="triangle" w="med" len="lg"/>
          </a:ln>
          <a:effectLst/>
        </p:spPr>
      </p:cxnSp>
      <p:sp>
        <p:nvSpPr>
          <p:cNvPr id="11" name="TextBox 28">
            <a:extLst>
              <a:ext uri="{FF2B5EF4-FFF2-40B4-BE49-F238E27FC236}">
                <a16:creationId xmlns:a16="http://schemas.microsoft.com/office/drawing/2014/main" id="{BC8750F1-6C6F-D272-C5D6-3499E5819FB8}"/>
              </a:ext>
            </a:extLst>
          </p:cNvPr>
          <p:cNvSpPr txBox="1"/>
          <p:nvPr/>
        </p:nvSpPr>
        <p:spPr>
          <a:xfrm>
            <a:off x="2780795" y="2648581"/>
            <a:ext cx="8130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>
                <a:solidFill>
                  <a:srgbClr val="4F81BD">
                    <a:lumMod val="75000"/>
                  </a:srgbClr>
                </a:solidFill>
                <a:latin typeface="+mn-ea"/>
                <a:ea typeface="+mn-ea"/>
              </a:rPr>
              <a:t>软件</a:t>
            </a:r>
          </a:p>
        </p:txBody>
      </p:sp>
      <p:sp>
        <p:nvSpPr>
          <p:cNvPr id="12" name="TextBox 29">
            <a:extLst>
              <a:ext uri="{FF2B5EF4-FFF2-40B4-BE49-F238E27FC236}">
                <a16:creationId xmlns:a16="http://schemas.microsoft.com/office/drawing/2014/main" id="{23384E31-2429-7CB6-C1CE-F8FE7625FD03}"/>
              </a:ext>
            </a:extLst>
          </p:cNvPr>
          <p:cNvSpPr txBox="1"/>
          <p:nvPr/>
        </p:nvSpPr>
        <p:spPr>
          <a:xfrm>
            <a:off x="2767837" y="4952802"/>
            <a:ext cx="8130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>
                <a:solidFill>
                  <a:srgbClr val="4F81BD">
                    <a:lumMod val="75000"/>
                  </a:srgbClr>
                </a:solidFill>
                <a:latin typeface="+mn-ea"/>
                <a:ea typeface="+mn-ea"/>
              </a:rPr>
              <a:t>硬件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作业</a:t>
            </a:r>
            <a:endParaRPr lang="en-US" dirty="0"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1317813"/>
            <a:ext cx="8229600" cy="492741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教材第</a:t>
            </a:r>
            <a:r>
              <a:rPr lang="en-US" altLang="zh-CN" sz="28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5</a:t>
            </a:r>
            <a:r>
              <a:rPr lang="zh-CN" altLang="en-US" sz="28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章</a:t>
            </a:r>
            <a:r>
              <a:rPr lang="zh-CN" altLang="en-US" sz="2800" b="1" dirty="0">
                <a:solidFill>
                  <a:srgbClr val="0432FF"/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思考题</a:t>
            </a:r>
            <a:r>
              <a:rPr lang="en-US" altLang="zh-CN" sz="28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1</a:t>
            </a:r>
            <a:r>
              <a:rPr lang="zh-CN" altLang="en-US" sz="28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，</a:t>
            </a:r>
            <a:r>
              <a:rPr lang="en-US" altLang="zh-CN" sz="28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9</a:t>
            </a:r>
            <a:r>
              <a:rPr lang="zh-CN" altLang="en-US" sz="28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，</a:t>
            </a:r>
            <a:r>
              <a:rPr lang="en-US" altLang="zh-CN" sz="28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10</a:t>
            </a:r>
            <a:r>
              <a:rPr lang="zh-CN" altLang="en-US" sz="28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；</a:t>
            </a:r>
            <a:r>
              <a:rPr lang="zh-CN" altLang="en-US" sz="2800" b="1" dirty="0">
                <a:solidFill>
                  <a:srgbClr val="0432FF"/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习题</a:t>
            </a:r>
            <a:r>
              <a:rPr lang="en-US" altLang="zh-CN" sz="28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20</a:t>
            </a:r>
            <a:r>
              <a:rPr lang="zh-CN" altLang="en-US" sz="28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（以网络学堂</a:t>
            </a:r>
            <a:r>
              <a:rPr lang="en-US" altLang="zh-CN" sz="28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PDF</a:t>
            </a:r>
            <a:r>
              <a:rPr lang="zh-CN" altLang="en-US" sz="28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版本题目为准）</a:t>
            </a:r>
            <a:endParaRPr lang="en-US" altLang="zh-CN" sz="2400" dirty="0"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400" dirty="0">
                <a:latin typeface="Arial" panose="020B0604020202020204" pitchFamily="34" charset="0"/>
                <a:cs typeface="黑体" panose="02010609060101010101" pitchFamily="49" charset="-122"/>
              </a:rPr>
              <a:t>作业一周内提交</a:t>
            </a:r>
            <a:endParaRPr lang="en-US" altLang="zh-CN" sz="2400" dirty="0"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4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不要抄袭或迟交</a:t>
            </a:r>
            <a:endParaRPr lang="en-US" sz="2400" dirty="0"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40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电子版提交网络学堂</a:t>
            </a:r>
            <a:endParaRPr lang="en-US" sz="2400" dirty="0"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D6347CC-D14D-07B2-6EFF-27C51152B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t>77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37153014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B44146-C9D0-EA84-2EBE-AD627777D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B78D46-4CC3-056F-DF38-2ACA30E1B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附录：图灵机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8BC3E48-BF75-56FC-B0F9-7406BED783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3902" y="1275633"/>
            <a:ext cx="5524587" cy="5256584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</a:pPr>
            <a:r>
              <a:rPr lang="zh-CN" altLang="en-US" sz="2800" b="1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图灵机</a:t>
            </a:r>
            <a:endParaRPr lang="en-US" altLang="zh-CN" sz="2800" b="1" dirty="0"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lvl="1">
              <a:spcBef>
                <a:spcPts val="600"/>
              </a:spcBef>
            </a:pPr>
            <a:r>
              <a:rPr lang="zh-CN" altLang="en-US" sz="2000" b="1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纸带、读写头、规则表、状态寄存器</a:t>
            </a:r>
            <a:endParaRPr lang="en-US" altLang="zh-CN" sz="2000" b="1" dirty="0"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lvl="2">
              <a:spcBef>
                <a:spcPts val="600"/>
              </a:spcBef>
            </a:pPr>
            <a:r>
              <a:rPr lang="zh-CN" altLang="en-US" sz="2000" b="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等价于有限状态机</a:t>
            </a:r>
            <a:endParaRPr lang="en-US" altLang="zh-CN" sz="2000" b="0" dirty="0"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lvl="1">
              <a:spcBef>
                <a:spcPts val="600"/>
              </a:spcBef>
            </a:pPr>
            <a:r>
              <a:rPr lang="zh-CN" altLang="en-US" sz="2000" b="1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移动、读取和写入</a:t>
            </a:r>
            <a:endParaRPr lang="en-US" altLang="zh-CN" sz="2000" b="1" dirty="0"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lvl="2">
              <a:spcBef>
                <a:spcPts val="600"/>
              </a:spcBef>
            </a:pPr>
            <a:r>
              <a:rPr lang="zh-CN" altLang="en-US" sz="2000" b="1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依据：</a:t>
            </a:r>
            <a:r>
              <a:rPr lang="zh-CN" altLang="en-US" sz="2000" b="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当前状态，输入符号，规则表</a:t>
            </a:r>
            <a:endParaRPr lang="en-US" altLang="zh-CN" sz="2000" b="0" dirty="0"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lvl="2">
              <a:spcBef>
                <a:spcPts val="600"/>
              </a:spcBef>
            </a:pPr>
            <a:r>
              <a:rPr lang="zh-CN" altLang="en-US" sz="2000" b="1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移动：</a:t>
            </a:r>
            <a:r>
              <a:rPr lang="zh-CN" altLang="en-US" sz="2000" b="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读写头位置</a:t>
            </a:r>
            <a:endParaRPr lang="en-US" altLang="zh-CN" sz="2000" b="0" dirty="0"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lvl="2">
              <a:spcBef>
                <a:spcPts val="600"/>
              </a:spcBef>
            </a:pPr>
            <a:r>
              <a:rPr lang="zh-CN" altLang="en-US" sz="2000" b="1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读取：</a:t>
            </a:r>
            <a:r>
              <a:rPr lang="zh-CN" altLang="en-US" sz="2000" b="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规则表</a:t>
            </a:r>
            <a:r>
              <a:rPr lang="en-US" altLang="zh-CN" sz="2000" b="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 &amp; </a:t>
            </a:r>
            <a:r>
              <a:rPr lang="zh-CN" altLang="en-US" sz="2000" b="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输入符号</a:t>
            </a:r>
            <a:endParaRPr lang="en-US" altLang="zh-CN" sz="2000" b="0" dirty="0"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lvl="2">
              <a:spcBef>
                <a:spcPts val="600"/>
              </a:spcBef>
            </a:pPr>
            <a:r>
              <a:rPr lang="zh-CN" altLang="en-US" sz="2000" b="1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写入：</a:t>
            </a:r>
            <a:r>
              <a:rPr lang="zh-CN" altLang="en-US" sz="2000" b="0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符号，状态寄存器</a:t>
            </a:r>
            <a:endParaRPr lang="en-US" altLang="zh-CN" sz="2000" b="0" dirty="0"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22" name="Rectangle 12">
            <a:extLst>
              <a:ext uri="{FF2B5EF4-FFF2-40B4-BE49-F238E27FC236}">
                <a16:creationId xmlns:a16="http://schemas.microsoft.com/office/drawing/2014/main" id="{DD4C3463-3807-A59B-C8CB-2DF2D1DD0761}"/>
              </a:ext>
            </a:extLst>
          </p:cNvPr>
          <p:cNvSpPr/>
          <p:nvPr/>
        </p:nvSpPr>
        <p:spPr>
          <a:xfrm>
            <a:off x="348917" y="6201106"/>
            <a:ext cx="7803217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altLang="zh-CN" sz="1200" b="0" i="1" dirty="0">
                <a:solidFill>
                  <a:schemeClr val="tx1"/>
                </a:solidFill>
                <a:latin typeface="+mn-lt"/>
                <a:ea typeface="黑体" panose="02010609060101010101" pitchFamily="49" charset="-122"/>
              </a:rPr>
              <a:t>Turing A. On computable numbers, with an application to the </a:t>
            </a:r>
            <a:r>
              <a:rPr lang="en-US" altLang="zh-CN" sz="1200" b="0" i="1" dirty="0" err="1">
                <a:solidFill>
                  <a:schemeClr val="tx1"/>
                </a:solidFill>
                <a:latin typeface="+mn-lt"/>
                <a:ea typeface="黑体" panose="02010609060101010101" pitchFamily="49" charset="-122"/>
              </a:rPr>
              <a:t>Etscheidungs</a:t>
            </a:r>
            <a:r>
              <a:rPr lang="en-US" altLang="zh-CN" sz="1200" b="0" i="1" dirty="0">
                <a:solidFill>
                  <a:schemeClr val="tx1"/>
                </a:solidFill>
                <a:latin typeface="+mn-lt"/>
                <a:ea typeface="黑体" panose="02010609060101010101" pitchFamily="49" charset="-122"/>
              </a:rPr>
              <a:t> problem[J]. Proceedings of the London Mathematical Society, 1936, 42(1):230-265.</a:t>
            </a:r>
            <a:endParaRPr lang="zh-CN" altLang="en-US" sz="4600" b="0" i="1" dirty="0">
              <a:solidFill>
                <a:schemeClr val="tx1"/>
              </a:solidFill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29" name="TextBox 31">
            <a:extLst>
              <a:ext uri="{FF2B5EF4-FFF2-40B4-BE49-F238E27FC236}">
                <a16:creationId xmlns:a16="http://schemas.microsoft.com/office/drawing/2014/main" id="{7356F0F4-D8C3-8A1F-BDE5-33243CDBDB95}"/>
              </a:ext>
            </a:extLst>
          </p:cNvPr>
          <p:cNvSpPr txBox="1"/>
          <p:nvPr/>
        </p:nvSpPr>
        <p:spPr>
          <a:xfrm rot="19991397">
            <a:off x="6478665" y="2092847"/>
            <a:ext cx="222799" cy="12311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zh-CN" altLang="en-US" sz="200" b="1" dirty="0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</p:txBody>
      </p:sp>
      <p:grpSp>
        <p:nvGrpSpPr>
          <p:cNvPr id="27" name="组合 11">
            <a:extLst>
              <a:ext uri="{FF2B5EF4-FFF2-40B4-BE49-F238E27FC236}">
                <a16:creationId xmlns:a16="http://schemas.microsoft.com/office/drawing/2014/main" id="{BF021F14-44E1-64EA-196E-69EFCB768023}"/>
              </a:ext>
            </a:extLst>
          </p:cNvPr>
          <p:cNvGrpSpPr/>
          <p:nvPr/>
        </p:nvGrpSpPr>
        <p:grpSpPr>
          <a:xfrm>
            <a:off x="697495" y="5037271"/>
            <a:ext cx="7307060" cy="1057071"/>
            <a:chOff x="786502" y="3346208"/>
            <a:chExt cx="6807378" cy="895127"/>
          </a:xfrm>
        </p:grpSpPr>
        <p:sp>
          <p:nvSpPr>
            <p:cNvPr id="30" name="矩形 13">
              <a:extLst>
                <a:ext uri="{FF2B5EF4-FFF2-40B4-BE49-F238E27FC236}">
                  <a16:creationId xmlns:a16="http://schemas.microsoft.com/office/drawing/2014/main" id="{FE33DD2D-1C00-F2AE-7F4B-513AE0695986}"/>
                </a:ext>
              </a:extLst>
            </p:cNvPr>
            <p:cNvSpPr/>
            <p:nvPr/>
          </p:nvSpPr>
          <p:spPr>
            <a:xfrm>
              <a:off x="6818025" y="3346209"/>
              <a:ext cx="775855" cy="89512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停机状态</a:t>
              </a:r>
            </a:p>
          </p:txBody>
        </p:sp>
        <p:sp>
          <p:nvSpPr>
            <p:cNvPr id="31" name="矩形 14">
              <a:extLst>
                <a:ext uri="{FF2B5EF4-FFF2-40B4-BE49-F238E27FC236}">
                  <a16:creationId xmlns:a16="http://schemas.microsoft.com/office/drawing/2014/main" id="{68960393-19E3-4822-6636-BA721B9791F6}"/>
                </a:ext>
              </a:extLst>
            </p:cNvPr>
            <p:cNvSpPr/>
            <p:nvPr/>
          </p:nvSpPr>
          <p:spPr>
            <a:xfrm>
              <a:off x="2463827" y="3346209"/>
              <a:ext cx="932873" cy="89512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rPr>
                <a:t>读取</a:t>
              </a:r>
              <a:r>
                <a:rPr lang="en-US" altLang="zh-CN"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rPr>
                <a:t>A</a:t>
              </a:r>
              <a:endPara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endParaRPr>
            </a:p>
          </p:txBody>
        </p:sp>
        <p:sp>
          <p:nvSpPr>
            <p:cNvPr id="32" name="矩形 15">
              <a:extLst>
                <a:ext uri="{FF2B5EF4-FFF2-40B4-BE49-F238E27FC236}">
                  <a16:creationId xmlns:a16="http://schemas.microsoft.com/office/drawing/2014/main" id="{9E527B0E-EA7E-74A1-CEBD-06C28A95A863}"/>
                </a:ext>
              </a:extLst>
            </p:cNvPr>
            <p:cNvSpPr/>
            <p:nvPr/>
          </p:nvSpPr>
          <p:spPr>
            <a:xfrm>
              <a:off x="3830809" y="3346208"/>
              <a:ext cx="932873" cy="89512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rPr>
                <a:t>读取</a:t>
              </a:r>
              <a:r>
                <a:rPr lang="en-US" altLang="zh-CN"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rPr>
                <a:t>B</a:t>
              </a:r>
              <a:endPara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endParaRPr>
            </a:p>
          </p:txBody>
        </p:sp>
        <p:sp>
          <p:nvSpPr>
            <p:cNvPr id="33" name="矩形 16">
              <a:extLst>
                <a:ext uri="{FF2B5EF4-FFF2-40B4-BE49-F238E27FC236}">
                  <a16:creationId xmlns:a16="http://schemas.microsoft.com/office/drawing/2014/main" id="{91F3F82C-2C78-EFF1-D0C9-A613FB41CA91}"/>
                </a:ext>
              </a:extLst>
            </p:cNvPr>
            <p:cNvSpPr/>
            <p:nvPr/>
          </p:nvSpPr>
          <p:spPr>
            <a:xfrm>
              <a:off x="5225498" y="3346208"/>
              <a:ext cx="1143729" cy="89512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rPr>
                <a:t>计算并输出</a:t>
              </a:r>
              <a:r>
                <a:rPr lang="en-US" altLang="zh-CN"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rPr>
                <a:t>A+B</a:t>
              </a:r>
              <a:endPara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endParaRPr>
            </a:p>
          </p:txBody>
        </p:sp>
        <p:sp>
          <p:nvSpPr>
            <p:cNvPr id="34" name="右箭头 17">
              <a:extLst>
                <a:ext uri="{FF2B5EF4-FFF2-40B4-BE49-F238E27FC236}">
                  <a16:creationId xmlns:a16="http://schemas.microsoft.com/office/drawing/2014/main" id="{0F614F2B-641A-7982-32A4-B9A4C4C6E9BC}"/>
                </a:ext>
              </a:extLst>
            </p:cNvPr>
            <p:cNvSpPr/>
            <p:nvPr/>
          </p:nvSpPr>
          <p:spPr>
            <a:xfrm>
              <a:off x="3396700" y="3612730"/>
              <a:ext cx="434109" cy="196580"/>
            </a:xfrm>
            <a:prstGeom prst="rightArrow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4600">
                <a:solidFill>
                  <a:schemeClr val="tx1"/>
                </a:solidFill>
              </a:endParaRPr>
            </a:p>
          </p:txBody>
        </p:sp>
        <p:sp>
          <p:nvSpPr>
            <p:cNvPr id="35" name="右箭头 18">
              <a:extLst>
                <a:ext uri="{FF2B5EF4-FFF2-40B4-BE49-F238E27FC236}">
                  <a16:creationId xmlns:a16="http://schemas.microsoft.com/office/drawing/2014/main" id="{D1402ADB-D798-9D41-4D58-92F22F9EFE78}"/>
                </a:ext>
              </a:extLst>
            </p:cNvPr>
            <p:cNvSpPr/>
            <p:nvPr/>
          </p:nvSpPr>
          <p:spPr>
            <a:xfrm>
              <a:off x="4763682" y="3612730"/>
              <a:ext cx="434109" cy="196580"/>
            </a:xfrm>
            <a:prstGeom prst="rightArrow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4600">
                <a:solidFill>
                  <a:schemeClr val="tx1"/>
                </a:solidFill>
              </a:endParaRPr>
            </a:p>
          </p:txBody>
        </p:sp>
        <p:sp>
          <p:nvSpPr>
            <p:cNvPr id="36" name="右箭头 19">
              <a:extLst>
                <a:ext uri="{FF2B5EF4-FFF2-40B4-BE49-F238E27FC236}">
                  <a16:creationId xmlns:a16="http://schemas.microsoft.com/office/drawing/2014/main" id="{15A50DF5-9681-E66B-0E62-B2568EDB68D6}"/>
                </a:ext>
              </a:extLst>
            </p:cNvPr>
            <p:cNvSpPr/>
            <p:nvPr/>
          </p:nvSpPr>
          <p:spPr>
            <a:xfrm>
              <a:off x="6383916" y="3612730"/>
              <a:ext cx="434109" cy="196580"/>
            </a:xfrm>
            <a:prstGeom prst="rightArrow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4600">
                <a:solidFill>
                  <a:schemeClr val="tx1"/>
                </a:solidFill>
              </a:endParaRPr>
            </a:p>
          </p:txBody>
        </p:sp>
        <p:sp>
          <p:nvSpPr>
            <p:cNvPr id="37" name="Rectangle 2">
              <a:extLst>
                <a:ext uri="{FF2B5EF4-FFF2-40B4-BE49-F238E27FC236}">
                  <a16:creationId xmlns:a16="http://schemas.microsoft.com/office/drawing/2014/main" id="{40637559-AC37-E085-F433-78E5FE8D15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6502" y="3612730"/>
              <a:ext cx="2134903" cy="42613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91440" tIns="45720" rIns="91440" bIns="45720" numCol="1" anchor="ctr" anchorCtr="0" compatLnSpc="1"/>
            <a:lstStyle>
              <a:lvl1pPr algn="ctr" rtl="0" fontAlgn="base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chemeClr val="tx2"/>
                  </a:solidFill>
                  <a:latin typeface="+mj-lt"/>
                  <a:ea typeface="+mj-ea"/>
                  <a:cs typeface="+mj-cs"/>
                </a:defRPr>
              </a:lvl1pPr>
              <a:lvl2pPr algn="ctr" rtl="0" fontAlgn="base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ctr" rtl="0" fontAlgn="base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ctr" rtl="0" fontAlgn="base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ctr" rtl="0" fontAlgn="base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457200" algn="ctr" rtl="0" fontAlgn="base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914400" algn="ctr" rtl="0" fontAlgn="base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1371600" algn="ctr" rtl="0" fontAlgn="base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1828800" algn="ctr" rtl="0" fontAlgn="base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1600">
                  <a:solidFill>
                    <a:schemeClr val="accent1">
                      <a:lumMod val="75000"/>
                    </a:schemeClr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rPr>
                <a:t>计算</a:t>
              </a:r>
              <a:r>
                <a:rPr lang="en-US" altLang="zh-CN" sz="1600">
                  <a:solidFill>
                    <a:schemeClr val="accent1">
                      <a:lumMod val="75000"/>
                    </a:schemeClr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黑体" panose="02010609060101010101" pitchFamily="49" charset="-122"/>
                </a:rPr>
                <a:t>A+B</a:t>
              </a:r>
              <a:endParaRPr lang="zh-CN" altLang="en-US" sz="160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endParaRP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E83A110E-0104-A5F1-DE63-D580135F5C4B}"/>
              </a:ext>
            </a:extLst>
          </p:cNvPr>
          <p:cNvGrpSpPr/>
          <p:nvPr/>
        </p:nvGrpSpPr>
        <p:grpSpPr>
          <a:xfrm>
            <a:off x="5427987" y="1462890"/>
            <a:ext cx="3483689" cy="3172467"/>
            <a:chOff x="5203111" y="1462890"/>
            <a:chExt cx="3483689" cy="3172467"/>
          </a:xfrm>
        </p:grpSpPr>
        <p:pic>
          <p:nvPicPr>
            <p:cNvPr id="48" name="Picture 4">
              <a:extLst>
                <a:ext uri="{FF2B5EF4-FFF2-40B4-BE49-F238E27FC236}">
                  <a16:creationId xmlns:a16="http://schemas.microsoft.com/office/drawing/2014/main" id="{DA8B237B-4C07-A76E-BCD4-86671EDF127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03111" y="1462890"/>
              <a:ext cx="3483689" cy="317246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" name="Rectangle 2">
              <a:extLst>
                <a:ext uri="{FF2B5EF4-FFF2-40B4-BE49-F238E27FC236}">
                  <a16:creationId xmlns:a16="http://schemas.microsoft.com/office/drawing/2014/main" id="{5B04936A-47A2-00FA-FC56-5545799EF0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53172" y="3312064"/>
              <a:ext cx="1449939" cy="37767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91440" tIns="45720" rIns="91440" bIns="45720" numCol="1" anchor="ctr" anchorCtr="0" compatLnSpc="1"/>
            <a:lstStyle>
              <a:lvl1pPr algn="ctr" rtl="0" fontAlgn="base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chemeClr val="tx2"/>
                  </a:solidFill>
                  <a:latin typeface="+mj-lt"/>
                  <a:ea typeface="+mj-ea"/>
                  <a:cs typeface="+mj-cs"/>
                </a:defRPr>
              </a:lvl1pPr>
              <a:lvl2pPr algn="ctr" rtl="0" fontAlgn="base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ctr" rtl="0" fontAlgn="base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ctr" rtl="0" fontAlgn="base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ctr" rtl="0" fontAlgn="base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457200" algn="ctr" rtl="0" fontAlgn="base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914400" algn="ctr" rtl="0" fontAlgn="base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1371600" algn="ctr" rtl="0" fontAlgn="base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1828800" algn="ctr" rtl="0" fontAlgn="base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chemeClr val="accent1">
                      <a:lumMod val="75000"/>
                    </a:schemeClr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图灵机</a:t>
              </a:r>
            </a:p>
          </p:txBody>
        </p:sp>
        <p:sp>
          <p:nvSpPr>
            <p:cNvPr id="50" name="Rectangle 5">
              <a:extLst>
                <a:ext uri="{FF2B5EF4-FFF2-40B4-BE49-F238E27FC236}">
                  <a16:creationId xmlns:a16="http://schemas.microsoft.com/office/drawing/2014/main" id="{CD398762-CA2F-FEF2-2782-83E244C178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57163" y="4272789"/>
              <a:ext cx="1071880" cy="30670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zh-CN" altLang="en-US" sz="1400">
                  <a:solidFill>
                    <a:schemeClr val="accent1">
                      <a:lumMod val="75000"/>
                    </a:schemeClr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无限长纸带</a:t>
              </a:r>
            </a:p>
          </p:txBody>
        </p:sp>
        <p:sp>
          <p:nvSpPr>
            <p:cNvPr id="51" name="Rectangle 6">
              <a:extLst>
                <a:ext uri="{FF2B5EF4-FFF2-40B4-BE49-F238E27FC236}">
                  <a16:creationId xmlns:a16="http://schemas.microsoft.com/office/drawing/2014/main" id="{D24B0AB0-778B-36ED-1993-83F1FB7428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2035" y="1789578"/>
              <a:ext cx="716280" cy="30670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zh-CN" altLang="en-US" sz="1400">
                  <a:solidFill>
                    <a:schemeClr val="accent1">
                      <a:lumMod val="75000"/>
                    </a:schemeClr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读写头</a:t>
              </a:r>
            </a:p>
          </p:txBody>
        </p:sp>
        <p:sp>
          <p:nvSpPr>
            <p:cNvPr id="52" name="Line 7">
              <a:extLst>
                <a:ext uri="{FF2B5EF4-FFF2-40B4-BE49-F238E27FC236}">
                  <a16:creationId xmlns:a16="http://schemas.microsoft.com/office/drawing/2014/main" id="{C66E9789-F925-B346-4606-ABDF2CC21D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96001" y="2097354"/>
              <a:ext cx="242772" cy="205861"/>
            </a:xfrm>
            <a:prstGeom prst="line">
              <a:avLst/>
            </a:prstGeom>
            <a:noFill/>
            <a:ln w="19050" cap="rnd">
              <a:solidFill>
                <a:schemeClr val="accent1">
                  <a:lumMod val="75000"/>
                </a:schemeClr>
              </a:solidFill>
              <a:round/>
              <a:tailEnd type="triangle" w="med" len="med"/>
            </a:ln>
          </p:spPr>
          <p:txBody>
            <a:bodyPr/>
            <a:lstStyle/>
            <a:p>
              <a:endParaRPr lang="zh-CN" altLang="en-US" sz="4600"/>
            </a:p>
          </p:txBody>
        </p:sp>
        <p:sp>
          <p:nvSpPr>
            <p:cNvPr id="53" name="Line 8">
              <a:extLst>
                <a:ext uri="{FF2B5EF4-FFF2-40B4-BE49-F238E27FC236}">
                  <a16:creationId xmlns:a16="http://schemas.microsoft.com/office/drawing/2014/main" id="{66485A5C-F2FA-ADC0-18C5-2227234B6DA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193885" y="4015971"/>
              <a:ext cx="144887" cy="256819"/>
            </a:xfrm>
            <a:prstGeom prst="line">
              <a:avLst/>
            </a:prstGeom>
            <a:noFill/>
            <a:ln w="19050" cap="rnd">
              <a:solidFill>
                <a:schemeClr val="accent1">
                  <a:lumMod val="75000"/>
                </a:schemeClr>
              </a:solidFill>
              <a:round/>
              <a:tailEnd type="triangle" w="med" len="med"/>
            </a:ln>
          </p:spPr>
          <p:txBody>
            <a:bodyPr/>
            <a:lstStyle/>
            <a:p>
              <a:endParaRPr lang="zh-CN" altLang="en-US" sz="4600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39F957B8-1D3E-2866-C5EB-F8B48B0EE0CC}"/>
                </a:ext>
              </a:extLst>
            </p:cNvPr>
            <p:cNvSpPr/>
            <p:nvPr/>
          </p:nvSpPr>
          <p:spPr>
            <a:xfrm>
              <a:off x="7809782" y="1930352"/>
              <a:ext cx="535259" cy="30777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noAutofit/>
            </a:bodyPr>
            <a:lstStyle/>
            <a:p>
              <a:pPr algn="l"/>
              <a:endParaRPr lang="zh-CN" altLang="en-US"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CEBDE29-D9BC-5237-EE85-0DCD17A69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t>78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2857373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FC724B-8DB7-4847-E65A-2C77FE36F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>
            <a:extLst>
              <a:ext uri="{FF2B5EF4-FFF2-40B4-BE49-F238E27FC236}">
                <a16:creationId xmlns:a16="http://schemas.microsoft.com/office/drawing/2014/main" id="{B7695BBF-4135-B497-F08C-E1416F2B2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附录：图灵机</a:t>
            </a:r>
          </a:p>
        </p:txBody>
      </p:sp>
      <p:sp>
        <p:nvSpPr>
          <p:cNvPr id="19" name="内容占位符 2">
            <a:extLst>
              <a:ext uri="{FF2B5EF4-FFF2-40B4-BE49-F238E27FC236}">
                <a16:creationId xmlns:a16="http://schemas.microsoft.com/office/drawing/2014/main" id="{2DAAAE41-59AC-CE93-E524-6799142AB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03101"/>
            <a:ext cx="8229600" cy="45259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latin typeface="Arial" panose="020B0604020202020204" pitchFamily="34" charset="0"/>
                <a:ea typeface="黑体" panose="02010609060101010101" pitchFamily="49" charset="-122"/>
              </a:rPr>
              <a:t>图灵机难以处理不同的任务</a:t>
            </a:r>
            <a:endParaRPr lang="en-US" altLang="zh-CN" sz="2800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400" b="0" dirty="0">
                <a:latin typeface="Arial" panose="020B0604020202020204" pitchFamily="34" charset="0"/>
                <a:ea typeface="黑体" panose="02010609060101010101" pitchFamily="49" charset="-122"/>
              </a:rPr>
              <a:t>不同任务：如何设计状态转移表？</a:t>
            </a:r>
            <a:endParaRPr lang="en-US" altLang="zh-CN" sz="2400" b="0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Arial" panose="020B0604020202020204" pitchFamily="34" charset="0"/>
                <a:ea typeface="黑体" panose="02010609060101010101" pitchFamily="49" charset="-122"/>
              </a:rPr>
              <a:t>等价图灵机模型</a:t>
            </a:r>
            <a:endParaRPr lang="en-US" altLang="zh-CN" sz="2800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400" b="0" dirty="0">
                <a:latin typeface="Arial" panose="020B0604020202020204" pitchFamily="34" charset="0"/>
                <a:ea typeface="黑体" panose="02010609060101010101" pitchFamily="49" charset="-122"/>
              </a:rPr>
              <a:t>普林斯顿架构</a:t>
            </a:r>
            <a:endParaRPr lang="en-US" altLang="zh-CN" sz="2400" b="0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400" b="0" dirty="0">
                <a:latin typeface="Arial" panose="020B0604020202020204" pitchFamily="34" charset="0"/>
                <a:ea typeface="黑体" panose="02010609060101010101" pitchFamily="49" charset="-122"/>
              </a:rPr>
              <a:t>哈佛架构</a:t>
            </a:r>
            <a:endParaRPr lang="en-US" altLang="zh-CN" sz="1600" b="0" dirty="0">
              <a:solidFill>
                <a:srgbClr val="FF0000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46FF83-2311-EDA3-7174-3A1BB5BB4B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9454" y="2885845"/>
            <a:ext cx="3531162" cy="3519469"/>
          </a:xfrm>
          <a:prstGeom prst="rect">
            <a:avLst/>
          </a:prstGeom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525EFA8-3FC5-739B-7923-2CEFABE68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t>79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44949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B854D8-1A31-B6AF-C415-C92CA2DC3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F57C028-AE70-2DEE-FD29-518C02F60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351" y="136525"/>
            <a:ext cx="8773298" cy="1143000"/>
          </a:xfrm>
        </p:spPr>
        <p:txBody>
          <a:bodyPr>
            <a:noAutofit/>
          </a:bodyPr>
          <a:lstStyle/>
          <a:p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附录：可计算性与图灵完备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E9D4A-1C58-498B-3768-9FDDF244DF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</a:pPr>
            <a:r>
              <a:rPr lang="zh-CN" altLang="en-US" sz="2400" dirty="0">
                <a:latin typeface="Arial" panose="020B0604020202020204" pitchFamily="34" charset="0"/>
                <a:ea typeface="黑体" panose="02010609060101010101" pitchFamily="49" charset="-122"/>
              </a:rPr>
              <a:t>计算机不可能求解所有问题</a:t>
            </a:r>
            <a:endParaRPr lang="en-US" altLang="zh-CN" sz="2400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1">
              <a:spcBef>
                <a:spcPts val="600"/>
              </a:spcBef>
            </a:pPr>
            <a:r>
              <a:rPr lang="zh-CN" altLang="en-US" sz="2400" dirty="0">
                <a:latin typeface="Arial" panose="020B0604020202020204" pitchFamily="34" charset="0"/>
                <a:ea typeface="黑体" panose="02010609060101010101" pitchFamily="49" charset="-122"/>
              </a:rPr>
              <a:t>可计算性</a:t>
            </a:r>
            <a:endParaRPr lang="en-US" altLang="zh-CN" sz="2400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1">
              <a:spcBef>
                <a:spcPts val="600"/>
              </a:spcBef>
            </a:pPr>
            <a:r>
              <a:rPr lang="zh-CN" altLang="en-US" sz="2400" dirty="0">
                <a:latin typeface="Arial" panose="020B0604020202020204" pitchFamily="34" charset="0"/>
                <a:ea typeface="黑体" panose="02010609060101010101" pitchFamily="49" charset="-122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停机问题</a:t>
            </a:r>
            <a:endParaRPr lang="en-US" altLang="zh-CN" sz="2400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>
              <a:spcBef>
                <a:spcPts val="600"/>
              </a:spcBef>
            </a:pPr>
            <a:r>
              <a:rPr lang="zh-CN" altLang="en-US" sz="2400" dirty="0">
                <a:latin typeface="Arial" panose="020B0604020202020204" pitchFamily="34" charset="0"/>
                <a:ea typeface="黑体" panose="02010609060101010101" pitchFamily="49" charset="-122"/>
              </a:rPr>
              <a:t>如何判断电路能够支持通用算法</a:t>
            </a:r>
            <a:endParaRPr lang="en-US" altLang="zh-CN" sz="2400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1">
              <a:spcBef>
                <a:spcPts val="600"/>
              </a:spcBef>
            </a:pPr>
            <a:r>
              <a:rPr lang="zh-CN" altLang="en-US" sz="2400" dirty="0">
                <a:latin typeface="Arial" panose="020B0604020202020204" pitchFamily="34" charset="0"/>
                <a:ea typeface="黑体" panose="02010609060101010101" pitchFamily="49" charset="-122"/>
              </a:rPr>
              <a:t>图灵完备性</a:t>
            </a:r>
            <a:endParaRPr lang="en-US" altLang="zh-CN" sz="2400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1">
              <a:spcBef>
                <a:spcPts val="600"/>
              </a:spcBef>
            </a:pPr>
            <a:endParaRPr lang="en-US" altLang="zh-CN" sz="2400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1">
              <a:spcBef>
                <a:spcPts val="600"/>
              </a:spcBef>
            </a:pPr>
            <a:endParaRPr lang="en-US" altLang="zh-CN" sz="2400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1798DF2-603E-391C-62B2-49D8D17C18F0}"/>
              </a:ext>
            </a:extLst>
          </p:cNvPr>
          <p:cNvGrpSpPr/>
          <p:nvPr/>
        </p:nvGrpSpPr>
        <p:grpSpPr>
          <a:xfrm>
            <a:off x="3777513" y="4422362"/>
            <a:ext cx="2019281" cy="2125813"/>
            <a:chOff x="3777513" y="4580289"/>
            <a:chExt cx="2019281" cy="2125813"/>
          </a:xfrm>
        </p:grpSpPr>
        <p:sp>
          <p:nvSpPr>
            <p:cNvPr id="20" name="Left-Right Arrow 5">
              <a:extLst>
                <a:ext uri="{FF2B5EF4-FFF2-40B4-BE49-F238E27FC236}">
                  <a16:creationId xmlns:a16="http://schemas.microsoft.com/office/drawing/2014/main" id="{243245BD-8B08-7787-5C49-78FE51FD3796}"/>
                </a:ext>
              </a:extLst>
            </p:cNvPr>
            <p:cNvSpPr/>
            <p:nvPr/>
          </p:nvSpPr>
          <p:spPr>
            <a:xfrm>
              <a:off x="4965890" y="4988774"/>
              <a:ext cx="830904" cy="451821"/>
            </a:xfrm>
            <a:prstGeom prst="leftRightArrow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noAutofit/>
            </a:bodyPr>
            <a:lstStyle/>
            <a:p>
              <a:pPr algn="l"/>
              <a:endPara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9B5B455-37F8-E25E-4997-84934A1B541C}"/>
                </a:ext>
              </a:extLst>
            </p:cNvPr>
            <p:cNvSpPr txBox="1"/>
            <p:nvPr/>
          </p:nvSpPr>
          <p:spPr>
            <a:xfrm>
              <a:off x="5026449" y="4580289"/>
              <a:ext cx="7072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dirty="0">
                  <a:solidFill>
                    <a:srgbClr val="0432FF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等价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44F436C-B095-3F39-4E10-0778B6C27A31}"/>
                </a:ext>
              </a:extLst>
            </p:cNvPr>
            <p:cNvSpPr txBox="1"/>
            <p:nvPr/>
          </p:nvSpPr>
          <p:spPr>
            <a:xfrm>
              <a:off x="3777513" y="6184132"/>
              <a:ext cx="1960880" cy="5219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dirty="0">
                  <a:solidFill>
                    <a:srgbClr val="C00000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图灵完备！</a:t>
              </a:r>
            </a:p>
          </p:txBody>
        </p:sp>
      </p:grpSp>
      <p:sp>
        <p:nvSpPr>
          <p:cNvPr id="23" name="Oval 22">
            <a:extLst>
              <a:ext uri="{FF2B5EF4-FFF2-40B4-BE49-F238E27FC236}">
                <a16:creationId xmlns:a16="http://schemas.microsoft.com/office/drawing/2014/main" id="{0BCBD984-D8AD-5A02-3E0E-F1F9BC64167E}"/>
              </a:ext>
            </a:extLst>
          </p:cNvPr>
          <p:cNvSpPr/>
          <p:nvPr/>
        </p:nvSpPr>
        <p:spPr>
          <a:xfrm>
            <a:off x="5582873" y="1827936"/>
            <a:ext cx="3221373" cy="1790925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l"/>
            <a:endParaRPr lang="en-US" sz="1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8D47B18-86F3-87ED-EC10-DF4E11839EC1}"/>
              </a:ext>
            </a:extLst>
          </p:cNvPr>
          <p:cNvCxnSpPr>
            <a:stCxn id="23" idx="0"/>
            <a:endCxn id="23" idx="4"/>
          </p:cNvCxnSpPr>
          <p:nvPr/>
        </p:nvCxnSpPr>
        <p:spPr>
          <a:xfrm>
            <a:off x="7193560" y="1827936"/>
            <a:ext cx="0" cy="179092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1DD15F48-D8FC-3207-B747-0D37B6739445}"/>
              </a:ext>
            </a:extLst>
          </p:cNvPr>
          <p:cNvSpPr txBox="1"/>
          <p:nvPr/>
        </p:nvSpPr>
        <p:spPr>
          <a:xfrm>
            <a:off x="6589954" y="1417346"/>
            <a:ext cx="119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所有问题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2216AAF-6281-BD5C-0665-8F450018FE33}"/>
              </a:ext>
            </a:extLst>
          </p:cNvPr>
          <p:cNvSpPr txBox="1"/>
          <p:nvPr/>
        </p:nvSpPr>
        <p:spPr>
          <a:xfrm>
            <a:off x="5610977" y="2388126"/>
            <a:ext cx="1554480" cy="6756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可计算</a:t>
            </a:r>
            <a:endParaRPr lang="en-US" altLang="zh-CN" sz="2000" dirty="0">
              <a:solidFill>
                <a:schemeClr val="tx1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r>
              <a:rPr lang="zh-CN" altLang="en-US" sz="1800" b="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例：排序问题</a:t>
            </a:r>
            <a:endParaRPr lang="en-US" sz="1800" b="0" dirty="0">
              <a:solidFill>
                <a:schemeClr val="tx1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E7CF597-EE11-AE54-660B-2F3706A1290D}"/>
              </a:ext>
            </a:extLst>
          </p:cNvPr>
          <p:cNvSpPr txBox="1"/>
          <p:nvPr/>
        </p:nvSpPr>
        <p:spPr>
          <a:xfrm>
            <a:off x="7113209" y="2379751"/>
            <a:ext cx="1722306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不可计算</a:t>
            </a:r>
            <a:endParaRPr lang="en-US" altLang="zh-CN" sz="2000" dirty="0">
              <a:solidFill>
                <a:schemeClr val="tx1"/>
              </a:solidFill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r>
              <a:rPr lang="zh-CN" altLang="en-US" sz="1800" b="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例：停机问题*</a:t>
            </a:r>
            <a:endParaRPr lang="en-US" sz="1800" b="0" dirty="0">
              <a:solidFill>
                <a:schemeClr val="tx1"/>
              </a:solidFill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786706-8CEF-81F4-5EF9-A8D1BB1ECB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2741" y="3802610"/>
            <a:ext cx="2504453" cy="2276775"/>
          </a:xfrm>
          <a:prstGeom prst="rect">
            <a:avLst/>
          </a:prstGeom>
        </p:spPr>
      </p:pic>
      <p:pic>
        <p:nvPicPr>
          <p:cNvPr id="46" name="图片 45">
            <a:extLst>
              <a:ext uri="{FF2B5EF4-FFF2-40B4-BE49-F238E27FC236}">
                <a16:creationId xmlns:a16="http://schemas.microsoft.com/office/drawing/2014/main" id="{FDEB7554-6D45-8088-C4E5-18A1C1E69E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4379" y="4248477"/>
            <a:ext cx="4295320" cy="1494390"/>
          </a:xfrm>
          <a:prstGeom prst="rect">
            <a:avLst/>
          </a:prstGeom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6CC06AE-6D6C-062A-7855-252F2A171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t>80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23014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D4B356-9142-3866-6FFB-5135F9CCC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0D82D-952B-91B3-A23C-9948DBD6B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附录：</a:t>
            </a:r>
            <a:r>
              <a:rPr lang="zh-CN" altLang="x-none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编译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 vs 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  <a:cs typeface="黑体" panose="02010609060101010101" pitchFamily="49" charset="-122"/>
              </a:rPr>
              <a:t>解释</a:t>
            </a:r>
            <a:endParaRPr lang="x-none" dirty="0">
              <a:latin typeface="Arial" panose="020B0604020202020204" pitchFamily="34" charset="0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021DA5D-28DA-D715-0F25-DC2F92E9E372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1547328"/>
          <a:ext cx="8093035" cy="3964703"/>
        </p:xfrm>
        <a:graphic>
          <a:graphicData uri="http://schemas.openxmlformats.org/drawingml/2006/table">
            <a:tbl>
              <a:tblPr/>
              <a:tblGrid>
                <a:gridCol w="20009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370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49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90001">
                <a:tc>
                  <a:txBody>
                    <a:bodyPr/>
                    <a:lstStyle/>
                    <a:p>
                      <a:pPr algn="ctr" fontAlgn="ctr"/>
                      <a:endParaRPr lang="en-US" sz="1400" b="1" cap="all"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</a:endParaRPr>
                    </a:p>
                  </a:txBody>
                  <a:tcPr marL="33979" marR="33979" marT="33979" marB="339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D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cap="all"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COMPILER</a:t>
                      </a:r>
                    </a:p>
                  </a:txBody>
                  <a:tcPr marL="33979" marR="33979" marT="33979" marB="339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D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cap="all"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INTERPRETER</a:t>
                      </a:r>
                    </a:p>
                  </a:txBody>
                  <a:tcPr marL="33979" marR="33979" marT="33979" marB="339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D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00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Input</a:t>
                      </a:r>
                    </a:p>
                  </a:txBody>
                  <a:tcPr marL="33979" marR="33979" marT="33979" marB="33979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It takes an entire program at a time.</a:t>
                      </a:r>
                      <a:br>
                        <a:rPr lang="en-US" sz="1400"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</a:br>
                      <a:endParaRPr lang="en-US" sz="1400"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</a:endParaRPr>
                    </a:p>
                  </a:txBody>
                  <a:tcPr marL="33979" marR="33979" marT="33979" marB="33979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It takes a single line of code or instruction at a time.</a:t>
                      </a:r>
                    </a:p>
                  </a:txBody>
                  <a:tcPr marL="33979" marR="33979" marT="33979" marB="33979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00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Output</a:t>
                      </a:r>
                    </a:p>
                  </a:txBody>
                  <a:tcPr marL="33979" marR="33979" marT="33979" marB="33979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It generates intermediate object code.</a:t>
                      </a:r>
                    </a:p>
                  </a:txBody>
                  <a:tcPr marL="33979" marR="33979" marT="33979" marB="33979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It does not produce any intermediate object code.</a:t>
                      </a:r>
                    </a:p>
                  </a:txBody>
                  <a:tcPr marL="33979" marR="33979" marT="33979" marB="33979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200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Working mechanism</a:t>
                      </a:r>
                      <a:br>
                        <a:rPr lang="en-US" sz="1400"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</a:br>
                      <a:endParaRPr lang="en-US" sz="1400"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</a:endParaRPr>
                    </a:p>
                  </a:txBody>
                  <a:tcPr marL="33979" marR="33979" marT="33979" marB="33979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The compilation is done before execution.</a:t>
                      </a:r>
                    </a:p>
                  </a:txBody>
                  <a:tcPr marL="33979" marR="33979" marT="33979" marB="33979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Compilation and execution take place simultaneously.</a:t>
                      </a:r>
                    </a:p>
                  </a:txBody>
                  <a:tcPr marL="33979" marR="33979" marT="33979" marB="33979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3999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Speed</a:t>
                      </a:r>
                    </a:p>
                  </a:txBody>
                  <a:tcPr marL="33979" marR="33979" marT="33979" marB="33979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Comparatively faster</a:t>
                      </a:r>
                    </a:p>
                  </a:txBody>
                  <a:tcPr marL="33979" marR="33979" marT="33979" marB="33979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Slower</a:t>
                      </a:r>
                    </a:p>
                  </a:txBody>
                  <a:tcPr marL="33979" marR="33979" marT="33979" marB="33979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3999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Memory</a:t>
                      </a:r>
                    </a:p>
                  </a:txBody>
                  <a:tcPr marL="33979" marR="33979" marT="33979" marB="33979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Memory requirement is more due to the creation of object code.</a:t>
                      </a:r>
                    </a:p>
                  </a:txBody>
                  <a:tcPr marL="33979" marR="33979" marT="33979" marB="33979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It requires less memory as it does not create intermediate object code.</a:t>
                      </a:r>
                    </a:p>
                  </a:txBody>
                  <a:tcPr marL="33979" marR="33979" marT="33979" marB="33979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200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Errors</a:t>
                      </a:r>
                    </a:p>
                  </a:txBody>
                  <a:tcPr marL="33979" marR="33979" marT="33979" marB="33979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Display all errors after compilation, all at the same time.</a:t>
                      </a:r>
                    </a:p>
                  </a:txBody>
                  <a:tcPr marL="33979" marR="33979" marT="33979" marB="33979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Displays error of each line one by one.</a:t>
                      </a:r>
                    </a:p>
                  </a:txBody>
                  <a:tcPr marL="33979" marR="33979" marT="33979" marB="33979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0001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Error detection</a:t>
                      </a:r>
                    </a:p>
                  </a:txBody>
                  <a:tcPr marL="33979" marR="33979" marT="33979" marB="33979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Difficult </a:t>
                      </a:r>
                    </a:p>
                  </a:txBody>
                  <a:tcPr marL="33979" marR="33979" marT="33979" marB="33979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Easier comparatively </a:t>
                      </a:r>
                    </a:p>
                  </a:txBody>
                  <a:tcPr marL="33979" marR="33979" marT="33979" marB="33979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200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Pertaining Programming languages</a:t>
                      </a:r>
                    </a:p>
                  </a:txBody>
                  <a:tcPr marL="33979" marR="33979" marT="33979" marB="33979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C, C++, C#, Scala, typescript uses compiler.</a:t>
                      </a:r>
                    </a:p>
                  </a:txBody>
                  <a:tcPr marL="33979" marR="33979" marT="33979" marB="33979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PHP, Perl, Python, Ruby uses an interpreter.</a:t>
                      </a:r>
                    </a:p>
                  </a:txBody>
                  <a:tcPr marL="33979" marR="33979" marT="33979" marB="33979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90ACC42B-7CA4-75F8-DFE0-FBE5BB3B4AB1}"/>
              </a:ext>
            </a:extLst>
          </p:cNvPr>
          <p:cNvSpPr/>
          <p:nvPr/>
        </p:nvSpPr>
        <p:spPr>
          <a:xfrm>
            <a:off x="457200" y="6438675"/>
            <a:ext cx="8401792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x-none" sz="1400" b="0">
                <a:solidFill>
                  <a:schemeClr val="tx1"/>
                </a:solidFill>
                <a:latin typeface="+mn-lt"/>
                <a:ea typeface="黑体" panose="02010609060101010101" pitchFamily="49" charset="-122"/>
                <a:cs typeface="Arial" panose="020B0604020202020204" pitchFamily="34" charset="0"/>
              </a:rPr>
              <a:t>https://techdifferences.com/difference-between-compiler-and-interpreter.html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CF5B8048-36B9-72A6-77EA-766D46D42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t>81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0804487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ULLTEXTBEAUTIFYED" val="1"/>
  <p:tag name="COMMONDATA" val="eyJoZGlkIjoiMDIyZjdlOTZjNmEwMDk1ZDkxZjc1OWEzYTJhNTU2NTY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SCORE" val="1.0"/>
  <p:tag name="PROBLEMHASREMARK" val="Fals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MultipleChoic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MultipleChoic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MultipleChoic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heme/theme1.xml><?xml version="1.0" encoding="utf-8"?>
<a:theme xmlns:a="http://schemas.openxmlformats.org/drawingml/2006/main" name="1_默认设计模板">
  <a:themeElements>
    <a:clrScheme name="默认设计模板 13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E70303"/>
      </a:accent1>
      <a:accent2>
        <a:srgbClr val="333399"/>
      </a:accent2>
      <a:accent3>
        <a:srgbClr val="FFFFFF"/>
      </a:accent3>
      <a:accent4>
        <a:srgbClr val="000000"/>
      </a:accent4>
      <a:accent5>
        <a:srgbClr val="F1AAAA"/>
      </a:accent5>
      <a:accent6>
        <a:srgbClr val="2D2D8A"/>
      </a:accent6>
      <a:hlink>
        <a:srgbClr val="009999"/>
      </a:hlink>
      <a:folHlink>
        <a:srgbClr val="99CC00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E7030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F1AAAA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默认设计模板">
  <a:themeElements>
    <a:clrScheme name="默认设计模板 13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E70303"/>
      </a:accent1>
      <a:accent2>
        <a:srgbClr val="333399"/>
      </a:accent2>
      <a:accent3>
        <a:srgbClr val="FFFFFF"/>
      </a:accent3>
      <a:accent4>
        <a:srgbClr val="000000"/>
      </a:accent4>
      <a:accent5>
        <a:srgbClr val="F1AAAA"/>
      </a:accent5>
      <a:accent6>
        <a:srgbClr val="2D2D8A"/>
      </a:accent6>
      <a:hlink>
        <a:srgbClr val="009999"/>
      </a:hlink>
      <a:folHlink>
        <a:srgbClr val="99CC00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E7030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F1AAAA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5314</TotalTime>
  <Words>7549</Words>
  <Application>Microsoft Macintosh PowerPoint</Application>
  <PresentationFormat>全屏显示(4:3)</PresentationFormat>
  <Paragraphs>1691</Paragraphs>
  <Slides>81</Slides>
  <Notes>75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81</vt:i4>
      </vt:variant>
    </vt:vector>
  </HeadingPairs>
  <TitlesOfParts>
    <vt:vector size="95" baseType="lpstr">
      <vt:lpstr>黑体</vt:lpstr>
      <vt:lpstr>黑体</vt:lpstr>
      <vt:lpstr>微软雅黑</vt:lpstr>
      <vt:lpstr>系统字体常规体</vt:lpstr>
      <vt:lpstr>DejaVu Math TeX Gyre</vt:lpstr>
      <vt:lpstr>Arial</vt:lpstr>
      <vt:lpstr>Cambria Math</vt:lpstr>
      <vt:lpstr>Consolas</vt:lpstr>
      <vt:lpstr>Franklin Gothic Medium</vt:lpstr>
      <vt:lpstr>Garamond</vt:lpstr>
      <vt:lpstr>Times New Roman</vt:lpstr>
      <vt:lpstr>Wingdings</vt:lpstr>
      <vt:lpstr>1_默认设计模板</vt:lpstr>
      <vt:lpstr>2_默认设计模板</vt:lpstr>
      <vt:lpstr>PowerPoint 演示文稿</vt:lpstr>
      <vt:lpstr>在时序逻辑之后……</vt:lpstr>
      <vt:lpstr>指令集系统学习目标</vt:lpstr>
      <vt:lpstr>本节课目录</vt:lpstr>
      <vt:lpstr>用数字电路解决实际问题</vt:lpstr>
      <vt:lpstr>解决问题：专用芯片 vs 通用CPU</vt:lpstr>
      <vt:lpstr>一些软件算法实例</vt:lpstr>
      <vt:lpstr>一些软件算法实例</vt:lpstr>
      <vt:lpstr>一些软件算法实例</vt:lpstr>
      <vt:lpstr>一些软件算法实例</vt:lpstr>
      <vt:lpstr>一些软件算法实例</vt:lpstr>
      <vt:lpstr>一些软件算法实例</vt:lpstr>
      <vt:lpstr>一些软件算法实例</vt:lpstr>
      <vt:lpstr>如何支持通用算法</vt:lpstr>
      <vt:lpstr>如何支持通用算法</vt:lpstr>
      <vt:lpstr>如何支持通用算法</vt:lpstr>
      <vt:lpstr>如何支持通用算法</vt:lpstr>
      <vt:lpstr>如何支持通用算法</vt:lpstr>
      <vt:lpstr>如何支持通用算法</vt:lpstr>
      <vt:lpstr>PowerPoint 演示文稿</vt:lpstr>
      <vt:lpstr>如何支持通用算法：CPU有寄存器REG？</vt:lpstr>
      <vt:lpstr>如何支持通用算法：CPU有寄存器REG？</vt:lpstr>
      <vt:lpstr>如何支持通用算法：CPU有寄存器REG？</vt:lpstr>
      <vt:lpstr>如何支持通用算法</vt:lpstr>
      <vt:lpstr>从专用芯片到处理器：总结</vt:lpstr>
      <vt:lpstr>本节课目录</vt:lpstr>
      <vt:lpstr>处理器的演变</vt:lpstr>
      <vt:lpstr>处理器的演变：普林斯顿架构</vt:lpstr>
      <vt:lpstr>处理器的演变：哈佛架构</vt:lpstr>
      <vt:lpstr>本节课目录</vt:lpstr>
      <vt:lpstr>程序执行流程：数据存储格式</vt:lpstr>
      <vt:lpstr>指令集：存储结构</vt:lpstr>
      <vt:lpstr>程序执行流程：汇编语言</vt:lpstr>
      <vt:lpstr>程序执行流程：高级语言</vt:lpstr>
      <vt:lpstr>引言总结</vt:lpstr>
      <vt:lpstr>本节课目录</vt:lpstr>
      <vt:lpstr>指令集：角色</vt:lpstr>
      <vt:lpstr>指令集：角色</vt:lpstr>
      <vt:lpstr>指令集：角色</vt:lpstr>
      <vt:lpstr>本节课目录</vt:lpstr>
      <vt:lpstr>性能评价</vt:lpstr>
      <vt:lpstr>性能评价</vt:lpstr>
      <vt:lpstr>性能评价</vt:lpstr>
      <vt:lpstr>性能评价：例子</vt:lpstr>
      <vt:lpstr>性能评价：例子</vt:lpstr>
      <vt:lpstr>性能评价：例子</vt:lpstr>
      <vt:lpstr>PowerPoint 演示文稿</vt:lpstr>
      <vt:lpstr>答案解析</vt:lpstr>
      <vt:lpstr>影响性能的因素</vt:lpstr>
      <vt:lpstr>影响性能的因素</vt:lpstr>
      <vt:lpstr>影响性能的因素</vt:lpstr>
      <vt:lpstr>影响性能的因素</vt:lpstr>
      <vt:lpstr>影响性能的因素</vt:lpstr>
      <vt:lpstr>影响性能的因素</vt:lpstr>
      <vt:lpstr>影响性能的因素</vt:lpstr>
      <vt:lpstr>影响性能的因素</vt:lpstr>
      <vt:lpstr>影响性能的因素</vt:lpstr>
      <vt:lpstr>本节课目录</vt:lpstr>
      <vt:lpstr>指令集：数据访问</vt:lpstr>
      <vt:lpstr>指令集：寄存器 vs. 存储器</vt:lpstr>
      <vt:lpstr>指令集：寄存器 vs. 存储器</vt:lpstr>
      <vt:lpstr>本节课目录</vt:lpstr>
      <vt:lpstr>指令集设计：RISC vs CISC</vt:lpstr>
      <vt:lpstr>指令集设计：RISC vs CISC</vt:lpstr>
      <vt:lpstr>指令集设计：RISC vs CISC</vt:lpstr>
      <vt:lpstr>指令集设计：示例</vt:lpstr>
      <vt:lpstr>指令集设计：示例</vt:lpstr>
      <vt:lpstr>指令集设计：示例</vt:lpstr>
      <vt:lpstr>指令集设计：示例</vt:lpstr>
      <vt:lpstr>指令集设计：示例</vt:lpstr>
      <vt:lpstr>指令集设计：示例</vt:lpstr>
      <vt:lpstr>指令集设计：示例</vt:lpstr>
      <vt:lpstr>指令集设计：示例（续）</vt:lpstr>
      <vt:lpstr>指令集设计：示例</vt:lpstr>
      <vt:lpstr>总结</vt:lpstr>
      <vt:lpstr>总结</vt:lpstr>
      <vt:lpstr>作业</vt:lpstr>
      <vt:lpstr>附录：图灵机</vt:lpstr>
      <vt:lpstr>附录：图灵机</vt:lpstr>
      <vt:lpstr>附录：可计算性与图灵完备</vt:lpstr>
      <vt:lpstr>附录：编译 vs 解释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Xueqing Li</cp:lastModifiedBy>
  <cp:revision>275</cp:revision>
  <cp:lastPrinted>2113-01-01T00:00:00Z</cp:lastPrinted>
  <dcterms:created xsi:type="dcterms:W3CDTF">2113-01-01T00:00:00Z</dcterms:created>
  <dcterms:modified xsi:type="dcterms:W3CDTF">2024-04-03T01:10:35Z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ICV">
    <vt:lpwstr>A3BE8B43A7734EABB818C75C501C156B_12</vt:lpwstr>
  </property>
  <property fmtid="{D5CDD505-2E9C-101B-9397-08002B2CF9AE}" pid="4" name="KSOProductBuildVer">
    <vt:lpwstr>2052-12.1.0.16412</vt:lpwstr>
  </property>
</Properties>
</file>