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ink/ink2.xml" ContentType="application/inkml+xml"/>
  <Override PartName="/ppt/notesSlides/notesSlide12.xml" ContentType="application/vnd.openxmlformats-officedocument.presentationml.notesSlide+xml"/>
  <Override PartName="/ppt/ink/ink3.xml" ContentType="application/inkml+xml"/>
  <Override PartName="/ppt/notesSlides/notesSlide13.xml" ContentType="application/vnd.openxmlformats-officedocument.presentationml.notesSlide+xml"/>
  <Override PartName="/ppt/ink/ink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7"/>
  </p:notesMasterIdLst>
  <p:sldIdLst>
    <p:sldId id="1564" r:id="rId2"/>
    <p:sldId id="1990" r:id="rId3"/>
    <p:sldId id="1725" r:id="rId4"/>
    <p:sldId id="1670" r:id="rId5"/>
    <p:sldId id="1905" r:id="rId6"/>
    <p:sldId id="1906" r:id="rId7"/>
    <p:sldId id="1783" r:id="rId8"/>
    <p:sldId id="1542" r:id="rId9"/>
    <p:sldId id="654" r:id="rId10"/>
    <p:sldId id="1566" r:id="rId11"/>
    <p:sldId id="653" r:id="rId12"/>
    <p:sldId id="1574" r:id="rId13"/>
    <p:sldId id="1907" r:id="rId14"/>
    <p:sldId id="1576" r:id="rId15"/>
    <p:sldId id="1908" r:id="rId16"/>
    <p:sldId id="1909" r:id="rId17"/>
    <p:sldId id="1579" r:id="rId18"/>
    <p:sldId id="1583" r:id="rId19"/>
    <p:sldId id="1915" r:id="rId20"/>
    <p:sldId id="1680" r:id="rId21"/>
    <p:sldId id="1757" r:id="rId22"/>
    <p:sldId id="1936" r:id="rId23"/>
    <p:sldId id="1754" r:id="rId24"/>
    <p:sldId id="657" r:id="rId25"/>
    <p:sldId id="1910" r:id="rId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FFFF"/>
    <a:srgbClr val="B9D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1BB54-1B83-49E7-8200-FAB5EE4F60B2}" v="15" dt="2022-05-22T10:53:28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13"/>
    <p:restoredTop sz="91429" autoAdjust="0"/>
  </p:normalViewPr>
  <p:slideViewPr>
    <p:cSldViewPr snapToGrid="0">
      <p:cViewPr varScale="1">
        <p:scale>
          <a:sx n="90" d="100"/>
          <a:sy n="90" d="100"/>
        </p:scale>
        <p:origin x="9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8T13:37:50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16087 9196 1180 0,'-2'-3'0'0,"2"3"0"16,-18-4 0-16,18 4 15 0,-7 2 0 0,7-2 1 15,-6-2 0-15,6 2 23 0,-11-9 0 0,11 9 1 16,-2-16 0-16,2 16-10 0,-3-22 2 0,3 22-2 15,-11-24 1-15,11 24 0 0,-4-27 0 0,4 27 1 16,-9-15-1-16,9 15-18 0,-4-7 2 0,4 7 0 16,-5-4-1-16,5 4 4 0,-2-3 0 0,2 3 0 15,-9 0 0-15,9 0 4 0,-6 0 1 0,6 0-1 16,-11 16 2-16,4 6 2 0,-4 5 1 0,9 4-1 16,-3 0 0-16,10 2 6 0,6 3-1 0,0-3 1 0,4 3 0 15,5-3-8-15,4 2-1 0,3-3 1 0,-3-6 1 0,3 1-4 16,3-7 0-16,-5 2 1 0,3-6 0 0,1-5-8 15,-3 0-1-15,1-2 0 0,-1-5 2 0,-1-2-7 16,3-2 0-16,-6-2 0 0,-2 0 1 0,0 0-7 16,-5-1 0-16,5 1 0 0,-4-7 1 0,-1-2-3 15,1-2 1-15,-1 4 0 0,1-2 0 0,-3-5-1 0,-2 3 0 16,0 0 0-16,0-1 1 0,-2-1-1 0,-3 2 1 16,-1-7-1-16,-1 0 1 0,-2-7-1 0,5 0 1 15,0 1 1-15,-5 3-1 0,2 1 0 0,1 2 1 16,-5 5-1-16,-3-5 1 0,-3 6 3 0,-3 1 0 15,0-3 1-15,0 1 0 0,-4-1 3 0,0-1 0 16,-11 1 0-16,2 5 0 0,-5-2 1 0,-6 2 1 16,4-3 0-16,1 3 0 0,1 2 4 0,-4 3 1 0,7-3-2 15,-2-2 2-15,6-3 0 0,-2 1 1 0,0-3-1 16,8 8 1-16,1 1 0 0,4 2 1 0,3 5-1 16,-1-2 1-16,3 2-5 0,-5 0 1 0,2 0-1 15,-4 2 1-15,-2 7-5 0,2 5 1 0,0 1-1 16,0 5 1-16,2 2-7 0,-4 3 2 0</inkml:trace>
  <inkml:trace contextRef="#ctx0" brushRef="#br0" timeOffset="647.71">21605 8709 1695 0,'2'2'0'0,"-2"-2"0"0,6 14 0 0,-6-14 15 15,-6 4 0-15,6-4 0 0,-2 16 1 0,2-16 17 16,2 26 2-16,-2-26 0 0,9 49 0 0,-5-13 4 16,0 6 0-16,-1 0 1 0,-1 9-1 0,0 5-26 15,-2 2 2-15,0 1 0 0,0 4-1 0,-7-10-7 0,-1 9 0 16,-6 0-1-16,-1 5 2 0,-5 2-1 0,-4-3 1 15,0-1 0-15,-1-3-1 0,1-9 7 0,-7 1-1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8T13:35:17.6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22972 9280 375 0,'4'4'0'0,"-4"-4"0"16,0 7 0-16,0-7 45 0,0 16 1 0,0-16-1 16,0 13 1-16,0-13 25 0,14 7 1 0,-14-7 0 15,17 4-1-15,-17-4-49 0,18-2-1 0,-18 2 0 0,40-2 2 16,-16-5-20-16,4 2 2 0,3-3-2 0,0 3 2 15,0 3 5-15,0 2 0 0,2-4 0 0,2-5 1 16,1-2 4-16,3-3 0 0,-1 5 1 0,6-2 0 16,-4 0-1-16,1 0 1 0,-1 2 0 0,0-2 1 15,-5 4-2-15,0 3 2 0,1-7-1 0,-3 6 1 0,0-4 13 16,-2 3 2-16,-3 1-1 0,-1 3 0 0,2 2-7 16,4 0 1-16,-2-2-2 0,2 0 2 0,0 2-9 15,2-5-1-15,-6 5 1 0,-1-4 0 0,-1 2-5 0,-1-1 1 16,3 6 1-16,0 3-1 0,-3 1-2 0,1 4 0 15,-1 2 0-15,3-2 0 0,-10 1-1 0,-1 3 1 16,0 1-1-16,-1 1 2 0,-1 8-4 0,4 2 1 16,-5 4 0-16,-2 2 1 0,-2 7-2 0,0-2 1 15,0 4-2-15,-2 2 2 0,-2 5-1 0,0 0 1 16,-3 4-1-16,5 5 0 0,-5-5 0 0,1 5 1 16,-5 0 0-16,2-5 0 0,-2 5 0 0,0-1-1 0,0 1 1 15,-2-4 0-15,-3-3 3 0,-1-3 2 0,-3-3-1 16,0-1 0-16,2-4 2 0,-4 0 0 0,2-13 1 15,3 0 0-15,1-12 1 0,-1 1 2 0,1-12-1 16,5-2 1-16,-2-2 1 0,2-2 1 0</inkml:trace>
  <inkml:trace contextRef="#ctx0" brushRef="#br0" timeOffset="366.59">23825 10561 1520 0,'3'5'0'0,"-3"-5"0"0,-5 17 0 0,5-17 23 15,-2 25 0-15,2-25 0 0,0 13 0 0,0-13 3 16,7 9 1-16,-7-9 0 0,11 5 0 0,-11-5-16 15,15 0 0-15,-15 0 0 0,35-12 2 0,1 4-12 0,6-1 0 16,-1-5 0-16,4 1 0 0,-4 0-1 0,6-1 0 16,-1 1 0-16,5 0 0 0,4 2-1 0,-2 0 1 15,0-1-1-15,2 1 1 0,-2 0 0 0,-2 2 0 16,-3-2 0-16,-2 5 1 0,-2 1 4 0,-4 3 0 16,2 0 1-16,-4-3-1 0,-3 1 11 0,0 2 0 15,-4 2 0-15,0-5 0 0,4 1 9 0,-2 1 0 0,-4-1-1 16,-5 0 2-16,-8-1 0 0,-1 1 0 0,-2 1 0 15,-4 3-1-15,-7 0-7 0,-2 0 0 0</inkml:trace>
  <inkml:trace contextRef="#ctx0" brushRef="#br0" timeOffset="634.94">23896 11001 1583 0,'7'0'0'0,"-7"0"0"0,11 4 0 16,-11-4 21-16,6 11 1 0,-6-11-1 0,31 3 0 15,0-8 15-15,4 1 1 0,1-7 0 0,5-3 0 16,4 3-15-16,1-2-1 0,2 2 0 0,3-2 2 0,4 1-8 16,-2-5 2-16,2 1-1 0,0 3 1 0,-6-1 1 15,4 1 0-15,-7 2 0 0,0 0 0 0,-1 2-1 16,-4 2 1-16,-3-1 0 0,-7 1 0 0,0-4-5 0,-9 2-1 15,-2 2 0-15,-3 3 2 0,-6 2-10 0,-4 2 2 16,2-3 0-16,-5 3-1 0,-4 0-5 0,0 0 0 16</inkml:trace>
  <inkml:trace contextRef="#ctx0" brushRef="#br0" timeOffset="818.3">24586 10985 1394 0,'-6'9'0'16,"6"-9"0"-16,-16 27 0 0,16-27 14 0,-2 22-1 0,2-22 1 15,-11 31-1-15,11-31 13 0,-18 42 0 0,7-19 0 16,0 1-1-16,2 7 19 0,-4-2 1 0,0 4-1 16,-3 1 1-16,-1-1-14 0,4 2 1 0,-3-1-1 15,3-1 0-15,2 0 2 0,-2 1 0 0,-1-3-1 16,6-2 2-16,-3-5-10 0,6-4 1 0,1-4 0 16,2-5 1-16,-1-5-10 0,3-3 1 0</inkml:trace>
  <inkml:trace contextRef="#ctx0" brushRef="#br0" timeOffset="1167.17">24088 11618 1557 0,'2'5'0'0,"0"1"0"0,0 1 0 0,5 0 26 16,-3 2 0-16,5-3 0 0,-4-6 0 15,6 2 16-15,-2-2 1 0,2-2-1 0,2 2 1 0,2 0-16 16,3 0 1-16,2-4-1 0,2-1 1 0,0 1-21 15,0 2 0-15,0-9 1 0,-2 6 0 0,-3-4-6 16,-1 3 2-16,-3-1-2 0,0 2 1 0,5-3-1 0,-3 1-1 16,1 2 0-16,-1 5 1 0,1 5-1 0,-1-5 0 15,-2 2 0-15,3 0 1 0,-7 3-1 0,2 1 0 16,0-1 0-16,-5 6 1 0,-1 0-2 0,-3 5 0 16,5-1 0-16,-3 5 1 0,-2 7-1 0,3 4 0 15,-5 2 0-15,-5-6 0 0,1 0 0 0,-1-1 0 0,1 1 0 16,-3-3 0-16,-4-2 0 0,0 1 0 0,0-3 0 15,-2-3 0-15,-5-3 2 0,-2 1 1 0,-2-1-1 16,3-1 1-16,-6-2 5 0,8-4 1 0,-5-3-1 16,0 1 1-16,0-3 11 0,4-2 2 0,-4-7-2 15,2-2 1-15,0-4 4 0,0-7 1 0,5-2-1 16,-5-5 1-16,5-4-7 0,-3-9 1 0</inkml:trace>
  <inkml:trace contextRef="#ctx0" brushRef="#br0" timeOffset="1984.2">15575 10017 1105 0,'-13'0'0'0,"13"0"0"0,-13 16 0 0,13-16 37 16,4 26 0-16,-4-26 0 0,-4 20 0 0,4-20-15 15,-16 0 1-15,16 0-1 0,-15-4 1 0,15 4-28 16,-11 0 1-16,11 0-1 0,-9-5 1 0,9 5-80 16,-4-4 1-16,4 4-2 0,-5-4 2 0,5 4-34 15,9-7 0-15,-9 7 0 0,20-18 0 0,0 5 79 16,4-3 1-16,9 1 0 0,2 1 0 0,1 6 13 0,3-4-1 16,3-3 0-16,5 4 2 0,-3 0 20 0,9 0 2 15,-3 2 0-15,-1-2 0 0,2 0 5 0,-1 2 1 16,1 0-1-16,-9 2 2 0,2 3 2 0,-7 1 0 0,3-1 0 15,-2 4 1-15,4 4 1 0,-1-1 0 0,-5 1 0 16,-1 3 0-16,0 6-4 0,3-2-1 0,-7 0 1 16,-3 3 1-16,-1-1-5 0,-10-2 0 0,1 7 0 15,4 4 1-15,-2-2-1 0,-5 4 1 0,-4 3 0 16,0 2 1-16,3 2 0 0,-3 2 2 0,-7 3 0 16,1 2-1-16,-3 4 23 0,0-4 1 0,2-1-1 15,-4-1 2-15,0-5 17 0,5-2 0 0,-3-3 0 16,2-1 1-16,3-7-2 0,-5-5 0 0,0-2 0 15,-2-4 0-15,-2-3-9 0,0 1 0 0</inkml:trace>
  <inkml:trace contextRef="#ctx0" brushRef="#br0" timeOffset="2250.4">16343 10663 1004 0,'4'0'0'0,"-4"0"0"0,9-2 0 0,-9 2 5 16,9 0 1-16,-9 0 0 0,11 0 0 0,-11 0 10 16,9 0 1-16,-9 0-1 0,28-6 1 0,-4 1 0 0,3 1 1 15,6-3 0-15,2-2 0 0,5-2 0 0,2 2 0 16,0-4 0-16,0-1 1 0,-3 1 7 0,8 0 1 16,-8 2-1-16,6-7 1 0,-1 2-6 0,-5 1 0 15,3-1 1-15,-6 1 0 0,-3-1-3 0,0 1 0 16,-2-1 0-16,-1 1 0 0,-5 3-4 0,-3-3 1 15,0 4-1-15,2 2 1 0,-4 2-5 0,-5 1 1 16,1 1-1-16,-12 5 1 0,1 0-5 0,-5 2 1 0</inkml:trace>
  <inkml:trace contextRef="#ctx0" brushRef="#br0" timeOffset="2517.34">16307 11019 1168 0,'11'2'0'0,"-11"-2"0"16,22 4 0-16,-22-4 14 0,20 11 1 0,-20-11-1 0,36 0 2 15,-10-6 18-15,3-3 1 0,8 0-1 0,-1-2 1 16,10-2 2-16,-2-3 0 0,2 3 0 0,-2 2 1 16,5-3-22-16,-3 1 0 0,0 2 0 0,-6 4 0 0,2 3-1 15,-7-7 1-15,1 2-2 0,1-2 2 16,3-5-1-16,-5 1 0 0,3-1 1 0,1 1 0 0,-8 1-5 15,4 3 1-15,-4 2 1 0,-6-2-1 0,-6-2-5 16,3 4-1-16,-10 4 1 0,-4 3 0 0,-1 2-4 16,-3 2 1-16,-4 3-1 0,3-3 0 0,-1 3-1 15,0-5-1-15</inkml:trace>
  <inkml:trace contextRef="#ctx0" brushRef="#br0" timeOffset="2734.38">17137 11005 1155 0,'4'7'0'16,"-4"6"0"-16,0-2 0 0,-4-4 15 0,-1 2 0 0,3-2-1 16,2 2 1-16,0 2 16 0,2 0 1 0,3-2-1 15,-5-3 2-15,0 1-9 0,0-3 2 0,0 5 0 16,0 2 0-16,0 5-14 0,0 4 1 0,0 4 0 16,0 3 0-16,0 4-3 0,0 5 0 0,4-12 1 15,0 0 0-15,3 1-2 0,-3-7 0 0,-1-1 0 16,-1 1 1-16,4-11-2 0,-1 2 0 0,-5-7-1 15,0 0 1-15,4 0-3 0,-2 1 0 0</inkml:trace>
  <inkml:trace contextRef="#ctx0" brushRef="#br0" timeOffset="3150.85">16848 11476 1143 0,'13'0'0'0,"-13"0"0"0,22 5 0 0,-22-5 16 16,18 0-1-16,-18 0 1 0,26-5 0 0,-26 5 10 16,38-9 1-16,-16 5 0 0,0-1-1 0,-2 1-19 0,-3-1 1 15,1 3 0-15,2-4 0 0,2-1-8 0,-2 0 0 16,-3 1 0-16,5-5 0 0,0 2-2 0,0-2-1 16,3-1 1-16,-3-1 0 0,6 2-2 0,-8-2 1 15,4 4 0-15,-2-2 0 0,-6 4-4 0,2 0 0 16,-1 5-1-16,-6-2 1 0,-6 4-4 0,-1 4 1 15,-2-2 0-15,3 1 0 0,-1-1-3 0,-2 0 2 16,1 5-1-16,-3 8 1 0,0 1 4 0,0 6 1 0,0 9 0 16,0-2 0-16,-5 4 3 0,-6 3-1 0,2-1 1 15,-2 1 1-15,-4-5 0 0,2 0 2 0,-1-2-1 16,5 2 1-16,-4 2 1 0,2 3 1 0,0-3-1 16,0-2 1-16,-2-4 11 0,0-1 1 0,-1-1-1 15,3-1 1-15,-4-1 9 0,-5-3 2 0,-2-3-1 16,7-1 0-16,-5-1 4 0,7 1 0 0,-7-5 0 15,0-7 1-15,0-1-1 0,2-3 0 0,1-5 0 16,4-1 1-16,-3-6-2 0,1-3 1 0,1-7-1 16,-1-3 1-16,4-8 4 0,-2-5 2 0,6-2 0 0,3-2-1 15,4 0-10-15,6-3-1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7T13:23:51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16671 11643 150 0,'0'0'0'0,"0"0"0"16,-4 15 0-16,4-15-3 0,-5 14 0 0,5-14 1 16,-6 13 0-16,6-13 0 0,0 4-1 0,0-4 1 15,-5 5 0-15,5-5 0 0,0 0-1 0,0 0 1 16,0 0 0-16,0 0 0 0,0 0-1 0,0 0 1 15,-6 0 0-15,6 0 0 0,-5 0-1 0,5 0 1 0,-4 0 1 16,4 0-1-16,0 0 1 0,0 0-2 0,2-2 2 16,-2 2 11-16,7 0 0 0,-7 0 1 0,11-5 0 15,-11 5 47-15,22-2 0 0,-22 2 1 0,31-7 0 0,-31 7 6 16,35-4 2-16,-35 4-1 0,35-2 0 16,-35 2-13-16,33 0 1 0,-33 0-2 0,42 0 2 0,-20-3-12 15,3 3-1-15,1-4 1 0,-4-1 0 0,2 3-10 16,1-4-1-16,1 1 1 0,-2 1-1 0,3 4-3 0,-3-7 1 15,-2 3 1-15,0-1-1 0,0 5-6 0,0-4 1 16,-4-1-1-16,-3 3 2 0,3-5-9 0,-3 3 1 16,1 2-2-16,-1 2 2 0,-6 0-3 0,2 0-1 15,0 0 1-15,0 0-1 0,0 0-2 0,2 0 1 16,-4 0-1-16,2-3 1 0,0 3-3 0,5 0 0 16,-7 0 0-16,2 0 1 0,-7 0-3 0,3 0 0 0,-1 3-1 15,1 1 2-15,0 1-1 0,-1-1 0 0,1-2-1 16,-1 7 2-16,1-2-2 0,2 2 1 0,2-3-2 15,-9 5 2-15,5 3-1 0,-5 1-1 0,2 3 1 16,-4 2 0-16,5 7 0 0,-5-3 0 0,-5 3-1 16,1-3 1-16,2 1 0 0,-1 1 0 0,-1-1 0 15,4 8 1-15,-2-4-2 0,-3 0 1 0,1 2-1 16,2 0 2-16,0 2-1 0,-1-4 1 0,-1 0-1 16,0-2 1-16,1-1 0 0,-3 1-1 0,4 0 1 15,-1-3 1-15,3 0-1 0,0 1 1 0,-2-5-1 16,0-2 1-16,2-5 0 0,0-4 0 0,0-5 0 0,0 1 1 15,0-1-4-15,0-2 2 0</inkml:trace>
  <inkml:trace contextRef="#ctx0" brushRef="#br0" timeOffset="367.2">17064 12604 1293 0,'6'2'0'16,"-6"-2"0"-16,7 7 0 0,-7-7 15 0,4 7 1 15,-4-7-2-15,11 4 2 0,-11-4 14 0,20 0 1 0,-20 0-1 16,40-9 0-16,-20 3-17 0,4-3-1 0,0-2 0 15,9-3 2-15,-2-1-12 0,0-3 1 0,4 0 0 16,-4 0 0-16,5 1-2 0,1-1 0 0,3-2 0 16,-5 2 2-16,5 0-2 0,2 5 0 0,0-2 0 15,0 1 1-15,-5 1 7 0,5 0 0 0,-7 1 0 16,7 6 1-16,-11-5 4 0,0 0-1 0,-5 6 1 16,1 5-1-16,-5-4 2 0,-5 2-1 0,-3 2 1 15,-3 0 0-15,-9 0-1 0,0 0-1 0,-2 2 1 16,0 2 0-16,0 1-8 0,0-5 0 0</inkml:trace>
  <inkml:trace contextRef="#ctx0" brushRef="#br0" timeOffset="684.01">17156 12926 1067 0,'5'0'0'15,"-5"0"0"-15,17-4 0 0,-17 4 6 0,25-2 1 16,-25 2 0-16,35-7 1 0,-13 5 2 0,5-1 0 16,1-1 0-16,-1 0 1 0,1-3-7 0,3-2 0 15,-4 2 1-15,1-4-1 0,1 5-4 0,0-1 0 16,2 0 0-16,-7 1 1 0,7-3 3 0,-3 0 0 0,5 2-1 15,-2 0 2-15,-4-1 14 0,-1 1 0 0,-1-2 0 16,-3 5 0-16,0 1 10 0,-3 1 2 0,4 0-1 16,-12 0 0-16,-5 0-3 0,-1 2 1 0,-1 0-1 15,-4 0 1-15,4 0-7 0,-4 0-1 0</inkml:trace>
  <inkml:trace contextRef="#ctx0" brushRef="#br0" timeOffset="883.14">17712 12962 752 0,'-2'15'0'0,"0"-4"0"0,-5-4 0 16,7-3 3-16,0 1-1 0,-4 2 0 0,-1 1 0 16,5 6 3-16,-4 1-1 0,-3 3 1 0,3-2 1 15,-1-1-3-15,-1 3 1 0,-3-3 1 0,0 5-1 16,3 3 10-16,-1 3 0 0,-2-6 1 0,0 2 0 0,3 1 12 16,-3-3-1-16,0 0 1 0,2-3 0 0,3-1 10 15,2-5 2-15,2-2-1 0,-5-5 0 0,5 3-2 16,-6-3 1-16,6 1-1 0,-2 2 1 0,2-5-11 15,0 2-1-15</inkml:trace>
  <inkml:trace contextRef="#ctx0" brushRef="#br0" timeOffset="1333.14">17366 13490 954 0,'4'5'0'16,"-1"-5"0"-16,-1 2 0 0,0 0 18 0,2-2 2 0,-4 0-3 15,3-2 3-15,1 0 18 0,0 2 1 0,5-5 0 16,-4 1 1-16,6-1-9 0,-5-1 1 0,8-1 1 16,3-6 0-16,7 2-18 0,3-3 2 0,-1 1-1 15,-1 2 1-15,-6 4-5 0,-3-2 0 0,-5 3 1 16,2-1 0-16,0 0-3 0,1 1 1 0,-6-1 1 16,3 3-1-16,5 4-4 0,-5-3 1 0,0-1-1 15,-2-1 1-15,2 5-2 0,0-4-1 0,-5 2 1 16,3 0 1-16,-4-1-3 0,-1 3 1 0,0 0-1 15,-1 0 1-15,6 0-4 0,-9 3 1 0,0 5-1 0,0-1 1 16,4 2-2-16,-4-2 2 0,0 8-2 0,0 7 1 16,-9 5-1-16,0 4 1 0,3 0 0 0,-1 0 0 15,0 0-1-15,1-4 1 0,-1 2 0 0,1 0 0 16,-1-3 1-16,-2-1 0 0,7-1 0 0,-5 1 0 16,3-3 1-16,-7 0-1 0,6-2 0 0,-6-2 1 15,3-3 1-15,1-1-1 0,3-3 1 0,-5-2 0 0,2-3 2 16,-2 1-1-16,5-3 1 0,-3 1-1 0,1-1 2 15,-3-1 1-15,-2 1 0 0,0-4 0 0,2 0 10 16,-6 0 0-16,4-7 0 0,-5 3 0 0,-2-9 7 16,3-1 2-16,2-1-1 0,0-1 1 0,2-6 2 0,0 2 2 15,2-7-2-15,2 1 1 0,3-3-6 0,4 0-1 16,0-9 1-16,0 0 0 0,4-6-6 0,7-3 0 16</inkml:trace>
  <inkml:trace contextRef="#ctx0" brushRef="#br0" timeOffset="1916.93">18879 12253 1407 0,'0'-6'0'0,"0"6"0"0,-2-11 0 0,2 11 21 0,0 0 0 15,0 0 1-15,-14-12-1 0,14 12 19 0,-26-26 1 16,26 26-1-16,-27-29 1 0,27 29-18 0,-35-16 2 16,35 16 0-16,-31-20-1 0,31 20-15 0,-39-22 0 15,39 22 0-15,-42-13 1 0,17 13-1 0,1 0 1 16,0 0-1-16,0 2 1 0,-7 5 2 0,2 4 0 15,3-4 0-15,-1 1 1 0,1 4 4 0,1 3 0 0,-3 3 0 16,1 0 1-16,1-1 4 0,-1 3 0 0,-1 0-1 16,3 7 2-16,1 6-3 0,4 1 1 0,1 1 1 15,-6 1-1-15,5 1 0 0,3 6 2 0,-1-1-2 16,3-4 1-16,1 2-6 0,1-1 0 0,2 1 0 16,2-2-1-16,5 2 0 0,2 0 0 0,4-2-1 15,2-5 1-15,5-4-4 0,0-2 0 0,4-5 0 16,3-2 1-16,-1-5-2 0,7-3 0 0,0-4 0 15,2-1 0-15,3 0-3 0,-3-3 1 0,7-2-1 16,-2-2 1-16,-1-2-2 0,3-2 1 0,-4-3-1 16,1 0 1-16,3-4-5 0,-6-4 1 0</inkml:trace>
  <inkml:trace contextRef="#ctx0" brushRef="#br0" timeOffset="2299.77">18859 12846 1419 0,'0'0'0'15,"0"0"0"-15,0 5 0 0,0-5 15 0,-7 11 0 16,7-11 1-16,-6 6 0 0,6-6 8 0,-9 5 1 0,9-5 0 16,-7 4 0-16,7-4-10 0,-2 5 1 0,2-5 0 15,-2 4 1-15,2-4-15 0,-11 2 1 0,11-2 0 16,-11 5 1-16,11-5-3 0,-22 13 0 0,22-13 0 16,-22 31 0-16,8-6 0 0,8 1 1 0,-3-1-1 15,0 4 0-15,3 2 1 0,-1-5 1 0,-4 5 1 16,0 3-1-16,7 1 7 0,-5-4 1 0,2 0 1 15,3 1-1-15,-5-4 4 0,4 1-1 0,3-2 1 16,-2 0-1-16,-1-1-1 0,1-1 0 0,2-5-1 16,2 0 2-16,-5-9-5 0,5 0 1 0,0-2-1 15,0-5 1-15,0 3-4 0,0-7-1 0</inkml:trace>
  <inkml:trace contextRef="#ctx0" brushRef="#br0" timeOffset="2617.03">18978 12777 1344 0,'18'-8'0'0,"-18"8"0"0,28-14 0 0,-28 14 14 0,31-4 1 16,-31 4 0-16,31-11 0 0,-31 11 13 0,38-23 2 16,-38 23-1-16,39-15 0 0,-39 15-7 0,38-5 1 15,-38 5-1-15,33 0 2 0,-33 0-16 0,24 0 1 16,-24 0 0-16,24 12 0 0,-24-12-4 15,29 24 2-15,-29-24-1 0,22 33 0 0,-22-33 8 0,22 29 0 16,-22-29 0-16,9 31 0 0,-9-31 3 0,-7 31 1 0,7-31 0 16,-22 43 0-16,7-17 1 0,-5 3 0 15,-4-2 0-15,-1-3 0 0,1 1 1 0,-4-5-1 0,-8 2 0 16,-1 0 1-16,-1-2 0 0,-4-2 0 0,0-3 0 16,-4-1 2-16,-5-1-3 0,3 0 0 0,-1-2 0 15,3-8 1-15,2-3-7 0,2-3 0 0,0-1-1 16,7-3 2-16,0-4-7 0,4-2-1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8176" units="cm"/>
          <inkml:channel name="Y" type="integer" max="12032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637.75439" units="1/cm"/>
          <inkml:channelProperty channel="Y" name="resolution" value="633.2631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28T13:41:47.2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6432 7479 12 0,'9'7'0'0,"-9"-7"0"15,31 17 0-15,-31-17 29 0,41 29 0 0,-21-15 0 16,2 3 1-16,3 1 30 0,-3 2 2 0,2-4-2 16,-4 2 2-16,2 1 6 0,2 1 0 0,0 3-1 15,1-6 2-15,8 3-5 0,-7 0 0 0,5 3 0 16,0 3 0-16,9 1-24 0,-5 0 2 0,7-3-1 0,2 7 1 15,2-2-10-15,-2 2 1 0,9 0-1 16,0 0 1-16,2 3-4 0,0 1 0 0,3 1 0 0,-3-3 2 16,11 2-4-16,0 3 1 0,0 0-1 0,7 2 1 0,-2 2 9 15,2 7 0-15,2-2 0 0,2 1 1 0,9 1-1 16,6 2 0-16,5 0 0 0,0 3 0 0,0-1-5 16,5-4 1-16,2 6 0 0,4 5-1 0,2-2-15 15,0 4 1-15,5 3-1 0,4-8 1 0,7 3-3 0,2 3 1 16,-3-1 0-16,8 7 0 0,-1-1-3 0,0 1 2 15,0-7-2-15,10 5 2 0,-8 0-2 0,-2-1 1 16,5 1-1-16,-2-1 1 0,1 8-1 0,1-1 0 16,0-2 1-16,-3-2-1 0,-1-2 6 0,-1 1 1 15,-4 1-1-15,4 0 1 0,-2 0 0 0,-2-7 1 16,5 7 1-16,-3 0-1 0,-2 0-1 0,-3 2 0 16,6-5 1-16,-8-1 0 0,-4-3 0 0,2-2 1 15,-2 0-1-15,3-3 0 0,-8 8-2 0,-1-5 1 0,-1 0 1 16,1 0-1-16,-9-3-3 0,4-3 1 0,-5 4-2 15,5-1 2-15,-4 1-2 0,-3 0 0 0,1-3 0 16,-12-4 0-16,5-4-1 0,-2 0 0 0,-3-3-1 16,-8-2 2-16,-5-2-4 0,-2-2 2 0,-5 0-2 15,3-1 1-15,-7-1-1 0,-4-3 0 0,-2 3-1 16,-3-3 2-16,-11-2-4 0,-8-4 1 0,-3-3-1 16,-4-2 1-16,-2-4-2 0,-9 0-1 0,-3-5 1 15,-1-2 0-15,-5-4 0 0,0 0 0 0,-5-5 0 0,1 0 0 16,-3 0-4-16,-4 1 2 0</inkml:trace>
  <inkml:trace contextRef="#ctx0" brushRef="#br0" timeOffset="782.95">10671 9806 1168 0,'-11'11'0'16,"11"-11"0"-16,-18 31 0 0,18-31 28 0,-2 27 1 0,2-27-1 15,-7 44 1-15,-4-10 6 0,-4 6 1 0,-5 6-1 16,-5 5 1-16,-5 9-4 0,-1 5 2 0,-11 1-2 16,-2 3 2-16,-7 0-17 0,-2 4 0 0,-9 5-1 15,1 2 2-15,-6 11-2 0,1 5 0 0,-11 8 0 16,-7 0-1-16,-8 14 0 0,-5-3-1 0,-7-1 1 16,-4 10 0-16,-2 3 3 0,-7-7 1 0,2 2-1 15,5 0 1-15,2 4 4 0,-5 3 1 0,12-11-1 16,4 0 2-16,4-10 4 0,7-1 0 0,7-5 1 15,4-2 0-15,4-4-2 0,5-8 1 0,11-10 0 0,9-9 0 16,8-7-11-16,7-11 0 0</inkml:trace>
  <inkml:trace contextRef="#ctx0" brushRef="#br0" timeOffset="1032.25">9830 12431 1746 0,'22'42'0'0,"-2"0"0"0,-9-8 0 0,-4-5 28 0,-1-7 1 15,1 18-1-15,-3 9 1 0,8 24 35 0,-6 16 0 16,3 6 0-16,-9 5 1 0,-4 18-14 0,-1 8 0 16,-1 10 0-16,-10 17 0 0,-4 0-26 0,-2 12 0 15,-2-3-1-15,-3-5 1 0,-3-1-6 0,-6-3 0 16,5-9 0-16,1-13 0 0,5-9-4 0,-1-4 1 0,6-18-2 15,-2-4 2-15,13-19-4 0,-6-3 1 0,10-12-1 16,5-9 1-16,0-13-2 0,9-13-1 0</inkml:trace>
  <inkml:trace contextRef="#ctx0" brushRef="#br0" timeOffset="1300.93">10602 12349 1972 0,'44'46'0'0,"-2"-1"0"0,-11-7 0 16,0-3 41-16,-2-2 0 0,10 14 1 0,10 11-1 0,8 15 25 16,14 16 2-16,-14 2-2 0,0 2 1 0,-6-2-28 15,-2 5-1-15,-3-3 0 0,-9-9 0 0,-1-1-23 16,-8-6 0-16,-3-1 0 0,3-3 1 0,-8-6-6 15,-4-5 0-15,-5-2 0 0,-3-7 0 0,3-2-3 16,-6-2 1-16,-1-7-1 0,-4 0 1 0,0-2-2 0,-2-4-1 16</inkml:trace>
  <inkml:trace contextRef="#ctx0" brushRef="#br0" timeOffset="2150.73">17851 10814 1206 0,'11'0'0'16,"-11"0"0"-16,35 5 0 0,-35-5 19 0,36 0 0 15,-5 0 0-15,6 2 0 0,18 7 80 0,9-2 1 0,9 1-1 16,0 4 0-16,11-6-32 0,10 5 0 0,1 0 0 16,0-2 1-16,0-2-39 0,2-3 0 0,0 1 0 15,-9-1 1-15,-4-4-3 0,4-4 0 0,-15 4 0 16,2 4 1-16,-11-4-7 0,0 3-1 0,-18-1 0 15,-4 0 1-15,-13 2-17 0,-12-4-1 0,-14 7 0 16,-12 2 2-16,-13 7-5 0,-11-5 0 0,-14 6 0 16,-14 3 0-16,-28 5-5 0,-6 1 1 0,-13 3-1 0,-13 2 2 15,-18 7-13-15,-17 4 1 0,-10 9-1 0,-6 7 1 16,5 2-22-16,1 7 1 0,-4 6 0 0,9 7 1 16,7 0-9-16,2 9 1 0,8-3 0 0,12 3 1 0,11 0 18 15,6 6 1-15,23-10-1 0,12-7 1 0,23-16 7 16,11 2 1-16,15-15 0 0,11-2 0 0,20-16 15 15,9-11 0-15,19-9 0 0,16-9 1 0,16-9 13 16,15-6 0-16,11-7 0 0,11-11 0 0,20-11 18 16,15-9-1-16,9 0 0 0,9 2 2 0,7 2 3 15,-1 3 0-15,-6 13 0 0,-6 4 1 0,-12 11-8 0,-6 8 1 16,-9 12 1-16,-11 9-1 0,-16 10-8 0,-6 8 1 16,-14 6-1-16,-10 6 2 0,-16 3-6 0,-9 5 1 15,-11 5 0-15,-17-5 0 0,-9 4-5 0,-14 1 1 16,-8-7 0-16,-7-5 0 0,-15 1-2 0,-9-3-1 15,-2-5 0-15,-1-3 2 0,-6-3-6 0,3 0 0 16</inkml:trace>
  <inkml:trace contextRef="#ctx0" brushRef="#br0" timeOffset="2522.05">17754 11685 1758 0,'-7'84'0'0,"1"5"0"16,1-9 0-16,1-27 37 0,-3-11 0 0,5 10 0 15,2 12 1-15,-6 20 14 0,1 12-1 0,7-16 1 0,7-11 0 16,0-23-41-16,4-12 0 0,7-17 0 16,4-10 1-16,3-16-12 0,8-9 0 0,0-8 0 0,3-5 0 15,4-9-6-15,6-5 0 0,3-8 1 0,0 2-1 0,2-7-21 16,2-2 1-16,0-2-1 0,-4 0 2 0,-7 2-20 15,-5 2 0-15,-8 9 0 0,-4 12 1 0,-12 17-5 16,-8 11-1-16,-9 20 1 0,-7 13 1 0,-11 21 3 16,-4 15 0-16,-12 11 0 0,-3 17 0 0,-3 17 14 15,-13 12-1-15,-5 26 1 0,1 14 0 0,-8 16 16 0,-3 18 2 16,2 9-2-16,-1 7 2 0,3 8 11 0,-5 7 2 16,23-15 0-16,6-14 0 0,13-18 15 0,9-8 0 15,16-32-1-15,11-17 1 0,10-29 35 0,16-20 2 16,5-16-1-16,-3-4 1 0,16-11 13 0,-3-7 0 15,12-16 0-15,-3-13 2 0,5-13-14 0,6-15 1 0</inkml:trace>
  <inkml:trace contextRef="#ctx0" brushRef="#br0" timeOffset="2866.7">18888 13268 1369 0,'-42'69'0'0,"6"-14"0"16,10-10 0-16,6-5 38 0,2-5 0 0,1 14 0 15,-18 16 0-15,-21 19 22 0,-3 14 0 0,-5 4 1 16,-9 4-1-16,-6 6-37 0,-5 3-1 0,-2-2 1 16,0-4-1-16,0-2-18 0,0-3 0 0,-2-20 1 15,-5-10-1-15,-2-14-5 0,-2-12 1 0,7-19-1 16,4-13 1-16,4-18-15 0,-2-12 1 0,12-12-1 0,1-12 2 16,7-13-27-16,5-14 2 0,12-3-1 0,10-10 1 15,8-6-12-15,9-10 2 0,11 8 0 0,18-8 0 0,11 6 25 16,15 1 2-16,9 9-2 0,25 3 2 0,19-1 18 15,18 5-1-15,15 0 1 0,18-2 1 0,20 0 2 16,13-1 0-16,18 5 0 0,10 1 1 0,10 10 6 16,13-4-1-16,-1 2 1 0,1 2 0 0,4-6 8 15,5 1 1-15,-12 6 0 0,-8 1 1 0,-5 5 6 0,-8 4 2 16,-16 1 0-16,-11 1-1 0,-16 3 7 0,-6 7-1 16,-17-3 0-16,-10 0 1 0,-26 3-21 0,-2-1 0 15,-11 3 0-15,-14 4 0 0,-8 0-9 0,-11 2 0 16</inkml:trace>
  <inkml:trace contextRef="#ctx0" brushRef="#br0" timeOffset="3117.79">20861 11687 1206 0,'-17'27'0'0,"-3"4"0"16,7-5 0-16,4-1 2 0,9-5 1 0,-9 11 1 15,2 9-1-15,-6 13 1 0,-2 7-1 0,2 16 0 16,1 1 1-16,4 17 4 0,1 6 0 0,3 11 1 15,1 13 0-15,3 23 3 0,5 17 0 0,-3 5 0 16,5 2 1-16,-3 0 4 0,7 4-1 0,-6-6 1 16,-3 0 1-16,-4-12 8 0,-3 3 0 0,-2-7 0 15,-1 1-1-15,-3-6 7 0,-3-6-1 0,-1-11 1 16,0-11 0-16,-1-9-4 0,1-11 0 0,-3-15 0 0,-2-14 0 16,0-9-10-16,0-11 1 0,-4-9 1 0,0-4-1 15,-7-14-10-15,-2-6 1 0</inkml:trace>
  <inkml:trace contextRef="#ctx0" brushRef="#br0" timeOffset="3533.77">19790 13859 1206 0,'-5'-42'0'0,"-4"4"0"0,1 9 0 0,5 11 12 15,-1 7 2-15,0-2-1 0,4-5 1 0,4-4 5 16,0-7 0-16,-1 11 0 0,-3 3 1 0,4 8-3 16,-2 5 0-16,0 4 0 0,3 2 0 0,4 3-8 0,2 4 2 15,4 0-1-15,5 5 0 0,6 8 3 0,-1 1 2 16,-3 4-1-16,-7-3 1 0,-6 1 11 0,-7 0 0 15,-6-1-1-15,-3-4 1 0,-4 1 0 0,-4 1 0 16,-1-6 0-16,-1 0-1 0,6-1-4 0,-3-1-1 16,6-1 0-16,3-8 0 0,5-3-5 0,5-6-1 15,10-2 1-15,9-5 0 0,11-4-5 0,12-3 1 0,6-4 0 16,8-4 0-16,12-7-6 0,7-5-1 0,3 1 1 16,6-5 0-16,3 2-2 0,5 2 0 0,0-1-1 15,-2-1 2-15,-11 2-4 0,-2 3 1 0,-5 2 0 16,-4 2 0-16,-7 5-1 0,-2 1 0 0,-7 8 0 15,-15 1 1-15,-7 12-1 0,-8 2 0 0,-12 7 0 16,-8 6 0-16,-10 9 0 0,-8 7 0 0,-11 7 0 16,-4 6 0-16,-14 11 0 0,-4 5 1 0,-9 2 0 15,0 4 1-15,-6 7-1 0,-1 3 1 0,9-3 0 16,5-9 0-16,6-4 7 0,14-5 1 0,4-9 1 0,13-8-1 16,9-12 8-16,13-10 1 0,9-12 0 0,9-7 0 15,5-8 6-15,10-7 0 0,0-6 1 0,7-12 0 0,7-9-5 16,6-6 2-16,0-5-1 0,-2-6 1 0,4-5-11 15,3-2 1-15,-3-5 0 0,-2-1 0 0,1-12-10 16,-8-4-1-16</inkml:trace>
  <inkml:trace contextRef="#ctx0" brushRef="#br0" timeOffset="3683.53">22021 11889 1255 0,'0'-44'0'0,"0"-1"0"0,0 10 0 0,-6 17 6 16,-1 14 1-16,1-1-2 0,-1-2 2 0,3-4 6 15,-8-2 1-15,10 6-1 0,0 3 2 0,0 8 3 0,0 1 0 16,2 13 0-16,-5 8 0 0,3 14-7 0,0 11 0 15,4 7 0-15,5 9 2 0,1 6-1 0,8 7 0 16,4 9 1-16,4 2 0 0,14 4-4 0,3 5 0 16,10-4 0-16,11-10 1 0,6-6 1 0,7-7 1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ea typeface="SimHe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fld id="{98FE6102-7EE9-46A5-B031-5B8AF3BB1CD5}" type="datetimeFigureOut">
              <a:rPr lang="zh-CN" altLang="en-US" smtClean="0"/>
              <a:pPr/>
              <a:t>2024/5/29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ea typeface="SimHe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ea typeface="SimHei" panose="02010609060101010101" pitchFamily="49" charset="-122"/>
              </a:defRPr>
            </a:lvl1pPr>
          </a:lstStyle>
          <a:p>
            <a:fld id="{43BC7509-23FA-40FA-8415-DBE86E40617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1821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131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43918E-A2CB-491E-8B36-A1C0952C99F6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850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43918E-A2CB-491E-8B36-A1C0952C99F6}" type="slidenum">
              <a:rPr kumimoji="0" lang="zh-CN" alt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348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683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113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既然存储及其访问这么重要，那么历史上人类是如何存储数据的呢？在电子计算机出现之前，人们想出了结绳记事，想出了可长期保存的壁画，还有可方便携带和传播的制版印刷术。所有的伟大的发明，在信息技术产生后都显得那么的渺小。在数字信号理论的驱动下，我们用离散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存储时间和幅度连续的自然界的各种信息，并且在摩尔定律的驱动下，我们发明了前所未有的半导体产业技术，用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余年指数规律发展的的强大动力，创造了从未有过的奇迹：从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1958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年第一块集成电路上的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个元器件，到刚出的苹果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M1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处理器的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多亿个晶体管，以及通过三维堆叠得到的上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10^12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字节的固态硬盘，每一比特存储的价钱也从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美元降低到了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10^-9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元。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BE11BB-E3AC-064B-928A-0E7C9EAAE83C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37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556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首先我们来看一下存储器的基本结构。为了便于结构化的访问，存储器通常以多行多列二维方式布局成一个阵列：每一行都会编译一个地址，就像士兵行军布阵一样。外界要访问某个地址信息，对应行的字线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wordline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便会被置为有效，控制要访问的行的存储单元和位线连通，从而从位线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bitline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送入需要写的数据或者从位线上导出读取的数据。随机访问存储器是指给定任意一个访问的地址，均可以直接获得；而非随机访问存储器，例如固态硬盘，则可能需要依次读出一整块的数据，才能获得其中一行的数据，哪怕其它行的数据你不需要也不能不访问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通过不同的单元实现方式，我们有多种具体的存储器方案，例如作为缓存的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主存的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等等。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BE11BB-E3AC-064B-928A-0E7C9EAAE83C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389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594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832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503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0959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682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5149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02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诸多不同类别的存储器汇总在一起，我们可以看到很多成熟的以及还在研究中的存储器。他们利用不同的原理，具备不同的特点，相关的研究一直是领域的热门。有兴趣的同学可以从这个参考文献入手，也可以考虑来我们课题组开展具体的工作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BE11BB-E3AC-064B-928A-0E7C9EAAE83C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010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诸多不同类别的存储器汇总在一起，我们可以看到很多成熟的以及还在研究中的存储器。他们利用不同的原理，具备不同的特点，相关的研究一直是领域的热门。有兴趣的同学可以从这个参考文献入手，也可以考虑来我们课题组开展具体的工作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BE11BB-E3AC-064B-928A-0E7C9EAAE83C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2595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第三类的存储器是外存，常见的有磁盘和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NAND。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他们和前面的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SRAM、DRAM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不一样的一个地方在于，掉电后，不会丢失数据，是非易失存储器。具体的原理请大家阅读课外资料。受限于原理，外存访问耗时长，耗电多，密度也比较高。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BE11BB-E3AC-064B-928A-0E7C9EAAE83C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166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DF04F-F2F9-486C-A752-12D4B1C511A4}" type="slidenum">
              <a:rPr kumimoji="0" lang="en-US" altLang="zh-CN" sz="12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2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8459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80E919B8-A1B4-420E-AADF-E63307EE92DF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B4A81E4-82FE-7AAF-AB54-DE710276D3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4159"/>
          <a:stretch/>
        </p:blipFill>
        <p:spPr>
          <a:xfrm>
            <a:off x="0" y="0"/>
            <a:ext cx="1340427" cy="13572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8F5F0D6-2450-0F7F-56AE-38558B3434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7445" r="66386"/>
          <a:stretch/>
        </p:blipFill>
        <p:spPr>
          <a:xfrm>
            <a:off x="7775848" y="0"/>
            <a:ext cx="1368152" cy="13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0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14659731-6BD7-46E7-8D3C-2F3AC07E20B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459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EF8AC4FE-4EB1-4196-830A-993FA99EEC9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01041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8B93EBDF-DAB8-41D8-86B3-1BFF07A18FF9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32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E7C22BC1-7FC1-4B65-8DCC-88E2F449497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8526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6C23D995-88A0-46FA-B356-FA459EF841C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770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3F2AB43A-8F39-40F7-AB51-66BE5F0EDC88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440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C2D2373F-9A07-4B83-AD01-C0E1FFF861A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807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1FA0F13C-7485-4D41-9A6D-469650A33C0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8358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773C9E0C-B70F-4EE2-835C-E91EA4A4E95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917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SimHei" panose="02010609060101010101" pitchFamily="49" charset="-122"/>
              </a:defRPr>
            </a:lvl1pPr>
          </a:lstStyle>
          <a:p>
            <a:fld id="{37AE7160-E460-44BC-A56A-E2A6D1A944F5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3745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652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6855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i="0">
                <a:ea typeface="SimHei" panose="02010609060101010101" pitchFamily="49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i="0">
                <a:ea typeface="SimHei" panose="02010609060101010101" pitchFamily="49" charset="-122"/>
              </a:defRPr>
            </a:lvl1pPr>
          </a:lstStyle>
          <a:p>
            <a:fld id="{B36EB2BA-E18C-44D4-9F8D-4FCE250BF3FA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684213" y="1110456"/>
            <a:ext cx="8459787" cy="152400"/>
            <a:chOff x="431" y="799"/>
            <a:chExt cx="5329" cy="96"/>
          </a:xfrm>
        </p:grpSpPr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431" y="799"/>
              <a:ext cx="1488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0" i="0" dirty="0">
                <a:ea typeface="SimHei" panose="02010609060101010101" pitchFamily="49" charset="-122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1920" y="799"/>
              <a:ext cx="3840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400" b="0" i="0" dirty="0">
                <a:solidFill>
                  <a:schemeClr val="accent2"/>
                </a:solidFill>
                <a:latin typeface="Times New Roman" pitchFamily="18" charset="0"/>
                <a:ea typeface="SimHe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8425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33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customXml" Target="../ink/ink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18" Type="http://schemas.openxmlformats.org/officeDocument/2006/relationships/image" Target="../media/image22.jpeg"/><Relationship Id="rId26" Type="http://schemas.openxmlformats.org/officeDocument/2006/relationships/image" Target="../media/image41.png"/><Relationship Id="rId3" Type="http://schemas.openxmlformats.org/officeDocument/2006/relationships/image" Target="../media/image20.png"/><Relationship Id="rId21" Type="http://schemas.openxmlformats.org/officeDocument/2006/relationships/image" Target="../media/image36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2.png"/><Relationship Id="rId20" Type="http://schemas.openxmlformats.org/officeDocument/2006/relationships/image" Target="../media/image35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microsoft.com/office/2007/relationships/hdphoto" Target="../media/hdphoto1.wdp"/><Relationship Id="rId24" Type="http://schemas.openxmlformats.org/officeDocument/2006/relationships/image" Target="../media/image39.png"/><Relationship Id="rId5" Type="http://schemas.openxmlformats.org/officeDocument/2006/relationships/image" Target="../media/image22.png"/><Relationship Id="rId15" Type="http://schemas.openxmlformats.org/officeDocument/2006/relationships/image" Target="../media/image31.png"/><Relationship Id="rId23" Type="http://schemas.openxmlformats.org/officeDocument/2006/relationships/image" Target="../media/image38.png"/><Relationship Id="rId28" Type="http://schemas.openxmlformats.org/officeDocument/2006/relationships/customXml" Target="../ink/ink4.xml"/><Relationship Id="rId10" Type="http://schemas.openxmlformats.org/officeDocument/2006/relationships/image" Target="../media/image21.jpeg"/><Relationship Id="rId19" Type="http://schemas.microsoft.com/office/2007/relationships/hdphoto" Target="../media/hdphoto2.wdp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3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1.png"/><Relationship Id="rId3" Type="http://schemas.openxmlformats.org/officeDocument/2006/relationships/slideLayout" Target="../slideLayouts/slideLayout2.xml"/><Relationship Id="rId7" Type="http://schemas.microsoft.com/office/2007/relationships/hdphoto" Target="../media/hdphoto4.wdp"/><Relationship Id="rId12" Type="http://schemas.openxmlformats.org/officeDocument/2006/relationships/image" Target="../media/image50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46.png"/><Relationship Id="rId11" Type="http://schemas.openxmlformats.org/officeDocument/2006/relationships/image" Target="../media/image49.png"/><Relationship Id="rId5" Type="http://schemas.microsoft.com/office/2007/relationships/hdphoto" Target="../media/hdphoto3.wdp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microsoft.com/office/2007/relationships/hdphoto" Target="../media/hdphoto5.wdp"/><Relationship Id="rId1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0" y="1781833"/>
            <a:ext cx="9144000" cy="211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第八讲 存储器与总线外设</a:t>
            </a:r>
            <a:endParaRPr kumimoji="0" lang="en-US" altLang="zh-CN" sz="48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第</a:t>
            </a:r>
            <a:r>
              <a:rPr kumimoji="0" lang="en-US" altLang="zh-CN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SimHei" panose="02010609060101010101" pitchFamily="49" charset="-122"/>
                <a:cs typeface="+mn-cs"/>
              </a:rPr>
              <a:t>1</a:t>
            </a:r>
            <a:r>
              <a:rPr kumimoji="0" lang="zh-CN" altLang="en-US" sz="36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部分 基本概念、</a:t>
            </a:r>
            <a:r>
              <a:rPr lang="zh-CN" altLang="en-US" sz="3600" b="1" dirty="0">
                <a:solidFill>
                  <a:srgbClr val="00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半导体存储器</a:t>
            </a:r>
            <a:endParaRPr kumimoji="0" lang="en-US" altLang="zh-CN" sz="3600" b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0" y="12357"/>
            <a:ext cx="9144000" cy="13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数字逻辑与处理器基础</a:t>
            </a:r>
            <a:endParaRPr kumimoji="0" lang="en-US" altLang="zh-CN" sz="3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Fundamentals of Digital Logic and Processor</a:t>
            </a:r>
            <a:endParaRPr kumimoji="0" lang="zh-CN" altLang="en-US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FE6104C-D87C-1DDD-5B09-B4B9A4CED3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4332513"/>
            <a:ext cx="9143999" cy="2276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sz="36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李学清</a:t>
            </a:r>
            <a:endParaRPr lang="en-US" altLang="zh-CN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#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腾讯会议：</a:t>
            </a: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858-8541-2550</a:t>
            </a:r>
            <a:endParaRPr lang="zh-CN" alt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  <a:p>
            <a:pPr algn="ctr">
              <a:spcBef>
                <a:spcPct val="20000"/>
              </a:spcBef>
              <a:buClr>
                <a:schemeClr val="hlink"/>
              </a:buClr>
            </a:pPr>
            <a:r>
              <a:rPr lang="en-US" altLang="zh-CN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2024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年</a:t>
            </a:r>
            <a:r>
              <a:rPr lang="en-US" altLang="zh-CN" sz="2800" dirty="0">
                <a:latin typeface="+mn-lt"/>
                <a:ea typeface="黑体" pitchFamily="2" charset="-122"/>
              </a:rPr>
              <a:t>5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月</a:t>
            </a:r>
            <a:r>
              <a:rPr lang="en-US" altLang="zh-CN" sz="2800" dirty="0">
                <a:latin typeface="+mn-lt"/>
                <a:ea typeface="黑体" pitchFamily="2" charset="-122"/>
              </a:rPr>
              <a:t>28</a:t>
            </a:r>
            <a:r>
              <a:rPr lang="zh-CN" altLang="en-US" sz="2800" b="0" dirty="0">
                <a:solidFill>
                  <a:schemeClr val="tx1"/>
                </a:solidFill>
                <a:latin typeface="+mn-lt"/>
                <a:ea typeface="黑体" pitchFamily="2" charset="-122"/>
              </a:rPr>
              <a:t>日</a:t>
            </a:r>
            <a:endParaRPr lang="en-US" sz="2800" b="0" dirty="0">
              <a:solidFill>
                <a:schemeClr val="tx1"/>
              </a:solidFill>
              <a:latin typeface="+mn-lt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039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SimHei" panose="02010609060101010101" pitchFamily="49" charset="-122"/>
              </a:rPr>
              <a:t>微体系结构</a:t>
            </a:r>
            <a:endParaRPr lang="en-CN" dirty="0">
              <a:latin typeface="SimHei" panose="02010609060101010101" pitchFamily="49" charset="-122"/>
            </a:endParaRP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C604ACD-5754-9F4F-AC2A-F5A8E2D5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59731-6BD7-46E7-8D3C-2F3AC07E20B1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21A072-E7F7-460A-8CDA-1F33B6B9FE37}"/>
              </a:ext>
            </a:extLst>
          </p:cNvPr>
          <p:cNvCxnSpPr>
            <a:cxnSpLocks/>
          </p:cNvCxnSpPr>
          <p:nvPr/>
        </p:nvCxnSpPr>
        <p:spPr>
          <a:xfrm flipV="1">
            <a:off x="525583" y="3810457"/>
            <a:ext cx="0" cy="639149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CC1EAB-A398-495E-B820-5463D7961843}"/>
              </a:ext>
            </a:extLst>
          </p:cNvPr>
          <p:cNvCxnSpPr>
            <a:cxnSpLocks/>
          </p:cNvCxnSpPr>
          <p:nvPr/>
        </p:nvCxnSpPr>
        <p:spPr>
          <a:xfrm>
            <a:off x="532184" y="5017479"/>
            <a:ext cx="0" cy="98104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201B781-19FA-4DB6-8601-5232956DD816}"/>
              </a:ext>
            </a:extLst>
          </p:cNvPr>
          <p:cNvCxnSpPr>
            <a:cxnSpLocks/>
          </p:cNvCxnSpPr>
          <p:nvPr/>
        </p:nvCxnSpPr>
        <p:spPr>
          <a:xfrm flipH="1" flipV="1">
            <a:off x="529916" y="1482390"/>
            <a:ext cx="6843" cy="971820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21">
            <a:extLst>
              <a:ext uri="{FF2B5EF4-FFF2-40B4-BE49-F238E27FC236}">
                <a16:creationId xmlns:a16="http://schemas.microsoft.com/office/drawing/2014/main" id="{EA88E30F-39ED-47A2-B237-ACC2C6B2048C}"/>
              </a:ext>
            </a:extLst>
          </p:cNvPr>
          <p:cNvCxnSpPr>
            <a:cxnSpLocks/>
          </p:cNvCxnSpPr>
          <p:nvPr/>
        </p:nvCxnSpPr>
        <p:spPr>
          <a:xfrm>
            <a:off x="83118" y="3810457"/>
            <a:ext cx="1227927" cy="0"/>
          </a:xfrm>
          <a:prstGeom prst="line">
            <a:avLst/>
          </a:prstGeom>
          <a:ln w="381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9">
            <a:extLst>
              <a:ext uri="{FF2B5EF4-FFF2-40B4-BE49-F238E27FC236}">
                <a16:creationId xmlns:a16="http://schemas.microsoft.com/office/drawing/2014/main" id="{52807708-A919-4E61-A0DD-DF1CB0390A36}"/>
              </a:ext>
            </a:extLst>
          </p:cNvPr>
          <p:cNvGraphicFramePr>
            <a:graphicFrameLocks/>
          </p:cNvGraphicFramePr>
          <p:nvPr/>
        </p:nvGraphicFramePr>
        <p:xfrm>
          <a:off x="1229032" y="1482388"/>
          <a:ext cx="2870863" cy="466077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70863">
                  <a:extLst>
                    <a:ext uri="{9D8B030D-6E8A-4147-A177-3AD203B41FA5}">
                      <a16:colId xmlns:a16="http://schemas.microsoft.com/office/drawing/2014/main" val="1946283791"/>
                    </a:ext>
                  </a:extLst>
                </a:gridCol>
              </a:tblGrid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应用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5462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算法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49615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操作系统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177615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编译器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2005890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计算机指令系统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06289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000" b="0" i="0" kern="1200" dirty="0">
                          <a:solidFill>
                            <a:srgbClr val="0432FF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微体系结构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12972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000" b="0" i="0" kern="1200" dirty="0">
                          <a:solidFill>
                            <a:srgbClr val="0432FF"/>
                          </a:solidFill>
                          <a:latin typeface="+mn-lt"/>
                          <a:ea typeface="SimHei" panose="02010609060101010101" pitchFamily="49" charset="-122"/>
                          <a:cs typeface="+mn-cs"/>
                        </a:rPr>
                        <a:t>CPU/DSP/…</a:t>
                      </a:r>
                      <a:endParaRPr lang="zh-CN" altLang="en-US" sz="2000" b="0" i="0" kern="1200" dirty="0">
                        <a:solidFill>
                          <a:srgbClr val="0432FF"/>
                        </a:solidFill>
                        <a:latin typeface="+mn-lt"/>
                        <a:ea typeface="SimHei" panose="02010609060101010101" pitchFamily="49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467303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电路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04186"/>
                  </a:ext>
                </a:extLst>
              </a:tr>
              <a:tr h="5178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i="0" dirty="0">
                          <a:solidFill>
                            <a:schemeClr val="tx1"/>
                          </a:solidFill>
                          <a:latin typeface="+mn-lt"/>
                          <a:ea typeface="SimHei" panose="02010609060101010101" pitchFamily="49" charset="-122"/>
                        </a:rPr>
                        <a:t>器件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63798"/>
                  </a:ext>
                </a:extLst>
              </a:tr>
            </a:tbl>
          </a:graphicData>
        </a:graphic>
      </p:graphicFrame>
      <p:sp>
        <p:nvSpPr>
          <p:cNvPr id="21" name="TextBox 25">
            <a:extLst>
              <a:ext uri="{FF2B5EF4-FFF2-40B4-BE49-F238E27FC236}">
                <a16:creationId xmlns:a16="http://schemas.microsoft.com/office/drawing/2014/main" id="{CE921038-380C-462D-8759-1D8F7FD316C6}"/>
              </a:ext>
            </a:extLst>
          </p:cNvPr>
          <p:cNvSpPr txBox="1"/>
          <p:nvPr/>
        </p:nvSpPr>
        <p:spPr>
          <a:xfrm>
            <a:off x="1804122" y="6131646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计算机系统</a:t>
            </a:r>
          </a:p>
        </p:txBody>
      </p:sp>
      <p:cxnSp>
        <p:nvCxnSpPr>
          <p:cNvPr id="22" name="Straight Connector 26">
            <a:extLst>
              <a:ext uri="{FF2B5EF4-FFF2-40B4-BE49-F238E27FC236}">
                <a16:creationId xmlns:a16="http://schemas.microsoft.com/office/drawing/2014/main" id="{D9648051-9A30-43AB-B9F8-96D81F2207CB}"/>
              </a:ext>
            </a:extLst>
          </p:cNvPr>
          <p:cNvCxnSpPr>
            <a:cxnSpLocks/>
          </p:cNvCxnSpPr>
          <p:nvPr/>
        </p:nvCxnSpPr>
        <p:spPr>
          <a:xfrm>
            <a:off x="525583" y="3038525"/>
            <a:ext cx="0" cy="771932"/>
          </a:xfrm>
          <a:prstGeom prst="line">
            <a:avLst/>
          </a:prstGeom>
          <a:ln w="38100" cap="rnd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8">
            <a:extLst>
              <a:ext uri="{FF2B5EF4-FFF2-40B4-BE49-F238E27FC236}">
                <a16:creationId xmlns:a16="http://schemas.microsoft.com/office/drawing/2014/main" id="{BE731097-E7F9-4EBE-9269-4CD4F0A4BCD3}"/>
              </a:ext>
            </a:extLst>
          </p:cNvPr>
          <p:cNvSpPr txBox="1"/>
          <p:nvPr/>
        </p:nvSpPr>
        <p:spPr>
          <a:xfrm>
            <a:off x="187945" y="2568869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软件</a:t>
            </a:r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4E8CDB25-D623-4634-8167-87F91560DAB2}"/>
              </a:ext>
            </a:extLst>
          </p:cNvPr>
          <p:cNvSpPr txBox="1"/>
          <p:nvPr/>
        </p:nvSpPr>
        <p:spPr>
          <a:xfrm>
            <a:off x="183375" y="450271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硬件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D390940-5AF8-49CE-4A39-701C665F1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943206"/>
              </p:ext>
            </p:extLst>
          </p:nvPr>
        </p:nvGraphicFramePr>
        <p:xfrm>
          <a:off x="4391980" y="1394516"/>
          <a:ext cx="4049389" cy="5158684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772096">
                  <a:extLst>
                    <a:ext uri="{9D8B030D-6E8A-4147-A177-3AD203B41FA5}">
                      <a16:colId xmlns:a16="http://schemas.microsoft.com/office/drawing/2014/main" val="2649625643"/>
                    </a:ext>
                  </a:extLst>
                </a:gridCol>
                <a:gridCol w="723402">
                  <a:extLst>
                    <a:ext uri="{9D8B030D-6E8A-4147-A177-3AD203B41FA5}">
                      <a16:colId xmlns:a16="http://schemas.microsoft.com/office/drawing/2014/main" val="3191345124"/>
                    </a:ext>
                  </a:extLst>
                </a:gridCol>
                <a:gridCol w="2553891">
                  <a:extLst>
                    <a:ext uri="{9D8B030D-6E8A-4147-A177-3AD203B41FA5}">
                      <a16:colId xmlns:a16="http://schemas.microsoft.com/office/drawing/2014/main" val="3013045087"/>
                    </a:ext>
                  </a:extLst>
                </a:gridCol>
              </a:tblGrid>
              <a:tr h="30345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周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日期</a:t>
                      </a:r>
                      <a:endParaRPr lang="zh-CN" alt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暂定主要内容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27359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2/2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7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概论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21660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3/5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布尔代数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337287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组合逻辑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652186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3/1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9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时序逻辑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0204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3/2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时序逻辑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17128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/2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计算机指令系统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144793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800" kern="100" dirty="0">
                          <a:effectLst/>
                          <a:latin typeface="+mn-lt"/>
                          <a:ea typeface="+mn-ea"/>
                        </a:rPr>
                        <a:t>计算机指令系统</a:t>
                      </a:r>
                      <a:endParaRPr lang="en-CN" altLang="zh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3858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8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4/1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6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微处理器</a:t>
                      </a:r>
                      <a:endParaRPr lang="en-CN" altLang="zh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988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待定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期中考试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7551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4/</a:t>
                      </a:r>
                      <a:r>
                        <a:rPr lang="en-US" altLang="zh-CN" sz="1800" b="0" i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en-CN" sz="1800" b="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劳动节放假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11716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微处理器</a:t>
                      </a: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71481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CN" sz="180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流水线</a:t>
                      </a:r>
                      <a:endParaRPr lang="en-CN" sz="18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459178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en-CN" sz="1800" b="0" kern="1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5/</a:t>
                      </a:r>
                      <a:r>
                        <a:rPr lang="en-US" altLang="zh-CN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spcAft>
                          <a:spcPts val="0"/>
                        </a:spcAft>
                      </a:pPr>
                      <a:r>
                        <a:rPr lang="zh-CN" altLang="en-US" sz="1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流水线</a:t>
                      </a:r>
                      <a:endParaRPr lang="en-CN" sz="18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920872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14</a:t>
                      </a:r>
                      <a:endParaRPr lang="en-CN" sz="1800" b="1" kern="10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5/</a:t>
                      </a:r>
                      <a:r>
                        <a:rPr lang="en-US" altLang="zh-CN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28</a:t>
                      </a:r>
                      <a:endParaRPr lang="en-CN" sz="1800" b="1" kern="1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流水线</a:t>
                      </a:r>
                      <a:r>
                        <a:rPr lang="en-US" altLang="zh-CN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b="1" kern="100" dirty="0">
                          <a:solidFill>
                            <a:srgbClr val="0432FF"/>
                          </a:solidFill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endParaRPr lang="en-CN" sz="1800" b="1" kern="100" dirty="0">
                        <a:solidFill>
                          <a:srgbClr val="0432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062504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15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</a:t>
                      </a:r>
                      <a:r>
                        <a:rPr lang="en-US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  <a:latin typeface="+mn-lt"/>
                          <a:ea typeface="+mn-ea"/>
                        </a:rPr>
                        <a:t>存储器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2450"/>
                  </a:ext>
                </a:extLst>
              </a:tr>
              <a:tr h="30345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16</a:t>
                      </a:r>
                      <a:endParaRPr lang="en-CN" sz="1800" kern="10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6/11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IO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与总线</a:t>
                      </a:r>
                      <a:r>
                        <a:rPr lang="en-US" altLang="zh-CN" sz="1800" kern="10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zh-CN" altLang="en-US" sz="1800" kern="100" dirty="0">
                          <a:effectLst/>
                          <a:latin typeface="+mn-lt"/>
                          <a:ea typeface="+mn-ea"/>
                        </a:rPr>
                        <a:t>总结</a:t>
                      </a:r>
                      <a:endParaRPr lang="en-CN" sz="1800" kern="100" dirty="0">
                        <a:effectLst/>
                        <a:latin typeface="+mn-lt"/>
                        <a:ea typeface="+mn-ea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204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115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03-9B07-6A4B-85FB-680FDCDD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SimHei" panose="02010609060101010101" pitchFamily="49" charset="-122"/>
              </a:rPr>
              <a:t>本节课学习目标</a:t>
            </a:r>
            <a:endParaRPr lang="en-CN" sz="3600">
              <a:latin typeface="SimHei" panose="02010609060101010101" pitchFamily="49" charset="-122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ACB8E1B-309C-49FA-BE30-A05BB9B97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328814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知识点：概念、原理和指标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半导体存储器基础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(DRAM/SRAM),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包括电路，操作和特性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存储层次基础及其度量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能力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掌握设计和分析存储层次的方法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掌握缓存的设计折衷和评估方法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思想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局部性原理及其利用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32C8BA1-8DD6-DE49-A5ED-CA8C2B6E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88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</a:rPr>
              <a:t>复习与回顾</a:t>
            </a:r>
            <a:endParaRPr lang="en-US" altLang="zh-CN" dirty="0">
              <a:solidFill>
                <a:srgbClr val="0432FF"/>
              </a:solidFill>
            </a:endParaRPr>
          </a:p>
          <a:p>
            <a:pPr marL="342900" lvl="1" indent="-342900">
              <a:buFontTx/>
              <a:buChar char="•"/>
            </a:pPr>
            <a:r>
              <a:rPr lang="zh-CN" altLang="en-US" sz="3200" dirty="0"/>
              <a:t>存储器系统基础</a:t>
            </a:r>
            <a:endParaRPr lang="en-US" altLang="zh-CN" dirty="0"/>
          </a:p>
          <a:p>
            <a:r>
              <a:rPr lang="zh-CN" altLang="en-US" dirty="0"/>
              <a:t>存储器系统的设计理论</a:t>
            </a:r>
            <a:endParaRPr lang="en-US" altLang="zh-CN" dirty="0"/>
          </a:p>
          <a:p>
            <a:r>
              <a:rPr lang="en-US" altLang="zh-CN" dirty="0"/>
              <a:t>Cache</a:t>
            </a:r>
            <a:r>
              <a:rPr lang="zh-CN" altLang="en-US" dirty="0"/>
              <a:t>技术实现</a:t>
            </a:r>
            <a:endParaRPr lang="en-US" altLang="zh-CN" dirty="0"/>
          </a:p>
          <a:p>
            <a:r>
              <a:rPr lang="en-US" altLang="zh-CN" dirty="0"/>
              <a:t>Cache</a:t>
            </a:r>
            <a:r>
              <a:rPr lang="zh-CN" altLang="en-US" dirty="0"/>
              <a:t>性能评估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69028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84865A5B-F969-E54D-9B34-6126A1E6E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3784"/>
            <a:ext cx="8229600" cy="1143001"/>
          </a:xfrm>
        </p:spPr>
        <p:txBody>
          <a:bodyPr/>
          <a:lstStyle/>
          <a:p>
            <a:r>
              <a:rPr lang="zh-CN" altLang="en-US" dirty="0"/>
              <a:t>典型的计算机体系架构</a:t>
            </a:r>
            <a:endParaRPr lang="en-US" altLang="zh-CN" dirty="0"/>
          </a:p>
          <a:p>
            <a:pPr lvl="1"/>
            <a:r>
              <a:rPr lang="zh-CN" altLang="en-US" dirty="0"/>
              <a:t>冯</a:t>
            </a:r>
            <a:r>
              <a:rPr lang="en-US" altLang="zh-CN" dirty="0"/>
              <a:t>·</a:t>
            </a:r>
            <a:r>
              <a:rPr lang="zh-CN" altLang="en-US" dirty="0"/>
              <a:t>诺伊曼架构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A6500DA-DFB7-EF1D-4B26-C517ED3485FA}"/>
              </a:ext>
            </a:extLst>
          </p:cNvPr>
          <p:cNvGrpSpPr/>
          <p:nvPr/>
        </p:nvGrpSpPr>
        <p:grpSpPr>
          <a:xfrm>
            <a:off x="928927" y="2579987"/>
            <a:ext cx="7286146" cy="4054008"/>
            <a:chOff x="928927" y="2579987"/>
            <a:chExt cx="7286146" cy="4054008"/>
          </a:xfrm>
        </p:grpSpPr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AEBD1E17-76AA-4444-A7C2-F7B9844DC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5112" y="6398370"/>
              <a:ext cx="781050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05683AAD-C42D-FB42-B927-85B411CA3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8012" y="6401545"/>
              <a:ext cx="69215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" name="Rectangle 23">
              <a:extLst>
                <a:ext uri="{FF2B5EF4-FFF2-40B4-BE49-F238E27FC236}">
                  <a16:creationId xmlns:a16="http://schemas.microsoft.com/office/drawing/2014/main" id="{B7901AE3-BA94-894C-B909-6A69D7B41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982" y="4026365"/>
              <a:ext cx="2823656" cy="1888892"/>
            </a:xfrm>
            <a:prstGeom prst="rect">
              <a:avLst/>
            </a:prstGeom>
            <a:solidFill>
              <a:schemeClr val="accent2">
                <a:alpha val="23921"/>
              </a:schemeClr>
            </a:solidFill>
            <a:ln w="12700" algn="ctr">
              <a:solidFill>
                <a:schemeClr val="tx1"/>
              </a:solidFill>
              <a:prstDash val="lgDash"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178B68F-F43D-3F46-A78E-6A14EA303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358" y="4494646"/>
              <a:ext cx="1009076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C172C3FF-41A4-6C46-A685-585BDF05C6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079" y="3678699"/>
              <a:ext cx="0" cy="536358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E00D3415-6777-ED43-93B9-8316E14C2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810" y="3381805"/>
              <a:ext cx="480373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B2408224-EAD1-0E46-94DD-F37193EE0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6183" y="3358256"/>
              <a:ext cx="0" cy="1907665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A339AA54-015F-D94D-8F89-D69376D1F1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16723" y="5265921"/>
              <a:ext cx="559459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6D018F77-7B9B-AB43-9C86-043F3CFA1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5988" y="4818390"/>
              <a:ext cx="0" cy="351121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3A9F63B1-DAEF-1840-8AA4-2E057E1E0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7191" y="5476644"/>
              <a:ext cx="94024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291CE73C-4E65-EB43-9407-23F9B8BB39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810" y="5476644"/>
              <a:ext cx="95928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2355A130-4C91-CF42-AB00-641007A85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7611" y="5336162"/>
              <a:ext cx="399822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5AEBE6A9-A20A-3A47-92F4-6CE3B821F8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7612" y="3374584"/>
              <a:ext cx="0" cy="1961578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840847EC-8F16-C54B-BCBF-E3A1C9DE3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7359" y="3381805"/>
              <a:ext cx="399823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0D428069-39A1-7E44-A77C-9C3FCCC69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7079" y="4774312"/>
              <a:ext cx="0" cy="352503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EC4E6057-77A0-9840-9BF9-BC32D804F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5810" y="4494646"/>
              <a:ext cx="969533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EB69061E-D348-E843-AC46-1EB1E767C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8927" y="4494646"/>
              <a:ext cx="719095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F0D90CD6-397B-5A4D-B4C7-18BBEFEE7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13" y="4494646"/>
              <a:ext cx="720560" cy="0"/>
            </a:xfrm>
            <a:prstGeom prst="line">
              <a:avLst/>
            </a:prstGeom>
            <a:noFill/>
            <a:ln w="76200" cmpd="tri">
              <a:solidFill>
                <a:srgbClr val="0432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B26DEDB6-6064-2C47-94D0-A8DFD8C83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4243" y="2617193"/>
              <a:ext cx="3056870" cy="3498435"/>
            </a:xfrm>
            <a:prstGeom prst="rect">
              <a:avLst/>
            </a:prstGeom>
            <a:noFill/>
            <a:ln w="25400" algn="ctr">
              <a:solidFill>
                <a:schemeClr val="hlink"/>
              </a:solidFill>
              <a:prstDash val="dash"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86D1C578-290D-084C-A73C-2CCD3864B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2148" y="2579987"/>
              <a:ext cx="1646087" cy="533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 algn="ctr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7184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01678" tIns="50840" rIns="101678" bIns="50840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ctr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主机系统</a:t>
              </a: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3A45645-5BDB-7046-A8AB-8463095DD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331" y="3095847"/>
              <a:ext cx="65904" cy="608241"/>
            </a:xfrm>
            <a:custGeom>
              <a:avLst/>
              <a:gdLst>
                <a:gd name="T0" fmla="*/ 0 w 39"/>
                <a:gd name="T1" fmla="*/ 2147483647 h 415"/>
                <a:gd name="T2" fmla="*/ 0 w 39"/>
                <a:gd name="T3" fmla="*/ 2147483647 h 415"/>
                <a:gd name="T4" fmla="*/ 2147483647 w 39"/>
                <a:gd name="T5" fmla="*/ 0 h 415"/>
                <a:gd name="T6" fmla="*/ 2147483647 w 39"/>
                <a:gd name="T7" fmla="*/ 2147483647 h 415"/>
                <a:gd name="T8" fmla="*/ 0 w 39"/>
                <a:gd name="T9" fmla="*/ 2147483647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5">
                  <a:moveTo>
                    <a:pt x="0" y="415"/>
                  </a:moveTo>
                  <a:lnTo>
                    <a:pt x="0" y="37"/>
                  </a:lnTo>
                  <a:lnTo>
                    <a:pt x="39" y="0"/>
                  </a:lnTo>
                  <a:lnTo>
                    <a:pt x="39" y="376"/>
                  </a:lnTo>
                  <a:lnTo>
                    <a:pt x="0" y="415"/>
                  </a:lnTo>
                  <a:close/>
                </a:path>
              </a:pathLst>
            </a:custGeom>
            <a:solidFill>
              <a:srgbClr val="E1B4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2EAC59B9-D257-7448-B25D-8E39E20767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3646028"/>
              <a:ext cx="65904" cy="58059"/>
            </a:xfrm>
            <a:prstGeom prst="line">
              <a:avLst/>
            </a:prstGeom>
            <a:noFill/>
            <a:ln w="3175">
              <a:solidFill>
                <a:srgbClr val="E1B4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3EF395E-FC33-4E47-AB2D-BEF62EB7A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355" y="3097887"/>
              <a:ext cx="1698880" cy="53912"/>
            </a:xfrm>
            <a:custGeom>
              <a:avLst/>
              <a:gdLst>
                <a:gd name="T0" fmla="*/ 2147483647 w 1020"/>
                <a:gd name="T1" fmla="*/ 2147483647 h 37"/>
                <a:gd name="T2" fmla="*/ 0 w 1020"/>
                <a:gd name="T3" fmla="*/ 2147483647 h 37"/>
                <a:gd name="T4" fmla="*/ 2147483647 w 1020"/>
                <a:gd name="T5" fmla="*/ 0 h 37"/>
                <a:gd name="T6" fmla="*/ 2147483647 w 1020"/>
                <a:gd name="T7" fmla="*/ 0 h 37"/>
                <a:gd name="T8" fmla="*/ 2147483647 w 1020"/>
                <a:gd name="T9" fmla="*/ 2147483647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7">
                  <a:moveTo>
                    <a:pt x="981" y="37"/>
                  </a:moveTo>
                  <a:lnTo>
                    <a:pt x="0" y="37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7"/>
                  </a:lnTo>
                  <a:close/>
                </a:path>
              </a:pathLst>
            </a:custGeom>
            <a:solidFill>
              <a:srgbClr val="9879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D461B2A9-A794-0845-BC5A-A42AEC6CE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3097887"/>
              <a:ext cx="65904" cy="53912"/>
            </a:xfrm>
            <a:prstGeom prst="line">
              <a:avLst/>
            </a:prstGeom>
            <a:noFill/>
            <a:ln w="3175">
              <a:solidFill>
                <a:srgbClr val="9879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BF9413E-B0A6-DD4B-BCB5-BBAB6FC98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355" y="3149759"/>
              <a:ext cx="1632976" cy="554329"/>
            </a:xfrm>
            <a:prstGeom prst="rect">
              <a:avLst/>
            </a:prstGeom>
            <a:solidFill>
              <a:srgbClr val="C49C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9380C606-D618-324E-A8FF-8BA1A891B7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3149759"/>
              <a:ext cx="1465" cy="554329"/>
            </a:xfrm>
            <a:prstGeom prst="line">
              <a:avLst/>
            </a:prstGeom>
            <a:noFill/>
            <a:ln w="26988">
              <a:solidFill>
                <a:srgbClr val="D6AB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0DEB6180-3712-FF4A-8033-453833694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3704083"/>
              <a:ext cx="1632976" cy="1382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92041B90-A47E-FF42-B900-06A91169D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3149759"/>
              <a:ext cx="1464" cy="554329"/>
            </a:xfrm>
            <a:prstGeom prst="line">
              <a:avLst/>
            </a:prstGeom>
            <a:noFill/>
            <a:ln w="26988">
              <a:solidFill>
                <a:srgbClr val="EABB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206653E-CF55-8C42-8F10-5668C2CD8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9354" y="3151794"/>
              <a:ext cx="1632976" cy="1383"/>
            </a:xfrm>
            <a:prstGeom prst="line">
              <a:avLst/>
            </a:prstGeom>
            <a:noFill/>
            <a:ln w="26988">
              <a:solidFill>
                <a:srgbClr val="B792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F8FEA1C-B0C9-CC42-8AC7-563CB0665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809" y="3231681"/>
              <a:ext cx="114967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存储器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15BB25E-710B-B245-924F-6F30F38A6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325" y="3358321"/>
              <a:ext cx="64440" cy="2264316"/>
            </a:xfrm>
            <a:custGeom>
              <a:avLst/>
              <a:gdLst>
                <a:gd name="T0" fmla="*/ 0 w 39"/>
                <a:gd name="T1" fmla="*/ 2147483647 h 1545"/>
                <a:gd name="T2" fmla="*/ 0 w 39"/>
                <a:gd name="T3" fmla="*/ 2147483647 h 1545"/>
                <a:gd name="T4" fmla="*/ 2147483647 w 39"/>
                <a:gd name="T5" fmla="*/ 0 h 1545"/>
                <a:gd name="T6" fmla="*/ 2147483647 w 39"/>
                <a:gd name="T7" fmla="*/ 2147483647 h 1545"/>
                <a:gd name="T8" fmla="*/ 0 w 39"/>
                <a:gd name="T9" fmla="*/ 2147483647 h 1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5">
                  <a:moveTo>
                    <a:pt x="0" y="1545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5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25BBBB86-2F80-B847-AABC-C44CC277F0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0325" y="5568724"/>
              <a:ext cx="64440" cy="53912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279A5C8-F030-C741-AFBD-26A1938D6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0698" y="3366446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74C805BB-9EC4-894F-BA2B-3ED69E411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0325" y="3366446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3A7D2D2-CDA6-664B-8E7B-09293B7A6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950" y="3414998"/>
              <a:ext cx="1088162" cy="2207639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2732CEAB-A69A-544E-B91E-7F7D2242D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0698" y="3414998"/>
              <a:ext cx="1465" cy="2207639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2" name="Line 41">
              <a:extLst>
                <a:ext uri="{FF2B5EF4-FFF2-40B4-BE49-F238E27FC236}">
                  <a16:creationId xmlns:a16="http://schemas.microsoft.com/office/drawing/2014/main" id="{ED08C634-50D5-844C-BB24-14A287F17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0698" y="5622630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3" name="Line 42">
              <a:extLst>
                <a:ext uri="{FF2B5EF4-FFF2-40B4-BE49-F238E27FC236}">
                  <a16:creationId xmlns:a16="http://schemas.microsoft.com/office/drawing/2014/main" id="{AB06C39A-AE04-A549-89FB-4FF6DABAC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0325" y="3414997"/>
              <a:ext cx="1465" cy="2207639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4" name="Line 43">
              <a:extLst>
                <a:ext uri="{FF2B5EF4-FFF2-40B4-BE49-F238E27FC236}">
                  <a16:creationId xmlns:a16="http://schemas.microsoft.com/office/drawing/2014/main" id="{82424AE9-214D-1F4E-A1CF-929CB900F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50698" y="3423118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62678D2-7492-6444-86F0-745B85A28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3463" y="4133632"/>
              <a:ext cx="71540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输出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设备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6" name="Rectangle 47">
              <a:extLst>
                <a:ext uri="{FF2B5EF4-FFF2-40B4-BE49-F238E27FC236}">
                  <a16:creationId xmlns:a16="http://schemas.microsoft.com/office/drawing/2014/main" id="{401F16E7-4601-1341-86C1-7F8F6D326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2107" y="4511173"/>
              <a:ext cx="8656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 </a:t>
              </a:r>
              <a:endParaRPr kumimoji="0" lang="zh-CN" altLang="en-US" sz="15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0C83ADDF-93D5-164A-8401-504F0FF8D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003" y="3358309"/>
              <a:ext cx="64440" cy="2267081"/>
            </a:xfrm>
            <a:custGeom>
              <a:avLst/>
              <a:gdLst>
                <a:gd name="T0" fmla="*/ 0 w 39"/>
                <a:gd name="T1" fmla="*/ 2147483647 h 1547"/>
                <a:gd name="T2" fmla="*/ 0 w 39"/>
                <a:gd name="T3" fmla="*/ 2147483647 h 1547"/>
                <a:gd name="T4" fmla="*/ 2147483647 w 39"/>
                <a:gd name="T5" fmla="*/ 0 h 1547"/>
                <a:gd name="T6" fmla="*/ 2147483647 w 39"/>
                <a:gd name="T7" fmla="*/ 2147483647 h 1547"/>
                <a:gd name="T8" fmla="*/ 0 w 39"/>
                <a:gd name="T9" fmla="*/ 2147483647 h 15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1547">
                  <a:moveTo>
                    <a:pt x="0" y="154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1508"/>
                  </a:lnTo>
                  <a:lnTo>
                    <a:pt x="0" y="1547"/>
                  </a:lnTo>
                  <a:close/>
                </a:path>
              </a:pathLst>
            </a:custGeom>
            <a:solidFill>
              <a:srgbClr val="E1E18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7456AD2B-68DE-8C4D-BC21-0DFB87189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003" y="5568713"/>
              <a:ext cx="64440" cy="56676"/>
            </a:xfrm>
            <a:prstGeom prst="line">
              <a:avLst/>
            </a:prstGeom>
            <a:noFill/>
            <a:ln w="3175">
              <a:solidFill>
                <a:srgbClr val="E1E18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770ACF1E-34AE-9645-A26F-200ECF514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377" y="3366446"/>
              <a:ext cx="1154067" cy="56677"/>
            </a:xfrm>
            <a:custGeom>
              <a:avLst/>
              <a:gdLst>
                <a:gd name="T0" fmla="*/ 2147483647 w 693"/>
                <a:gd name="T1" fmla="*/ 2147483647 h 39"/>
                <a:gd name="T2" fmla="*/ 0 w 693"/>
                <a:gd name="T3" fmla="*/ 2147483647 h 39"/>
                <a:gd name="T4" fmla="*/ 2147483647 w 693"/>
                <a:gd name="T5" fmla="*/ 0 h 39"/>
                <a:gd name="T6" fmla="*/ 2147483647 w 693"/>
                <a:gd name="T7" fmla="*/ 0 h 39"/>
                <a:gd name="T8" fmla="*/ 2147483647 w 693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3" h="39">
                  <a:moveTo>
                    <a:pt x="654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693" y="0"/>
                  </a:lnTo>
                  <a:lnTo>
                    <a:pt x="654" y="39"/>
                  </a:lnTo>
                  <a:close/>
                </a:path>
              </a:pathLst>
            </a:custGeom>
            <a:solidFill>
              <a:srgbClr val="98985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0" name="Line 51">
              <a:extLst>
                <a:ext uri="{FF2B5EF4-FFF2-40B4-BE49-F238E27FC236}">
                  <a16:creationId xmlns:a16="http://schemas.microsoft.com/office/drawing/2014/main" id="{B0C629A2-DBB6-C442-87EA-6EB00B558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003" y="3366446"/>
              <a:ext cx="64440" cy="56677"/>
            </a:xfrm>
            <a:prstGeom prst="line">
              <a:avLst/>
            </a:prstGeom>
            <a:noFill/>
            <a:ln w="3175">
              <a:solidFill>
                <a:srgbClr val="98985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1" name="Rectangle 52">
              <a:extLst>
                <a:ext uri="{FF2B5EF4-FFF2-40B4-BE49-F238E27FC236}">
                  <a16:creationId xmlns:a16="http://schemas.microsoft.com/office/drawing/2014/main" id="{9DF696C7-AED8-084C-BB32-19E540CEA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377" y="3414987"/>
              <a:ext cx="1089627" cy="2210404"/>
            </a:xfrm>
            <a:prstGeom prst="rect">
              <a:avLst/>
            </a:prstGeom>
            <a:solidFill>
              <a:srgbClr val="C4C47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2" name="Line 53">
              <a:extLst>
                <a:ext uri="{FF2B5EF4-FFF2-40B4-BE49-F238E27FC236}">
                  <a16:creationId xmlns:a16="http://schemas.microsoft.com/office/drawing/2014/main" id="{91C5BF90-0054-4745-87F3-A324DD008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377" y="3414987"/>
              <a:ext cx="1464" cy="2210404"/>
            </a:xfrm>
            <a:prstGeom prst="line">
              <a:avLst/>
            </a:prstGeom>
            <a:noFill/>
            <a:ln w="26988">
              <a:solidFill>
                <a:srgbClr val="D6D68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3" name="Line 54">
              <a:extLst>
                <a:ext uri="{FF2B5EF4-FFF2-40B4-BE49-F238E27FC236}">
                  <a16:creationId xmlns:a16="http://schemas.microsoft.com/office/drawing/2014/main" id="{40B258E9-8DD0-F74E-B336-8F5BF97FE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377" y="5625385"/>
              <a:ext cx="1089627" cy="1383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4" name="Line 55">
              <a:extLst>
                <a:ext uri="{FF2B5EF4-FFF2-40B4-BE49-F238E27FC236}">
                  <a16:creationId xmlns:a16="http://schemas.microsoft.com/office/drawing/2014/main" id="{E0E1ADE5-C6E1-364D-BF09-0CBF137DB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3003" y="3414987"/>
              <a:ext cx="1464" cy="2210404"/>
            </a:xfrm>
            <a:prstGeom prst="line">
              <a:avLst/>
            </a:prstGeom>
            <a:noFill/>
            <a:ln w="26988">
              <a:solidFill>
                <a:srgbClr val="EAEA8C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5" name="Line 56">
              <a:extLst>
                <a:ext uri="{FF2B5EF4-FFF2-40B4-BE49-F238E27FC236}">
                  <a16:creationId xmlns:a16="http://schemas.microsoft.com/office/drawing/2014/main" id="{4D06CC98-3544-994E-85DD-FB1E04CB2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3377" y="3423118"/>
              <a:ext cx="1089627" cy="1382"/>
            </a:xfrm>
            <a:prstGeom prst="line">
              <a:avLst/>
            </a:prstGeom>
            <a:noFill/>
            <a:ln w="26988">
              <a:solidFill>
                <a:srgbClr val="B7B76D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6" name="Rectangle 57">
              <a:extLst>
                <a:ext uri="{FF2B5EF4-FFF2-40B4-BE49-F238E27FC236}">
                  <a16:creationId xmlns:a16="http://schemas.microsoft.com/office/drawing/2014/main" id="{8EDD2795-5848-4944-B5FA-309225707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9298" y="4079797"/>
              <a:ext cx="725478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输入</a:t>
              </a:r>
              <a:endParaRPr kumimoji="0" lang="en-US" altLang="zh-CN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endParaRPr>
            </a:p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设备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7" name="Rectangle 58">
              <a:extLst>
                <a:ext uri="{FF2B5EF4-FFF2-40B4-BE49-F238E27FC236}">
                  <a16:creationId xmlns:a16="http://schemas.microsoft.com/office/drawing/2014/main" id="{5A95A0D9-92B2-0A45-ACC8-0EBD3F81C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785" y="4148948"/>
              <a:ext cx="8656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 </a:t>
              </a:r>
              <a:endParaRPr kumimoji="0" lang="zh-CN" altLang="en-US" sz="15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8" name="Rectangle 60">
              <a:extLst>
                <a:ext uri="{FF2B5EF4-FFF2-40B4-BE49-F238E27FC236}">
                  <a16:creationId xmlns:a16="http://schemas.microsoft.com/office/drawing/2014/main" id="{0410D4A5-B80A-C643-AE19-418108DB2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785" y="4511173"/>
              <a:ext cx="86562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7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 </a:t>
              </a:r>
              <a:endParaRPr kumimoji="0" lang="zh-CN" altLang="en-US" sz="15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9" name="Freeform 61">
              <a:extLst>
                <a:ext uri="{FF2B5EF4-FFF2-40B4-BE49-F238E27FC236}">
                  <a16:creationId xmlns:a16="http://schemas.microsoft.com/office/drawing/2014/main" id="{4E1A615E-0C9B-8C41-A0D2-F5B39FE9C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331" y="4189396"/>
              <a:ext cx="65904" cy="611006"/>
            </a:xfrm>
            <a:custGeom>
              <a:avLst/>
              <a:gdLst>
                <a:gd name="T0" fmla="*/ 0 w 39"/>
                <a:gd name="T1" fmla="*/ 2147483647 h 417"/>
                <a:gd name="T2" fmla="*/ 0 w 39"/>
                <a:gd name="T3" fmla="*/ 2147483647 h 417"/>
                <a:gd name="T4" fmla="*/ 2147483647 w 39"/>
                <a:gd name="T5" fmla="*/ 0 h 417"/>
                <a:gd name="T6" fmla="*/ 2147483647 w 39"/>
                <a:gd name="T7" fmla="*/ 2147483647 h 417"/>
                <a:gd name="T8" fmla="*/ 0 w 39"/>
                <a:gd name="T9" fmla="*/ 2147483647 h 4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7">
                  <a:moveTo>
                    <a:pt x="0" y="41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378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B4E1E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0" name="Line 62">
              <a:extLst>
                <a:ext uri="{FF2B5EF4-FFF2-40B4-BE49-F238E27FC236}">
                  <a16:creationId xmlns:a16="http://schemas.microsoft.com/office/drawing/2014/main" id="{9D3AA0EA-CFC9-934B-A26F-1DFAE2C331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4743724"/>
              <a:ext cx="65904" cy="56677"/>
            </a:xfrm>
            <a:prstGeom prst="line">
              <a:avLst/>
            </a:prstGeom>
            <a:noFill/>
            <a:ln w="3175">
              <a:solidFill>
                <a:srgbClr val="B4E1E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1" name="Freeform 63">
              <a:extLst>
                <a:ext uri="{FF2B5EF4-FFF2-40B4-BE49-F238E27FC236}">
                  <a16:creationId xmlns:a16="http://schemas.microsoft.com/office/drawing/2014/main" id="{DDCE0680-D33E-454B-BEDE-7F9586AB6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355" y="4191436"/>
              <a:ext cx="1698880" cy="56676"/>
            </a:xfrm>
            <a:custGeom>
              <a:avLst/>
              <a:gdLst>
                <a:gd name="T0" fmla="*/ 2147483647 w 1020"/>
                <a:gd name="T1" fmla="*/ 2147483647 h 39"/>
                <a:gd name="T2" fmla="*/ 0 w 1020"/>
                <a:gd name="T3" fmla="*/ 2147483647 h 39"/>
                <a:gd name="T4" fmla="*/ 2147483647 w 1020"/>
                <a:gd name="T5" fmla="*/ 0 h 39"/>
                <a:gd name="T6" fmla="*/ 2147483647 w 1020"/>
                <a:gd name="T7" fmla="*/ 0 h 39"/>
                <a:gd name="T8" fmla="*/ 2147483647 w 1020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9">
                  <a:moveTo>
                    <a:pt x="981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9"/>
                  </a:lnTo>
                  <a:close/>
                </a:path>
              </a:pathLst>
            </a:custGeom>
            <a:solidFill>
              <a:srgbClr val="79989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2" name="Line 64">
              <a:extLst>
                <a:ext uri="{FF2B5EF4-FFF2-40B4-BE49-F238E27FC236}">
                  <a16:creationId xmlns:a16="http://schemas.microsoft.com/office/drawing/2014/main" id="{222A7506-3A6B-4349-B097-67C3B8C21D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4191435"/>
              <a:ext cx="65904" cy="56676"/>
            </a:xfrm>
            <a:prstGeom prst="line">
              <a:avLst/>
            </a:prstGeom>
            <a:noFill/>
            <a:ln w="3175">
              <a:solidFill>
                <a:srgbClr val="79989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3" name="Rectangle 65">
              <a:extLst>
                <a:ext uri="{FF2B5EF4-FFF2-40B4-BE49-F238E27FC236}">
                  <a16:creationId xmlns:a16="http://schemas.microsoft.com/office/drawing/2014/main" id="{8FC972D2-F3CB-904C-BDDF-9A5681DD9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355" y="4246072"/>
              <a:ext cx="1632976" cy="554329"/>
            </a:xfrm>
            <a:prstGeom prst="rect">
              <a:avLst/>
            </a:prstGeom>
            <a:solidFill>
              <a:srgbClr val="9CC4C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4" name="Line 66">
              <a:extLst>
                <a:ext uri="{FF2B5EF4-FFF2-40B4-BE49-F238E27FC236}">
                  <a16:creationId xmlns:a16="http://schemas.microsoft.com/office/drawing/2014/main" id="{21790D68-44F1-A64C-BC76-E421CF3FC9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4246072"/>
              <a:ext cx="1465" cy="554329"/>
            </a:xfrm>
            <a:prstGeom prst="line">
              <a:avLst/>
            </a:prstGeom>
            <a:noFill/>
            <a:ln w="26988">
              <a:solidFill>
                <a:srgbClr val="ABD6D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5" name="Line 67">
              <a:extLst>
                <a:ext uri="{FF2B5EF4-FFF2-40B4-BE49-F238E27FC236}">
                  <a16:creationId xmlns:a16="http://schemas.microsoft.com/office/drawing/2014/main" id="{5069D05C-5293-3740-B1A7-D33BD00B7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4800396"/>
              <a:ext cx="1632976" cy="1382"/>
            </a:xfrm>
            <a:prstGeom prst="line">
              <a:avLst/>
            </a:prstGeom>
            <a:noFill/>
            <a:ln w="26988">
              <a:solidFill>
                <a:srgbClr val="92B7B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6" name="Line 68">
              <a:extLst>
                <a:ext uri="{FF2B5EF4-FFF2-40B4-BE49-F238E27FC236}">
                  <a16:creationId xmlns:a16="http://schemas.microsoft.com/office/drawing/2014/main" id="{6E912AB5-8041-7347-AD0C-0CC3F4E98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4246072"/>
              <a:ext cx="1464" cy="554329"/>
            </a:xfrm>
            <a:prstGeom prst="line">
              <a:avLst/>
            </a:prstGeom>
            <a:noFill/>
            <a:ln w="26988">
              <a:solidFill>
                <a:srgbClr val="BBEAEA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7" name="Line 69">
              <a:extLst>
                <a:ext uri="{FF2B5EF4-FFF2-40B4-BE49-F238E27FC236}">
                  <a16:creationId xmlns:a16="http://schemas.microsoft.com/office/drawing/2014/main" id="{810CF316-C4BD-1249-AB08-B2D9E0A6D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9354" y="4248107"/>
              <a:ext cx="1632976" cy="1383"/>
            </a:xfrm>
            <a:prstGeom prst="line">
              <a:avLst/>
            </a:prstGeom>
            <a:noFill/>
            <a:ln w="26988">
              <a:solidFill>
                <a:srgbClr val="92B7B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8" name="Rectangle 70">
              <a:extLst>
                <a:ext uri="{FF2B5EF4-FFF2-40B4-BE49-F238E27FC236}">
                  <a16:creationId xmlns:a16="http://schemas.microsoft.com/office/drawing/2014/main" id="{DEAE5D4D-CBEF-F244-AA6E-8B394C614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809" y="4329372"/>
              <a:ext cx="108083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运算器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69" name="Freeform 71">
              <a:extLst>
                <a:ext uri="{FF2B5EF4-FFF2-40B4-BE49-F238E27FC236}">
                  <a16:creationId xmlns:a16="http://schemas.microsoft.com/office/drawing/2014/main" id="{B4647B38-A748-D54B-A3C3-493E63B7D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331" y="5152112"/>
              <a:ext cx="65904" cy="611006"/>
            </a:xfrm>
            <a:custGeom>
              <a:avLst/>
              <a:gdLst>
                <a:gd name="T0" fmla="*/ 0 w 39"/>
                <a:gd name="T1" fmla="*/ 2147483647 h 417"/>
                <a:gd name="T2" fmla="*/ 0 w 39"/>
                <a:gd name="T3" fmla="*/ 2147483647 h 417"/>
                <a:gd name="T4" fmla="*/ 2147483647 w 39"/>
                <a:gd name="T5" fmla="*/ 0 h 417"/>
                <a:gd name="T6" fmla="*/ 2147483647 w 39"/>
                <a:gd name="T7" fmla="*/ 2147483647 h 417"/>
                <a:gd name="T8" fmla="*/ 0 w 39"/>
                <a:gd name="T9" fmla="*/ 2147483647 h 4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17">
                  <a:moveTo>
                    <a:pt x="0" y="417"/>
                  </a:moveTo>
                  <a:lnTo>
                    <a:pt x="0" y="39"/>
                  </a:lnTo>
                  <a:lnTo>
                    <a:pt x="39" y="0"/>
                  </a:lnTo>
                  <a:lnTo>
                    <a:pt x="39" y="378"/>
                  </a:lnTo>
                  <a:lnTo>
                    <a:pt x="0" y="417"/>
                  </a:lnTo>
                  <a:close/>
                </a:path>
              </a:pathLst>
            </a:custGeom>
            <a:solidFill>
              <a:srgbClr val="B4E1B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0" name="Line 72">
              <a:extLst>
                <a:ext uri="{FF2B5EF4-FFF2-40B4-BE49-F238E27FC236}">
                  <a16:creationId xmlns:a16="http://schemas.microsoft.com/office/drawing/2014/main" id="{53445697-F5EB-1E4A-8BC6-65E1329DDA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5705058"/>
              <a:ext cx="65904" cy="58059"/>
            </a:xfrm>
            <a:prstGeom prst="line">
              <a:avLst/>
            </a:prstGeom>
            <a:noFill/>
            <a:ln w="3175">
              <a:solidFill>
                <a:srgbClr val="B4E1B4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1" name="Freeform 73">
              <a:extLst>
                <a:ext uri="{FF2B5EF4-FFF2-40B4-BE49-F238E27FC236}">
                  <a16:creationId xmlns:a16="http://schemas.microsoft.com/office/drawing/2014/main" id="{6CECD101-2C8A-2D4F-A908-5A5904BB8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355" y="5154153"/>
              <a:ext cx="1698880" cy="56677"/>
            </a:xfrm>
            <a:custGeom>
              <a:avLst/>
              <a:gdLst>
                <a:gd name="T0" fmla="*/ 2147483647 w 1020"/>
                <a:gd name="T1" fmla="*/ 2147483647 h 39"/>
                <a:gd name="T2" fmla="*/ 0 w 1020"/>
                <a:gd name="T3" fmla="*/ 2147483647 h 39"/>
                <a:gd name="T4" fmla="*/ 2147483647 w 1020"/>
                <a:gd name="T5" fmla="*/ 0 h 39"/>
                <a:gd name="T6" fmla="*/ 2147483647 w 1020"/>
                <a:gd name="T7" fmla="*/ 0 h 39"/>
                <a:gd name="T8" fmla="*/ 2147483647 w 1020"/>
                <a:gd name="T9" fmla="*/ 214748364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20" h="39">
                  <a:moveTo>
                    <a:pt x="981" y="39"/>
                  </a:moveTo>
                  <a:lnTo>
                    <a:pt x="0" y="39"/>
                  </a:lnTo>
                  <a:lnTo>
                    <a:pt x="37" y="0"/>
                  </a:lnTo>
                  <a:lnTo>
                    <a:pt x="1020" y="0"/>
                  </a:lnTo>
                  <a:lnTo>
                    <a:pt x="981" y="39"/>
                  </a:lnTo>
                  <a:close/>
                </a:path>
              </a:pathLst>
            </a:custGeom>
            <a:solidFill>
              <a:srgbClr val="79987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2" name="Line 74">
              <a:extLst>
                <a:ext uri="{FF2B5EF4-FFF2-40B4-BE49-F238E27FC236}">
                  <a16:creationId xmlns:a16="http://schemas.microsoft.com/office/drawing/2014/main" id="{3E5E9E1B-86E8-8149-9798-971220805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5154153"/>
              <a:ext cx="65904" cy="56677"/>
            </a:xfrm>
            <a:prstGeom prst="line">
              <a:avLst/>
            </a:prstGeom>
            <a:noFill/>
            <a:ln w="3175">
              <a:solidFill>
                <a:srgbClr val="799879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3" name="Rectangle 75">
              <a:extLst>
                <a:ext uri="{FF2B5EF4-FFF2-40B4-BE49-F238E27FC236}">
                  <a16:creationId xmlns:a16="http://schemas.microsoft.com/office/drawing/2014/main" id="{1834F9A3-0349-F049-93CB-F312594BA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355" y="5208789"/>
              <a:ext cx="1632976" cy="554328"/>
            </a:xfrm>
            <a:prstGeom prst="rect">
              <a:avLst/>
            </a:prstGeom>
            <a:solidFill>
              <a:srgbClr val="9CC49C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4" name="Line 76">
              <a:extLst>
                <a:ext uri="{FF2B5EF4-FFF2-40B4-BE49-F238E27FC236}">
                  <a16:creationId xmlns:a16="http://schemas.microsoft.com/office/drawing/2014/main" id="{30586644-C7C6-4149-8AF8-00E9EB4053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5208789"/>
              <a:ext cx="1465" cy="554328"/>
            </a:xfrm>
            <a:prstGeom prst="line">
              <a:avLst/>
            </a:prstGeom>
            <a:noFill/>
            <a:ln w="26988">
              <a:solidFill>
                <a:srgbClr val="ABD6A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5" name="Line 77">
              <a:extLst>
                <a:ext uri="{FF2B5EF4-FFF2-40B4-BE49-F238E27FC236}">
                  <a16:creationId xmlns:a16="http://schemas.microsoft.com/office/drawing/2014/main" id="{D5663715-E891-BE4B-8C16-922EBCEA9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9355" y="5763113"/>
              <a:ext cx="1632976" cy="1383"/>
            </a:xfrm>
            <a:prstGeom prst="line">
              <a:avLst/>
            </a:prstGeom>
            <a:noFill/>
            <a:ln w="26988">
              <a:solidFill>
                <a:srgbClr val="92B79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6" name="Line 78">
              <a:extLst>
                <a:ext uri="{FF2B5EF4-FFF2-40B4-BE49-F238E27FC236}">
                  <a16:creationId xmlns:a16="http://schemas.microsoft.com/office/drawing/2014/main" id="{4A7B1083-8F78-4F4B-A0A2-469823850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2331" y="5252862"/>
              <a:ext cx="1464" cy="554328"/>
            </a:xfrm>
            <a:prstGeom prst="line">
              <a:avLst/>
            </a:prstGeom>
            <a:noFill/>
            <a:ln w="19050">
              <a:solidFill>
                <a:srgbClr val="BBEABB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7" name="Line 79">
              <a:extLst>
                <a:ext uri="{FF2B5EF4-FFF2-40B4-BE49-F238E27FC236}">
                  <a16:creationId xmlns:a16="http://schemas.microsoft.com/office/drawing/2014/main" id="{5AF0AE9A-2D45-FA4F-BA83-D3682C3EBE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9354" y="5210825"/>
              <a:ext cx="1632976" cy="1382"/>
            </a:xfrm>
            <a:prstGeom prst="line">
              <a:avLst/>
            </a:prstGeom>
            <a:noFill/>
            <a:ln w="26988">
              <a:solidFill>
                <a:srgbClr val="92B79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8" name="Rectangle 80">
              <a:extLst>
                <a:ext uri="{FF2B5EF4-FFF2-40B4-BE49-F238E27FC236}">
                  <a16:creationId xmlns:a16="http://schemas.microsoft.com/office/drawing/2014/main" id="{E04EFD76-F6D5-094A-BFB7-4539701E1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809" y="5289334"/>
              <a:ext cx="112624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控制器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9" name="Rectangle 81">
              <a:extLst>
                <a:ext uri="{FF2B5EF4-FFF2-40B4-BE49-F238E27FC236}">
                  <a16:creationId xmlns:a16="http://schemas.microsoft.com/office/drawing/2014/main" id="{AB14A854-591C-C040-A0E3-D2C9FCC4F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249" y="6190408"/>
              <a:ext cx="148748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数据通路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1" name="Rectangle 85">
              <a:extLst>
                <a:ext uri="{FF2B5EF4-FFF2-40B4-BE49-F238E27FC236}">
                  <a16:creationId xmlns:a16="http://schemas.microsoft.com/office/drawing/2014/main" id="{B056FBD9-7CF4-B64A-BEF5-7AF819328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562" y="6203108"/>
              <a:ext cx="1539875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marL="0" marR="0" lvl="0" indent="0" algn="l" defTabSz="10096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u="none" strike="noStrike" kern="1200" cap="none" spc="0" normalizeH="0" baseline="0" noProof="0" dirty="0">
                  <a:ln>
                    <a:noFill/>
                  </a:ln>
                  <a:solidFill>
                    <a:srgbClr val="009051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rPr>
                <a:t>控制信号</a:t>
              </a:r>
              <a:endParaRPr kumimoji="0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9051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7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9312225-44C7-CE48-8001-E15F4AA07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5479"/>
            <a:ext cx="8229600" cy="613034"/>
          </a:xfrm>
        </p:spPr>
        <p:txBody>
          <a:bodyPr/>
          <a:lstStyle/>
          <a:p>
            <a:r>
              <a:rPr lang="zh-CN" altLang="en-US" dirty="0"/>
              <a:t>主要瓶颈：存储器延时大！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8CF98C10-91EF-6646-A3FF-57AE7AD059EE}"/>
              </a:ext>
            </a:extLst>
          </p:cNvPr>
          <p:cNvGrpSpPr>
            <a:grpSpLocks noChangeAspect="1"/>
          </p:cNvGrpSpPr>
          <p:nvPr/>
        </p:nvGrpSpPr>
        <p:grpSpPr>
          <a:xfrm>
            <a:off x="80202" y="2176042"/>
            <a:ext cx="7435131" cy="4613186"/>
            <a:chOff x="4251" y="1138238"/>
            <a:chExt cx="8869874" cy="5896867"/>
          </a:xfrm>
        </p:grpSpPr>
        <p:cxnSp>
          <p:nvCxnSpPr>
            <p:cNvPr id="5" name="肘形连接符 4">
              <a:extLst>
                <a:ext uri="{FF2B5EF4-FFF2-40B4-BE49-F238E27FC236}">
                  <a16:creationId xmlns:a16="http://schemas.microsoft.com/office/drawing/2014/main" id="{32F157B1-F227-E842-A22C-469D9976CB6F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917575" y="3387726"/>
              <a:ext cx="1513742" cy="1204912"/>
            </a:xfrm>
            <a:prstGeom prst="bentConnector3">
              <a:avLst>
                <a:gd name="adj1" fmla="val 148471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" name="肘形连接符 5">
              <a:extLst>
                <a:ext uri="{FF2B5EF4-FFF2-40B4-BE49-F238E27FC236}">
                  <a16:creationId xmlns:a16="http://schemas.microsoft.com/office/drawing/2014/main" id="{6042E759-D41D-B84A-8865-9E09A68CEBE4}"/>
                </a:ext>
              </a:extLst>
            </p:cNvPr>
            <p:cNvCxnSpPr>
              <a:cxnSpLocks/>
              <a:stCxn id="135" idx="6"/>
            </p:cNvCxnSpPr>
            <p:nvPr/>
          </p:nvCxnSpPr>
          <p:spPr bwMode="auto">
            <a:xfrm>
              <a:off x="5172075" y="4916488"/>
              <a:ext cx="1727200" cy="571500"/>
            </a:xfrm>
            <a:prstGeom prst="bentConnector3">
              <a:avLst>
                <a:gd name="adj1" fmla="val -1337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" name="Rectangle 404">
              <a:extLst>
                <a:ext uri="{FF2B5EF4-FFF2-40B4-BE49-F238E27FC236}">
                  <a16:creationId xmlns:a16="http://schemas.microsoft.com/office/drawing/2014/main" id="{562AB4EF-36BA-C643-BCEC-DA9E450B7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1944" y="5478910"/>
              <a:ext cx="759125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Data In</a:t>
              </a:r>
            </a:p>
          </p:txBody>
        </p:sp>
        <p:sp>
          <p:nvSpPr>
            <p:cNvPr id="8" name="Rectangle 419">
              <a:extLst>
                <a:ext uri="{FF2B5EF4-FFF2-40B4-BE49-F238E27FC236}">
                  <a16:creationId xmlns:a16="http://schemas.microsoft.com/office/drawing/2014/main" id="{AA270F6A-0B43-284F-A655-31B64154B2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415151" y="4493702"/>
              <a:ext cx="584200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ALU</a:t>
              </a:r>
            </a:p>
          </p:txBody>
        </p:sp>
        <p:sp>
          <p:nvSpPr>
            <p:cNvPr id="10" name="Rectangle 309">
              <a:extLst>
                <a:ext uri="{FF2B5EF4-FFF2-40B4-BE49-F238E27FC236}">
                  <a16:creationId xmlns:a16="http://schemas.microsoft.com/office/drawing/2014/main" id="{3345BFD0-61FA-C143-B4F0-49AB067F1A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32582" y="6032781"/>
              <a:ext cx="782665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Imm16</a:t>
              </a:r>
            </a:p>
          </p:txBody>
        </p:sp>
        <p:grpSp>
          <p:nvGrpSpPr>
            <p:cNvPr id="11" name="Group 310">
              <a:extLst>
                <a:ext uri="{FF2B5EF4-FFF2-40B4-BE49-F238E27FC236}">
                  <a16:creationId xmlns:a16="http://schemas.microsoft.com/office/drawing/2014/main" id="{874BDAFD-036E-644E-9BF2-B11B76408B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9525" y="4083050"/>
              <a:ext cx="458788" cy="1135063"/>
              <a:chOff x="4064" y="2310"/>
              <a:chExt cx="288" cy="716"/>
            </a:xfrm>
          </p:grpSpPr>
          <p:sp>
            <p:nvSpPr>
              <p:cNvPr id="12" name="Line 311">
                <a:extLst>
                  <a:ext uri="{FF2B5EF4-FFF2-40B4-BE49-F238E27FC236}">
                    <a16:creationId xmlns:a16="http://schemas.microsoft.com/office/drawing/2014/main" id="{752B6191-D6DF-AF47-A687-5AA8F0D7C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4" y="2310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3" name="Line 312">
                <a:extLst>
                  <a:ext uri="{FF2B5EF4-FFF2-40B4-BE49-F238E27FC236}">
                    <a16:creationId xmlns:a16="http://schemas.microsoft.com/office/drawing/2014/main" id="{4449AF06-6ADB-BD40-960C-845551CAB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2" y="2310"/>
                <a:ext cx="272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4" name="Line 313">
                <a:extLst>
                  <a:ext uri="{FF2B5EF4-FFF2-40B4-BE49-F238E27FC236}">
                    <a16:creationId xmlns:a16="http://schemas.microsoft.com/office/drawing/2014/main" id="{4CAE16E5-8B2A-8247-B9FA-A70A93484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2" y="2489"/>
                <a:ext cx="128" cy="7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5" name="Line 314">
                <a:extLst>
                  <a:ext uri="{FF2B5EF4-FFF2-40B4-BE49-F238E27FC236}">
                    <a16:creationId xmlns:a16="http://schemas.microsoft.com/office/drawing/2014/main" id="{3AC09F62-40AD-AD4E-B7AD-41F37DB9A2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8" y="2579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6" name="Line 315">
                <a:extLst>
                  <a:ext uri="{FF2B5EF4-FFF2-40B4-BE49-F238E27FC236}">
                    <a16:creationId xmlns:a16="http://schemas.microsoft.com/office/drawing/2014/main" id="{9CFEA18E-B09D-784D-BD79-501818499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2" y="2489"/>
                <a:ext cx="0" cy="34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7" name="Line 316">
                <a:extLst>
                  <a:ext uri="{FF2B5EF4-FFF2-40B4-BE49-F238E27FC236}">
                    <a16:creationId xmlns:a16="http://schemas.microsoft.com/office/drawing/2014/main" id="{98A4D1C8-B494-6049-A32F-D875273AFE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2" y="2742"/>
                <a:ext cx="128" cy="10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8" name="Line 317">
                <a:extLst>
                  <a:ext uri="{FF2B5EF4-FFF2-40B4-BE49-F238E27FC236}">
                    <a16:creationId xmlns:a16="http://schemas.microsoft.com/office/drawing/2014/main" id="{5F57808C-A7EE-AB4D-90C6-C84AABCC3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4" y="2847"/>
                <a:ext cx="0" cy="1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9" name="Line 318">
                <a:extLst>
                  <a:ext uri="{FF2B5EF4-FFF2-40B4-BE49-F238E27FC236}">
                    <a16:creationId xmlns:a16="http://schemas.microsoft.com/office/drawing/2014/main" id="{305468D9-5598-A84D-8AB1-1744E859E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72" y="2831"/>
                <a:ext cx="272" cy="19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20" name="Line 319">
              <a:extLst>
                <a:ext uri="{FF2B5EF4-FFF2-40B4-BE49-F238E27FC236}">
                  <a16:creationId xmlns:a16="http://schemas.microsoft.com/office/drawing/2014/main" id="{C57E74B1-4ACD-6745-88E5-3777D639E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2438" y="4637088"/>
              <a:ext cx="15382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1" name="Line 320">
              <a:extLst>
                <a:ext uri="{FF2B5EF4-FFF2-40B4-BE49-F238E27FC236}">
                  <a16:creationId xmlns:a16="http://schemas.microsoft.com/office/drawing/2014/main" id="{8736969D-FF35-BD44-89E5-0C09332812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20719" y="4573141"/>
              <a:ext cx="88900" cy="128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2" name="Rectangle 321">
              <a:extLst>
                <a:ext uri="{FF2B5EF4-FFF2-40B4-BE49-F238E27FC236}">
                  <a16:creationId xmlns:a16="http://schemas.microsoft.com/office/drawing/2014/main" id="{E661DFCB-894C-BC44-BB2F-A9A90BF19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8638" y="4637087"/>
              <a:ext cx="4053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32</a:t>
              </a:r>
            </a:p>
          </p:txBody>
        </p:sp>
        <p:sp>
          <p:nvSpPr>
            <p:cNvPr id="23" name="Line 322">
              <a:extLst>
                <a:ext uri="{FF2B5EF4-FFF2-40B4-BE49-F238E27FC236}">
                  <a16:creationId xmlns:a16="http://schemas.microsoft.com/office/drawing/2014/main" id="{1AE2BE20-EA7E-BF4E-B369-9BF2E3BD17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8125" y="3087688"/>
              <a:ext cx="0" cy="1117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4" name="Rectangle 323">
              <a:extLst>
                <a:ext uri="{FF2B5EF4-FFF2-40B4-BE49-F238E27FC236}">
                  <a16:creationId xmlns:a16="http://schemas.microsoft.com/office/drawing/2014/main" id="{677C1D2A-5CD4-1E46-ABCE-20617E7D7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6314" y="2622550"/>
              <a:ext cx="835025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 err="1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ALUctr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5" name="Rectangle 324">
              <a:extLst>
                <a:ext uri="{FF2B5EF4-FFF2-40B4-BE49-F238E27FC236}">
                  <a16:creationId xmlns:a16="http://schemas.microsoft.com/office/drawing/2014/main" id="{016BACA7-46D4-6848-8D65-C0F9B3678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3662" y="5033964"/>
              <a:ext cx="46271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Clk</a:t>
              </a:r>
            </a:p>
          </p:txBody>
        </p:sp>
        <p:sp>
          <p:nvSpPr>
            <p:cNvPr id="26" name="Rectangle 325">
              <a:extLst>
                <a:ext uri="{FF2B5EF4-FFF2-40B4-BE49-F238E27FC236}">
                  <a16:creationId xmlns:a16="http://schemas.microsoft.com/office/drawing/2014/main" id="{298775DE-15C9-5940-A0F9-0A5F07692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237" y="4157662"/>
              <a:ext cx="648210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busW</a:t>
              </a:r>
              <a:endParaRPr kumimoji="0" lang="en-US" altLang="en-US" sz="11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7" name="Rectangle 326">
              <a:extLst>
                <a:ext uri="{FF2B5EF4-FFF2-40B4-BE49-F238E27FC236}">
                  <a16:creationId xmlns:a16="http://schemas.microsoft.com/office/drawing/2014/main" id="{839B2D69-8DA4-3A4C-86DA-A4C8A8100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100" y="4083050"/>
              <a:ext cx="1431925" cy="1128713"/>
            </a:xfrm>
            <a:prstGeom prst="rect">
              <a:avLst/>
            </a:prstGeom>
            <a:noFill/>
            <a:ln w="50800">
              <a:solidFill>
                <a:srgbClr val="0432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8" name="Line 327">
              <a:extLst>
                <a:ext uri="{FF2B5EF4-FFF2-40B4-BE49-F238E27FC236}">
                  <a16:creationId xmlns:a16="http://schemas.microsoft.com/office/drawing/2014/main" id="{F3C1DDB6-B213-0B4F-911A-504CB64A6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325" y="4986338"/>
              <a:ext cx="252413" cy="63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9" name="Line 328">
              <a:extLst>
                <a:ext uri="{FF2B5EF4-FFF2-40B4-BE49-F238E27FC236}">
                  <a16:creationId xmlns:a16="http://schemas.microsoft.com/office/drawing/2014/main" id="{E3C070C5-0CC2-4C46-9695-F991B9F2C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8800" y="5062538"/>
              <a:ext cx="238125" cy="112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0" name="Rectangle 329">
              <a:extLst>
                <a:ext uri="{FF2B5EF4-FFF2-40B4-BE49-F238E27FC236}">
                  <a16:creationId xmlns:a16="http://schemas.microsoft.com/office/drawing/2014/main" id="{E7662DC4-938F-4D45-9655-ECD7047CC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3649" y="3567114"/>
              <a:ext cx="741914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 err="1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RegWr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1" name="Line 330">
              <a:extLst>
                <a:ext uri="{FF2B5EF4-FFF2-40B4-BE49-F238E27FC236}">
                  <a16:creationId xmlns:a16="http://schemas.microsoft.com/office/drawing/2014/main" id="{0F25C1AE-2A2E-9442-8C8E-9873928BE7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08263" y="4548188"/>
              <a:ext cx="5032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2" name="Line 331">
              <a:extLst>
                <a:ext uri="{FF2B5EF4-FFF2-40B4-BE49-F238E27FC236}">
                  <a16:creationId xmlns:a16="http://schemas.microsoft.com/office/drawing/2014/main" id="{E4FFF46B-1692-D04C-A9F9-6F58E3F22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20975" y="4502150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3" name="Rectangle 332">
              <a:extLst>
                <a:ext uri="{FF2B5EF4-FFF2-40B4-BE49-F238E27FC236}">
                  <a16:creationId xmlns:a16="http://schemas.microsoft.com/office/drawing/2014/main" id="{F182E3F0-41C4-8041-BE84-D282B41FB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336" y="4576763"/>
              <a:ext cx="4053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32</a:t>
              </a:r>
            </a:p>
          </p:txBody>
        </p:sp>
        <p:sp>
          <p:nvSpPr>
            <p:cNvPr id="34" name="Line 333">
              <a:extLst>
                <a:ext uri="{FF2B5EF4-FFF2-40B4-BE49-F238E27FC236}">
                  <a16:creationId xmlns:a16="http://schemas.microsoft.com/office/drawing/2014/main" id="{AA99EEE4-659E-0D43-B0A3-750FA3C288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3425" y="4202113"/>
              <a:ext cx="1184275" cy="952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5" name="Line 334">
              <a:extLst>
                <a:ext uri="{FF2B5EF4-FFF2-40B4-BE49-F238E27FC236}">
                  <a16:creationId xmlns:a16="http://schemas.microsoft.com/office/drawing/2014/main" id="{3C5E143E-C68A-2943-884B-DB1931379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7928" y="4160043"/>
              <a:ext cx="87312" cy="131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6" name="Rectangle 335">
              <a:extLst>
                <a:ext uri="{FF2B5EF4-FFF2-40B4-BE49-F238E27FC236}">
                  <a16:creationId xmlns:a16="http://schemas.microsoft.com/office/drawing/2014/main" id="{65AB210B-F002-0C47-9CC0-99D28B5D5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462" y="4238899"/>
              <a:ext cx="4053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32</a:t>
              </a:r>
            </a:p>
          </p:txBody>
        </p:sp>
        <p:sp>
          <p:nvSpPr>
            <p:cNvPr id="37" name="Rectangle 336">
              <a:extLst>
                <a:ext uri="{FF2B5EF4-FFF2-40B4-BE49-F238E27FC236}">
                  <a16:creationId xmlns:a16="http://schemas.microsoft.com/office/drawing/2014/main" id="{B5A3ED0E-DF54-9047-B1A6-A0F11B7F7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0" y="3924301"/>
              <a:ext cx="602314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busA</a:t>
              </a:r>
              <a:endParaRPr kumimoji="0" lang="en-US" altLang="en-US" sz="11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8" name="Line 337">
              <a:extLst>
                <a:ext uri="{FF2B5EF4-FFF2-40B4-BE49-F238E27FC236}">
                  <a16:creationId xmlns:a16="http://schemas.microsoft.com/office/drawing/2014/main" id="{DC7B4A02-F455-DA4F-B079-5DBA3327A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5325" y="3849688"/>
              <a:ext cx="0" cy="2254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9" name="Line 338">
              <a:extLst>
                <a:ext uri="{FF2B5EF4-FFF2-40B4-BE49-F238E27FC236}">
                  <a16:creationId xmlns:a16="http://schemas.microsoft.com/office/drawing/2014/main" id="{6DC83684-2BDC-D945-B6B8-2C397DC5F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3425" y="4911725"/>
              <a:ext cx="965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0" name="Rectangle 340">
              <a:extLst>
                <a:ext uri="{FF2B5EF4-FFF2-40B4-BE49-F238E27FC236}">
                  <a16:creationId xmlns:a16="http://schemas.microsoft.com/office/drawing/2014/main" id="{91EE150F-109C-9D41-B83A-8D09B6D8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638" y="4908547"/>
              <a:ext cx="4053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32</a:t>
              </a:r>
            </a:p>
          </p:txBody>
        </p:sp>
        <p:sp>
          <p:nvSpPr>
            <p:cNvPr id="41" name="Rectangle 341">
              <a:extLst>
                <a:ext uri="{FF2B5EF4-FFF2-40B4-BE49-F238E27FC236}">
                  <a16:creationId xmlns:a16="http://schemas.microsoft.com/office/drawing/2014/main" id="{FC9FD1C3-AAC3-1E4C-BBEB-891B64117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4850" y="4624388"/>
              <a:ext cx="602314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busB</a:t>
              </a:r>
              <a:endParaRPr kumimoji="0" lang="en-US" altLang="en-US" sz="11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2" name="Line 342">
              <a:extLst>
                <a:ext uri="{FF2B5EF4-FFF2-40B4-BE49-F238E27FC236}">
                  <a16:creationId xmlns:a16="http://schemas.microsoft.com/office/drawing/2014/main" id="{2BF6E2F9-F1F0-AC40-B725-B2092F2C2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0663" y="5067300"/>
              <a:ext cx="2873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3" name="Line 343">
              <a:extLst>
                <a:ext uri="{FF2B5EF4-FFF2-40B4-BE49-F238E27FC236}">
                  <a16:creationId xmlns:a16="http://schemas.microsoft.com/office/drawing/2014/main" id="{4D20089A-8358-794B-BC4F-8791126D0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8325" y="3649663"/>
              <a:ext cx="0" cy="4127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4" name="Line 344">
              <a:extLst>
                <a:ext uri="{FF2B5EF4-FFF2-40B4-BE49-F238E27FC236}">
                  <a16:creationId xmlns:a16="http://schemas.microsoft.com/office/drawing/2014/main" id="{CED73161-321B-F84C-A307-3A521238D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8475" y="3778250"/>
              <a:ext cx="139700" cy="1555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5" name="Rectangle 345">
              <a:extLst>
                <a:ext uri="{FF2B5EF4-FFF2-40B4-BE49-F238E27FC236}">
                  <a16:creationId xmlns:a16="http://schemas.microsoft.com/office/drawing/2014/main" id="{9BF4A184-378D-004A-91F7-212F218D7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848" y="3640138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46" name="Line 346">
              <a:extLst>
                <a:ext uri="{FF2B5EF4-FFF2-40B4-BE49-F238E27FC236}">
                  <a16:creationId xmlns:a16="http://schemas.microsoft.com/office/drawing/2014/main" id="{09E07232-D5AE-E14E-9E72-4FD11933E5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0125" y="3438525"/>
              <a:ext cx="0" cy="6238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7" name="Line 347">
              <a:extLst>
                <a:ext uri="{FF2B5EF4-FFF2-40B4-BE49-F238E27FC236}">
                  <a16:creationId xmlns:a16="http://schemas.microsoft.com/office/drawing/2014/main" id="{F9A80FA6-6D28-C643-A85D-3850FC793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0275" y="3778250"/>
              <a:ext cx="139700" cy="1555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48" name="Rectangle 348">
              <a:extLst>
                <a:ext uri="{FF2B5EF4-FFF2-40B4-BE49-F238E27FC236}">
                  <a16:creationId xmlns:a16="http://schemas.microsoft.com/office/drawing/2014/main" id="{D082D7D9-34EE-4F4C-A328-E396808BF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235" y="3640138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49" name="Line 349">
              <a:extLst>
                <a:ext uri="{FF2B5EF4-FFF2-40B4-BE49-F238E27FC236}">
                  <a16:creationId xmlns:a16="http://schemas.microsoft.com/office/drawing/2014/main" id="{F09F7433-8D2C-8A47-926A-3925B46C8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1125" y="3649663"/>
              <a:ext cx="0" cy="4127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0" name="Line 350">
              <a:extLst>
                <a:ext uri="{FF2B5EF4-FFF2-40B4-BE49-F238E27FC236}">
                  <a16:creationId xmlns:a16="http://schemas.microsoft.com/office/drawing/2014/main" id="{14095D62-9825-2246-B7E1-6395DD02A5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1275" y="3778250"/>
              <a:ext cx="138113" cy="1555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1" name="Rectangle 351">
              <a:extLst>
                <a:ext uri="{FF2B5EF4-FFF2-40B4-BE49-F238E27FC236}">
                  <a16:creationId xmlns:a16="http://schemas.microsoft.com/office/drawing/2014/main" id="{9A06539A-5BDA-EF43-B79B-DA23F9D11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3640138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52" name="Rectangle 352">
              <a:extLst>
                <a:ext uri="{FF2B5EF4-FFF2-40B4-BE49-F238E27FC236}">
                  <a16:creationId xmlns:a16="http://schemas.microsoft.com/office/drawing/2014/main" id="{7F646E7B-CCB4-1A4B-92C1-221E6CA88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7235" y="4067175"/>
              <a:ext cx="46271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Rw</a:t>
              </a:r>
              <a:endParaRPr kumimoji="0" lang="en-US" altLang="en-US" sz="11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3" name="Rectangle 353">
              <a:extLst>
                <a:ext uri="{FF2B5EF4-FFF2-40B4-BE49-F238E27FC236}">
                  <a16:creationId xmlns:a16="http://schemas.microsoft.com/office/drawing/2014/main" id="{0BA8B7BC-C500-5B41-BE7D-8E2F5ADD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4438" y="4067175"/>
              <a:ext cx="43402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Ra</a:t>
              </a:r>
            </a:p>
          </p:txBody>
        </p:sp>
        <p:sp>
          <p:nvSpPr>
            <p:cNvPr id="54" name="Rectangle 354">
              <a:extLst>
                <a:ext uri="{FF2B5EF4-FFF2-40B4-BE49-F238E27FC236}">
                  <a16:creationId xmlns:a16="http://schemas.microsoft.com/office/drawing/2014/main" id="{9A3DEE90-D7BD-904D-9D36-AF8ECC5C6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848" y="4067175"/>
              <a:ext cx="43402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Rb</a:t>
              </a:r>
            </a:p>
          </p:txBody>
        </p:sp>
        <p:sp>
          <p:nvSpPr>
            <p:cNvPr id="55" name="Rectangle 355">
              <a:extLst>
                <a:ext uri="{FF2B5EF4-FFF2-40B4-BE49-F238E27FC236}">
                  <a16:creationId xmlns:a16="http://schemas.microsoft.com/office/drawing/2014/main" id="{B477507C-B2BD-264E-A321-955F38BAC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987" y="4429355"/>
              <a:ext cx="929322" cy="547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32 32-bit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Registers</a:t>
              </a:r>
            </a:p>
          </p:txBody>
        </p:sp>
        <p:sp>
          <p:nvSpPr>
            <p:cNvPr id="56" name="Line 356">
              <a:extLst>
                <a:ext uri="{FF2B5EF4-FFF2-40B4-BE49-F238E27FC236}">
                  <a16:creationId xmlns:a16="http://schemas.microsoft.com/office/drawing/2014/main" id="{749D80AA-6EA8-4B4D-B14B-3D1C316EC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13025" y="6599238"/>
              <a:ext cx="62611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7" name="Line 357">
              <a:extLst>
                <a:ext uri="{FF2B5EF4-FFF2-40B4-BE49-F238E27FC236}">
                  <a16:creationId xmlns:a16="http://schemas.microsoft.com/office/drawing/2014/main" id="{13736510-E988-964B-A1AF-24D449354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5725" y="4541838"/>
              <a:ext cx="0" cy="2057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58" name="Rectangle 358">
              <a:extLst>
                <a:ext uri="{FF2B5EF4-FFF2-40B4-BE49-F238E27FC236}">
                  <a16:creationId xmlns:a16="http://schemas.microsoft.com/office/drawing/2014/main" id="{9B4A44FB-16A4-A04D-9330-C628366DA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837" y="3427413"/>
              <a:ext cx="424466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Rs</a:t>
              </a:r>
            </a:p>
          </p:txBody>
        </p:sp>
        <p:sp>
          <p:nvSpPr>
            <p:cNvPr id="59" name="Rectangle 359">
              <a:extLst>
                <a:ext uri="{FF2B5EF4-FFF2-40B4-BE49-F238E27FC236}">
                  <a16:creationId xmlns:a16="http://schemas.microsoft.com/office/drawing/2014/main" id="{22210F43-4807-F547-8C88-835D2D709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237" y="2772073"/>
              <a:ext cx="386220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Rt</a:t>
              </a:r>
            </a:p>
          </p:txBody>
        </p:sp>
        <p:grpSp>
          <p:nvGrpSpPr>
            <p:cNvPr id="60" name="Group 360">
              <a:extLst>
                <a:ext uri="{FF2B5EF4-FFF2-40B4-BE49-F238E27FC236}">
                  <a16:creationId xmlns:a16="http://schemas.microsoft.com/office/drawing/2014/main" id="{1DE54D33-39A9-384E-91E4-C13ED6107F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21325" y="4630738"/>
              <a:ext cx="304800" cy="1227137"/>
              <a:chOff x="3536" y="2656"/>
              <a:chExt cx="192" cy="773"/>
            </a:xfrm>
          </p:grpSpPr>
          <p:sp>
            <p:nvSpPr>
              <p:cNvPr id="61" name="Line 361">
                <a:extLst>
                  <a:ext uri="{FF2B5EF4-FFF2-40B4-BE49-F238E27FC236}">
                    <a16:creationId xmlns:a16="http://schemas.microsoft.com/office/drawing/2014/main" id="{C7301EEF-A2A7-364C-9126-D2812F926A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6" y="2656"/>
                <a:ext cx="0" cy="7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62" name="Line 362">
                <a:extLst>
                  <a:ext uri="{FF2B5EF4-FFF2-40B4-BE49-F238E27FC236}">
                    <a16:creationId xmlns:a16="http://schemas.microsoft.com/office/drawing/2014/main" id="{1049466F-FDFD-004D-9FA2-951D02693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4" y="2656"/>
                <a:ext cx="176" cy="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63" name="Line 363">
                <a:extLst>
                  <a:ext uri="{FF2B5EF4-FFF2-40B4-BE49-F238E27FC236}">
                    <a16:creationId xmlns:a16="http://schemas.microsoft.com/office/drawing/2014/main" id="{57B3A693-034F-B548-BD11-E51E1F7E7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4" y="3311"/>
                <a:ext cx="176" cy="11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64" name="Line 364">
                <a:extLst>
                  <a:ext uri="{FF2B5EF4-FFF2-40B4-BE49-F238E27FC236}">
                    <a16:creationId xmlns:a16="http://schemas.microsoft.com/office/drawing/2014/main" id="{5083F4BD-0306-9E4A-8AC3-439A5235A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8" y="2758"/>
                <a:ext cx="0" cy="5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</p:grpSp>
        <p:grpSp>
          <p:nvGrpSpPr>
            <p:cNvPr id="65" name="Group 365">
              <a:extLst>
                <a:ext uri="{FF2B5EF4-FFF2-40B4-BE49-F238E27FC236}">
                  <a16:creationId xmlns:a16="http://schemas.microsoft.com/office/drawing/2014/main" id="{B2799A96-4A80-BE4C-A1A0-40C5C7481B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8638" y="3170238"/>
              <a:ext cx="903287" cy="293687"/>
              <a:chOff x="1992" y="1736"/>
              <a:chExt cx="568" cy="186"/>
            </a:xfrm>
          </p:grpSpPr>
          <p:sp>
            <p:nvSpPr>
              <p:cNvPr id="66" name="Line 366">
                <a:extLst>
                  <a:ext uri="{FF2B5EF4-FFF2-40B4-BE49-F238E27FC236}">
                    <a16:creationId xmlns:a16="http://schemas.microsoft.com/office/drawing/2014/main" id="{DBA06234-36B3-244D-8182-4F21B4C3A4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92" y="1736"/>
                <a:ext cx="56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67" name="Line 367">
                <a:extLst>
                  <a:ext uri="{FF2B5EF4-FFF2-40B4-BE49-F238E27FC236}">
                    <a16:creationId xmlns:a16="http://schemas.microsoft.com/office/drawing/2014/main" id="{9E11DB57-1DAC-7442-99AB-A6CBBC40D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70" y="1744"/>
                <a:ext cx="90" cy="1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68" name="Line 368">
                <a:extLst>
                  <a:ext uri="{FF2B5EF4-FFF2-40B4-BE49-F238E27FC236}">
                    <a16:creationId xmlns:a16="http://schemas.microsoft.com/office/drawing/2014/main" id="{648230D8-3C3B-CE4F-9D3F-681BC6D21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8" y="1744"/>
                <a:ext cx="58" cy="1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69" name="Line 369">
                <a:extLst>
                  <a:ext uri="{FF2B5EF4-FFF2-40B4-BE49-F238E27FC236}">
                    <a16:creationId xmlns:a16="http://schemas.microsoft.com/office/drawing/2014/main" id="{6A80CDF1-2F43-554C-A04D-761D6CB311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6" y="1922"/>
                <a:ext cx="4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70" name="Rectangle 370">
              <a:extLst>
                <a:ext uri="{FF2B5EF4-FFF2-40B4-BE49-F238E27FC236}">
                  <a16:creationId xmlns:a16="http://schemas.microsoft.com/office/drawing/2014/main" id="{538D8B70-D5E8-D243-9369-215DBBB38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647" y="3427413"/>
              <a:ext cx="386220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Rt</a:t>
              </a:r>
            </a:p>
          </p:txBody>
        </p:sp>
        <p:sp>
          <p:nvSpPr>
            <p:cNvPr id="71" name="Line 371">
              <a:extLst>
                <a:ext uri="{FF2B5EF4-FFF2-40B4-BE49-F238E27FC236}">
                  <a16:creationId xmlns:a16="http://schemas.microsoft.com/office/drawing/2014/main" id="{5F793059-9253-EA44-9EAD-813C60C4B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2525" y="2944813"/>
              <a:ext cx="0" cy="188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2" name="Line 372">
              <a:extLst>
                <a:ext uri="{FF2B5EF4-FFF2-40B4-BE49-F238E27FC236}">
                  <a16:creationId xmlns:a16="http://schemas.microsoft.com/office/drawing/2014/main" id="{B135A1E0-BE8E-0147-912E-B89626ECA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125" y="2944813"/>
              <a:ext cx="0" cy="188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3" name="Rectangle 373">
              <a:extLst>
                <a:ext uri="{FF2B5EF4-FFF2-40B4-BE49-F238E27FC236}">
                  <a16:creationId xmlns:a16="http://schemas.microsoft.com/office/drawing/2014/main" id="{691AA6EE-0485-D741-90D9-A5BA96D62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136" y="2772073"/>
              <a:ext cx="43402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Rd</a:t>
              </a:r>
            </a:p>
          </p:txBody>
        </p:sp>
        <p:sp>
          <p:nvSpPr>
            <p:cNvPr id="74" name="Line 374">
              <a:extLst>
                <a:ext uri="{FF2B5EF4-FFF2-40B4-BE49-F238E27FC236}">
                  <a16:creationId xmlns:a16="http://schemas.microsoft.com/office/drawing/2014/main" id="{69B83B69-400F-0F47-B724-AFF9D690A3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5575" y="3335338"/>
              <a:ext cx="431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5" name="Rectangle 375">
              <a:extLst>
                <a:ext uri="{FF2B5EF4-FFF2-40B4-BE49-F238E27FC236}">
                  <a16:creationId xmlns:a16="http://schemas.microsoft.com/office/drawing/2014/main" id="{A74EBC60-0986-894C-A93A-D4424EDCB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237" y="2609852"/>
              <a:ext cx="780161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RegDst</a:t>
              </a:r>
            </a:p>
          </p:txBody>
        </p:sp>
        <p:sp>
          <p:nvSpPr>
            <p:cNvPr id="76" name="Rectangle 376">
              <a:extLst>
                <a:ext uri="{FF2B5EF4-FFF2-40B4-BE49-F238E27FC236}">
                  <a16:creationId xmlns:a16="http://schemas.microsoft.com/office/drawing/2014/main" id="{A4B45D78-5FC8-2644-A6E0-D5462F0A3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225" y="5316538"/>
              <a:ext cx="355600" cy="965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77" name="Rectangle 377">
              <a:extLst>
                <a:ext uri="{FF2B5EF4-FFF2-40B4-BE49-F238E27FC236}">
                  <a16:creationId xmlns:a16="http://schemas.microsoft.com/office/drawing/2014/main" id="{DA171ED8-3BE5-9F40-8CBE-405F1B7061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54931" y="5635112"/>
              <a:ext cx="954786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Extender</a:t>
              </a:r>
            </a:p>
          </p:txBody>
        </p:sp>
        <p:sp>
          <p:nvSpPr>
            <p:cNvPr id="78" name="Rectangle 378">
              <a:extLst>
                <a:ext uri="{FF2B5EF4-FFF2-40B4-BE49-F238E27FC236}">
                  <a16:creationId xmlns:a16="http://schemas.microsoft.com/office/drawing/2014/main" id="{22D49A60-1482-D544-85C9-9CEA4F1ECC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349876" y="5060439"/>
              <a:ext cx="609600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Mux</a:t>
              </a:r>
            </a:p>
          </p:txBody>
        </p:sp>
        <p:sp>
          <p:nvSpPr>
            <p:cNvPr id="79" name="Line 379">
              <a:extLst>
                <a:ext uri="{FF2B5EF4-FFF2-40B4-BE49-F238E27FC236}">
                  <a16:creationId xmlns:a16="http://schemas.microsoft.com/office/drawing/2014/main" id="{098AE24A-F826-894B-A1F5-7844D249D1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225" y="5703888"/>
              <a:ext cx="660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0" name="Rectangle 380">
              <a:extLst>
                <a:ext uri="{FF2B5EF4-FFF2-40B4-BE49-F238E27FC236}">
                  <a16:creationId xmlns:a16="http://schemas.microsoft.com/office/drawing/2014/main" id="{126D878A-D357-254C-BB47-19FE973F9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0288" y="5735636"/>
              <a:ext cx="4053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32</a:t>
              </a:r>
            </a:p>
          </p:txBody>
        </p:sp>
        <p:sp>
          <p:nvSpPr>
            <p:cNvPr id="81" name="Line 381">
              <a:extLst>
                <a:ext uri="{FF2B5EF4-FFF2-40B4-BE49-F238E27FC236}">
                  <a16:creationId xmlns:a16="http://schemas.microsoft.com/office/drawing/2014/main" id="{3AEFC139-CAC9-E94D-95AC-59336D0357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35563" y="5637213"/>
              <a:ext cx="87312" cy="1317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2" name="Line 382">
              <a:extLst>
                <a:ext uri="{FF2B5EF4-FFF2-40B4-BE49-F238E27FC236}">
                  <a16:creationId xmlns:a16="http://schemas.microsoft.com/office/drawing/2014/main" id="{45EA95CE-3376-2E40-87D0-D3263329F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6625" y="5724847"/>
              <a:ext cx="965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3" name="Line 383">
              <a:extLst>
                <a:ext uri="{FF2B5EF4-FFF2-40B4-BE49-F238E27FC236}">
                  <a16:creationId xmlns:a16="http://schemas.microsoft.com/office/drawing/2014/main" id="{866F7CFE-8254-EB4B-8DAC-F5D8CD7A0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4775" y="5659760"/>
              <a:ext cx="87313" cy="130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4" name="Rectangle 384">
              <a:extLst>
                <a:ext uri="{FF2B5EF4-FFF2-40B4-BE49-F238E27FC236}">
                  <a16:creationId xmlns:a16="http://schemas.microsoft.com/office/drawing/2014/main" id="{5CC70E37-97D3-6F40-A40C-D84CFAA2C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036" y="5721674"/>
              <a:ext cx="4053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16</a:t>
              </a:r>
            </a:p>
          </p:txBody>
        </p:sp>
        <p:sp>
          <p:nvSpPr>
            <p:cNvPr id="85" name="Rectangle 385">
              <a:extLst>
                <a:ext uri="{FF2B5EF4-FFF2-40B4-BE49-F238E27FC236}">
                  <a16:creationId xmlns:a16="http://schemas.microsoft.com/office/drawing/2014/main" id="{9032E16F-1D0B-1F48-877B-4411EC23C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3836" y="5580386"/>
              <a:ext cx="730440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I</a:t>
              </a: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mm16</a:t>
              </a:r>
            </a:p>
          </p:txBody>
        </p:sp>
        <p:sp>
          <p:nvSpPr>
            <p:cNvPr id="86" name="Line 386">
              <a:extLst>
                <a:ext uri="{FF2B5EF4-FFF2-40B4-BE49-F238E27FC236}">
                  <a16:creationId xmlns:a16="http://schemas.microsoft.com/office/drawing/2014/main" id="{B11D42CF-74A3-C842-947C-0A2E470A8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2138" y="5788025"/>
              <a:ext cx="0" cy="9255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7" name="Rectangle 387">
              <a:extLst>
                <a:ext uri="{FF2B5EF4-FFF2-40B4-BE49-F238E27FC236}">
                  <a16:creationId xmlns:a16="http://schemas.microsoft.com/office/drawing/2014/main" id="{1682F6E1-D531-4D43-BD81-F7FC0ABE7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237" y="6704013"/>
              <a:ext cx="892988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ALUSrc</a:t>
              </a:r>
              <a:r>
                <a:rPr kumimoji="0" lang="en-US" altLang="zh-CN" sz="1100" u="sng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0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8" name="Line 388">
              <a:extLst>
                <a:ext uri="{FF2B5EF4-FFF2-40B4-BE49-F238E27FC236}">
                  <a16:creationId xmlns:a16="http://schemas.microsoft.com/office/drawing/2014/main" id="{D67DA5BE-3D66-E741-957C-FF07F56C9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8825" y="5064125"/>
              <a:ext cx="508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9" name="Line 389">
              <a:extLst>
                <a:ext uri="{FF2B5EF4-FFF2-40B4-BE49-F238E27FC236}">
                  <a16:creationId xmlns:a16="http://schemas.microsoft.com/office/drawing/2014/main" id="{6EB02E17-5C42-F048-AAE9-F75E03493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8725" y="5418138"/>
              <a:ext cx="0" cy="1193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0" name="Line 390">
              <a:extLst>
                <a:ext uri="{FF2B5EF4-FFF2-40B4-BE49-F238E27FC236}">
                  <a16:creationId xmlns:a16="http://schemas.microsoft.com/office/drawing/2014/main" id="{11DC6F3E-5EAB-FE41-8A86-4023FAE386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3125" y="6289675"/>
              <a:ext cx="0" cy="47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1" name="Rectangle 391">
              <a:extLst>
                <a:ext uri="{FF2B5EF4-FFF2-40B4-BE49-F238E27FC236}">
                  <a16:creationId xmlns:a16="http://schemas.microsoft.com/office/drawing/2014/main" id="{B136044B-3E1F-0142-8C1F-92BDA6878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238" y="6694487"/>
              <a:ext cx="6845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 err="1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ExtOp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grpSp>
          <p:nvGrpSpPr>
            <p:cNvPr id="92" name="Group 392">
              <a:extLst>
                <a:ext uri="{FF2B5EF4-FFF2-40B4-BE49-F238E27FC236}">
                  <a16:creationId xmlns:a16="http://schemas.microsoft.com/office/drawing/2014/main" id="{31E1B7BC-DBD6-F040-9E31-3D43C41FF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16913" y="4441825"/>
              <a:ext cx="303212" cy="1827213"/>
              <a:chOff x="5296" y="2537"/>
              <a:chExt cx="192" cy="1151"/>
            </a:xfrm>
          </p:grpSpPr>
          <p:sp>
            <p:nvSpPr>
              <p:cNvPr id="93" name="Line 393">
                <a:extLst>
                  <a:ext uri="{FF2B5EF4-FFF2-40B4-BE49-F238E27FC236}">
                    <a16:creationId xmlns:a16="http://schemas.microsoft.com/office/drawing/2014/main" id="{81758D24-B2FA-B745-AC4D-68695479C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96" y="2537"/>
                <a:ext cx="0" cy="11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94" name="Line 394">
                <a:extLst>
                  <a:ext uri="{FF2B5EF4-FFF2-40B4-BE49-F238E27FC236}">
                    <a16:creationId xmlns:a16="http://schemas.microsoft.com/office/drawing/2014/main" id="{E5C636BE-1463-2146-B4D4-9D492B536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4" y="2537"/>
                <a:ext cx="176" cy="13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95" name="Line 395">
                <a:extLst>
                  <a:ext uri="{FF2B5EF4-FFF2-40B4-BE49-F238E27FC236}">
                    <a16:creationId xmlns:a16="http://schemas.microsoft.com/office/drawing/2014/main" id="{3D496794-5114-BB4B-A8FC-06ACCA9956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4" y="3518"/>
                <a:ext cx="176" cy="1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96" name="Line 396">
                <a:extLst>
                  <a:ext uri="{FF2B5EF4-FFF2-40B4-BE49-F238E27FC236}">
                    <a16:creationId xmlns:a16="http://schemas.microsoft.com/office/drawing/2014/main" id="{F7A8C2B1-92DF-C346-BDA7-39AB25D85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8" y="2691"/>
                <a:ext cx="0" cy="82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97" name="Rectangle 397">
              <a:extLst>
                <a:ext uri="{FF2B5EF4-FFF2-40B4-BE49-F238E27FC236}">
                  <a16:creationId xmlns:a16="http://schemas.microsoft.com/office/drawing/2014/main" id="{CC3EBEA1-1A4E-0F49-B3C8-18D54D31D3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077920" y="5264877"/>
              <a:ext cx="754062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Mux</a:t>
              </a:r>
            </a:p>
          </p:txBody>
        </p:sp>
        <p:sp>
          <p:nvSpPr>
            <p:cNvPr id="98" name="Line 398">
              <a:extLst>
                <a:ext uri="{FF2B5EF4-FFF2-40B4-BE49-F238E27FC236}">
                  <a16:creationId xmlns:a16="http://schemas.microsoft.com/office/drawing/2014/main" id="{98E50E0A-EB5D-324F-A51F-188CB67975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7725" y="3100388"/>
              <a:ext cx="0" cy="14065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9" name="Rectangle 399">
              <a:extLst>
                <a:ext uri="{FF2B5EF4-FFF2-40B4-BE49-F238E27FC236}">
                  <a16:creationId xmlns:a16="http://schemas.microsoft.com/office/drawing/2014/main" id="{E0AA9EF7-1477-E341-B076-44A77A46F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4935" y="2622550"/>
              <a:ext cx="1040237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 err="1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MemtoReg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0" name="Line 400">
              <a:extLst>
                <a:ext uri="{FF2B5EF4-FFF2-40B4-BE49-F238E27FC236}">
                  <a16:creationId xmlns:a16="http://schemas.microsoft.com/office/drawing/2014/main" id="{A6E2ED61-61F4-014B-99DC-97F674500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2825" y="5392738"/>
              <a:ext cx="177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1" name="Rectangle 401">
              <a:extLst>
                <a:ext uri="{FF2B5EF4-FFF2-40B4-BE49-F238E27FC236}">
                  <a16:creationId xmlns:a16="http://schemas.microsoft.com/office/drawing/2014/main" id="{E6700A6C-7884-3041-A8C9-ACC53BA96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0388" y="5314950"/>
              <a:ext cx="1125537" cy="1128713"/>
            </a:xfrm>
            <a:prstGeom prst="rect">
              <a:avLst/>
            </a:prstGeom>
            <a:noFill/>
            <a:ln w="50800">
              <a:solidFill>
                <a:srgbClr val="0432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2" name="Line 402">
              <a:extLst>
                <a:ext uri="{FF2B5EF4-FFF2-40B4-BE49-F238E27FC236}">
                  <a16:creationId xmlns:a16="http://schemas.microsoft.com/office/drawing/2014/main" id="{3A1E09E9-E885-B545-B495-EA93559D18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61125" y="6321425"/>
              <a:ext cx="457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3" name="Rectangle 403">
              <a:extLst>
                <a:ext uri="{FF2B5EF4-FFF2-40B4-BE49-F238E27FC236}">
                  <a16:creationId xmlns:a16="http://schemas.microsoft.com/office/drawing/2014/main" id="{FA068603-8E81-B044-A9F0-E9E6FE84B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3664" y="6024562"/>
              <a:ext cx="46271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Clk</a:t>
              </a:r>
            </a:p>
          </p:txBody>
        </p:sp>
        <p:sp>
          <p:nvSpPr>
            <p:cNvPr id="104" name="Line 405">
              <a:extLst>
                <a:ext uri="{FF2B5EF4-FFF2-40B4-BE49-F238E27FC236}">
                  <a16:creationId xmlns:a16="http://schemas.microsoft.com/office/drawing/2014/main" id="{E44C3ECE-7128-FE4C-BF56-59BD44497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8325" y="6205538"/>
              <a:ext cx="250825" cy="635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5" name="Line 406">
              <a:extLst>
                <a:ext uri="{FF2B5EF4-FFF2-40B4-BE49-F238E27FC236}">
                  <a16:creationId xmlns:a16="http://schemas.microsoft.com/office/drawing/2014/main" id="{998926C1-94B9-6B47-8D12-ADC022E4E0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23088" y="6281738"/>
              <a:ext cx="223837" cy="127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6" name="Rectangle 407">
              <a:extLst>
                <a:ext uri="{FF2B5EF4-FFF2-40B4-BE49-F238E27FC236}">
                  <a16:creationId xmlns:a16="http://schemas.microsoft.com/office/drawing/2014/main" id="{4E68BA87-669F-2546-9C0B-20274C61A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9751" y="5297489"/>
              <a:ext cx="638647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WrEn</a:t>
              </a:r>
              <a:endParaRPr kumimoji="0" lang="en-US" altLang="en-US" sz="11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7" name="Line 409">
              <a:extLst>
                <a:ext uri="{FF2B5EF4-FFF2-40B4-BE49-F238E27FC236}">
                  <a16:creationId xmlns:a16="http://schemas.microsoft.com/office/drawing/2014/main" id="{FF60EAF1-E2E0-814E-B944-5F1310EFD3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5787" y="5428456"/>
              <a:ext cx="88900" cy="128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8" name="Rectangle 410">
              <a:extLst>
                <a:ext uri="{FF2B5EF4-FFF2-40B4-BE49-F238E27FC236}">
                  <a16:creationId xmlns:a16="http://schemas.microsoft.com/office/drawing/2014/main" id="{F405F283-5C79-6042-8D13-CD80DF0C1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6115" y="5190878"/>
              <a:ext cx="40534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32</a:t>
              </a:r>
            </a:p>
          </p:txBody>
        </p:sp>
        <p:sp>
          <p:nvSpPr>
            <p:cNvPr id="109" name="Line 411">
              <a:extLst>
                <a:ext uri="{FF2B5EF4-FFF2-40B4-BE49-F238E27FC236}">
                  <a16:creationId xmlns:a16="http://schemas.microsoft.com/office/drawing/2014/main" id="{8B96ED05-F6D1-5C4E-B7B5-A00D70DCC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10425" y="3076575"/>
              <a:ext cx="0" cy="22304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0" name="Line 412">
              <a:extLst>
                <a:ext uri="{FF2B5EF4-FFF2-40B4-BE49-F238E27FC236}">
                  <a16:creationId xmlns:a16="http://schemas.microsoft.com/office/drawing/2014/main" id="{5DD09E15-EED5-6D49-BBC8-59D5E01E2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43825" y="4675188"/>
              <a:ext cx="0" cy="6143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1" name="Rectangle 413">
              <a:extLst>
                <a:ext uri="{FF2B5EF4-FFF2-40B4-BE49-F238E27FC236}">
                  <a16:creationId xmlns:a16="http://schemas.microsoft.com/office/drawing/2014/main" id="{6DA18E51-1E85-0A42-905C-B0C062EE5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9349" y="5299075"/>
              <a:ext cx="479925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Adr</a:t>
              </a:r>
              <a:endParaRPr kumimoji="0" lang="en-US" altLang="en-US" sz="11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2" name="Rectangle 414">
              <a:extLst>
                <a:ext uri="{FF2B5EF4-FFF2-40B4-BE49-F238E27FC236}">
                  <a16:creationId xmlns:a16="http://schemas.microsoft.com/office/drawing/2014/main" id="{7148E543-7B4C-1B4C-9EC0-7884429AE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1091" y="5652793"/>
              <a:ext cx="824144" cy="547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Data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Memory</a:t>
              </a:r>
            </a:p>
          </p:txBody>
        </p:sp>
        <p:sp>
          <p:nvSpPr>
            <p:cNvPr id="113" name="Line 415">
              <a:extLst>
                <a:ext uri="{FF2B5EF4-FFF2-40B4-BE49-F238E27FC236}">
                  <a16:creationId xmlns:a16="http://schemas.microsoft.com/office/drawing/2014/main" id="{5DA138B9-D819-C14E-B9FF-12C002BFF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8938" y="5795963"/>
              <a:ext cx="2873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4" name="Rectangle 416">
              <a:extLst>
                <a:ext uri="{FF2B5EF4-FFF2-40B4-BE49-F238E27FC236}">
                  <a16:creationId xmlns:a16="http://schemas.microsoft.com/office/drawing/2014/main" id="{C92C6B8A-8476-3042-9F5D-6073D2DCC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839" y="2622550"/>
              <a:ext cx="805021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 err="1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MemWr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5" name="Line 420">
              <a:extLst>
                <a:ext uri="{FF2B5EF4-FFF2-40B4-BE49-F238E27FC236}">
                  <a16:creationId xmlns:a16="http://schemas.microsoft.com/office/drawing/2014/main" id="{4B80F022-24F6-CE47-9F92-5B3171893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2777" y="1316038"/>
              <a:ext cx="27241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6" name="Rectangle 421">
              <a:extLst>
                <a:ext uri="{FF2B5EF4-FFF2-40B4-BE49-F238E27FC236}">
                  <a16:creationId xmlns:a16="http://schemas.microsoft.com/office/drawing/2014/main" id="{319E14D3-4E0E-7948-A4F5-D22CBE046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4838" y="1168400"/>
              <a:ext cx="1514496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Instruction&lt;31:0&gt;</a:t>
              </a:r>
            </a:p>
          </p:txBody>
        </p:sp>
        <p:sp>
          <p:nvSpPr>
            <p:cNvPr id="117" name="Rectangle 422">
              <a:extLst>
                <a:ext uri="{FF2B5EF4-FFF2-40B4-BE49-F238E27FC236}">
                  <a16:creationId xmlns:a16="http://schemas.microsoft.com/office/drawing/2014/main" id="{52EE06E6-F13F-A143-8ADA-9DE7D2D02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7225" y="4541837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18" name="Rectangle 423">
              <a:extLst>
                <a:ext uri="{FF2B5EF4-FFF2-40B4-BE49-F238E27FC236}">
                  <a16:creationId xmlns:a16="http://schemas.microsoft.com/office/drawing/2014/main" id="{DF7FB3B8-28E3-2D49-98E3-FA911E2FB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8339" y="5595936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19" name="Rectangle 424">
              <a:extLst>
                <a:ext uri="{FF2B5EF4-FFF2-40B4-BE49-F238E27FC236}">
                  <a16:creationId xmlns:a16="http://schemas.microsoft.com/office/drawing/2014/main" id="{49314137-1BEB-394D-978E-D64639462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1639" y="4695827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20" name="Rectangle 425">
              <a:extLst>
                <a:ext uri="{FF2B5EF4-FFF2-40B4-BE49-F238E27FC236}">
                  <a16:creationId xmlns:a16="http://schemas.microsoft.com/office/drawing/2014/main" id="{9AC73791-7754-1948-9699-6CCF7C066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1639" y="5473701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21" name="Rectangle 426">
              <a:extLst>
                <a:ext uri="{FF2B5EF4-FFF2-40B4-BE49-F238E27FC236}">
                  <a16:creationId xmlns:a16="http://schemas.microsoft.com/office/drawing/2014/main" id="{044C14A8-6D50-9A45-AAEE-AE3810A41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562" y="3144838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22" name="Rectangle 427">
              <a:extLst>
                <a:ext uri="{FF2B5EF4-FFF2-40B4-BE49-F238E27FC236}">
                  <a16:creationId xmlns:a16="http://schemas.microsoft.com/office/drawing/2014/main" id="{F2CA6DA3-18E6-9747-B401-C4E3E27EE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062" y="3157538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23" name="Line 428">
              <a:extLst>
                <a:ext uri="{FF2B5EF4-FFF2-40B4-BE49-F238E27FC236}">
                  <a16:creationId xmlns:a16="http://schemas.microsoft.com/office/drawing/2014/main" id="{9AEEAE21-1BF2-1F4B-81B0-556794615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925" y="1328738"/>
              <a:ext cx="0" cy="889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4" name="Rectangle 429">
              <a:extLst>
                <a:ext uri="{FF2B5EF4-FFF2-40B4-BE49-F238E27FC236}">
                  <a16:creationId xmlns:a16="http://schemas.microsoft.com/office/drawing/2014/main" id="{63A4DA66-5668-1E42-9C2B-9CA470DA00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90292" y="1534599"/>
              <a:ext cx="893314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&lt;21:25&gt;</a:t>
              </a:r>
            </a:p>
          </p:txBody>
        </p:sp>
        <p:sp>
          <p:nvSpPr>
            <p:cNvPr id="125" name="Rectangle 430">
              <a:extLst>
                <a:ext uri="{FF2B5EF4-FFF2-40B4-BE49-F238E27FC236}">
                  <a16:creationId xmlns:a16="http://schemas.microsoft.com/office/drawing/2014/main" id="{98AC3B9C-0432-3D4D-B24B-95A781EB9AC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22900" y="1534599"/>
              <a:ext cx="893314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&lt;16:20&gt;</a:t>
              </a:r>
            </a:p>
          </p:txBody>
        </p:sp>
        <p:sp>
          <p:nvSpPr>
            <p:cNvPr id="126" name="Rectangle 431">
              <a:extLst>
                <a:ext uri="{FF2B5EF4-FFF2-40B4-BE49-F238E27FC236}">
                  <a16:creationId xmlns:a16="http://schemas.microsoft.com/office/drawing/2014/main" id="{C7235F61-6807-A447-885A-302F09E08F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157092" y="1534599"/>
              <a:ext cx="893314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&lt;11:15&gt;</a:t>
              </a:r>
            </a:p>
          </p:txBody>
        </p:sp>
        <p:sp>
          <p:nvSpPr>
            <p:cNvPr id="127" name="Rectangle 432">
              <a:extLst>
                <a:ext uri="{FF2B5EF4-FFF2-40B4-BE49-F238E27FC236}">
                  <a16:creationId xmlns:a16="http://schemas.microsoft.com/office/drawing/2014/main" id="{2466246E-C3CB-D147-AA2E-E3238478C0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689894" y="1536188"/>
              <a:ext cx="792911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&lt;0:15&gt;</a:t>
              </a:r>
            </a:p>
          </p:txBody>
        </p:sp>
        <p:sp>
          <p:nvSpPr>
            <p:cNvPr id="128" name="Line 433">
              <a:extLst>
                <a:ext uri="{FF2B5EF4-FFF2-40B4-BE49-F238E27FC236}">
                  <a16:creationId xmlns:a16="http://schemas.microsoft.com/office/drawing/2014/main" id="{2C614D4A-B90C-2845-95AE-ADB96F427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0325" y="1328738"/>
              <a:ext cx="0" cy="889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9" name="Line 434">
              <a:extLst>
                <a:ext uri="{FF2B5EF4-FFF2-40B4-BE49-F238E27FC236}">
                  <a16:creationId xmlns:a16="http://schemas.microsoft.com/office/drawing/2014/main" id="{68B207C9-98EA-5B45-A47C-051D2EE2C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3725" y="1328738"/>
              <a:ext cx="0" cy="889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0" name="Line 435">
              <a:extLst>
                <a:ext uri="{FF2B5EF4-FFF2-40B4-BE49-F238E27FC236}">
                  <a16:creationId xmlns:a16="http://schemas.microsoft.com/office/drawing/2014/main" id="{7EA40D62-364F-C44A-88BC-03622B887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5538" y="1328738"/>
              <a:ext cx="0" cy="889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1" name="Rectangle 436">
              <a:extLst>
                <a:ext uri="{FF2B5EF4-FFF2-40B4-BE49-F238E27FC236}">
                  <a16:creationId xmlns:a16="http://schemas.microsoft.com/office/drawing/2014/main" id="{142C83B9-DEB2-3C41-9087-4988F4E0D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238" y="2154238"/>
              <a:ext cx="730440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Imm16</a:t>
              </a:r>
            </a:p>
          </p:txBody>
        </p:sp>
        <p:sp>
          <p:nvSpPr>
            <p:cNvPr id="132" name="Rectangle 437">
              <a:extLst>
                <a:ext uri="{FF2B5EF4-FFF2-40B4-BE49-F238E27FC236}">
                  <a16:creationId xmlns:a16="http://schemas.microsoft.com/office/drawing/2014/main" id="{96B34722-C255-7D4E-8638-4C7A42322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426" y="2154238"/>
              <a:ext cx="43402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Rd</a:t>
              </a:r>
            </a:p>
          </p:txBody>
        </p:sp>
        <p:sp>
          <p:nvSpPr>
            <p:cNvPr id="133" name="Rectangle 438">
              <a:extLst>
                <a:ext uri="{FF2B5EF4-FFF2-40B4-BE49-F238E27FC236}">
                  <a16:creationId xmlns:a16="http://schemas.microsoft.com/office/drawing/2014/main" id="{62EF360C-CC9E-7843-8A18-73F28B2D1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637" y="2154238"/>
              <a:ext cx="386220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Rt</a:t>
              </a:r>
            </a:p>
          </p:txBody>
        </p:sp>
        <p:sp>
          <p:nvSpPr>
            <p:cNvPr id="134" name="Rectangle 439">
              <a:extLst>
                <a:ext uri="{FF2B5EF4-FFF2-40B4-BE49-F238E27FC236}">
                  <a16:creationId xmlns:a16="http://schemas.microsoft.com/office/drawing/2014/main" id="{46A61373-A9F4-1248-B8CE-3C7139E38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240" y="2154238"/>
              <a:ext cx="424466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Rs</a:t>
              </a:r>
            </a:p>
          </p:txBody>
        </p:sp>
        <p:sp>
          <p:nvSpPr>
            <p:cNvPr id="135" name="Oval 440">
              <a:extLst>
                <a:ext uri="{FF2B5EF4-FFF2-40B4-BE49-F238E27FC236}">
                  <a16:creationId xmlns:a16="http://schemas.microsoft.com/office/drawing/2014/main" id="{01760FDC-C16B-924C-9F78-A449806A1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5875" y="4852988"/>
              <a:ext cx="76200" cy="127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grpSp>
          <p:nvGrpSpPr>
            <p:cNvPr id="136" name="Group 443">
              <a:extLst>
                <a:ext uri="{FF2B5EF4-FFF2-40B4-BE49-F238E27FC236}">
                  <a16:creationId xmlns:a16="http://schemas.microsoft.com/office/drawing/2014/main" id="{B6C10EA5-1130-B843-957C-EE755B5F83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0272" y="3597275"/>
              <a:ext cx="447744" cy="1157288"/>
              <a:chOff x="644" y="2005"/>
              <a:chExt cx="283" cy="729"/>
            </a:xfrm>
          </p:grpSpPr>
          <p:grpSp>
            <p:nvGrpSpPr>
              <p:cNvPr id="137" name="Group 444">
                <a:extLst>
                  <a:ext uri="{FF2B5EF4-FFF2-40B4-BE49-F238E27FC236}">
                    <a16:creationId xmlns:a16="http://schemas.microsoft.com/office/drawing/2014/main" id="{F461DB9D-FD0F-104A-BBCA-FAE4737A61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4" y="2005"/>
                <a:ext cx="242" cy="729"/>
                <a:chOff x="644" y="2005"/>
                <a:chExt cx="242" cy="729"/>
              </a:xfrm>
            </p:grpSpPr>
            <p:sp>
              <p:nvSpPr>
                <p:cNvPr id="139" name="Line 445">
                  <a:extLst>
                    <a:ext uri="{FF2B5EF4-FFF2-40B4-BE49-F238E27FC236}">
                      <a16:creationId xmlns:a16="http://schemas.microsoft.com/office/drawing/2014/main" id="{AED80C5F-EC3D-B147-AAC3-08F37DFCB5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4" y="2005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40" name="Line 446">
                  <a:extLst>
                    <a:ext uri="{FF2B5EF4-FFF2-40B4-BE49-F238E27FC236}">
                      <a16:creationId xmlns:a16="http://schemas.microsoft.com/office/drawing/2014/main" id="{82578B46-8B8F-1649-8E38-EB2887A31B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2" y="2005"/>
                  <a:ext cx="226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41" name="Line 447">
                  <a:extLst>
                    <a:ext uri="{FF2B5EF4-FFF2-40B4-BE49-F238E27FC236}">
                      <a16:creationId xmlns:a16="http://schemas.microsoft.com/office/drawing/2014/main" id="{70264E9B-C5A5-BD46-8C9A-D7396242E6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2" y="2187"/>
                  <a:ext cx="105" cy="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42" name="Line 448">
                  <a:extLst>
                    <a:ext uri="{FF2B5EF4-FFF2-40B4-BE49-F238E27FC236}">
                      <a16:creationId xmlns:a16="http://schemas.microsoft.com/office/drawing/2014/main" id="{5A47C6C7-8A53-2840-A651-982C109D7B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65" y="2279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43" name="Line 449">
                  <a:extLst>
                    <a:ext uri="{FF2B5EF4-FFF2-40B4-BE49-F238E27FC236}">
                      <a16:creationId xmlns:a16="http://schemas.microsoft.com/office/drawing/2014/main" id="{CA0604E4-C285-8D48-9272-CE2395902D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86" y="2187"/>
                  <a:ext cx="0" cy="34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44" name="Line 450">
                  <a:extLst>
                    <a:ext uri="{FF2B5EF4-FFF2-40B4-BE49-F238E27FC236}">
                      <a16:creationId xmlns:a16="http://schemas.microsoft.com/office/drawing/2014/main" id="{C9EA8497-9172-2E44-8DEB-FED8F24BD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2" y="2445"/>
                  <a:ext cx="105" cy="10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45" name="Line 451">
                  <a:extLst>
                    <a:ext uri="{FF2B5EF4-FFF2-40B4-BE49-F238E27FC236}">
                      <a16:creationId xmlns:a16="http://schemas.microsoft.com/office/drawing/2014/main" id="{FD8DE780-2987-9746-AD2E-9E3C16737B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4" y="2552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46" name="Line 452">
                  <a:extLst>
                    <a:ext uri="{FF2B5EF4-FFF2-40B4-BE49-F238E27FC236}">
                      <a16:creationId xmlns:a16="http://schemas.microsoft.com/office/drawing/2014/main" id="{C59E2AF1-8FBC-E84B-97F0-47CCC8C631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2" y="2536"/>
                  <a:ext cx="226" cy="19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138" name="Rectangle 453">
                <a:extLst>
                  <a:ext uri="{FF2B5EF4-FFF2-40B4-BE49-F238E27FC236}">
                    <a16:creationId xmlns:a16="http://schemas.microsoft.com/office/drawing/2014/main" id="{6748D710-9F30-744C-AB38-246E428A6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5" y="2265"/>
                <a:ext cx="450" cy="1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58" tIns="44436" rIns="90458" bIns="44436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rPr>
                  <a:t>Adder</a:t>
                </a:r>
              </a:p>
            </p:txBody>
          </p:sp>
        </p:grpSp>
        <p:grpSp>
          <p:nvGrpSpPr>
            <p:cNvPr id="147" name="Group 454">
              <a:extLst>
                <a:ext uri="{FF2B5EF4-FFF2-40B4-BE49-F238E27FC236}">
                  <a16:creationId xmlns:a16="http://schemas.microsoft.com/office/drawing/2014/main" id="{7428F194-3902-3047-AEDD-A87FAEDB4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1387" y="4829175"/>
              <a:ext cx="436674" cy="1157288"/>
              <a:chOff x="650" y="2781"/>
              <a:chExt cx="276" cy="729"/>
            </a:xfrm>
          </p:grpSpPr>
          <p:grpSp>
            <p:nvGrpSpPr>
              <p:cNvPr id="148" name="Group 455">
                <a:extLst>
                  <a:ext uri="{FF2B5EF4-FFF2-40B4-BE49-F238E27FC236}">
                    <a16:creationId xmlns:a16="http://schemas.microsoft.com/office/drawing/2014/main" id="{6FB30375-480B-954D-A7EE-DCB1DDB7D4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0" y="2781"/>
                <a:ext cx="242" cy="729"/>
                <a:chOff x="650" y="2781"/>
                <a:chExt cx="242" cy="729"/>
              </a:xfrm>
            </p:grpSpPr>
            <p:sp>
              <p:nvSpPr>
                <p:cNvPr id="150" name="Line 456">
                  <a:extLst>
                    <a:ext uri="{FF2B5EF4-FFF2-40B4-BE49-F238E27FC236}">
                      <a16:creationId xmlns:a16="http://schemas.microsoft.com/office/drawing/2014/main" id="{577B0F96-B9DB-FB44-8ED8-56C91EC38B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0" y="2781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51" name="Line 457">
                  <a:extLst>
                    <a:ext uri="{FF2B5EF4-FFF2-40B4-BE49-F238E27FC236}">
                      <a16:creationId xmlns:a16="http://schemas.microsoft.com/office/drawing/2014/main" id="{1082575E-115F-8C46-B2BF-4D25B28CB5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8" y="2781"/>
                  <a:ext cx="226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52" name="Line 458">
                  <a:extLst>
                    <a:ext uri="{FF2B5EF4-FFF2-40B4-BE49-F238E27FC236}">
                      <a16:creationId xmlns:a16="http://schemas.microsoft.com/office/drawing/2014/main" id="{7F7923E7-7987-B04A-A28D-5ECB74A1B4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8" y="2963"/>
                  <a:ext cx="105" cy="7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53" name="Line 459">
                  <a:extLst>
                    <a:ext uri="{FF2B5EF4-FFF2-40B4-BE49-F238E27FC236}">
                      <a16:creationId xmlns:a16="http://schemas.microsoft.com/office/drawing/2014/main" id="{00CCA51D-A107-2844-B99B-2D56BA4539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71" y="3055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54" name="Line 460">
                  <a:extLst>
                    <a:ext uri="{FF2B5EF4-FFF2-40B4-BE49-F238E27FC236}">
                      <a16:creationId xmlns:a16="http://schemas.microsoft.com/office/drawing/2014/main" id="{C6B80E3D-0621-6942-A8F6-8A539440AC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63"/>
                  <a:ext cx="0" cy="34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55" name="Line 461">
                  <a:extLst>
                    <a:ext uri="{FF2B5EF4-FFF2-40B4-BE49-F238E27FC236}">
                      <a16:creationId xmlns:a16="http://schemas.microsoft.com/office/drawing/2014/main" id="{6EA06B7A-BA8F-014F-B879-33BD8B7A37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8" y="3221"/>
                  <a:ext cx="105" cy="10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56" name="Line 462">
                  <a:extLst>
                    <a:ext uri="{FF2B5EF4-FFF2-40B4-BE49-F238E27FC236}">
                      <a16:creationId xmlns:a16="http://schemas.microsoft.com/office/drawing/2014/main" id="{0F88C7BE-9478-8A48-ADA3-07F2C60E1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0" y="3328"/>
                  <a:ext cx="0" cy="16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  <p:sp>
              <p:nvSpPr>
                <p:cNvPr id="157" name="Line 463">
                  <a:extLst>
                    <a:ext uri="{FF2B5EF4-FFF2-40B4-BE49-F238E27FC236}">
                      <a16:creationId xmlns:a16="http://schemas.microsoft.com/office/drawing/2014/main" id="{7EBF85EB-E9AD-E441-BBA5-19FC5F8A72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58" y="3312"/>
                  <a:ext cx="226" cy="19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endParaRPr>
                </a:p>
              </p:txBody>
            </p:sp>
          </p:grpSp>
          <p:sp>
            <p:nvSpPr>
              <p:cNvPr id="149" name="Rectangle 464">
                <a:extLst>
                  <a:ext uri="{FF2B5EF4-FFF2-40B4-BE49-F238E27FC236}">
                    <a16:creationId xmlns:a16="http://schemas.microsoft.com/office/drawing/2014/main" id="{1D978789-06C8-7946-98D9-AFBA1C81FE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604" y="3042"/>
                <a:ext cx="450" cy="1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58" tIns="44436" rIns="90458" bIns="44436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rPr>
                  <a:t>Adder</a:t>
                </a:r>
              </a:p>
            </p:txBody>
          </p:sp>
        </p:grpSp>
        <p:sp>
          <p:nvSpPr>
            <p:cNvPr id="158" name="Line 465">
              <a:extLst>
                <a:ext uri="{FF2B5EF4-FFF2-40B4-BE49-F238E27FC236}">
                  <a16:creationId xmlns:a16="http://schemas.microsoft.com/office/drawing/2014/main" id="{1CE9F86D-C5EB-FF4B-8DFA-F3AC486A1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413" y="4953000"/>
              <a:ext cx="2730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59" name="Rectangle 466">
              <a:extLst>
                <a:ext uri="{FF2B5EF4-FFF2-40B4-BE49-F238E27FC236}">
                  <a16:creationId xmlns:a16="http://schemas.microsoft.com/office/drawing/2014/main" id="{598CA0DA-CAB4-7B4D-924D-34170C25D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3275" y="4198938"/>
              <a:ext cx="230188" cy="1193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0" name="Line 467">
              <a:extLst>
                <a:ext uri="{FF2B5EF4-FFF2-40B4-BE49-F238E27FC236}">
                  <a16:creationId xmlns:a16="http://schemas.microsoft.com/office/drawing/2014/main" id="{EA61CD22-5927-8448-B82E-9CF8F15A9C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3450" y="5406033"/>
              <a:ext cx="0" cy="36294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1" name="Rectangle 468">
              <a:extLst>
                <a:ext uri="{FF2B5EF4-FFF2-40B4-BE49-F238E27FC236}">
                  <a16:creationId xmlns:a16="http://schemas.microsoft.com/office/drawing/2014/main" id="{86C4032D-39D2-D443-9BCB-F55705F0C0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57497" y="4722300"/>
              <a:ext cx="485552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PC</a:t>
              </a:r>
            </a:p>
          </p:txBody>
        </p:sp>
        <p:sp>
          <p:nvSpPr>
            <p:cNvPr id="162" name="Rectangle 469">
              <a:extLst>
                <a:ext uri="{FF2B5EF4-FFF2-40B4-BE49-F238E27FC236}">
                  <a16:creationId xmlns:a16="http://schemas.microsoft.com/office/drawing/2014/main" id="{57A44F0D-E0E3-6A45-9D2E-D2D6A4C1A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7293" y="5736858"/>
              <a:ext cx="46271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Clk</a:t>
              </a:r>
            </a:p>
          </p:txBody>
        </p:sp>
        <p:sp>
          <p:nvSpPr>
            <p:cNvPr id="163" name="Rectangle 470">
              <a:extLst>
                <a:ext uri="{FF2B5EF4-FFF2-40B4-BE49-F238E27FC236}">
                  <a16:creationId xmlns:a16="http://schemas.microsoft.com/office/drawing/2014/main" id="{E04BE0FF-4D21-A64B-A8F5-06E2102C4F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975174" y="4170668"/>
              <a:ext cx="434325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00</a:t>
              </a:r>
            </a:p>
          </p:txBody>
        </p:sp>
        <p:sp>
          <p:nvSpPr>
            <p:cNvPr id="164" name="Rectangle 471">
              <a:extLst>
                <a:ext uri="{FF2B5EF4-FFF2-40B4-BE49-F238E27FC236}">
                  <a16:creationId xmlns:a16="http://schemas.microsoft.com/office/drawing/2014/main" id="{F6781BE2-CC4F-B144-A46D-6D86C4587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8038" y="4212233"/>
              <a:ext cx="222250" cy="23018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5" name="Line 481">
              <a:extLst>
                <a:ext uri="{FF2B5EF4-FFF2-40B4-BE49-F238E27FC236}">
                  <a16:creationId xmlns:a16="http://schemas.microsoft.com/office/drawing/2014/main" id="{55CD57E7-2AE3-584D-AC4F-B3D569C7F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4925" y="4229100"/>
              <a:ext cx="2746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6" name="Line 482">
              <a:extLst>
                <a:ext uri="{FF2B5EF4-FFF2-40B4-BE49-F238E27FC236}">
                  <a16:creationId xmlns:a16="http://schemas.microsoft.com/office/drawing/2014/main" id="{CB4D69C1-320B-0B44-AC48-2628761065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3975" y="5392738"/>
              <a:ext cx="2365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7" name="Rectangle 483">
              <a:extLst>
                <a:ext uri="{FF2B5EF4-FFF2-40B4-BE49-F238E27FC236}">
                  <a16:creationId xmlns:a16="http://schemas.microsoft.com/office/drawing/2014/main" id="{44E4F031-DF7E-FB48-9949-7B3CEA299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37" y="3538537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4</a:t>
              </a:r>
            </a:p>
          </p:txBody>
        </p:sp>
        <p:sp>
          <p:nvSpPr>
            <p:cNvPr id="168" name="Line 484">
              <a:extLst>
                <a:ext uri="{FF2B5EF4-FFF2-40B4-BE49-F238E27FC236}">
                  <a16:creationId xmlns:a16="http://schemas.microsoft.com/office/drawing/2014/main" id="{B03128B1-8497-2B4B-AC42-6CF9CFAA57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413" y="3733800"/>
              <a:ext cx="2730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9" name="Rectangle 485">
              <a:extLst>
                <a:ext uri="{FF2B5EF4-FFF2-40B4-BE49-F238E27FC236}">
                  <a16:creationId xmlns:a16="http://schemas.microsoft.com/office/drawing/2014/main" id="{93283579-99A8-E947-AC60-22254F14F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3" y="2622550"/>
              <a:ext cx="705580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sng" strike="noStrike" kern="1200" cap="none" spc="0" normalizeH="0" baseline="0" noProof="0" dirty="0" err="1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PCSrc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0" name="Line 486">
              <a:extLst>
                <a:ext uri="{FF2B5EF4-FFF2-40B4-BE49-F238E27FC236}">
                  <a16:creationId xmlns:a16="http://schemas.microsoft.com/office/drawing/2014/main" id="{51673722-511D-0846-B756-57A89FFBF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9738" y="2859088"/>
              <a:ext cx="0" cy="12922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1" name="Rectangle 487">
              <a:extLst>
                <a:ext uri="{FF2B5EF4-FFF2-40B4-BE49-F238E27FC236}">
                  <a16:creationId xmlns:a16="http://schemas.microsoft.com/office/drawing/2014/main" id="{306AD337-5351-4F48-84A5-0199761E5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25" y="5445125"/>
              <a:ext cx="295275" cy="8112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2" name="Rectangle 488">
              <a:extLst>
                <a:ext uri="{FF2B5EF4-FFF2-40B4-BE49-F238E27FC236}">
                  <a16:creationId xmlns:a16="http://schemas.microsoft.com/office/drawing/2014/main" id="{078D8F2B-3CC8-0740-896F-0292FF83D5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64580" y="5695437"/>
              <a:ext cx="794960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PC Ext</a:t>
              </a:r>
            </a:p>
          </p:txBody>
        </p:sp>
        <p:sp>
          <p:nvSpPr>
            <p:cNvPr id="173" name="Line 489">
              <a:extLst>
                <a:ext uri="{FF2B5EF4-FFF2-40B4-BE49-F238E27FC236}">
                  <a16:creationId xmlns:a16="http://schemas.microsoft.com/office/drawing/2014/main" id="{C223A65B-139E-A54A-94AB-54A02AE8A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3" y="5840453"/>
              <a:ext cx="2746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4" name="Line 490">
              <a:extLst>
                <a:ext uri="{FF2B5EF4-FFF2-40B4-BE49-F238E27FC236}">
                  <a16:creationId xmlns:a16="http://schemas.microsoft.com/office/drawing/2014/main" id="{87268A64-0E8F-EB40-A06B-049C1C2C6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163" y="5838826"/>
              <a:ext cx="2730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5" name="Freeform 491">
              <a:extLst>
                <a:ext uri="{FF2B5EF4-FFF2-40B4-BE49-F238E27FC236}">
                  <a16:creationId xmlns:a16="http://schemas.microsoft.com/office/drawing/2014/main" id="{875A8DDA-B7E7-CD4F-902B-8A699602E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213" y="1756995"/>
              <a:ext cx="147637" cy="2837231"/>
            </a:xfrm>
            <a:custGeom>
              <a:avLst/>
              <a:gdLst>
                <a:gd name="T0" fmla="*/ 0 w 89"/>
                <a:gd name="T1" fmla="*/ 2147483647 h 1553"/>
                <a:gd name="T2" fmla="*/ 2147483647 w 89"/>
                <a:gd name="T3" fmla="*/ 2147483647 h 1553"/>
                <a:gd name="T4" fmla="*/ 2147483647 w 89"/>
                <a:gd name="T5" fmla="*/ 0 h 15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1553">
                  <a:moveTo>
                    <a:pt x="0" y="1552"/>
                  </a:moveTo>
                  <a:lnTo>
                    <a:pt x="88" y="1552"/>
                  </a:lnTo>
                  <a:lnTo>
                    <a:pt x="88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grpSp>
          <p:nvGrpSpPr>
            <p:cNvPr id="176" name="Group 493">
              <a:extLst>
                <a:ext uri="{FF2B5EF4-FFF2-40B4-BE49-F238E27FC236}">
                  <a16:creationId xmlns:a16="http://schemas.microsoft.com/office/drawing/2014/main" id="{C3045DC3-911B-BA45-9D46-6B90404DE1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000" y="1138238"/>
              <a:ext cx="1101725" cy="1000125"/>
              <a:chOff x="1258" y="456"/>
              <a:chExt cx="694" cy="630"/>
            </a:xfrm>
          </p:grpSpPr>
          <p:sp>
            <p:nvSpPr>
              <p:cNvPr id="177" name="Rectangle 494">
                <a:extLst>
                  <a:ext uri="{FF2B5EF4-FFF2-40B4-BE49-F238E27FC236}">
                    <a16:creationId xmlns:a16="http://schemas.microsoft.com/office/drawing/2014/main" id="{8F68C051-647A-2442-A833-37E53B649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" y="456"/>
                <a:ext cx="694" cy="630"/>
              </a:xfrm>
              <a:prstGeom prst="rect">
                <a:avLst/>
              </a:prstGeom>
              <a:noFill/>
              <a:ln w="50800">
                <a:solidFill>
                  <a:srgbClr val="0432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78" name="Rectangle 496">
                <a:extLst>
                  <a:ext uri="{FF2B5EF4-FFF2-40B4-BE49-F238E27FC236}">
                    <a16:creationId xmlns:a16="http://schemas.microsoft.com/office/drawing/2014/main" id="{0F05D48D-81F7-BA45-AE03-F7DDDCCCB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" y="498"/>
                <a:ext cx="519" cy="345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58" tIns="44436" rIns="90458" bIns="44436"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rPr>
                  <a:t>Inst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1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SimHei" panose="02010609060101010101" pitchFamily="49" charset="-122"/>
                    <a:cs typeface="+mn-cs"/>
                  </a:rPr>
                  <a:t>Memory</a:t>
                </a:r>
              </a:p>
            </p:txBody>
          </p:sp>
        </p:grpSp>
        <p:sp>
          <p:nvSpPr>
            <p:cNvPr id="179" name="Line 497">
              <a:extLst>
                <a:ext uri="{FF2B5EF4-FFF2-40B4-BE49-F238E27FC236}">
                  <a16:creationId xmlns:a16="http://schemas.microsoft.com/office/drawing/2014/main" id="{AB50D91F-3184-F746-99B8-C89FE7D65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3513" y="2860675"/>
              <a:ext cx="0" cy="4587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0" name="Line 498">
              <a:extLst>
                <a:ext uri="{FF2B5EF4-FFF2-40B4-BE49-F238E27FC236}">
                  <a16:creationId xmlns:a16="http://schemas.microsoft.com/office/drawing/2014/main" id="{2E9692DE-CDF5-BC40-B023-4FACDAEFA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211" y="4859338"/>
              <a:ext cx="266702" cy="47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1" name="Freeform 499">
              <a:extLst>
                <a:ext uri="{FF2B5EF4-FFF2-40B4-BE49-F238E27FC236}">
                  <a16:creationId xmlns:a16="http://schemas.microsoft.com/office/drawing/2014/main" id="{42AA3B49-D8BB-7D49-987C-A4339E7CB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69" y="4241800"/>
              <a:ext cx="966787" cy="714375"/>
            </a:xfrm>
            <a:custGeom>
              <a:avLst/>
              <a:gdLst>
                <a:gd name="T0" fmla="*/ 2147483647 w 609"/>
                <a:gd name="T1" fmla="*/ 2147483647 h 449"/>
                <a:gd name="T2" fmla="*/ 0 w 609"/>
                <a:gd name="T3" fmla="*/ 2147483647 h 449"/>
                <a:gd name="T4" fmla="*/ 0 w 609"/>
                <a:gd name="T5" fmla="*/ 2147483647 h 449"/>
                <a:gd name="T6" fmla="*/ 2147483647 w 609"/>
                <a:gd name="T7" fmla="*/ 2147483647 h 449"/>
                <a:gd name="T8" fmla="*/ 2147483647 w 609"/>
                <a:gd name="T9" fmla="*/ 0 h 4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9" h="449">
                  <a:moveTo>
                    <a:pt x="96" y="448"/>
                  </a:moveTo>
                  <a:lnTo>
                    <a:pt x="0" y="448"/>
                  </a:lnTo>
                  <a:lnTo>
                    <a:pt x="0" y="331"/>
                  </a:lnTo>
                  <a:lnTo>
                    <a:pt x="608" y="331"/>
                  </a:lnTo>
                  <a:lnTo>
                    <a:pt x="608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grpSp>
          <p:nvGrpSpPr>
            <p:cNvPr id="182" name="Group 500">
              <a:extLst>
                <a:ext uri="{FF2B5EF4-FFF2-40B4-BE49-F238E27FC236}">
                  <a16:creationId xmlns:a16="http://schemas.microsoft.com/office/drawing/2014/main" id="{F1892747-A864-7E48-89C9-366B2EAFD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0400" y="3538538"/>
              <a:ext cx="304800" cy="1227137"/>
              <a:chOff x="3536" y="2656"/>
              <a:chExt cx="192" cy="773"/>
            </a:xfrm>
          </p:grpSpPr>
          <p:sp>
            <p:nvSpPr>
              <p:cNvPr id="183" name="Line 501">
                <a:extLst>
                  <a:ext uri="{FF2B5EF4-FFF2-40B4-BE49-F238E27FC236}">
                    <a16:creationId xmlns:a16="http://schemas.microsoft.com/office/drawing/2014/main" id="{5D6B5039-477A-724C-903D-3D0701375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6" y="2656"/>
                <a:ext cx="0" cy="75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84" name="Line 502">
                <a:extLst>
                  <a:ext uri="{FF2B5EF4-FFF2-40B4-BE49-F238E27FC236}">
                    <a16:creationId xmlns:a16="http://schemas.microsoft.com/office/drawing/2014/main" id="{B16AD596-E0CC-0849-B311-E69E65AD55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4" y="2656"/>
                <a:ext cx="176" cy="8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85" name="Line 503">
                <a:extLst>
                  <a:ext uri="{FF2B5EF4-FFF2-40B4-BE49-F238E27FC236}">
                    <a16:creationId xmlns:a16="http://schemas.microsoft.com/office/drawing/2014/main" id="{B9E0242C-7CF7-344B-BE4B-20E7EABAB9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4" y="3311"/>
                <a:ext cx="176" cy="11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  <p:sp>
            <p:nvSpPr>
              <p:cNvPr id="186" name="Line 504">
                <a:extLst>
                  <a:ext uri="{FF2B5EF4-FFF2-40B4-BE49-F238E27FC236}">
                    <a16:creationId xmlns:a16="http://schemas.microsoft.com/office/drawing/2014/main" id="{B9243106-BDE1-B744-82D4-ECE66C3F2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8" y="2758"/>
                <a:ext cx="0" cy="55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87" name="Rectangle 505">
              <a:extLst>
                <a:ext uri="{FF2B5EF4-FFF2-40B4-BE49-F238E27FC236}">
                  <a16:creationId xmlns:a16="http://schemas.microsoft.com/office/drawing/2014/main" id="{61194C9F-F061-3542-8FDD-8B7AAEC529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568950" y="4040967"/>
              <a:ext cx="609600" cy="308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Mux</a:t>
              </a:r>
            </a:p>
          </p:txBody>
        </p:sp>
        <p:sp>
          <p:nvSpPr>
            <p:cNvPr id="188" name="Rectangle 506">
              <a:extLst>
                <a:ext uri="{FF2B5EF4-FFF2-40B4-BE49-F238E27FC236}">
                  <a16:creationId xmlns:a16="http://schemas.microsoft.com/office/drawing/2014/main" id="{4AE86CD9-F580-8548-98D6-FE7ECF39A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1350" y="3602038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89" name="Rectangle 507">
              <a:extLst>
                <a:ext uri="{FF2B5EF4-FFF2-40B4-BE49-F238E27FC236}">
                  <a16:creationId xmlns:a16="http://schemas.microsoft.com/office/drawing/2014/main" id="{E74BE3EA-A80C-CA45-959D-B375C2170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0713" y="4381500"/>
              <a:ext cx="311639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90" name="Line 508">
              <a:extLst>
                <a:ext uri="{FF2B5EF4-FFF2-40B4-BE49-F238E27FC236}">
                  <a16:creationId xmlns:a16="http://schemas.microsoft.com/office/drawing/2014/main" id="{B697ECE1-3B00-934A-8D38-E730BDB7AC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081713" y="4224338"/>
              <a:ext cx="2682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1" name="Line 509">
              <a:extLst>
                <a:ext uri="{FF2B5EF4-FFF2-40B4-BE49-F238E27FC236}">
                  <a16:creationId xmlns:a16="http://schemas.microsoft.com/office/drawing/2014/main" id="{158826A3-AAE3-9A4E-81ED-528FBD332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5538" y="3767138"/>
              <a:ext cx="8397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2" name="Rectangle 510">
              <a:extLst>
                <a:ext uri="{FF2B5EF4-FFF2-40B4-BE49-F238E27FC236}">
                  <a16:creationId xmlns:a16="http://schemas.microsoft.com/office/drawing/2014/main" id="{DDE17DF7-913F-FC48-AA41-7B4776FAD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325" y="3509964"/>
              <a:ext cx="1028763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Shamt</a:t>
              </a:r>
              <a:r>
                <a:rPr kumimoji="0" lang="en-US" altLang="zh-CN" sz="11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[4:0]</a:t>
              </a:r>
              <a:endParaRPr kumimoji="0" lang="en-US" altLang="en-US" sz="11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3" name="Line 511">
              <a:extLst>
                <a:ext uri="{FF2B5EF4-FFF2-40B4-BE49-F238E27FC236}">
                  <a16:creationId xmlns:a16="http://schemas.microsoft.com/office/drawing/2014/main" id="{6F899377-41A4-3840-8E43-BE78D4862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725" y="2928938"/>
              <a:ext cx="0" cy="6524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4" name="Rectangle 512">
              <a:extLst>
                <a:ext uri="{FF2B5EF4-FFF2-40B4-BE49-F238E27FC236}">
                  <a16:creationId xmlns:a16="http://schemas.microsoft.com/office/drawing/2014/main" id="{BDCA97EA-3955-094B-BD59-50E04847E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925" y="2547938"/>
              <a:ext cx="1063626" cy="3310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58" tIns="44436" rIns="90458" bIns="44436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u="sng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ALUsrc1</a:t>
              </a:r>
              <a:endParaRPr kumimoji="0" lang="en-US" altLang="en-US" sz="1100" u="sng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5" name="Line 334">
              <a:extLst>
                <a:ext uri="{FF2B5EF4-FFF2-40B4-BE49-F238E27FC236}">
                  <a16:creationId xmlns:a16="http://schemas.microsoft.com/office/drawing/2014/main" id="{9D65CEFB-338A-EC48-8AB3-081F9ADCA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1383" y="4855369"/>
              <a:ext cx="87312" cy="131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6" name="梯形 195">
              <a:extLst>
                <a:ext uri="{FF2B5EF4-FFF2-40B4-BE49-F238E27FC236}">
                  <a16:creationId xmlns:a16="http://schemas.microsoft.com/office/drawing/2014/main" id="{A9220E00-B898-494C-861C-F21EF0B6CDF2}"/>
                </a:ext>
              </a:extLst>
            </p:cNvPr>
            <p:cNvSpPr/>
            <p:nvPr/>
          </p:nvSpPr>
          <p:spPr bwMode="auto">
            <a:xfrm rot="5400000">
              <a:off x="995330" y="4663743"/>
              <a:ext cx="1440227" cy="271764"/>
            </a:xfrm>
            <a:prstGeom prst="trapezoid">
              <a:avLst>
                <a:gd name="adj" fmla="val 73068"/>
              </a:avLst>
            </a:prstGeom>
            <a:noFill/>
            <a:ln w="25400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2075" tIns="46038" rIns="92075" bIns="46038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100" dirty="0">
                  <a:solidFill>
                    <a:srgbClr val="000000"/>
                  </a:solidFill>
                  <a:latin typeface="+mn-lt"/>
                  <a:ea typeface="SimHei" panose="02010609060101010101" pitchFamily="49" charset="-122"/>
                </a:rPr>
                <a:t>Mux</a:t>
              </a:r>
              <a:endParaRPr lang="zh-CN" altLang="en-US" sz="1100" dirty="0">
                <a:solidFill>
                  <a:srgbClr val="000000"/>
                </a:solidFill>
                <a:latin typeface="+mn-lt"/>
                <a:ea typeface="SimHei" panose="02010609060101010101" pitchFamily="49" charset="-122"/>
              </a:endParaRPr>
            </a:p>
          </p:txBody>
        </p:sp>
      </p:grpSp>
      <p:sp>
        <p:nvSpPr>
          <p:cNvPr id="198" name="Text Box 306">
            <a:extLst>
              <a:ext uri="{FF2B5EF4-FFF2-40B4-BE49-F238E27FC236}">
                <a16:creationId xmlns:a16="http://schemas.microsoft.com/office/drawing/2014/main" id="{24EDC690-E4FD-924A-BCA2-8733DDB49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2188279"/>
            <a:ext cx="1365637" cy="194858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0944" tIns="50472" rIns="100944" bIns="50472" anchor="ctr">
            <a:spAutoFit/>
          </a:bodyPr>
          <a:lstStyle>
            <a:lvl1pPr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0" marR="0" lvl="0" indent="0" algn="l" defTabSz="1009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我们目前的办法：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1009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10096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更聪明的电路设计和流水线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9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2527-DF6F-9A1C-557F-B95F9F1D0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915558"/>
            <a:ext cx="7772400" cy="1362075"/>
          </a:xfrm>
        </p:spPr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本节课核心问题</a:t>
            </a: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：</a:t>
            </a:r>
            <a:br>
              <a:rPr lang="en-US" altLang="zh-CN" dirty="0"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en-US" dirty="0">
                <a:latin typeface="SimHei" panose="02010609060101010101" pitchFamily="49" charset="-122"/>
                <a:ea typeface="SimHei" panose="02010609060101010101" pitchFamily="49" charset="-122"/>
              </a:rPr>
              <a:t>如何减少存储器访问的延时？</a:t>
            </a:r>
            <a:endParaRPr lang="en-CN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56DBE-F33D-E8ED-F187-C48495CE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11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2506"/>
          </a:xfrm>
        </p:spPr>
        <p:txBody>
          <a:bodyPr/>
          <a:lstStyle/>
          <a:p>
            <a:r>
              <a:rPr lang="zh-CN" altLang="en-US" dirty="0"/>
              <a:t>复习与回顾</a:t>
            </a:r>
            <a:endParaRPr lang="en-US" altLang="zh-CN" dirty="0"/>
          </a:p>
          <a:p>
            <a:pPr marL="342900" lvl="1" indent="-342900">
              <a:buFontTx/>
              <a:buChar char="•"/>
            </a:pPr>
            <a:r>
              <a:rPr lang="zh-CN" altLang="en-US" sz="3200" dirty="0">
                <a:solidFill>
                  <a:srgbClr val="0432FF"/>
                </a:solidFill>
              </a:rPr>
              <a:t>存储器系统基础：半导体存储器</a:t>
            </a:r>
            <a:endParaRPr lang="en-US" altLang="zh-CN" dirty="0">
              <a:solidFill>
                <a:srgbClr val="0432FF"/>
              </a:solidFill>
            </a:endParaRPr>
          </a:p>
          <a:p>
            <a:r>
              <a:rPr lang="zh-CN" altLang="en-US" dirty="0"/>
              <a:t>存储器系统的设计理论</a:t>
            </a:r>
            <a:endParaRPr lang="en-US" altLang="zh-CN" dirty="0"/>
          </a:p>
          <a:p>
            <a:r>
              <a:rPr lang="en-US" altLang="zh-CN" dirty="0"/>
              <a:t>Cache</a:t>
            </a:r>
            <a:r>
              <a:rPr lang="zh-CN" altLang="en-US" dirty="0"/>
              <a:t>技术</a:t>
            </a:r>
            <a:endParaRPr lang="en-US" altLang="zh-CN" dirty="0"/>
          </a:p>
          <a:p>
            <a:r>
              <a:rPr lang="en-US" altLang="zh-CN" dirty="0"/>
              <a:t>Cache</a:t>
            </a:r>
            <a:r>
              <a:rPr lang="zh-CN" altLang="en-US" dirty="0"/>
              <a:t>性能评估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4AFA0D0-3ABC-9E4B-A473-CF0D454A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8157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4352-BC7A-0A49-9C9F-A58BAB81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历史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：人类如何存储数据？</a:t>
            </a:r>
            <a:endParaRPr lang="en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E1862-E52B-FC4C-85D1-B67E5E8979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电子计算机之前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BE9CF-B03F-2D46-BCD0-E73F86ED3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7845" y="1600200"/>
            <a:ext cx="4310467" cy="3394472"/>
          </a:xfrm>
        </p:spPr>
        <p:txBody>
          <a:bodyPr/>
          <a:lstStyle/>
          <a:p>
            <a:r>
              <a:rPr 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信息技术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（摩尔定律驱动的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0/1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数字革命）</a:t>
            </a:r>
            <a:endParaRPr lang="en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03B3B-E51E-6741-B2B6-9E91D9F2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ACFD1-D213-4B9C-817B-45486DBF105A}" type="slidenum">
              <a:rPr kumimoji="0" lang="en-US" sz="14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0AE641-5990-7D40-837C-4592E874D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456" y="2911181"/>
            <a:ext cx="1708044" cy="1138696"/>
          </a:xfrm>
          <a:prstGeom prst="rect">
            <a:avLst/>
          </a:prstGeom>
        </p:spPr>
      </p:pic>
      <p:pic>
        <p:nvPicPr>
          <p:cNvPr id="3080" name="Picture 8" descr="Image result for 磁盘">
            <a:extLst>
              <a:ext uri="{FF2B5EF4-FFF2-40B4-BE49-F238E27FC236}">
                <a16:creationId xmlns:a16="http://schemas.microsoft.com/office/drawing/2014/main" id="{A3A7766C-9218-B94D-B8DF-A6E401462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7" t="9375" r="11817" b="15636"/>
          <a:stretch/>
        </p:blipFill>
        <p:spPr bwMode="auto">
          <a:xfrm>
            <a:off x="7253151" y="3910241"/>
            <a:ext cx="1890850" cy="1449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 result for U盘">
            <a:extLst>
              <a:ext uri="{FF2B5EF4-FFF2-40B4-BE49-F238E27FC236}">
                <a16:creationId xmlns:a16="http://schemas.microsoft.com/office/drawing/2014/main" id="{721F6C2D-BF97-494A-A19E-469074BBC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456" y="3785594"/>
            <a:ext cx="17526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Image result for DRAM">
            <a:extLst>
              <a:ext uri="{FF2B5EF4-FFF2-40B4-BE49-F238E27FC236}">
                <a16:creationId xmlns:a16="http://schemas.microsoft.com/office/drawing/2014/main" id="{A4DFEB04-F2B9-9544-ADD3-6ECF6B98F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188" y="3036095"/>
            <a:ext cx="3209925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Image result for ssd">
            <a:extLst>
              <a:ext uri="{FF2B5EF4-FFF2-40B4-BE49-F238E27FC236}">
                <a16:creationId xmlns:a16="http://schemas.microsoft.com/office/drawing/2014/main" id="{DB422393-6627-F646-885D-372326D1A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159" y="4131352"/>
            <a:ext cx="2011408" cy="117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Image result for 印刷术">
            <a:extLst>
              <a:ext uri="{FF2B5EF4-FFF2-40B4-BE49-F238E27FC236}">
                <a16:creationId xmlns:a16="http://schemas.microsoft.com/office/drawing/2014/main" id="{D2FBE172-5091-A742-92DF-7D49ADCC0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422" y="3522073"/>
            <a:ext cx="21336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2F71D964-0B40-0549-81A7-733144131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34" y="2640101"/>
            <a:ext cx="1553242" cy="217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Image result for 壁画 原始人">
            <a:extLst>
              <a:ext uri="{FF2B5EF4-FFF2-40B4-BE49-F238E27FC236}">
                <a16:creationId xmlns:a16="http://schemas.microsoft.com/office/drawing/2014/main" id="{96C48E14-5C60-2C49-8470-30239E4FD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294" y="2628306"/>
            <a:ext cx="1866900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02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</a:rPr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7AE31EA-CF73-4C4E-A2C3-205BACDB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10" y="1307437"/>
            <a:ext cx="8229600" cy="3157420"/>
          </a:xfrm>
        </p:spPr>
        <p:txBody>
          <a:bodyPr/>
          <a:lstStyle/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存储器是用来存储数据和指令的</a:t>
            </a:r>
            <a:endParaRPr lang="en-US" altLang="zh-CN" dirty="0"/>
          </a:p>
          <a:p>
            <a:pPr eaLnBrk="1" hangingPunct="1"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常见的半导体存储器有以下两个类别：</a:t>
            </a:r>
            <a:endParaRPr lang="en-US" altLang="zh-CN" dirty="0"/>
          </a:p>
          <a:p>
            <a:pPr lvl="1"/>
            <a:r>
              <a:rPr lang="zh-CN" altLang="en-US" sz="2400" dirty="0"/>
              <a:t>只读存储器</a:t>
            </a:r>
            <a:r>
              <a:rPr lang="en-US" altLang="zh-CN" sz="2400" dirty="0"/>
              <a:t>(ROM</a:t>
            </a:r>
            <a:r>
              <a:rPr lang="zh-CN" altLang="en-US" sz="2400" dirty="0"/>
              <a:t>，</a:t>
            </a:r>
            <a:r>
              <a:rPr lang="en-US" altLang="zh-CN" sz="2400" dirty="0"/>
              <a:t>Read</a:t>
            </a:r>
            <a:r>
              <a:rPr lang="zh-CN" altLang="en-US" sz="2400" dirty="0"/>
              <a:t> </a:t>
            </a:r>
            <a:r>
              <a:rPr lang="en-US" altLang="zh-CN" sz="2400" dirty="0"/>
              <a:t>Only</a:t>
            </a:r>
            <a:r>
              <a:rPr lang="zh-CN" altLang="en-US" sz="2400" dirty="0"/>
              <a:t> </a:t>
            </a:r>
            <a:r>
              <a:rPr lang="en-US" altLang="zh-CN" sz="2400" dirty="0"/>
              <a:t>Memory)</a:t>
            </a:r>
            <a:r>
              <a:rPr lang="zh-CN" altLang="en-US" sz="2400" dirty="0"/>
              <a:t> </a:t>
            </a:r>
            <a:r>
              <a:rPr lang="en-US" altLang="zh-CN" sz="2400" dirty="0"/>
              <a:t>vs </a:t>
            </a:r>
            <a:r>
              <a:rPr lang="zh-CN" altLang="en-CN" sz="2400" dirty="0"/>
              <a:t>可读</a:t>
            </a:r>
            <a:r>
              <a:rPr lang="zh-CN" altLang="en-US" sz="2400" dirty="0"/>
              <a:t>可写</a:t>
            </a:r>
            <a:endParaRPr lang="en-US" altLang="zh-CN" sz="2400" dirty="0"/>
          </a:p>
          <a:p>
            <a:pPr lvl="1"/>
            <a:r>
              <a:rPr lang="zh-CN" altLang="en-US" sz="2400" dirty="0"/>
              <a:t>随机访问存储器</a:t>
            </a:r>
            <a:r>
              <a:rPr lang="en-US" altLang="zh-CN" sz="2400" dirty="0"/>
              <a:t>(RAM</a:t>
            </a:r>
            <a:r>
              <a:rPr lang="zh-CN" altLang="en-US" sz="2400" dirty="0"/>
              <a:t>，</a:t>
            </a:r>
            <a:r>
              <a:rPr lang="en-US" altLang="zh-CN" sz="2400" dirty="0"/>
              <a:t>Random</a:t>
            </a:r>
            <a:r>
              <a:rPr lang="zh-CN" altLang="en-US" sz="2400" dirty="0"/>
              <a:t> </a:t>
            </a:r>
            <a:r>
              <a:rPr lang="en-US" altLang="zh-CN" sz="2400" dirty="0"/>
              <a:t>Access</a:t>
            </a:r>
            <a:r>
              <a:rPr lang="zh-CN" altLang="en-US" sz="2400" dirty="0"/>
              <a:t> </a:t>
            </a:r>
            <a:r>
              <a:rPr lang="en-US" altLang="zh-CN" sz="2400" dirty="0"/>
              <a:t>Memory)</a:t>
            </a:r>
            <a:r>
              <a:rPr lang="zh-CN" altLang="en-US" sz="2400" dirty="0"/>
              <a:t> </a:t>
            </a:r>
            <a:r>
              <a:rPr lang="en-US" altLang="zh-CN" sz="2400" dirty="0"/>
              <a:t>vs </a:t>
            </a:r>
            <a:r>
              <a:rPr lang="zh-CN" altLang="en-US" sz="2400" dirty="0"/>
              <a:t>顺序访问存储器</a:t>
            </a:r>
            <a:endParaRPr lang="en-US" altLang="zh-CN" sz="24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C85E546-979A-B348-AF04-9556587D1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1785" y="4718680"/>
          <a:ext cx="731714" cy="1361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857375" imgH="3995738" progId="MS_ClipArt_Gallery.5">
                  <p:embed/>
                </p:oleObj>
              </mc:Choice>
              <mc:Fallback>
                <p:oleObj name="Clip" r:id="rId3" imgW="1857375" imgH="3995738" progId="MS_ClipArt_Gallery.5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C85E546-979A-B348-AF04-9556587D1F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1785" y="4718680"/>
                        <a:ext cx="731714" cy="13614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>
            <a:extLst>
              <a:ext uri="{FF2B5EF4-FFF2-40B4-BE49-F238E27FC236}">
                <a16:creationId xmlns:a16="http://schemas.microsoft.com/office/drawing/2014/main" id="{4D75A8C4-5964-BF43-A245-15D108993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29" y="3950039"/>
            <a:ext cx="3573426" cy="71748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0944" tIns="50472" rIns="100944" bIns="50472" anchor="ctr">
            <a:spAutoFit/>
          </a:bodyPr>
          <a:lstStyle>
            <a:lvl1pPr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RAM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中 “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random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 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access”</a:t>
            </a:r>
          </a:p>
          <a:p>
            <a:pPr marL="0" marR="0" lvl="0" indent="0" algn="ctr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是什么意思呢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?</a:t>
            </a:r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CE166973-D187-F940-A199-DD3FD1B90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6246" y="3982938"/>
            <a:ext cx="2740567" cy="1333036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CC0000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00944" tIns="50472" rIns="100944" bIns="50472" anchor="ctr">
            <a:spAutoFit/>
          </a:bodyPr>
          <a:lstStyle>
            <a:lvl1pPr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defTabSz="10096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defTabSz="10096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marL="0" marR="0" lvl="0" indent="0" algn="just" defTabSz="1009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random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 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access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是指该存储器的所有内容都可以被读取和写入，且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rPr>
              <a:t>与时间和位置无关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AD2453F-9A7A-BE49-A62A-594DADD7B016}"/>
              </a:ext>
            </a:extLst>
          </p:cNvPr>
          <p:cNvGrpSpPr/>
          <p:nvPr/>
        </p:nvGrpSpPr>
        <p:grpSpPr>
          <a:xfrm>
            <a:off x="4002662" y="3950040"/>
            <a:ext cx="1943571" cy="1901478"/>
            <a:chOff x="4009575" y="4659532"/>
            <a:chExt cx="2130593" cy="207139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CD41C6-BDC1-2644-BE1A-5B43E9B87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661" y="4659532"/>
              <a:ext cx="1475312" cy="201890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0000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44" tIns="50472" rIns="100944" bIns="50472" anchor="ctr"/>
            <a:lstStyle/>
            <a:p>
              <a:pPr marL="0" marR="0" lvl="0" indent="0" algn="ctr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</a:t>
              </a:r>
              <a:r>
                <a:rPr kumimoji="0" lang="en-US" altLang="zh-CN" sz="15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andom</a:t>
              </a:r>
            </a:p>
            <a:p>
              <a:pPr marL="0" marR="0" lvl="0" indent="0" algn="ctr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</a:t>
              </a:r>
              <a:r>
                <a:rPr kumimoji="0" lang="en-US" altLang="zh-CN" sz="15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ccess</a:t>
              </a:r>
            </a:p>
            <a:p>
              <a:pPr marL="0" marR="0" lvl="0" indent="0" algn="ctr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5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M</a:t>
              </a:r>
              <a:r>
                <a:rPr kumimoji="0" lang="en-US" altLang="zh-CN" sz="15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emory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082AB6DF-3FBF-9343-B43D-DCBC5D7E6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4078280" y="4926415"/>
              <a:ext cx="835009" cy="314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0000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44" tIns="50472" rIns="100944" bIns="50472" anchor="ctr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ctr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Address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8432F7B3-6A27-E14C-99C5-07935FB0E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5227446" y="5506848"/>
              <a:ext cx="1020111" cy="314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0000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44" tIns="50472" rIns="100944" bIns="50472" anchor="ctr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ctr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Read Data</a:t>
              </a:r>
            </a:p>
          </p:txBody>
        </p:sp>
        <p:sp>
          <p:nvSpPr>
            <p:cNvPr id="12" name="Text Box 11">
              <a:extLst>
                <a:ext uri="{FF2B5EF4-FFF2-40B4-BE49-F238E27FC236}">
                  <a16:creationId xmlns:a16="http://schemas.microsoft.com/office/drawing/2014/main" id="{2A4BAEF3-4BF6-B84C-B98E-0AA0782FF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3990722" y="6068776"/>
              <a:ext cx="1010124" cy="314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0000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44" tIns="50472" rIns="100944" bIns="50472" anchor="ctr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ctr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Write Data</a:t>
              </a:r>
            </a:p>
          </p:txBody>
        </p:sp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id="{0F89F942-42FD-5645-9E69-C98294D9B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4245046" y="5414316"/>
              <a:ext cx="501477" cy="314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CC0000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44" tIns="50472" rIns="100944" bIns="50472" anchor="ctr">
              <a:spAutoFit/>
            </a:bodyPr>
            <a:lstStyle>
              <a:lvl1pPr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defTabSz="10096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defTabSz="100965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ctr" defTabSz="10096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SimHei" panose="02010609060101010101" pitchFamily="49" charset="-122"/>
                  <a:cs typeface="+mn-cs"/>
                </a:rPr>
                <a:t>WR</a:t>
              </a: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1CD02079-1380-9348-92D8-FB35BB852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9575" y="4980874"/>
              <a:ext cx="36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92E20461-673E-8849-9B57-C55740B11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992" y="5547849"/>
              <a:ext cx="36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12464163-A741-8C48-B61F-F14D7AB9E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992" y="6193897"/>
              <a:ext cx="36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D25D4E1-B9B3-2D4A-AA7A-BEF51EFBB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2168" y="5628605"/>
              <a:ext cx="288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SimHei" panose="02010609060101010101" pitchFamily="49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048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FB519-2A3D-254B-90EA-B0AF9193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存储器的基本结构与常见类型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99A74-D159-E543-8291-648C36035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162" y="1904629"/>
            <a:ext cx="3905795" cy="3189062"/>
          </a:xfrm>
        </p:spPr>
        <p:txBody>
          <a:bodyPr>
            <a:normAutofit fontScale="62500" lnSpcReduction="20000"/>
          </a:bodyPr>
          <a:lstStyle/>
          <a:p>
            <a:r>
              <a:rPr 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结构</a:t>
            </a:r>
          </a:p>
          <a:p>
            <a:pPr lvl="1"/>
            <a:r>
              <a:rPr 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输入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：数据地址（随机性）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输出：数据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存储单元阵列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接口及控制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随机访问存储器（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RAM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支持随机地址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类型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缓存：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SRAM</a:t>
            </a:r>
          </a:p>
          <a:p>
            <a:pPr lvl="1"/>
            <a:r>
              <a:rPr lang="zh-CN" altLang="en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主存</a:t>
            </a:r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DRAM</a:t>
            </a:r>
          </a:p>
          <a:p>
            <a:pPr lvl="1"/>
            <a:r>
              <a:rPr lang="zh-CN" altLang="en-US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外存及其他</a:t>
            </a:r>
            <a:endParaRPr lang="en-US" altLang="zh-CN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D14E-A502-FE42-945D-0987DE477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ACFD1-D213-4B9C-817B-45486DBF105A}" type="slidenum">
              <a:rPr kumimoji="0" lang="en-US" sz="14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组合 6">
            <a:extLst>
              <a:ext uri="{FF2B5EF4-FFF2-40B4-BE49-F238E27FC236}">
                <a16:creationId xmlns:a16="http://schemas.microsoft.com/office/drawing/2014/main" id="{0AC0A534-94E9-A24A-B01F-7DCD5331E442}"/>
              </a:ext>
            </a:extLst>
          </p:cNvPr>
          <p:cNvGrpSpPr/>
          <p:nvPr/>
        </p:nvGrpSpPr>
        <p:grpSpPr>
          <a:xfrm>
            <a:off x="565709" y="1664828"/>
            <a:ext cx="4146494" cy="3688327"/>
            <a:chOff x="-484430" y="1142996"/>
            <a:chExt cx="6287888" cy="5593109"/>
          </a:xfrm>
        </p:grpSpPr>
        <p:sp>
          <p:nvSpPr>
            <p:cNvPr id="6" name="Rectangle 3" descr="20%">
              <a:extLst>
                <a:ext uri="{FF2B5EF4-FFF2-40B4-BE49-F238E27FC236}">
                  <a16:creationId xmlns:a16="http://schemas.microsoft.com/office/drawing/2014/main" id="{E258E259-9D69-1C43-9B4A-2B1C62203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25" y="1628775"/>
              <a:ext cx="3263900" cy="3111500"/>
            </a:xfrm>
            <a:prstGeom prst="rect">
              <a:avLst/>
            </a:prstGeom>
            <a:pattFill prst="pct20">
              <a:fgClr>
                <a:schemeClr val="accent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8AEF3C96-C084-4B4C-A885-4720E58FB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675" y="1876426"/>
              <a:ext cx="295946" cy="26417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867" tIns="16747" rIns="41867" bIns="16747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r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o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w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187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d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e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c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o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d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e</a:t>
              </a:r>
            </a:p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87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B4846E85-165D-3F4E-A172-E0D9F8BB7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75" y="1711325"/>
              <a:ext cx="584200" cy="30988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BA654B76-45E9-0D41-8409-F99BA10F9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875" y="1851025"/>
              <a:ext cx="355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B144DBAD-9195-F049-98A3-6D6128871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875" y="2232025"/>
              <a:ext cx="355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D740BFED-826C-DF4F-9866-0FA4B6740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4575" y="2613025"/>
              <a:ext cx="3530600" cy="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D860FFDB-967C-FC47-B614-FA0E2306E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875" y="2995613"/>
              <a:ext cx="355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31420AC6-7EFF-A645-87CA-631A50535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875" y="3375025"/>
              <a:ext cx="355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95FBCA4F-805D-3C41-BB68-6DD1A0419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875" y="3756025"/>
              <a:ext cx="355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FE16D21E-DDF8-114F-B8A3-928905A6ED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875" y="4137025"/>
              <a:ext cx="355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BDF64D23-F903-D940-B56E-D8E2672F3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875" y="4518025"/>
              <a:ext cx="355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2B933C5A-1A70-6A46-992D-87A7A46450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375" y="4803775"/>
              <a:ext cx="0" cy="4953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BFC8B42F-2BDD-8E41-A34B-8D12B2C89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84430" y="5184041"/>
              <a:ext cx="1178344" cy="408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867" tIns="16747" rIns="41867" bIns="16747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行地址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EE5B9E55-E6E1-7140-AAFE-B253D8E6E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448" y="5049836"/>
              <a:ext cx="828304" cy="408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867" tIns="16747" rIns="41867" bIns="16747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接口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9725FEFD-51C8-EE48-BD1B-187560628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4987925"/>
              <a:ext cx="2870200" cy="584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71E6C5F1-563B-FC4F-9BE0-68C7A6482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250" y="5603875"/>
              <a:ext cx="0" cy="723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F8EA41-95C9-784E-AC7E-E9164D836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937" y="6327775"/>
              <a:ext cx="828303" cy="408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867" tIns="16747" rIns="41867" bIns="16747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数据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12C7AAB5-DED1-C04A-BAC0-88D960214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1175" y="1685925"/>
              <a:ext cx="0" cy="3302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D1E525F0-7375-3540-8FD4-E5C7A32B1C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2175" y="1685925"/>
              <a:ext cx="0" cy="3302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8C553AB9-E162-F34D-B5CF-1BB3FD1512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3175" y="1685925"/>
              <a:ext cx="0" cy="3302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42FF03A4-7EC0-6246-83FB-A3980F4BB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4175" y="1685925"/>
              <a:ext cx="0" cy="3302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B0AA337A-C2C1-264A-9B75-1B9ED95D59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5175" y="1685925"/>
              <a:ext cx="0" cy="3302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94E7ED92-43C1-2845-9C7F-A8B692679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6175" y="1685925"/>
              <a:ext cx="0" cy="3302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DC6F9A5A-EC23-4142-8FAD-A1C6D6C488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8175" y="1685925"/>
              <a:ext cx="0" cy="3302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11F7818E-B3E0-6C4D-96CC-3C43B6BF7E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86291" y="1594075"/>
              <a:ext cx="24694" cy="6363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1" name="Line 37">
              <a:extLst>
                <a:ext uri="{FF2B5EF4-FFF2-40B4-BE49-F238E27FC236}">
                  <a16:creationId xmlns:a16="http://schemas.microsoft.com/office/drawing/2014/main" id="{54826032-4837-E04D-86F8-628752660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7175" y="1673225"/>
              <a:ext cx="0" cy="332740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32" name="Rectangle 16">
              <a:extLst>
                <a:ext uri="{FF2B5EF4-FFF2-40B4-BE49-F238E27FC236}">
                  <a16:creationId xmlns:a16="http://schemas.microsoft.com/office/drawing/2014/main" id="{7AD85A65-4190-4342-B904-74BE589B6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52" y="1142996"/>
              <a:ext cx="2928557" cy="408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867" tIns="16747" rIns="41867" bIns="16747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字线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wordline, WL</a:t>
              </a:r>
            </a:p>
          </p:txBody>
        </p:sp>
        <p:sp>
          <p:nvSpPr>
            <p:cNvPr id="36" name="Rectangle 16">
              <a:extLst>
                <a:ext uri="{FF2B5EF4-FFF2-40B4-BE49-F238E27FC236}">
                  <a16:creationId xmlns:a16="http://schemas.microsoft.com/office/drawing/2014/main" id="{6048DD2E-B2F9-0644-8D32-DF03F05D4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5114" y="4533703"/>
              <a:ext cx="1178344" cy="1122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41867" tIns="16747" rIns="41867" bIns="16747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位</a:t>
              </a:r>
              <a:r>
                <a:rPr kumimoji="0" lang="zh-CN" altLang="en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线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Bitline,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</a:rPr>
                <a:t>BL</a:t>
              </a:r>
            </a:p>
          </p:txBody>
        </p:sp>
        <p:sp>
          <p:nvSpPr>
            <p:cNvPr id="37" name="Line 30">
              <a:extLst>
                <a:ext uri="{FF2B5EF4-FFF2-40B4-BE49-F238E27FC236}">
                  <a16:creationId xmlns:a16="http://schemas.microsoft.com/office/drawing/2014/main" id="{EFA2B3E7-5144-A245-9E17-0B9BDADBB3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1678" y="4817724"/>
              <a:ext cx="317484" cy="14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D19EFD8-1914-C244-A01B-58E6732C2F4E}"/>
              </a:ext>
            </a:extLst>
          </p:cNvPr>
          <p:cNvCxnSpPr>
            <a:stCxn id="32" idx="2"/>
          </p:cNvCxnSpPr>
          <p:nvPr/>
        </p:nvCxnSpPr>
        <p:spPr>
          <a:xfrm>
            <a:off x="2137330" y="1934098"/>
            <a:ext cx="43526" cy="20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00CDDD0-74D9-7743-BE2D-89D54B79388A}"/>
              </a:ext>
            </a:extLst>
          </p:cNvPr>
          <p:cNvCxnSpPr/>
          <p:nvPr/>
        </p:nvCxnSpPr>
        <p:spPr>
          <a:xfrm>
            <a:off x="711941" y="-1249063"/>
            <a:ext cx="43526" cy="20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649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1552BA-4327-A147-B565-E435AE2E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4323806" cy="746525"/>
          </a:xfrm>
        </p:spPr>
        <p:txBody>
          <a:bodyPr/>
          <a:lstStyle/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sz="2800" dirty="0"/>
              <a:t>两类</a:t>
            </a:r>
            <a:r>
              <a:rPr lang="en-US" altLang="zh-CN" sz="2800" dirty="0"/>
              <a:t>RAM</a:t>
            </a:r>
            <a:endParaRPr lang="en-US" altLang="zh-CN" sz="28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75BE55-B9EA-FD0E-A08D-A73DD5D7B5CA}"/>
              </a:ext>
            </a:extLst>
          </p:cNvPr>
          <p:cNvSpPr txBox="1"/>
          <p:nvPr/>
        </p:nvSpPr>
        <p:spPr>
          <a:xfrm>
            <a:off x="4572000" y="2297957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动态随机访问存储器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(DRAM)</a:t>
            </a: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1T1C(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常用的单元结构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)</a:t>
            </a: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电容上的电荷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(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原理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)</a:t>
            </a: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速度较慢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相对廉价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不能稳定保持电平，需要刷新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663B6F-A3E3-41F5-445C-1F9A87A81EA8}"/>
              </a:ext>
            </a:extLst>
          </p:cNvPr>
          <p:cNvSpPr txBox="1"/>
          <p:nvPr/>
        </p:nvSpPr>
        <p:spPr>
          <a:xfrm>
            <a:off x="457200" y="2297957"/>
            <a:ext cx="380129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静态随机访问存储器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(SRAM)</a:t>
            </a: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6T(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常用的单元结构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)</a:t>
            </a: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反相器正反馈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(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原理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)</a:t>
            </a: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速度较快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造价昂贵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可稳定保持电平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4572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面积大，相同比特下面积为</a:t>
            </a:r>
            <a:r>
              <a:rPr kumimoji="0" lang="en-US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DRAM</a:t>
            </a:r>
            <a:r>
              <a: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的数倍</a:t>
            </a:r>
            <a:endParaRPr kumimoji="0" lang="en-US" altLang="zh-CN" sz="20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41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1552BA-4327-A147-B565-E435AE2E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4326835" cy="3233239"/>
          </a:xfrm>
        </p:spPr>
        <p:txBody>
          <a:bodyPr/>
          <a:lstStyle/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432FF"/>
                </a:solidFill>
              </a:rPr>
              <a:t>SRAM</a:t>
            </a:r>
            <a:r>
              <a:rPr lang="zh-CN" altLang="en-US" dirty="0">
                <a:solidFill>
                  <a:srgbClr val="0432FF"/>
                </a:solidFill>
              </a:rPr>
              <a:t>基本存储电路</a:t>
            </a:r>
            <a:endParaRPr lang="en-US" altLang="zh-CN" dirty="0">
              <a:solidFill>
                <a:srgbClr val="0432FF"/>
              </a:solidFill>
            </a:endParaRPr>
          </a:p>
          <a:p>
            <a:pPr lvl="1"/>
            <a:r>
              <a:rPr lang="zh-CN" altLang="en-US" sz="2400" dirty="0"/>
              <a:t>由</a:t>
            </a:r>
            <a:r>
              <a:rPr lang="en-US" altLang="zh-CN" sz="2400" dirty="0"/>
              <a:t>MOS</a:t>
            </a:r>
            <a:r>
              <a:rPr lang="zh-CN" altLang="en-US" sz="2400" dirty="0"/>
              <a:t>管组成的锁存器实现数据的存储</a:t>
            </a:r>
            <a:endParaRPr lang="en-US" altLang="zh-CN" sz="2400" dirty="0"/>
          </a:p>
          <a:p>
            <a:pPr lvl="1"/>
            <a:r>
              <a:rPr lang="zh-CN" altLang="en-US" sz="2400" dirty="0"/>
              <a:t>读写速度快</a:t>
            </a:r>
            <a:endParaRPr lang="en-US" altLang="zh-CN" sz="2400" dirty="0"/>
          </a:p>
          <a:p>
            <a:pPr lvl="1"/>
            <a:r>
              <a:rPr lang="zh-CN" altLang="en-US" sz="2400" dirty="0"/>
              <a:t>所用的管子数目多</a:t>
            </a:r>
            <a:endParaRPr lang="en-US" altLang="zh-CN" sz="2400" dirty="0"/>
          </a:p>
          <a:p>
            <a:pPr lvl="1"/>
            <a:r>
              <a:rPr lang="zh-CN" altLang="en-US" sz="2400" dirty="0"/>
              <a:t>单个器件容量小</a:t>
            </a:r>
            <a:endParaRPr lang="en-US" altLang="zh-CN" sz="2400" dirty="0"/>
          </a:p>
          <a:p>
            <a:pPr lvl="1"/>
            <a:r>
              <a:rPr lang="zh-CN" altLang="en-US" sz="2400" dirty="0"/>
              <a:t>价格昂贵</a:t>
            </a:r>
            <a:endParaRPr lang="en-US" altLang="zh-CN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0BCF7F1-2D20-3A45-ACD1-D83AFD979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8" y="1736255"/>
            <a:ext cx="4326835" cy="3233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CC8125-530D-3F42-9B68-C396F2B53B52}"/>
                  </a:ext>
                </a:extLst>
              </p:cNvPr>
              <p:cNvSpPr txBox="1"/>
              <p:nvPr/>
            </p:nvSpPr>
            <p:spPr>
              <a:xfrm>
                <a:off x="5165765" y="4969425"/>
                <a:ext cx="327121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SRAM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单元</m:t>
                      </m:r>
                      <m:r>
                        <a:rPr kumimoji="1" lang="zh-CN" altLang="en-US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的</m:t>
                      </m:r>
                      <m: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</m:t>
                      </m:r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MOS</m:t>
                      </m:r>
                      <m:r>
                        <a:rPr kumimoji="1" lang="zh-CN" altLang="en-US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管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结构</m:t>
                      </m:r>
                    </m:oMath>
                  </m:oMathPara>
                </a14:m>
                <a:endParaRPr kumimoji="1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Sun" panose="02010600030101010101" pitchFamily="2" charset="-122"/>
                    <a:ea typeface="SimSun" panose="02010600030101010101" pitchFamily="2" charset="-122"/>
                    <a:cs typeface="+mn-cs"/>
                  </a:rPr>
                  <a:t>还有其他不同的结构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CC8125-530D-3F42-9B68-C396F2B53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765" y="4969425"/>
                <a:ext cx="3271217" cy="707886"/>
              </a:xfrm>
              <a:prstGeom prst="rect">
                <a:avLst/>
              </a:prstGeom>
              <a:blipFill>
                <a:blip r:embed="rId4"/>
                <a:stretch>
                  <a:fillRect b="-16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377DEF2F-87C7-264E-7AFF-D848DB7D1C9A}"/>
                  </a:ext>
                </a:extLst>
              </p14:cNvPr>
              <p14:cNvContentPartPr/>
              <p14:nvPr/>
            </p14:nvContentPartPr>
            <p14:xfrm>
              <a:off x="5742720" y="3135240"/>
              <a:ext cx="2044800" cy="4075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377DEF2F-87C7-264E-7AFF-D848DB7D1C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3360" y="3125880"/>
                <a:ext cx="2063520" cy="42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40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A1552BA-4327-A147-B565-E435AE2EED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551432"/>
                <a:ext cx="4826253" cy="4799672"/>
              </a:xfrm>
            </p:spPr>
            <p:txBody>
              <a:bodyPr/>
              <a:lstStyle/>
              <a:p>
                <a:pPr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solidFill>
                      <a:srgbClr val="0432FF"/>
                    </a:solidFill>
                  </a:rPr>
                  <a:t>SRAM</a:t>
                </a:r>
                <a:r>
                  <a:rPr lang="zh-CN" altLang="en-US" dirty="0">
                    <a:solidFill>
                      <a:srgbClr val="0432FF"/>
                    </a:solidFill>
                  </a:rPr>
                  <a:t>读写</a:t>
                </a:r>
                <a:endParaRPr lang="en-US" altLang="zh-CN" dirty="0">
                  <a:solidFill>
                    <a:srgbClr val="0432FF"/>
                  </a:solidFill>
                </a:endParaRPr>
              </a:p>
              <a:p>
                <a:pPr lvl="1"/>
                <a:r>
                  <a:rPr lang="zh-CN" altLang="en-US" sz="2400" dirty="0"/>
                  <a:t>读</a:t>
                </a:r>
                <a:endParaRPr lang="en-US" altLang="zh-CN" sz="2400" dirty="0"/>
              </a:p>
              <a:p>
                <a:pPr marL="1371600" lvl="2" indent="-457200">
                  <a:buFont typeface="+mj-ea"/>
                  <a:buAutoNum type="circleNumDbPlain"/>
                </a:pPr>
                <a:r>
                  <a:rPr lang="zh-CN" altLang="en-US" sz="2000" dirty="0"/>
                  <a:t>通过字线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W</m:t>
                    </m:r>
                    <m:r>
                      <m:rPr>
                        <m:sty m:val="p"/>
                      </m:rPr>
                      <a:rPr lang="en-US" altLang="zh-CN" sz="2000" i="0" dirty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zh-CN" altLang="en-US" sz="2000" dirty="0"/>
                  <a:t>选择一行</a:t>
                </a:r>
                <a:endParaRPr lang="en-US" altLang="zh-CN" sz="2000" dirty="0"/>
              </a:p>
              <a:p>
                <a:pPr marL="1371600" lvl="2" indent="-457200">
                  <a:buFont typeface="+mj-ea"/>
                  <a:buAutoNum type="circleNumDbPlain"/>
                </a:pPr>
                <a:r>
                  <a:rPr lang="zh-CN" altLang="en-US" sz="2000" dirty="0"/>
                  <a:t>等待存储单元达到稳态</a:t>
                </a:r>
                <a:endParaRPr lang="en-US" altLang="zh-CN" sz="2000" dirty="0"/>
              </a:p>
              <a:p>
                <a:pPr marL="1371600" lvl="2" indent="-457200">
                  <a:buFont typeface="+mj-ea"/>
                  <a:buAutoNum type="circleNumDbPlain"/>
                </a:pPr>
                <a:r>
                  <a:rPr lang="zh-CN" altLang="en-US" sz="2000" dirty="0"/>
                  <a:t>读取字线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dirty="0">
                            <a:latin typeface="Cambria Math" panose="02040503050406030204" pitchFamily="18" charset="0"/>
                          </a:rPr>
                          <m:t>BL</m:t>
                        </m:r>
                      </m:e>
                    </m:acc>
                    <m:r>
                      <a:rPr lang="en-US" altLang="zh-CN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+mn-ea"/>
                  </a:rPr>
                  <a:t>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BL</m:t>
                    </m:r>
                  </m:oMath>
                </a14:m>
                <a:r>
                  <a:rPr lang="zh-CN" altLang="en-US" sz="2000" dirty="0"/>
                  <a:t>的输出</a:t>
                </a:r>
                <a:endParaRPr lang="en-US" altLang="zh-CN" sz="2000" dirty="0"/>
              </a:p>
              <a:p>
                <a:pPr lvl="1"/>
                <a:r>
                  <a:rPr lang="zh-CN" altLang="en-US" sz="2400" dirty="0"/>
                  <a:t>写</a:t>
                </a:r>
                <a:endParaRPr lang="en-US" altLang="zh-CN" sz="2400" dirty="0"/>
              </a:p>
              <a:p>
                <a:pPr marL="1371600" lvl="2" indent="-457200">
                  <a:buFont typeface="+mj-ea"/>
                  <a:buAutoNum type="circleNumDbPlain"/>
                </a:pPr>
                <a:r>
                  <a:rPr lang="zh-CN" altLang="en-US" sz="2000" dirty="0"/>
                  <a:t>将数据写入位线</a:t>
                </a:r>
                <a:r>
                  <a:rPr lang="en-US" altLang="zh-CN" sz="2000" dirty="0">
                    <a:latin typeface="+mn-ea"/>
                  </a:rPr>
                  <a:t>(</a:t>
                </a:r>
                <a:r>
                  <a:rPr lang="zh-CN" altLang="en-US" sz="2000" dirty="0">
                    <a:latin typeface="+mn-ea"/>
                  </a:rPr>
                  <a:t>如：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0" dirty="0">
                            <a:latin typeface="Cambria Math" panose="02040503050406030204" pitchFamily="18" charset="0"/>
                          </a:rPr>
                          <m:t>BL</m:t>
                        </m:r>
                      </m:e>
                    </m:acc>
                    <m:r>
                      <a:rPr lang="en-US" altLang="zh-CN" sz="200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=1,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dirty="0">
                        <a:latin typeface="Cambria Math" panose="02040503050406030204" pitchFamily="18" charset="0"/>
                      </a:rPr>
                      <m:t>BL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=0)</a:t>
                </a:r>
              </a:p>
              <a:p>
                <a:pPr marL="1371600" lvl="2" indent="-457200">
                  <a:buFont typeface="+mj-ea"/>
                  <a:buAutoNum type="circleNumDbPlain"/>
                </a:pPr>
                <a:r>
                  <a:rPr lang="zh-CN" altLang="en-US" sz="2000" dirty="0"/>
                  <a:t>通过字线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WL</m:t>
                    </m:r>
                  </m:oMath>
                </a14:m>
                <a:r>
                  <a:rPr lang="zh-CN" altLang="en-US" sz="2000" dirty="0"/>
                  <a:t>选择待写行</a:t>
                </a:r>
                <a:endParaRPr lang="en-US" altLang="zh-CN" sz="2000" dirty="0"/>
              </a:p>
              <a:p>
                <a:pPr marL="1371600" lvl="2" indent="-457200">
                  <a:buFont typeface="+mj-ea"/>
                  <a:buAutoNum type="circleNumDbPlain"/>
                </a:pPr>
                <a:r>
                  <a:rPr lang="zh-CN" altLang="en-US" sz="2000" dirty="0"/>
                  <a:t>等待存储单元达到稳态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A1552BA-4327-A147-B565-E435AE2EE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551432"/>
                <a:ext cx="4826253" cy="4799672"/>
              </a:xfrm>
              <a:blipFill>
                <a:blip r:embed="rId3"/>
                <a:stretch>
                  <a:fillRect l="-2904" t="-2033" r="-1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670F641-FCF9-2241-A305-F6D6D2EF70E3}"/>
                  </a:ext>
                </a:extLst>
              </p:cNvPr>
              <p:cNvSpPr txBox="1"/>
              <p:nvPr/>
            </p:nvSpPr>
            <p:spPr>
              <a:xfrm>
                <a:off x="5456267" y="4346130"/>
                <a:ext cx="254428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SRAM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单元</m:t>
                      </m:r>
                      <m:r>
                        <a:rPr kumimoji="1" lang="zh-CN" altLang="en-US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的</m:t>
                      </m:r>
                      <m: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6</m:t>
                      </m:r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T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结构</m:t>
                      </m:r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670F641-FCF9-2241-A305-F6D6D2EF7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267" y="4346130"/>
                <a:ext cx="2544286" cy="400110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组合 48">
            <a:extLst>
              <a:ext uri="{FF2B5EF4-FFF2-40B4-BE49-F238E27FC236}">
                <a16:creationId xmlns:a16="http://schemas.microsoft.com/office/drawing/2014/main" id="{937B302A-AA60-2A4B-B62B-F540218975F1}"/>
              </a:ext>
            </a:extLst>
          </p:cNvPr>
          <p:cNvGrpSpPr>
            <a:grpSpLocks noChangeAspect="1"/>
          </p:cNvGrpSpPr>
          <p:nvPr/>
        </p:nvGrpSpPr>
        <p:grpSpPr>
          <a:xfrm>
            <a:off x="5285034" y="1968519"/>
            <a:ext cx="3134365" cy="2218910"/>
            <a:chOff x="4563354" y="1944153"/>
            <a:chExt cx="3134365" cy="2218910"/>
          </a:xfrm>
        </p:grpSpPr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D53C5B8B-1F50-584E-B59E-16896AEAC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7693" y="2410901"/>
              <a:ext cx="0" cy="45258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FDEAAEB5-5F72-D346-9E68-7E77E3E43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1241" y="2410901"/>
              <a:ext cx="377670" cy="2129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16065683-7695-124A-B9F8-1AF49F660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4144" y="2650504"/>
              <a:ext cx="431864" cy="2129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0DFA744-2953-0E4C-9D08-DEA3831B1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6008" y="2570637"/>
              <a:ext cx="137182" cy="133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A6D8E53E-48A8-E343-A362-E2D7375B1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6738" y="3129710"/>
              <a:ext cx="0" cy="4509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F261ADFD-2B0C-0148-BDC4-E23345915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5034" y="3129710"/>
              <a:ext cx="435253" cy="2129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C90A40AC-A1B6-5143-9208-D502BDD91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2131" y="3369314"/>
              <a:ext cx="381058" cy="211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74C4850-18E8-C844-9490-A165B6BC1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1241" y="3289445"/>
              <a:ext cx="133793" cy="13311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EA86B510-5D25-8F47-B951-62A19DC78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0288" y="2637193"/>
              <a:ext cx="1354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29EAF819-3841-C04B-8AAA-4A6C84EE4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9323" y="2650504"/>
              <a:ext cx="0" cy="6921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82ECDC4-0947-5845-A41F-D413F6A05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3189" y="3356002"/>
              <a:ext cx="1896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1B9C28B5-A7D4-8747-AC5B-5C8A36C4C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01559" y="3356002"/>
              <a:ext cx="18968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52B8495E-0925-DC4B-8C3F-30F50FEFEC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15108" y="2623882"/>
              <a:ext cx="0" cy="745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AF92285F-C1CF-D149-886A-FE525C185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8656" y="2637193"/>
              <a:ext cx="1354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AD676154-CC5C-774E-97B2-3E8A586AF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2872" y="3036531"/>
              <a:ext cx="2167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3842CD10-1FA7-C442-B2DA-A40AE4F0E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53200" y="2863485"/>
              <a:ext cx="0" cy="1863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879AC472-CAEA-164A-A21F-C3E0EF52C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6749" y="2876796"/>
              <a:ext cx="298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9A3E51BF-B9C1-824F-819A-4C0A0B6D24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8369" y="2890107"/>
              <a:ext cx="0" cy="133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1BF1B6A7-47A9-0248-86A9-DADC3AF14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1918" y="3036531"/>
              <a:ext cx="2963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EE400879-C45E-D34B-A36A-29867E534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2747" y="3036531"/>
              <a:ext cx="2167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5FE76EB6-1DE2-F14B-BE41-749A25A0BE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63075" y="2863485"/>
              <a:ext cx="0" cy="18635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8C544AB2-EEB3-A743-A380-DD64625475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6624" y="2876796"/>
              <a:ext cx="2997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729A99A2-2904-AC49-95BD-13C21C65F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9939" y="2890107"/>
              <a:ext cx="0" cy="1331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3D24073D-889C-834A-AA32-FE9CFFF11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3487" y="3036531"/>
              <a:ext cx="298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505922C9-7256-4242-BECB-C8217BCFD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6624" y="2796929"/>
              <a:ext cx="2997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86A4F273-32E8-D64F-8191-1FA9DCFAF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6749" y="2796929"/>
              <a:ext cx="2980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175DB363-22B9-CF49-9DB5-7054000E0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4090" y="2224544"/>
              <a:ext cx="0" cy="5840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EC2079A1-D08D-444B-9637-58C57DD200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14894" y="2237853"/>
              <a:ext cx="252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75652041-5000-E947-9DCC-B6FB41BE7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7354" y="2224544"/>
              <a:ext cx="0" cy="5840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26208F21-17CD-7040-8854-F831036FA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9198" y="2410901"/>
              <a:ext cx="0" cy="14109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65F5E923-A2C4-4540-8570-F997EA82C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1844" y="2410901"/>
              <a:ext cx="0" cy="14109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0977" tIns="50489" rIns="100977" bIns="50489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10119F2C-63F0-7048-A472-58A4728982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958432" y="1944153"/>
                  <a:ext cx="553499" cy="2920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0111" tIns="28044" rIns="70111" bIns="28044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80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𝑊𝐿</m:t>
                        </m:r>
                      </m:oMath>
                    </m:oMathPara>
                  </a14:m>
                  <a:endParaRPr kumimoji="0" lang="en-US" altLang="zh-CN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10119F2C-63F0-7048-A472-58A4728982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58432" y="1944153"/>
                  <a:ext cx="553499" cy="29208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Rectangle 111">
              <a:extLst>
                <a:ext uri="{FF2B5EF4-FFF2-40B4-BE49-F238E27FC236}">
                  <a16:creationId xmlns:a16="http://schemas.microsoft.com/office/drawing/2014/main" id="{B525FA0B-AABA-A74B-8DE9-014E1E6AA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1095" y="3356003"/>
              <a:ext cx="317184" cy="376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908" tIns="49077" rIns="99908" bIns="49077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43" name="Rectangle 112">
              <a:extLst>
                <a:ext uri="{FF2B5EF4-FFF2-40B4-BE49-F238E27FC236}">
                  <a16:creationId xmlns:a16="http://schemas.microsoft.com/office/drawing/2014/main" id="{979DFFB6-C4ED-E541-9520-74A4118B8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5588" y="3356003"/>
              <a:ext cx="317184" cy="376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908" tIns="49077" rIns="99908" bIns="49077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44" name="Rectangle 113">
              <a:extLst>
                <a:ext uri="{FF2B5EF4-FFF2-40B4-BE49-F238E27FC236}">
                  <a16:creationId xmlns:a16="http://schemas.microsoft.com/office/drawing/2014/main" id="{CCBDAC1E-BD89-0E4C-BCB4-52AE80EC2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5587" y="2317723"/>
              <a:ext cx="303152" cy="376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9908" tIns="49077" rIns="99908" bIns="49077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45" name="Rectangle 114">
              <a:extLst>
                <a:ext uri="{FF2B5EF4-FFF2-40B4-BE49-F238E27FC236}">
                  <a16:creationId xmlns:a16="http://schemas.microsoft.com/office/drawing/2014/main" id="{2A80112F-4C9E-E846-B22C-9F339E17A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1496" y="2317723"/>
              <a:ext cx="317184" cy="376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9908" tIns="49077" rIns="99908" bIns="49077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SimHei" panose="02010609060101010101" pitchFamily="49" charset="-122"/>
                  <a:cs typeface="+mn-cs"/>
                </a:rP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0">
                  <a:extLst>
                    <a:ext uri="{FF2B5EF4-FFF2-40B4-BE49-F238E27FC236}">
                      <a16:creationId xmlns:a16="http://schemas.microsoft.com/office/drawing/2014/main" id="{1560B22B-054A-4B47-9B94-FA178B3E8B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11546" y="3870978"/>
                  <a:ext cx="486173" cy="2920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0111" tIns="28044" rIns="70111" bIns="28044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80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𝐵</m:t>
                        </m:r>
                        <m:r>
                          <a:rPr kumimoji="0" lang="en-US" altLang="zh-CN" sz="180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𝐿</m:t>
                        </m:r>
                      </m:oMath>
                    </m:oMathPara>
                  </a14:m>
                  <a:endParaRPr kumimoji="0" lang="en-US" altLang="zh-CN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" name="Rectangle 40">
                  <a:extLst>
                    <a:ext uri="{FF2B5EF4-FFF2-40B4-BE49-F238E27FC236}">
                      <a16:creationId xmlns:a16="http://schemas.microsoft.com/office/drawing/2014/main" id="{1560B22B-054A-4B47-9B94-FA178B3E8B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11546" y="3870978"/>
                  <a:ext cx="486173" cy="29208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0">
                  <a:extLst>
                    <a:ext uri="{FF2B5EF4-FFF2-40B4-BE49-F238E27FC236}">
                      <a16:creationId xmlns:a16="http://schemas.microsoft.com/office/drawing/2014/main" id="{C8B1945E-1B93-7047-AD62-FA6E77D51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63354" y="3870977"/>
                  <a:ext cx="486173" cy="2920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70111" tIns="28044" rIns="70111" bIns="28044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0" lang="en-US" altLang="zh-CN" sz="180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1800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𝐵𝐿</m:t>
                            </m:r>
                          </m:e>
                        </m:acc>
                      </m:oMath>
                    </m:oMathPara>
                  </a14:m>
                  <a:endParaRPr kumimoji="0" lang="en-US" altLang="zh-CN" sz="18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8" name="Rectangle 40">
                  <a:extLst>
                    <a:ext uri="{FF2B5EF4-FFF2-40B4-BE49-F238E27FC236}">
                      <a16:creationId xmlns:a16="http://schemas.microsoft.com/office/drawing/2014/main" id="{C8B1945E-1B93-7047-AD62-FA6E77D51D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63354" y="3870977"/>
                  <a:ext cx="486173" cy="29208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C2C32F15-5671-5401-7E6C-255B65D64A03}"/>
                  </a:ext>
                </a:extLst>
              </p14:cNvPr>
              <p14:cNvContentPartPr/>
              <p14:nvPr/>
            </p14:nvContentPartPr>
            <p14:xfrm>
              <a:off x="5576040" y="3287880"/>
              <a:ext cx="3468960" cy="105660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C2C32F15-5671-5401-7E6C-255B65D64A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66680" y="3278520"/>
                <a:ext cx="3487680" cy="107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572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1552BA-4327-A147-B565-E435AE2E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3"/>
            <a:ext cx="8229600" cy="2881420"/>
          </a:xfrm>
        </p:spPr>
        <p:txBody>
          <a:bodyPr/>
          <a:lstStyle/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70C0"/>
                </a:solidFill>
              </a:rPr>
              <a:t>DRAM</a:t>
            </a:r>
            <a:r>
              <a:rPr lang="zh-CN" altLang="en-US" dirty="0">
                <a:solidFill>
                  <a:srgbClr val="0070C0"/>
                </a:solidFill>
              </a:rPr>
              <a:t>基本存储电路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sz="2400" dirty="0"/>
              <a:t>由</a:t>
            </a:r>
            <a:r>
              <a:rPr lang="en-US" altLang="zh-CN" sz="2400" dirty="0"/>
              <a:t>MOS</a:t>
            </a:r>
            <a:r>
              <a:rPr lang="zh-CN" altLang="en-US" sz="2400" dirty="0"/>
              <a:t>管和电容实现</a:t>
            </a:r>
            <a:endParaRPr lang="en-US" altLang="zh-CN" sz="2400" dirty="0"/>
          </a:p>
          <a:p>
            <a:pPr lvl="1"/>
            <a:r>
              <a:rPr lang="zh-CN" altLang="en-US" sz="2400" dirty="0"/>
              <a:t>读写速度慢，需要刷新</a:t>
            </a:r>
            <a:endParaRPr lang="en-US" altLang="zh-CN" sz="2400" dirty="0"/>
          </a:p>
          <a:p>
            <a:pPr lvl="1"/>
            <a:r>
              <a:rPr lang="zh-CN" altLang="en-US" sz="2400" dirty="0"/>
              <a:t>所用的管子数目少</a:t>
            </a:r>
            <a:endParaRPr lang="en-US" altLang="zh-CN" sz="2400" dirty="0"/>
          </a:p>
          <a:p>
            <a:pPr lvl="1"/>
            <a:r>
              <a:rPr lang="zh-CN" altLang="en-US" sz="2400" dirty="0"/>
              <a:t>芯片存储密度高</a:t>
            </a:r>
            <a:endParaRPr lang="en-US" altLang="zh-CN" sz="2400" dirty="0"/>
          </a:p>
          <a:p>
            <a:pPr lvl="1"/>
            <a:r>
              <a:rPr lang="zh-CN" altLang="en-US" sz="2400" dirty="0"/>
              <a:t>价格低廉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CC8125-530D-3F42-9B68-C396F2B53B52}"/>
                  </a:ext>
                </a:extLst>
              </p:cNvPr>
              <p:cNvSpPr txBox="1"/>
              <p:nvPr/>
            </p:nvSpPr>
            <p:spPr>
              <a:xfrm>
                <a:off x="5133273" y="5028013"/>
                <a:ext cx="287450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DRAM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单元</m:t>
                      </m:r>
                      <m:r>
                        <a:rPr kumimoji="1" lang="zh-CN" altLang="en-US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的</m:t>
                      </m:r>
                      <m: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T</m:t>
                      </m:r>
                      <m: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1</m:t>
                      </m:r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C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结构</m:t>
                      </m:r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1CC8125-530D-3F42-9B68-C396F2B53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273" y="5028013"/>
                <a:ext cx="2874505" cy="4001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6CA39AC4-BF85-714E-BA0E-B354AADC09C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909" y="2234941"/>
            <a:ext cx="2628998" cy="27930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74ECC76-24C3-8D37-F140-B13A3ED8DCE7}"/>
                  </a:ext>
                </a:extLst>
              </p14:cNvPr>
              <p14:cNvContentPartPr/>
              <p14:nvPr/>
            </p14:nvContentPartPr>
            <p14:xfrm>
              <a:off x="5988960" y="4176000"/>
              <a:ext cx="982440" cy="8287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74ECC76-24C3-8D37-F140-B13A3ED8DC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79600" y="4166640"/>
                <a:ext cx="1001160" cy="84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994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3ABE5C22-5904-984A-8902-4A99D14B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551432"/>
            <a:ext cx="4826253" cy="601459"/>
          </a:xfrm>
        </p:spPr>
        <p:txBody>
          <a:bodyPr/>
          <a:lstStyle/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70C0"/>
                </a:solidFill>
              </a:rPr>
              <a:t>DRAM</a:t>
            </a:r>
            <a:r>
              <a:rPr lang="zh-CN" altLang="en-US" dirty="0">
                <a:solidFill>
                  <a:srgbClr val="0070C0"/>
                </a:solidFill>
              </a:rPr>
              <a:t>时序图与结构</a:t>
            </a:r>
            <a:endParaRPr lang="en-US" altLang="zh-CN" dirty="0">
              <a:solidFill>
                <a:srgbClr val="0070C0"/>
              </a:solidFill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19683EB-2E44-ED46-85B7-97EFD96F70A1}"/>
              </a:ext>
            </a:extLst>
          </p:cNvPr>
          <p:cNvGrpSpPr/>
          <p:nvPr/>
        </p:nvGrpSpPr>
        <p:grpSpPr>
          <a:xfrm>
            <a:off x="4606021" y="1296057"/>
            <a:ext cx="4027989" cy="3897880"/>
            <a:chOff x="2152937" y="2036935"/>
            <a:chExt cx="4654890" cy="4821065"/>
          </a:xfrm>
        </p:grpSpPr>
        <p:pic>
          <p:nvPicPr>
            <p:cNvPr id="11" name="图片 10" descr="Screen Shot 2016-05-22 at 12.31.17 am.png">
              <a:extLst>
                <a:ext uri="{FF2B5EF4-FFF2-40B4-BE49-F238E27FC236}">
                  <a16:creationId xmlns:a16="http://schemas.microsoft.com/office/drawing/2014/main" id="{B10691F3-99EB-6847-91B2-77704EE716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22" t="33707" r="8244"/>
            <a:stretch/>
          </p:blipFill>
          <p:spPr>
            <a:xfrm>
              <a:off x="2152937" y="2036935"/>
              <a:ext cx="4654890" cy="48210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43F0609B-B3C8-5E45-AB4A-A7F5FA281BA4}"/>
                    </a:ext>
                  </a:extLst>
                </p:cNvPr>
                <p:cNvSpPr/>
                <p:nvPr/>
              </p:nvSpPr>
              <p:spPr>
                <a:xfrm>
                  <a:off x="4993327" y="3139636"/>
                  <a:ext cx="1013933" cy="60907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16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DRAM</m:t>
                        </m:r>
                      </m:oMath>
                    </m:oMathPara>
                  </a14:m>
                  <a:endParaRPr kumimoji="1" lang="en-US" altLang="zh-CN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SimHei" panose="02010609060101010101" pitchFamily="49" charset="-122"/>
                    <a:cs typeface="+mn-cs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16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SimHei" panose="02010609060101010101" pitchFamily="49" charset="-122"/>
                      <a:cs typeface="+mn-cs"/>
                    </a:rPr>
                    <a:t>存储</a:t>
                  </a:r>
                  <a14:m>
                    <m:oMath xmlns:m="http://schemas.openxmlformats.org/officeDocument/2006/math">
                      <m:r>
                        <a:rPr kumimoji="1" lang="zh-CN" altLang="en-US" sz="16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阵列</m:t>
                      </m:r>
                    </m:oMath>
                  </a14:m>
                  <a:endParaRPr kumimoji="0" lang="zh-CN" altLang="en-US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43F0609B-B3C8-5E45-AB4A-A7F5FA281B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3327" y="3139636"/>
                  <a:ext cx="1013933" cy="609075"/>
                </a:xfrm>
                <a:prstGeom prst="rect">
                  <a:avLst/>
                </a:prstGeom>
                <a:blipFill>
                  <a:blip r:embed="rId4"/>
                  <a:stretch>
                    <a:fillRect l="-10000" r="-7143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EEAD5DAA-9A17-264B-8965-0046325AC202}"/>
                    </a:ext>
                  </a:extLst>
                </p:cNvPr>
                <p:cNvSpPr/>
                <p:nvPr/>
              </p:nvSpPr>
              <p:spPr>
                <a:xfrm>
                  <a:off x="3797647" y="3016524"/>
                  <a:ext cx="216060" cy="9136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译</m:t>
                        </m:r>
                      </m:oMath>
                    </m:oMathPara>
                  </a14:m>
                  <a:endParaRPr kumimoji="1" lang="en-US" altLang="zh-CN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SimHei" panose="02010609060101010101" pitchFamily="49" charset="-122"/>
                    <a:cs typeface="+mn-cs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码</m:t>
                        </m:r>
                      </m:oMath>
                    </m:oMathPara>
                  </a14:m>
                  <a:endParaRPr kumimoji="1" lang="en-US" altLang="zh-CN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SimHei" panose="02010609060101010101" pitchFamily="49" charset="-122"/>
                    <a:cs typeface="+mn-cs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6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器</m:t>
                        </m:r>
                      </m:oMath>
                    </m:oMathPara>
                  </a14:m>
                  <a:endParaRPr kumimoji="0" lang="zh-CN" altLang="en-US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EEAD5DAA-9A17-264B-8965-0046325AC2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7647" y="3016524"/>
                  <a:ext cx="216060" cy="913611"/>
                </a:xfrm>
                <a:prstGeom prst="rect">
                  <a:avLst/>
                </a:prstGeom>
                <a:blipFill>
                  <a:blip r:embed="rId5"/>
                  <a:stretch>
                    <a:fillRect l="-62500" t="-3390" r="-37500" b="-678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42A1B66-65FB-D045-97FF-BE9C588A80B2}"/>
                    </a:ext>
                  </a:extLst>
                </p:cNvPr>
                <p:cNvSpPr/>
                <p:nvPr/>
              </p:nvSpPr>
              <p:spPr>
                <a:xfrm>
                  <a:off x="3234532" y="3078081"/>
                  <a:ext cx="216060" cy="6852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锁</m:t>
                        </m:r>
                      </m:oMath>
                    </m:oMathPara>
                  </a14:m>
                  <a:endParaRPr kumimoji="1" lang="en-US" altLang="zh-CN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SimHei" panose="02010609060101010101" pitchFamily="49" charset="-122"/>
                    <a:cs typeface="+mn-cs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存</m:t>
                        </m:r>
                      </m:oMath>
                    </m:oMathPara>
                  </a14:m>
                  <a:endParaRPr kumimoji="1" lang="en-US" altLang="zh-CN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SimHei" panose="02010609060101010101" pitchFamily="49" charset="-122"/>
                    <a:cs typeface="+mn-cs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器</m:t>
                        </m:r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D42A1B66-65FB-D045-97FF-BE9C588A80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532" y="3078081"/>
                  <a:ext cx="216060" cy="685208"/>
                </a:xfrm>
                <a:prstGeom prst="rect">
                  <a:avLst/>
                </a:prstGeom>
                <a:blipFill>
                  <a:blip r:embed="rId6"/>
                  <a:stretch>
                    <a:fillRect l="-37500" t="-4444" r="-12500"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2E46DD0-3AB8-3F4A-91FF-ABE77865AFCB}"/>
                    </a:ext>
                  </a:extLst>
                </p:cNvPr>
                <p:cNvSpPr/>
                <p:nvPr/>
              </p:nvSpPr>
              <p:spPr>
                <a:xfrm>
                  <a:off x="3234532" y="5080499"/>
                  <a:ext cx="216060" cy="68520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锁</m:t>
                        </m:r>
                      </m:oMath>
                    </m:oMathPara>
                  </a14:m>
                  <a:endParaRPr kumimoji="1" lang="en-US" altLang="zh-CN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SimHei" panose="02010609060101010101" pitchFamily="49" charset="-122"/>
                    <a:cs typeface="+mn-cs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存</m:t>
                        </m:r>
                      </m:oMath>
                    </m:oMathPara>
                  </a14:m>
                  <a:endParaRPr kumimoji="1" lang="en-US" altLang="zh-CN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SimHei" panose="02010609060101010101" pitchFamily="49" charset="-122"/>
                    <a:cs typeface="+mn-cs"/>
                  </a:endParaRPr>
                </a:p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器</m:t>
                        </m:r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62E46DD0-3AB8-3F4A-91FF-ABE77865AF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532" y="5080499"/>
                  <a:ext cx="216060" cy="685208"/>
                </a:xfrm>
                <a:prstGeom prst="rect">
                  <a:avLst/>
                </a:prstGeom>
                <a:blipFill>
                  <a:blip r:embed="rId7"/>
                  <a:stretch>
                    <a:fillRect l="-37500" t="-4444" r="-12500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D1D6DEB-9CF9-B842-ACFC-0EC734778AD6}"/>
                    </a:ext>
                  </a:extLst>
                </p:cNvPr>
                <p:cNvSpPr/>
                <p:nvPr/>
              </p:nvSpPr>
              <p:spPr>
                <a:xfrm>
                  <a:off x="5016476" y="4729419"/>
                  <a:ext cx="921334" cy="228403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放大器</m:t>
                        </m:r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FD1D6DEB-9CF9-B842-ACFC-0EC734778AD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6476" y="4729419"/>
                  <a:ext cx="921334" cy="228403"/>
                </a:xfrm>
                <a:prstGeom prst="rect">
                  <a:avLst/>
                </a:prstGeom>
                <a:blipFill>
                  <a:blip r:embed="rId8"/>
                  <a:stretch>
                    <a:fillRect t="-6667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A54E10C3-EE40-2545-994B-7CC91DDB666C}"/>
                    </a:ext>
                  </a:extLst>
                </p:cNvPr>
                <p:cNvSpPr/>
                <p:nvPr/>
              </p:nvSpPr>
              <p:spPr>
                <a:xfrm>
                  <a:off x="4888152" y="5218933"/>
                  <a:ext cx="1246429" cy="26647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4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4:1</m:t>
                        </m:r>
                        <m:r>
                          <a:rPr kumimoji="1" lang="zh-CN" altLang="en-US" sz="14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多路</m:t>
                        </m:r>
                        <m:r>
                          <a:rPr kumimoji="1" lang="zh-CN" altLang="en-US" sz="14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选择器</m:t>
                        </m:r>
                      </m:oMath>
                    </m:oMathPara>
                  </a14:m>
                  <a:endParaRPr kumimoji="0" lang="zh-CN" altLang="en-US" sz="14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A54E10C3-EE40-2545-994B-7CC91DDB66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8152" y="5218933"/>
                  <a:ext cx="1246429" cy="266470"/>
                </a:xfrm>
                <a:prstGeom prst="rect">
                  <a:avLst/>
                </a:prstGeom>
                <a:blipFill>
                  <a:blip r:embed="rId9"/>
                  <a:stretch>
                    <a:fillRect l="-11628" r="-8140" b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46EB315-73E8-7E4D-BE37-ECFB3C4464EF}"/>
              </a:ext>
            </a:extLst>
          </p:cNvPr>
          <p:cNvGrpSpPr/>
          <p:nvPr/>
        </p:nvGrpSpPr>
        <p:grpSpPr>
          <a:xfrm>
            <a:off x="701133" y="2211911"/>
            <a:ext cx="3454178" cy="1679993"/>
            <a:chOff x="701133" y="2211911"/>
            <a:chExt cx="3454178" cy="1679993"/>
          </a:xfrm>
        </p:grpSpPr>
        <p:pic>
          <p:nvPicPr>
            <p:cNvPr id="21" name="Picture 4" descr="Picture1">
              <a:extLst>
                <a:ext uri="{FF2B5EF4-FFF2-40B4-BE49-F238E27FC236}">
                  <a16:creationId xmlns:a16="http://schemas.microsoft.com/office/drawing/2014/main" id="{2ABC7081-54C0-AE4F-8D55-4CB5DAE90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037" b="30019"/>
            <a:stretch>
              <a:fillRect/>
            </a:stretch>
          </p:blipFill>
          <p:spPr>
            <a:xfrm>
              <a:off x="1024359" y="2211911"/>
              <a:ext cx="3130952" cy="1679993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02E9EC7F-DF29-3A4F-AACF-7F207ED0D9FF}"/>
                    </a:ext>
                  </a:extLst>
                </p:cNvPr>
                <p:cNvSpPr/>
                <p:nvPr/>
              </p:nvSpPr>
              <p:spPr>
                <a:xfrm>
                  <a:off x="701133" y="2252749"/>
                  <a:ext cx="843501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主存地址</m:t>
                        </m:r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02E9EC7F-DF29-3A4F-AACF-7F207ED0D9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33" y="2252749"/>
                  <a:ext cx="843501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667588F0-7DA5-BA4C-BAA9-26BE336C4FE5}"/>
                    </a:ext>
                  </a:extLst>
                </p:cNvPr>
                <p:cNvSpPr/>
                <p:nvPr/>
              </p:nvSpPr>
              <p:spPr>
                <a:xfrm>
                  <a:off x="701133" y="3614905"/>
                  <a:ext cx="843501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输出数据</m:t>
                        </m:r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667588F0-7DA5-BA4C-BAA9-26BE336C4F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33" y="3614905"/>
                  <a:ext cx="843501" cy="276999"/>
                </a:xfrm>
                <a:prstGeom prst="rect">
                  <a:avLst/>
                </a:prstGeom>
                <a:blipFill>
                  <a:blip r:embed="rId13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4525998F-CCC9-724E-A933-05D06FE2FACD}"/>
                    </a:ext>
                  </a:extLst>
                </p:cNvPr>
                <p:cNvSpPr/>
                <p:nvPr/>
              </p:nvSpPr>
              <p:spPr>
                <a:xfrm>
                  <a:off x="701133" y="2700733"/>
                  <a:ext cx="73284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zh-CN" altLang="en-US" sz="120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20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RAS</m:t>
                            </m:r>
                          </m:e>
                        </m:acc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矩形 23">
                  <a:extLst>
                    <a:ext uri="{FF2B5EF4-FFF2-40B4-BE49-F238E27FC236}">
                      <a16:creationId xmlns:a16="http://schemas.microsoft.com/office/drawing/2014/main" id="{4525998F-CCC9-724E-A933-05D06FE2FA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33" y="2700733"/>
                  <a:ext cx="732847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2053D499-2C67-384C-8C8F-A1491B8C3068}"/>
                    </a:ext>
                  </a:extLst>
                </p:cNvPr>
                <p:cNvSpPr/>
                <p:nvPr/>
              </p:nvSpPr>
              <p:spPr>
                <a:xfrm>
                  <a:off x="701133" y="3111332"/>
                  <a:ext cx="752664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zh-CN" altLang="en-US" sz="120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20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CAS</m:t>
                            </m:r>
                          </m:e>
                        </m:acc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2053D499-2C67-384C-8C8F-A1491B8C30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133" y="3111332"/>
                  <a:ext cx="752664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F6C44F07-65AE-0845-BA00-F712053EF8A0}"/>
                    </a:ext>
                  </a:extLst>
                </p:cNvPr>
                <p:cNvSpPr/>
                <p:nvPr/>
              </p:nvSpPr>
              <p:spPr>
                <a:xfrm>
                  <a:off x="1892181" y="2332224"/>
                  <a:ext cx="67172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9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行地址</m:t>
                        </m:r>
                      </m:oMath>
                    </m:oMathPara>
                  </a14:m>
                  <a:endParaRPr kumimoji="0" lang="zh-CN" altLang="en-US" sz="9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F6C44F07-65AE-0845-BA00-F712053EF8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2181" y="2332224"/>
                  <a:ext cx="671725" cy="138499"/>
                </a:xfrm>
                <a:prstGeom prst="rect">
                  <a:avLst/>
                </a:prstGeom>
                <a:blipFill>
                  <a:blip r:embed="rId16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B13C9905-8550-534D-AEF2-2FFE306A9FF1}"/>
                    </a:ext>
                  </a:extLst>
                </p:cNvPr>
                <p:cNvSpPr/>
                <p:nvPr/>
              </p:nvSpPr>
              <p:spPr>
                <a:xfrm>
                  <a:off x="2782676" y="2326248"/>
                  <a:ext cx="61793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9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列地址</m:t>
                        </m:r>
                      </m:oMath>
                    </m:oMathPara>
                  </a14:m>
                  <a:endParaRPr kumimoji="0" lang="zh-CN" altLang="en-US" sz="9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B13C9905-8550-534D-AEF2-2FFE306A9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2676" y="2326248"/>
                  <a:ext cx="617936" cy="138499"/>
                </a:xfrm>
                <a:prstGeom prst="rect">
                  <a:avLst/>
                </a:prstGeom>
                <a:blipFill>
                  <a:blip r:embed="rId17"/>
                  <a:stretch>
                    <a:fillRect t="-9091" b="-36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7EE1CBD-5D9F-8E40-A9F5-C49126D5B03C}"/>
                </a:ext>
              </a:extLst>
            </p:cNvPr>
            <p:cNvSpPr/>
            <p:nvPr/>
          </p:nvSpPr>
          <p:spPr>
            <a:xfrm>
              <a:off x="3301549" y="3673822"/>
              <a:ext cx="247564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有效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D5721B9-55B2-D24D-A5DE-7EE4B44E9F25}"/>
              </a:ext>
            </a:extLst>
          </p:cNvPr>
          <p:cNvGrpSpPr/>
          <p:nvPr/>
        </p:nvGrpSpPr>
        <p:grpSpPr>
          <a:xfrm>
            <a:off x="606144" y="4260562"/>
            <a:ext cx="3549167" cy="2092012"/>
            <a:chOff x="4626818" y="1837691"/>
            <a:chExt cx="3549167" cy="2092012"/>
          </a:xfrm>
        </p:grpSpPr>
        <p:pic>
          <p:nvPicPr>
            <p:cNvPr id="30" name="Picture 6" descr="Picture1">
              <a:extLst>
                <a:ext uri="{FF2B5EF4-FFF2-40B4-BE49-F238E27FC236}">
                  <a16:creationId xmlns:a16="http://schemas.microsoft.com/office/drawing/2014/main" id="{AE2E0ADB-7C52-0645-BE1B-C7EB231BC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918"/>
            <a:stretch>
              <a:fillRect/>
            </a:stretch>
          </p:blipFill>
          <p:spPr>
            <a:xfrm>
              <a:off x="5045033" y="1842402"/>
              <a:ext cx="3130952" cy="2087301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0AB7A607-9B77-DE4D-92D0-BAAE421B88AE}"/>
                    </a:ext>
                  </a:extLst>
                </p:cNvPr>
                <p:cNvSpPr/>
                <p:nvPr/>
              </p:nvSpPr>
              <p:spPr>
                <a:xfrm>
                  <a:off x="4626818" y="3152001"/>
                  <a:ext cx="918841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写</m:t>
                        </m:r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使能</m:t>
                        </m:r>
                        <m:acc>
                          <m:accPr>
                            <m:chr m:val="̅"/>
                            <m:ctrlPr>
                              <a:rPr kumimoji="1" lang="zh-CN" altLang="en-US" sz="120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20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WE</m:t>
                            </m:r>
                          </m:e>
                        </m:acc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0AB7A607-9B77-DE4D-92D0-BAAE421B88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818" y="3152001"/>
                  <a:ext cx="918841" cy="276999"/>
                </a:xfrm>
                <a:prstGeom prst="rect">
                  <a:avLst/>
                </a:prstGeom>
                <a:blipFill>
                  <a:blip r:embed="rId20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489736FE-8B05-3543-8395-192FD63B5B4F}"/>
                    </a:ext>
                  </a:extLst>
                </p:cNvPr>
                <p:cNvSpPr/>
                <p:nvPr/>
              </p:nvSpPr>
              <p:spPr>
                <a:xfrm>
                  <a:off x="4626818" y="3614905"/>
                  <a:ext cx="838691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输</m:t>
                        </m:r>
                        <m:r>
                          <a:rPr kumimoji="1" lang="zh-CN" altLang="en-US" sz="12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入</m:t>
                        </m:r>
                        <m:r>
                          <a:rPr kumimoji="1" lang="zh-CN" altLang="en-US" sz="12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数据</m:t>
                        </m:r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489736FE-8B05-3543-8395-192FD63B5B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818" y="3614905"/>
                  <a:ext cx="838691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06442062-54EB-1E45-A3E6-66DFCF8786A6}"/>
                    </a:ext>
                  </a:extLst>
                </p:cNvPr>
                <p:cNvSpPr/>
                <p:nvPr/>
              </p:nvSpPr>
              <p:spPr>
                <a:xfrm>
                  <a:off x="4626818" y="1837691"/>
                  <a:ext cx="843501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zh-CN" altLang="en-US" sz="12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主存地址</m:t>
                        </m:r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06442062-54EB-1E45-A3E6-66DFCF8786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818" y="1837691"/>
                  <a:ext cx="843501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218F0838-D4CC-4441-B52B-3BCBE29FC6D8}"/>
                    </a:ext>
                  </a:extLst>
                </p:cNvPr>
                <p:cNvSpPr/>
                <p:nvPr/>
              </p:nvSpPr>
              <p:spPr>
                <a:xfrm>
                  <a:off x="4626818" y="2316836"/>
                  <a:ext cx="732847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zh-CN" altLang="en-US" sz="120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20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RAS</m:t>
                            </m:r>
                          </m:e>
                        </m:acc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218F0838-D4CC-4441-B52B-3BCBE29FC6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818" y="2316836"/>
                  <a:ext cx="732847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CA3CBE60-D819-3941-B3FE-EF4CD90AF9BB}"/>
                    </a:ext>
                  </a:extLst>
                </p:cNvPr>
                <p:cNvSpPr/>
                <p:nvPr/>
              </p:nvSpPr>
              <p:spPr>
                <a:xfrm>
                  <a:off x="4626818" y="2727435"/>
                  <a:ext cx="752664" cy="2769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kumimoji="1" lang="zh-CN" altLang="en-US" sz="120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20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CAS</m:t>
                            </m:r>
                          </m:e>
                        </m:acc>
                      </m:oMath>
                    </m:oMathPara>
                  </a14:m>
                  <a:endParaRPr kumimoji="0" lang="zh-CN" altLang="en-US" sz="12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CA3CBE60-D819-3941-B3FE-EF4CD90AF9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818" y="2727435"/>
                  <a:ext cx="752664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C26FDB86-B0FA-BC42-9D48-BACAD1E16D6C}"/>
                    </a:ext>
                  </a:extLst>
                </p:cNvPr>
                <p:cNvSpPr/>
                <p:nvPr/>
              </p:nvSpPr>
              <p:spPr>
                <a:xfrm>
                  <a:off x="5894510" y="1958828"/>
                  <a:ext cx="67172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9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行地址</m:t>
                        </m:r>
                      </m:oMath>
                    </m:oMathPara>
                  </a14:m>
                  <a:endParaRPr kumimoji="0" lang="zh-CN" altLang="en-US" sz="9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C26FDB86-B0FA-BC42-9D48-BACAD1E16D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4510" y="1958828"/>
                  <a:ext cx="671725" cy="138499"/>
                </a:xfrm>
                <a:prstGeom prst="rect">
                  <a:avLst/>
                </a:prstGeom>
                <a:blipFill>
                  <a:blip r:embed="rId25"/>
                  <a:stretch>
                    <a:fillRect t="-8333"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39A0CC9-E264-FF40-9355-04BBD52E1DB8}"/>
                    </a:ext>
                  </a:extLst>
                </p:cNvPr>
                <p:cNvSpPr/>
                <p:nvPr/>
              </p:nvSpPr>
              <p:spPr>
                <a:xfrm>
                  <a:off x="6796957" y="1964804"/>
                  <a:ext cx="61793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9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列地址</m:t>
                        </m:r>
                      </m:oMath>
                    </m:oMathPara>
                  </a14:m>
                  <a:endParaRPr kumimoji="0" lang="zh-CN" altLang="en-US" sz="9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SimHei" panose="02010609060101010101" pitchFamily="49" charset="-122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39A0CC9-E264-FF40-9355-04BBD52E1D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6957" y="1964804"/>
                  <a:ext cx="617936" cy="138499"/>
                </a:xfrm>
                <a:prstGeom prst="rect">
                  <a:avLst/>
                </a:prstGeom>
                <a:blipFill>
                  <a:blip r:embed="rId26"/>
                  <a:stretch>
                    <a:fillRect b="-2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555590C-0C32-284F-9FBB-6F8109586CBA}"/>
                </a:ext>
              </a:extLst>
            </p:cNvPr>
            <p:cNvSpPr/>
            <p:nvPr/>
          </p:nvSpPr>
          <p:spPr>
            <a:xfrm>
              <a:off x="6827778" y="3700912"/>
              <a:ext cx="247564" cy="1384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SimHei" panose="02010609060101010101" pitchFamily="49" charset="-122"/>
                  <a:cs typeface="+mn-cs"/>
                </a:rPr>
                <a:t>有效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8E3C16EB-F7DF-3B43-9588-D98DFDA01795}"/>
              </a:ext>
            </a:extLst>
          </p:cNvPr>
          <p:cNvSpPr txBox="1"/>
          <p:nvPr/>
        </p:nvSpPr>
        <p:spPr>
          <a:xfrm>
            <a:off x="2360923" y="3885962"/>
            <a:ext cx="649537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读取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7BD74EB-E074-FC4B-B99A-6A46F8DE5932}"/>
              </a:ext>
            </a:extLst>
          </p:cNvPr>
          <p:cNvSpPr txBox="1"/>
          <p:nvPr/>
        </p:nvSpPr>
        <p:spPr>
          <a:xfrm>
            <a:off x="2360923" y="6352574"/>
            <a:ext cx="649537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写入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4BDD61D-702B-9F47-B770-73C167A35149}"/>
                  </a:ext>
                </a:extLst>
              </p:cNvPr>
              <p:cNvSpPr/>
              <p:nvPr/>
            </p:nvSpPr>
            <p:spPr>
              <a:xfrm>
                <a:off x="4347962" y="5198099"/>
                <a:ext cx="4699790" cy="1324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行地址信号</a:t>
                </a:r>
                <a:r>
                  <a:rPr kumimoji="0" lang="en-US" altLang="zh-CN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16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6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RAS</m:t>
                        </m:r>
                      </m:e>
                    </m:acc>
                  </m:oMath>
                </a14:m>
                <a:r>
                  <a:rPr kumimoji="0" lang="en-US" altLang="zh-CN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,Row Address Strobe)</a:t>
                </a:r>
                <a:r>
                  <a:rPr kumimoji="0" lang="zh-CN" altLang="en-US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：控制锁存单元加载行地址，低电平有效</a:t>
                </a:r>
                <a:endParaRPr kumimoji="0" lang="en-US" altLang="zh-CN" sz="1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SimHei" panose="02010609060101010101" pitchFamily="49" charset="-122"/>
                  <a:cs typeface="+mn-cs"/>
                </a:endParaRPr>
              </a:p>
              <a:p>
                <a:pPr marL="285750" marR="0" lvl="0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zh-CN" altLang="en-US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列地址信号</a:t>
                </a:r>
                <a:r>
                  <a:rPr kumimoji="0" lang="en-US" altLang="zh-CN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zh-CN" altLang="en-US" sz="160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kumimoji="1" lang="en-US" altLang="zh-CN" sz="160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kumimoji="1" lang="en-US" altLang="zh-CN" sz="160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charset="0"/>
                            <a:cs typeface="+mn-cs"/>
                          </a:rPr>
                          <m:t>AS</m:t>
                        </m:r>
                      </m:e>
                    </m:acc>
                  </m:oMath>
                </a14:m>
                <a:r>
                  <a:rPr kumimoji="0" lang="en-US" altLang="zh-CN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,Colomn Address Strobe)</a:t>
                </a:r>
                <a:r>
                  <a:rPr kumimoji="0" lang="zh-CN" altLang="en-US" sz="16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SimHei" panose="02010609060101010101" pitchFamily="49" charset="-122"/>
                    <a:cs typeface="+mn-cs"/>
                  </a:rPr>
                  <a:t>：控制锁存单元加载列地址，低电平有效。并且可以作为输出使能信号</a:t>
                </a:r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4BDD61D-702B-9F47-B770-73C167A35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7962" y="5198099"/>
                <a:ext cx="4699790" cy="1324593"/>
              </a:xfrm>
              <a:prstGeom prst="rect">
                <a:avLst/>
              </a:prstGeom>
              <a:blipFill>
                <a:blip r:embed="rId27"/>
                <a:stretch>
                  <a:fillRect l="-539" t="-1905" r="-539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0219E6A-E2E8-5C98-EFD1-C66ECB47DD2D}"/>
                  </a:ext>
                </a:extLst>
              </p14:cNvPr>
              <p14:cNvContentPartPr/>
              <p14:nvPr/>
            </p14:nvContentPartPr>
            <p14:xfrm>
              <a:off x="2315520" y="2692440"/>
              <a:ext cx="5739480" cy="29541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0219E6A-E2E8-5C98-EFD1-C66ECB47DD2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06160" y="2683080"/>
                <a:ext cx="5758200" cy="297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979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1552BA-4327-A147-B565-E435AE2E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8229600" cy="4779793"/>
          </a:xfrm>
        </p:spPr>
        <p:txBody>
          <a:bodyPr/>
          <a:lstStyle/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dirty="0"/>
              <a:t>DRAM</a:t>
            </a:r>
            <a:r>
              <a:rPr lang="zh-CN" altLang="en-US" dirty="0"/>
              <a:t>采用电容来存储带来的问题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sz="2400" dirty="0"/>
              <a:t>在读取时电容会放电，必须在读取后对内容进行刷新</a:t>
            </a:r>
          </a:p>
          <a:p>
            <a:pPr lvl="1"/>
            <a:r>
              <a:rPr lang="zh-CN" altLang="en-US" sz="2400" dirty="0"/>
              <a:t>即便不读数据，</a:t>
            </a:r>
            <a:r>
              <a:rPr lang="en-US" altLang="zh-CN" sz="2400" dirty="0"/>
              <a:t>MOS</a:t>
            </a:r>
            <a:r>
              <a:rPr lang="zh-CN" altLang="en-US" sz="2400" dirty="0"/>
              <a:t>管也会有漏电。因此每个存储单元都必须定期被刷新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可能的解决方案和产生的问题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sz="2400" dirty="0"/>
              <a:t>解决方案：存储器的控制电路周期性的</a:t>
            </a:r>
            <a:r>
              <a:rPr lang="zh-CN" altLang="en-CN" sz="2400" dirty="0"/>
              <a:t>逐行</a:t>
            </a:r>
            <a:r>
              <a:rPr lang="zh-CN" altLang="en-US" sz="2400" dirty="0"/>
              <a:t>读取每个单元的内容并回写</a:t>
            </a:r>
          </a:p>
          <a:p>
            <a:pPr lvl="1"/>
            <a:r>
              <a:rPr lang="zh-CN" altLang="en-US" sz="2400" dirty="0"/>
              <a:t>带来的问题：在刷新周期内</a:t>
            </a:r>
            <a:r>
              <a:rPr lang="en-US" altLang="zh-CN" sz="2400" dirty="0"/>
              <a:t>CPU</a:t>
            </a:r>
            <a:r>
              <a:rPr lang="zh-CN" altLang="en-US" sz="2400" dirty="0"/>
              <a:t>不能使用这部分存储器，因此降低系统性能</a:t>
            </a:r>
          </a:p>
        </p:txBody>
      </p:sp>
    </p:spTree>
    <p:extLst>
      <p:ext uri="{BB962C8B-B14F-4D97-AF65-F5344CB8AC3E}">
        <p14:creationId xmlns:p14="http://schemas.microsoft.com/office/powerpoint/2010/main" val="1209449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1552BA-4327-A147-B565-E435AE2E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1432"/>
            <a:ext cx="5512030" cy="2341299"/>
          </a:xfrm>
        </p:spPr>
        <p:txBody>
          <a:bodyPr/>
          <a:lstStyle/>
          <a:p>
            <a:pPr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dirty="0"/>
              <a:t>DRAM</a:t>
            </a:r>
            <a:r>
              <a:rPr lang="zh-CN" altLang="en-US" dirty="0"/>
              <a:t>电容大小的权衡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sz="2400" dirty="0"/>
              <a:t>大电容容量</a:t>
            </a:r>
            <a:r>
              <a:rPr lang="en-US" altLang="zh-CN" sz="2400" dirty="0"/>
              <a:t>C</a:t>
            </a:r>
            <a:r>
              <a:rPr lang="zh-CN" altLang="en-US" sz="2400" dirty="0"/>
              <a:t>的优势：提供更长的数据保持时间</a:t>
            </a:r>
            <a:r>
              <a:rPr lang="en-US" altLang="zh-CN" sz="2400" dirty="0"/>
              <a:t>(Retention time)</a:t>
            </a:r>
            <a:endParaRPr lang="zh-CN" altLang="en-US" sz="2400" dirty="0"/>
          </a:p>
          <a:p>
            <a:pPr lvl="1"/>
            <a:r>
              <a:rPr lang="zh-CN" altLang="en-US" sz="2400" dirty="0"/>
              <a:t>大电容容量</a:t>
            </a:r>
            <a:r>
              <a:rPr lang="en-US" altLang="zh-CN" sz="2400" dirty="0"/>
              <a:t>C</a:t>
            </a:r>
            <a:r>
              <a:rPr lang="zh-CN" altLang="en-US" sz="2400" dirty="0"/>
              <a:t>的劣势：工艺实现难度加大，密度降低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0D9191-BF3F-5040-B607-38836C34CA7C}"/>
                  </a:ext>
                </a:extLst>
              </p:cNvPr>
              <p:cNvSpPr txBox="1"/>
              <p:nvPr/>
            </p:nvSpPr>
            <p:spPr>
              <a:xfrm>
                <a:off x="5734594" y="3964485"/>
                <a:ext cx="33089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DRAM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单元</m:t>
                      </m:r>
                      <m:r>
                        <a:rPr kumimoji="1" lang="zh-CN" altLang="en-US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的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单</m:t>
                      </m:r>
                      <m:r>
                        <m:rPr>
                          <m:sty m:val="p"/>
                        </m:rPr>
                        <a:rPr kumimoji="1" lang="en-US" altLang="zh-CN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MOS</m:t>
                      </m:r>
                      <m:r>
                        <a:rPr kumimoji="1" lang="zh-CN" altLang="en-US" sz="200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管</m:t>
                      </m:r>
                      <m:r>
                        <a:rPr kumimoji="1" lang="zh-CN" altLang="en-US" sz="200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结构</m:t>
                      </m:r>
                    </m:oMath>
                  </m:oMathPara>
                </a14:m>
                <a:endParaRPr kumimoji="1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Sun" panose="02010600030101010101" pitchFamily="2" charset="-122"/>
                  <a:ea typeface="SimSun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40D9191-BF3F-5040-B607-38836C34C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594" y="3964485"/>
                <a:ext cx="3308919" cy="400110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CC1A6B55-A755-AC40-A998-D7F772719FB7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682" y="1275917"/>
            <a:ext cx="2353545" cy="2341299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6589C8D8-FD5D-4146-B1A4-32A743E1B1EC}"/>
              </a:ext>
            </a:extLst>
          </p:cNvPr>
          <p:cNvSpPr/>
          <p:nvPr/>
        </p:nvSpPr>
        <p:spPr>
          <a:xfrm>
            <a:off x="7288559" y="2344738"/>
            <a:ext cx="979715" cy="975378"/>
          </a:xfrm>
          <a:prstGeom prst="ellipse">
            <a:avLst/>
          </a:prstGeom>
          <a:noFill/>
          <a:ln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7AEA5CCE-D98A-CB46-B349-818F267D5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53869" y="2342469"/>
                <a:ext cx="859258" cy="324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/>
              <a:p>
                <a:pPr marL="0" marR="0" lvl="0" indent="0" algn="l" defTabSz="100965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i="1" u="none" strike="noStrike" kern="1200" cap="none" spc="0" normalizeH="0" baseline="-2500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CN" sz="2400" u="none" strike="noStrike" kern="1200" cap="none" spc="0" normalizeH="0" baseline="-2500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2400" u="none" strike="noStrike" kern="1200" cap="none" spc="0" normalizeH="0" baseline="-2500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ref</m:t>
                          </m:r>
                        </m:sub>
                      </m:sSub>
                    </m:oMath>
                  </m:oMathPara>
                </a14:m>
                <a:endParaRPr kumimoji="0" lang="en-US" altLang="zh-CN" sz="240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itchFamily="66" charset="0"/>
                  <a:ea typeface="SimHe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22">
                <a:extLst>
                  <a:ext uri="{FF2B5EF4-FFF2-40B4-BE49-F238E27FC236}">
                    <a16:creationId xmlns:a16="http://schemas.microsoft.com/office/drawing/2014/main" id="{7AEA5CCE-D98A-CB46-B349-818F267D5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53869" y="2342469"/>
                <a:ext cx="859258" cy="324704"/>
              </a:xfrm>
              <a:prstGeom prst="rect">
                <a:avLst/>
              </a:prstGeom>
              <a:blipFill>
                <a:blip r:embed="rId5"/>
                <a:stretch>
                  <a:fillRect b="-481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AF76ACFC-B431-D340-91FC-696368D9FFE1}"/>
              </a:ext>
            </a:extLst>
          </p:cNvPr>
          <p:cNvSpPr txBox="1">
            <a:spLocks/>
          </p:cNvSpPr>
          <p:nvPr/>
        </p:nvSpPr>
        <p:spPr bwMode="auto">
          <a:xfrm>
            <a:off x="457199" y="4547803"/>
            <a:ext cx="7596669" cy="2094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3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DRAM</a:t>
            </a:r>
            <a:r>
              <a:rPr kumimoji="0" lang="zh-CN" altLang="en-US" sz="3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相较于</a:t>
            </a:r>
            <a:r>
              <a:rPr kumimoji="0" lang="en-US" altLang="zh-CN" sz="3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SRAM</a:t>
            </a:r>
            <a:r>
              <a:rPr kumimoji="0" lang="zh-CN" altLang="en-US" sz="32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的主要优缺点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DRAM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存储器的容量可以做的很大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DRAM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存储器的速度比</a:t>
            </a:r>
            <a:r>
              <a:rPr kumimoji="0" lang="en-US" altLang="zh-CN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SRAM</a:t>
            </a:r>
            <a:r>
              <a:rPr kumimoji="0" lang="zh-CN" altLang="en-US" sz="2400" b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慢</a:t>
            </a:r>
          </a:p>
        </p:txBody>
      </p:sp>
    </p:spTree>
    <p:extLst>
      <p:ext uri="{BB962C8B-B14F-4D97-AF65-F5344CB8AC3E}">
        <p14:creationId xmlns:p14="http://schemas.microsoft.com/office/powerpoint/2010/main" val="401361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1F3188-7722-A23D-DEE5-63D13108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AB43A-8F39-40F7-AB51-66BE5F0EDC88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8EDEEA-4087-2CE2-8D58-EC11BA7BEA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以下关于存储器的描述正确的是：</a:t>
            </a:r>
            <a:endParaRPr kumimoji="0" lang="zh-CN" altLang="en-US" sz="2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B24574-9738-BC4F-891C-43A05AB58C0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SRAM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利用锁存器实现对数据的存储</a:t>
            </a:r>
            <a:endParaRPr lang="zh-CN" altLang="en-US" sz="24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BBDFCF-475B-7E52-7798-77E4F80FF59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en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DRAM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利用电容实现对数据的存储，只有在读取数据后需要进行刷新</a:t>
            </a:r>
            <a:endParaRPr lang="zh-CN" altLang="en-US" sz="24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8B40DB-BE4B-2B90-12B5-FF4340D30F9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增大</a:t>
            </a: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DRAM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中的电容容量</a:t>
            </a: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C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可以防止电量泄漏过快，因此</a:t>
            </a: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C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越大越好。</a:t>
            </a:r>
            <a:endParaRPr lang="zh-CN" altLang="en-US" sz="24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A47D88-69A1-5C94-0E51-46C58DFD1B8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主流的主</a:t>
            </a:r>
            <a:r>
              <a:rPr kumimoji="1" lang="zh-CN" altLang="e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存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芯片主要由</a:t>
            </a:r>
            <a:r>
              <a:rPr kumimoji="1" lang="en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SRAM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构成</a:t>
            </a:r>
            <a:endParaRPr lang="zh-CN" altLang="en-US" sz="2400" dirty="0">
              <a:solidFill>
                <a:srgbClr val="000000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6852EBA-0025-CE1E-69CE-BC9409238BC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AE24E77-05FD-8EDB-368C-EFAFEB81366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6123AC7-3B00-E2D3-46C0-F25E633D5E1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4F19C0D-EF39-2944-D420-571C6FBBD10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SimHei" panose="02010609060101010101" pitchFamily="49" charset="-122"/>
              <a:ea typeface="SimHei" panose="02010609060101010101" pitchFamily="49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5F2A2A6-9E27-5F1A-D5D5-639729E702D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SimHei" panose="02010609060101010101" pitchFamily="49" charset="-122"/>
                <a:ea typeface="SimHei" panose="02010609060101010101" pitchFamily="49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8491EC5-3D5F-6FB0-35BD-4E249306068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209CD200-7DD5-53A9-78D1-460067EE4F6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1ED108B0-7D7B-FE8A-1BFB-CA1D16887FC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7DB1AE41-BC74-3D0C-BE83-F5A102005AA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7BC10654-58E3-9D92-0315-564E198E6F7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925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195FE93-8C4F-4D56-EDD9-B3A145BC5A3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32687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以下关于存储器的描述正确的是：</a:t>
            </a:r>
            <a:endParaRPr kumimoji="0" lang="zh-CN" altLang="en-US" sz="2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509240" y="1961539"/>
            <a:ext cx="8177560" cy="442075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A.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正确，</a:t>
            </a:r>
            <a:r>
              <a:rPr kumimoji="0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SRAM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是由</a:t>
            </a:r>
            <a:r>
              <a:rPr kumimoji="0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MOS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管组成的锁存器实现数据存储</a:t>
            </a:r>
            <a:endParaRPr kumimoji="0" lang="en-US" altLang="zh-CN" sz="240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Arial" charset="0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B. 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错误，</a:t>
            </a:r>
            <a:r>
              <a:rPr kumimoji="0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DRAM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不止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在读取数据后需要进行刷新。即使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不读数据，也需要对每个存储单元定期刷新</a:t>
            </a:r>
            <a:endParaRPr kumimoji="0" lang="en-US" altLang="zh-CN" sz="2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C.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错误，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电容容量</a:t>
            </a: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C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并非越大越好。</a:t>
            </a:r>
            <a:r>
              <a:rPr kumimoji="1" lang="zh-CN" altLang="en-US" sz="2400" dirty="0">
                <a:ea typeface="SimHei" panose="02010609060101010101" pitchFamily="49" charset="-122"/>
              </a:rPr>
              <a:t>电容容量</a:t>
            </a:r>
            <a:r>
              <a:rPr kumimoji="1" lang="en-US" altLang="zh-CN" sz="2400" dirty="0">
                <a:ea typeface="SimHei" panose="02010609060101010101" pitchFamily="49" charset="-122"/>
              </a:rPr>
              <a:t>C</a:t>
            </a:r>
            <a:r>
              <a:rPr kumimoji="1" lang="zh-CN" altLang="en-US" sz="2400" dirty="0">
                <a:ea typeface="SimHei" panose="02010609060101010101" pitchFamily="49" charset="-122"/>
              </a:rPr>
              <a:t>增大将</a:t>
            </a:r>
            <a:r>
              <a:rPr lang="zh-CN" altLang="en-US" sz="2400" dirty="0">
                <a:ea typeface="SimHei" panose="02010609060101010101" pitchFamily="49" charset="-122"/>
              </a:rPr>
              <a:t>带来更大的时间常数和更大的延迟。</a:t>
            </a:r>
            <a:endParaRPr kumimoji="1" lang="en-US" altLang="zh-CN" sz="2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SimHei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879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D. 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错误，主流主</a:t>
            </a:r>
            <a:r>
              <a:rPr kumimoji="1" lang="zh-CN" altLang="e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存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芯片主要由</a:t>
            </a:r>
            <a:r>
              <a:rPr kumimoji="1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D</a:t>
            </a:r>
            <a:r>
              <a:rPr kumimoji="1" lang="en" altLang="zh-CN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RAM</a:t>
            </a:r>
            <a:r>
              <a:rPr kumimoji="1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构成</a:t>
            </a:r>
            <a:endParaRPr kumimoji="1" lang="en-US" altLang="zh-CN" sz="2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SimHei" panose="02010609060101010101" pitchFamily="49" charset="-122"/>
              <a:cs typeface="+mn-cs"/>
            </a:endParaRPr>
          </a:p>
        </p:txBody>
      </p: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7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endParaRPr>
            </a:p>
          </p:txBody>
        </p:sp>
        <p:sp>
          <p:nvSpPr>
            <p:cNvPr id="18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600" dirty="0">
                  <a:solidFill>
                    <a:srgbClr val="000000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Microsoft Yahei" panose="020B0503020204020204" pitchFamily="34" charset="-122"/>
                </a:rPr>
                <a:t>习题解析 </a:t>
              </a:r>
              <a:r>
                <a:rPr kumimoji="0" lang="zh-CN" altLang="en-US" sz="2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答案：</a:t>
              </a:r>
              <a:r>
                <a:rPr kumimoji="0" lang="en-US" altLang="zh-CN" sz="2600" u="none" strike="noStrike" kern="1200" cap="none" spc="0" normalizeH="0" baseline="0" noProof="0" dirty="0">
                  <a:ln>
                    <a:noFill/>
                  </a:ln>
                  <a:solidFill>
                    <a:srgbClr val="0432FF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cs typeface="+mn-cs"/>
                  <a:sym typeface="Microsoft Yahei" panose="020B0503020204020204" pitchFamily="34" charset="-122"/>
                </a:rPr>
                <a:t>A</a:t>
              </a:r>
              <a:endParaRPr kumimoji="0" lang="zh-CN" altLang="en-US" sz="26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  <a:sym typeface="Microsoft Yahei" panose="020B0503020204020204" pitchFamily="34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08835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CE53-4CDD-2247-9AE3-E0642868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存储器的</a:t>
            </a:r>
            <a:r>
              <a:rPr lang="zh-CN" altLang="en-US" dirty="0"/>
              <a:t>技术原理和实现</a:t>
            </a:r>
            <a:r>
              <a:rPr lang="en-US" altLang="zh-CN" dirty="0"/>
              <a:t>-4</a:t>
            </a:r>
            <a:r>
              <a:rPr lang="zh-CN" altLang="en-US" dirty="0"/>
              <a:t>：对比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2D9A5-1DDB-9C41-B787-628DDA2C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ACFD1-D213-4B9C-817B-45486DBF105A}" type="slidenum">
              <a:rPr kumimoji="0" lang="en-US" sz="14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D705AE2-4AB9-0D46-9E73-3F62787F2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7658" y="1387800"/>
            <a:ext cx="8641943" cy="351554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D19F1E-C76D-9A49-B3CA-37658E0C7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358844"/>
              </p:ext>
            </p:extLst>
          </p:nvPr>
        </p:nvGraphicFramePr>
        <p:xfrm>
          <a:off x="293761" y="4866977"/>
          <a:ext cx="8544647" cy="7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905">
                  <a:extLst>
                    <a:ext uri="{9D8B030D-6E8A-4147-A177-3AD203B41FA5}">
                      <a16:colId xmlns:a16="http://schemas.microsoft.com/office/drawing/2014/main" val="1284949066"/>
                    </a:ext>
                  </a:extLst>
                </a:gridCol>
                <a:gridCol w="858201">
                  <a:extLst>
                    <a:ext uri="{9D8B030D-6E8A-4147-A177-3AD203B41FA5}">
                      <a16:colId xmlns:a16="http://schemas.microsoft.com/office/drawing/2014/main" val="512631587"/>
                    </a:ext>
                  </a:extLst>
                </a:gridCol>
                <a:gridCol w="732846">
                  <a:extLst>
                    <a:ext uri="{9D8B030D-6E8A-4147-A177-3AD203B41FA5}">
                      <a16:colId xmlns:a16="http://schemas.microsoft.com/office/drawing/2014/main" val="296503502"/>
                    </a:ext>
                  </a:extLst>
                </a:gridCol>
                <a:gridCol w="718382">
                  <a:extLst>
                    <a:ext uri="{9D8B030D-6E8A-4147-A177-3AD203B41FA5}">
                      <a16:colId xmlns:a16="http://schemas.microsoft.com/office/drawing/2014/main" val="2404029337"/>
                    </a:ext>
                  </a:extLst>
                </a:gridCol>
                <a:gridCol w="853380">
                  <a:extLst>
                    <a:ext uri="{9D8B030D-6E8A-4147-A177-3AD203B41FA5}">
                      <a16:colId xmlns:a16="http://schemas.microsoft.com/office/drawing/2014/main" val="2043446111"/>
                    </a:ext>
                  </a:extLst>
                </a:gridCol>
                <a:gridCol w="670169">
                  <a:extLst>
                    <a:ext uri="{9D8B030D-6E8A-4147-A177-3AD203B41FA5}">
                      <a16:colId xmlns:a16="http://schemas.microsoft.com/office/drawing/2014/main" val="3409868969"/>
                    </a:ext>
                  </a:extLst>
                </a:gridCol>
                <a:gridCol w="689454">
                  <a:extLst>
                    <a:ext uri="{9D8B030D-6E8A-4147-A177-3AD203B41FA5}">
                      <a16:colId xmlns:a16="http://schemas.microsoft.com/office/drawing/2014/main" val="122459945"/>
                    </a:ext>
                  </a:extLst>
                </a:gridCol>
                <a:gridCol w="732601">
                  <a:extLst>
                    <a:ext uri="{9D8B030D-6E8A-4147-A177-3AD203B41FA5}">
                      <a16:colId xmlns:a16="http://schemas.microsoft.com/office/drawing/2014/main" val="2385736327"/>
                    </a:ext>
                  </a:extLst>
                </a:gridCol>
                <a:gridCol w="720751">
                  <a:extLst>
                    <a:ext uri="{9D8B030D-6E8A-4147-A177-3AD203B41FA5}">
                      <a16:colId xmlns:a16="http://schemas.microsoft.com/office/drawing/2014/main" val="2916946978"/>
                    </a:ext>
                  </a:extLst>
                </a:gridCol>
                <a:gridCol w="820774">
                  <a:extLst>
                    <a:ext uri="{9D8B030D-6E8A-4147-A177-3AD203B41FA5}">
                      <a16:colId xmlns:a16="http://schemas.microsoft.com/office/drawing/2014/main" val="3770923946"/>
                    </a:ext>
                  </a:extLst>
                </a:gridCol>
                <a:gridCol w="821184">
                  <a:extLst>
                    <a:ext uri="{9D8B030D-6E8A-4147-A177-3AD203B41FA5}">
                      <a16:colId xmlns:a16="http://schemas.microsoft.com/office/drawing/2014/main" val="1034620549"/>
                    </a:ext>
                  </a:extLst>
                </a:gridCol>
              </a:tblGrid>
              <a:tr h="243000">
                <a:tc>
                  <a:txBody>
                    <a:bodyPr/>
                    <a:lstStyle/>
                    <a:p>
                      <a:pPr algn="r"/>
                      <a:r>
                        <a:rPr lang="en-C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Variation</a:t>
                      </a:r>
                      <a:endParaRPr lang="en-C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10800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732042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pPr algn="r"/>
                      <a:r>
                        <a:rPr lang="en-CN" sz="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On/Off ratio</a:t>
                      </a:r>
                    </a:p>
                  </a:txBody>
                  <a:tcPr marL="68580" marR="10800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arge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arge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55922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pPr algn="r"/>
                      <a:r>
                        <a:rPr lang="en-CN" sz="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 distructive</a:t>
                      </a:r>
                    </a:p>
                  </a:txBody>
                  <a:tcPr marL="68580" marR="10800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8388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DE8F7CC-B669-5B4C-9792-7E82B955A85B}"/>
              </a:ext>
            </a:extLst>
          </p:cNvPr>
          <p:cNvSpPr/>
          <p:nvPr/>
        </p:nvSpPr>
        <p:spPr>
          <a:xfrm>
            <a:off x="293760" y="1427527"/>
            <a:ext cx="1006333" cy="371819"/>
          </a:xfrm>
          <a:prstGeom prst="rect">
            <a:avLst/>
          </a:prstGeom>
          <a:solidFill>
            <a:srgbClr val="B7C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Technology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023D8-7154-0B46-B568-58AFE9990A2F}"/>
              </a:ext>
            </a:extLst>
          </p:cNvPr>
          <p:cNvSpPr/>
          <p:nvPr/>
        </p:nvSpPr>
        <p:spPr>
          <a:xfrm>
            <a:off x="295283" y="1805208"/>
            <a:ext cx="1006333" cy="600263"/>
          </a:xfrm>
          <a:prstGeom prst="rect">
            <a:avLst/>
          </a:prstGeom>
          <a:solidFill>
            <a:srgbClr val="B7C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77753B-FC65-F24B-96E0-608E9CD54F32}"/>
              </a:ext>
            </a:extLst>
          </p:cNvPr>
          <p:cNvSpPr/>
          <p:nvPr/>
        </p:nvSpPr>
        <p:spPr>
          <a:xfrm>
            <a:off x="5316776" y="5630023"/>
            <a:ext cx="2906565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S. Salahuddin et al., Nature Electronics, 2018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BCFC89-426C-FB41-B79A-0026D263B23E}"/>
              </a:ext>
            </a:extLst>
          </p:cNvPr>
          <p:cNvSpPr/>
          <p:nvPr/>
        </p:nvSpPr>
        <p:spPr>
          <a:xfrm>
            <a:off x="1244298" y="5812072"/>
            <a:ext cx="1551711" cy="4517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易失</a:t>
            </a:r>
            <a:endParaRPr kumimoji="0" lang="en-US" altLang="zh-CN" sz="2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5234B8-6F90-C54B-B113-1C4F8896C1E3}"/>
              </a:ext>
            </a:extLst>
          </p:cNvPr>
          <p:cNvSpPr/>
          <p:nvPr/>
        </p:nvSpPr>
        <p:spPr>
          <a:xfrm>
            <a:off x="2927798" y="5732924"/>
            <a:ext cx="5961803" cy="5843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7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非易失（</a:t>
            </a:r>
            <a:r>
              <a:rPr kumimoji="0" lang="en-US" altLang="zh-CN" sz="27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NVM</a:t>
            </a:r>
            <a:r>
              <a:rPr kumimoji="0" lang="zh-CN" altLang="en-US" sz="27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）</a:t>
            </a:r>
            <a:endParaRPr kumimoji="0" lang="en-US" altLang="zh-CN" sz="270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A50B14-E9C5-D944-BD03-872BF7AFDF96}"/>
              </a:ext>
            </a:extLst>
          </p:cNvPr>
          <p:cNvSpPr/>
          <p:nvPr/>
        </p:nvSpPr>
        <p:spPr>
          <a:xfrm>
            <a:off x="2178532" y="2463471"/>
            <a:ext cx="617477" cy="219291"/>
          </a:xfrm>
          <a:prstGeom prst="rect">
            <a:avLst/>
          </a:prstGeom>
          <a:solidFill>
            <a:srgbClr val="E9EEEF"/>
          </a:solidFill>
        </p:spPr>
        <p:txBody>
          <a:bodyPr wrap="non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10-70 F </a:t>
            </a:r>
            <a:r>
              <a:rPr kumimoji="0" lang="en-CN" sz="825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770C5B-F9A8-044B-B25D-63721296CE4C}"/>
              </a:ext>
            </a:extLst>
          </p:cNvPr>
          <p:cNvSpPr/>
          <p:nvPr/>
        </p:nvSpPr>
        <p:spPr>
          <a:xfrm>
            <a:off x="2161609" y="2733461"/>
            <a:ext cx="625492" cy="219291"/>
          </a:xfrm>
          <a:prstGeom prst="rect">
            <a:avLst/>
          </a:prstGeom>
          <a:solidFill>
            <a:srgbClr val="E9EEEF"/>
          </a:solidFill>
        </p:spPr>
        <p:txBody>
          <a:bodyPr wrap="non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1T1C, 3T</a:t>
            </a:r>
            <a:endParaRPr kumimoji="0" lang="en-CN" sz="825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88FD7-1EC6-DE46-8CB7-DB48DD03F554}"/>
              </a:ext>
            </a:extLst>
          </p:cNvPr>
          <p:cNvSpPr/>
          <p:nvPr/>
        </p:nvSpPr>
        <p:spPr>
          <a:xfrm>
            <a:off x="1235391" y="1435992"/>
            <a:ext cx="1500514" cy="416258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N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7673C-A72B-2E44-A328-51E5FCB3846F}"/>
              </a:ext>
            </a:extLst>
          </p:cNvPr>
          <p:cNvSpPr/>
          <p:nvPr/>
        </p:nvSpPr>
        <p:spPr>
          <a:xfrm>
            <a:off x="2787101" y="1433388"/>
            <a:ext cx="6051303" cy="4162589"/>
          </a:xfrm>
          <a:prstGeom prst="rect">
            <a:avLst/>
          </a:prstGeom>
          <a:noFill/>
          <a:ln w="57150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N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458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CE53-4CDD-2247-9AE3-E0642868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>
                <a:latin typeface="SimHei" panose="02010609060101010101" pitchFamily="49" charset="-122"/>
                <a:ea typeface="SimHei" panose="02010609060101010101" pitchFamily="49" charset="-122"/>
              </a:rPr>
              <a:t>存储器的</a:t>
            </a:r>
            <a:r>
              <a:rPr lang="zh-CN" altLang="en-US" dirty="0"/>
              <a:t>技术原理和实现</a:t>
            </a:r>
            <a:r>
              <a:rPr lang="en-US" altLang="zh-CN" dirty="0"/>
              <a:t>-4</a:t>
            </a:r>
            <a:r>
              <a:rPr lang="zh-CN" altLang="en-US" dirty="0"/>
              <a:t>：对比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2D9A5-1DDB-9C41-B787-628DDA2C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ACFD1-D213-4B9C-817B-45486DBF105A}" type="slidenum">
              <a:rPr kumimoji="0" lang="en-US" sz="14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D705AE2-4AB9-0D46-9E73-3F62787F2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7658" y="1387800"/>
            <a:ext cx="8641943" cy="351554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D19F1E-C76D-9A49-B3CA-37658E0C7FA2}"/>
              </a:ext>
            </a:extLst>
          </p:cNvPr>
          <p:cNvGraphicFramePr>
            <a:graphicFrameLocks noGrp="1"/>
          </p:cNvGraphicFramePr>
          <p:nvPr/>
        </p:nvGraphicFramePr>
        <p:xfrm>
          <a:off x="293761" y="4866977"/>
          <a:ext cx="8544647" cy="7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6905">
                  <a:extLst>
                    <a:ext uri="{9D8B030D-6E8A-4147-A177-3AD203B41FA5}">
                      <a16:colId xmlns:a16="http://schemas.microsoft.com/office/drawing/2014/main" val="1284949066"/>
                    </a:ext>
                  </a:extLst>
                </a:gridCol>
                <a:gridCol w="858201">
                  <a:extLst>
                    <a:ext uri="{9D8B030D-6E8A-4147-A177-3AD203B41FA5}">
                      <a16:colId xmlns:a16="http://schemas.microsoft.com/office/drawing/2014/main" val="512631587"/>
                    </a:ext>
                  </a:extLst>
                </a:gridCol>
                <a:gridCol w="732846">
                  <a:extLst>
                    <a:ext uri="{9D8B030D-6E8A-4147-A177-3AD203B41FA5}">
                      <a16:colId xmlns:a16="http://schemas.microsoft.com/office/drawing/2014/main" val="296503502"/>
                    </a:ext>
                  </a:extLst>
                </a:gridCol>
                <a:gridCol w="718382">
                  <a:extLst>
                    <a:ext uri="{9D8B030D-6E8A-4147-A177-3AD203B41FA5}">
                      <a16:colId xmlns:a16="http://schemas.microsoft.com/office/drawing/2014/main" val="2404029337"/>
                    </a:ext>
                  </a:extLst>
                </a:gridCol>
                <a:gridCol w="853380">
                  <a:extLst>
                    <a:ext uri="{9D8B030D-6E8A-4147-A177-3AD203B41FA5}">
                      <a16:colId xmlns:a16="http://schemas.microsoft.com/office/drawing/2014/main" val="2043446111"/>
                    </a:ext>
                  </a:extLst>
                </a:gridCol>
                <a:gridCol w="670169">
                  <a:extLst>
                    <a:ext uri="{9D8B030D-6E8A-4147-A177-3AD203B41FA5}">
                      <a16:colId xmlns:a16="http://schemas.microsoft.com/office/drawing/2014/main" val="3409868969"/>
                    </a:ext>
                  </a:extLst>
                </a:gridCol>
                <a:gridCol w="689454">
                  <a:extLst>
                    <a:ext uri="{9D8B030D-6E8A-4147-A177-3AD203B41FA5}">
                      <a16:colId xmlns:a16="http://schemas.microsoft.com/office/drawing/2014/main" val="122459945"/>
                    </a:ext>
                  </a:extLst>
                </a:gridCol>
                <a:gridCol w="732601">
                  <a:extLst>
                    <a:ext uri="{9D8B030D-6E8A-4147-A177-3AD203B41FA5}">
                      <a16:colId xmlns:a16="http://schemas.microsoft.com/office/drawing/2014/main" val="2385736327"/>
                    </a:ext>
                  </a:extLst>
                </a:gridCol>
                <a:gridCol w="720751">
                  <a:extLst>
                    <a:ext uri="{9D8B030D-6E8A-4147-A177-3AD203B41FA5}">
                      <a16:colId xmlns:a16="http://schemas.microsoft.com/office/drawing/2014/main" val="2916946978"/>
                    </a:ext>
                  </a:extLst>
                </a:gridCol>
                <a:gridCol w="820774">
                  <a:extLst>
                    <a:ext uri="{9D8B030D-6E8A-4147-A177-3AD203B41FA5}">
                      <a16:colId xmlns:a16="http://schemas.microsoft.com/office/drawing/2014/main" val="3770923946"/>
                    </a:ext>
                  </a:extLst>
                </a:gridCol>
                <a:gridCol w="821184">
                  <a:extLst>
                    <a:ext uri="{9D8B030D-6E8A-4147-A177-3AD203B41FA5}">
                      <a16:colId xmlns:a16="http://schemas.microsoft.com/office/drawing/2014/main" val="1034620549"/>
                    </a:ext>
                  </a:extLst>
                </a:gridCol>
              </a:tblGrid>
              <a:tr h="243000">
                <a:tc>
                  <a:txBody>
                    <a:bodyPr/>
                    <a:lstStyle/>
                    <a:p>
                      <a:pPr algn="r"/>
                      <a:r>
                        <a:rPr lang="en-CN" sz="9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Variation</a:t>
                      </a:r>
                      <a:endParaRPr lang="en-C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10800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732042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pPr algn="r"/>
                      <a:r>
                        <a:rPr lang="en-CN" sz="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On/Off ratio</a:t>
                      </a:r>
                    </a:p>
                  </a:txBody>
                  <a:tcPr marL="68580" marR="10800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arge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arge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Small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Large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55922"/>
                  </a:ext>
                </a:extLst>
              </a:tr>
              <a:tr h="243000">
                <a:tc>
                  <a:txBody>
                    <a:bodyPr/>
                    <a:lstStyle/>
                    <a:p>
                      <a:pPr algn="r"/>
                      <a:r>
                        <a:rPr lang="en-CN" sz="8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Read distructive</a:t>
                      </a:r>
                    </a:p>
                  </a:txBody>
                  <a:tcPr marL="68580" marR="10800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8CA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No</a:t>
                      </a:r>
                      <a:endParaRPr lang="en-CN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8388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DE8F7CC-B669-5B4C-9792-7E82B955A85B}"/>
              </a:ext>
            </a:extLst>
          </p:cNvPr>
          <p:cNvSpPr/>
          <p:nvPr/>
        </p:nvSpPr>
        <p:spPr>
          <a:xfrm>
            <a:off x="293760" y="1427527"/>
            <a:ext cx="1006333" cy="371819"/>
          </a:xfrm>
          <a:prstGeom prst="rect">
            <a:avLst/>
          </a:prstGeom>
          <a:solidFill>
            <a:srgbClr val="B7C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Technology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023D8-7154-0B46-B568-58AFE9990A2F}"/>
              </a:ext>
            </a:extLst>
          </p:cNvPr>
          <p:cNvSpPr/>
          <p:nvPr/>
        </p:nvSpPr>
        <p:spPr>
          <a:xfrm>
            <a:off x="295283" y="1805208"/>
            <a:ext cx="1006333" cy="600263"/>
          </a:xfrm>
          <a:prstGeom prst="rect">
            <a:avLst/>
          </a:prstGeom>
          <a:solidFill>
            <a:srgbClr val="B7CA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SimHei" panose="02010609060101010101" pitchFamily="49" charset="-122"/>
                <a:cs typeface="+mn-cs"/>
              </a:rPr>
              <a:t>Structure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77753B-FC65-F24B-96E0-608E9CD54F32}"/>
              </a:ext>
            </a:extLst>
          </p:cNvPr>
          <p:cNvSpPr/>
          <p:nvPr/>
        </p:nvSpPr>
        <p:spPr>
          <a:xfrm>
            <a:off x="5316776" y="5630023"/>
            <a:ext cx="2906565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S. Salahuddin et al., Nature Electronics, 2018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A50B14-E9C5-D944-BD03-872BF7AFDF96}"/>
              </a:ext>
            </a:extLst>
          </p:cNvPr>
          <p:cNvSpPr/>
          <p:nvPr/>
        </p:nvSpPr>
        <p:spPr>
          <a:xfrm>
            <a:off x="2178532" y="2463471"/>
            <a:ext cx="617477" cy="219291"/>
          </a:xfrm>
          <a:prstGeom prst="rect">
            <a:avLst/>
          </a:prstGeom>
          <a:solidFill>
            <a:srgbClr val="E9EEEF"/>
          </a:solidFill>
        </p:spPr>
        <p:txBody>
          <a:bodyPr wrap="non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10-70 F </a:t>
            </a:r>
            <a:r>
              <a:rPr kumimoji="0" lang="en-CN" sz="825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770C5B-F9A8-044B-B25D-63721296CE4C}"/>
              </a:ext>
            </a:extLst>
          </p:cNvPr>
          <p:cNvSpPr/>
          <p:nvPr/>
        </p:nvSpPr>
        <p:spPr>
          <a:xfrm>
            <a:off x="2161609" y="2733461"/>
            <a:ext cx="625492" cy="219291"/>
          </a:xfrm>
          <a:prstGeom prst="rect">
            <a:avLst/>
          </a:prstGeom>
          <a:solidFill>
            <a:srgbClr val="E9EEEF"/>
          </a:solidFill>
        </p:spPr>
        <p:txBody>
          <a:bodyPr wrap="non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825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1T1C, 3T</a:t>
            </a:r>
            <a:endParaRPr kumimoji="0" lang="en-CN" sz="825" u="none" strike="noStrike" kern="120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488FD7-1EC6-DE46-8CB7-DB48DD03F554}"/>
              </a:ext>
            </a:extLst>
          </p:cNvPr>
          <p:cNvSpPr/>
          <p:nvPr/>
        </p:nvSpPr>
        <p:spPr>
          <a:xfrm>
            <a:off x="1235391" y="1435992"/>
            <a:ext cx="1500514" cy="416258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N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7673C-A72B-2E44-A328-51E5FCB3846F}"/>
              </a:ext>
            </a:extLst>
          </p:cNvPr>
          <p:cNvSpPr/>
          <p:nvPr/>
        </p:nvSpPr>
        <p:spPr>
          <a:xfrm>
            <a:off x="2787101" y="1433388"/>
            <a:ext cx="6051303" cy="4162589"/>
          </a:xfrm>
          <a:prstGeom prst="rect">
            <a:avLst/>
          </a:prstGeom>
          <a:noFill/>
          <a:ln w="57150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N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DEEC65C8-FEE1-2A02-326B-B24C5DC76CFA}"/>
              </a:ext>
            </a:extLst>
          </p:cNvPr>
          <p:cNvSpPr/>
          <p:nvPr/>
        </p:nvSpPr>
        <p:spPr>
          <a:xfrm>
            <a:off x="1264445" y="2903933"/>
            <a:ext cx="1433512" cy="2360693"/>
          </a:xfrm>
          <a:prstGeom prst="rect">
            <a:avLst/>
          </a:prstGeom>
          <a:solidFill>
            <a:srgbClr val="FFFFFF">
              <a:alpha val="6941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易失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易集成</a:t>
            </a:r>
            <a:endParaRPr kumimoji="0" lang="en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速度快</a:t>
            </a:r>
            <a:endParaRPr kumimoji="0" lang="en-US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寿命长</a:t>
            </a:r>
            <a:endParaRPr kumimoji="0" lang="en-US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读写省电</a:t>
            </a:r>
            <a:endParaRPr kumimoji="0" lang="en-US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待机漏电</a:t>
            </a:r>
            <a:endParaRPr kumimoji="0" lang="en-CN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密度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 </a:t>
            </a:r>
            <a:r>
              <a:rPr kumimoji="0" lang="en-US" altLang="zh-CN" sz="1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vs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 刷新</a:t>
            </a:r>
            <a:endParaRPr kumimoji="0" lang="en-CN" sz="16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13142A02-8469-9B54-3E82-08757E07BC16}"/>
              </a:ext>
            </a:extLst>
          </p:cNvPr>
          <p:cNvSpPr/>
          <p:nvPr/>
        </p:nvSpPr>
        <p:spPr>
          <a:xfrm>
            <a:off x="2831850" y="2903934"/>
            <a:ext cx="5961803" cy="2360693"/>
          </a:xfrm>
          <a:prstGeom prst="rect">
            <a:avLst/>
          </a:prstGeom>
          <a:solidFill>
            <a:srgbClr val="FFFFFF">
              <a:alpha val="6941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非易失（</a:t>
            </a:r>
            <a:r>
              <a:rPr kumimoji="0" lang="en-US" altLang="zh-CN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NVM</a:t>
            </a:r>
            <a:r>
              <a:rPr kumimoji="0" lang="zh-CN" altLang="en-US" sz="24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）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较难</a:t>
            </a: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集成</a:t>
            </a:r>
            <a:endParaRPr kumimoji="0" lang="en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比较慢（写）</a:t>
            </a:r>
            <a:endParaRPr kumimoji="0" lang="en-US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寿命较短</a:t>
            </a:r>
            <a:endParaRPr kumimoji="0" lang="en-US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读写</a:t>
            </a: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比较耗电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（写）</a:t>
            </a:r>
            <a:endParaRPr kumimoji="0" lang="en-US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待机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不</a:t>
            </a: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漏电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，无需刷新</a:t>
            </a:r>
            <a:endParaRPr kumimoji="0" lang="en-CN" altLang="zh-CN" sz="16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密度较高，需多</a:t>
            </a:r>
            <a:r>
              <a:rPr kumimoji="0" lang="zh-CN" altLang="en-CN" sz="16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方面</a:t>
            </a:r>
            <a:r>
              <a:rPr kumimoji="0" lang="zh-CN" altLang="en-US" sz="1600" u="none" strike="noStrike" kern="1200" cap="none" spc="0" normalizeH="0" baseline="0" noProof="0" dirty="0">
                <a:ln>
                  <a:noFill/>
                </a:ln>
                <a:solidFill>
                  <a:srgbClr val="0432FF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折衷</a:t>
            </a:r>
            <a:endParaRPr kumimoji="0" lang="en-US" altLang="zh-CN" sz="3200" u="none" strike="noStrike" kern="1200" cap="none" spc="0" normalizeH="0" baseline="0" noProof="0" dirty="0">
              <a:ln>
                <a:noFill/>
              </a:ln>
              <a:solidFill>
                <a:srgbClr val="0432FF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31836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3B400-A21D-49C7-B698-364D14D5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国内外主要存储器厂商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34120E3-04FC-4911-8726-316145660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774" b="71025" l="4231" r="89986">
                        <a14:foregroundMark x1="8322" y1="51590" x2="15938" y2="56890"/>
                        <a14:foregroundMark x1="14528" y1="63604" x2="48519" y2="52650"/>
                        <a14:foregroundMark x1="48519" y1="52650" x2="53879" y2="46290"/>
                        <a14:foregroundMark x1="4231" y1="52650" x2="4937" y2="58657"/>
                        <a14:foregroundMark x1="54584" y1="45583" x2="36248" y2="43110"/>
                        <a14:foregroundMark x1="65585" y1="35336" x2="41890" y2="37102"/>
                        <a14:foregroundMark x1="82934" y1="35336" x2="60085" y2="37809"/>
                        <a14:foregroundMark x1="60085" y1="37809" x2="60085" y2="37809"/>
                        <a14:foregroundMark x1="86319" y1="41343" x2="73202" y2="56890"/>
                        <a14:foregroundMark x1="36953" y1="22261" x2="12130" y2="50883"/>
                        <a14:foregroundMark x1="21439" y1="30035" x2="14245" y2="42049"/>
                        <a14:foregroundMark x1="19746" y1="28269" x2="13540" y2="34276"/>
                        <a14:foregroundMark x1="15656" y1="29329" x2="19464" y2="26502"/>
                        <a14:foregroundMark x1="16643" y1="28269" x2="20451" y2="26502"/>
                        <a14:foregroundMark x1="80818" y1="51590" x2="83216" y2="480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0734"/>
          <a:stretch/>
        </p:blipFill>
        <p:spPr>
          <a:xfrm>
            <a:off x="310433" y="2326906"/>
            <a:ext cx="4261567" cy="134832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4F96CA-0E75-40F0-8078-E4FB2952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572391-625D-4355-9BA2-21CE2B13D72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954924" y="1445800"/>
            <a:ext cx="1436914" cy="82656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国外</a:t>
            </a:r>
            <a:endParaRPr kumimoji="0" lang="zh-CN" altLang="en-US" sz="2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D79388-88F3-4EB1-BCED-B1584344C8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927086" y="1445800"/>
            <a:ext cx="1436914" cy="82656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国内</a:t>
            </a:r>
            <a:endParaRPr kumimoji="0" lang="zh-CN" altLang="en-US" sz="28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  <a:sym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3D51DDE-1ED0-4B06-B54F-51711CFDAE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3144" y="3675230"/>
            <a:ext cx="3942329" cy="22238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831787-93AA-4625-8995-0C51500AED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51" b="89888" l="6633" r="98980">
                        <a14:foregroundMark x1="90816" y1="49438" x2="6122" y2="52247"/>
                        <a14:foregroundMark x1="6122" y1="52247" x2="80102" y2="48315"/>
                        <a14:foregroundMark x1="80102" y1="48315" x2="91327" y2="51685"/>
                        <a14:foregroundMark x1="90816" y1="49438" x2="6633" y2="61798"/>
                        <a14:foregroundMark x1="6633" y1="61798" x2="34184" y2="44944"/>
                        <a14:foregroundMark x1="34184" y1="44944" x2="12245" y2="63483"/>
                        <a14:foregroundMark x1="12245" y1="63483" x2="49490" y2="48315"/>
                        <a14:foregroundMark x1="49490" y1="48315" x2="77551" y2="48876"/>
                        <a14:foregroundMark x1="77551" y1="48876" x2="80612" y2="47753"/>
                        <a14:foregroundMark x1="96429" y1="44944" x2="11224" y2="42697"/>
                        <a14:foregroundMark x1="11224" y1="42697" x2="44898" y2="47191"/>
                        <a14:foregroundMark x1="44898" y1="47191" x2="5102" y2="50000"/>
                        <a14:foregroundMark x1="5102" y1="50000" x2="40306" y2="54494"/>
                        <a14:foregroundMark x1="40306" y1="54494" x2="74490" y2="50000"/>
                        <a14:foregroundMark x1="74490" y1="50000" x2="93367" y2="53371"/>
                        <a14:foregroundMark x1="93878" y1="51124" x2="24490" y2="66854"/>
                        <a14:foregroundMark x1="24490" y1="66854" x2="90816" y2="61798"/>
                        <a14:foregroundMark x1="90816" y1="61798" x2="41837" y2="62360"/>
                        <a14:foregroundMark x1="41837" y1="62360" x2="98980" y2="57303"/>
                        <a14:foregroundMark x1="98980" y1="57303" x2="97959" y2="57303"/>
                        <a14:foregroundMark x1="92857" y1="43820" x2="50000" y2="47753"/>
                        <a14:foregroundMark x1="50000" y1="47753" x2="26020" y2="4269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181" y="2726793"/>
            <a:ext cx="2895902" cy="262995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424B2F8-DC85-401F-8688-36C961DBAF9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376" y="4808817"/>
            <a:ext cx="1469167" cy="130014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2773B45-03BE-4125-B813-AA25718BF57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114" y="3545050"/>
            <a:ext cx="1490746" cy="104059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75621BB-1EF8-426E-AA1A-4E70EDB40C0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628" y="2536235"/>
            <a:ext cx="1913834" cy="119423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661C757-A952-49DF-9127-6350FD2ED2D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729" y="4585641"/>
            <a:ext cx="2198390" cy="151404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6E069E7-A6A3-42C3-99FB-BC92CFE4CF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6248" y="3605700"/>
            <a:ext cx="2125352" cy="748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D15E05B-DD8F-8BB9-33BD-0F781521D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323" y="2348010"/>
            <a:ext cx="2024587" cy="40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502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2CE53-4CDD-2247-9AE3-E0642868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其他存储：磁盘、</a:t>
            </a:r>
            <a:r>
              <a:rPr lang="en-US" altLang="zh-CN" dirty="0"/>
              <a:t>Flash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2D9A5-1DDB-9C41-B787-628DDA2C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6ACFD1-D213-4B9C-817B-45486DBF105A}" type="slidenum">
              <a:rPr kumimoji="0" lang="en-US" sz="14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+mn-cs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4B6829E-1908-9E4B-B075-35B37EE9E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611" y="2154577"/>
            <a:ext cx="2758906" cy="251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A4908E-1EED-934C-95D3-910D07F8E3F8}"/>
              </a:ext>
            </a:extLst>
          </p:cNvPr>
          <p:cNvSpPr txBox="1"/>
          <p:nvPr/>
        </p:nvSpPr>
        <p:spPr>
          <a:xfrm>
            <a:off x="930006" y="2097426"/>
            <a:ext cx="6463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磁头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A9DB6C-8216-EC43-A936-88934C89C3E5}"/>
              </a:ext>
            </a:extLst>
          </p:cNvPr>
          <p:cNvSpPr txBox="1"/>
          <p:nvPr/>
        </p:nvSpPr>
        <p:spPr>
          <a:xfrm>
            <a:off x="3009956" y="2200643"/>
            <a:ext cx="6463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柱面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888B1-372E-744B-923A-9CF9CB6FDAAC}"/>
              </a:ext>
            </a:extLst>
          </p:cNvPr>
          <p:cNvSpPr txBox="1"/>
          <p:nvPr/>
        </p:nvSpPr>
        <p:spPr>
          <a:xfrm>
            <a:off x="3373517" y="2717546"/>
            <a:ext cx="6463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SimHei" panose="02010609060101010101" pitchFamily="49" charset="-122"/>
                <a:cs typeface="+mn-cs"/>
              </a:rPr>
              <a:t>盘片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744F5ED-DD7A-7A48-B744-6D66FDFAC2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5" t="23351" r="49028" b="7829"/>
          <a:stretch/>
        </p:blipFill>
        <p:spPr bwMode="auto">
          <a:xfrm>
            <a:off x="4807136" y="1659386"/>
            <a:ext cx="3620069" cy="3401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CE45D5-E716-4B40-AA2A-0ECEA0628D2C}"/>
              </a:ext>
            </a:extLst>
          </p:cNvPr>
          <p:cNvSpPr/>
          <p:nvPr/>
        </p:nvSpPr>
        <p:spPr>
          <a:xfrm>
            <a:off x="1712390" y="489970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磁盘</a:t>
            </a:r>
            <a:endParaRPr kumimoji="0" lang="en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80F687-565A-D44B-B421-BF4DBC7A5FC2}"/>
              </a:ext>
            </a:extLst>
          </p:cNvPr>
          <p:cNvSpPr/>
          <p:nvPr/>
        </p:nvSpPr>
        <p:spPr>
          <a:xfrm>
            <a:off x="6012161" y="4979481"/>
            <a:ext cx="21852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Kaiti" panose="02010600040101010101" pitchFamily="2" charset="-122"/>
                <a:ea typeface="STKaiti" panose="02010600040101010101" pitchFamily="2" charset="-122"/>
                <a:cs typeface="+mn-cs"/>
              </a:rPr>
              <a:t>3D NAND SSD</a:t>
            </a:r>
            <a:endParaRPr kumimoji="0" lang="en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Kaiti" panose="02010600040101010101" pitchFamily="2" charset="-122"/>
              <a:ea typeface="STKaiti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7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存储系统基础：半导体存储器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D780C1-2AA3-B847-BA6A-B8A7ACF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659731-6BD7-46E7-8D3C-2F3AC07E20B1}" type="slidenum">
              <a:rPr kumimoji="0" lang="en-US" altLang="zh-CN" sz="140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A1552BA-4327-A147-B565-E435AE2EED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51432"/>
                <a:ext cx="8229600" cy="4693793"/>
              </a:xfrm>
            </p:spPr>
            <p:txBody>
              <a:bodyPr/>
              <a:lstStyle/>
              <a:p>
                <a:pPr marL="457200" indent="-457200"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kumimoji="1" lang="zh-CN" altLang="en-US" dirty="0"/>
                  <a:t>存储器的基本参数</a:t>
                </a:r>
                <a:r>
                  <a:rPr kumimoji="1" lang="zh-CN" altLang="en-US" sz="3600" dirty="0"/>
                  <a:t>：</a:t>
                </a:r>
                <a:endParaRPr lang="zh-CN" altLang="en-US" dirty="0"/>
              </a:p>
              <a:p>
                <a:pPr lvl="1"/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0432FF"/>
                    </a:solidFill>
                  </a:rPr>
                  <a:t>容量</a:t>
                </a:r>
                <a:r>
                  <a:rPr lang="zh-CN" altLang="en-US" sz="2400" dirty="0"/>
                  <a:t>：以字节或比特数表示</a:t>
                </a:r>
                <a:endParaRPr lang="zh-CN" altLang="en-US" dirty="0"/>
              </a:p>
              <a:p>
                <a:pPr lvl="1"/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0432FF"/>
                    </a:solidFill>
                  </a:rPr>
                  <a:t>速度</a:t>
                </a:r>
                <a:r>
                  <a:rPr kumimoji="1" lang="zh-CN" altLang="en-US" sz="2400" dirty="0"/>
                  <a:t>：以访问时间</a:t>
                </a:r>
                <a:r>
                  <a:rPr kumimoji="1" lang="en-US" altLang="zh-CN" sz="2400" dirty="0"/>
                  <a:t>T</a:t>
                </a:r>
                <a:r>
                  <a:rPr kumimoji="1" lang="en-US" altLang="zh-CN" sz="2400" baseline="-25000" dirty="0"/>
                  <a:t>A</a:t>
                </a:r>
                <a:r>
                  <a:rPr kumimoji="1" lang="zh-CN" altLang="en-US" sz="2400" dirty="0"/>
                  <a:t>、存储周期</a:t>
                </a:r>
                <a:r>
                  <a:rPr kumimoji="1" lang="en-US" altLang="zh-CN" sz="2400" dirty="0"/>
                  <a:t>T</a:t>
                </a:r>
                <a:r>
                  <a:rPr kumimoji="1" lang="en-US" altLang="zh-CN" sz="2400" baseline="-25000" dirty="0"/>
                  <a:t>M</a:t>
                </a:r>
                <a:r>
                  <a:rPr kumimoji="1" lang="zh-CN" altLang="en-US" sz="2400" dirty="0"/>
                  <a:t>或带宽</a:t>
                </a:r>
                <a:r>
                  <a:rPr kumimoji="1" lang="en-US" altLang="zh-CN" sz="2400" dirty="0"/>
                  <a:t>B</a:t>
                </a:r>
                <a:r>
                  <a:rPr kumimoji="1" lang="en-US" altLang="zh-CN" sz="2400" baseline="-25000" dirty="0"/>
                  <a:t>M</a:t>
                </a:r>
                <a:r>
                  <a:rPr kumimoji="1" lang="zh-CN" altLang="en-US" sz="2400" dirty="0"/>
                  <a:t>表示</a:t>
                </a:r>
              </a:p>
              <a:p>
                <a:pPr lvl="2">
                  <a:spcBef>
                    <a:spcPts val="1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Ø"/>
                </a:pPr>
                <a:r>
                  <a:rPr kumimoji="1" lang="en-US" altLang="zh-CN" sz="2000" dirty="0"/>
                  <a:t>T</a:t>
                </a:r>
                <a:r>
                  <a:rPr kumimoji="1" lang="en-US" altLang="zh-CN" sz="2000" baseline="-25000" dirty="0"/>
                  <a:t>A</a:t>
                </a:r>
                <a:r>
                  <a:rPr kumimoji="1" lang="en-US" altLang="zh-CN" sz="2000" dirty="0"/>
                  <a:t>——</a:t>
                </a:r>
                <a:r>
                  <a:rPr kumimoji="1" lang="zh-CN" altLang="en-US" sz="2000" dirty="0"/>
                  <a:t>从接收读申请到将信息读出存储器输出端的时间</a:t>
                </a:r>
                <a:endParaRPr kumimoji="1" lang="en-US" altLang="zh-CN" sz="2000" dirty="0"/>
              </a:p>
              <a:p>
                <a:pPr lvl="2">
                  <a:spcBef>
                    <a:spcPts val="1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Ø"/>
                </a:pPr>
                <a:r>
                  <a:rPr kumimoji="1" lang="en-US" altLang="zh-CN" sz="2000" dirty="0"/>
                  <a:t>T</a:t>
                </a:r>
                <a:r>
                  <a:rPr kumimoji="1" lang="en-US" altLang="zh-CN" sz="2000" baseline="-25000" dirty="0"/>
                  <a:t>M</a:t>
                </a:r>
                <a:r>
                  <a:rPr kumimoji="1" lang="en-US" altLang="zh-CN" sz="2000" dirty="0"/>
                  <a:t>——</a:t>
                </a:r>
                <a:r>
                  <a:rPr kumimoji="1" lang="zh-CN" altLang="en-US" sz="2000" dirty="0"/>
                  <a:t>连续两次启动存储器访问所需的最小时间间隔</a:t>
                </a:r>
                <a:endParaRPr kumimoji="1" lang="en-US" altLang="zh-CN" sz="2000" baseline="-25000" dirty="0"/>
              </a:p>
              <a:p>
                <a:pPr lvl="2">
                  <a:spcBef>
                    <a:spcPts val="1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Ø"/>
                </a:pPr>
                <a:r>
                  <a:rPr kumimoji="1" lang="en-US" altLang="zh-CN" sz="2000" dirty="0"/>
                  <a:t>B</a:t>
                </a:r>
                <a:r>
                  <a:rPr kumimoji="1" lang="en-US" altLang="zh-CN" sz="2000" baseline="-25000" dirty="0"/>
                  <a:t>M</a:t>
                </a:r>
                <a:r>
                  <a:rPr kumimoji="1" lang="en-US" altLang="zh-CN" sz="2000" dirty="0"/>
                  <a:t>——</a:t>
                </a:r>
                <a:r>
                  <a:rPr kumimoji="1" lang="zh-CN" altLang="en-US" sz="2000" dirty="0"/>
                  <a:t>单位时间内读取到或写入的数据量</a:t>
                </a:r>
                <a:endParaRPr kumimoji="1" lang="en-US" altLang="zh-CN" sz="2000" dirty="0"/>
              </a:p>
              <a:p>
                <a:pPr lvl="2">
                  <a:spcBef>
                    <a:spcPts val="1000"/>
                  </a:spcBef>
                  <a:buClr>
                    <a:schemeClr val="tx1"/>
                  </a:buClr>
                  <a:buSzPct val="60000"/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kumimoji="1" lang="en-US" altLang="zh-CN" sz="2000" i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kumimoji="1" lang="zh-CN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000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zh-CN" alt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num>
                      <m:den>
                        <m:sSub>
                          <m:sSubPr>
                            <m:ctrlPr>
                              <a:rPr kumimoji="1" lang="en-US" altLang="zh-CN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den>
                    </m:f>
                    <m: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CN" altLang="en-US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kumimoji="1" lang="zh-CN" altLang="en-US" sz="2000" i="1" smtClean="0">
                        <a:latin typeface="Cambria Math" panose="02040503050406030204" pitchFamily="18" charset="0"/>
                      </a:rPr>
                      <m:t>为数据总线宽度</m:t>
                    </m:r>
                  </m:oMath>
                </a14:m>
                <a:endParaRPr lang="zh-CN" altLang="en-US" dirty="0"/>
              </a:p>
              <a:p>
                <a:pPr lvl="1"/>
                <a:r>
                  <a:rPr lang="zh-CN" altLang="en-US" sz="2400" dirty="0"/>
                  <a:t> </a:t>
                </a:r>
                <a:r>
                  <a:rPr lang="zh-CN" altLang="en-US" sz="2400" dirty="0">
                    <a:solidFill>
                      <a:srgbClr val="0432FF"/>
                    </a:solidFill>
                  </a:rPr>
                  <a:t>成本</a:t>
                </a:r>
                <a:r>
                  <a:rPr kumimoji="1" lang="zh-CN" altLang="en-US" sz="2400" dirty="0"/>
                  <a:t>：以每比特价格表示</a:t>
                </a:r>
                <a:endParaRPr kumimoji="1" lang="en-US" altLang="zh-CN" sz="2400" dirty="0"/>
              </a:p>
              <a:p>
                <a:pPr lvl="1"/>
                <a:r>
                  <a:rPr kumimoji="1" lang="zh-CN" altLang="en-US" sz="2400" dirty="0"/>
                  <a:t>其他：寿命，便携性 </a:t>
                </a:r>
                <a:r>
                  <a:rPr kumimoji="1" lang="en-US" altLang="zh-CN" sz="2400" dirty="0"/>
                  <a:t>……</a:t>
                </a:r>
              </a:p>
              <a:p>
                <a:pPr marL="457200" lvl="1" indent="0">
                  <a:buNone/>
                </a:pPr>
                <a:endParaRPr kumimoji="1" lang="en-US" altLang="zh-CN" sz="240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CA1552BA-4327-A147-B565-E435AE2EE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51432"/>
                <a:ext cx="8229600" cy="4693793"/>
              </a:xfrm>
              <a:blipFill>
                <a:blip r:embed="rId3"/>
                <a:stretch>
                  <a:fillRect l="-1852" t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64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默认设计模板">
  <a:themeElements>
    <a:clrScheme name="默认设计模板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E70303"/>
      </a:accent1>
      <a:accent2>
        <a:srgbClr val="333399"/>
      </a:accent2>
      <a:accent3>
        <a:srgbClr val="FFFFFF"/>
      </a:accent3>
      <a:accent4>
        <a:srgbClr val="000000"/>
      </a:accent4>
      <a:accent5>
        <a:srgbClr val="F1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7030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F1AA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8328</TotalTime>
  <Words>2063</Words>
  <Application>Microsoft Office PowerPoint</Application>
  <PresentationFormat>全屏显示(4:3)</PresentationFormat>
  <Paragraphs>518</Paragraphs>
  <Slides>25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等线</vt:lpstr>
      <vt:lpstr>SimHei</vt:lpstr>
      <vt:lpstr>STKaiti</vt:lpstr>
      <vt:lpstr>SimSun</vt:lpstr>
      <vt:lpstr>Arial</vt:lpstr>
      <vt:lpstr>Cambria Math</vt:lpstr>
      <vt:lpstr>Comic Sans MS</vt:lpstr>
      <vt:lpstr>Times New Roman</vt:lpstr>
      <vt:lpstr>Wingdings</vt:lpstr>
      <vt:lpstr>默认设计模板</vt:lpstr>
      <vt:lpstr>Clip</vt:lpstr>
      <vt:lpstr>PowerPoint 演示文稿</vt:lpstr>
      <vt:lpstr>微体系结构</vt:lpstr>
      <vt:lpstr>本节课学习目标</vt:lpstr>
      <vt:lpstr>目录</vt:lpstr>
      <vt:lpstr>知识回顾</vt:lpstr>
      <vt:lpstr>知识回顾</vt:lpstr>
      <vt:lpstr>本节课核心问题： 如何减少存储器访问的延时？</vt:lpstr>
      <vt:lpstr>目录</vt:lpstr>
      <vt:lpstr>历史：人类如何存储数据？</vt:lpstr>
      <vt:lpstr>存储系统基础：半导体存储器</vt:lpstr>
      <vt:lpstr>存储器的基本结构与常见类型</vt:lpstr>
      <vt:lpstr>存储系统基础：半导体存储器</vt:lpstr>
      <vt:lpstr>存储系统基础：半导体存储器</vt:lpstr>
      <vt:lpstr>存储系统基础：半导体存储器</vt:lpstr>
      <vt:lpstr>存储系统基础：半导体存储器</vt:lpstr>
      <vt:lpstr>存储系统基础：半导体存储器</vt:lpstr>
      <vt:lpstr>存储系统基础：半导体存储器</vt:lpstr>
      <vt:lpstr>存储系统基础：半导体存储器</vt:lpstr>
      <vt:lpstr>PowerPoint 演示文稿</vt:lpstr>
      <vt:lpstr>PowerPoint 演示文稿</vt:lpstr>
      <vt:lpstr>存储器的技术原理和实现-4：对比</vt:lpstr>
      <vt:lpstr>存储器的技术原理和实现-4：对比</vt:lpstr>
      <vt:lpstr>国内外主要存储器厂商</vt:lpstr>
      <vt:lpstr>其他存储：磁盘、Flash</vt:lpstr>
      <vt:lpstr>存储系统基础：半导体存储器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 oabt</dc:creator>
  <cp:lastModifiedBy>学清 李</cp:lastModifiedBy>
  <cp:revision>615</cp:revision>
  <dcterms:created xsi:type="dcterms:W3CDTF">2020-05-01T02:22:54Z</dcterms:created>
  <dcterms:modified xsi:type="dcterms:W3CDTF">2024-05-29T07:01:58Z</dcterms:modified>
</cp:coreProperties>
</file>