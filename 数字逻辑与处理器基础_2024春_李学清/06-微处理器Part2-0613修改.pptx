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5.xml" ContentType="application/inkml+xml"/>
  <Override PartName="/ppt/notesSlides/notesSlide2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9.xml" ContentType="application/inkml+xml"/>
  <Override PartName="/ppt/notesSlides/notesSlide30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ink/ink12.xml" ContentType="application/inkml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ink/ink13.xml" ContentType="application/inkml+xml"/>
  <Override PartName="/ppt/ink/ink14.xml" ContentType="application/inkml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ink/ink15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6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ink/ink17.xml" ContentType="application/inkml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6" r:id="rId2"/>
    <p:sldMasterId id="2147483688" r:id="rId3"/>
  </p:sldMasterIdLst>
  <p:notesMasterIdLst>
    <p:notesMasterId r:id="rId93"/>
  </p:notesMasterIdLst>
  <p:handoutMasterIdLst>
    <p:handoutMasterId r:id="rId94"/>
  </p:handoutMasterIdLst>
  <p:sldIdLst>
    <p:sldId id="1934" r:id="rId4"/>
    <p:sldId id="1536" r:id="rId5"/>
    <p:sldId id="1598" r:id="rId6"/>
    <p:sldId id="1360" r:id="rId7"/>
    <p:sldId id="1725" r:id="rId8"/>
    <p:sldId id="1552" r:id="rId9"/>
    <p:sldId id="1395" r:id="rId10"/>
    <p:sldId id="1498" r:id="rId11"/>
    <p:sldId id="1396" r:id="rId12"/>
    <p:sldId id="1832" r:id="rId13"/>
    <p:sldId id="1833" r:id="rId14"/>
    <p:sldId id="1834" r:id="rId15"/>
    <p:sldId id="1547" r:id="rId16"/>
    <p:sldId id="1835" r:id="rId17"/>
    <p:sldId id="1495" r:id="rId18"/>
    <p:sldId id="1566" r:id="rId19"/>
    <p:sldId id="1927" r:id="rId20"/>
    <p:sldId id="1479" r:id="rId21"/>
    <p:sldId id="1553" r:id="rId22"/>
    <p:sldId id="1555" r:id="rId23"/>
    <p:sldId id="1557" r:id="rId24"/>
    <p:sldId id="1556" r:id="rId25"/>
    <p:sldId id="1568" r:id="rId26"/>
    <p:sldId id="1594" r:id="rId27"/>
    <p:sldId id="1642" r:id="rId28"/>
    <p:sldId id="1402" r:id="rId29"/>
    <p:sldId id="1457" r:id="rId30"/>
    <p:sldId id="1403" r:id="rId31"/>
    <p:sldId id="1404" r:id="rId32"/>
    <p:sldId id="1407" r:id="rId33"/>
    <p:sldId id="1408" r:id="rId34"/>
    <p:sldId id="1726" r:id="rId35"/>
    <p:sldId id="1415" r:id="rId36"/>
    <p:sldId id="1742" r:id="rId37"/>
    <p:sldId id="1459" r:id="rId38"/>
    <p:sldId id="1562" r:id="rId39"/>
    <p:sldId id="1416" r:id="rId40"/>
    <p:sldId id="1569" r:id="rId41"/>
    <p:sldId id="1418" r:id="rId42"/>
    <p:sldId id="1572" r:id="rId43"/>
    <p:sldId id="1570" r:id="rId44"/>
    <p:sldId id="1935" r:id="rId45"/>
    <p:sldId id="1581" r:id="rId46"/>
    <p:sldId id="1582" r:id="rId47"/>
    <p:sldId id="1583" r:id="rId48"/>
    <p:sldId id="1586" r:id="rId49"/>
    <p:sldId id="1573" r:id="rId50"/>
    <p:sldId id="1574" r:id="rId51"/>
    <p:sldId id="1575" r:id="rId52"/>
    <p:sldId id="1576" r:id="rId53"/>
    <p:sldId id="1462" r:id="rId54"/>
    <p:sldId id="1577" r:id="rId55"/>
    <p:sldId id="1578" r:id="rId56"/>
    <p:sldId id="1579" r:id="rId57"/>
    <p:sldId id="1580" r:id="rId58"/>
    <p:sldId id="1626" r:id="rId59"/>
    <p:sldId id="1588" r:id="rId60"/>
    <p:sldId id="1734" r:id="rId61"/>
    <p:sldId id="1585" r:id="rId62"/>
    <p:sldId id="1427" r:id="rId63"/>
    <p:sldId id="1430" r:id="rId64"/>
    <p:sldId id="1589" r:id="rId65"/>
    <p:sldId id="1737" r:id="rId66"/>
    <p:sldId id="1738" r:id="rId67"/>
    <p:sldId id="1743" r:id="rId68"/>
    <p:sldId id="1431" r:id="rId69"/>
    <p:sldId id="1741" r:id="rId70"/>
    <p:sldId id="1631" r:id="rId71"/>
    <p:sldId id="1632" r:id="rId72"/>
    <p:sldId id="1439" r:id="rId73"/>
    <p:sldId id="1434" r:id="rId74"/>
    <p:sldId id="1437" r:id="rId75"/>
    <p:sldId id="1436" r:id="rId76"/>
    <p:sldId id="1438" r:id="rId77"/>
    <p:sldId id="1454" r:id="rId78"/>
    <p:sldId id="1440" r:id="rId79"/>
    <p:sldId id="1633" r:id="rId80"/>
    <p:sldId id="1636" r:id="rId81"/>
    <p:sldId id="1441" r:id="rId82"/>
    <p:sldId id="1442" r:id="rId83"/>
    <p:sldId id="1593" r:id="rId84"/>
    <p:sldId id="1446" r:id="rId85"/>
    <p:sldId id="1447" r:id="rId86"/>
    <p:sldId id="1591" r:id="rId87"/>
    <p:sldId id="1475" r:id="rId88"/>
    <p:sldId id="1448" r:id="rId89"/>
    <p:sldId id="1739" r:id="rId90"/>
    <p:sldId id="1740" r:id="rId91"/>
    <p:sldId id="1736" r:id="rId9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000099"/>
    <a:srgbClr val="EC7B2F"/>
    <a:srgbClr val="00FB92"/>
    <a:srgbClr val="0432FF"/>
    <a:srgbClr val="CFCEEF"/>
    <a:srgbClr val="9CF8AC"/>
    <a:srgbClr val="CCFFFF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91" autoAdjust="0"/>
    <p:restoredTop sz="96366" autoAdjust="0"/>
  </p:normalViewPr>
  <p:slideViewPr>
    <p:cSldViewPr snapToGrid="0">
      <p:cViewPr>
        <p:scale>
          <a:sx n="98" d="100"/>
          <a:sy n="98" d="100"/>
        </p:scale>
        <p:origin x="2360" y="840"/>
      </p:cViewPr>
      <p:guideLst>
        <p:guide orient="horz" pos="349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6" d="100"/>
        <a:sy n="116" d="100"/>
      </p:scale>
      <p:origin x="0" y="2742"/>
    </p:cViewPr>
  </p:sorterViewPr>
  <p:notesViewPr>
    <p:cSldViewPr snapToGrid="0">
      <p:cViewPr varScale="1">
        <p:scale>
          <a:sx n="88" d="100"/>
          <a:sy n="88" d="100"/>
        </p:scale>
        <p:origin x="93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commentAuthors" Target="commentAuthor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\twj\Documents\2024&#26149;%20&#25991;&#20214;\&#25968;&#23383;&#36923;&#36753;&#19982;&#22788;&#29702;&#22120;&#22522;&#30784;\&#32771;&#35797;\&#26399;&#20013;&#32771;&#35797;\&#20998;&#25968;\&#26399;&#20013;&#20998;&#25968;&#34920;-&#20998;&#29677;-2024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全体!$Q$3:$Q$323</cx:f>
        <cx:lvl ptCount="321" formatCode="G/通用格式">
          <cx:pt idx="0">53</cx:pt>
          <cx:pt idx="1">80</cx:pt>
          <cx:pt idx="2">80</cx:pt>
          <cx:pt idx="3">64</cx:pt>
          <cx:pt idx="4">49.5</cx:pt>
          <cx:pt idx="5">81</cx:pt>
          <cx:pt idx="6">64.5</cx:pt>
          <cx:pt idx="7">55.5</cx:pt>
          <cx:pt idx="8">88</cx:pt>
          <cx:pt idx="9">84</cx:pt>
          <cx:pt idx="10">80.5</cx:pt>
          <cx:pt idx="11">93</cx:pt>
          <cx:pt idx="12">91.5</cx:pt>
          <cx:pt idx="13">97</cx:pt>
          <cx:pt idx="14">65.5</cx:pt>
          <cx:pt idx="15">68.5</cx:pt>
          <cx:pt idx="16">66.5</cx:pt>
          <cx:pt idx="17">60</cx:pt>
          <cx:pt idx="18">85</cx:pt>
          <cx:pt idx="19">89</cx:pt>
          <cx:pt idx="20">98</cx:pt>
          <cx:pt idx="21">98</cx:pt>
          <cx:pt idx="22">85.5</cx:pt>
          <cx:pt idx="23">92.5</cx:pt>
          <cx:pt idx="24">91.5</cx:pt>
          <cx:pt idx="25">94</cx:pt>
          <cx:pt idx="26">93</cx:pt>
          <cx:pt idx="27">98.5</cx:pt>
          <cx:pt idx="28">89.5</cx:pt>
          <cx:pt idx="29">93</cx:pt>
          <cx:pt idx="30">87.5</cx:pt>
          <cx:pt idx="31">78</cx:pt>
          <cx:pt idx="32">46</cx:pt>
          <cx:pt idx="33">90</cx:pt>
          <cx:pt idx="34">97.5</cx:pt>
          <cx:pt idx="35">96.5</cx:pt>
          <cx:pt idx="36">95</cx:pt>
          <cx:pt idx="37">95.5</cx:pt>
          <cx:pt idx="38">91</cx:pt>
          <cx:pt idx="39">95.5</cx:pt>
          <cx:pt idx="40">96.5</cx:pt>
          <cx:pt idx="41">94</cx:pt>
          <cx:pt idx="42">91</cx:pt>
          <cx:pt idx="43">86.5</cx:pt>
          <cx:pt idx="44">71.5</cx:pt>
          <cx:pt idx="45">98</cx:pt>
          <cx:pt idx="46">79.5</cx:pt>
          <cx:pt idx="47">80.5</cx:pt>
          <cx:pt idx="48">80</cx:pt>
          <cx:pt idx="49">62</cx:pt>
          <cx:pt idx="50">91</cx:pt>
          <cx:pt idx="51">84</cx:pt>
          <cx:pt idx="52">85.5</cx:pt>
          <cx:pt idx="53">85.5</cx:pt>
          <cx:pt idx="54">92</cx:pt>
          <cx:pt idx="55">67</cx:pt>
          <cx:pt idx="56">96.5</cx:pt>
          <cx:pt idx="57">97.5</cx:pt>
          <cx:pt idx="58">86.5</cx:pt>
          <cx:pt idx="59">73.5</cx:pt>
          <cx:pt idx="60">86</cx:pt>
          <cx:pt idx="61">87</cx:pt>
          <cx:pt idx="62">98</cx:pt>
          <cx:pt idx="63">97</cx:pt>
          <cx:pt idx="64">80</cx:pt>
          <cx:pt idx="65">71</cx:pt>
          <cx:pt idx="66">76.5</cx:pt>
          <cx:pt idx="67">90</cx:pt>
          <cx:pt idx="68">94.5</cx:pt>
          <cx:pt idx="69">96</cx:pt>
          <cx:pt idx="70">91.5</cx:pt>
          <cx:pt idx="71">64</cx:pt>
          <cx:pt idx="72">91</cx:pt>
          <cx:pt idx="73">95</cx:pt>
          <cx:pt idx="74">100</cx:pt>
          <cx:pt idx="75">97</cx:pt>
          <cx:pt idx="76">89</cx:pt>
          <cx:pt idx="77">78.5</cx:pt>
          <cx:pt idx="78">90</cx:pt>
          <cx:pt idx="79">81</cx:pt>
          <cx:pt idx="80">80</cx:pt>
          <cx:pt idx="81">74.5</cx:pt>
          <cx:pt idx="82">81.5</cx:pt>
          <cx:pt idx="83">68</cx:pt>
          <cx:pt idx="84">93.5</cx:pt>
          <cx:pt idx="85">95</cx:pt>
          <cx:pt idx="86">98.5</cx:pt>
          <cx:pt idx="87">86.5</cx:pt>
          <cx:pt idx="88">83</cx:pt>
          <cx:pt idx="89">97</cx:pt>
          <cx:pt idx="90">95.5</cx:pt>
          <cx:pt idx="91">98.5</cx:pt>
          <cx:pt idx="92">99.5</cx:pt>
          <cx:pt idx="93">91.5</cx:pt>
          <cx:pt idx="94">69</cx:pt>
          <cx:pt idx="95">92</cx:pt>
          <cx:pt idx="96">78.5</cx:pt>
          <cx:pt idx="97">85.5</cx:pt>
          <cx:pt idx="98">92.5</cx:pt>
          <cx:pt idx="99">85</cx:pt>
          <cx:pt idx="100">90</cx:pt>
          <cx:pt idx="101">95</cx:pt>
          <cx:pt idx="102">97</cx:pt>
          <cx:pt idx="103">52</cx:pt>
          <cx:pt idx="104">87</cx:pt>
          <cx:pt idx="105">97</cx:pt>
          <cx:pt idx="106">94.5</cx:pt>
          <cx:pt idx="107">96</cx:pt>
          <cx:pt idx="108">86</cx:pt>
          <cx:pt idx="109">92.5</cx:pt>
          <cx:pt idx="110">76</cx:pt>
          <cx:pt idx="111">95</cx:pt>
          <cx:pt idx="112">100</cx:pt>
          <cx:pt idx="113">90.5</cx:pt>
          <cx:pt idx="114">88.5</cx:pt>
          <cx:pt idx="115">74</cx:pt>
          <cx:pt idx="116">91</cx:pt>
          <cx:pt idx="117">93</cx:pt>
          <cx:pt idx="118">96.5</cx:pt>
          <cx:pt idx="119">67.5</cx:pt>
          <cx:pt idx="120">98.5</cx:pt>
          <cx:pt idx="121">88.5</cx:pt>
          <cx:pt idx="122">89.5</cx:pt>
          <cx:pt idx="123">79.5</cx:pt>
          <cx:pt idx="124">80.5</cx:pt>
          <cx:pt idx="125">90</cx:pt>
          <cx:pt idx="126">95.5</cx:pt>
          <cx:pt idx="127">95</cx:pt>
          <cx:pt idx="128">91</cx:pt>
          <cx:pt idx="129">77.5</cx:pt>
          <cx:pt idx="130">89.5</cx:pt>
          <cx:pt idx="131">89.5</cx:pt>
          <cx:pt idx="132">99</cx:pt>
          <cx:pt idx="133">94</cx:pt>
          <cx:pt idx="134">95</cx:pt>
          <cx:pt idx="135">78.5</cx:pt>
          <cx:pt idx="136">74</cx:pt>
          <cx:pt idx="137">64</cx:pt>
          <cx:pt idx="138">71</cx:pt>
          <cx:pt idx="139">87.5</cx:pt>
          <cx:pt idx="140">64.5</cx:pt>
          <cx:pt idx="141">85.5</cx:pt>
          <cx:pt idx="142">93.5</cx:pt>
          <cx:pt idx="143">44</cx:pt>
          <cx:pt idx="144">58.5</cx:pt>
          <cx:pt idx="145">92</cx:pt>
          <cx:pt idx="146">90</cx:pt>
          <cx:pt idx="147">76.5</cx:pt>
          <cx:pt idx="148">68.5</cx:pt>
          <cx:pt idx="149">80.5</cx:pt>
          <cx:pt idx="150">85</cx:pt>
          <cx:pt idx="151">74</cx:pt>
          <cx:pt idx="152">96.5</cx:pt>
          <cx:pt idx="153">95.5</cx:pt>
          <cx:pt idx="154">99.5</cx:pt>
          <cx:pt idx="155">79.5</cx:pt>
          <cx:pt idx="156">82.5</cx:pt>
          <cx:pt idx="157">68.5</cx:pt>
          <cx:pt idx="158">95</cx:pt>
          <cx:pt idx="159">96.5</cx:pt>
          <cx:pt idx="160">83.5</cx:pt>
          <cx:pt idx="161">94.5</cx:pt>
          <cx:pt idx="162">86</cx:pt>
          <cx:pt idx="163">79.5</cx:pt>
          <cx:pt idx="164">86</cx:pt>
          <cx:pt idx="165">97</cx:pt>
          <cx:pt idx="166">92.5</cx:pt>
          <cx:pt idx="167">95.5</cx:pt>
          <cx:pt idx="168">96</cx:pt>
          <cx:pt idx="169">97.5</cx:pt>
          <cx:pt idx="170">97.5</cx:pt>
          <cx:pt idx="171">81</cx:pt>
          <cx:pt idx="172">79.5</cx:pt>
          <cx:pt idx="173">77.5</cx:pt>
          <cx:pt idx="174">73.5</cx:pt>
          <cx:pt idx="175">77.5</cx:pt>
          <cx:pt idx="176">60.5</cx:pt>
          <cx:pt idx="177">80</cx:pt>
          <cx:pt idx="178">75</cx:pt>
          <cx:pt idx="179">54</cx:pt>
          <cx:pt idx="180">96.5</cx:pt>
          <cx:pt idx="181">97.5</cx:pt>
          <cx:pt idx="182">96</cx:pt>
          <cx:pt idx="183">83</cx:pt>
          <cx:pt idx="184">66</cx:pt>
          <cx:pt idx="185">67.5</cx:pt>
          <cx:pt idx="186">70.5</cx:pt>
          <cx:pt idx="187">81.5</cx:pt>
          <cx:pt idx="188">77</cx:pt>
          <cx:pt idx="189">83.5</cx:pt>
          <cx:pt idx="190">86.5</cx:pt>
          <cx:pt idx="191">92.5</cx:pt>
          <cx:pt idx="192">99.5</cx:pt>
          <cx:pt idx="193">96.5</cx:pt>
          <cx:pt idx="194">90</cx:pt>
          <cx:pt idx="195">91</cx:pt>
          <cx:pt idx="196">98</cx:pt>
          <cx:pt idx="197">45.5</cx:pt>
          <cx:pt idx="198">79.5</cx:pt>
          <cx:pt idx="199">80.5</cx:pt>
          <cx:pt idx="200">99</cx:pt>
          <cx:pt idx="201">65</cx:pt>
          <cx:pt idx="202">67</cx:pt>
          <cx:pt idx="203">82.5</cx:pt>
          <cx:pt idx="204">75</cx:pt>
          <cx:pt idx="205">36.5</cx:pt>
          <cx:pt idx="206">92</cx:pt>
          <cx:pt idx="207">81</cx:pt>
          <cx:pt idx="208">93</cx:pt>
          <cx:pt idx="209">94.5</cx:pt>
          <cx:pt idx="210">90</cx:pt>
          <cx:pt idx="211">77</cx:pt>
          <cx:pt idx="212">81</cx:pt>
          <cx:pt idx="213">67.5</cx:pt>
          <cx:pt idx="214">93</cx:pt>
          <cx:pt idx="215">88.5</cx:pt>
          <cx:pt idx="216">85</cx:pt>
          <cx:pt idx="217">88.5</cx:pt>
          <cx:pt idx="218">58.5</cx:pt>
          <cx:pt idx="219">59.5</cx:pt>
          <cx:pt idx="220">63.5</cx:pt>
          <cx:pt idx="221">78.5</cx:pt>
          <cx:pt idx="222">71</cx:pt>
          <cx:pt idx="223">85</cx:pt>
          <cx:pt idx="224">73.5</cx:pt>
          <cx:pt idx="225">83</cx:pt>
          <cx:pt idx="226">74.5</cx:pt>
          <cx:pt idx="227">83</cx:pt>
          <cx:pt idx="228">90</cx:pt>
          <cx:pt idx="229">66.5</cx:pt>
          <cx:pt idx="230">92</cx:pt>
          <cx:pt idx="231">82.5</cx:pt>
          <cx:pt idx="232">89</cx:pt>
          <cx:pt idx="233">89</cx:pt>
          <cx:pt idx="234">91</cx:pt>
          <cx:pt idx="235">89</cx:pt>
          <cx:pt idx="236">89.5</cx:pt>
          <cx:pt idx="237">95.5</cx:pt>
          <cx:pt idx="238">90.5</cx:pt>
          <cx:pt idx="239">88</cx:pt>
          <cx:pt idx="240">92</cx:pt>
          <cx:pt idx="241">49</cx:pt>
          <cx:pt idx="242">92.5</cx:pt>
          <cx:pt idx="243">94</cx:pt>
          <cx:pt idx="244">97.5</cx:pt>
          <cx:pt idx="245">73.5</cx:pt>
          <cx:pt idx="246">95.5</cx:pt>
          <cx:pt idx="247">85</cx:pt>
          <cx:pt idx="248">97</cx:pt>
          <cx:pt idx="249">81</cx:pt>
          <cx:pt idx="250">88</cx:pt>
          <cx:pt idx="251">93.5</cx:pt>
          <cx:pt idx="252">92</cx:pt>
          <cx:pt idx="253">86</cx:pt>
          <cx:pt idx="254">81.5</cx:pt>
          <cx:pt idx="255">91</cx:pt>
          <cx:pt idx="256">82.5</cx:pt>
          <cx:pt idx="257">82</cx:pt>
          <cx:pt idx="258">91</cx:pt>
          <cx:pt idx="259">84</cx:pt>
          <cx:pt idx="260">92</cx:pt>
          <cx:pt idx="261">92</cx:pt>
          <cx:pt idx="262">98</cx:pt>
          <cx:pt idx="263">94</cx:pt>
          <cx:pt idx="264">99.5</cx:pt>
          <cx:pt idx="265">97</cx:pt>
          <cx:pt idx="266">66</cx:pt>
          <cx:pt idx="267">65.5</cx:pt>
          <cx:pt idx="268">88.5</cx:pt>
          <cx:pt idx="269">90</cx:pt>
          <cx:pt idx="270">93.5</cx:pt>
          <cx:pt idx="271">98.5</cx:pt>
          <cx:pt idx="272">93.5</cx:pt>
          <cx:pt idx="273">84.5</cx:pt>
          <cx:pt idx="274">94</cx:pt>
          <cx:pt idx="275">85.5</cx:pt>
          <cx:pt idx="276">98.5</cx:pt>
          <cx:pt idx="277">73</cx:pt>
          <cx:pt idx="278">97</cx:pt>
          <cx:pt idx="279">91.5</cx:pt>
          <cx:pt idx="280">99.5</cx:pt>
          <cx:pt idx="281">83.5</cx:pt>
          <cx:pt idx="282">94.5</cx:pt>
          <cx:pt idx="283">95.5</cx:pt>
          <cx:pt idx="284">89</cx:pt>
          <cx:pt idx="285">94.5</cx:pt>
          <cx:pt idx="286">88</cx:pt>
          <cx:pt idx="287">80</cx:pt>
          <cx:pt idx="288">71.5</cx:pt>
          <cx:pt idx="289">37.5</cx:pt>
          <cx:pt idx="290">35</cx:pt>
          <cx:pt idx="291">79.5</cx:pt>
          <cx:pt idx="292">84.5</cx:pt>
          <cx:pt idx="293">84</cx:pt>
          <cx:pt idx="294">57.5</cx:pt>
          <cx:pt idx="295">29.5</cx:pt>
          <cx:pt idx="296">36.5</cx:pt>
          <cx:pt idx="297">32</cx:pt>
          <cx:pt idx="298">69</cx:pt>
          <cx:pt idx="299">96.5</cx:pt>
          <cx:pt idx="300">93</cx:pt>
          <cx:pt idx="301">96.5</cx:pt>
          <cx:pt idx="302">91.5</cx:pt>
          <cx:pt idx="303">94</cx:pt>
          <cx:pt idx="304">73</cx:pt>
          <cx:pt idx="305">89.5</cx:pt>
          <cx:pt idx="306">96.5</cx:pt>
          <cx:pt idx="307">91</cx:pt>
          <cx:pt idx="308">86.5</cx:pt>
          <cx:pt idx="309">91</cx:pt>
          <cx:pt idx="310">84</cx:pt>
          <cx:pt idx="311">87</cx:pt>
          <cx:pt idx="312">92.5</cx:pt>
          <cx:pt idx="313">71.5</cx:pt>
          <cx:pt idx="314">46</cx:pt>
          <cx:pt idx="315">88.5</cx:pt>
          <cx:pt idx="316">95.5</cx:pt>
          <cx:pt idx="317">80</cx:pt>
          <cx:pt idx="318">80</cx:pt>
          <cx:pt idx="319">83.5</cx:pt>
          <cx:pt idx="320">68.5</cx:pt>
        </cx:lvl>
      </cx:numDim>
    </cx:data>
  </cx:chartData>
  <cx:chart>
    <cx:plotArea>
      <cx:plotAreaRegion>
        <cx:series layoutId="clusteredColumn" uniqueId="{593F65A0-EC82-5649-99E6-9B8250AAE272}">
          <cx:spPr>
            <a:solidFill>
              <a:schemeClr val="accent2"/>
            </a:solidFill>
          </cx:spPr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>
                    <a:solidFill>
                      <a:schemeClr val="tx1"/>
                    </a:solidFill>
                  </a:defRPr>
                </a:pPr>
                <a:endParaRPr lang="zh-CN" altLang="en-US" sz="1400" b="0" i="0" u="none" strike="noStrike" baseline="0">
                  <a:solidFill>
                    <a:schemeClr val="tx1"/>
                  </a:solidFill>
                  <a:latin typeface="Arial" panose="020B0604020202020204"/>
                  <a:ea typeface="黑体" panose="02010609060101010101" pitchFamily="49" charset="-122"/>
                </a:endParaRPr>
              </a:p>
            </cx:txPr>
            <cx:visibility seriesName="0" categoryName="0" value="1"/>
          </cx:dataLabels>
          <cx:dataId val="0"/>
          <cx:layoutPr>
            <cx:binning intervalClosed="r" underflow="30" overflow="100">
              <cx:binSize val="5"/>
            </cx:binning>
          </cx:layoutPr>
        </cx:series>
      </cx:plotAreaRegion>
      <cx:axis id="0">
        <cx:catScaling gapWidth="0"/>
        <cx:tickLabels/>
        <cx:txPr>
          <a:bodyPr vertOverflow="overflow" horzOverflow="overflow" wrap="square" lIns="0" tIns="0" rIns="0" bIns="0"/>
          <a:lstStyle/>
          <a:p>
            <a:pPr algn="ctr" rtl="0"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zh-CN" altLang="en-US" sz="1400">
              <a:solidFill>
                <a:schemeClr val="tx1"/>
              </a:solidFill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zh-CN" altLang="en-US" sz="1400">
              <a:solidFill>
                <a:schemeClr val="tx1"/>
              </a:solidFill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6395961-78AC-4172-A9D4-2880E5973E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46C722-DFA8-4F89-A8FF-79F824E95D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3EEF7-398C-4CC9-B279-5CBBD10BBD98}" type="datetimeFigureOut">
              <a:rPr lang="zh-CN" altLang="en-US" smtClean="0">
                <a:ea typeface="黑体" panose="02010609060101010101" pitchFamily="49" charset="-122"/>
              </a:rPr>
              <a:t>2024/6/13</a:t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0BD996-2C1A-4268-B94B-EE24D46C2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4D9BD0-2C1F-44BD-8ED2-98D8FEB2D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0E1E4-72F4-4EC6-888F-6D0DE1EB4E5D}" type="slidenum">
              <a:rPr lang="zh-CN" altLang="en-US" smtClean="0">
                <a:ea typeface="黑体" panose="02010609060101010101" pitchFamily="49" charset="-122"/>
              </a:rPr>
              <a:t>‹#›</a:t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30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1:21:12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13415 11930 0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7T11:20:44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21031 9164 0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07T11:24:42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7085 5614 1180 0,'-7'-5'0'0,"7"5"0"0,-18-6 0 16,18 6-32-16,-11 0-1 0,11 0 0 0,-11-7 1 15,11 7-50-15,-24-11 0 0,24 11 0 0,-26-20 0 16,26 20 69-16,-36-27 0 0,12 12 1 0,6 4 0 0,-6 0 13 16,0-3 0-16,-3 8 0 0,-3-1 1 0,-6 2 2 15,-3 1-1-15,1 0 0 0,-8 1 1 0,-5 1 20 16,-4 0 2-16,-2 2 0 0,-5 2 0 0,-9 7 11 16,-1-2 0-16,-6 2 0 0,6-7 0 0,-6 2 9 15,-1 1 1-15,0-5 0 0,4 4 0 0,2-4 7 0,0-4 1 16,2 4 0-16,3 4 0 0,-2-4-12 15,3 2 1-15,-5 7-1 0,1-4 1 0,-4 6-1 0,-2 0-1 16,-5 4 1-16,1 3 0 0,-8 7-3 0,-8-3 2 16,3 9-1-16,1 0 1 0,-2 0-9 0,7-2 1 15,4 6 0-15,-2 1-1 0,5-5-7 0,-1 2 1 0,9 3 0 16,7 2 0-16,2 4-12 0,11-4-1 0,-2-3 1 16,4 3-1-16,5 0-6 0,4-3 1 0,7 7 0 15,4 1 0-15,4-1-7 0,8 4 2 0,-1-3-2 16,2-3 1-16,7-1-3 0,9-5 1 0,4-3 1 15,9 2-1-15,11-2-1 0,9 0 0 0,6 0 0 16,5 1 0-16,11-6 0 0,9 5 0 0,4-4 0 16,7 0 0-16,9-5-1 0,8 2 1 0,3-2-2 15,8-4 2-15,1 0-1 0,6 0 1 0,11-3-1 16,2 1 1-16,-4-5-1 0,0-2 1 0,2-3 0 0,2 1 0 16,-6-2 0-16,2-1 0 0,-5 0 0 0,5-4 0 15,-7-4 2-15,9-3 1 0,-13-2-1 0,2-2 0 16,0-9 6-16,-6-2 0 0,-1-9 0 0,-8-4 1 15,-7-5 1-15,-7-7 0 0,5-4 0 0,-11-2 1 0,-3-5-1 16,-8 0 1-16,-7-2 1 0,-2-9-1 16,-6-2 1-16,-3 0 2 0,-9-2-1 0,-9 6 1 0,-6 1 1 15,-4 3 1-15,-12 1 0 0,-4 9 1 0,-4 4-2 16,-10 7 1-16,-8-5 0 0,-13-2-1 0,-16 3 0 16,-6-1 1-16,-14 9-2 0,-6 7 2 0,-15 7-4 0,-10 6 2 15,-6 3-1-15,-4-1 1 0,-1 9-5 0,-8-1 0 16,4 3 0-16,5 3 1 0,4 2-5 0,-3-5 1 15,8 10 0-15,10 2 0 0,3 4-3 0,1 2-1 16</inkml:trace>
  <inkml:trace contextRef="#ctx0" brushRef="#br0" timeOffset="697.32">6260 7182 1784 0,'-13'-9'0'0,"13"9"0"0,-25-9 0 0,25 9 23 16,-15 0 1-16,15 0-1 0,-20-7 2 0,20 7 7 0,-37-27-1 15,15 12 0-15,-1-3 1 0,-3-4-20 0,-5 0 1 16,-4-5-1-16,0 3 1 0,-1 1-13 0,-6-3 1 15,-6-1-1-15,-1 5 2 0,-6 2-4 0,-2 0 2 16,-14 2-1-16,-1 7 1 0,-14 2-1 0,0 0 0 16,-7 7 0-16,0 2 0 0,-2 11 0 0,-4 0 1 15,2 5 0-15,0 6 0 0,-7 5 1 0,5 2 0 16,-7 8 0-16,3-1 0 0,-5 13 6 0,-5-3 1 16,5 10-1-16,13 2 0 0,3 8 5 0,10 3-1 0,3-9 0 15,10 2 0-15,3-4-4 0,9-9 1 0,6 6-1 16,11 1 0-16,14-1-4 0,11-6-1 0,10 2 0 15,10-2 2-15,17-2-4 0,4-5 0 0,23-4 0 16,1-3 1-16,19-1-2 0,10-3 1 0,9 0-2 16,5-9 2-16,17 2-1 0,0-1 0 0,21-6 0 15,1 1 0-15,11-5 0 0,5-2 1 0,6 1 0 16,-2-4 0-16,7-3 0 0,0-1 0 0,-5-4 0 16,-1-4 0-16,-3-5 1 0,0-4 0 0,-12-5 0 15,1-4 0-15,-2 0 2 0,-11-10-1 0,-3-5 0 0,-6-6 1 16,-9 1 4-16,-6-9 1 0,-18-2 0 15,-5-7 0-15,-13-2 4 0,-4-5 2 0,-20-4-2 0,-3-2 1 16,-19-9 5-16,-6 0 1 0,-12-3 0 0,-7 1 1 0,-15-1 2 16,-6 1 0-16,-18 2 1 0,-9 9 0 0,-13 6-1 15,-18 9-1-15,-9 14 0 0,-15 6 2 0,-20 16-6 16,-15 11 0-16,-11 15-1 0,-10 12 2 0,-14 17-8 16,-7 9 0-16</inkml:trace>
  <inkml:trace contextRef="#ctx0" brushRef="#br0" timeOffset="1779.96">13562 9657 627 0,'-38'-20'0'0,"-6"-8"0"0,4 5 0 0,14 8 56 16,6-1 1-16,-11-1 0 0,-4-6 1 0,-27-6 38 15,-4-4 2-15,-5 7-2 0,-8-1 2 0,0 7-54 0,-12 0-1 16,-4 4 1-16,1 5 1 0,-12 5 11 0,-2 1 1 15,-11 3 1-15,-7 2-1 0,-4 7-27 0,-3 4 2 16,1 4-1-16,-9 1 0 0,2-1-3 0,-2 8 2 16,6 1-1-16,-1 3 0 0,3 4-9 0,3 4 2 15,-2 5-2-15,0 5 1 0,4 6-3 0,0 6 1 16,4-3 0-16,7-1 0 0,3-2-6 0,10 2-1 16,0 1 0-16,7 10 1 0,11 9-9 0,0 5 1 15,14-2-1-15,-1 4 2 0,13 4-5 0,-1 2 0 16,14 3 0-16,8 7 0 0,12 2-1 0,9 1 0 15,16 1 0-15,9 5 1 0,13-5-3 0,11-3 1 0,15-6 0 16,13-11 0-16,19-15-8 0,8-12 0 0,22-11 0 16,20-6 1-16,19-10-9 0,17-12 0 0,10-8 0 15,11-8 2-15,9-11 1 0,9-7 1 0,0-11-1 16,-2-3 1-16,1-8 3 0,4-2 0 0,-6-7 0 16,-4-5 1-16,-4-4 4 0,5-2 1 0,-14-7-1 15,-2 0 2-15,-3-4 0 0,-4-5 2 0,-17 3 0 16,-5-9 0-16,-13-5 1 0,-11 0 0 0,-11 2 0 0,-9-1 0 15,-13-4 3-15,-7 4 2 0,-22-1-2 0,-11 4 2 16,-13 5 6-16,-15-4 0 0,-23 4 1 0,-11-4 0 16,-26 2-1-16,-15-1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1:31:06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18399 2177 0</inkml:trace>
  <inkml:trace contextRef="#ctx0" brushRef="#br0" timeOffset="60734.06">4690 6412 0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7T11:56:57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18186 8978 0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2:11:16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17931 5865 0</inkml:trace>
  <inkml:trace contextRef="#ctx0" brushRef="#br0" timeOffset="1291.33">17931 5865 0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07T12:11:38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22542 13062 213 0,'-13'-7'0'0,"13"7"0"0,-22-9 0 0,22 9 28 0,-16-9 0 15,16 9 0-15,-31-6 0 0,7-1 28 0,-2 2 0 16,-8-3 0-16,1 5 0 0,-6 3 17 0,-3 0 0 16,-5 3 0-16,-1-1 0 0,2 7-21 0,-3 2 1 15,1 4-2-15,1 3 2 0,1 6-22 0,4 3 2 16,-2 2-1-16,2 2 1 0,0 2-6 0,-4 3 1 16,2 6-1-16,0 7 1 0,0 4-3 0,-1 12-1 0,4 4 1 15,-1 4 0-15,6 9-10 0,-1-2 2 0,4 11 0 16,2 7 0-16,7 4-3 0,-1 11 2 0,3 7-1 15,2 4 0-15,3 7-6 0,4 7 0 0,2-7 0 16,11-4 0-16,0-5-8 0,11-5 1 0,2-6-1 16,4-6 1-16,12-12-2 0,-2-2 0 0,3-11 0 15,4-2 0-15,3-7-6 0,3-2 1 0,-1-3-1 16,3-6 2-16,0-2-17 0,2-7 2 0,3-2-1 16,-1-5 1-16,2-4-8 0,3-4 1 0,-2-7-1 15,1-7 2-15,3-7 10 0,-2-3 0 0,0-10 1 0,8-4-1 16,10-10 11-16,-3-5-1 0,2-10 1 0,-4-9 0 15,-2-10 4-15,-2-12 0 0,-1-4 0 0,5-2 0 16,-2-5 3-16,-7-5-1 0,2-1 0 0,-6-3 2 16,-5-4 6-16,1-5 0 0,-3-1 0 0,0-1 0 0,-5-7 6 15,1-1 0-15,-5-3 0 0,3 2 1 0,2-2 4 16,-5-4 1-16,5 4-1 0,-7-2 1 0,-2 2 1 16,-3-2-1-16,1 4 1 0,0-2 0 0,-7 0 5 0,0 2 0 15,-5 5 0-15,3 0 2 0,-4 8-8 0,-5 8 1 16,-3-3-1-16,-1 0 0 0,2 4-2 0,-7 3-1 15,-4 2 0-15,-7 0 0 0,2 2-6 0,-6 5 2 16,-4 6-2-16,-3-4 2 0,-7 4-4 0,-1 2 1 16,-8 8 0-16,-1 1 0 0,-9 7-3 0,-5 7 1 15,0 4-1-15,-4 2 1 0,-2 5 4 0,6 2 0 16,-9 4 0-16,1 5 0 0,-1 5 3 0,-1 1 0 0,-1 5 0 16,0 5 0-16,-4-1 4 0,0 5 0 0,-3 4 1 15,1-4-1-15,-5 5-4 0,7 6 1 0,-2 0-2 16,-3 4 2-16,7 0 6 0,2-1 1 0,-4 5-1 15,4 6 1-15,1-1-7 0,3 5 1 0,-1 0-1 16,4-1 1-16,0 3-7 0,2 2 1 0</inkml:trace>
  <inkml:trace contextRef="#ctx0" brushRef="#br0" timeOffset="725.61">17300 12393 1532 0,'-20'5'0'0,"-4"1"0"15,8-3 0-15,10-6 27 0,1 1 0 0,-4 2 0 16,-8 2 1-16,-10 3 19 0,-8 4 2 0,0 4-2 16,-7 3 1-16,7 1-23 0,-1 5 1 0,-1 5-2 0,-1 0 2 15,1 4-24-15,-7 2 2 0,6 9-1 16,-2 3 0-16,3 8-3 0,2 5 0 0,4 6 0 0,4 7 0 15,3 11-2-15,2 5 1 0,4 9 0 0,1 1 0 16,10-4-4-16,1 12 1 0,6-5-1 0,4-9 1 16,5-9-4-16,8-4 0 0,1-7 0 0,6-5 2 0,7-15-3 15,2-6 0-15,0-7 0 0,11-7 1 0,-4-9-7 16,11-9 2-16,2-6-2 0,4-3 2 0,7-8 0 16,4-3 1-16,-4-4 0 0,-6-2 0 0,-5-7-3 15,-5-2 0-15,1-5-1 0,-5-6 2 0,-4-5 6 0,1-7 0 16,-3-3 0-16,6-6 1 0,-7-3 3 15,3-8-1-15,0-1 1 0,-9-10 0 0,4-10 2 0,0-8 1 16,-4 1 0-16,-2-7 1 0,0-4 0 0,-5-7 0 16,-2 2 0-16,-7-2 0 0,-4 2 1 0,-2 5 0 15,-15 4 1-15,1 4 0 0,-10 10 3 0,-5 1 1 16,-13 12 0-16,2 9-1 0,-9 12 11 0,-4 10 1 16,-2 16 0-16,-5-1-1 0,0 14 8 0,-6 6 1 0,2 7-1 15,-2 4 1-15,4 8 3 0,-5 3 1 16,1 7 0-16,2 3 1 0,2 6-5 0,2 2 2 0</inkml:trace>
  <inkml:trace contextRef="#ctx0" brushRef="#br0" timeOffset="1306.8">16989 14845 1117 0,'-27'4'0'0,"-4"3"0"0,7-3 0 0,9-4 42 0,6 0 0 16,-6 5 0-16,-8 4 1 0,-14 6 13 0,-7 3 1 16,-5 9 0-16,5 1 0 0,0 8-34 0,-2 6 0 15,4 5 0-15,-2 4 0 0,6 7-17 0,-4 4 0 16,14 4-1-16,1 3 1 0,7 5-6 0,5 5 1 16,4 4-1-16,0 3 1 0,7 3-1 0,-1 4 0 15,5 5 0-15,5 0 0 0,-1 11-2 0,7 6 1 16,4-4-2-16,3-4 2 0,2-1-3 0,9-4 0 0,1-15 1 15,8-9 0-15,8-18-11 0,3-14 2 0,8-10 0 16,-2-7-1-16,7-9-10 0,0-9 0 0,0-7 1 16,8-6-1-16,3-7 1 0,4-4-1 0,-2-7 1 15,-9-7 0-15,0-4 11 0,-6-4 1 0,-3-12 0 16,1-2 0-16,-1-6 9 0,2-3 0 0,-8-9 0 16,-5-4 1-16,-4-4 0 0,2-5 1 0,-2-5-1 15,-4-6 1-15,-7-4 2 0,2-7 2 0,-7-1-1 16,-1-1 1-16,-8-7 4 0,-4 0 0 0,-6-2 0 15,-7 0 1-15,-7 1 8 0,-10-1 1 0,-7 9-1 0,-1 13 1 16,-3 9 6-16,-10 8-1 0,-6 10 1 0,-5 11 1 16,-8 17-5-16,-2 10 0 0,-8 10 1 0,1 9-1 15,0 14 0-15,0 0 2 0,-7 8-1 0,3 5 1 0,-5 2-5 16,-5 9 1-16,3-2 0 0,6 2 0 0,5 1-3 16,0-1 1-16</inkml:trace>
  <inkml:trace contextRef="#ctx0" brushRef="#br0" timeOffset="2091.76">10106 14720 1243 0,'-20'3'0'0,"-11"3"0"0,7-1 0 0,9-5 14 0,4-3 2 16,-5 10 0-16,-13 6 0 0,-8 10 15 0,-7 3 0 15,-7 8 1-15,3 6 0 0,-10 6-6 0,5 8 0 16,0 3 0-16,3 1 0 0,6 9-16 0,2 6 0 16,0 7 0-16,6 2 0 0,1 5-3 0,4 8 1 15,7 3-2-15,4 6 2 0,5 16-6 0,8 2 2 16,1 11-2-16,8 12 1 0,9 8-1 0,4 7-1 0,9 2 0 15,3 2 0-15,6 1-1 0,9-3 0 0,-2-11 0 16,10-11 1-16,8-12-3 0,-1-3 0 0,9-28-1 16,3-10 2-16,10-16-21 0,-2-13 0 0,7-16 1 15,4-6 0-15,5-14-27 0,2-7 0 0,2-12 1 16,2-8 0-16,2-13-6 0,-1-8 2 0,5-10-2 16,-8-2 1-16,0-8 8 0,-4-5 0 0,2-16 0 15,-9-6 0-15,-2-7 36 0,-3-9 1 0,-10-13-1 16,-5-9 0-16,-4-11 7 0,-14-9 1 0,-4-11 0 15,-15-9 0-15,-7-14 6 0,-11-3 1 0,-9-1 0 0,-6 2 0 16,-9-4 18-16,-7 2 2 0,-2 18-1 16,-2 14 1-16,-3 10 28 0,1 12 1 0,-7 10 0 0,-5 10 0 15,-8 11-7-15,-5 4-1 0,0 6 0 0,-6 3 0 16,2 7 7-16,-7 2 0 0,0 8 0 0,-4 3 2 16,-4 7-11-16,-3 4 0 0,-4 7 0 0,2 6 1 0,-7 9-14 15,-2 3 1-15,5 15 0 0,-3 2 0 0,-8 13-14 16,6 10 0-16</inkml:trace>
  <inkml:trace contextRef="#ctx0" brushRef="#br0" timeOffset="8642.34">10454 11145 351 0,'5'2'0'0,"-5"-2"0"15,11 9 0-15,-11-9 46 0,15 11 1 0,-15-11 0 16,9 12 0-16,-9-12-1 0,-2 6 0 0,2-6 0 15,0 25 0-15,2-3-29 0,0 2 0 0,3 3 0 16,-3 2 1-16,5 6-16 0,-5-4 1 0,7 1 0 16,-3-4 0-16,3-1 2 0,2-3 1 0,4-1 0 15,1-1-1-15,4-2-4 0,0 0 2 0,-5-5-1 0,5 1 0 16,-2-3 4-16,-1-2 1 0,1-2-1 0,-1-4 1 16,-1 1 5-16,-1-1 1 0,3-5-1 15,0-2 1-15,-1-1 11 0,3-1 0 0,0-5-1 0,2-11 1 0,7-11 4 16,2-9 1-16,-1-9 0 0,6-9 0 0,6-10-2 15,4-8 0-15,5-4 0 0,-1 2 0 0,6-2-2 16,1 3 1-16,2 1-1 0,1 3 1 0,4 4 0 16,-2 0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07T12:27:16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16987 9047 12 0,'6'2'0'0,"-6"-2"0"16,11 13 0-16,-11-13 0 0,5 0 0 0,-5 0 0 15,6 0 0-15,-6 0 1 0,5 0 1 0,-5 0 0 16,4 11 1-16,-4-11 39 0,5 3 1 0,-5-3 0 16,4 4-1-16,-4-4 53 0,7 9-1 0,-7-9 0 15,6 11 1-15,-6-11-55 0,16 5-1 0,-16-5 0 16,17 13 2-16,-17-13 6 0,18 24 0 0,-18-24 0 16,24 27 0-16,-24-27-10 0,20 33 1 0,-20-33 1 15,24 34-1-15,-24-34-4 0,22 33 2 0,-22-33 0 16,9 38 0-16,2-14-7 0,0 3 1 0,-4-5-1 0,2 2 1 15,2 1-6-15,0 1 0 0,2 1 1 0,-2-3 0 16,0-1-6-16,-2 1 1 0,-5-6-1 0,7-3 1 16,-2-3-3-16,2-4 0 0,-7-3 0 0,1-3 1 0,1 0-4 15,-3-2 2-15,3-6 0 0,5-8-1 0,3-1 4 16,3-10 1-16,-1-4-1 0,1-6 0 0,1-7 7 16,0-7-1-16,1-2 1 0,1-2 0 0,2-1 2 15,0 1 1-15,5-3 0 0,4 1 1 0,0-3-2 16,4-4 1-16,-2 4-1 0,7 9 1 0,2 3-1 15,-1-1 0-15,8 5 0 0,-7 0 1 0,0 0-4 0,6 4 1 16,-6 0 0-16,0-2-1 0,7-2-4 0,-3 0 0 16</inkml:trace>
  <inkml:trace contextRef="#ctx0" brushRef="#br0" timeOffset="1595.12">20255 10825 12 0,'-7'5'0'15,"7"-5"0"-15,-11-5 0 0,11 5 17 0,-2-4 0 16,2 4-1-16,-11-4 1 0,11 4 89 0,-4-3 0 0,4 3 1 15,-11-6-1-15,11 6-51 0,-5-5 2 0,5 5-1 16,-6-4 0-16,6 4-2 0,-9 0 0 0,9 0-1 16,-7 0 2-16,7 0-18 0,-9 0 0 0,9 0 0 15,-4 0 2-15,4 0-11 0,-4 0 1 0,4 0 0 16,-5 0 0-16,5 0-7 0,-2 0 0 0,2 0-1 16,-5 0 2-16,5 0-5 0,0 0 0 0,0 0 0 15,0 0 1-15,0 0-5 0,5 0 1 0,-5 0-1 16,2 0 1-16,-2 0-3 0,5 0 1 0,-5 0-1 0,4 0 2 15,-4 0-4-15,4 4 1 0,-4-4 0 16,7 7 0-16,-7-7-1 0,9 9 1 0,-9-9-1 0,15 11 1 16,-15-11-3-16,16 7 1 0,-16-7 0 0,11 20 0 15,-11-20-2-15,13 17 2 0,-13-17 0 0,13 18 0 16,-13-18 5-16,13 25-1 0,-13-25 1 0,16 20-1 16,-16-20 0-16,20 20-1 0,-20-20 0 0,26 13 2 0,-26-13-3 15,24 20 1-15,-24-20 0 0,38 26 0 0,-38-26-2 16,35 27 1-16,-35-27 0 0,35 25 1 0,-35-25 0 15,36 15 0-15,-36-15 1 0,31 11 0 0,-31-11 4 16,30 5 1-16,-30-5-1 0,34-3 1 0,-34 3 3 16,35-8 0-16,-35 8 1 0,37-9-1 0,-37 9 5 0,42-27 1 15,-42 27-1-15,38-38 1 0,-38 38-3 0,39-42 1 16,-19 15 0-16,5-8 0 0,1-7 1 0,3-5 0 16,4-6 0-16,0-9 1 0,4-9-5 0,5-3 1 15,-7-10-1-15,12-7 2 0,-10-2-5 0,10-3 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6T12:56:07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18215 12337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07T12:42:09.3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1" timeString="2024-05-07T12:56:50.677"/>
    </inkml:context>
  </inkml:definitions>
  <inkml:trace contextRef="#ctx0" brushRef="#br0">17315 14809 12 0,'0'5'0'0,"0"-5"0"16,-6 0 0-16,6 0 0 0,-9 0 1 0,9 0-1 15,-9-7 1-15,9 7 20 0,-7-4 1 0,7 4-1 16,-11-5 0-16,11 5 4 0,-9 0 1 0,9 0-1 16,-8-2 0-16,8 2 54 0,-7-5 1 0,7 5-1 15,-11-4 1-15,11 4-51 0,-18-7 0 0,18 7 0 0,-17-13 1 16,17 13 12-16,-22-20 2 0,22 20-1 0,-25-16 0 15,25 16 5-15,-24-13-1 0,24 13 0 0,-26-11 0 16,26 11-3-16,-27-9 1 0,27 9-2 0,-28-9 2 16,28 9 6-16,-42-9-1 0,42 9 1 0,-40-11 0 0,40 11-7 15,-38-9 1-15,38 9 0 0,-30-8 0 0,30 8-10 16,-36-9 1-16,36 9-1 0,-35-9 1 0,35 9-9 16,-35-20 1-16,10 11-1 0,8 2 1 0,-3 1 0 0,-2-1 2 15,0 2-2-15,4 3 1 0,-2 2 4 16,-2 0 1-16,0 0 0 0,-2 2-1 0,0 3-2 0,0 2-1 15,-1 1 0-15,-1 1 2 0,-1 2-5 0,-4 3 0 16,5-1 0-16,2 0 1 0,-5 3-7 0,0-7 0 16,10 4 1-16,-8 1 0 0,3-3-4 0,0 0 0 15,-1 2 0-15,1 0 1 0,0 1-4 0,4 1-1 16,-4 1 1-16,-5-3-1 0,5 0 1 0,-7 1 1 16,2-1-2-16,3 3 2 0,-1-1-4 0,-4 1 2 0,5 1-1 15,2 3 1-15,-5 3-2 0,0 1 2 0,5 1-1 16,-2-3 0-16,1 0-1 0,1-4 0 0,2 2-1 15,2 0 2-15,5 2-3 0,2 2 1 0,-3 1 0 16,3-8 0-16,4-1-3 0,-2 0 0 0,0-10 0 16,7 3 0-16,-3-2-4 0,7 2 2 0,-2-3-2 15,0 1 2-15,-1 0-3 0,1-1 2 0,2 3-2 16,2 2 2-16,1 3-3 0,-1 1 1 0,0 5 0 16,7-4 0-16,0-1-1 0,2 1 0 0,2 4 1 15,2-2-1-15,1-3-1 0,-1 1 1 0,1-3 0 0,3-2 1 16,4-2-2-16,-1-2 0 0,6-1 0 0,-3 3 0 15,5 2-1-15,3 0 1 0,3-2 0 0,-1 0 1 16,5-2-2-16,-3 2 1 0,3 0 0 0,0-1 0 0,-3 1-1 16,-2 0 0-16,1 0 0 0,3 0 0 15,3 0 0-15,0 0 0 0,2-3 0 0,3 1 0 0,3 0-1 16,3-1 0-16,2 1 0 0,3 0 1 0,1-3-4 16,-6 1 2-16,7-1 0 0,-5-2-1 0,2 3-1 15,1 1 0-15,1-3-1 0,3 1 2 0,0 5-3 16,-3-2 2-16,5-3-1 0,-4 0 1 0,-5-1-1 0,-2-1 1 15,-3 0-1-15,1 3 2 0,0-5-2 0,-5 2 2 16,0-2 0-16,-4-2-1 0,0-7 1 0,0 0-1 16,-2 0 1-16,0-4 0 0,-1-5-1 0,-8 0 2 15,-2-2-1-15,4 0 0 0,-4 0 1 0,-3 2 0 16,-2-4 0-16,-4 2 1 0,2 2-1 0,-2 1 1 16,-2-3 0-16,-5 0 1 0,0 0 0 0,-4 0 0 15,-7-3 0-15,3-1 0 0,-5 2 0 0,-5-3 0 0,1 1 0 16,-5-3 0-16,-4 1 0 0,-3-1 0 0,-1 3 0 15,-3-3 1-15,-4 0-1 0,-5 5 1 0,5 0-1 16,-9-3 2-16,2 1-1 0,0 2 0 0,-7-3 0 16,3 1 0-16,-5 4 0 0,-4-2 1 0,0 2 1 15,0-2-1-15,0 2 1 0,-7-5 2 0,3 3-2 16,1-2 2-16,1-1-1 0,4 1 2 0,-9 4-1 16,-2 6 1-16,-6 1 1 0,-1 2 1 0,3 4-1 15,-7 1 1-15,5 6 0 0,-8 0 0 0,1 2 0 16,0 4 1-16,0 8-2 0,0 1 0 0,4-1 1 15,-4 1 0-15,6 1-2 0,1 2-1 0,4-3 1 0,2-4 1 16,9-4-5-16,2-5 0 0</inkml:trace>
  <inkml:trace contextRef="#ctx0" brushRef="#br0" timeOffset="15014.76">16049 9569 1293 0,'0'-3'0'0,"0"3"0"16,-6 0 0-16,6 0-18 0,6-2 0 0,-6 2 1 15,0 0-1-15,0 0 7 0,0-6 1 0,0 6 0 16,0-5 0-16,0 5 0 0,0-4 0 0,0 4 0 16,0-5 0-16,0 5-4 0,-8-6 2 0,8 6-2 15,-16-14 2-15,16 14 0 0,-31-13 1 0,31 13-1 0,-35-13 1 16,35 13 4-16,-38-7 2 0,38 7-2 0,-35-5 1 16,35 5 5-16,-26 3 1 0,26-3-1 0,-27 2 1 15,27-2 1-15,-24 0 0 0,24 0 1 0,-42 0-1 16,18 4 5-16,-7-1 1 0,0 5 0 0,0-3 0 0,0 2 15 15,-2 1 1-15,0 6-1 0,-2-1 2 0,-5 3 5 16,-2 1 0-16,0-1 0 0,7-1 1 0,-2 1-4 16,-1 0 0-16,1-1 0 0,1-4 0 0,1 5-2 15,0-5 1-15,-1 4 0 0,1 1-1 0,2 0 3 16,0-1 0-16,0-2 0 0,2 1 1 0,2 1-5 16,3-4 0-16,-5 0 0 0,2 5 0 0,1 2-4 0,3 6 0 15,-5-2 0-15,1 3 2 0,0 1 0 0,5 1 1 16,-2 4 1-16,3 0-1 0,1 0 0 0,-2 3 0 15,7-5 1-15,-3-1-1 0,4-1-4 0,1 0 1 16,-1-5 0-16,3 0 0 0,11-2 1 0,-2 2 1 16,4 3-1-16,4-5 0 0,-2 2-12 0,7-2 1 0,0 2-1 15,2-4 1-15,4 6-6 0,5-1 1 0,0 1 1 16,2-4-1-16,0 2-2 0,2-6 0 0,5-1-1 16,6-1 1-16,3-6-2 0,8-1 1 0,-2-5 0 15,5 5 1-15,4-5-2 0,4 3 0 0,0-1 0 16,1 1 0-16,-3-5 0 0,2 2 0 0,3-2 0 15,1-2 0-15,6-3-2 0,-6 1 1 0,5-3 0 16,-6-4 0-16,0-2-2 0,-5-5-1 0,0 2 1 16,-2-6 0-16,-5 2 1 0,-6-4 1 0,2-1 0 15,-4-1 1-15,2 1 0 0,-5-6 0 0,-1 2 0 16,-10-2 0-16,-2 0 0 0,-4 0 1 0,-7-7-1 0,1 0 1 16,-6 3 5-16,-1-5 1 0,-5 2-2 0,-2-2 2 15,0 0 7-15,-2 2-1 0,-9-2 1 0,0-2-1 16,-4 0 6-16,1 0 1 0,-10 0 0 0,2 0 1 15,-2 2 0-15,-3 0 1 0,1 2 1 0,-7 7-1 0,0 0-1 16,-3 0 0-16,1 4 0 0,0 5 1 0,0 4-8 16,-3 2 2-16</inkml:trace>
  <inkml:trace contextRef="#ctx1" brushRef="#br0">18867 6506 0</inkml:trace>
  <inkml:trace contextRef="#ctx1" brushRef="#br0" timeOffset="2594.92">18867 6506 0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7T13:02:41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19922 8082 0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7T12:59:38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18867 6506 0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3:02:28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20564 9391 0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3:04:59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20564 9391 0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3:07:47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23009 15870 0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92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72.63158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6T13:20:13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23009 15870 0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4-05-07T13:45:28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6988 3714 0</inkml:trace>
  <inkml:trace contextRef="#ctx0" brushRef="#br0" timeOffset="3016.34">6988 3714 0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黑体" panose="02010609060101010101" pitchFamily="49" charset="-122"/>
              </a:defRPr>
            </a:lvl1pPr>
          </a:lstStyle>
          <a:p>
            <a:fld id="{AFADF04F-F2F9-486C-A752-12D4B1C511A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18866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669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01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讲座p</a:t>
            </a:r>
            <a:r>
              <a:rPr lang="en-US" altLang="zh-CN" dirty="0"/>
              <a:t>93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26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2348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jump to p6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71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jump to p23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8194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2710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342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000413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3305718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941357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464050"/>
            <a:ext cx="5897562" cy="4227513"/>
          </a:xfrm>
          <a:noFill/>
        </p:spPr>
        <p:txBody>
          <a:bodyPr lIns="91723" tIns="45056" rIns="91723" bIns="45056"/>
          <a:lstStyle/>
          <a:p>
            <a:pPr eaLnBrk="1" hangingPunct="1"/>
            <a:endParaRPr lang="en-US" altLang="en-US" dirty="0">
              <a:latin typeface="Arial" charset="0"/>
              <a:ea typeface="宋体" charset="-122"/>
            </a:endParaRPr>
          </a:p>
        </p:txBody>
      </p:sp>
      <p:sp>
        <p:nvSpPr>
          <p:cNvPr id="133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2200" y="606425"/>
            <a:ext cx="4675188" cy="3506788"/>
          </a:xfrm>
        </p:spPr>
      </p:sp>
    </p:spTree>
    <p:extLst>
      <p:ext uri="{BB962C8B-B14F-4D97-AF65-F5344CB8AC3E}">
        <p14:creationId xmlns:p14="http://schemas.microsoft.com/office/powerpoint/2010/main" val="3794478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590550"/>
            <a:ext cx="4716463" cy="3536950"/>
          </a:xfrm>
        </p:spPr>
      </p:sp>
    </p:spTree>
    <p:extLst>
      <p:ext uri="{BB962C8B-B14F-4D97-AF65-F5344CB8AC3E}">
        <p14:creationId xmlns:p14="http://schemas.microsoft.com/office/powerpoint/2010/main" val="1884775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1100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理想时钟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427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BC7509-23FA-40FA-8415-DBE86E4061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493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764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6480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8700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279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jump 2 p27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574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77776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98077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Jump to p33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895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5466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82692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02551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68126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48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147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9185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66555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4514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01405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精确异常？？</a:t>
            </a:r>
            <a:endParaRPr lang="de-DE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2690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4037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5516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6885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58417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DF04F-F2F9-486C-A752-12D4B1C511A4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2222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Jump to p33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86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37208F54-42C8-22EF-69A4-AE45819566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29" y="10392"/>
            <a:ext cx="1313572" cy="1313572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5E99BBB1-8EEB-46FB-201E-508C9D0759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528" t="909" r="12068" b="1273"/>
          <a:stretch/>
        </p:blipFill>
        <p:spPr>
          <a:xfrm>
            <a:off x="31172" y="10392"/>
            <a:ext cx="1340427" cy="13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3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55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93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950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67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674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258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81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14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80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91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D341FFD1-5403-9176-591E-BEB12D17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551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1E184-7EFF-4B48-9C82-609CF6442F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226095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8B9D4-5D11-464B-BDF0-A23355FE45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4051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62F62-C03C-45EC-8E1C-78F85E4B84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51337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C79243-752F-DF47-B6D4-756C566A026A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3243C-2B3E-9244-9AE7-362CBEA172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483" y="31177"/>
            <a:ext cx="1205345" cy="1205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F7C71-CEB7-D443-B4F8-90277219EE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8" t="909" r="12068" b="1273"/>
          <a:stretch/>
        </p:blipFill>
        <p:spPr>
          <a:xfrm>
            <a:off x="31173" y="10392"/>
            <a:ext cx="1229988" cy="12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78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02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5AFC4-5D56-9E4D-960E-96CF80556026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33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BF26C3-45FA-7841-91B3-D1A1061DB1A2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257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8A5DE4-6B76-514B-9C85-46D3C195F145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068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6A05FC-335B-8C47-829B-195C5628D3E2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1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9323FE-D334-C941-AFD5-A89894881CDB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82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D4ABB2-ECCD-D243-95A1-B013631202D5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769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15D010-23F8-7447-A50B-C42956F25B7A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6351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76EB90-D37C-6C45-AA62-36B4DB0EB232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3170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4D3958-10B6-8640-872C-5A3340696B79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223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68A385-D8EF-7645-A81A-FF8377BC6CF1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75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919B8-A1B4-420E-AADF-E63307EE92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A04947-E782-0ECF-0E31-785A000CFD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159"/>
          <a:stretch/>
        </p:blipFill>
        <p:spPr>
          <a:xfrm>
            <a:off x="0" y="0"/>
            <a:ext cx="1340427" cy="13572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A09420C-5646-752C-D1CA-C8886B9162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445" r="66386"/>
          <a:stretch/>
        </p:blipFill>
        <p:spPr>
          <a:xfrm>
            <a:off x="7775848" y="0"/>
            <a:ext cx="1368152" cy="13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338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0007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AC4FE-4EB1-4196-830A-993FA99EEC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5331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3EBDF-DAB8-41D8-86B3-1BFF07A18F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154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BC1-7FC1-4B65-8DCC-88E2F4494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65172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3D995-88A0-46FA-B356-FA459EF841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4622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AB43A-8F39-40F7-AB51-66BE5F0EDC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2248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2373F-9A07-4B83-AD01-C0E1FFF861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43527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F13C-7485-4D41-9A6D-469650A33C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2513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3C9E0C-B70F-4EE2-835C-E91EA4A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1471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E7160-E460-44BC-A56A-E2A6D1A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4535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7EFDDB4-9377-88E9-5CEC-3E3455CC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4659731-6BD7-46E7-8D3C-2F3AC07E2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36867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1E184-7EFF-4B48-9C82-609CF6442F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960172"/>
      </p:ext>
    </p:extLst>
  </p:cSld>
  <p:clrMapOvr>
    <a:masterClrMapping/>
  </p:clrMapOvr>
  <p:transition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3962400" cy="5029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4478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4038600"/>
            <a:ext cx="3962400" cy="2438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8B9D4-5D11-464B-BDF0-A23355FE455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89057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15888"/>
            <a:ext cx="5470525" cy="936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716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62F62-C03C-45EC-8E1C-78F85E4B84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226597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497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4000" y="136525"/>
            <a:ext cx="8648700" cy="8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296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1"/>
            </a:lvl1pPr>
          </a:lstStyle>
          <a:p>
            <a:fld id="{ED937CD1-4ED1-F54D-9170-DAEC6AA9BB82}" type="datetime1">
              <a:rPr lang="en-US" altLang="zh-CN" smtClean="0"/>
              <a:t>6/13/24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1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/>
            </a:lvl1pPr>
          </a:lstStyle>
          <a:p>
            <a:fld id="{B1806CE5-282B-4233-8654-09F35EA875E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684214" y="956460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1800" b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454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ea typeface="黑体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ea typeface="黑体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黑体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1" dirty="0">
                <a:solidFill>
                  <a:schemeClr val="accent2"/>
                </a:solidFill>
                <a:latin typeface="Times New Roman" pitchFamily="18" charset="0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207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9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19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5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customXml" Target="../ink/ink1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44.png"/><Relationship Id="rId5" Type="http://schemas.openxmlformats.org/officeDocument/2006/relationships/tags" Target="../tags/tag39.xml"/><Relationship Id="rId15" Type="http://schemas.openxmlformats.org/officeDocument/2006/relationships/image" Target="../media/image19.tmp"/><Relationship Id="rId10" Type="http://schemas.openxmlformats.org/officeDocument/2006/relationships/image" Target="../media/image25.png"/><Relationship Id="rId4" Type="http://schemas.openxmlformats.org/officeDocument/2006/relationships/tags" Target="../tags/tag38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customXml" Target="../ink/ink15.xml"/><Relationship Id="rId3" Type="http://schemas.openxmlformats.org/officeDocument/2006/relationships/tags" Target="../tags/tag45.xml"/><Relationship Id="rId21" Type="http://schemas.openxmlformats.org/officeDocument/2006/relationships/image" Target="../media/image19.tmp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image" Target="../media/image4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image" Target="../media/image19.tmp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gray">
          <a:xfrm>
            <a:off x="0" y="3296363"/>
            <a:ext cx="9143999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altLang="zh-CN" sz="20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F8B39B3-1E39-0D5B-29D3-FDD831CD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数字逻辑与处理器基础</a:t>
            </a:r>
            <a:endParaRPr lang="en-US" altLang="zh-CN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Processors</a:t>
            </a:r>
            <a:endParaRPr lang="zh-CN" altLang="en-US" sz="2000" dirty="0">
              <a:solidFill>
                <a:schemeClr val="tx2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37B57BC2-E729-9FDD-9C91-02122E58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3200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48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第六讲 微处理器设计</a:t>
            </a:r>
            <a:endParaRPr lang="en-US" altLang="zh-CN" sz="48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latin typeface="+mj-lt"/>
                <a:ea typeface="SimHei" panose="02010609060101010101" pitchFamily="49" charset="-122"/>
              </a:rPr>
              <a:t>2</a:t>
            </a:r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部分 从单周期</a:t>
            </a:r>
            <a:r>
              <a:rPr lang="zh-CN" altLang="en-US" sz="3600" dirty="0">
                <a:solidFill>
                  <a:schemeClr val="tx2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到多周期、中断与异常</a:t>
            </a:r>
            <a:endParaRPr lang="zh-CN" altLang="en-US" sz="3600" dirty="0">
              <a:solidFill>
                <a:schemeClr val="tx2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69C2E85-8543-C6B7-DE20-086B5A249F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3842795"/>
            <a:ext cx="9143999" cy="276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3200" dirty="0">
                <a:latin typeface="+mn-lt"/>
                <a:ea typeface="黑体" pitchFamily="2" charset="-122"/>
              </a:rPr>
              <a:t>5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3200" dirty="0">
                <a:latin typeface="+mn-lt"/>
                <a:ea typeface="黑体" pitchFamily="2" charset="-122"/>
              </a:rPr>
              <a:t>6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32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6400FEE-A3C7-1D71-1396-ED13FC63AAF7}"/>
                  </a:ext>
                </a:extLst>
              </p14:cNvPr>
              <p14:cNvContentPartPr/>
              <p14:nvPr/>
            </p14:nvContentPartPr>
            <p14:xfrm>
              <a:off x="4829400" y="429480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6400FEE-A3C7-1D71-1396-ED13FC63AA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0040" y="428544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6AFD624-4376-09DE-7F4F-EE0121D088DF}"/>
                  </a:ext>
                </a:extLst>
              </p14:cNvPr>
              <p14:cNvContentPartPr/>
              <p14:nvPr/>
            </p14:nvContentPartPr>
            <p14:xfrm>
              <a:off x="7571160" y="3299040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6AFD624-4376-09DE-7F4F-EE0121D088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61800" y="32896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3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25F3C-137B-9640-B634-DE2B737C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期中考试情况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08B28-01DF-4245-B878-281136B4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984" y="1367817"/>
            <a:ext cx="8363415" cy="1832584"/>
          </a:xfrm>
        </p:spPr>
        <p:txBody>
          <a:bodyPr/>
          <a:lstStyle/>
          <a:p>
            <a:r>
              <a:rPr kumimoji="1" lang="zh-CN" altLang="en-US" sz="2400" dirty="0"/>
              <a:t>共</a:t>
            </a:r>
            <a:r>
              <a:rPr kumimoji="1" lang="en-US" altLang="zh-CN" sz="2400" dirty="0"/>
              <a:t>321</a:t>
            </a:r>
            <a:r>
              <a:rPr kumimoji="1" lang="zh-CN" altLang="en-US" sz="2400" dirty="0"/>
              <a:t>位同学参加考试，平均分</a:t>
            </a:r>
            <a:r>
              <a:rPr kumimoji="1" lang="en-US" altLang="zh-CN" sz="2400" dirty="0"/>
              <a:t>83.9</a:t>
            </a:r>
          </a:p>
          <a:p>
            <a:pPr lvl="1"/>
            <a:r>
              <a:rPr kumimoji="1" lang="zh-CN" altLang="en-US" sz="2000" dirty="0"/>
              <a:t>建议不要过度关注绝对分数，但请分析学习情况，欢迎交流讨论；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成绩本周发布到网络学堂，如需复查，请在</a:t>
            </a:r>
            <a:r>
              <a:rPr kumimoji="1" lang="en-US" altLang="zh-CN" sz="2000" dirty="0"/>
              <a:t>5</a:t>
            </a:r>
            <a:r>
              <a:rPr kumimoji="1" lang="zh-CN" altLang="en-US" sz="2000" dirty="0"/>
              <a:t>月</a:t>
            </a:r>
            <a:r>
              <a:rPr kumimoji="1" lang="en-US" altLang="zh-CN" sz="2000" dirty="0"/>
              <a:t>12</a:t>
            </a:r>
            <a:r>
              <a:rPr kumimoji="1" lang="zh-CN" altLang="en-US" sz="2000" dirty="0"/>
              <a:t>日之前向助教或授课老师</a:t>
            </a:r>
            <a:r>
              <a:rPr kumimoji="1" lang="en-US" altLang="zh-CN" sz="2000" dirty="0"/>
              <a:t>email</a:t>
            </a:r>
            <a:r>
              <a:rPr kumimoji="1" lang="zh-CN" altLang="en-US" sz="2000" dirty="0"/>
              <a:t>提出，之后试卷归档难以复查。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68A9E-225A-3145-87F1-D5704581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29855" y="6537054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/>
              <a:pPr/>
              <a:t>2</a:t>
            </a:fld>
            <a:endParaRPr lang="en-US" altLang="zh-CN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图表 4">
                <a:extLst>
                  <a:ext uri="{FF2B5EF4-FFF2-40B4-BE49-F238E27FC236}">
                    <a16:creationId xmlns:a16="http://schemas.microsoft.com/office/drawing/2014/main" id="{9E259DFA-94D8-D7C7-E4D7-B5506852C979}"/>
                  </a:ext>
                </a:extLst>
              </p:cNvPr>
              <p:cNvGraphicFramePr/>
              <p:nvPr/>
            </p:nvGraphicFramePr>
            <p:xfrm>
              <a:off x="892098" y="3200400"/>
              <a:ext cx="7794702" cy="357477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图表 4">
                <a:extLst>
                  <a:ext uri="{FF2B5EF4-FFF2-40B4-BE49-F238E27FC236}">
                    <a16:creationId xmlns:a16="http://schemas.microsoft.com/office/drawing/2014/main" id="{9E259DFA-94D8-D7C7-E4D7-B5506852C9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098" y="3200400"/>
                <a:ext cx="7794702" cy="35747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356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9BB4F-D3A4-744F-861D-695D3BE8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2D8F2A-D286-4947-A1D3-A3E82369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8226"/>
            <a:ext cx="8342243" cy="51550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0" dirty="0"/>
              <a:t>要求</a:t>
            </a:r>
            <a:endParaRPr lang="en-CN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b="0" dirty="0"/>
              <a:t>标记学号，姓名和班级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不要抄袭或迟交</a:t>
            </a:r>
            <a:endParaRPr lang="en-US" altLang="zh-CN" sz="2400" b="0" dirty="0"/>
          </a:p>
          <a:p>
            <a:pPr marL="457200" lvl="1" indent="0">
              <a:buNone/>
            </a:pPr>
            <a:endParaRPr lang="en-US" altLang="zh-CN" sz="2400" b="0" dirty="0"/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800" b="0" dirty="0">
                <a:latin typeface="Arial" panose="020B0604020202020204" pitchFamily="34" charset="0"/>
                <a:cs typeface="Arial" panose="020B0604020202020204" pitchFamily="34" charset="0"/>
              </a:rPr>
              <a:t>作业</a:t>
            </a:r>
            <a:endParaRPr lang="en-US" altLang="zh-CN" sz="2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b="0" dirty="0"/>
              <a:t>教材第</a:t>
            </a:r>
            <a:r>
              <a:rPr lang="en-US" altLang="zh-CN" sz="2400" b="0" dirty="0"/>
              <a:t>6</a:t>
            </a:r>
            <a:r>
              <a:rPr lang="zh-CN" altLang="en-US" sz="2400" b="0" dirty="0"/>
              <a:t>章课后习题第</a:t>
            </a:r>
            <a:r>
              <a:rPr lang="en-US" altLang="zh-CN" sz="2400" b="0" dirty="0"/>
              <a:t>7(2)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8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9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14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AFAC5-5C4E-BE41-9D27-AD3AC399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798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微体系结构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604ACD-5754-9F4F-AC2A-F5A8E2D5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A072-E7F7-460A-8CDA-1F33B6B9FE37}"/>
              </a:ext>
            </a:extLst>
          </p:cNvPr>
          <p:cNvCxnSpPr>
            <a:cxnSpLocks/>
          </p:cNvCxnSpPr>
          <p:nvPr/>
        </p:nvCxnSpPr>
        <p:spPr>
          <a:xfrm flipV="1">
            <a:off x="525583" y="3810457"/>
            <a:ext cx="0" cy="639149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C1EAB-A398-495E-B820-5463D7961843}"/>
              </a:ext>
            </a:extLst>
          </p:cNvPr>
          <p:cNvCxnSpPr>
            <a:cxnSpLocks/>
          </p:cNvCxnSpPr>
          <p:nvPr/>
        </p:nvCxnSpPr>
        <p:spPr>
          <a:xfrm>
            <a:off x="532184" y="5017479"/>
            <a:ext cx="0" cy="98104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1B781-19FA-4DB6-8601-5232956DD816}"/>
              </a:ext>
            </a:extLst>
          </p:cNvPr>
          <p:cNvCxnSpPr>
            <a:cxnSpLocks/>
          </p:cNvCxnSpPr>
          <p:nvPr/>
        </p:nvCxnSpPr>
        <p:spPr>
          <a:xfrm flipH="1" flipV="1">
            <a:off x="529916" y="1482390"/>
            <a:ext cx="6843" cy="97182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EA88E30F-39ED-47A2-B237-ACC2C6B2048C}"/>
              </a:ext>
            </a:extLst>
          </p:cNvPr>
          <p:cNvCxnSpPr>
            <a:cxnSpLocks/>
          </p:cNvCxnSpPr>
          <p:nvPr/>
        </p:nvCxnSpPr>
        <p:spPr>
          <a:xfrm>
            <a:off x="83118" y="3810457"/>
            <a:ext cx="122792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52807708-A919-4E61-A0DD-DF1CB0390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354335"/>
              </p:ext>
            </p:extLst>
          </p:nvPr>
        </p:nvGraphicFramePr>
        <p:xfrm>
          <a:off x="1231897" y="1482388"/>
          <a:ext cx="2867998" cy="4660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67998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操作系统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7615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计算机指令系统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i="0" kern="1200" dirty="0">
                          <a:solidFill>
                            <a:srgbClr val="0432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+mn-cs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CPU/DSP/…</a:t>
                      </a:r>
                      <a:endParaRPr lang="zh-CN" altLang="en-US" sz="2000" b="0" i="0" dirty="0">
                        <a:solidFill>
                          <a:schemeClr val="tx1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1" name="TextBox 25">
            <a:extLst>
              <a:ext uri="{FF2B5EF4-FFF2-40B4-BE49-F238E27FC236}">
                <a16:creationId xmlns:a16="http://schemas.microsoft.com/office/drawing/2014/main" id="{CE921038-380C-462D-8759-1D8F7FD316C6}"/>
              </a:ext>
            </a:extLst>
          </p:cNvPr>
          <p:cNvSpPr txBox="1"/>
          <p:nvPr/>
        </p:nvSpPr>
        <p:spPr>
          <a:xfrm>
            <a:off x="1804122" y="613164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计算机系统</a:t>
            </a:r>
          </a:p>
        </p:txBody>
      </p: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D9648051-9A30-43AB-B9F8-96D81F2207CB}"/>
              </a:ext>
            </a:extLst>
          </p:cNvPr>
          <p:cNvCxnSpPr>
            <a:cxnSpLocks/>
          </p:cNvCxnSpPr>
          <p:nvPr/>
        </p:nvCxnSpPr>
        <p:spPr>
          <a:xfrm>
            <a:off x="525583" y="3038525"/>
            <a:ext cx="0" cy="771932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BE731097-E7F9-4EBE-9269-4CD4F0A4BCD3}"/>
              </a:ext>
            </a:extLst>
          </p:cNvPr>
          <p:cNvSpPr txBox="1"/>
          <p:nvPr/>
        </p:nvSpPr>
        <p:spPr>
          <a:xfrm>
            <a:off x="187945" y="2568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4E8CDB25-D623-4634-8167-87F91560DAB2}"/>
              </a:ext>
            </a:extLst>
          </p:cNvPr>
          <p:cNvSpPr txBox="1"/>
          <p:nvPr/>
        </p:nvSpPr>
        <p:spPr>
          <a:xfrm>
            <a:off x="183375" y="45027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硬件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6F49525-5A17-4A02-5062-33ABBBF38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7338"/>
              </p:ext>
            </p:extLst>
          </p:nvPr>
        </p:nvGraphicFramePr>
        <p:xfrm>
          <a:off x="4336573" y="1482388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计算机指令系统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8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en-US" sz="1800" b="0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4/21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zh-CN" altLang="en-US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US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18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lt"/>
                          <a:ea typeface="+mn-ea"/>
                        </a:rPr>
                        <a:t>12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13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20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14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27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流水线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6/10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US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05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本节课学习目标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CB8E1B-309C-49FA-BE30-A05BB9B9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28814"/>
          </a:xfrm>
        </p:spPr>
        <p:txBody>
          <a:bodyPr/>
          <a:lstStyle/>
          <a:p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知识点：概念、原理和指标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多周期处理器基本指令的执行过程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多周期处理器的硬件模块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能力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掌握设计和分析多周期处理器的方法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掌握设计折衷和评估方法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思想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同步和结构化计算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折衷</a:t>
            </a: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CN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32C8BA1-8DD6-DE49-A5ED-CA8C2B6E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57649F7-6656-0551-F98C-D960DA66825B}"/>
                  </a:ext>
                </a:extLst>
              </p14:cNvPr>
              <p14:cNvContentPartPr/>
              <p14:nvPr/>
            </p14:nvContentPartPr>
            <p14:xfrm>
              <a:off x="1218240" y="1961640"/>
              <a:ext cx="3912840" cy="22579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57649F7-6656-0551-F98C-D960DA6682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8880" y="1952280"/>
                <a:ext cx="3931560" cy="22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88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b="0" dirty="0"/>
              <a:t>复习与回顾</a:t>
            </a:r>
            <a:endParaRPr lang="en-US" altLang="zh-CN" b="0" dirty="0"/>
          </a:p>
          <a:p>
            <a:pPr marL="342900" lvl="1" indent="-342900">
              <a:buFontTx/>
              <a:buChar char="•"/>
            </a:pPr>
            <a:r>
              <a:rPr lang="zh-CN" altLang="en-US" sz="3200" b="0" dirty="0">
                <a:cs typeface="+mn-cs"/>
              </a:rPr>
              <a:t>单周期数据通路设计流程</a:t>
            </a:r>
            <a:endParaRPr lang="en-US" altLang="zh-CN" sz="3200" b="0" dirty="0">
              <a:cs typeface="+mn-cs"/>
            </a:endParaRPr>
          </a:p>
          <a:p>
            <a:pPr lvl="1"/>
            <a:r>
              <a:rPr lang="zh-CN" altLang="en-US" sz="2400" b="0" dirty="0"/>
              <a:t>指令集和设计需求分析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功能模块设计</a:t>
            </a:r>
            <a:endParaRPr lang="en-US" altLang="zh-CN" b="0" dirty="0"/>
          </a:p>
          <a:p>
            <a:pPr lvl="1"/>
            <a:r>
              <a:rPr lang="zh-CN" altLang="en-US" sz="2400" b="0" dirty="0"/>
              <a:t>数据通路模块组装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控制信号分析与逻辑设计</a:t>
            </a:r>
            <a:endParaRPr lang="en-US" altLang="zh-CN" sz="2400" b="0" dirty="0"/>
          </a:p>
          <a:p>
            <a:r>
              <a:rPr lang="zh-CN" altLang="en-US" b="0" dirty="0">
                <a:solidFill>
                  <a:srgbClr val="3333FF"/>
                </a:solidFill>
              </a:rPr>
              <a:t>单周期数据通路延时分析</a:t>
            </a:r>
            <a:endParaRPr lang="en-US" altLang="zh-CN" b="0" dirty="0">
              <a:solidFill>
                <a:srgbClr val="3333FF"/>
              </a:solidFill>
            </a:endParaRPr>
          </a:p>
          <a:p>
            <a:r>
              <a:rPr lang="zh-CN" altLang="en-US" b="0" dirty="0"/>
              <a:t>多周期数据通路</a:t>
            </a:r>
            <a:endParaRPr lang="en-US" altLang="zh-CN" b="0" dirty="0"/>
          </a:p>
          <a:p>
            <a:r>
              <a:rPr lang="zh-CN" altLang="en-US" b="0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75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从零开始</a:t>
            </a:r>
            <a:r>
              <a:rPr lang="en-US" altLang="zh-CN" dirty="0"/>
              <a:t>:</a:t>
            </a:r>
            <a:r>
              <a:rPr lang="zh-CN" altLang="en-US" dirty="0"/>
              <a:t> 单周期数据通路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330" name="图片 329">
            <a:extLst>
              <a:ext uri="{FF2B5EF4-FFF2-40B4-BE49-F238E27FC236}">
                <a16:creationId xmlns:a16="http://schemas.microsoft.com/office/drawing/2014/main" id="{9963A2A0-B6C2-49F4-A484-A5561BBE577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16" y="1279525"/>
            <a:ext cx="8836257" cy="55197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82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成功实现</a:t>
            </a:r>
            <a:r>
              <a:rPr lang="en-US" altLang="zh-CN" dirty="0"/>
              <a:t>:</a:t>
            </a:r>
            <a:r>
              <a:rPr lang="zh-CN" altLang="en-US" dirty="0"/>
              <a:t> 单周期控制信号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179" name="Rectangle 3">
            <a:extLst>
              <a:ext uri="{FF2B5EF4-FFF2-40B4-BE49-F238E27FC236}">
                <a16:creationId xmlns:a16="http://schemas.microsoft.com/office/drawing/2014/main" id="{B279CB58-31E0-4A74-B07F-BAC72E1DF7BD}"/>
              </a:ext>
            </a:extLst>
          </p:cNvPr>
          <p:cNvSpPr/>
          <p:nvPr/>
        </p:nvSpPr>
        <p:spPr>
          <a:xfrm>
            <a:off x="1163638" y="1938225"/>
            <a:ext cx="6858000" cy="3179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2">
            <a:extLst>
              <a:ext uri="{FF2B5EF4-FFF2-40B4-BE49-F238E27FC236}">
                <a16:creationId xmlns:a16="http://schemas.microsoft.com/office/drawing/2014/main" id="{6BC76597-1450-44D1-8A05-61427A380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93187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181" name="Rectangle 3">
            <a:extLst>
              <a:ext uri="{FF2B5EF4-FFF2-40B4-BE49-F238E27FC236}">
                <a16:creationId xmlns:a16="http://schemas.microsoft.com/office/drawing/2014/main" id="{2EEAD1EC-32B0-4445-B3E1-BBEE9B2CD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931875"/>
            <a:ext cx="51296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</a:p>
        </p:txBody>
      </p:sp>
      <p:sp>
        <p:nvSpPr>
          <p:cNvPr id="182" name="Rectangle 4">
            <a:extLst>
              <a:ext uri="{FF2B5EF4-FFF2-40B4-BE49-F238E27FC236}">
                <a16:creationId xmlns:a16="http://schemas.microsoft.com/office/drawing/2014/main" id="{7FAE53D0-9628-45F3-8ADC-F42444D5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9318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Rectangle 5">
            <a:extLst>
              <a:ext uri="{FF2B5EF4-FFF2-40B4-BE49-F238E27FC236}">
                <a16:creationId xmlns:a16="http://schemas.microsoft.com/office/drawing/2014/main" id="{A94041A5-4574-4D80-BFA2-F382F11F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931875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</a:p>
        </p:txBody>
      </p:sp>
      <p:sp>
        <p:nvSpPr>
          <p:cNvPr id="184" name="Rectangle 6">
            <a:extLst>
              <a:ext uri="{FF2B5EF4-FFF2-40B4-BE49-F238E27FC236}">
                <a16:creationId xmlns:a16="http://schemas.microsoft.com/office/drawing/2014/main" id="{93B893E0-1164-4F8B-8D4D-775A38BBD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31875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</a:p>
        </p:txBody>
      </p:sp>
      <p:sp>
        <p:nvSpPr>
          <p:cNvPr id="185" name="Rectangle 7">
            <a:extLst>
              <a:ext uri="{FF2B5EF4-FFF2-40B4-BE49-F238E27FC236}">
                <a16:creationId xmlns:a16="http://schemas.microsoft.com/office/drawing/2014/main" id="{BE1EA5BE-A223-40BD-836E-C7495A3B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931875"/>
            <a:ext cx="52418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</a:p>
        </p:txBody>
      </p:sp>
      <p:sp>
        <p:nvSpPr>
          <p:cNvPr id="186" name="Rectangle 8">
            <a:extLst>
              <a:ext uri="{FF2B5EF4-FFF2-40B4-BE49-F238E27FC236}">
                <a16:creationId xmlns:a16="http://schemas.microsoft.com/office/drawing/2014/main" id="{82A0E090-144D-4571-9A28-2B0C2E546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31875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jump</a:t>
            </a:r>
          </a:p>
        </p:txBody>
      </p:sp>
      <p:sp>
        <p:nvSpPr>
          <p:cNvPr id="187" name="Rectangle 9">
            <a:extLst>
              <a:ext uri="{FF2B5EF4-FFF2-40B4-BE49-F238E27FC236}">
                <a16:creationId xmlns:a16="http://schemas.microsoft.com/office/drawing/2014/main" id="{1A854EB0-F81C-4746-8848-432FCB05E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236675"/>
            <a:ext cx="8656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RegDst</a:t>
            </a:r>
          </a:p>
        </p:txBody>
      </p:sp>
      <p:sp>
        <p:nvSpPr>
          <p:cNvPr id="188" name="Rectangle 10">
            <a:extLst>
              <a:ext uri="{FF2B5EF4-FFF2-40B4-BE49-F238E27FC236}">
                <a16:creationId xmlns:a16="http://schemas.microsoft.com/office/drawing/2014/main" id="{6C68AC7C-C1DB-454B-A339-45996EE6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541475"/>
            <a:ext cx="901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ALUSrc</a:t>
            </a:r>
          </a:p>
        </p:txBody>
      </p:sp>
      <p:sp>
        <p:nvSpPr>
          <p:cNvPr id="189" name="Rectangle 11">
            <a:extLst>
              <a:ext uri="{FF2B5EF4-FFF2-40B4-BE49-F238E27FC236}">
                <a16:creationId xmlns:a16="http://schemas.microsoft.com/office/drawing/2014/main" id="{DAC639D2-996C-4C60-974A-62EC240B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2846275"/>
            <a:ext cx="118622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MemtoReg</a:t>
            </a:r>
          </a:p>
        </p:txBody>
      </p:sp>
      <p:sp>
        <p:nvSpPr>
          <p:cNvPr id="190" name="Rectangle 12">
            <a:extLst>
              <a:ext uri="{FF2B5EF4-FFF2-40B4-BE49-F238E27FC236}">
                <a16:creationId xmlns:a16="http://schemas.microsoft.com/office/drawing/2014/main" id="{1C8198CE-F6D1-40B6-9114-FC9BCE15E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151075"/>
            <a:ext cx="1028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RegWrite</a:t>
            </a:r>
          </a:p>
        </p:txBody>
      </p:sp>
      <p:sp>
        <p:nvSpPr>
          <p:cNvPr id="191" name="Rectangle 13">
            <a:extLst>
              <a:ext uri="{FF2B5EF4-FFF2-40B4-BE49-F238E27FC236}">
                <a16:creationId xmlns:a16="http://schemas.microsoft.com/office/drawing/2014/main" id="{AFAEBFDD-337B-4592-AD60-0CAA1F7C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455875"/>
            <a:ext cx="1143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MemWrite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Rectangle 14">
            <a:extLst>
              <a:ext uri="{FF2B5EF4-FFF2-40B4-BE49-F238E27FC236}">
                <a16:creationId xmlns:a16="http://schemas.microsoft.com/office/drawing/2014/main" id="{AA5EEF95-DDCC-41A3-BAE1-871AAF54F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3760675"/>
            <a:ext cx="77425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PCSrc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Rectangle 15">
            <a:extLst>
              <a:ext uri="{FF2B5EF4-FFF2-40B4-BE49-F238E27FC236}">
                <a16:creationId xmlns:a16="http://schemas.microsoft.com/office/drawing/2014/main" id="{B50030AD-5E5E-482B-921E-70EDE0CB0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4348386"/>
            <a:ext cx="7572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ExtOp</a:t>
            </a:r>
          </a:p>
        </p:txBody>
      </p:sp>
      <p:sp>
        <p:nvSpPr>
          <p:cNvPr id="194" name="Rectangle 16">
            <a:extLst>
              <a:ext uri="{FF2B5EF4-FFF2-40B4-BE49-F238E27FC236}">
                <a16:creationId xmlns:a16="http://schemas.microsoft.com/office/drawing/2014/main" id="{522CA4CC-32E3-49DC-8B03-322AA83F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988" y="4653186"/>
            <a:ext cx="153888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Conf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&lt;2:0&gt;</a:t>
            </a:r>
          </a:p>
        </p:txBody>
      </p:sp>
      <p:sp>
        <p:nvSpPr>
          <p:cNvPr id="195" name="Line 17">
            <a:extLst>
              <a:ext uri="{FF2B5EF4-FFF2-40B4-BE49-F238E27FC236}">
                <a16:creationId xmlns:a16="http://schemas.microsoft.com/office/drawing/2014/main" id="{C4021322-0C33-411C-9C0C-C3581402B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25478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Line 18">
            <a:extLst>
              <a:ext uri="{FF2B5EF4-FFF2-40B4-BE49-F238E27FC236}">
                <a16:creationId xmlns:a16="http://schemas.microsoft.com/office/drawing/2014/main" id="{C8266370-79D3-4B4D-BF9A-E73C6064C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28526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Line 19">
            <a:extLst>
              <a:ext uri="{FF2B5EF4-FFF2-40B4-BE49-F238E27FC236}">
                <a16:creationId xmlns:a16="http://schemas.microsoft.com/office/drawing/2014/main" id="{F415DDFC-80D6-4F61-B3FD-1BADB2173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1574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Line 20">
            <a:extLst>
              <a:ext uri="{FF2B5EF4-FFF2-40B4-BE49-F238E27FC236}">
                <a16:creationId xmlns:a16="http://schemas.microsoft.com/office/drawing/2014/main" id="{BDD431BB-53F1-457A-8DA7-5335A4481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4622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Line 21">
            <a:extLst>
              <a:ext uri="{FF2B5EF4-FFF2-40B4-BE49-F238E27FC236}">
                <a16:creationId xmlns:a16="http://schemas.microsoft.com/office/drawing/2014/main" id="{A9CD9AB3-F1F7-44CE-A411-42E59CB0F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37670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Line 22">
            <a:extLst>
              <a:ext uri="{FF2B5EF4-FFF2-40B4-BE49-F238E27FC236}">
                <a16:creationId xmlns:a16="http://schemas.microsoft.com/office/drawing/2014/main" id="{DC3E1F47-9EDB-47A0-849F-E6D6299B3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392836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Line 23">
            <a:extLst>
              <a:ext uri="{FF2B5EF4-FFF2-40B4-BE49-F238E27FC236}">
                <a16:creationId xmlns:a16="http://schemas.microsoft.com/office/drawing/2014/main" id="{47817306-FE19-461F-A145-71FBADAAE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092087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Line 24">
            <a:extLst>
              <a:ext uri="{FF2B5EF4-FFF2-40B4-BE49-F238E27FC236}">
                <a16:creationId xmlns:a16="http://schemas.microsoft.com/office/drawing/2014/main" id="{112A37F9-3582-42EB-8BC7-7F68A9AFE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659536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Line 26">
            <a:extLst>
              <a:ext uri="{FF2B5EF4-FFF2-40B4-BE49-F238E27FC236}">
                <a16:creationId xmlns:a16="http://schemas.microsoft.com/office/drawing/2014/main" id="{5352677B-1630-4BE9-8652-BCAE5A2B1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4955371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Line 28">
            <a:extLst>
              <a:ext uri="{FF2B5EF4-FFF2-40B4-BE49-F238E27FC236}">
                <a16:creationId xmlns:a16="http://schemas.microsoft.com/office/drawing/2014/main" id="{F703B78E-E2F9-4616-8E57-999037F18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6338" y="1938225"/>
            <a:ext cx="683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25D0B-295D-8B82-B217-0E44B7689EF0}"/>
              </a:ext>
            </a:extLst>
          </p:cNvPr>
          <p:cNvGrpSpPr/>
          <p:nvPr/>
        </p:nvGrpSpPr>
        <p:grpSpPr>
          <a:xfrm>
            <a:off x="2687638" y="1925524"/>
            <a:ext cx="4572000" cy="3045161"/>
            <a:chOff x="2687638" y="1925525"/>
            <a:chExt cx="4572000" cy="2734010"/>
          </a:xfrm>
        </p:grpSpPr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F9FB57E5-92F5-43F7-964E-3CA9346BD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7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Line 29">
              <a:extLst>
                <a:ext uri="{FF2B5EF4-FFF2-40B4-BE49-F238E27FC236}">
                  <a16:creationId xmlns:a16="http://schemas.microsoft.com/office/drawing/2014/main" id="{A67ED16D-4531-4E8C-ABAF-2CAAAA9DB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9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Line 30">
              <a:extLst>
                <a:ext uri="{FF2B5EF4-FFF2-40B4-BE49-F238E27FC236}">
                  <a16:creationId xmlns:a16="http://schemas.microsoft.com/office/drawing/2014/main" id="{29A96761-5792-4C7E-89E6-7367537AC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1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Line 31">
              <a:extLst>
                <a:ext uri="{FF2B5EF4-FFF2-40B4-BE49-F238E27FC236}">
                  <a16:creationId xmlns:a16="http://schemas.microsoft.com/office/drawing/2014/main" id="{1FA5046E-4DAB-44E6-9787-862C3E9FE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3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Line 32">
              <a:extLst>
                <a:ext uri="{FF2B5EF4-FFF2-40B4-BE49-F238E27FC236}">
                  <a16:creationId xmlns:a16="http://schemas.microsoft.com/office/drawing/2014/main" id="{1D207210-AA2C-4716-9053-2FFFDF2C5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5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Line 33">
              <a:extLst>
                <a:ext uri="{FF2B5EF4-FFF2-40B4-BE49-F238E27FC236}">
                  <a16:creationId xmlns:a16="http://schemas.microsoft.com/office/drawing/2014/main" id="{26269491-3069-44E0-B323-E38543A43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97638" y="1952820"/>
              <a:ext cx="0" cy="2706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Line 34">
              <a:extLst>
                <a:ext uri="{FF2B5EF4-FFF2-40B4-BE49-F238E27FC236}">
                  <a16:creationId xmlns:a16="http://schemas.microsoft.com/office/drawing/2014/main" id="{5426FB08-ABBC-479B-B802-9F4C5735C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9638" y="1925525"/>
              <a:ext cx="0" cy="271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3" name="Line 35">
            <a:extLst>
              <a:ext uri="{FF2B5EF4-FFF2-40B4-BE49-F238E27FC236}">
                <a16:creationId xmlns:a16="http://schemas.microsoft.com/office/drawing/2014/main" id="{14F10CB4-3884-448C-BCDB-B8B10632DD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1638" y="1925524"/>
            <a:ext cx="0" cy="30388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Line 36">
            <a:extLst>
              <a:ext uri="{FF2B5EF4-FFF2-40B4-BE49-F238E27FC236}">
                <a16:creationId xmlns:a16="http://schemas.microsoft.com/office/drawing/2014/main" id="{8915DC51-6095-45BB-91B7-A069EE4DF8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3638" y="1950925"/>
            <a:ext cx="0" cy="301976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Rectangle 37">
            <a:extLst>
              <a:ext uri="{FF2B5EF4-FFF2-40B4-BE49-F238E27FC236}">
                <a16:creationId xmlns:a16="http://schemas.microsoft.com/office/drawing/2014/main" id="{1434AC18-AD38-4440-A249-9726F4D86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6" name="Rectangle 38">
            <a:extLst>
              <a:ext uri="{FF2B5EF4-FFF2-40B4-BE49-F238E27FC236}">
                <a16:creationId xmlns:a16="http://schemas.microsoft.com/office/drawing/2014/main" id="{63C4EE9D-4F3F-45AC-884E-39A7F2A52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7" name="Rectangle 39">
            <a:extLst>
              <a:ext uri="{FF2B5EF4-FFF2-40B4-BE49-F238E27FC236}">
                <a16:creationId xmlns:a16="http://schemas.microsoft.com/office/drawing/2014/main" id="{E990767B-9FD9-4FCD-ACA7-0BDE35CE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8" name="Rectangle 40">
            <a:extLst>
              <a:ext uri="{FF2B5EF4-FFF2-40B4-BE49-F238E27FC236}">
                <a16:creationId xmlns:a16="http://schemas.microsoft.com/office/drawing/2014/main" id="{A0644EFC-1060-4578-9D7F-5905A0349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9" name="Rectangle 41">
            <a:extLst>
              <a:ext uri="{FF2B5EF4-FFF2-40B4-BE49-F238E27FC236}">
                <a16:creationId xmlns:a16="http://schemas.microsoft.com/office/drawing/2014/main" id="{F1D7A2DD-AC94-41C7-B078-9896F11A7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0" name="Rectangle 42">
            <a:extLst>
              <a:ext uri="{FF2B5EF4-FFF2-40B4-BE49-F238E27FC236}">
                <a16:creationId xmlns:a16="http://schemas.microsoft.com/office/drawing/2014/main" id="{44BE8D26-5750-412C-8D7B-0089CD53C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1" name="Rectangle 43">
            <a:extLst>
              <a:ext uri="{FF2B5EF4-FFF2-40B4-BE49-F238E27FC236}">
                <a16:creationId xmlns:a16="http://schemas.microsoft.com/office/drawing/2014/main" id="{22B7BC22-82F3-43C7-90AB-B1FD6A062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22" name="Rectangle 44">
            <a:extLst>
              <a:ext uri="{FF2B5EF4-FFF2-40B4-BE49-F238E27FC236}">
                <a16:creationId xmlns:a16="http://schemas.microsoft.com/office/drawing/2014/main" id="{2FBBC0EA-8562-4630-9740-E3DB43C2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23" name="Rectangle 45">
            <a:extLst>
              <a:ext uri="{FF2B5EF4-FFF2-40B4-BE49-F238E27FC236}">
                <a16:creationId xmlns:a16="http://schemas.microsoft.com/office/drawing/2014/main" id="{498D93A8-1B53-46A7-B797-203E77C3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4" name="Rectangle 46">
            <a:extLst>
              <a:ext uri="{FF2B5EF4-FFF2-40B4-BE49-F238E27FC236}">
                <a16:creationId xmlns:a16="http://schemas.microsoft.com/office/drawing/2014/main" id="{1F1597E8-1567-4C0A-B880-B7FCB785F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5" name="Rectangle 47">
            <a:extLst>
              <a:ext uri="{FF2B5EF4-FFF2-40B4-BE49-F238E27FC236}">
                <a16:creationId xmlns:a16="http://schemas.microsoft.com/office/drawing/2014/main" id="{C24E6084-4659-4E0D-BD1A-C29470E8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6" name="Rectangle 48">
            <a:extLst>
              <a:ext uri="{FF2B5EF4-FFF2-40B4-BE49-F238E27FC236}">
                <a16:creationId xmlns:a16="http://schemas.microsoft.com/office/drawing/2014/main" id="{1E5CA5E4-6624-49D5-883B-743185D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7" name="Rectangle 49">
            <a:extLst>
              <a:ext uri="{FF2B5EF4-FFF2-40B4-BE49-F238E27FC236}">
                <a16:creationId xmlns:a16="http://schemas.microsoft.com/office/drawing/2014/main" id="{C3128BA2-1C28-4887-9A72-BD4E48784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8" name="Rectangle 50">
            <a:extLst>
              <a:ext uri="{FF2B5EF4-FFF2-40B4-BE49-F238E27FC236}">
                <a16:creationId xmlns:a16="http://schemas.microsoft.com/office/drawing/2014/main" id="{38DF7BDA-47C5-4233-8E91-BAD8375C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9" name="Rectangle 51">
            <a:extLst>
              <a:ext uri="{FF2B5EF4-FFF2-40B4-BE49-F238E27FC236}">
                <a16:creationId xmlns:a16="http://schemas.microsoft.com/office/drawing/2014/main" id="{C28BED51-2740-46FB-86A8-A2AF80D5A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30" name="Rectangle 52">
            <a:extLst>
              <a:ext uri="{FF2B5EF4-FFF2-40B4-BE49-F238E27FC236}">
                <a16:creationId xmlns:a16="http://schemas.microsoft.com/office/drawing/2014/main" id="{57D432D7-10B9-4BC1-9D09-FE1FA1C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043" y="4653186"/>
            <a:ext cx="9473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Subtract</a:t>
            </a:r>
          </a:p>
        </p:txBody>
      </p:sp>
      <p:sp>
        <p:nvSpPr>
          <p:cNvPr id="231" name="Rectangle 53">
            <a:extLst>
              <a:ext uri="{FF2B5EF4-FFF2-40B4-BE49-F238E27FC236}">
                <a16:creationId xmlns:a16="http://schemas.microsoft.com/office/drawing/2014/main" id="{2EE08A0D-866E-4C70-8785-F8A78836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2" name="Rectangle 54">
            <a:extLst>
              <a:ext uri="{FF2B5EF4-FFF2-40B4-BE49-F238E27FC236}">
                <a16:creationId xmlns:a16="http://schemas.microsoft.com/office/drawing/2014/main" id="{4BF35BC5-A48C-407E-AB51-C920DF9EA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3" name="Rectangle 55">
            <a:extLst>
              <a:ext uri="{FF2B5EF4-FFF2-40B4-BE49-F238E27FC236}">
                <a16:creationId xmlns:a16="http://schemas.microsoft.com/office/drawing/2014/main" id="{9F96C7D5-32DF-4EBC-B174-80465864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4" name="Rectangle 56">
            <a:extLst>
              <a:ext uri="{FF2B5EF4-FFF2-40B4-BE49-F238E27FC236}">
                <a16:creationId xmlns:a16="http://schemas.microsoft.com/office/drawing/2014/main" id="{7C34E674-BCDE-4EAC-9162-39611F961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Rectangle 57">
            <a:extLst>
              <a:ext uri="{FF2B5EF4-FFF2-40B4-BE49-F238E27FC236}">
                <a16:creationId xmlns:a16="http://schemas.microsoft.com/office/drawing/2014/main" id="{7422DD93-3E8A-4E55-872F-336610E43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6" name="Rectangle 58">
            <a:extLst>
              <a:ext uri="{FF2B5EF4-FFF2-40B4-BE49-F238E27FC236}">
                <a16:creationId xmlns:a16="http://schemas.microsoft.com/office/drawing/2014/main" id="{113E90B1-44CA-442F-A110-F693C12BD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7" name="Rectangle 59">
            <a:extLst>
              <a:ext uri="{FF2B5EF4-FFF2-40B4-BE49-F238E27FC236}">
                <a16:creationId xmlns:a16="http://schemas.microsoft.com/office/drawing/2014/main" id="{D776C452-2F2F-4C3F-BBCD-56CA0CDB9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8" name="Rectangle 60">
            <a:extLst>
              <a:ext uri="{FF2B5EF4-FFF2-40B4-BE49-F238E27FC236}">
                <a16:creationId xmlns:a16="http://schemas.microsoft.com/office/drawing/2014/main" id="{30E63245-19E3-41FB-8606-7E72BEA4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653186"/>
            <a:ext cx="41197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</p:txBody>
      </p:sp>
      <p:sp>
        <p:nvSpPr>
          <p:cNvPr id="239" name="Rectangle 61">
            <a:extLst>
              <a:ext uri="{FF2B5EF4-FFF2-40B4-BE49-F238E27FC236}">
                <a16:creationId xmlns:a16="http://schemas.microsoft.com/office/drawing/2014/main" id="{0486A7EB-491A-445A-AEA3-C525048A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236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0" name="Rectangle 62">
            <a:extLst>
              <a:ext uri="{FF2B5EF4-FFF2-40B4-BE49-F238E27FC236}">
                <a16:creationId xmlns:a16="http://schemas.microsoft.com/office/drawing/2014/main" id="{F14A4B7A-178A-41C3-9AA9-C9F4290F3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1" name="Rectangle 63">
            <a:extLst>
              <a:ext uri="{FF2B5EF4-FFF2-40B4-BE49-F238E27FC236}">
                <a16:creationId xmlns:a16="http://schemas.microsoft.com/office/drawing/2014/main" id="{690B3E0A-15FE-4069-B94B-88F34284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462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2" name="Rectangle 64">
            <a:extLst>
              <a:ext uri="{FF2B5EF4-FFF2-40B4-BE49-F238E27FC236}">
                <a16:creationId xmlns:a16="http://schemas.microsoft.com/office/drawing/2014/main" id="{D63B7C1F-9B78-4252-8738-B503E70C6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3" name="Rectangle 65">
            <a:extLst>
              <a:ext uri="{FF2B5EF4-FFF2-40B4-BE49-F238E27FC236}">
                <a16:creationId xmlns:a16="http://schemas.microsoft.com/office/drawing/2014/main" id="{5DEEC5F2-36AE-4058-8DAC-C422CCF7D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4" name="Rectangle 66">
            <a:extLst>
              <a:ext uri="{FF2B5EF4-FFF2-40B4-BE49-F238E27FC236}">
                <a16:creationId xmlns:a16="http://schemas.microsoft.com/office/drawing/2014/main" id="{38E69B1B-DD81-4B48-965C-6A923EEC7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5" name="Rectangle 67">
            <a:extLst>
              <a:ext uri="{FF2B5EF4-FFF2-40B4-BE49-F238E27FC236}">
                <a16:creationId xmlns:a16="http://schemas.microsoft.com/office/drawing/2014/main" id="{0D91AE8E-1955-45EC-844B-92D8B0F8E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6" name="Rectangle 68">
            <a:extLst>
              <a:ext uri="{FF2B5EF4-FFF2-40B4-BE49-F238E27FC236}">
                <a16:creationId xmlns:a16="http://schemas.microsoft.com/office/drawing/2014/main" id="{1A2DC5BE-52F1-400D-B6DD-D0245C690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47" name="Rectangle 69">
            <a:extLst>
              <a:ext uri="{FF2B5EF4-FFF2-40B4-BE49-F238E27FC236}">
                <a16:creationId xmlns:a16="http://schemas.microsoft.com/office/drawing/2014/main" id="{94A1FCB5-33AA-4C84-AE8E-C55CB3EC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48" name="Rectangle 70">
            <a:extLst>
              <a:ext uri="{FF2B5EF4-FFF2-40B4-BE49-F238E27FC236}">
                <a16:creationId xmlns:a16="http://schemas.microsoft.com/office/drawing/2014/main" id="{0D818731-7899-4974-9F33-23D7A2DE3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9" name="Rectangle 71">
            <a:extLst>
              <a:ext uri="{FF2B5EF4-FFF2-40B4-BE49-F238E27FC236}">
                <a16:creationId xmlns:a16="http://schemas.microsoft.com/office/drawing/2014/main" id="{77DE187D-0023-4ABD-8D39-3672693E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0" name="Rectangle 72">
            <a:extLst>
              <a:ext uri="{FF2B5EF4-FFF2-40B4-BE49-F238E27FC236}">
                <a16:creationId xmlns:a16="http://schemas.microsoft.com/office/drawing/2014/main" id="{567E55B6-D44F-4295-92F8-3059017C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1" name="Rectangle 73">
            <a:extLst>
              <a:ext uri="{FF2B5EF4-FFF2-40B4-BE49-F238E27FC236}">
                <a16:creationId xmlns:a16="http://schemas.microsoft.com/office/drawing/2014/main" id="{3953F9AC-41B8-4D92-A8E8-8C8C6322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2" name="Rectangle 74">
            <a:extLst>
              <a:ext uri="{FF2B5EF4-FFF2-40B4-BE49-F238E27FC236}">
                <a16:creationId xmlns:a16="http://schemas.microsoft.com/office/drawing/2014/main" id="{663CBDA9-D16A-4687-91B1-688C107A2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606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3" name="Rectangle 75">
            <a:extLst>
              <a:ext uri="{FF2B5EF4-FFF2-40B4-BE49-F238E27FC236}">
                <a16:creationId xmlns:a16="http://schemas.microsoft.com/office/drawing/2014/main" id="{608C0F9C-D730-4643-80DB-A9004162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A4D8769F-6224-4F10-AD67-3B966EAAC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653186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</a:p>
        </p:txBody>
      </p:sp>
      <p:sp>
        <p:nvSpPr>
          <p:cNvPr id="255" name="Rectangle 77">
            <a:extLst>
              <a:ext uri="{FF2B5EF4-FFF2-40B4-BE49-F238E27FC236}">
                <a16:creationId xmlns:a16="http://schemas.microsoft.com/office/drawing/2014/main" id="{1F0E21DF-BA01-4942-8C58-77CD737E2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6" name="Rectangle 78">
            <a:extLst>
              <a:ext uri="{FF2B5EF4-FFF2-40B4-BE49-F238E27FC236}">
                <a16:creationId xmlns:a16="http://schemas.microsoft.com/office/drawing/2014/main" id="{FFB72DFA-DE3F-45D6-8481-8E27DB49E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5414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7" name="Rectangle 79">
            <a:extLst>
              <a:ext uri="{FF2B5EF4-FFF2-40B4-BE49-F238E27FC236}">
                <a16:creationId xmlns:a16="http://schemas.microsoft.com/office/drawing/2014/main" id="{B26F1AF7-DB67-426E-9494-ECF8FE8D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58" name="Rectangle 80">
            <a:extLst>
              <a:ext uri="{FF2B5EF4-FFF2-40B4-BE49-F238E27FC236}">
                <a16:creationId xmlns:a16="http://schemas.microsoft.com/office/drawing/2014/main" id="{613F0B6C-24AF-4455-B026-73A5C25F1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9" name="Rectangle 81">
            <a:extLst>
              <a:ext uri="{FF2B5EF4-FFF2-40B4-BE49-F238E27FC236}">
                <a16:creationId xmlns:a16="http://schemas.microsoft.com/office/drawing/2014/main" id="{6C8CBF7C-1895-45F3-BE68-FCDD6EA3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0" name="Rectangle 82">
            <a:extLst>
              <a:ext uri="{FF2B5EF4-FFF2-40B4-BE49-F238E27FC236}">
                <a16:creationId xmlns:a16="http://schemas.microsoft.com/office/drawing/2014/main" id="{5BB6ED4F-AB40-49B7-982E-12E56AA54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38" y="3751557"/>
            <a:ext cx="7518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</a:p>
        </p:txBody>
      </p:sp>
      <p:sp>
        <p:nvSpPr>
          <p:cNvPr id="261" name="Rectangle 83">
            <a:extLst>
              <a:ext uri="{FF2B5EF4-FFF2-40B4-BE49-F238E27FC236}">
                <a16:creationId xmlns:a16="http://schemas.microsoft.com/office/drawing/2014/main" id="{95F5D0F1-C4FB-4A10-8D5B-06A94A32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348386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2" name="Rectangle 84">
            <a:extLst>
              <a:ext uri="{FF2B5EF4-FFF2-40B4-BE49-F238E27FC236}">
                <a16:creationId xmlns:a16="http://schemas.microsoft.com/office/drawing/2014/main" id="{4CE374F9-FF46-4496-B6A6-F676613E3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455" y="4669061"/>
            <a:ext cx="94737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Subtract</a:t>
            </a:r>
          </a:p>
        </p:txBody>
      </p:sp>
      <p:sp>
        <p:nvSpPr>
          <p:cNvPr id="263" name="Rectangle 85">
            <a:extLst>
              <a:ext uri="{FF2B5EF4-FFF2-40B4-BE49-F238E27FC236}">
                <a16:creationId xmlns:a16="http://schemas.microsoft.com/office/drawing/2014/main" id="{F7D02FAF-939F-45A4-9B93-C9417B43A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236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4" name="Rectangle 86">
            <a:extLst>
              <a:ext uri="{FF2B5EF4-FFF2-40B4-BE49-F238E27FC236}">
                <a16:creationId xmlns:a16="http://schemas.microsoft.com/office/drawing/2014/main" id="{3B18E8E6-5424-4F77-91A0-27BE0DC87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414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5" name="Rectangle 87">
            <a:extLst>
              <a:ext uri="{FF2B5EF4-FFF2-40B4-BE49-F238E27FC236}">
                <a16:creationId xmlns:a16="http://schemas.microsoft.com/office/drawing/2014/main" id="{E1FF2B0B-401D-498F-80B8-82B682B0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8462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6" name="Rectangle 88">
            <a:extLst>
              <a:ext uri="{FF2B5EF4-FFF2-40B4-BE49-F238E27FC236}">
                <a16:creationId xmlns:a16="http://schemas.microsoft.com/office/drawing/2014/main" id="{909CFE65-AE9C-4822-9245-B89EE400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1510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7" name="Rectangle 89">
            <a:extLst>
              <a:ext uri="{FF2B5EF4-FFF2-40B4-BE49-F238E27FC236}">
                <a16:creationId xmlns:a16="http://schemas.microsoft.com/office/drawing/2014/main" id="{51F36351-4995-4618-B90D-915C3D6FD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455875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8" name="Rectangle 90">
            <a:extLst>
              <a:ext uri="{FF2B5EF4-FFF2-40B4-BE49-F238E27FC236}">
                <a16:creationId xmlns:a16="http://schemas.microsoft.com/office/drawing/2014/main" id="{66CF5495-9550-43DA-A016-CFB38BE2E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760675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69" name="Rectangle 91">
            <a:extLst>
              <a:ext uri="{FF2B5EF4-FFF2-40B4-BE49-F238E27FC236}">
                <a16:creationId xmlns:a16="http://schemas.microsoft.com/office/drawing/2014/main" id="{41719BC3-A805-493A-939B-CB6465CDC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348386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70" name="Rectangle 92">
            <a:extLst>
              <a:ext uri="{FF2B5EF4-FFF2-40B4-BE49-F238E27FC236}">
                <a16:creationId xmlns:a16="http://schemas.microsoft.com/office/drawing/2014/main" id="{AF86C6D0-C4BC-41FD-855F-086DC2FE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653186"/>
            <a:ext cx="4905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sp>
        <p:nvSpPr>
          <p:cNvPr id="271" name="Line 93">
            <a:extLst>
              <a:ext uri="{FF2B5EF4-FFF2-40B4-BE49-F238E27FC236}">
                <a16:creationId xmlns:a16="http://schemas.microsoft.com/office/drawing/2014/main" id="{41A3F198-8F38-45CF-B3F1-9DEE02C6B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1633425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2" name="Group 94">
            <a:extLst>
              <a:ext uri="{FF2B5EF4-FFF2-40B4-BE49-F238E27FC236}">
                <a16:creationId xmlns:a16="http://schemas.microsoft.com/office/drawing/2014/main" id="{4D363A14-06DC-4309-B3AC-4CE0E7EA542B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5060195"/>
            <a:ext cx="8528050" cy="1555750"/>
            <a:chOff x="323" y="3068"/>
            <a:chExt cx="5372" cy="980"/>
          </a:xfrm>
        </p:grpSpPr>
        <p:grpSp>
          <p:nvGrpSpPr>
            <p:cNvPr id="273" name="Group 95">
              <a:extLst>
                <a:ext uri="{FF2B5EF4-FFF2-40B4-BE49-F238E27FC236}">
                  <a16:creationId xmlns:a16="http://schemas.microsoft.com/office/drawing/2014/main" id="{58B695F1-6510-412A-9209-E10D209F52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836"/>
              <a:ext cx="3832" cy="212"/>
              <a:chOff x="868" y="3836"/>
              <a:chExt cx="3832" cy="212"/>
            </a:xfrm>
          </p:grpSpPr>
          <p:sp>
            <p:nvSpPr>
              <p:cNvPr id="322" name="Rectangle 96">
                <a:extLst>
                  <a:ext uri="{FF2B5EF4-FFF2-40B4-BE49-F238E27FC236}">
                    <a16:creationId xmlns:a16="http://schemas.microsoft.com/office/drawing/2014/main" id="{11624CC2-987B-48F2-BE7B-D744FA99F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3848"/>
                <a:ext cx="382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3" name="Group 97">
                <a:extLst>
                  <a:ext uri="{FF2B5EF4-FFF2-40B4-BE49-F238E27FC236}">
                    <a16:creationId xmlns:a16="http://schemas.microsoft.com/office/drawing/2014/main" id="{DCD00F39-F5D3-4C71-AFE6-B00AF734EE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836"/>
                <a:ext cx="664" cy="212"/>
                <a:chOff x="868" y="3836"/>
                <a:chExt cx="664" cy="212"/>
              </a:xfrm>
            </p:grpSpPr>
            <p:sp>
              <p:nvSpPr>
                <p:cNvPr id="326" name="Rectangle 98">
                  <a:extLst>
                    <a:ext uri="{FF2B5EF4-FFF2-40B4-BE49-F238E27FC236}">
                      <a16:creationId xmlns:a16="http://schemas.microsoft.com/office/drawing/2014/main" id="{E817A835-8A1E-4563-AA26-67BAB90C37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8" y="3844"/>
                  <a:ext cx="66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7" name="Rectangle 99">
                  <a:extLst>
                    <a:ext uri="{FF2B5EF4-FFF2-40B4-BE49-F238E27FC236}">
                      <a16:creationId xmlns:a16="http://schemas.microsoft.com/office/drawing/2014/main" id="{4F10F29B-7C6A-4BFA-9804-ABD7EF7EA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3836"/>
                  <a:ext cx="2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op</a:t>
                  </a:r>
                </a:p>
              </p:txBody>
            </p:sp>
          </p:grpSp>
          <p:sp>
            <p:nvSpPr>
              <p:cNvPr id="324" name="Rectangle 100">
                <a:extLst>
                  <a:ext uri="{FF2B5EF4-FFF2-40B4-BE49-F238E27FC236}">
                    <a16:creationId xmlns:a16="http://schemas.microsoft.com/office/drawing/2014/main" id="{2F64D7BB-7E93-473F-97DF-90A6F7C87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" y="3844"/>
                <a:ext cx="316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5" name="Rectangle 101">
                <a:extLst>
                  <a:ext uri="{FF2B5EF4-FFF2-40B4-BE49-F238E27FC236}">
                    <a16:creationId xmlns:a16="http://schemas.microsoft.com/office/drawing/2014/main" id="{72C79B03-6E8B-4359-9B00-E4C4BB474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2" y="3836"/>
                <a:ext cx="94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target address</a:t>
                </a:r>
              </a:p>
            </p:txBody>
          </p:sp>
        </p:grpSp>
        <p:grpSp>
          <p:nvGrpSpPr>
            <p:cNvPr id="274" name="Group 102">
              <a:extLst>
                <a:ext uri="{FF2B5EF4-FFF2-40B4-BE49-F238E27FC236}">
                  <a16:creationId xmlns:a16="http://schemas.microsoft.com/office/drawing/2014/main" id="{FDEE051B-C4D6-443E-A3FD-1FC5C6A8D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" y="3068"/>
              <a:ext cx="3979" cy="404"/>
              <a:chOff x="803" y="3068"/>
              <a:chExt cx="3979" cy="404"/>
            </a:xfrm>
          </p:grpSpPr>
          <p:grpSp>
            <p:nvGrpSpPr>
              <p:cNvPr id="294" name="Group 103">
                <a:extLst>
                  <a:ext uri="{FF2B5EF4-FFF2-40B4-BE49-F238E27FC236}">
                    <a16:creationId xmlns:a16="http://schemas.microsoft.com/office/drawing/2014/main" id="{D8A0FBB7-A69C-4B6B-8605-B036465FBC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260"/>
                <a:ext cx="3832" cy="212"/>
                <a:chOff x="868" y="3260"/>
                <a:chExt cx="3832" cy="212"/>
              </a:xfrm>
            </p:grpSpPr>
            <p:sp>
              <p:nvSpPr>
                <p:cNvPr id="302" name="Rectangle 104">
                  <a:extLst>
                    <a:ext uri="{FF2B5EF4-FFF2-40B4-BE49-F238E27FC236}">
                      <a16:creationId xmlns:a16="http://schemas.microsoft.com/office/drawing/2014/main" id="{AB6AAC26-9E28-4ED4-9517-DE689FEE6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2" y="3272"/>
                  <a:ext cx="382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03" name="Group 105">
                  <a:extLst>
                    <a:ext uri="{FF2B5EF4-FFF2-40B4-BE49-F238E27FC236}">
                      <a16:creationId xmlns:a16="http://schemas.microsoft.com/office/drawing/2014/main" id="{FECE9713-8D08-4C18-A3D7-30398D73DB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8" y="3260"/>
                  <a:ext cx="3832" cy="212"/>
                  <a:chOff x="868" y="3260"/>
                  <a:chExt cx="3832" cy="212"/>
                </a:xfrm>
              </p:grpSpPr>
              <p:grpSp>
                <p:nvGrpSpPr>
                  <p:cNvPr id="304" name="Group 106">
                    <a:extLst>
                      <a:ext uri="{FF2B5EF4-FFF2-40B4-BE49-F238E27FC236}">
                        <a16:creationId xmlns:a16="http://schemas.microsoft.com/office/drawing/2014/main" id="{4CAF5A79-F3A8-4A43-A2D5-ADC1135CE4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68" y="3260"/>
                    <a:ext cx="664" cy="212"/>
                    <a:chOff x="868" y="3260"/>
                    <a:chExt cx="664" cy="212"/>
                  </a:xfrm>
                </p:grpSpPr>
                <p:sp>
                  <p:nvSpPr>
                    <p:cNvPr id="320" name="Rectangle 107">
                      <a:extLst>
                        <a:ext uri="{FF2B5EF4-FFF2-40B4-BE49-F238E27FC236}">
                          <a16:creationId xmlns:a16="http://schemas.microsoft.com/office/drawing/2014/main" id="{93791F05-4235-4B55-8C2F-11DC7FB9D3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8" y="326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1" name="Rectangle 108">
                      <a:extLst>
                        <a:ext uri="{FF2B5EF4-FFF2-40B4-BE49-F238E27FC236}">
                          <a16:creationId xmlns:a16="http://schemas.microsoft.com/office/drawing/2014/main" id="{BA10AA9A-94B1-4DD6-A97D-CC202E9D5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3260"/>
                      <a:ext cx="259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305" name="Group 109">
                    <a:extLst>
                      <a:ext uri="{FF2B5EF4-FFF2-40B4-BE49-F238E27FC236}">
                        <a16:creationId xmlns:a16="http://schemas.microsoft.com/office/drawing/2014/main" id="{903699B0-E589-4369-B036-AFCB421362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40" y="3260"/>
                    <a:ext cx="616" cy="212"/>
                    <a:chOff x="1540" y="3260"/>
                    <a:chExt cx="616" cy="212"/>
                  </a:xfrm>
                </p:grpSpPr>
                <p:sp>
                  <p:nvSpPr>
                    <p:cNvPr id="318" name="Rectangle 110">
                      <a:extLst>
                        <a:ext uri="{FF2B5EF4-FFF2-40B4-BE49-F238E27FC236}">
                          <a16:creationId xmlns:a16="http://schemas.microsoft.com/office/drawing/2014/main" id="{11542D0A-8230-4F24-881A-64807E51EE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40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9" name="Rectangle 111">
                      <a:extLst>
                        <a:ext uri="{FF2B5EF4-FFF2-40B4-BE49-F238E27FC236}">
                          <a16:creationId xmlns:a16="http://schemas.microsoft.com/office/drawing/2014/main" id="{8C442A2E-1B48-426A-8A03-FB85BD2ADD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15" y="3260"/>
                      <a:ext cx="223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306" name="Group 112">
                    <a:extLst>
                      <a:ext uri="{FF2B5EF4-FFF2-40B4-BE49-F238E27FC236}">
                        <a16:creationId xmlns:a16="http://schemas.microsoft.com/office/drawing/2014/main" id="{B235836C-C689-4AFF-8692-9B731ED0E2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64" y="3260"/>
                    <a:ext cx="616" cy="212"/>
                    <a:chOff x="2164" y="3260"/>
                    <a:chExt cx="616" cy="212"/>
                  </a:xfrm>
                </p:grpSpPr>
                <p:sp>
                  <p:nvSpPr>
                    <p:cNvPr id="316" name="Rectangle 113">
                      <a:extLst>
                        <a:ext uri="{FF2B5EF4-FFF2-40B4-BE49-F238E27FC236}">
                          <a16:creationId xmlns:a16="http://schemas.microsoft.com/office/drawing/2014/main" id="{8560477D-1119-4D27-9E78-EF33948F2B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7" name="Rectangle 114">
                      <a:extLst>
                        <a:ext uri="{FF2B5EF4-FFF2-40B4-BE49-F238E27FC236}">
                          <a16:creationId xmlns:a16="http://schemas.microsoft.com/office/drawing/2014/main" id="{1D901A0C-E6AA-4725-8DC4-413BEC205B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39" y="3260"/>
                      <a:ext cx="195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307" name="Group 115">
                    <a:extLst>
                      <a:ext uri="{FF2B5EF4-FFF2-40B4-BE49-F238E27FC236}">
                        <a16:creationId xmlns:a16="http://schemas.microsoft.com/office/drawing/2014/main" id="{81665F66-B886-4C87-AC95-69238E0F2E1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88" y="3260"/>
                    <a:ext cx="616" cy="212"/>
                    <a:chOff x="2788" y="3260"/>
                    <a:chExt cx="616" cy="212"/>
                  </a:xfrm>
                </p:grpSpPr>
                <p:sp>
                  <p:nvSpPr>
                    <p:cNvPr id="314" name="Rectangle 116">
                      <a:extLst>
                        <a:ext uri="{FF2B5EF4-FFF2-40B4-BE49-F238E27FC236}">
                          <a16:creationId xmlns:a16="http://schemas.microsoft.com/office/drawing/2014/main" id="{3DBF0EBB-765D-4EDB-8CD9-B03E5C4C534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88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5" name="Rectangle 117">
                      <a:extLst>
                        <a:ext uri="{FF2B5EF4-FFF2-40B4-BE49-F238E27FC236}">
                          <a16:creationId xmlns:a16="http://schemas.microsoft.com/office/drawing/2014/main" id="{600C25DA-F0E3-4888-9833-177483CD807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63" y="3260"/>
                      <a:ext cx="230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308" name="Group 118">
                    <a:extLst>
                      <a:ext uri="{FF2B5EF4-FFF2-40B4-BE49-F238E27FC236}">
                        <a16:creationId xmlns:a16="http://schemas.microsoft.com/office/drawing/2014/main" id="{0A0418D8-EA1F-4FED-8DAE-24BCF9A0A2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12" y="3260"/>
                    <a:ext cx="616" cy="212"/>
                    <a:chOff x="3412" y="3260"/>
                    <a:chExt cx="616" cy="212"/>
                  </a:xfrm>
                </p:grpSpPr>
                <p:sp>
                  <p:nvSpPr>
                    <p:cNvPr id="312" name="Rectangle 119">
                      <a:extLst>
                        <a:ext uri="{FF2B5EF4-FFF2-40B4-BE49-F238E27FC236}">
                          <a16:creationId xmlns:a16="http://schemas.microsoft.com/office/drawing/2014/main" id="{88CAE45F-9AF5-420F-9A20-6B17859E18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12" y="326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3" name="Rectangle 120">
                      <a:extLst>
                        <a:ext uri="{FF2B5EF4-FFF2-40B4-BE49-F238E27FC236}">
                          <a16:creationId xmlns:a16="http://schemas.microsoft.com/office/drawing/2014/main" id="{B393AF51-DCC8-401E-ABBE-112A0B72EA8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91" y="3260"/>
                      <a:ext cx="46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309" name="Group 121">
                    <a:extLst>
                      <a:ext uri="{FF2B5EF4-FFF2-40B4-BE49-F238E27FC236}">
                        <a16:creationId xmlns:a16="http://schemas.microsoft.com/office/drawing/2014/main" id="{C52684D0-3A48-4EC8-BA51-274E801095C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036" y="3260"/>
                    <a:ext cx="664" cy="210"/>
                    <a:chOff x="4036" y="3260"/>
                    <a:chExt cx="664" cy="210"/>
                  </a:xfrm>
                </p:grpSpPr>
                <p:sp>
                  <p:nvSpPr>
                    <p:cNvPr id="310" name="Rectangle 122">
                      <a:extLst>
                        <a:ext uri="{FF2B5EF4-FFF2-40B4-BE49-F238E27FC236}">
                          <a16:creationId xmlns:a16="http://schemas.microsoft.com/office/drawing/2014/main" id="{3BCDF673-ED68-4A47-A5A2-25A27A5FCA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6" y="326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1" name="Rectangle 123">
                      <a:extLst>
                        <a:ext uri="{FF2B5EF4-FFF2-40B4-BE49-F238E27FC236}">
                          <a16:creationId xmlns:a16="http://schemas.microsoft.com/office/drawing/2014/main" id="{6FC74A54-B3BD-4A93-91E9-64E07AE478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9" y="3260"/>
                      <a:ext cx="399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eaLnBrk="0" hangingPunct="0"/>
                      <a:r>
                        <a:rPr lang="en-US" alt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</a:t>
                      </a:r>
                    </a:p>
                  </p:txBody>
                </p:sp>
              </p:grpSp>
            </p:grpSp>
          </p:grpSp>
          <p:sp>
            <p:nvSpPr>
              <p:cNvPr id="295" name="Rectangle 124">
                <a:extLst>
                  <a:ext uri="{FF2B5EF4-FFF2-40B4-BE49-F238E27FC236}">
                    <a16:creationId xmlns:a16="http://schemas.microsoft.com/office/drawing/2014/main" id="{0BFB390F-E916-4768-9384-E63F107E3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5" y="30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96" name="Rectangle 125">
                <a:extLst>
                  <a:ext uri="{FF2B5EF4-FFF2-40B4-BE49-F238E27FC236}">
                    <a16:creationId xmlns:a16="http://schemas.microsoft.com/office/drawing/2014/main" id="{01DDA105-2AC9-4C7F-9CF7-9CCF2E037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5" y="3068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97" name="Rectangle 126">
                <a:extLst>
                  <a:ext uri="{FF2B5EF4-FFF2-40B4-BE49-F238E27FC236}">
                    <a16:creationId xmlns:a16="http://schemas.microsoft.com/office/drawing/2014/main" id="{D449585A-78F2-46AD-A01B-E5366933E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" y="3068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298" name="Rectangle 127">
                <a:extLst>
                  <a:ext uri="{FF2B5EF4-FFF2-40B4-BE49-F238E27FC236}">
                    <a16:creationId xmlns:a16="http://schemas.microsoft.com/office/drawing/2014/main" id="{1E6A9E2E-B075-4441-8578-F054C8DE6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9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16</a:t>
                </a:r>
              </a:p>
            </p:txBody>
          </p:sp>
          <p:sp>
            <p:nvSpPr>
              <p:cNvPr id="299" name="Rectangle 128">
                <a:extLst>
                  <a:ext uri="{FF2B5EF4-FFF2-40B4-BE49-F238E27FC236}">
                    <a16:creationId xmlns:a16="http://schemas.microsoft.com/office/drawing/2014/main" id="{031564AB-3D9D-4E78-805B-4D0B10745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5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21</a:t>
                </a:r>
              </a:p>
            </p:txBody>
          </p:sp>
          <p:sp>
            <p:nvSpPr>
              <p:cNvPr id="300" name="Rectangle 129">
                <a:extLst>
                  <a:ext uri="{FF2B5EF4-FFF2-40B4-BE49-F238E27FC236}">
                    <a16:creationId xmlns:a16="http://schemas.microsoft.com/office/drawing/2014/main" id="{D182688B-2C79-4951-A098-1F9C0138E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1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26</a:t>
                </a:r>
              </a:p>
            </p:txBody>
          </p:sp>
          <p:sp>
            <p:nvSpPr>
              <p:cNvPr id="301" name="Rectangle 130">
                <a:extLst>
                  <a:ext uri="{FF2B5EF4-FFF2-40B4-BE49-F238E27FC236}">
                    <a16:creationId xmlns:a16="http://schemas.microsoft.com/office/drawing/2014/main" id="{9563D5F8-3C01-4C0B-94E4-38E144B2C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3" y="3068"/>
                <a:ext cx="2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31</a:t>
                </a:r>
              </a:p>
            </p:txBody>
          </p:sp>
        </p:grpSp>
        <p:grpSp>
          <p:nvGrpSpPr>
            <p:cNvPr id="275" name="Group 131">
              <a:extLst>
                <a:ext uri="{FF2B5EF4-FFF2-40B4-BE49-F238E27FC236}">
                  <a16:creationId xmlns:a16="http://schemas.microsoft.com/office/drawing/2014/main" id="{E747EF19-883E-4C73-AC52-1A1CED511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537"/>
              <a:ext cx="3832" cy="223"/>
              <a:chOff x="868" y="3537"/>
              <a:chExt cx="3832" cy="223"/>
            </a:xfrm>
          </p:grpSpPr>
          <p:sp>
            <p:nvSpPr>
              <p:cNvPr id="282" name="Rectangle 132">
                <a:extLst>
                  <a:ext uri="{FF2B5EF4-FFF2-40B4-BE49-F238E27FC236}">
                    <a16:creationId xmlns:a16="http://schemas.microsoft.com/office/drawing/2014/main" id="{A26337FB-F001-4DB1-B91E-0C8A87275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3560"/>
                <a:ext cx="382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83" name="Group 133">
                <a:extLst>
                  <a:ext uri="{FF2B5EF4-FFF2-40B4-BE49-F238E27FC236}">
                    <a16:creationId xmlns:a16="http://schemas.microsoft.com/office/drawing/2014/main" id="{8CEF5AE4-F92D-4BEB-AAB2-C57249C9C6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548"/>
                <a:ext cx="664" cy="212"/>
                <a:chOff x="868" y="3548"/>
                <a:chExt cx="664" cy="212"/>
              </a:xfrm>
            </p:grpSpPr>
            <p:sp>
              <p:nvSpPr>
                <p:cNvPr id="292" name="Rectangle 134">
                  <a:extLst>
                    <a:ext uri="{FF2B5EF4-FFF2-40B4-BE49-F238E27FC236}">
                      <a16:creationId xmlns:a16="http://schemas.microsoft.com/office/drawing/2014/main" id="{344742BA-A814-49FA-882B-3A97A4B1D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8" y="3556"/>
                  <a:ext cx="664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3" name="Rectangle 135">
                  <a:extLst>
                    <a:ext uri="{FF2B5EF4-FFF2-40B4-BE49-F238E27FC236}">
                      <a16:creationId xmlns:a16="http://schemas.microsoft.com/office/drawing/2014/main" id="{0AE38E2D-E760-4FFD-A0E4-142A3EE4D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3548"/>
                  <a:ext cx="259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op</a:t>
                  </a:r>
                </a:p>
              </p:txBody>
            </p:sp>
          </p:grpSp>
          <p:grpSp>
            <p:nvGrpSpPr>
              <p:cNvPr id="284" name="Group 136">
                <a:extLst>
                  <a:ext uri="{FF2B5EF4-FFF2-40B4-BE49-F238E27FC236}">
                    <a16:creationId xmlns:a16="http://schemas.microsoft.com/office/drawing/2014/main" id="{243B5E1D-D875-442E-841B-3134E7E12C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0" y="3548"/>
                <a:ext cx="616" cy="212"/>
                <a:chOff x="1540" y="3548"/>
                <a:chExt cx="616" cy="212"/>
              </a:xfrm>
            </p:grpSpPr>
            <p:sp>
              <p:nvSpPr>
                <p:cNvPr id="290" name="Rectangle 137">
                  <a:extLst>
                    <a:ext uri="{FF2B5EF4-FFF2-40B4-BE49-F238E27FC236}">
                      <a16:creationId xmlns:a16="http://schemas.microsoft.com/office/drawing/2014/main" id="{DD1A63F7-52BB-4BA3-AEF0-2827D8856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3556"/>
                  <a:ext cx="616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1" name="Rectangle 138">
                  <a:extLst>
                    <a:ext uri="{FF2B5EF4-FFF2-40B4-BE49-F238E27FC236}">
                      <a16:creationId xmlns:a16="http://schemas.microsoft.com/office/drawing/2014/main" id="{FD1AB65A-4BA9-4051-9363-090A2F2062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5" y="3548"/>
                  <a:ext cx="22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rs</a:t>
                  </a:r>
                </a:p>
              </p:txBody>
            </p:sp>
          </p:grpSp>
          <p:grpSp>
            <p:nvGrpSpPr>
              <p:cNvPr id="285" name="Group 139">
                <a:extLst>
                  <a:ext uri="{FF2B5EF4-FFF2-40B4-BE49-F238E27FC236}">
                    <a16:creationId xmlns:a16="http://schemas.microsoft.com/office/drawing/2014/main" id="{A8B460A2-7FA2-4EB3-A71C-D9665F1EBD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4" y="3548"/>
                <a:ext cx="616" cy="212"/>
                <a:chOff x="2164" y="3548"/>
                <a:chExt cx="616" cy="212"/>
              </a:xfrm>
            </p:grpSpPr>
            <p:sp>
              <p:nvSpPr>
                <p:cNvPr id="288" name="Rectangle 140">
                  <a:extLst>
                    <a:ext uri="{FF2B5EF4-FFF2-40B4-BE49-F238E27FC236}">
                      <a16:creationId xmlns:a16="http://schemas.microsoft.com/office/drawing/2014/main" id="{A51575BE-356D-4F2A-A098-54545109A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" y="3556"/>
                  <a:ext cx="616" cy="18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9" name="Rectangle 141">
                  <a:extLst>
                    <a:ext uri="{FF2B5EF4-FFF2-40B4-BE49-F238E27FC236}">
                      <a16:creationId xmlns:a16="http://schemas.microsoft.com/office/drawing/2014/main" id="{B8707BF8-F626-49E8-855C-20E51F45D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3548"/>
                  <a:ext cx="195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altLang="en-US" sz="1600">
                      <a:latin typeface="Arial" panose="020B0604020202020204" pitchFamily="34" charset="0"/>
                      <a:cs typeface="Arial" panose="020B0604020202020204" pitchFamily="34" charset="0"/>
                    </a:rPr>
                    <a:t>rt</a:t>
                  </a:r>
                </a:p>
              </p:txBody>
            </p:sp>
          </p:grpSp>
          <p:sp>
            <p:nvSpPr>
              <p:cNvPr id="286" name="Rectangle 142">
                <a:extLst>
                  <a:ext uri="{FF2B5EF4-FFF2-40B4-BE49-F238E27FC236}">
                    <a16:creationId xmlns:a16="http://schemas.microsoft.com/office/drawing/2014/main" id="{67E525F1-941F-4FE5-BD5D-511738615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8" y="3556"/>
                <a:ext cx="1912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7" name="Rectangle 143">
                <a:extLst>
                  <a:ext uri="{FF2B5EF4-FFF2-40B4-BE49-F238E27FC236}">
                    <a16:creationId xmlns:a16="http://schemas.microsoft.com/office/drawing/2014/main" id="{A4ABE2C1-BB19-4703-9597-C2C9FF3D2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3537"/>
                <a:ext cx="71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alt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immediate</a:t>
                </a:r>
              </a:p>
            </p:txBody>
          </p:sp>
        </p:grpSp>
        <p:sp>
          <p:nvSpPr>
            <p:cNvPr id="276" name="Rectangle 144">
              <a:extLst>
                <a:ext uri="{FF2B5EF4-FFF2-40B4-BE49-F238E27FC236}">
                  <a16:creationId xmlns:a16="http://schemas.microsoft.com/office/drawing/2014/main" id="{125968E5-9C56-4D38-AD6D-4F039693C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" y="3260"/>
              <a:ext cx="4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R-type</a:t>
              </a:r>
            </a:p>
          </p:txBody>
        </p:sp>
        <p:sp>
          <p:nvSpPr>
            <p:cNvPr id="277" name="Rectangle 145">
              <a:extLst>
                <a:ext uri="{FF2B5EF4-FFF2-40B4-BE49-F238E27FC236}">
                  <a16:creationId xmlns:a16="http://schemas.microsoft.com/office/drawing/2014/main" id="{7C0AFC66-FE0C-42AA-B921-7E6968D3E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" y="3548"/>
              <a:ext cx="4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I-type</a:t>
              </a:r>
            </a:p>
          </p:txBody>
        </p:sp>
        <p:sp>
          <p:nvSpPr>
            <p:cNvPr id="278" name="Rectangle 146">
              <a:extLst>
                <a:ext uri="{FF2B5EF4-FFF2-40B4-BE49-F238E27FC236}">
                  <a16:creationId xmlns:a16="http://schemas.microsoft.com/office/drawing/2014/main" id="{23C27CA8-4F42-446D-B3FC-B6BE5803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" y="3836"/>
              <a:ext cx="4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J-type</a:t>
              </a:r>
            </a:p>
          </p:txBody>
        </p:sp>
        <p:sp>
          <p:nvSpPr>
            <p:cNvPr id="279" name="Rectangle 147">
              <a:extLst>
                <a:ext uri="{FF2B5EF4-FFF2-40B4-BE49-F238E27FC236}">
                  <a16:creationId xmlns:a16="http://schemas.microsoft.com/office/drawing/2014/main" id="{A720743B-0BD4-49C5-8E49-62ABF8C8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260"/>
              <a:ext cx="6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add, sub</a:t>
              </a:r>
            </a:p>
          </p:txBody>
        </p:sp>
        <p:sp>
          <p:nvSpPr>
            <p:cNvPr id="280" name="Rectangle 148">
              <a:extLst>
                <a:ext uri="{FF2B5EF4-FFF2-40B4-BE49-F238E27FC236}">
                  <a16:creationId xmlns:a16="http://schemas.microsoft.com/office/drawing/2014/main" id="{9923B2BE-EF0F-487A-8168-792EBB569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548"/>
              <a:ext cx="9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ori, lw, sw, beq</a:t>
              </a:r>
            </a:p>
          </p:txBody>
        </p:sp>
        <p:sp>
          <p:nvSpPr>
            <p:cNvPr id="281" name="Rectangle 149">
              <a:extLst>
                <a:ext uri="{FF2B5EF4-FFF2-40B4-BE49-F238E27FC236}">
                  <a16:creationId xmlns:a16="http://schemas.microsoft.com/office/drawing/2014/main" id="{06261D72-0448-4DF4-AC79-7DCD706D8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3836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jump</a:t>
              </a:r>
            </a:p>
          </p:txBody>
        </p:sp>
      </p:grpSp>
      <p:sp>
        <p:nvSpPr>
          <p:cNvPr id="328" name="Rectangle 150">
            <a:extLst>
              <a:ext uri="{FF2B5EF4-FFF2-40B4-BE49-F238E27FC236}">
                <a16:creationId xmlns:a16="http://schemas.microsoft.com/office/drawing/2014/main" id="{5070F13A-7224-4F33-9797-D7259B656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322275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</a:p>
        </p:txBody>
      </p:sp>
      <p:sp>
        <p:nvSpPr>
          <p:cNvPr id="329" name="Rectangle 151">
            <a:extLst>
              <a:ext uri="{FF2B5EF4-FFF2-40B4-BE49-F238E27FC236}">
                <a16:creationId xmlns:a16="http://schemas.microsoft.com/office/drawing/2014/main" id="{63D074AE-8559-4084-81C0-4BFE5DA80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27075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</a:p>
        </p:txBody>
      </p:sp>
      <p:sp>
        <p:nvSpPr>
          <p:cNvPr id="330" name="Rectangle 152">
            <a:extLst>
              <a:ext uri="{FF2B5EF4-FFF2-40B4-BE49-F238E27FC236}">
                <a16:creationId xmlns:a16="http://schemas.microsoft.com/office/drawing/2014/main" id="{FEF1414D-9EFB-418B-8B1E-6D4611204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00 0000</a:t>
            </a:r>
          </a:p>
        </p:txBody>
      </p:sp>
      <p:sp>
        <p:nvSpPr>
          <p:cNvPr id="331" name="Rectangle 153">
            <a:extLst>
              <a:ext uri="{FF2B5EF4-FFF2-40B4-BE49-F238E27FC236}">
                <a16:creationId xmlns:a16="http://schemas.microsoft.com/office/drawing/2014/main" id="{6E11C147-373F-47A5-AC1E-4FEAE97DC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00 0000</a:t>
            </a:r>
          </a:p>
        </p:txBody>
      </p:sp>
      <p:sp>
        <p:nvSpPr>
          <p:cNvPr id="332" name="Rectangle 154">
            <a:extLst>
              <a:ext uri="{FF2B5EF4-FFF2-40B4-BE49-F238E27FC236}">
                <a16:creationId xmlns:a16="http://schemas.microsoft.com/office/drawing/2014/main" id="{CDBA36C3-76F4-48B0-9F93-20605BA82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00 1101</a:t>
            </a:r>
          </a:p>
        </p:txBody>
      </p:sp>
      <p:sp>
        <p:nvSpPr>
          <p:cNvPr id="333" name="Rectangle 155">
            <a:extLst>
              <a:ext uri="{FF2B5EF4-FFF2-40B4-BE49-F238E27FC236}">
                <a16:creationId xmlns:a16="http://schemas.microsoft.com/office/drawing/2014/main" id="{6A88639D-EE06-4100-B49F-111211DE1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10 0011</a:t>
            </a:r>
          </a:p>
        </p:txBody>
      </p:sp>
      <p:sp>
        <p:nvSpPr>
          <p:cNvPr id="334" name="Rectangle 156">
            <a:extLst>
              <a:ext uri="{FF2B5EF4-FFF2-40B4-BE49-F238E27FC236}">
                <a16:creationId xmlns:a16="http://schemas.microsoft.com/office/drawing/2014/main" id="{E1D6EF39-DCC8-42F3-99E8-95F12F3CB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27075"/>
            <a:ext cx="81541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10 1011</a:t>
            </a:r>
          </a:p>
        </p:txBody>
      </p:sp>
      <p:sp>
        <p:nvSpPr>
          <p:cNvPr id="335" name="Rectangle 157">
            <a:extLst>
              <a:ext uri="{FF2B5EF4-FFF2-40B4-BE49-F238E27FC236}">
                <a16:creationId xmlns:a16="http://schemas.microsoft.com/office/drawing/2014/main" id="{4AD29C50-1535-4D74-8E83-C41E6DF80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00 0100</a:t>
            </a:r>
          </a:p>
        </p:txBody>
      </p:sp>
      <p:sp>
        <p:nvSpPr>
          <p:cNvPr id="336" name="Rectangle 158">
            <a:extLst>
              <a:ext uri="{FF2B5EF4-FFF2-40B4-BE49-F238E27FC236}">
                <a16:creationId xmlns:a16="http://schemas.microsoft.com/office/drawing/2014/main" id="{2216C586-24F3-4738-AEA4-9AEFFEC5F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6270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00 0010</a:t>
            </a:r>
          </a:p>
        </p:txBody>
      </p:sp>
      <p:sp>
        <p:nvSpPr>
          <p:cNvPr id="337" name="Line 159">
            <a:extLst>
              <a:ext uri="{FF2B5EF4-FFF2-40B4-BE49-F238E27FC236}">
                <a16:creationId xmlns:a16="http://schemas.microsoft.com/office/drawing/2014/main" id="{99FE8984-4CD0-42F9-87AD-1C7DDCEF4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7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Line 160">
            <a:extLst>
              <a:ext uri="{FF2B5EF4-FFF2-40B4-BE49-F238E27FC236}">
                <a16:creationId xmlns:a16="http://schemas.microsoft.com/office/drawing/2014/main" id="{1DF1EF7F-93F7-4174-A9F3-EE7D681C7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1328625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Line 161">
            <a:extLst>
              <a:ext uri="{FF2B5EF4-FFF2-40B4-BE49-F238E27FC236}">
                <a16:creationId xmlns:a16="http://schemas.microsoft.com/office/drawing/2014/main" id="{466D9449-78AC-494F-A85C-7A1B85E000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9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Line 162">
            <a:extLst>
              <a:ext uri="{FF2B5EF4-FFF2-40B4-BE49-F238E27FC236}">
                <a16:creationId xmlns:a16="http://schemas.microsoft.com/office/drawing/2014/main" id="{C4B98D60-3146-4EC6-866D-0845735B35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Line 163">
            <a:extLst>
              <a:ext uri="{FF2B5EF4-FFF2-40B4-BE49-F238E27FC236}">
                <a16:creationId xmlns:a16="http://schemas.microsoft.com/office/drawing/2014/main" id="{29E8DBAB-CB1C-40DB-BA66-955F424CC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3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Line 164">
            <a:extLst>
              <a:ext uri="{FF2B5EF4-FFF2-40B4-BE49-F238E27FC236}">
                <a16:creationId xmlns:a16="http://schemas.microsoft.com/office/drawing/2014/main" id="{762A4097-5107-4F28-872C-71BEF89C8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5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Line 165">
            <a:extLst>
              <a:ext uri="{FF2B5EF4-FFF2-40B4-BE49-F238E27FC236}">
                <a16:creationId xmlns:a16="http://schemas.microsoft.com/office/drawing/2014/main" id="{8F8FA015-C793-48A4-813E-2CC3792D3F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7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Line 166">
            <a:extLst>
              <a:ext uri="{FF2B5EF4-FFF2-40B4-BE49-F238E27FC236}">
                <a16:creationId xmlns:a16="http://schemas.microsoft.com/office/drawing/2014/main" id="{37072586-5135-4E6C-8545-B00BEC4BD5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9638" y="1620725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" name="Line 167">
            <a:extLst>
              <a:ext uri="{FF2B5EF4-FFF2-40B4-BE49-F238E27FC236}">
                <a16:creationId xmlns:a16="http://schemas.microsoft.com/office/drawing/2014/main" id="{C8F4E116-1518-476A-867A-337E4EA894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1638" y="1315925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Rectangle 168">
            <a:extLst>
              <a:ext uri="{FF2B5EF4-FFF2-40B4-BE49-F238E27FC236}">
                <a16:creationId xmlns:a16="http://schemas.microsoft.com/office/drawing/2014/main" id="{BC2CFBFA-E5D0-437A-BB52-CDEAF644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829" y="1550875"/>
            <a:ext cx="12181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Appendix A</a:t>
            </a:r>
          </a:p>
        </p:txBody>
      </p:sp>
      <p:sp>
        <p:nvSpPr>
          <p:cNvPr id="347" name="Line 169">
            <a:extLst>
              <a:ext uri="{FF2B5EF4-FFF2-40B4-BE49-F238E27FC236}">
                <a16:creationId xmlns:a16="http://schemas.microsoft.com/office/drawing/2014/main" id="{A0CB2CF8-A0A6-43A8-8FC1-05E8877C1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6288" y="1481025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" name="Rectangle 170">
            <a:extLst>
              <a:ext uri="{FF2B5EF4-FFF2-40B4-BE49-F238E27FC236}">
                <a16:creationId xmlns:a16="http://schemas.microsoft.com/office/drawing/2014/main" id="{BF5F00C9-4FB5-46C6-903C-765FDEB13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3222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10 0000</a:t>
            </a:r>
          </a:p>
        </p:txBody>
      </p:sp>
      <p:sp>
        <p:nvSpPr>
          <p:cNvPr id="349" name="Rectangle 171">
            <a:extLst>
              <a:ext uri="{FF2B5EF4-FFF2-40B4-BE49-F238E27FC236}">
                <a16:creationId xmlns:a16="http://schemas.microsoft.com/office/drawing/2014/main" id="{7018E088-788B-4036-BCF1-8EC31FA78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94" y="1322275"/>
            <a:ext cx="5466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</a:p>
        </p:txBody>
      </p:sp>
      <p:sp>
        <p:nvSpPr>
          <p:cNvPr id="350" name="Line 172">
            <a:extLst>
              <a:ext uri="{FF2B5EF4-FFF2-40B4-BE49-F238E27FC236}">
                <a16:creationId xmlns:a16="http://schemas.microsoft.com/office/drawing/2014/main" id="{56DD8C4C-FBCC-4446-8812-4A8E032C2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4588" y="14937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Line 173">
            <a:extLst>
              <a:ext uri="{FF2B5EF4-FFF2-40B4-BE49-F238E27FC236}">
                <a16:creationId xmlns:a16="http://schemas.microsoft.com/office/drawing/2014/main" id="{23FE7717-0B8E-445C-B519-0526E521A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3538" y="17858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Rectangle 174">
            <a:extLst>
              <a:ext uri="{FF2B5EF4-FFF2-40B4-BE49-F238E27FC236}">
                <a16:creationId xmlns:a16="http://schemas.microsoft.com/office/drawing/2014/main" id="{E9E4F940-D7A4-4C09-BEE4-7CB5B7AD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32227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>
                <a:latin typeface="Arial" panose="020B0604020202020204" pitchFamily="34" charset="0"/>
                <a:cs typeface="Arial" panose="020B0604020202020204" pitchFamily="34" charset="0"/>
              </a:rPr>
              <a:t>10 0010</a:t>
            </a:r>
          </a:p>
        </p:txBody>
      </p:sp>
      <p:sp>
        <p:nvSpPr>
          <p:cNvPr id="353" name="Rectangle 175">
            <a:extLst>
              <a:ext uri="{FF2B5EF4-FFF2-40B4-BE49-F238E27FC236}">
                <a16:creationId xmlns:a16="http://schemas.microsoft.com/office/drawing/2014/main" id="{0E494382-B0AC-490C-8734-C60CA9F53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322275"/>
            <a:ext cx="157248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Don’t Care :-)</a:t>
            </a:r>
          </a:p>
        </p:txBody>
      </p:sp>
      <p:sp>
        <p:nvSpPr>
          <p:cNvPr id="354" name="Rectangle 14">
            <a:extLst>
              <a:ext uri="{FF2B5EF4-FFF2-40B4-BE49-F238E27FC236}">
                <a16:creationId xmlns:a16="http://schemas.microsoft.com/office/drawing/2014/main" id="{3D3EFB43-BC59-4CFF-A476-68C692713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338" y="4068682"/>
            <a:ext cx="88806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PCSrc2</a:t>
            </a:r>
          </a:p>
        </p:txBody>
      </p:sp>
      <p:sp>
        <p:nvSpPr>
          <p:cNvPr id="355" name="Rectangle 42">
            <a:extLst>
              <a:ext uri="{FF2B5EF4-FFF2-40B4-BE49-F238E27FC236}">
                <a16:creationId xmlns:a16="http://schemas.microsoft.com/office/drawing/2014/main" id="{342704B6-C0FE-4147-8665-5BC57F23B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6" name="Rectangle 50">
            <a:extLst>
              <a:ext uri="{FF2B5EF4-FFF2-40B4-BE49-F238E27FC236}">
                <a16:creationId xmlns:a16="http://schemas.microsoft.com/office/drawing/2014/main" id="{22965A9A-EC40-45FE-B775-3FB692E2C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7" name="Rectangle 58">
            <a:extLst>
              <a:ext uri="{FF2B5EF4-FFF2-40B4-BE49-F238E27FC236}">
                <a16:creationId xmlns:a16="http://schemas.microsoft.com/office/drawing/2014/main" id="{BC8DBBAE-73B6-4252-BCBB-85320335C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8" name="Rectangle 66">
            <a:extLst>
              <a:ext uri="{FF2B5EF4-FFF2-40B4-BE49-F238E27FC236}">
                <a16:creationId xmlns:a16="http://schemas.microsoft.com/office/drawing/2014/main" id="{C8B21BF2-BBB4-4713-9469-A48125ECF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9" name="Rectangle 74">
            <a:extLst>
              <a:ext uri="{FF2B5EF4-FFF2-40B4-BE49-F238E27FC236}">
                <a16:creationId xmlns:a16="http://schemas.microsoft.com/office/drawing/2014/main" id="{6672C6C1-F976-4742-AB6E-C753CB59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2" y="4100771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60" name="Rectangle 82">
            <a:extLst>
              <a:ext uri="{FF2B5EF4-FFF2-40B4-BE49-F238E27FC236}">
                <a16:creationId xmlns:a16="http://schemas.microsoft.com/office/drawing/2014/main" id="{4183ECB0-A5FC-449A-8EB0-8D09FB324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09815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61" name="Rectangle 90">
            <a:extLst>
              <a:ext uri="{FF2B5EF4-FFF2-40B4-BE49-F238E27FC236}">
                <a16:creationId xmlns:a16="http://schemas.microsoft.com/office/drawing/2014/main" id="{A837FD82-B69D-41F8-AA34-E6F3413F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2" y="4098157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399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做得好不好？</a:t>
            </a:r>
          </a:p>
        </p:txBody>
      </p:sp>
      <p:sp>
        <p:nvSpPr>
          <p:cNvPr id="1895427" name="Rectangle 3"/>
          <p:cNvSpPr>
            <a:spLocks noGrp="1" noChangeArrowheads="1"/>
          </p:cNvSpPr>
          <p:nvPr>
            <p:ph idx="1"/>
          </p:nvPr>
        </p:nvSpPr>
        <p:spPr>
          <a:xfrm>
            <a:off x="551656" y="1606635"/>
            <a:ext cx="8040688" cy="4075113"/>
          </a:xfrm>
        </p:spPr>
        <p:txBody>
          <a:bodyPr/>
          <a:lstStyle/>
          <a:p>
            <a:r>
              <a:rPr lang="zh-CN" altLang="en-US" dirty="0"/>
              <a:t>单周期数据通路 </a:t>
            </a:r>
            <a:r>
              <a:rPr lang="en-US" altLang="en-US" dirty="0">
                <a:solidFill>
                  <a:srgbClr val="0432FF"/>
                </a:solidFill>
              </a:rPr>
              <a:t>=&gt; CPI=1</a:t>
            </a:r>
            <a:r>
              <a:rPr lang="en-US" altLang="en-US" sz="3600" dirty="0">
                <a:solidFill>
                  <a:srgbClr val="0432FF"/>
                </a:solidFill>
              </a:rPr>
              <a:t> (?!)</a:t>
            </a:r>
            <a:endParaRPr lang="en-US" altLang="zh-CN" dirty="0"/>
          </a:p>
          <a:p>
            <a:pPr eaLnBrk="1" hangingPunct="1"/>
            <a:endParaRPr lang="en-US" altLang="zh-CN" dirty="0">
              <a:solidFill>
                <a:schemeClr val="accent6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3333FF"/>
                </a:solidFill>
              </a:rPr>
              <a:t>从性能角度看，单周期处理器快么？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b="1" dirty="0"/>
              <a:t>时钟周期由什么决定？</a:t>
            </a:r>
            <a:endParaRPr lang="en-US" altLang="zh-CN" b="1" dirty="0"/>
          </a:p>
          <a:p>
            <a:pPr lvl="1"/>
            <a:r>
              <a:rPr lang="zh-CN" altLang="en-US" dirty="0"/>
              <a:t>性能极限在哪里？</a:t>
            </a:r>
            <a:endParaRPr lang="en-US" altLang="zh-CN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F4D6F8-247A-924B-B1C8-16053FB0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2130336" y="0"/>
            <a:ext cx="4619854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>
                <a:latin typeface="+mj-lt"/>
                <a:ea typeface="+mj-ea"/>
              </a:rPr>
              <a:t>Add:</a:t>
            </a:r>
            <a:r>
              <a:rPr lang="zh-CN" altLang="en-US" sz="3600" b="1" dirty="0">
                <a:latin typeface="+mj-lt"/>
                <a:ea typeface="+mj-ea"/>
              </a:rPr>
              <a:t> 单周期数据通路</a:t>
            </a:r>
            <a:endParaRPr lang="en-US" altLang="en-US" sz="3600" b="1" dirty="0">
              <a:latin typeface="+mj-lt"/>
              <a:ea typeface="+mj-ea"/>
            </a:endParaRP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8103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=1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79268" y="1336571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29751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Reg[</a:t>
            </a:r>
            <a:r>
              <a:rPr lang="en-US" altLang="en-US" sz="1600" kern="0" dirty="0" err="1">
                <a:ea typeface="SimHei" panose="02010609060101010101" pitchFamily="49" charset="-122"/>
              </a:rPr>
              <a:t>rd</a:t>
            </a:r>
            <a:r>
              <a:rPr lang="en-US" altLang="en-US" sz="1600" kern="0" dirty="0">
                <a:ea typeface="SimHei" panose="02010609060101010101" pitchFamily="49" charset="-122"/>
              </a:rPr>
              <a:t>] = Reg[</a:t>
            </a:r>
            <a:r>
              <a:rPr lang="en-US" altLang="en-US" sz="160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kern="0" dirty="0">
                <a:ea typeface="SimHei" panose="02010609060101010101" pitchFamily="49" charset="-122"/>
              </a:rPr>
              <a:t>] + Reg[rt]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EB4424-CFB6-4C72-8858-7DD74DC3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419" y="494489"/>
            <a:ext cx="4979895" cy="576620"/>
          </a:xfrm>
          <a:prstGeom prst="rect">
            <a:avLst/>
          </a:prstGeom>
        </p:spPr>
      </p:pic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AEAF6B37-16B1-4CED-2F6D-0C0914B6305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14366" y="3021986"/>
            <a:ext cx="517962" cy="584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ne 29">
            <a:extLst>
              <a:ext uri="{FF2B5EF4-FFF2-40B4-BE49-F238E27FC236}">
                <a16:creationId xmlns:a16="http://schemas.microsoft.com/office/drawing/2014/main" id="{4F43A27E-397B-F385-67BB-01CE2AB141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55" y="3582185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ECD8A99B-69D1-8792-46A4-70F21D7616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83553" y="3378219"/>
            <a:ext cx="1461607" cy="763302"/>
          </a:xfrm>
          <a:prstGeom prst="bentConnector3">
            <a:avLst>
              <a:gd name="adj1" fmla="val 9896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75D4161-0DA7-18C0-AD9D-AD84159DE167}"/>
              </a:ext>
            </a:extLst>
          </p:cNvPr>
          <p:cNvCxnSpPr>
            <a:cxnSpLocks/>
          </p:cNvCxnSpPr>
          <p:nvPr/>
        </p:nvCxnSpPr>
        <p:spPr>
          <a:xfrm>
            <a:off x="7138499" y="4053325"/>
            <a:ext cx="1011540" cy="134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ine 29">
            <a:extLst>
              <a:ext uri="{FF2B5EF4-FFF2-40B4-BE49-F238E27FC236}">
                <a16:creationId xmlns:a16="http://schemas.microsoft.com/office/drawing/2014/main" id="{AF2B5C24-0657-8277-FCB4-2D2D82BF54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0039" y="5393476"/>
            <a:ext cx="174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EFDB765-6A4E-FFF7-755E-A61D7A3211C9}"/>
              </a:ext>
            </a:extLst>
          </p:cNvPr>
          <p:cNvCxnSpPr>
            <a:cxnSpLocks/>
          </p:cNvCxnSpPr>
          <p:nvPr/>
        </p:nvCxnSpPr>
        <p:spPr>
          <a:xfrm>
            <a:off x="8150039" y="4066757"/>
            <a:ext cx="0" cy="13362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ine 28">
            <a:extLst>
              <a:ext uri="{FF2B5EF4-FFF2-40B4-BE49-F238E27FC236}">
                <a16:creationId xmlns:a16="http://schemas.microsoft.com/office/drawing/2014/main" id="{52195C15-D65F-C7A7-C477-900C1AA544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7990" y="3962522"/>
            <a:ext cx="5497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" name="Line 54">
            <a:extLst>
              <a:ext uri="{FF2B5EF4-FFF2-40B4-BE49-F238E27FC236}">
                <a16:creationId xmlns:a16="http://schemas.microsoft.com/office/drawing/2014/main" id="{DF47F06D-4ECE-60C0-6EE2-C21C3FE765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697593"/>
            <a:ext cx="5291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" name="Line 55">
            <a:extLst>
              <a:ext uri="{FF2B5EF4-FFF2-40B4-BE49-F238E27FC236}">
                <a16:creationId xmlns:a16="http://schemas.microsoft.com/office/drawing/2014/main" id="{5371E591-113B-7435-C2CB-B4A7C60B25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1" y="3962522"/>
            <a:ext cx="0" cy="27450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" name="Line 89">
            <a:extLst>
              <a:ext uri="{FF2B5EF4-FFF2-40B4-BE49-F238E27FC236}">
                <a16:creationId xmlns:a16="http://schemas.microsoft.com/office/drawing/2014/main" id="{35BCB79C-32CA-7110-9509-91ECB4DDF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47057"/>
            <a:ext cx="0" cy="1046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" name="Line 89">
            <a:extLst>
              <a:ext uri="{FF2B5EF4-FFF2-40B4-BE49-F238E27FC236}">
                <a16:creationId xmlns:a16="http://schemas.microsoft.com/office/drawing/2014/main" id="{B34ED50D-EF81-D369-4230-5DDBAB916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6823" y="5648881"/>
            <a:ext cx="1860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11C8D9F-467D-A46A-ACA4-389472E6A936}"/>
              </a:ext>
            </a:extLst>
          </p:cNvPr>
          <p:cNvCxnSpPr>
            <a:cxnSpLocks/>
          </p:cNvCxnSpPr>
          <p:nvPr/>
        </p:nvCxnSpPr>
        <p:spPr>
          <a:xfrm>
            <a:off x="2971866" y="3944562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 29">
            <a:extLst>
              <a:ext uri="{FF2B5EF4-FFF2-40B4-BE49-F238E27FC236}">
                <a16:creationId xmlns:a16="http://schemas.microsoft.com/office/drawing/2014/main" id="{9390C26F-A725-784D-CC96-3A58A7D94A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2233" y="3349440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8" name="Line 29">
            <a:extLst>
              <a:ext uri="{FF2B5EF4-FFF2-40B4-BE49-F238E27FC236}">
                <a16:creationId xmlns:a16="http://schemas.microsoft.com/office/drawing/2014/main" id="{9595A2F8-FBBF-8008-6668-5BC0C452B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1637" y="3350132"/>
            <a:ext cx="241300" cy="596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8D95A789-4373-9B86-D9FA-6A20489982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145" y="3921516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F259CCC-EF35-6DCD-6212-3C073DCB42EE}"/>
              </a:ext>
            </a:extLst>
          </p:cNvPr>
          <p:cNvGrpSpPr/>
          <p:nvPr/>
        </p:nvGrpSpPr>
        <p:grpSpPr>
          <a:xfrm>
            <a:off x="53712" y="2512723"/>
            <a:ext cx="3093879" cy="1449799"/>
            <a:chOff x="53712" y="2512723"/>
            <a:chExt cx="3093879" cy="1449799"/>
          </a:xfrm>
        </p:grpSpPr>
        <p:sp>
          <p:nvSpPr>
            <p:cNvPr id="34" name="Freeform 123">
              <a:extLst>
                <a:ext uri="{FF2B5EF4-FFF2-40B4-BE49-F238E27FC236}">
                  <a16:creationId xmlns:a16="http://schemas.microsoft.com/office/drawing/2014/main" id="{29C6E61F-E722-05EA-1012-00BF50344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12" y="2512723"/>
              <a:ext cx="3093879" cy="1198837"/>
            </a:xfrm>
            <a:custGeom>
              <a:avLst/>
              <a:gdLst>
                <a:gd name="T0" fmla="*/ 2147483647 w 1902"/>
                <a:gd name="T1" fmla="*/ 0 h 737"/>
                <a:gd name="T2" fmla="*/ 0 w 1902"/>
                <a:gd name="T3" fmla="*/ 0 h 737"/>
                <a:gd name="T4" fmla="*/ 0 w 1902"/>
                <a:gd name="T5" fmla="*/ 1854834207 h 737"/>
                <a:gd name="T6" fmla="*/ 418345938 w 1902"/>
                <a:gd name="T7" fmla="*/ 1854834207 h 7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2" h="737">
                  <a:moveTo>
                    <a:pt x="1901" y="0"/>
                  </a:moveTo>
                  <a:lnTo>
                    <a:pt x="0" y="0"/>
                  </a:lnTo>
                  <a:lnTo>
                    <a:pt x="0" y="736"/>
                  </a:lnTo>
                  <a:lnTo>
                    <a:pt x="166" y="736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622335A-E757-A5A7-C5AD-D0DB674138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1149" y="2512987"/>
              <a:ext cx="378" cy="144953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Line 29">
              <a:extLst>
                <a:ext uri="{FF2B5EF4-FFF2-40B4-BE49-F238E27FC236}">
                  <a16:creationId xmlns:a16="http://schemas.microsoft.com/office/drawing/2014/main" id="{27828B41-1719-C16E-63F4-C9F9E3971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97" y="3707655"/>
              <a:ext cx="70482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7447A51-C2E8-7B65-FABB-64BA64096F00}"/>
                  </a:ext>
                </a:extLst>
              </p14:cNvPr>
              <p14:cNvContentPartPr/>
              <p14:nvPr/>
            </p14:nvContentPartPr>
            <p14:xfrm>
              <a:off x="1688400" y="783720"/>
              <a:ext cx="4935600" cy="1524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7447A51-C2E8-7B65-FABB-64BA64096F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9040" y="774360"/>
                <a:ext cx="4954320" cy="15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890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2394120" y="0"/>
            <a:ext cx="4889159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>
                <a:latin typeface="+mj-lt"/>
                <a:ea typeface="+mj-ea"/>
              </a:rPr>
              <a:t>Store: </a:t>
            </a:r>
            <a:r>
              <a:rPr lang="zh-CN" altLang="en-US" sz="3600" b="1" dirty="0">
                <a:latin typeface="+mj-lt"/>
                <a:ea typeface="+mj-ea"/>
              </a:rPr>
              <a:t>单周期数据通路</a:t>
            </a:r>
            <a:endParaRPr lang="en-US" altLang="en-US" sz="3600" b="1" dirty="0">
              <a:latin typeface="+mj-lt"/>
              <a:ea typeface="+mj-ea"/>
            </a:endParaRP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79268" y="1336571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00BA1258-1753-472E-B270-3D434C43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A0870C1E-7C59-4A58-9E50-00A8E77F1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3" y="608784"/>
            <a:ext cx="2835082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Mem(Reg[</a:t>
            </a:r>
            <a:r>
              <a:rPr lang="en-US" altLang="en-US" sz="160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kern="0" dirty="0">
                <a:ea typeface="SimHei" panose="02010609060101010101" pitchFamily="49" charset="-122"/>
              </a:rPr>
              <a:t>]+</a:t>
            </a:r>
            <a:r>
              <a:rPr lang="en-US" altLang="en-US" sz="1600" kern="0" dirty="0" err="1">
                <a:ea typeface="SimHei" panose="02010609060101010101" pitchFamily="49" charset="-122"/>
              </a:rPr>
              <a:t>Sign</a:t>
            </a:r>
            <a:r>
              <a:rPr lang="en-US" altLang="zh-CN" sz="1600" kern="0" dirty="0" err="1">
                <a:ea typeface="SimHei" panose="02010609060101010101" pitchFamily="49" charset="-122"/>
              </a:rPr>
              <a:t>Ext</a:t>
            </a:r>
            <a:r>
              <a:rPr lang="en-US" altLang="zh-CN" sz="1600" kern="0" dirty="0">
                <a:ea typeface="SimHei" panose="02010609060101010101" pitchFamily="49" charset="-122"/>
              </a:rPr>
              <a:t>(</a:t>
            </a:r>
            <a:r>
              <a:rPr lang="en-US" altLang="zh-CN" sz="1600" kern="0" dirty="0" err="1">
                <a:ea typeface="SimHei" panose="02010609060101010101" pitchFamily="49" charset="-122"/>
              </a:rPr>
              <a:t>Imm</a:t>
            </a:r>
            <a:r>
              <a:rPr lang="en-US" altLang="zh-CN" sz="1600" kern="0" dirty="0">
                <a:ea typeface="SimHei" panose="02010609060101010101" pitchFamily="49" charset="-122"/>
              </a:rPr>
              <a:t>) = Reg[rt]</a:t>
            </a:r>
            <a:endParaRPr lang="en-US" altLang="en-US" sz="1600" kern="0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BE796C16-86DD-397E-25C9-52BEFFE6E4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2233" y="3349440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" name="Line 122">
            <a:extLst>
              <a:ext uri="{FF2B5EF4-FFF2-40B4-BE49-F238E27FC236}">
                <a16:creationId xmlns:a16="http://schemas.microsoft.com/office/drawing/2014/main" id="{4372E6BA-40AA-A782-E9D7-F2A6F86CF0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1213" y="5869229"/>
            <a:ext cx="95000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0" name="Line 89">
            <a:extLst>
              <a:ext uri="{FF2B5EF4-FFF2-40B4-BE49-F238E27FC236}">
                <a16:creationId xmlns:a16="http://schemas.microsoft.com/office/drawing/2014/main" id="{8381B6D8-1BF1-BF66-4B89-8DF13EB6D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4309" y="4469857"/>
            <a:ext cx="0" cy="1383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4" name="Line 29">
            <a:extLst>
              <a:ext uri="{FF2B5EF4-FFF2-40B4-BE49-F238E27FC236}">
                <a16:creationId xmlns:a16="http://schemas.microsoft.com/office/drawing/2014/main" id="{0B20900D-91EC-C04D-1EF2-BCCD311E38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6010" y="4505313"/>
            <a:ext cx="238731" cy="649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2AC8BE9-0371-FF96-C9F9-EFD9769CFAE0}"/>
              </a:ext>
            </a:extLst>
          </p:cNvPr>
          <p:cNvCxnSpPr>
            <a:cxnSpLocks/>
            <a:endCxn id="262" idx="0"/>
          </p:cNvCxnSpPr>
          <p:nvPr/>
        </p:nvCxnSpPr>
        <p:spPr>
          <a:xfrm rot="16200000" flipH="1">
            <a:off x="6781167" y="4425807"/>
            <a:ext cx="1330142" cy="570462"/>
          </a:xfrm>
          <a:prstGeom prst="bentConnector3">
            <a:avLst>
              <a:gd name="adj1" fmla="val 1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23">
            <a:extLst>
              <a:ext uri="{FF2B5EF4-FFF2-40B4-BE49-F238E27FC236}">
                <a16:creationId xmlns:a16="http://schemas.microsoft.com/office/drawing/2014/main" id="{0D217370-669D-E4F8-12D2-8EAB60F3AA38}"/>
              </a:ext>
            </a:extLst>
          </p:cNvPr>
          <p:cNvSpPr>
            <a:spLocks/>
          </p:cNvSpPr>
          <p:nvPr/>
        </p:nvSpPr>
        <p:spPr bwMode="auto">
          <a:xfrm>
            <a:off x="41351" y="251457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0DFB9AF2-8999-C24E-77AF-24C41B85A7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2463" y="3713413"/>
            <a:ext cx="60630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E790FCA-53E5-A3DF-5C1B-31D1ECFBD0A7}"/>
              </a:ext>
            </a:extLst>
          </p:cNvPr>
          <p:cNvCxnSpPr>
            <a:cxnSpLocks/>
          </p:cNvCxnSpPr>
          <p:nvPr/>
        </p:nvCxnSpPr>
        <p:spPr>
          <a:xfrm>
            <a:off x="2940453" y="3929274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AD4CD04-ED55-E370-D800-E752D86B35F9}"/>
              </a:ext>
            </a:extLst>
          </p:cNvPr>
          <p:cNvCxnSpPr>
            <a:cxnSpLocks/>
          </p:cNvCxnSpPr>
          <p:nvPr/>
        </p:nvCxnSpPr>
        <p:spPr>
          <a:xfrm flipH="1" flipV="1">
            <a:off x="3135924" y="2487884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29">
            <a:extLst>
              <a:ext uri="{FF2B5EF4-FFF2-40B4-BE49-F238E27FC236}">
                <a16:creationId xmlns:a16="http://schemas.microsoft.com/office/drawing/2014/main" id="{4022B113-9FC0-D1D6-80E5-F30E04ED8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1637" y="3350132"/>
            <a:ext cx="241300" cy="5968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6A7E4D39-55CA-3C95-ADF9-8AD5CFD274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145" y="3921516"/>
            <a:ext cx="6094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" name="Line 29">
            <a:extLst>
              <a:ext uri="{FF2B5EF4-FFF2-40B4-BE49-F238E27FC236}">
                <a16:creationId xmlns:a16="http://schemas.microsoft.com/office/drawing/2014/main" id="{DF5658C0-DC49-0202-C62E-A90CF4F7C9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3695" y="5187126"/>
            <a:ext cx="16394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3CD32657-4AED-1361-0218-2128523D49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4741" y="4508579"/>
            <a:ext cx="37067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EAD03EF-6E8A-722C-86E5-F3083DDA94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14366" y="3021986"/>
            <a:ext cx="517962" cy="584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ine 29">
            <a:extLst>
              <a:ext uri="{FF2B5EF4-FFF2-40B4-BE49-F238E27FC236}">
                <a16:creationId xmlns:a16="http://schemas.microsoft.com/office/drawing/2014/main" id="{EB14D1EA-CF10-BFB7-2316-82A5832131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7955" y="3582185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C621853-7CE9-B11C-E6CE-710736DC4085}"/>
              </a:ext>
            </a:extLst>
          </p:cNvPr>
          <p:cNvCxnSpPr>
            <a:cxnSpLocks/>
            <a:endCxn id="10" idx="0"/>
          </p:cNvCxnSpPr>
          <p:nvPr/>
        </p:nvCxnSpPr>
        <p:spPr>
          <a:xfrm rot="16200000" flipH="1">
            <a:off x="4917964" y="3483512"/>
            <a:ext cx="1440572" cy="532118"/>
          </a:xfrm>
          <a:prstGeom prst="bentConnector3">
            <a:avLst>
              <a:gd name="adj1" fmla="val 9969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2777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42987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2372757" y="8418"/>
            <a:ext cx="4499629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 err="1">
                <a:latin typeface="+mj-lt"/>
                <a:ea typeface="黑体" panose="02010609060101010101" pitchFamily="49" charset="-122"/>
              </a:rPr>
              <a:t>Beq</a:t>
            </a:r>
            <a:r>
              <a:rPr lang="en-US" altLang="zh-CN" sz="3600" dirty="0">
                <a:latin typeface="+mj-lt"/>
                <a:ea typeface="黑体" panose="02010609060101010101" pitchFamily="49" charset="-122"/>
              </a:rPr>
              <a:t>:</a:t>
            </a:r>
            <a:r>
              <a:rPr lang="en-US" altLang="zh-CN" sz="3600" b="1" dirty="0">
                <a:latin typeface="+mj-lt"/>
                <a:ea typeface="黑体" panose="02010609060101010101" pitchFamily="49" charset="-122"/>
              </a:rPr>
              <a:t>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单周期数据通路</a:t>
            </a:r>
            <a:endParaRPr lang="en-US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6367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871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63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97636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8896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99207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=Sub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7854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37011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6677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32832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44789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36932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8747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90468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4427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12888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366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8267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301678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1277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508238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510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8229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69290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4478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80978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96878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54078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54078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54078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58878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11824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79123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42878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2087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73259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66778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5055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83400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73545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18851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17264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473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950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42651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78259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55026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34066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9922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2101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15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73709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2702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21012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84047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9363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2854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348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5862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85634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16779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9875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4201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87391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6030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61243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104551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8240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9357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50488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4206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67501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70018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(Signed)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508237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31978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99365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2753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66526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96898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96898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96898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27531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58480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58480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58480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58480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58850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79268" y="1346096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9742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2753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983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5672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5102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318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439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208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49006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21733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1088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13517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802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359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022" y="4829495"/>
            <a:ext cx="1562929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</a:t>
            </a: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Branch 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and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solidFill>
                <a:srgbClr val="00B0F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409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931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44426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41670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517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33791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80203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38828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600249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63080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54716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99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85737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20345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30155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27022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402868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569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5044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81707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5211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24628"/>
            <a:ext cx="60061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b="1" dirty="0">
              <a:solidFill>
                <a:srgbClr val="FF000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52403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259D6-1036-4AD5-A277-7E9B0032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400" name="Rectangle 147">
            <a:extLst>
              <a:ext uri="{FF2B5EF4-FFF2-40B4-BE49-F238E27FC236}">
                <a16:creationId xmlns:a16="http://schemas.microsoft.com/office/drawing/2014/main" id="{B301A419-BD4F-4496-AD45-E4BAD572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5" y="747191"/>
            <a:ext cx="2997351" cy="118391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if (Reg[</a:t>
            </a:r>
            <a:r>
              <a:rPr lang="en-US" altLang="en-US" sz="160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kern="0" dirty="0">
                <a:ea typeface="SimHei" panose="02010609060101010101" pitchFamily="49" charset="-122"/>
              </a:rPr>
              <a:t>]-Reg[rt] == 0)</a:t>
            </a:r>
          </a:p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	PC = PC + 4 + </a:t>
            </a:r>
            <a:r>
              <a:rPr lang="en-US" altLang="en-US" sz="160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kern="0" dirty="0">
                <a:ea typeface="SimHei" panose="02010609060101010101" pitchFamily="49" charset="-122"/>
              </a:rPr>
              <a:t>&lt;&lt;2</a:t>
            </a:r>
          </a:p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else </a:t>
            </a:r>
          </a:p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	PC = PC + 4</a:t>
            </a:r>
          </a:p>
        </p:txBody>
      </p:sp>
      <p:sp>
        <p:nvSpPr>
          <p:cNvPr id="4" name="Line 29">
            <a:extLst>
              <a:ext uri="{FF2B5EF4-FFF2-40B4-BE49-F238E27FC236}">
                <a16:creationId xmlns:a16="http://schemas.microsoft.com/office/drawing/2014/main" id="{30ED99E7-7F79-4D4E-FD04-BFDE9081C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97" y="3726280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91B0B397-49D2-5034-9D52-4FE574A39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102" y="3373663"/>
            <a:ext cx="62252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7B96B3F2-DC75-E250-D91A-8293D7B0A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818" y="4981576"/>
            <a:ext cx="33934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A5C9BF7-4BC0-EC1A-E49B-960CDA18F171}"/>
              </a:ext>
            </a:extLst>
          </p:cNvPr>
          <p:cNvGrpSpPr/>
          <p:nvPr/>
        </p:nvGrpSpPr>
        <p:grpSpPr>
          <a:xfrm>
            <a:off x="572243" y="5191876"/>
            <a:ext cx="5192046" cy="1103137"/>
            <a:chOff x="745147" y="5403390"/>
            <a:chExt cx="5192046" cy="1103137"/>
          </a:xfrm>
        </p:grpSpPr>
        <p:sp>
          <p:nvSpPr>
            <p:cNvPr id="10" name="Line 82">
              <a:extLst>
                <a:ext uri="{FF2B5EF4-FFF2-40B4-BE49-F238E27FC236}">
                  <a16:creationId xmlns:a16="http://schemas.microsoft.com/office/drawing/2014/main" id="{579713FC-84C0-B3F5-8033-2CDC8B4B8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147" y="6506527"/>
              <a:ext cx="51679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" name="Line 82">
              <a:extLst>
                <a:ext uri="{FF2B5EF4-FFF2-40B4-BE49-F238E27FC236}">
                  <a16:creationId xmlns:a16="http://schemas.microsoft.com/office/drawing/2014/main" id="{6DD633C7-A7B4-A367-8630-74ADC8F99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147" y="5582373"/>
              <a:ext cx="0" cy="9241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Line 82">
              <a:extLst>
                <a:ext uri="{FF2B5EF4-FFF2-40B4-BE49-F238E27FC236}">
                  <a16:creationId xmlns:a16="http://schemas.microsoft.com/office/drawing/2014/main" id="{8CE90FF9-D97F-1FE9-EB5F-31080B7F9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0553" y="5409660"/>
              <a:ext cx="0" cy="10968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" name="Line 82">
              <a:extLst>
                <a:ext uri="{FF2B5EF4-FFF2-40B4-BE49-F238E27FC236}">
                  <a16:creationId xmlns:a16="http://schemas.microsoft.com/office/drawing/2014/main" id="{D9948CE4-D877-11B9-C691-7743727F1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4016" y="5403390"/>
              <a:ext cx="114317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D1C723A5-A061-8F1A-2312-416053E8EB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33645" y="2882406"/>
            <a:ext cx="846326" cy="642000"/>
          </a:xfrm>
          <a:prstGeom prst="bentConnector3">
            <a:avLst>
              <a:gd name="adj1" fmla="val 10039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B5E9D07-D8A6-E730-9B82-5AADEB3721C8}"/>
              </a:ext>
            </a:extLst>
          </p:cNvPr>
          <p:cNvCxnSpPr>
            <a:cxnSpLocks/>
            <a:stCxn id="212" idx="0"/>
          </p:cNvCxnSpPr>
          <p:nvPr/>
        </p:nvCxnSpPr>
        <p:spPr>
          <a:xfrm rot="16200000" flipH="1">
            <a:off x="4974277" y="3401347"/>
            <a:ext cx="1452264" cy="735408"/>
          </a:xfrm>
          <a:prstGeom prst="bentConnector3">
            <a:avLst>
              <a:gd name="adj1" fmla="val 1001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23">
            <a:extLst>
              <a:ext uri="{FF2B5EF4-FFF2-40B4-BE49-F238E27FC236}">
                <a16:creationId xmlns:a16="http://schemas.microsoft.com/office/drawing/2014/main" id="{8C563680-699E-F504-4EE2-93C4D3D0619E}"/>
              </a:ext>
            </a:extLst>
          </p:cNvPr>
          <p:cNvSpPr>
            <a:spLocks/>
          </p:cNvSpPr>
          <p:nvPr/>
        </p:nvSpPr>
        <p:spPr bwMode="auto">
          <a:xfrm>
            <a:off x="71779" y="2527443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188C7D8D-3CC2-7308-B2C6-251AAB7DF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8619" y="4507092"/>
            <a:ext cx="69029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5231BD10-7447-9A6C-0B17-6A8039BBA4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0490" y="3621449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4FA2E2E-C0BA-FFF8-9DD3-55F24F2769DF}"/>
              </a:ext>
            </a:extLst>
          </p:cNvPr>
          <p:cNvCxnSpPr/>
          <p:nvPr/>
        </p:nvCxnSpPr>
        <p:spPr>
          <a:xfrm flipH="1">
            <a:off x="6487507" y="3950105"/>
            <a:ext cx="1096958" cy="104975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29">
            <a:extLst>
              <a:ext uri="{FF2B5EF4-FFF2-40B4-BE49-F238E27FC236}">
                <a16:creationId xmlns:a16="http://schemas.microsoft.com/office/drawing/2014/main" id="{EA3C115D-C749-D619-6D42-615BC1D143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2812" y="4975181"/>
            <a:ext cx="4258446" cy="18788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C789ECC4-27B7-9CD0-75A6-39F03C14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220" y="432605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EC1FBA0F-C00F-F9BD-DC7D-B15331A82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372" y="498089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49C0F112-B5DD-6D0E-9CAB-2EE783938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661" y="4232260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CD1CD62D-A6F6-70A0-628A-01692240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16" y="3266368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9F0F273-5438-80A6-4B56-A0515F3C58FC}"/>
              </a:ext>
            </a:extLst>
          </p:cNvPr>
          <p:cNvCxnSpPr>
            <a:cxnSpLocks/>
          </p:cNvCxnSpPr>
          <p:nvPr/>
        </p:nvCxnSpPr>
        <p:spPr>
          <a:xfrm>
            <a:off x="2988883" y="3945900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109A798-0843-6132-1440-977593812AD5}"/>
              </a:ext>
            </a:extLst>
          </p:cNvPr>
          <p:cNvCxnSpPr>
            <a:cxnSpLocks/>
          </p:cNvCxnSpPr>
          <p:nvPr/>
        </p:nvCxnSpPr>
        <p:spPr>
          <a:xfrm flipH="1" flipV="1">
            <a:off x="3160897" y="2511082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4832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229">
            <a:extLst>
              <a:ext uri="{FF2B5EF4-FFF2-40B4-BE49-F238E27FC236}">
                <a16:creationId xmlns:a16="http://schemas.microsoft.com/office/drawing/2014/main" id="{05788A22-09A9-4B79-B342-B8913789C615}"/>
              </a:ext>
            </a:extLst>
          </p:cNvPr>
          <p:cNvSpPr/>
          <p:nvPr/>
        </p:nvSpPr>
        <p:spPr>
          <a:xfrm>
            <a:off x="275996" y="1028206"/>
            <a:ext cx="8861196" cy="3705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E184FC-834D-49F4-AE98-DE6B2569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7" y="43563"/>
            <a:ext cx="9011475" cy="608485"/>
          </a:xfrm>
        </p:spPr>
        <p:txBody>
          <a:bodyPr/>
          <a:lstStyle/>
          <a:p>
            <a:r>
              <a:rPr lang="en-US" altLang="zh-CN" dirty="0"/>
              <a:t>J: </a:t>
            </a:r>
            <a:r>
              <a:rPr lang="zh-CN" altLang="en-US" dirty="0"/>
              <a:t>单周期数据通路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643494-A5BD-48C3-953B-8386A683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9300" y="6262679"/>
            <a:ext cx="2133600" cy="476250"/>
          </a:xfrm>
        </p:spPr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249" name="Line 15">
            <a:extLst>
              <a:ext uri="{FF2B5EF4-FFF2-40B4-BE49-F238E27FC236}">
                <a16:creationId xmlns:a16="http://schemas.microsoft.com/office/drawing/2014/main" id="{1F1E510F-1CA3-40E1-8A54-D7ACB31B61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9835" y="4090783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0" name="Line 16">
            <a:extLst>
              <a:ext uri="{FF2B5EF4-FFF2-40B4-BE49-F238E27FC236}">
                <a16:creationId xmlns:a16="http://schemas.microsoft.com/office/drawing/2014/main" id="{01CCE0F4-04F3-4240-B163-B1E1F632F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8363" y="401422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" name="Rectangle 17">
            <a:extLst>
              <a:ext uri="{FF2B5EF4-FFF2-40B4-BE49-F238E27FC236}">
                <a16:creationId xmlns:a16="http://schemas.microsoft.com/office/drawing/2014/main" id="{AB6FA74F-7E78-4388-9E35-7A156224F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1993" y="409078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32</a:t>
            </a:r>
          </a:p>
        </p:txBody>
      </p:sp>
      <p:sp>
        <p:nvSpPr>
          <p:cNvPr id="252" name="Rectangle 18">
            <a:extLst>
              <a:ext uri="{FF2B5EF4-FFF2-40B4-BE49-F238E27FC236}">
                <a16:creationId xmlns:a16="http://schemas.microsoft.com/office/drawing/2014/main" id="{F78D04BA-639B-4AEC-8F0D-8F67C338D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9801" y="3924741"/>
            <a:ext cx="7016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Result</a:t>
            </a:r>
          </a:p>
        </p:txBody>
      </p:sp>
      <p:sp>
        <p:nvSpPr>
          <p:cNvPr id="253" name="Line 19">
            <a:extLst>
              <a:ext uri="{FF2B5EF4-FFF2-40B4-BE49-F238E27FC236}">
                <a16:creationId xmlns:a16="http://schemas.microsoft.com/office/drawing/2014/main" id="{DD436114-D2AA-4E66-934B-BE097F435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1480" y="321607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" name="Rectangle 20">
            <a:extLst>
              <a:ext uri="{FF2B5EF4-FFF2-40B4-BE49-F238E27FC236}">
                <a16:creationId xmlns:a16="http://schemas.microsoft.com/office/drawing/2014/main" id="{67221CDE-4AC9-430A-A26D-BB4A039E4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85" y="2949909"/>
            <a:ext cx="13782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ALU</a:t>
            </a:r>
            <a:r>
              <a:rPr lang="en-US" altLang="zh-CN" sz="1600" b="0" dirty="0" err="1">
                <a:solidFill>
                  <a:srgbClr val="00B050"/>
                </a:solidFill>
                <a:latin typeface="Times" charset="0"/>
              </a:rPr>
              <a:t>Conf</a:t>
            </a:r>
            <a:r>
              <a:rPr lang="en-US" altLang="zh-CN" sz="1600" b="0" dirty="0">
                <a:solidFill>
                  <a:srgbClr val="00B050"/>
                </a:solidFill>
                <a:latin typeface="Times" charset="0"/>
              </a:rPr>
              <a:t>=X</a:t>
            </a:r>
            <a:endParaRPr lang="en-US" altLang="en-US" sz="1600" b="0" dirty="0">
              <a:solidFill>
                <a:srgbClr val="00B050"/>
              </a:solidFill>
              <a:latin typeface="Times" charset="0"/>
            </a:endParaRPr>
          </a:p>
        </p:txBody>
      </p:sp>
      <p:sp>
        <p:nvSpPr>
          <p:cNvPr id="255" name="Rectangle 21">
            <a:extLst>
              <a:ext uri="{FF2B5EF4-FFF2-40B4-BE49-F238E27FC236}">
                <a16:creationId xmlns:a16="http://schemas.microsoft.com/office/drawing/2014/main" id="{C8C5CB5F-6923-48C4-82D4-FF2F46DB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621" y="4505650"/>
            <a:ext cx="474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Times" charset="0"/>
              </a:rPr>
              <a:t>Clk</a:t>
            </a:r>
            <a:endParaRPr lang="en-US" altLang="en-US" sz="1600" b="0" dirty="0">
              <a:latin typeface="Times" charset="0"/>
            </a:endParaRPr>
          </a:p>
        </p:txBody>
      </p:sp>
      <p:sp>
        <p:nvSpPr>
          <p:cNvPr id="256" name="Rectangle 22">
            <a:extLst>
              <a:ext uri="{FF2B5EF4-FFF2-40B4-BE49-F238E27FC236}">
                <a16:creationId xmlns:a16="http://schemas.microsoft.com/office/drawing/2014/main" id="{F82072D7-B1B4-4398-8E85-C0BB4D31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090" y="3664116"/>
            <a:ext cx="655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Times" charset="0"/>
              </a:rPr>
              <a:t>busW</a:t>
            </a:r>
            <a:endParaRPr lang="en-US" altLang="en-US" sz="1600" b="0" dirty="0">
              <a:latin typeface="Times" charset="0"/>
            </a:endParaRPr>
          </a:p>
        </p:txBody>
      </p:sp>
      <p:sp>
        <p:nvSpPr>
          <p:cNvPr id="257" name="Rectangle 23">
            <a:extLst>
              <a:ext uri="{FF2B5EF4-FFF2-40B4-BE49-F238E27FC236}">
                <a16:creationId xmlns:a16="http://schemas.microsoft.com/office/drawing/2014/main" id="{C86C711A-702E-4013-814B-D72BD1C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530" y="349388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" name="Line 24">
            <a:extLst>
              <a:ext uri="{FF2B5EF4-FFF2-40B4-BE49-F238E27FC236}">
                <a16:creationId xmlns:a16="http://schemas.microsoft.com/office/drawing/2014/main" id="{CE0A648D-C5A8-43B5-9CAB-950E30E91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8739" y="445993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" name="Line 25">
            <a:extLst>
              <a:ext uri="{FF2B5EF4-FFF2-40B4-BE49-F238E27FC236}">
                <a16:creationId xmlns:a16="http://schemas.microsoft.com/office/drawing/2014/main" id="{6A5220AE-CC4A-4229-BCCB-112E0E0A59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5880" y="457189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" name="Rectangle 27">
            <a:extLst>
              <a:ext uri="{FF2B5EF4-FFF2-40B4-BE49-F238E27FC236}">
                <a16:creationId xmlns:a16="http://schemas.microsoft.com/office/drawing/2014/main" id="{9741B625-50F3-4089-BF68-6DA995778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210" y="2985366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RegWr</a:t>
            </a:r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=0</a:t>
            </a:r>
          </a:p>
        </p:txBody>
      </p:sp>
      <p:sp>
        <p:nvSpPr>
          <p:cNvPr id="261" name="Line 28">
            <a:extLst>
              <a:ext uri="{FF2B5EF4-FFF2-40B4-BE49-F238E27FC236}">
                <a16:creationId xmlns:a16="http://schemas.microsoft.com/office/drawing/2014/main" id="{0564BD8D-58FF-4D1B-8EFC-AFC9053B9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9312" y="4014583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2" name="Line 29">
            <a:extLst>
              <a:ext uri="{FF2B5EF4-FFF2-40B4-BE49-F238E27FC236}">
                <a16:creationId xmlns:a16="http://schemas.microsoft.com/office/drawing/2014/main" id="{67D44215-72EA-49DB-9D2B-074F128B3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2511" y="393179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" name="Rectangle 30">
            <a:extLst>
              <a:ext uri="{FF2B5EF4-FFF2-40B4-BE49-F238E27FC236}">
                <a16:creationId xmlns:a16="http://schemas.microsoft.com/office/drawing/2014/main" id="{A4A4A606-8C61-405B-AB64-BD40AA16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675" y="3971381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264" name="Line 31">
            <a:extLst>
              <a:ext uri="{FF2B5EF4-FFF2-40B4-BE49-F238E27FC236}">
                <a16:creationId xmlns:a16="http://schemas.microsoft.com/office/drawing/2014/main" id="{A3E9AEA8-5B51-497F-9C73-5DFF7E562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455" y="3639993"/>
            <a:ext cx="12311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" name="Line 32">
            <a:extLst>
              <a:ext uri="{FF2B5EF4-FFF2-40B4-BE49-F238E27FC236}">
                <a16:creationId xmlns:a16="http://schemas.microsoft.com/office/drawing/2014/main" id="{6FCCE575-DBCD-4F57-BB58-C907709F8F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6455" y="35637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" name="Rectangle 33">
            <a:extLst>
              <a:ext uri="{FF2B5EF4-FFF2-40B4-BE49-F238E27FC236}">
                <a16:creationId xmlns:a16="http://schemas.microsoft.com/office/drawing/2014/main" id="{D2974F1F-44EC-4522-87FE-69D76356F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718" y="370978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32</a:t>
            </a:r>
          </a:p>
        </p:txBody>
      </p:sp>
      <p:sp>
        <p:nvSpPr>
          <p:cNvPr id="267" name="Rectangle 34">
            <a:extLst>
              <a:ext uri="{FF2B5EF4-FFF2-40B4-BE49-F238E27FC236}">
                <a16:creationId xmlns:a16="http://schemas.microsoft.com/office/drawing/2014/main" id="{4967F1D7-C411-4FE3-85D5-442F5C35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918" y="3328783"/>
            <a:ext cx="609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busA</a:t>
            </a:r>
          </a:p>
        </p:txBody>
      </p:sp>
      <p:sp>
        <p:nvSpPr>
          <p:cNvPr id="268" name="Line 35">
            <a:extLst>
              <a:ext uri="{FF2B5EF4-FFF2-40B4-BE49-F238E27FC236}">
                <a16:creationId xmlns:a16="http://schemas.microsoft.com/office/drawing/2014/main" id="{9562C5A2-9820-49E7-B189-71BC9CE8F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8755" y="323988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9" name="Line 36">
            <a:extLst>
              <a:ext uri="{FF2B5EF4-FFF2-40B4-BE49-F238E27FC236}">
                <a16:creationId xmlns:a16="http://schemas.microsoft.com/office/drawing/2014/main" id="{C4F2B157-4AE0-47BA-AADC-28962842D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455" y="453534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0" name="Line 37">
            <a:extLst>
              <a:ext uri="{FF2B5EF4-FFF2-40B4-BE49-F238E27FC236}">
                <a16:creationId xmlns:a16="http://schemas.microsoft.com/office/drawing/2014/main" id="{3CD6E09F-47EB-4EE7-B4A3-70B87FCC6A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9255" y="447813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1" name="Rectangle 38">
            <a:extLst>
              <a:ext uri="{FF2B5EF4-FFF2-40B4-BE49-F238E27FC236}">
                <a16:creationId xmlns:a16="http://schemas.microsoft.com/office/drawing/2014/main" id="{A8EBFC52-74A8-4F04-8F0F-3378BAE7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918" y="4509400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272" name="Rectangle 39">
            <a:extLst>
              <a:ext uri="{FF2B5EF4-FFF2-40B4-BE49-F238E27FC236}">
                <a16:creationId xmlns:a16="http://schemas.microsoft.com/office/drawing/2014/main" id="{8890410E-BEE5-4B7C-9FF3-80D0453A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910" y="4196395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Times" charset="0"/>
              </a:rPr>
              <a:t>busB</a:t>
            </a:r>
            <a:endParaRPr lang="en-US" altLang="en-US" sz="1600" b="0" dirty="0">
              <a:latin typeface="Times" charset="0"/>
            </a:endParaRPr>
          </a:p>
        </p:txBody>
      </p:sp>
      <p:sp>
        <p:nvSpPr>
          <p:cNvPr id="273" name="Line 40">
            <a:extLst>
              <a:ext uri="{FF2B5EF4-FFF2-40B4-BE49-F238E27FC236}">
                <a16:creationId xmlns:a16="http://schemas.microsoft.com/office/drawing/2014/main" id="{2F208557-7D00-41EA-81F3-D97514E9A1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0307" y="457189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4" name="Line 41">
            <a:extLst>
              <a:ext uri="{FF2B5EF4-FFF2-40B4-BE49-F238E27FC236}">
                <a16:creationId xmlns:a16="http://schemas.microsoft.com/office/drawing/2014/main" id="{853F4E37-6982-4240-9D85-D58BCC856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3555" y="2808083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" name="Line 42">
            <a:extLst>
              <a:ext uri="{FF2B5EF4-FFF2-40B4-BE49-F238E27FC236}">
                <a16:creationId xmlns:a16="http://schemas.microsoft.com/office/drawing/2014/main" id="{24EC967B-AFA6-4296-9EBD-33F317005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3705" y="317003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" name="Rectangle 43">
            <a:extLst>
              <a:ext uri="{FF2B5EF4-FFF2-40B4-BE49-F238E27FC236}">
                <a16:creationId xmlns:a16="http://schemas.microsoft.com/office/drawing/2014/main" id="{15239C6B-1AD0-497D-A2F9-3AE85541D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668" y="302398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5</a:t>
            </a:r>
          </a:p>
        </p:txBody>
      </p:sp>
      <p:sp>
        <p:nvSpPr>
          <p:cNvPr id="277" name="Line 44">
            <a:extLst>
              <a:ext uri="{FF2B5EF4-FFF2-40B4-BE49-F238E27FC236}">
                <a16:creationId xmlns:a16="http://schemas.microsoft.com/office/drawing/2014/main" id="{4E85EDF2-3E61-4A7F-9EC1-62BF769DD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555" y="307002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" name="Line 45">
            <a:extLst>
              <a:ext uri="{FF2B5EF4-FFF2-40B4-BE49-F238E27FC236}">
                <a16:creationId xmlns:a16="http://schemas.microsoft.com/office/drawing/2014/main" id="{A9F05E1C-2203-4AD8-BDB8-2576E42C1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4705" y="317003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" name="Rectangle 46">
            <a:extLst>
              <a:ext uri="{FF2B5EF4-FFF2-40B4-BE49-F238E27FC236}">
                <a16:creationId xmlns:a16="http://schemas.microsoft.com/office/drawing/2014/main" id="{9F4CF38E-D72A-4A5B-9EF6-DB318527D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668" y="302398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5</a:t>
            </a:r>
          </a:p>
        </p:txBody>
      </p:sp>
      <p:sp>
        <p:nvSpPr>
          <p:cNvPr id="280" name="Line 47">
            <a:extLst>
              <a:ext uri="{FF2B5EF4-FFF2-40B4-BE49-F238E27FC236}">
                <a16:creationId xmlns:a16="http://schemas.microsoft.com/office/drawing/2014/main" id="{B16AFCD2-25BE-443B-8A9A-D3F478761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755" y="307002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1" name="Line 48">
            <a:extLst>
              <a:ext uri="{FF2B5EF4-FFF2-40B4-BE49-F238E27FC236}">
                <a16:creationId xmlns:a16="http://schemas.microsoft.com/office/drawing/2014/main" id="{55B9AD14-F9F4-4667-8D6B-61C4861E83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905" y="317003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2" name="Rectangle 49">
            <a:extLst>
              <a:ext uri="{FF2B5EF4-FFF2-40B4-BE49-F238E27FC236}">
                <a16:creationId xmlns:a16="http://schemas.microsoft.com/office/drawing/2014/main" id="{AEB3663F-C67F-4AD2-8480-4AAB4DF42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868" y="302398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5</a:t>
            </a:r>
          </a:p>
        </p:txBody>
      </p:sp>
      <p:sp>
        <p:nvSpPr>
          <p:cNvPr id="283" name="Rectangle 50">
            <a:extLst>
              <a:ext uri="{FF2B5EF4-FFF2-40B4-BE49-F238E27FC236}">
                <a16:creationId xmlns:a16="http://schemas.microsoft.com/office/drawing/2014/main" id="{FA8F9996-8821-4519-A01D-BA71F0FCB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668" y="3481183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Rw</a:t>
            </a:r>
          </a:p>
        </p:txBody>
      </p:sp>
      <p:sp>
        <p:nvSpPr>
          <p:cNvPr id="284" name="Rectangle 51">
            <a:extLst>
              <a:ext uri="{FF2B5EF4-FFF2-40B4-BE49-F238E27FC236}">
                <a16:creationId xmlns:a16="http://schemas.microsoft.com/office/drawing/2014/main" id="{AD34CE1B-0D6A-44A9-8BD0-2E6414D0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868" y="348118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Ra</a:t>
            </a:r>
          </a:p>
        </p:txBody>
      </p:sp>
      <p:sp>
        <p:nvSpPr>
          <p:cNvPr id="285" name="Rectangle 52">
            <a:extLst>
              <a:ext uri="{FF2B5EF4-FFF2-40B4-BE49-F238E27FC236}">
                <a16:creationId xmlns:a16="http://schemas.microsoft.com/office/drawing/2014/main" id="{0849EBB5-89C3-45B9-AD99-3F1C0EE7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868" y="3481183"/>
            <a:ext cx="4175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Rb</a:t>
            </a:r>
          </a:p>
        </p:txBody>
      </p:sp>
      <p:sp>
        <p:nvSpPr>
          <p:cNvPr id="286" name="Rectangle 53">
            <a:extLst>
              <a:ext uri="{FF2B5EF4-FFF2-40B4-BE49-F238E27FC236}">
                <a16:creationId xmlns:a16="http://schemas.microsoft.com/office/drawing/2014/main" id="{B329625B-7345-45A7-B4C2-EF137F58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668" y="378598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</a:rPr>
              <a:t>Registers</a:t>
            </a:r>
          </a:p>
        </p:txBody>
      </p:sp>
      <p:sp>
        <p:nvSpPr>
          <p:cNvPr id="287" name="Line 54">
            <a:extLst>
              <a:ext uri="{FF2B5EF4-FFF2-40B4-BE49-F238E27FC236}">
                <a16:creationId xmlns:a16="http://schemas.microsoft.com/office/drawing/2014/main" id="{27FBFAEA-EDA6-4248-9A0C-F99BFBEED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9311" y="6738929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" name="Line 55">
            <a:extLst>
              <a:ext uri="{FF2B5EF4-FFF2-40B4-BE49-F238E27FC236}">
                <a16:creationId xmlns:a16="http://schemas.microsoft.com/office/drawing/2014/main" id="{95F87794-CC4B-4AA3-9B87-02075431A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9312" y="4006228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89" name="Rectangle 56">
            <a:extLst>
              <a:ext uri="{FF2B5EF4-FFF2-40B4-BE49-F238E27FC236}">
                <a16:creationId xmlns:a16="http://schemas.microsoft.com/office/drawing/2014/main" id="{9AB477B4-73E5-4A35-B8E0-DB49983E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568" y="276998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Rs</a:t>
            </a:r>
          </a:p>
        </p:txBody>
      </p:sp>
      <p:sp>
        <p:nvSpPr>
          <p:cNvPr id="290" name="Line 88">
            <a:extLst>
              <a:ext uri="{FF2B5EF4-FFF2-40B4-BE49-F238E27FC236}">
                <a16:creationId xmlns:a16="http://schemas.microsoft.com/office/drawing/2014/main" id="{C8607BA9-0DC8-43E5-B57F-6115D66C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967" y="454798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" name="Line 89">
            <a:extLst>
              <a:ext uri="{FF2B5EF4-FFF2-40B4-BE49-F238E27FC236}">
                <a16:creationId xmlns:a16="http://schemas.microsoft.com/office/drawing/2014/main" id="{8D5D2CFB-F062-40D8-ACC6-7DFD7F0CB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787" y="5700364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7CB9058C-78E8-407E-A27C-655933650E39}"/>
              </a:ext>
            </a:extLst>
          </p:cNvPr>
          <p:cNvGrpSpPr/>
          <p:nvPr/>
        </p:nvGrpSpPr>
        <p:grpSpPr>
          <a:xfrm>
            <a:off x="6703512" y="3493883"/>
            <a:ext cx="504031" cy="1193800"/>
            <a:chOff x="5799138" y="4889500"/>
            <a:chExt cx="504031" cy="1193800"/>
          </a:xfrm>
        </p:grpSpPr>
        <p:grpSp>
          <p:nvGrpSpPr>
            <p:cNvPr id="294" name="Group 4">
              <a:extLst>
                <a:ext uri="{FF2B5EF4-FFF2-40B4-BE49-F238E27FC236}">
                  <a16:creationId xmlns:a16="http://schemas.microsoft.com/office/drawing/2014/main" id="{129873DE-0536-4320-AE00-3C9462EB2E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96" name="Line 5">
                <a:extLst>
                  <a:ext uri="{FF2B5EF4-FFF2-40B4-BE49-F238E27FC236}">
                    <a16:creationId xmlns:a16="http://schemas.microsoft.com/office/drawing/2014/main" id="{6D79D47B-6051-4E9A-98DF-C587BBF15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" name="Line 6">
                <a:extLst>
                  <a:ext uri="{FF2B5EF4-FFF2-40B4-BE49-F238E27FC236}">
                    <a16:creationId xmlns:a16="http://schemas.microsoft.com/office/drawing/2014/main" id="{F2B04187-7EED-42CA-8B3E-65ABBE69A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" name="Line 7">
                <a:extLst>
                  <a:ext uri="{FF2B5EF4-FFF2-40B4-BE49-F238E27FC236}">
                    <a16:creationId xmlns:a16="http://schemas.microsoft.com/office/drawing/2014/main" id="{F03B129F-4241-4134-BD22-119C49D47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" name="Line 8">
                <a:extLst>
                  <a:ext uri="{FF2B5EF4-FFF2-40B4-BE49-F238E27FC236}">
                    <a16:creationId xmlns:a16="http://schemas.microsoft.com/office/drawing/2014/main" id="{3B35D66C-A79B-4686-A85A-3B276BDAF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0" name="Line 9">
                <a:extLst>
                  <a:ext uri="{FF2B5EF4-FFF2-40B4-BE49-F238E27FC236}">
                    <a16:creationId xmlns:a16="http://schemas.microsoft.com/office/drawing/2014/main" id="{936D97A2-3616-4167-9886-B64464106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1" name="Line 10">
                <a:extLst>
                  <a:ext uri="{FF2B5EF4-FFF2-40B4-BE49-F238E27FC236}">
                    <a16:creationId xmlns:a16="http://schemas.microsoft.com/office/drawing/2014/main" id="{CD7C3777-FE55-4929-A2A8-00BACF88C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2" name="Line 11">
                <a:extLst>
                  <a:ext uri="{FF2B5EF4-FFF2-40B4-BE49-F238E27FC236}">
                    <a16:creationId xmlns:a16="http://schemas.microsoft.com/office/drawing/2014/main" id="{908A1BB8-C246-49ED-8ED8-D02D1A5A7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3" name="Line 12">
                <a:extLst>
                  <a:ext uri="{FF2B5EF4-FFF2-40B4-BE49-F238E27FC236}">
                    <a16:creationId xmlns:a16="http://schemas.microsoft.com/office/drawing/2014/main" id="{CF769393-F30F-4BE7-AA11-0F8D30F18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5" name="Rectangle 58">
              <a:extLst>
                <a:ext uri="{FF2B5EF4-FFF2-40B4-BE49-F238E27FC236}">
                  <a16:creationId xmlns:a16="http://schemas.microsoft.com/office/drawing/2014/main" id="{63C4093E-F5A1-43DC-9765-30A558A8D0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</a:rPr>
                <a:t>ALU</a:t>
              </a:r>
            </a:p>
          </p:txBody>
        </p:sp>
      </p:grpSp>
      <p:sp>
        <p:nvSpPr>
          <p:cNvPr id="304" name="Rectangle 62">
            <a:extLst>
              <a:ext uri="{FF2B5EF4-FFF2-40B4-BE49-F238E27FC236}">
                <a16:creationId xmlns:a16="http://schemas.microsoft.com/office/drawing/2014/main" id="{749AAB56-B965-43A5-A51D-84E4B2E38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98" y="487765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" name="Rectangle 63">
            <a:extLst>
              <a:ext uri="{FF2B5EF4-FFF2-40B4-BE49-F238E27FC236}">
                <a16:creationId xmlns:a16="http://schemas.microsoft.com/office/drawing/2014/main" id="{BAE3EE1F-D53F-4544-8AC4-CFDB6CF39E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45158" y="511050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</a:rPr>
              <a:t>ImmExt</a:t>
            </a:r>
            <a:endParaRPr lang="en-US" altLang="en-US" sz="1600" dirty="0">
              <a:latin typeface="Times" charset="0"/>
            </a:endParaRPr>
          </a:p>
        </p:txBody>
      </p:sp>
      <p:sp>
        <p:nvSpPr>
          <p:cNvPr id="306" name="Rectangle 64">
            <a:extLst>
              <a:ext uri="{FF2B5EF4-FFF2-40B4-BE49-F238E27FC236}">
                <a16:creationId xmlns:a16="http://schemas.microsoft.com/office/drawing/2014/main" id="{683E5BE3-0D09-400C-B913-04C9983B9CE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55799" y="470065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Mux</a:t>
            </a:r>
          </a:p>
        </p:txBody>
      </p:sp>
      <p:sp>
        <p:nvSpPr>
          <p:cNvPr id="307" name="Line 79">
            <a:extLst>
              <a:ext uri="{FF2B5EF4-FFF2-40B4-BE49-F238E27FC236}">
                <a16:creationId xmlns:a16="http://schemas.microsoft.com/office/drawing/2014/main" id="{BEDC5976-E600-4AF5-9662-5CA812423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398" y="5245956"/>
            <a:ext cx="6461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" name="Line 82">
            <a:extLst>
              <a:ext uri="{FF2B5EF4-FFF2-40B4-BE49-F238E27FC236}">
                <a16:creationId xmlns:a16="http://schemas.microsoft.com/office/drawing/2014/main" id="{12B173FB-A218-49A3-9135-E123C13E6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269" y="5244369"/>
            <a:ext cx="6175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1" name="Line 83">
            <a:extLst>
              <a:ext uri="{FF2B5EF4-FFF2-40B4-BE49-F238E27FC236}">
                <a16:creationId xmlns:a16="http://schemas.microsoft.com/office/drawing/2014/main" id="{9C8066FB-8F76-4F4F-8EE4-D357FF780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1646" y="517441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2" name="Rectangle 84">
            <a:extLst>
              <a:ext uri="{FF2B5EF4-FFF2-40B4-BE49-F238E27FC236}">
                <a16:creationId xmlns:a16="http://schemas.microsoft.com/office/drawing/2014/main" id="{69303944-DE9E-4C49-AD26-79BEADCD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468" y="5322156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16</a:t>
            </a:r>
          </a:p>
        </p:txBody>
      </p:sp>
      <p:sp>
        <p:nvSpPr>
          <p:cNvPr id="313" name="Rectangle 85">
            <a:extLst>
              <a:ext uri="{FF2B5EF4-FFF2-40B4-BE49-F238E27FC236}">
                <a16:creationId xmlns:a16="http://schemas.microsoft.com/office/drawing/2014/main" id="{D5A4F6A3-592A-426C-9BC2-68FD81A8B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268" y="5169756"/>
            <a:ext cx="758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imm16</a:t>
            </a:r>
          </a:p>
        </p:txBody>
      </p:sp>
      <p:sp>
        <p:nvSpPr>
          <p:cNvPr id="314" name="Line 86">
            <a:extLst>
              <a:ext uri="{FF2B5EF4-FFF2-40B4-BE49-F238E27FC236}">
                <a16:creationId xmlns:a16="http://schemas.microsoft.com/office/drawing/2014/main" id="{531514D5-DF23-41CC-AA3D-3E0C234C38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4607" y="320536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" name="Rectangle 87">
            <a:extLst>
              <a:ext uri="{FF2B5EF4-FFF2-40B4-BE49-F238E27FC236}">
                <a16:creationId xmlns:a16="http://schemas.microsoft.com/office/drawing/2014/main" id="{8050CEF7-1847-44E0-BA01-90A30C41E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501" y="2903952"/>
            <a:ext cx="113973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ALUSrc</a:t>
            </a:r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=X</a:t>
            </a:r>
          </a:p>
        </p:txBody>
      </p:sp>
      <p:grpSp>
        <p:nvGrpSpPr>
          <p:cNvPr id="316" name="Group 57">
            <a:extLst>
              <a:ext uri="{FF2B5EF4-FFF2-40B4-BE49-F238E27FC236}">
                <a16:creationId xmlns:a16="http://schemas.microsoft.com/office/drawing/2014/main" id="{DFF0348E-AD6A-4E31-B7A9-F2535C9385F6}"/>
              </a:ext>
            </a:extLst>
          </p:cNvPr>
          <p:cNvGrpSpPr>
            <a:grpSpLocks/>
          </p:cNvGrpSpPr>
          <p:nvPr/>
        </p:nvGrpSpPr>
        <p:grpSpPr bwMode="auto">
          <a:xfrm>
            <a:off x="6105817" y="4261171"/>
            <a:ext cx="311150" cy="1117600"/>
            <a:chOff x="3116" y="3032"/>
            <a:chExt cx="196" cy="704"/>
          </a:xfrm>
        </p:grpSpPr>
        <p:sp>
          <p:nvSpPr>
            <p:cNvPr id="317" name="Line 58">
              <a:extLst>
                <a:ext uri="{FF2B5EF4-FFF2-40B4-BE49-F238E27FC236}">
                  <a16:creationId xmlns:a16="http://schemas.microsoft.com/office/drawing/2014/main" id="{8CA72B9D-9A7F-4AA2-800F-452A7427F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" name="Line 59">
              <a:extLst>
                <a:ext uri="{FF2B5EF4-FFF2-40B4-BE49-F238E27FC236}">
                  <a16:creationId xmlns:a16="http://schemas.microsoft.com/office/drawing/2014/main" id="{41D9EDFF-0DAA-4F7F-8FFD-C4CEB5CDF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" name="Line 60">
              <a:extLst>
                <a:ext uri="{FF2B5EF4-FFF2-40B4-BE49-F238E27FC236}">
                  <a16:creationId xmlns:a16="http://schemas.microsoft.com/office/drawing/2014/main" id="{EAC3565A-8149-4BF1-ABDD-542D2182D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" name="Line 61">
              <a:extLst>
                <a:ext uri="{FF2B5EF4-FFF2-40B4-BE49-F238E27FC236}">
                  <a16:creationId xmlns:a16="http://schemas.microsoft.com/office/drawing/2014/main" id="{8BCBEF45-1341-495C-B6E6-4AE8D5E3B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1" name="Line 89">
            <a:extLst>
              <a:ext uri="{FF2B5EF4-FFF2-40B4-BE49-F238E27FC236}">
                <a16:creationId xmlns:a16="http://schemas.microsoft.com/office/drawing/2014/main" id="{9815B9AF-BED6-47DB-AF35-169925459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886" y="408443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2" name="Rectangle 114">
            <a:extLst>
              <a:ext uri="{FF2B5EF4-FFF2-40B4-BE49-F238E27FC236}">
                <a16:creationId xmlns:a16="http://schemas.microsoft.com/office/drawing/2014/main" id="{4FDCA2BB-BE3A-47E1-92EB-F0B4DF55D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214" y="542702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3" name="Line 115">
            <a:extLst>
              <a:ext uri="{FF2B5EF4-FFF2-40B4-BE49-F238E27FC236}">
                <a16:creationId xmlns:a16="http://schemas.microsoft.com/office/drawing/2014/main" id="{80ACE0A1-E4BC-4220-B3D4-A7BAFAFAA9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7969" y="644811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" name="Rectangle 116">
            <a:extLst>
              <a:ext uri="{FF2B5EF4-FFF2-40B4-BE49-F238E27FC236}">
                <a16:creationId xmlns:a16="http://schemas.microsoft.com/office/drawing/2014/main" id="{86737407-26DD-4364-A3F2-476A3ACFE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778" y="6142125"/>
            <a:ext cx="474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Clk</a:t>
            </a:r>
          </a:p>
        </p:txBody>
      </p:sp>
      <p:sp>
        <p:nvSpPr>
          <p:cNvPr id="325" name="Rectangle 117">
            <a:extLst>
              <a:ext uri="{FF2B5EF4-FFF2-40B4-BE49-F238E27FC236}">
                <a16:creationId xmlns:a16="http://schemas.microsoft.com/office/drawing/2014/main" id="{A45A0D9A-F5D8-45EB-AACE-23D89D9DC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396" y="5600814"/>
            <a:ext cx="7858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Data In</a:t>
            </a:r>
          </a:p>
        </p:txBody>
      </p:sp>
      <p:sp>
        <p:nvSpPr>
          <p:cNvPr id="326" name="Line 118">
            <a:extLst>
              <a:ext uri="{FF2B5EF4-FFF2-40B4-BE49-F238E27FC236}">
                <a16:creationId xmlns:a16="http://schemas.microsoft.com/office/drawing/2014/main" id="{CCAADB2B-8B15-4912-93FF-670ADBDF2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3040" y="635412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" name="Line 119">
            <a:extLst>
              <a:ext uri="{FF2B5EF4-FFF2-40B4-BE49-F238E27FC236}">
                <a16:creationId xmlns:a16="http://schemas.microsoft.com/office/drawing/2014/main" id="{D4765CE6-E590-4DBF-B67C-EF43398E46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5739" y="644811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" name="Rectangle 121">
            <a:extLst>
              <a:ext uri="{FF2B5EF4-FFF2-40B4-BE49-F238E27FC236}">
                <a16:creationId xmlns:a16="http://schemas.microsoft.com/office/drawing/2014/main" id="{16DBDD19-D72A-4B3E-BF54-78D0D6C30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41115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WrEn</a:t>
            </a:r>
          </a:p>
        </p:txBody>
      </p:sp>
      <p:sp>
        <p:nvSpPr>
          <p:cNvPr id="329" name="Line 122">
            <a:extLst>
              <a:ext uri="{FF2B5EF4-FFF2-40B4-BE49-F238E27FC236}">
                <a16:creationId xmlns:a16="http://schemas.microsoft.com/office/drawing/2014/main" id="{EC8C7D71-F400-4B93-BF49-16C8BA6FBE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162" y="592073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0" name="Line 123">
            <a:extLst>
              <a:ext uri="{FF2B5EF4-FFF2-40B4-BE49-F238E27FC236}">
                <a16:creationId xmlns:a16="http://schemas.microsoft.com/office/drawing/2014/main" id="{22B57D1D-4D73-41C9-8D5B-355B642969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9489" y="585565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1" name="Rectangle 124">
            <a:extLst>
              <a:ext uri="{FF2B5EF4-FFF2-40B4-BE49-F238E27FC236}">
                <a16:creationId xmlns:a16="http://schemas.microsoft.com/office/drawing/2014/main" id="{0A3B8401-C0FE-4EB4-B8B8-C486218A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583" y="5861975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332" name="Line 125">
            <a:extLst>
              <a:ext uri="{FF2B5EF4-FFF2-40B4-BE49-F238E27FC236}">
                <a16:creationId xmlns:a16="http://schemas.microsoft.com/office/drawing/2014/main" id="{745843E1-841D-4C9B-B331-7E808ED71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7839" y="518572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" name="Rectangle 127">
            <a:extLst>
              <a:ext uri="{FF2B5EF4-FFF2-40B4-BE49-F238E27FC236}">
                <a16:creationId xmlns:a16="http://schemas.microsoft.com/office/drawing/2014/main" id="{F23CA376-4D9B-4A3E-AABD-06C0A1313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352" y="541273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Times" charset="0"/>
              </a:rPr>
              <a:t>Addr</a:t>
            </a:r>
            <a:endParaRPr lang="en-US" altLang="en-US" sz="1600" b="0" dirty="0">
              <a:latin typeface="Times" charset="0"/>
            </a:endParaRPr>
          </a:p>
        </p:txBody>
      </p:sp>
      <p:sp>
        <p:nvSpPr>
          <p:cNvPr id="334" name="Rectangle 128">
            <a:extLst>
              <a:ext uri="{FF2B5EF4-FFF2-40B4-BE49-F238E27FC236}">
                <a16:creationId xmlns:a16="http://schemas.microsoft.com/office/drawing/2014/main" id="{7337D36F-03ED-42C1-8D6A-AB811689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621" y="5743884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b="1" dirty="0">
                <a:latin typeface="Times" charset="0"/>
              </a:rPr>
              <a:t>Data</a:t>
            </a:r>
          </a:p>
          <a:p>
            <a:pPr algn="ctr" eaLnBrk="0" hangingPunct="0"/>
            <a:r>
              <a:rPr lang="en-US" altLang="en-US" sz="1600" b="1" dirty="0">
                <a:latin typeface="Times" charset="0"/>
              </a:rPr>
              <a:t>Memory</a:t>
            </a:r>
          </a:p>
        </p:txBody>
      </p:sp>
      <p:sp>
        <p:nvSpPr>
          <p:cNvPr id="335" name="Line 130">
            <a:extLst>
              <a:ext uri="{FF2B5EF4-FFF2-40B4-BE49-F238E27FC236}">
                <a16:creationId xmlns:a16="http://schemas.microsoft.com/office/drawing/2014/main" id="{2C31C1B6-9D32-409A-A86D-12AE77E90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80189" y="592585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" name="Rectangle 131">
            <a:extLst>
              <a:ext uri="{FF2B5EF4-FFF2-40B4-BE49-F238E27FC236}">
                <a16:creationId xmlns:a16="http://schemas.microsoft.com/office/drawing/2014/main" id="{A5940026-75BC-4D60-9F46-91F425BDB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440" y="5669120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337" name="Rectangle 133">
            <a:extLst>
              <a:ext uri="{FF2B5EF4-FFF2-40B4-BE49-F238E27FC236}">
                <a16:creationId xmlns:a16="http://schemas.microsoft.com/office/drawing/2014/main" id="{947A070F-30E5-429C-B8D0-98BC3008E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2103" y="4887074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MemWr</a:t>
            </a:r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=0</a:t>
            </a:r>
          </a:p>
        </p:txBody>
      </p:sp>
      <p:sp>
        <p:nvSpPr>
          <p:cNvPr id="338" name="Line 122">
            <a:extLst>
              <a:ext uri="{FF2B5EF4-FFF2-40B4-BE49-F238E27FC236}">
                <a16:creationId xmlns:a16="http://schemas.microsoft.com/office/drawing/2014/main" id="{8DD8B626-333B-4347-9C19-15830D86A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83338" y="5987414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9" name="Rectangle 117">
            <a:extLst>
              <a:ext uri="{FF2B5EF4-FFF2-40B4-BE49-F238E27FC236}">
                <a16:creationId xmlns:a16="http://schemas.microsoft.com/office/drawing/2014/main" id="{112B477E-779A-4E63-85F2-0C0E5E5D0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911" y="568834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b="0" dirty="0">
                <a:latin typeface="Times" charset="0"/>
              </a:rPr>
              <a:t>Data </a:t>
            </a:r>
            <a:r>
              <a:rPr lang="en-US" altLang="zh-CN" sz="1600" b="0" dirty="0">
                <a:latin typeface="Times" charset="0"/>
              </a:rPr>
              <a:t>Out</a:t>
            </a:r>
            <a:endParaRPr lang="en-US" altLang="en-US" sz="1600" b="0" dirty="0">
              <a:latin typeface="Times" charset="0"/>
            </a:endParaRPr>
          </a:p>
        </p:txBody>
      </p:sp>
      <p:grpSp>
        <p:nvGrpSpPr>
          <p:cNvPr id="340" name="Group 57">
            <a:extLst>
              <a:ext uri="{FF2B5EF4-FFF2-40B4-BE49-F238E27FC236}">
                <a16:creationId xmlns:a16="http://schemas.microsoft.com/office/drawing/2014/main" id="{9600A6ED-3A1B-4F1E-8771-63D9D5E1EFE2}"/>
              </a:ext>
            </a:extLst>
          </p:cNvPr>
          <p:cNvGrpSpPr>
            <a:grpSpLocks/>
          </p:cNvGrpSpPr>
          <p:nvPr/>
        </p:nvGrpSpPr>
        <p:grpSpPr bwMode="auto">
          <a:xfrm>
            <a:off x="8313620" y="5131656"/>
            <a:ext cx="311150" cy="1117600"/>
            <a:chOff x="3116" y="3032"/>
            <a:chExt cx="196" cy="704"/>
          </a:xfrm>
        </p:grpSpPr>
        <p:sp>
          <p:nvSpPr>
            <p:cNvPr id="341" name="Line 58">
              <a:extLst>
                <a:ext uri="{FF2B5EF4-FFF2-40B4-BE49-F238E27FC236}">
                  <a16:creationId xmlns:a16="http://schemas.microsoft.com/office/drawing/2014/main" id="{8CC22715-90B1-45B8-9CE9-CBD020D48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2" name="Line 59">
              <a:extLst>
                <a:ext uri="{FF2B5EF4-FFF2-40B4-BE49-F238E27FC236}">
                  <a16:creationId xmlns:a16="http://schemas.microsoft.com/office/drawing/2014/main" id="{51FF5BFF-0C32-4224-BF69-E243F8E93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" name="Line 60">
              <a:extLst>
                <a:ext uri="{FF2B5EF4-FFF2-40B4-BE49-F238E27FC236}">
                  <a16:creationId xmlns:a16="http://schemas.microsoft.com/office/drawing/2014/main" id="{DCD542C4-E782-411B-B8B6-6BC67D5CE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4" name="Line 61">
              <a:extLst>
                <a:ext uri="{FF2B5EF4-FFF2-40B4-BE49-F238E27FC236}">
                  <a16:creationId xmlns:a16="http://schemas.microsoft.com/office/drawing/2014/main" id="{7269F2E1-447B-44BE-9314-8D78C4E32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5" name="Line 89">
            <a:extLst>
              <a:ext uri="{FF2B5EF4-FFF2-40B4-BE49-F238E27FC236}">
                <a16:creationId xmlns:a16="http://schemas.microsoft.com/office/drawing/2014/main" id="{BDBEBF97-F4D1-403B-B926-93594B3B6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4770" y="5709506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" name="Line 89">
            <a:extLst>
              <a:ext uri="{FF2B5EF4-FFF2-40B4-BE49-F238E27FC236}">
                <a16:creationId xmlns:a16="http://schemas.microsoft.com/office/drawing/2014/main" id="{AD46EA8F-3126-46B3-B4C0-3ED9F8C69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602" y="408443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" name="Line 89">
            <a:extLst>
              <a:ext uri="{FF2B5EF4-FFF2-40B4-BE49-F238E27FC236}">
                <a16:creationId xmlns:a16="http://schemas.microsoft.com/office/drawing/2014/main" id="{1B072ED3-74E5-493E-9165-C0AD4A022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602" y="542067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" name="Rectangle 64">
            <a:extLst>
              <a:ext uri="{FF2B5EF4-FFF2-40B4-BE49-F238E27FC236}">
                <a16:creationId xmlns:a16="http://schemas.microsoft.com/office/drawing/2014/main" id="{677877D2-0C63-401E-A974-0B98C74F771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77529" y="557759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Mux</a:t>
            </a:r>
          </a:p>
        </p:txBody>
      </p:sp>
      <p:sp>
        <p:nvSpPr>
          <p:cNvPr id="349" name="Line 19">
            <a:extLst>
              <a:ext uri="{FF2B5EF4-FFF2-40B4-BE49-F238E27FC236}">
                <a16:creationId xmlns:a16="http://schemas.microsoft.com/office/drawing/2014/main" id="{FA951B3F-E595-4255-A854-8AB00D9F5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7063" y="476917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0" name="Line 112">
            <a:extLst>
              <a:ext uri="{FF2B5EF4-FFF2-40B4-BE49-F238E27FC236}">
                <a16:creationId xmlns:a16="http://schemas.microsoft.com/office/drawing/2014/main" id="{42E0A77A-1357-494C-A9BE-34ADFE2E5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2882" y="569460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" name="Rectangle 113">
            <a:extLst>
              <a:ext uri="{FF2B5EF4-FFF2-40B4-BE49-F238E27FC236}">
                <a16:creationId xmlns:a16="http://schemas.microsoft.com/office/drawing/2014/main" id="{7D6543E3-2BE9-42D6-B3BE-EB4B8E24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486" y="5797123"/>
            <a:ext cx="98103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ExtOp</a:t>
            </a:r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=X</a:t>
            </a:r>
          </a:p>
        </p:txBody>
      </p:sp>
      <p:sp>
        <p:nvSpPr>
          <p:cNvPr id="352" name="Line 89">
            <a:extLst>
              <a:ext uri="{FF2B5EF4-FFF2-40B4-BE49-F238E27FC236}">
                <a16:creationId xmlns:a16="http://schemas.microsoft.com/office/drawing/2014/main" id="{14FFC342-F02C-435F-9160-4B36CE7A7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4162" y="453534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" name="Group 65">
            <a:extLst>
              <a:ext uri="{FF2B5EF4-FFF2-40B4-BE49-F238E27FC236}">
                <a16:creationId xmlns:a16="http://schemas.microsoft.com/office/drawing/2014/main" id="{1CAE636E-6149-45AC-9525-5DFE97D02848}"/>
              </a:ext>
            </a:extLst>
          </p:cNvPr>
          <p:cNvGrpSpPr>
            <a:grpSpLocks/>
          </p:cNvGrpSpPr>
          <p:nvPr/>
        </p:nvGrpSpPr>
        <p:grpSpPr bwMode="auto">
          <a:xfrm>
            <a:off x="3910307" y="2159083"/>
            <a:ext cx="2312988" cy="676275"/>
            <a:chOff x="1408" y="1728"/>
            <a:chExt cx="1457" cy="426"/>
          </a:xfrm>
        </p:grpSpPr>
        <p:sp>
          <p:nvSpPr>
            <p:cNvPr id="134" name="Rectangle 67">
              <a:extLst>
                <a:ext uri="{FF2B5EF4-FFF2-40B4-BE49-F238E27FC236}">
                  <a16:creationId xmlns:a16="http://schemas.microsoft.com/office/drawing/2014/main" id="{60E251C4-7CC4-4910-BB56-0FB56CE1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0">
                  <a:latin typeface="Times" charset="0"/>
                </a:rPr>
                <a:t>Rt</a:t>
              </a:r>
            </a:p>
          </p:txBody>
        </p:sp>
        <p:grpSp>
          <p:nvGrpSpPr>
            <p:cNvPr id="135" name="Group 68">
              <a:extLst>
                <a:ext uri="{FF2B5EF4-FFF2-40B4-BE49-F238E27FC236}">
                  <a16:creationId xmlns:a16="http://schemas.microsoft.com/office/drawing/2014/main" id="{539F93B7-FE3E-40BC-A832-81D6FDBAD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142" name="Line 69">
                <a:extLst>
                  <a:ext uri="{FF2B5EF4-FFF2-40B4-BE49-F238E27FC236}">
                    <a16:creationId xmlns:a16="http://schemas.microsoft.com/office/drawing/2014/main" id="{4F094669-E8B1-4761-AB38-57C7AD3FF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70">
                <a:extLst>
                  <a:ext uri="{FF2B5EF4-FFF2-40B4-BE49-F238E27FC236}">
                    <a16:creationId xmlns:a16="http://schemas.microsoft.com/office/drawing/2014/main" id="{CF422355-B9CD-4BBE-91F6-145B8F3A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71">
                <a:extLst>
                  <a:ext uri="{FF2B5EF4-FFF2-40B4-BE49-F238E27FC236}">
                    <a16:creationId xmlns:a16="http://schemas.microsoft.com/office/drawing/2014/main" id="{8CB3186E-4F12-49EE-AAEB-A9458BA7E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72">
                <a:extLst>
                  <a:ext uri="{FF2B5EF4-FFF2-40B4-BE49-F238E27FC236}">
                    <a16:creationId xmlns:a16="http://schemas.microsoft.com/office/drawing/2014/main" id="{B7812094-0C7B-44AA-A7E2-861F2C836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6" name="Line 73">
              <a:extLst>
                <a:ext uri="{FF2B5EF4-FFF2-40B4-BE49-F238E27FC236}">
                  <a16:creationId xmlns:a16="http://schemas.microsoft.com/office/drawing/2014/main" id="{8A7CE8BF-A111-4054-B1E3-C01F358AC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74">
              <a:extLst>
                <a:ext uri="{FF2B5EF4-FFF2-40B4-BE49-F238E27FC236}">
                  <a16:creationId xmlns:a16="http://schemas.microsoft.com/office/drawing/2014/main" id="{E0340C46-1282-44CB-824D-FB57DE6D0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Rectangle 75">
              <a:extLst>
                <a:ext uri="{FF2B5EF4-FFF2-40B4-BE49-F238E27FC236}">
                  <a16:creationId xmlns:a16="http://schemas.microsoft.com/office/drawing/2014/main" id="{FF13F80D-91A6-48AD-ACA8-8E8D48E2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0">
                  <a:latin typeface="Times" charset="0"/>
                </a:rPr>
                <a:t>Rd</a:t>
              </a:r>
            </a:p>
          </p:txBody>
        </p:sp>
        <p:sp>
          <p:nvSpPr>
            <p:cNvPr id="139" name="Line 76">
              <a:extLst>
                <a:ext uri="{FF2B5EF4-FFF2-40B4-BE49-F238E27FC236}">
                  <a16:creationId xmlns:a16="http://schemas.microsoft.com/office/drawing/2014/main" id="{E8771696-EC60-4A85-A07D-994384E32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9" y="2070"/>
              <a:ext cx="4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Rectangle 77">
              <a:extLst>
                <a:ext uri="{FF2B5EF4-FFF2-40B4-BE49-F238E27FC236}">
                  <a16:creationId xmlns:a16="http://schemas.microsoft.com/office/drawing/2014/main" id="{0C27E2E6-8E12-4117-B39A-D5C9EEC7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47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0" dirty="0" err="1">
                  <a:solidFill>
                    <a:srgbClr val="00B050"/>
                  </a:solidFill>
                  <a:latin typeface="Times" charset="0"/>
                </a:rPr>
                <a:t>RegDst</a:t>
              </a:r>
              <a:r>
                <a:rPr lang="en-US" altLang="en-US" sz="1600" b="0" dirty="0">
                  <a:solidFill>
                    <a:srgbClr val="00B050"/>
                  </a:solidFill>
                  <a:latin typeface="Times" charset="0"/>
                </a:rPr>
                <a:t>=X</a:t>
              </a:r>
            </a:p>
          </p:txBody>
        </p:sp>
        <p:sp>
          <p:nvSpPr>
            <p:cNvPr id="141" name="Rectangle 78">
              <a:extLst>
                <a:ext uri="{FF2B5EF4-FFF2-40B4-BE49-F238E27FC236}">
                  <a16:creationId xmlns:a16="http://schemas.microsoft.com/office/drawing/2014/main" id="{798722CE-37C3-47DE-9746-E03049200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Times" charset="0"/>
                </a:rPr>
                <a:t>Mux</a:t>
              </a:r>
            </a:p>
          </p:txBody>
        </p:sp>
      </p:grpSp>
      <p:sp>
        <p:nvSpPr>
          <p:cNvPr id="146" name="Rectangle 20">
            <a:extLst>
              <a:ext uri="{FF2B5EF4-FFF2-40B4-BE49-F238E27FC236}">
                <a16:creationId xmlns:a16="http://schemas.microsoft.com/office/drawing/2014/main" id="{B3328A58-2B8B-422F-92B3-E735213E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7424" y="442647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b="0" dirty="0" err="1">
                <a:solidFill>
                  <a:srgbClr val="00B050"/>
                </a:solidFill>
                <a:latin typeface="Times" charset="0"/>
              </a:rPr>
              <a:t>MemtoReg</a:t>
            </a:r>
            <a:r>
              <a:rPr lang="en-US" altLang="zh-CN" sz="1600" b="0" dirty="0">
                <a:solidFill>
                  <a:srgbClr val="00B050"/>
                </a:solidFill>
                <a:latin typeface="Times" charset="0"/>
              </a:rPr>
              <a:t>=X</a:t>
            </a:r>
            <a:endParaRPr lang="en-US" altLang="en-US" sz="1600" b="0" dirty="0">
              <a:solidFill>
                <a:srgbClr val="00B050"/>
              </a:solidFill>
              <a:latin typeface="Times" charset="0"/>
            </a:endParaRPr>
          </a:p>
        </p:txBody>
      </p:sp>
      <p:sp>
        <p:nvSpPr>
          <p:cNvPr id="148" name="Line 116">
            <a:extLst>
              <a:ext uri="{FF2B5EF4-FFF2-40B4-BE49-F238E27FC236}">
                <a16:creationId xmlns:a16="http://schemas.microsoft.com/office/drawing/2014/main" id="{C28C5B0E-E9E1-4B26-8DF0-D2F378CF3C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7268" y="115463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Rectangle 117">
            <a:extLst>
              <a:ext uri="{FF2B5EF4-FFF2-40B4-BE49-F238E27FC236}">
                <a16:creationId xmlns:a16="http://schemas.microsoft.com/office/drawing/2014/main" id="{E40C60ED-E57B-4A71-A9A6-56C2EC3CB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341" y="993631"/>
            <a:ext cx="1466117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Instruction&lt;31:0&gt;</a:t>
            </a:r>
          </a:p>
        </p:txBody>
      </p:sp>
      <p:sp>
        <p:nvSpPr>
          <p:cNvPr id="150" name="Line 124">
            <a:extLst>
              <a:ext uri="{FF2B5EF4-FFF2-40B4-BE49-F238E27FC236}">
                <a16:creationId xmlns:a16="http://schemas.microsoft.com/office/drawing/2014/main" id="{0F7CA04A-B28A-4088-9136-761F218CB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0796" y="115463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Rectangle 125">
            <a:extLst>
              <a:ext uri="{FF2B5EF4-FFF2-40B4-BE49-F238E27FC236}">
                <a16:creationId xmlns:a16="http://schemas.microsoft.com/office/drawing/2014/main" id="{A0468280-A240-4BDA-A409-063BA6EDD35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04322" y="1344402"/>
            <a:ext cx="773120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&lt;21:25&gt;</a:t>
            </a:r>
          </a:p>
        </p:txBody>
      </p:sp>
      <p:sp>
        <p:nvSpPr>
          <p:cNvPr id="152" name="Rectangle 126">
            <a:extLst>
              <a:ext uri="{FF2B5EF4-FFF2-40B4-BE49-F238E27FC236}">
                <a16:creationId xmlns:a16="http://schemas.microsoft.com/office/drawing/2014/main" id="{D05B9F42-BC5E-4468-A728-05BB77514F5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76628" y="1344402"/>
            <a:ext cx="773120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&lt;16:20&gt;</a:t>
            </a:r>
          </a:p>
        </p:txBody>
      </p:sp>
      <p:sp>
        <p:nvSpPr>
          <p:cNvPr id="153" name="Rectangle 127">
            <a:extLst>
              <a:ext uri="{FF2B5EF4-FFF2-40B4-BE49-F238E27FC236}">
                <a16:creationId xmlns:a16="http://schemas.microsoft.com/office/drawing/2014/main" id="{D3E3D996-FDF5-4C0A-9DB1-DE6A65865B2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48934" y="1344402"/>
            <a:ext cx="773120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&lt;11:15&gt;</a:t>
            </a:r>
          </a:p>
        </p:txBody>
      </p:sp>
      <p:sp>
        <p:nvSpPr>
          <p:cNvPr id="154" name="Rectangle 128">
            <a:extLst>
              <a:ext uri="{FF2B5EF4-FFF2-40B4-BE49-F238E27FC236}">
                <a16:creationId xmlns:a16="http://schemas.microsoft.com/office/drawing/2014/main" id="{3939DD39-60B3-4D66-92A1-40973526F4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221240" y="1344402"/>
            <a:ext cx="683157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&lt;0:15&gt;</a:t>
            </a:r>
          </a:p>
        </p:txBody>
      </p:sp>
      <p:sp>
        <p:nvSpPr>
          <p:cNvPr id="155" name="Line 129">
            <a:extLst>
              <a:ext uri="{FF2B5EF4-FFF2-40B4-BE49-F238E27FC236}">
                <a16:creationId xmlns:a16="http://schemas.microsoft.com/office/drawing/2014/main" id="{1A0B9C7B-B700-4AC1-8142-F645139CE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3101" y="115463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Line 130">
            <a:extLst>
              <a:ext uri="{FF2B5EF4-FFF2-40B4-BE49-F238E27FC236}">
                <a16:creationId xmlns:a16="http://schemas.microsoft.com/office/drawing/2014/main" id="{B3FD21B6-EB17-4804-85E5-49879B51A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407" y="115463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Line 131">
            <a:extLst>
              <a:ext uri="{FF2B5EF4-FFF2-40B4-BE49-F238E27FC236}">
                <a16:creationId xmlns:a16="http://schemas.microsoft.com/office/drawing/2014/main" id="{D897375A-9FE7-4866-8DAF-3B12FD8C6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7713" y="115463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" name="Rectangle 132">
            <a:extLst>
              <a:ext uri="{FF2B5EF4-FFF2-40B4-BE49-F238E27FC236}">
                <a16:creationId xmlns:a16="http://schemas.microsoft.com/office/drawing/2014/main" id="{2879667B-73F0-4C85-8898-A2E9E072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646" y="188558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i</a:t>
            </a:r>
            <a:r>
              <a:rPr lang="en-US" altLang="en-US" sz="1600" b="0" dirty="0">
                <a:latin typeface="Times" charset="0"/>
              </a:rPr>
              <a:t>mm16</a:t>
            </a:r>
          </a:p>
        </p:txBody>
      </p:sp>
      <p:sp>
        <p:nvSpPr>
          <p:cNvPr id="159" name="Rectangle 133">
            <a:extLst>
              <a:ext uri="{FF2B5EF4-FFF2-40B4-BE49-F238E27FC236}">
                <a16:creationId xmlns:a16="http://schemas.microsoft.com/office/drawing/2014/main" id="{ECBF98BC-185F-4FE7-AFE7-D49541445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340" y="1885585"/>
            <a:ext cx="369691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Rd</a:t>
            </a:r>
          </a:p>
        </p:txBody>
      </p:sp>
      <p:sp>
        <p:nvSpPr>
          <p:cNvPr id="160" name="Rectangle 134">
            <a:extLst>
              <a:ext uri="{FF2B5EF4-FFF2-40B4-BE49-F238E27FC236}">
                <a16:creationId xmlns:a16="http://schemas.microsoft.com/office/drawing/2014/main" id="{745C9B49-215E-441F-830A-9EA62094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506" y="1885585"/>
            <a:ext cx="330333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Rt</a:t>
            </a:r>
          </a:p>
        </p:txBody>
      </p:sp>
      <p:sp>
        <p:nvSpPr>
          <p:cNvPr id="161" name="Rectangle 135">
            <a:extLst>
              <a:ext uri="{FF2B5EF4-FFF2-40B4-BE49-F238E27FC236}">
                <a16:creationId xmlns:a16="http://schemas.microsoft.com/office/drawing/2014/main" id="{AC893BAE-B846-4CA0-813E-59512C424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200" y="1885585"/>
            <a:ext cx="350012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>
                <a:latin typeface="Times" charset="0"/>
              </a:rPr>
              <a:t>Rs</a:t>
            </a:r>
          </a:p>
        </p:txBody>
      </p:sp>
      <p:grpSp>
        <p:nvGrpSpPr>
          <p:cNvPr id="162" name="Group 189">
            <a:extLst>
              <a:ext uri="{FF2B5EF4-FFF2-40B4-BE49-F238E27FC236}">
                <a16:creationId xmlns:a16="http://schemas.microsoft.com/office/drawing/2014/main" id="{85940413-6A49-4C3A-910F-1252DC649ECD}"/>
              </a:ext>
            </a:extLst>
          </p:cNvPr>
          <p:cNvGrpSpPr>
            <a:grpSpLocks/>
          </p:cNvGrpSpPr>
          <p:nvPr/>
        </p:nvGrpSpPr>
        <p:grpSpPr bwMode="auto">
          <a:xfrm>
            <a:off x="2752879" y="985955"/>
            <a:ext cx="975537" cy="951642"/>
            <a:chOff x="1258" y="456"/>
            <a:chExt cx="694" cy="677"/>
          </a:xfrm>
        </p:grpSpPr>
        <p:sp>
          <p:nvSpPr>
            <p:cNvPr id="163" name="Rectangle 190">
              <a:extLst>
                <a:ext uri="{FF2B5EF4-FFF2-40B4-BE49-F238E27FC236}">
                  <a16:creationId xmlns:a16="http://schemas.microsoft.com/office/drawing/2014/main" id="{159E4F5C-BF17-4B57-AF8C-AE2D12A0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Rectangle 191">
              <a:extLst>
                <a:ext uri="{FF2B5EF4-FFF2-40B4-BE49-F238E27FC236}">
                  <a16:creationId xmlns:a16="http://schemas.microsoft.com/office/drawing/2014/main" id="{8875A75D-A572-4D02-AA78-486D86995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0" dirty="0" err="1">
                  <a:latin typeface="Times" charset="0"/>
                </a:rPr>
                <a:t>Addr</a:t>
              </a:r>
              <a:endParaRPr lang="en-US" altLang="en-US" sz="1600" b="0" dirty="0">
                <a:latin typeface="Times" charset="0"/>
              </a:endParaRPr>
            </a:p>
          </p:txBody>
        </p:sp>
        <p:sp>
          <p:nvSpPr>
            <p:cNvPr id="165" name="Rectangle 192">
              <a:extLst>
                <a:ext uri="{FF2B5EF4-FFF2-40B4-BE49-F238E27FC236}">
                  <a16:creationId xmlns:a16="http://schemas.microsoft.com/office/drawing/2014/main" id="{1CDEC94A-A8D2-4734-8A57-5F98B046F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508"/>
              <a:ext cx="666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b="1" dirty="0" err="1">
                  <a:latin typeface="Times" charset="0"/>
                </a:rPr>
                <a:t>Inst</a:t>
              </a:r>
              <a:endParaRPr lang="en-US" altLang="en-US" sz="1600" b="1" dirty="0">
                <a:latin typeface="Times" charset="0"/>
              </a:endParaRPr>
            </a:p>
            <a:p>
              <a:pPr algn="ctr" eaLnBrk="0" hangingPunct="0"/>
              <a:r>
                <a:rPr lang="en-US" altLang="en-US" sz="1600" b="1" dirty="0">
                  <a:latin typeface="Times" charset="0"/>
                </a:rPr>
                <a:t>Memory</a:t>
              </a:r>
            </a:p>
          </p:txBody>
        </p:sp>
      </p:grpSp>
      <p:sp>
        <p:nvSpPr>
          <p:cNvPr id="166" name="Rectangle 216">
            <a:extLst>
              <a:ext uri="{FF2B5EF4-FFF2-40B4-BE49-F238E27FC236}">
                <a16:creationId xmlns:a16="http://schemas.microsoft.com/office/drawing/2014/main" id="{6B5E2792-217B-4AFF-9CE1-F65CA18C13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2584" y="1393600"/>
            <a:ext cx="773120" cy="295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&lt;</a:t>
            </a:r>
            <a:r>
              <a:rPr lang="en-US" altLang="zh-CN" sz="1600" b="0" dirty="0">
                <a:latin typeface="Times" charset="0"/>
              </a:rPr>
              <a:t>26:31</a:t>
            </a:r>
            <a:r>
              <a:rPr lang="en-US" altLang="en-US" sz="1600" b="0" dirty="0">
                <a:latin typeface="Times" charset="0"/>
              </a:rPr>
              <a:t>&gt;</a:t>
            </a:r>
          </a:p>
        </p:txBody>
      </p:sp>
      <p:sp>
        <p:nvSpPr>
          <p:cNvPr id="167" name="Oval 217">
            <a:extLst>
              <a:ext uri="{FF2B5EF4-FFF2-40B4-BE49-F238E27FC236}">
                <a16:creationId xmlns:a16="http://schemas.microsoft.com/office/drawing/2014/main" id="{089DBC92-62CE-4188-9DC5-86174A039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160" y="142452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219">
            <a:extLst>
              <a:ext uri="{FF2B5EF4-FFF2-40B4-BE49-F238E27FC236}">
                <a16:creationId xmlns:a16="http://schemas.microsoft.com/office/drawing/2014/main" id="{E6601AA3-DED7-4479-8774-C6AF44224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437" y="115463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220">
            <a:extLst>
              <a:ext uri="{FF2B5EF4-FFF2-40B4-BE49-F238E27FC236}">
                <a16:creationId xmlns:a16="http://schemas.microsoft.com/office/drawing/2014/main" id="{C205833C-0A6D-48E5-A5BE-4A7F12765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437" y="162694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" name="Text Box 222">
            <a:extLst>
              <a:ext uri="{FF2B5EF4-FFF2-40B4-BE49-F238E27FC236}">
                <a16:creationId xmlns:a16="http://schemas.microsoft.com/office/drawing/2014/main" id="{A1E13F4A-C2C2-4F4B-B748-EEAF35475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9218" y="148383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00B050"/>
                </a:solidFill>
              </a:rPr>
              <a:t>Control Unit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sp>
        <p:nvSpPr>
          <p:cNvPr id="241" name="Rectangle 27">
            <a:extLst>
              <a:ext uri="{FF2B5EF4-FFF2-40B4-BE49-F238E27FC236}">
                <a16:creationId xmlns:a16="http://schemas.microsoft.com/office/drawing/2014/main" id="{9CDC813D-E5BD-40FB-B85D-F2CA00A23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964" y="2778133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242" name="Line 29">
            <a:extLst>
              <a:ext uri="{FF2B5EF4-FFF2-40B4-BE49-F238E27FC236}">
                <a16:creationId xmlns:a16="http://schemas.microsoft.com/office/drawing/2014/main" id="{CB7F84FE-0F87-4B77-8161-AFBC78D06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568" y="3758940"/>
            <a:ext cx="508000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3" name="Rectangle 31">
            <a:extLst>
              <a:ext uri="{FF2B5EF4-FFF2-40B4-BE49-F238E27FC236}">
                <a16:creationId xmlns:a16="http://schemas.microsoft.com/office/drawing/2014/main" id="{4177C882-9154-43EC-8791-C1451BBF8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781" y="337101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" name="Line 33">
            <a:extLst>
              <a:ext uri="{FF2B5EF4-FFF2-40B4-BE49-F238E27FC236}">
                <a16:creationId xmlns:a16="http://schemas.microsoft.com/office/drawing/2014/main" id="{C932EDDB-1F78-4AB9-8A1B-AFEEB3ADF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9265" y="454798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" name="Rectangle 34">
            <a:extLst>
              <a:ext uri="{FF2B5EF4-FFF2-40B4-BE49-F238E27FC236}">
                <a16:creationId xmlns:a16="http://schemas.microsoft.com/office/drawing/2014/main" id="{003A90B0-63F0-41A6-9C44-ED29EEE01F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95168" y="3777418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PC</a:t>
            </a:r>
          </a:p>
        </p:txBody>
      </p:sp>
      <p:sp>
        <p:nvSpPr>
          <p:cNvPr id="246" name="Rectangle 35">
            <a:extLst>
              <a:ext uri="{FF2B5EF4-FFF2-40B4-BE49-F238E27FC236}">
                <a16:creationId xmlns:a16="http://schemas.microsoft.com/office/drawing/2014/main" id="{8B9A6E00-E6FB-4E46-B0F2-189D6BDE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695" y="5048838"/>
            <a:ext cx="4746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Times" charset="0"/>
              </a:rPr>
              <a:t>Clk</a:t>
            </a:r>
            <a:endParaRPr lang="en-US" altLang="en-US" sz="1600" b="0" dirty="0">
              <a:latin typeface="Times" charset="0"/>
            </a:endParaRPr>
          </a:p>
        </p:txBody>
      </p:sp>
      <p:sp>
        <p:nvSpPr>
          <p:cNvPr id="247" name="Line 49">
            <a:extLst>
              <a:ext uri="{FF2B5EF4-FFF2-40B4-BE49-F238E27FC236}">
                <a16:creationId xmlns:a16="http://schemas.microsoft.com/office/drawing/2014/main" id="{F29031C8-4106-45BC-858D-78543293F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35" y="413597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8" name="Group 50">
            <a:extLst>
              <a:ext uri="{FF2B5EF4-FFF2-40B4-BE49-F238E27FC236}">
                <a16:creationId xmlns:a16="http://schemas.microsoft.com/office/drawing/2014/main" id="{BA4B45FF-8E9F-49E6-A629-E03FA5E7FFA8}"/>
              </a:ext>
            </a:extLst>
          </p:cNvPr>
          <p:cNvGrpSpPr>
            <a:grpSpLocks/>
          </p:cNvGrpSpPr>
          <p:nvPr/>
        </p:nvGrpSpPr>
        <p:grpSpPr bwMode="auto">
          <a:xfrm>
            <a:off x="1816714" y="3240622"/>
            <a:ext cx="347663" cy="1431926"/>
            <a:chOff x="1614" y="2226"/>
            <a:chExt cx="219" cy="902"/>
          </a:xfrm>
        </p:grpSpPr>
        <p:grpSp>
          <p:nvGrpSpPr>
            <p:cNvPr id="292" name="Group 51">
              <a:extLst>
                <a:ext uri="{FF2B5EF4-FFF2-40B4-BE49-F238E27FC236}">
                  <a16:creationId xmlns:a16="http://schemas.microsoft.com/office/drawing/2014/main" id="{FB0EAC2E-7B90-4479-8BAF-EB179B2EA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56" name="Line 52">
                <a:extLst>
                  <a:ext uri="{FF2B5EF4-FFF2-40B4-BE49-F238E27FC236}">
                    <a16:creationId xmlns:a16="http://schemas.microsoft.com/office/drawing/2014/main" id="{EA66D667-BE1F-43B4-AC66-6FDF1C0C5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7" name="Line 53">
                <a:extLst>
                  <a:ext uri="{FF2B5EF4-FFF2-40B4-BE49-F238E27FC236}">
                    <a16:creationId xmlns:a16="http://schemas.microsoft.com/office/drawing/2014/main" id="{A6690211-A349-49C8-8418-0F3AF95D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" name="Line 54">
                <a:extLst>
                  <a:ext uri="{FF2B5EF4-FFF2-40B4-BE49-F238E27FC236}">
                    <a16:creationId xmlns:a16="http://schemas.microsoft.com/office/drawing/2014/main" id="{47D4971D-637C-4459-937C-C5FE3AC51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" name="Line 55">
                <a:extLst>
                  <a:ext uri="{FF2B5EF4-FFF2-40B4-BE49-F238E27FC236}">
                    <a16:creationId xmlns:a16="http://schemas.microsoft.com/office/drawing/2014/main" id="{BE12C84B-FB66-4E6B-8133-C198DDAD9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3" name="Rectangle 56">
              <a:extLst>
                <a:ext uri="{FF2B5EF4-FFF2-40B4-BE49-F238E27FC236}">
                  <a16:creationId xmlns:a16="http://schemas.microsoft.com/office/drawing/2014/main" id="{5EA987AE-93C8-461B-8941-849F97CEB1A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latin typeface="Times" charset="0"/>
                </a:rPr>
                <a:t>Mux</a:t>
              </a:r>
            </a:p>
          </p:txBody>
        </p:sp>
        <p:sp>
          <p:nvSpPr>
            <p:cNvPr id="354" name="Rectangle 57">
              <a:extLst>
                <a:ext uri="{FF2B5EF4-FFF2-40B4-BE49-F238E27FC236}">
                  <a16:creationId xmlns:a16="http://schemas.microsoft.com/office/drawing/2014/main" id="{AF179DAD-A624-4D06-917E-B61A57A42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5" name="Rectangle 58">
              <a:extLst>
                <a:ext uri="{FF2B5EF4-FFF2-40B4-BE49-F238E27FC236}">
                  <a16:creationId xmlns:a16="http://schemas.microsoft.com/office/drawing/2014/main" id="{FF27CEDF-3B84-4C8A-B21F-BACC25267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0" name="Line 59">
            <a:extLst>
              <a:ext uri="{FF2B5EF4-FFF2-40B4-BE49-F238E27FC236}">
                <a16:creationId xmlns:a16="http://schemas.microsoft.com/office/drawing/2014/main" id="{A2FC708F-ED3F-4B1E-A4B4-3C8AB9E8E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0418" y="340730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1" name="Line 60">
            <a:extLst>
              <a:ext uri="{FF2B5EF4-FFF2-40B4-BE49-F238E27FC236}">
                <a16:creationId xmlns:a16="http://schemas.microsoft.com/office/drawing/2014/main" id="{C454EF22-BE9B-4104-82C1-04C792619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8585" y="456300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" name="Rectangle 75">
            <a:extLst>
              <a:ext uri="{FF2B5EF4-FFF2-40B4-BE49-F238E27FC236}">
                <a16:creationId xmlns:a16="http://schemas.microsoft.com/office/drawing/2014/main" id="{C6B7309F-4696-4B22-B9F7-DBBDD6221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33" y="4876433"/>
            <a:ext cx="9698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solidFill>
                  <a:srgbClr val="00B050"/>
                </a:solidFill>
                <a:latin typeface="Times" charset="0"/>
              </a:rPr>
              <a:t>PCSrc</a:t>
            </a:r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=X</a:t>
            </a:r>
          </a:p>
        </p:txBody>
      </p:sp>
      <p:sp>
        <p:nvSpPr>
          <p:cNvPr id="363" name="Line 76">
            <a:extLst>
              <a:ext uri="{FF2B5EF4-FFF2-40B4-BE49-F238E27FC236}">
                <a16:creationId xmlns:a16="http://schemas.microsoft.com/office/drawing/2014/main" id="{D7DC3258-07C1-4004-922D-500EE18B5B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1677" y="456806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7" name="Line 119">
            <a:extLst>
              <a:ext uri="{FF2B5EF4-FFF2-40B4-BE49-F238E27FC236}">
                <a16:creationId xmlns:a16="http://schemas.microsoft.com/office/drawing/2014/main" id="{9127BD55-1C4E-4142-A823-94D740A0F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485" y="502020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" name="Freeform 120">
            <a:extLst>
              <a:ext uri="{FF2B5EF4-FFF2-40B4-BE49-F238E27FC236}">
                <a16:creationId xmlns:a16="http://schemas.microsoft.com/office/drawing/2014/main" id="{E09B68E6-9315-4F03-8EFB-46BEF2077FCD}"/>
              </a:ext>
            </a:extLst>
          </p:cNvPr>
          <p:cNvSpPr>
            <a:spLocks/>
          </p:cNvSpPr>
          <p:nvPr/>
        </p:nvSpPr>
        <p:spPr bwMode="auto">
          <a:xfrm>
            <a:off x="3064643" y="187153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" name="Rectangle 121">
            <a:extLst>
              <a:ext uri="{FF2B5EF4-FFF2-40B4-BE49-F238E27FC236}">
                <a16:creationId xmlns:a16="http://schemas.microsoft.com/office/drawing/2014/main" id="{F2D9D172-F75C-41C3-9BC7-191CFF958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332" y="2280724"/>
            <a:ext cx="1282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</a:rPr>
              <a:t>Inst Address</a:t>
            </a:r>
          </a:p>
        </p:txBody>
      </p:sp>
      <p:sp>
        <p:nvSpPr>
          <p:cNvPr id="370" name="Line 122">
            <a:extLst>
              <a:ext uri="{FF2B5EF4-FFF2-40B4-BE49-F238E27FC236}">
                <a16:creationId xmlns:a16="http://schemas.microsoft.com/office/drawing/2014/main" id="{3C786444-8580-4A7C-92F0-583E40B7E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020" y="3978808"/>
            <a:ext cx="1588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" name="Freeform 123">
            <a:extLst>
              <a:ext uri="{FF2B5EF4-FFF2-40B4-BE49-F238E27FC236}">
                <a16:creationId xmlns:a16="http://schemas.microsoft.com/office/drawing/2014/main" id="{D0909A01-4ABE-42A4-8CCA-86CD2F2A1FC3}"/>
              </a:ext>
            </a:extLst>
          </p:cNvPr>
          <p:cNvSpPr>
            <a:spLocks/>
          </p:cNvSpPr>
          <p:nvPr/>
        </p:nvSpPr>
        <p:spPr bwMode="auto">
          <a:xfrm>
            <a:off x="84747" y="256089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2" name="Freeform 124">
            <a:extLst>
              <a:ext uri="{FF2B5EF4-FFF2-40B4-BE49-F238E27FC236}">
                <a16:creationId xmlns:a16="http://schemas.microsoft.com/office/drawing/2014/main" id="{E922038C-2020-41A5-9880-38D83564633F}"/>
              </a:ext>
            </a:extLst>
          </p:cNvPr>
          <p:cNvSpPr>
            <a:spLocks/>
          </p:cNvSpPr>
          <p:nvPr/>
        </p:nvSpPr>
        <p:spPr bwMode="auto">
          <a:xfrm>
            <a:off x="592747" y="340730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3" name="Rectangle 35">
            <a:extLst>
              <a:ext uri="{FF2B5EF4-FFF2-40B4-BE49-F238E27FC236}">
                <a16:creationId xmlns:a16="http://schemas.microsoft.com/office/drawing/2014/main" id="{4C5F32DA-EA38-4A25-B76F-436228B36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93" y="346593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PC</a:t>
            </a:r>
          </a:p>
        </p:txBody>
      </p:sp>
      <p:grpSp>
        <p:nvGrpSpPr>
          <p:cNvPr id="389" name="组合 388">
            <a:extLst>
              <a:ext uri="{FF2B5EF4-FFF2-40B4-BE49-F238E27FC236}">
                <a16:creationId xmlns:a16="http://schemas.microsoft.com/office/drawing/2014/main" id="{42A08519-0B4E-47F9-A81C-E79B52E283DA}"/>
              </a:ext>
            </a:extLst>
          </p:cNvPr>
          <p:cNvGrpSpPr/>
          <p:nvPr/>
        </p:nvGrpSpPr>
        <p:grpSpPr>
          <a:xfrm>
            <a:off x="770518" y="2690185"/>
            <a:ext cx="505337" cy="1193800"/>
            <a:chOff x="5799138" y="4889500"/>
            <a:chExt cx="505337" cy="1193800"/>
          </a:xfrm>
        </p:grpSpPr>
        <p:grpSp>
          <p:nvGrpSpPr>
            <p:cNvPr id="390" name="Group 4">
              <a:extLst>
                <a:ext uri="{FF2B5EF4-FFF2-40B4-BE49-F238E27FC236}">
                  <a16:creationId xmlns:a16="http://schemas.microsoft.com/office/drawing/2014/main" id="{3F3032D6-AD5B-4360-A7B6-F5BA7E930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92" name="Line 5">
                <a:extLst>
                  <a:ext uri="{FF2B5EF4-FFF2-40B4-BE49-F238E27FC236}">
                    <a16:creationId xmlns:a16="http://schemas.microsoft.com/office/drawing/2014/main" id="{E06E04A5-DC2D-4270-AD6D-D61147890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3" name="Line 6">
                <a:extLst>
                  <a:ext uri="{FF2B5EF4-FFF2-40B4-BE49-F238E27FC236}">
                    <a16:creationId xmlns:a16="http://schemas.microsoft.com/office/drawing/2014/main" id="{32D607D0-84C1-43ED-8E90-7F65A91A5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4" name="Line 7">
                <a:extLst>
                  <a:ext uri="{FF2B5EF4-FFF2-40B4-BE49-F238E27FC236}">
                    <a16:creationId xmlns:a16="http://schemas.microsoft.com/office/drawing/2014/main" id="{50FF447B-6683-4A3E-8086-C55A7D08F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" name="Line 8">
                <a:extLst>
                  <a:ext uri="{FF2B5EF4-FFF2-40B4-BE49-F238E27FC236}">
                    <a16:creationId xmlns:a16="http://schemas.microsoft.com/office/drawing/2014/main" id="{3CBD78FB-88D9-4E28-A5A1-3D8294AF7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" name="Line 9">
                <a:extLst>
                  <a:ext uri="{FF2B5EF4-FFF2-40B4-BE49-F238E27FC236}">
                    <a16:creationId xmlns:a16="http://schemas.microsoft.com/office/drawing/2014/main" id="{0C71F5E9-871E-49AB-BC0B-1399D1494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" name="Line 10">
                <a:extLst>
                  <a:ext uri="{FF2B5EF4-FFF2-40B4-BE49-F238E27FC236}">
                    <a16:creationId xmlns:a16="http://schemas.microsoft.com/office/drawing/2014/main" id="{A653249E-1E01-46F3-9AAA-F9E948F3D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8" name="Line 11">
                <a:extLst>
                  <a:ext uri="{FF2B5EF4-FFF2-40B4-BE49-F238E27FC236}">
                    <a16:creationId xmlns:a16="http://schemas.microsoft.com/office/drawing/2014/main" id="{08C9110E-F8EC-4D6D-B797-8450C83B5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" name="Line 12">
                <a:extLst>
                  <a:ext uri="{FF2B5EF4-FFF2-40B4-BE49-F238E27FC236}">
                    <a16:creationId xmlns:a16="http://schemas.microsoft.com/office/drawing/2014/main" id="{6F76448A-8886-4184-95D9-4FB2C65D6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1" name="Rectangle 58">
              <a:extLst>
                <a:ext uri="{FF2B5EF4-FFF2-40B4-BE49-F238E27FC236}">
                  <a16:creationId xmlns:a16="http://schemas.microsoft.com/office/drawing/2014/main" id="{63AACD8F-ED2A-482B-8257-944C219B93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37333" y="5305706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</a:rPr>
                <a:t>Adder1</a:t>
              </a:r>
            </a:p>
          </p:txBody>
        </p:sp>
      </p:grpSp>
      <p:sp>
        <p:nvSpPr>
          <p:cNvPr id="400" name="Rectangle 73">
            <a:extLst>
              <a:ext uri="{FF2B5EF4-FFF2-40B4-BE49-F238E27FC236}">
                <a16:creationId xmlns:a16="http://schemas.microsoft.com/office/drawing/2014/main" id="{0613A82B-7A9A-4785-8738-6D035F997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47" y="268182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4</a:t>
            </a:r>
          </a:p>
        </p:txBody>
      </p:sp>
      <p:sp>
        <p:nvSpPr>
          <p:cNvPr id="401" name="Line 74">
            <a:extLst>
              <a:ext uri="{FF2B5EF4-FFF2-40B4-BE49-F238E27FC236}">
                <a16:creationId xmlns:a16="http://schemas.microsoft.com/office/drawing/2014/main" id="{C068471C-839D-404E-BD31-3AEA1B451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35" y="2877084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grpSp>
        <p:nvGrpSpPr>
          <p:cNvPr id="402" name="组合 401">
            <a:extLst>
              <a:ext uri="{FF2B5EF4-FFF2-40B4-BE49-F238E27FC236}">
                <a16:creationId xmlns:a16="http://schemas.microsoft.com/office/drawing/2014/main" id="{F2D4C0C1-DFDA-4DC5-9FC7-FF94426DD2CB}"/>
              </a:ext>
            </a:extLst>
          </p:cNvPr>
          <p:cNvGrpSpPr/>
          <p:nvPr/>
        </p:nvGrpSpPr>
        <p:grpSpPr>
          <a:xfrm>
            <a:off x="1102003" y="4012842"/>
            <a:ext cx="505337" cy="1193800"/>
            <a:chOff x="5799138" y="4889500"/>
            <a:chExt cx="505337" cy="1193800"/>
          </a:xfrm>
        </p:grpSpPr>
        <p:grpSp>
          <p:nvGrpSpPr>
            <p:cNvPr id="403" name="Group 4">
              <a:extLst>
                <a:ext uri="{FF2B5EF4-FFF2-40B4-BE49-F238E27FC236}">
                  <a16:creationId xmlns:a16="http://schemas.microsoft.com/office/drawing/2014/main" id="{EFD3953A-0A36-413C-B1E8-39F732093A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405" name="Line 5">
                <a:extLst>
                  <a:ext uri="{FF2B5EF4-FFF2-40B4-BE49-F238E27FC236}">
                    <a16:creationId xmlns:a16="http://schemas.microsoft.com/office/drawing/2014/main" id="{3DE0952D-02B7-417E-8C4A-0B3844509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6" name="Line 6">
                <a:extLst>
                  <a:ext uri="{FF2B5EF4-FFF2-40B4-BE49-F238E27FC236}">
                    <a16:creationId xmlns:a16="http://schemas.microsoft.com/office/drawing/2014/main" id="{F22E2A48-60EB-42FA-8EC5-B91EAA461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7" name="Line 7">
                <a:extLst>
                  <a:ext uri="{FF2B5EF4-FFF2-40B4-BE49-F238E27FC236}">
                    <a16:creationId xmlns:a16="http://schemas.microsoft.com/office/drawing/2014/main" id="{B4FCA4D3-9EF5-4458-8D98-A5C0FD127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8" name="Line 8">
                <a:extLst>
                  <a:ext uri="{FF2B5EF4-FFF2-40B4-BE49-F238E27FC236}">
                    <a16:creationId xmlns:a16="http://schemas.microsoft.com/office/drawing/2014/main" id="{657158BA-6E30-4F92-94B7-1D6C9B1E7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" name="Line 9">
                <a:extLst>
                  <a:ext uri="{FF2B5EF4-FFF2-40B4-BE49-F238E27FC236}">
                    <a16:creationId xmlns:a16="http://schemas.microsoft.com/office/drawing/2014/main" id="{DDD8FDA6-AB19-4DD4-B251-24A4E82C3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" name="Line 10">
                <a:extLst>
                  <a:ext uri="{FF2B5EF4-FFF2-40B4-BE49-F238E27FC236}">
                    <a16:creationId xmlns:a16="http://schemas.microsoft.com/office/drawing/2014/main" id="{10D7A3CF-0DAC-4A97-BBA4-8B4985391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" name="Line 11">
                <a:extLst>
                  <a:ext uri="{FF2B5EF4-FFF2-40B4-BE49-F238E27FC236}">
                    <a16:creationId xmlns:a16="http://schemas.microsoft.com/office/drawing/2014/main" id="{6DBA67AC-14C8-48A7-97DF-37031D8284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2" name="Line 12">
                <a:extLst>
                  <a:ext uri="{FF2B5EF4-FFF2-40B4-BE49-F238E27FC236}">
                    <a16:creationId xmlns:a16="http://schemas.microsoft.com/office/drawing/2014/main" id="{FCD42ECC-4A07-4DFF-8746-354CBF541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4" name="Rectangle 58">
              <a:extLst>
                <a:ext uri="{FF2B5EF4-FFF2-40B4-BE49-F238E27FC236}">
                  <a16:creationId xmlns:a16="http://schemas.microsoft.com/office/drawing/2014/main" id="{14F6CE66-FC27-4D35-8379-5395E73426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37333" y="5305706"/>
              <a:ext cx="798296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</a:rPr>
                <a:t>Adder2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38E8E49-B1B8-4E15-BF9C-E99647539B6D}"/>
              </a:ext>
            </a:extLst>
          </p:cNvPr>
          <p:cNvGrpSpPr/>
          <p:nvPr/>
        </p:nvGrpSpPr>
        <p:grpSpPr>
          <a:xfrm>
            <a:off x="389548" y="4627354"/>
            <a:ext cx="384168" cy="797667"/>
            <a:chOff x="389548" y="4627354"/>
            <a:chExt cx="384168" cy="797667"/>
          </a:xfrm>
        </p:grpSpPr>
        <p:sp>
          <p:nvSpPr>
            <p:cNvPr id="388" name="椭圆 4">
              <a:extLst>
                <a:ext uri="{FF2B5EF4-FFF2-40B4-BE49-F238E27FC236}">
                  <a16:creationId xmlns:a16="http://schemas.microsoft.com/office/drawing/2014/main" id="{200AD82F-1FB4-4C1A-B76E-C763D7B7702C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" name="Rectangle 96">
              <a:extLst>
                <a:ext uri="{FF2B5EF4-FFF2-40B4-BE49-F238E27FC236}">
                  <a16:creationId xmlns:a16="http://schemas.microsoft.com/office/drawing/2014/main" id="{1BFB4D82-CA8F-42AB-B410-9960A574FE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8442" y="4847450"/>
              <a:ext cx="5706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</a:rPr>
                <a:t>&lt;&lt; 2</a:t>
              </a:r>
            </a:p>
          </p:txBody>
        </p:sp>
      </p:grpSp>
      <p:sp>
        <p:nvSpPr>
          <p:cNvPr id="414" name="Line 82">
            <a:extLst>
              <a:ext uri="{FF2B5EF4-FFF2-40B4-BE49-F238E27FC236}">
                <a16:creationId xmlns:a16="http://schemas.microsoft.com/office/drawing/2014/main" id="{C541A5FA-887B-49B7-81A4-7604DA35D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8153" y="525726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8" name="Line 82">
            <a:extLst>
              <a:ext uri="{FF2B5EF4-FFF2-40B4-BE49-F238E27FC236}">
                <a16:creationId xmlns:a16="http://schemas.microsoft.com/office/drawing/2014/main" id="{98DAC5CB-6508-4D17-9F9A-C26DC6E95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47" y="635412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" name="Line 82">
            <a:extLst>
              <a:ext uri="{FF2B5EF4-FFF2-40B4-BE49-F238E27FC236}">
                <a16:creationId xmlns:a16="http://schemas.microsoft.com/office/drawing/2014/main" id="{62175D8A-BC4D-49F2-B56A-D70887F544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747" y="542997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" name="Line 29">
            <a:extLst>
              <a:ext uri="{FF2B5EF4-FFF2-40B4-BE49-F238E27FC236}">
                <a16:creationId xmlns:a16="http://schemas.microsoft.com/office/drawing/2014/main" id="{8F25186E-F7D0-4720-AD9E-B5660CE3B1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2272" y="288407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1" name="Line 37">
            <a:extLst>
              <a:ext uri="{FF2B5EF4-FFF2-40B4-BE49-F238E27FC236}">
                <a16:creationId xmlns:a16="http://schemas.microsoft.com/office/drawing/2014/main" id="{98430450-9A4D-48C2-B385-7877A0737D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1247" y="627754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2" name="Rectangle 38">
            <a:extLst>
              <a:ext uri="{FF2B5EF4-FFF2-40B4-BE49-F238E27FC236}">
                <a16:creationId xmlns:a16="http://schemas.microsoft.com/office/drawing/2014/main" id="{302AB05F-250B-4088-B4BE-A64FEC8EB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910" y="6308812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Times" charset="0"/>
              </a:rPr>
              <a:t>32</a:t>
            </a:r>
          </a:p>
        </p:txBody>
      </p:sp>
      <p:sp>
        <p:nvSpPr>
          <p:cNvPr id="423" name="Line 88">
            <a:extLst>
              <a:ext uri="{FF2B5EF4-FFF2-40B4-BE49-F238E27FC236}">
                <a16:creationId xmlns:a16="http://schemas.microsoft.com/office/drawing/2014/main" id="{286062DB-27F4-474F-8D1F-037620F68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7062" y="387922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4" name="Rectangle 18">
            <a:extLst>
              <a:ext uri="{FF2B5EF4-FFF2-40B4-BE49-F238E27FC236}">
                <a16:creationId xmlns:a16="http://schemas.microsoft.com/office/drawing/2014/main" id="{B3E66F3C-BBEA-4158-B646-1F2C4DFBA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834" y="365173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b="0" dirty="0">
                <a:latin typeface="Times" charset="0"/>
              </a:rPr>
              <a:t>Zero</a:t>
            </a:r>
            <a:endParaRPr lang="en-US" altLang="en-US" sz="1600" b="0" dirty="0">
              <a:latin typeface="Times" charset="0"/>
            </a:endParaRPr>
          </a:p>
        </p:txBody>
      </p: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1F0EF983-7DF7-4146-B567-0A5BBAF0E1E8}"/>
              </a:ext>
            </a:extLst>
          </p:cNvPr>
          <p:cNvGrpSpPr/>
          <p:nvPr/>
        </p:nvGrpSpPr>
        <p:grpSpPr>
          <a:xfrm rot="16200000">
            <a:off x="1241544" y="1683470"/>
            <a:ext cx="384168" cy="797667"/>
            <a:chOff x="389548" y="4627354"/>
            <a:chExt cx="384168" cy="797667"/>
          </a:xfrm>
        </p:grpSpPr>
        <p:sp>
          <p:nvSpPr>
            <p:cNvPr id="208" name="椭圆 4">
              <a:extLst>
                <a:ext uri="{FF2B5EF4-FFF2-40B4-BE49-F238E27FC236}">
                  <a16:creationId xmlns:a16="http://schemas.microsoft.com/office/drawing/2014/main" id="{83F70C5B-957C-48D9-96F3-2C6852885FDE}"/>
                </a:ext>
              </a:extLst>
            </p:cNvPr>
            <p:cNvSpPr/>
            <p:nvPr/>
          </p:nvSpPr>
          <p:spPr bwMode="auto">
            <a:xfrm>
              <a:off x="389548" y="4627354"/>
              <a:ext cx="384168" cy="797667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209" name="Rectangle 96">
              <a:extLst>
                <a:ext uri="{FF2B5EF4-FFF2-40B4-BE49-F238E27FC236}">
                  <a16:creationId xmlns:a16="http://schemas.microsoft.com/office/drawing/2014/main" id="{383F5724-9145-4ECD-92AB-64C1DAFB81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8442" y="4847450"/>
              <a:ext cx="57067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solidFill>
                    <a:srgbClr val="00B0F0"/>
                  </a:solidFill>
                  <a:latin typeface="Times" charset="0"/>
                </a:rPr>
                <a:t>&lt;&lt; 2</a:t>
              </a:r>
            </a:p>
          </p:txBody>
        </p:sp>
      </p:grpSp>
      <p:sp>
        <p:nvSpPr>
          <p:cNvPr id="210" name="Line 82">
            <a:extLst>
              <a:ext uri="{FF2B5EF4-FFF2-40B4-BE49-F238E27FC236}">
                <a16:creationId xmlns:a16="http://schemas.microsoft.com/office/drawing/2014/main" id="{17C82CBA-8F2B-458D-9A93-3165AE2AB8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6244" y="1150419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" name="Line 89">
            <a:extLst>
              <a:ext uri="{FF2B5EF4-FFF2-40B4-BE49-F238E27FC236}">
                <a16:creationId xmlns:a16="http://schemas.microsoft.com/office/drawing/2014/main" id="{E1F0EAE8-ABD2-42C4-B931-9D31EB4D2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811" y="2068223"/>
            <a:ext cx="199638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2" name="Line 119">
            <a:extLst>
              <a:ext uri="{FF2B5EF4-FFF2-40B4-BE49-F238E27FC236}">
                <a16:creationId xmlns:a16="http://schemas.microsoft.com/office/drawing/2014/main" id="{DCCFED44-6127-4D3C-AA63-3518D5DD1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9346" y="2289259"/>
            <a:ext cx="0" cy="56083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3" name="Group 50">
            <a:extLst>
              <a:ext uri="{FF2B5EF4-FFF2-40B4-BE49-F238E27FC236}">
                <a16:creationId xmlns:a16="http://schemas.microsoft.com/office/drawing/2014/main" id="{34999564-2285-48A5-AAE4-EB64D7495654}"/>
              </a:ext>
            </a:extLst>
          </p:cNvPr>
          <p:cNvGrpSpPr>
            <a:grpSpLocks/>
          </p:cNvGrpSpPr>
          <p:nvPr/>
        </p:nvGrpSpPr>
        <p:grpSpPr bwMode="auto">
          <a:xfrm>
            <a:off x="2281280" y="2721561"/>
            <a:ext cx="347663" cy="1431926"/>
            <a:chOff x="1614" y="2226"/>
            <a:chExt cx="219" cy="902"/>
          </a:xfrm>
        </p:grpSpPr>
        <p:grpSp>
          <p:nvGrpSpPr>
            <p:cNvPr id="214" name="Group 51">
              <a:extLst>
                <a:ext uri="{FF2B5EF4-FFF2-40B4-BE49-F238E27FC236}">
                  <a16:creationId xmlns:a16="http://schemas.microsoft.com/office/drawing/2014/main" id="{5756B67D-44B0-4127-A199-F9E005A34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218" name="Line 52">
                <a:extLst>
                  <a:ext uri="{FF2B5EF4-FFF2-40B4-BE49-F238E27FC236}">
                    <a16:creationId xmlns:a16="http://schemas.microsoft.com/office/drawing/2014/main" id="{F60482C1-8506-49DE-B8DD-994D4F71C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B0F0"/>
                  </a:solidFill>
                </a:endParaRPr>
              </a:p>
            </p:txBody>
          </p:sp>
          <p:sp>
            <p:nvSpPr>
              <p:cNvPr id="219" name="Line 53">
                <a:extLst>
                  <a:ext uri="{FF2B5EF4-FFF2-40B4-BE49-F238E27FC236}">
                    <a16:creationId xmlns:a16="http://schemas.microsoft.com/office/drawing/2014/main" id="{3CFB6B75-20D6-4A04-8743-4389AFD38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B0F0"/>
                  </a:solidFill>
                </a:endParaRPr>
              </a:p>
            </p:txBody>
          </p:sp>
          <p:sp>
            <p:nvSpPr>
              <p:cNvPr id="220" name="Line 54">
                <a:extLst>
                  <a:ext uri="{FF2B5EF4-FFF2-40B4-BE49-F238E27FC236}">
                    <a16:creationId xmlns:a16="http://schemas.microsoft.com/office/drawing/2014/main" id="{A555FFE1-22D2-490F-B027-4D48EE04B5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B0F0"/>
                  </a:solidFill>
                </a:endParaRPr>
              </a:p>
            </p:txBody>
          </p:sp>
          <p:sp>
            <p:nvSpPr>
              <p:cNvPr id="221" name="Line 55">
                <a:extLst>
                  <a:ext uri="{FF2B5EF4-FFF2-40B4-BE49-F238E27FC236}">
                    <a16:creationId xmlns:a16="http://schemas.microsoft.com/office/drawing/2014/main" id="{BD22C89B-3518-4787-9A7E-51A4E7B91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rgbClr val="00B0F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215" name="Rectangle 56">
              <a:extLst>
                <a:ext uri="{FF2B5EF4-FFF2-40B4-BE49-F238E27FC236}">
                  <a16:creationId xmlns:a16="http://schemas.microsoft.com/office/drawing/2014/main" id="{5FF1687F-4553-430B-AA63-4815ADB718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>
                  <a:solidFill>
                    <a:srgbClr val="00B0F0"/>
                  </a:solidFill>
                  <a:latin typeface="Times" charset="0"/>
                </a:rPr>
                <a:t>Mux</a:t>
              </a:r>
            </a:p>
          </p:txBody>
        </p:sp>
        <p:sp>
          <p:nvSpPr>
            <p:cNvPr id="216" name="Rectangle 57">
              <a:extLst>
                <a:ext uri="{FF2B5EF4-FFF2-40B4-BE49-F238E27FC236}">
                  <a16:creationId xmlns:a16="http://schemas.microsoft.com/office/drawing/2014/main" id="{D9096A72-F381-4537-BC1A-C5D953474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  <p:sp>
          <p:nvSpPr>
            <p:cNvPr id="217" name="Rectangle 58">
              <a:extLst>
                <a:ext uri="{FF2B5EF4-FFF2-40B4-BE49-F238E27FC236}">
                  <a16:creationId xmlns:a16="http://schemas.microsoft.com/office/drawing/2014/main" id="{44E0AC35-B892-4CCE-A93E-A742529A3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B0F0"/>
                </a:solidFill>
              </a:endParaRPr>
            </a:p>
          </p:txBody>
        </p:sp>
      </p:grpSp>
      <p:sp>
        <p:nvSpPr>
          <p:cNvPr id="222" name="Line 122">
            <a:extLst>
              <a:ext uri="{FF2B5EF4-FFF2-40B4-BE49-F238E27FC236}">
                <a16:creationId xmlns:a16="http://schemas.microsoft.com/office/drawing/2014/main" id="{395B9AB1-A48D-4E75-A088-B8455C005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8414" y="3828161"/>
            <a:ext cx="1588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D7906F75-EC4A-42B3-B2F3-DB7781AC6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3628" y="2845216"/>
            <a:ext cx="8934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" name="Rectangle 125">
            <a:extLst>
              <a:ext uri="{FF2B5EF4-FFF2-40B4-BE49-F238E27FC236}">
                <a16:creationId xmlns:a16="http://schemas.microsoft.com/office/drawing/2014/main" id="{5444A300-9B1C-4D7B-AAD5-083F5E1B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287" y="1770457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solidFill>
                  <a:srgbClr val="00B0F0"/>
                </a:solidFill>
                <a:latin typeface="Times" charset="0"/>
              </a:rPr>
              <a:t>&lt;25</a:t>
            </a:r>
            <a:r>
              <a:rPr lang="en-US" altLang="en-US" sz="1600" dirty="0">
                <a:solidFill>
                  <a:srgbClr val="00B0F0"/>
                </a:solidFill>
                <a:latin typeface="Times" charset="0"/>
              </a:rPr>
              <a:t>:0</a:t>
            </a:r>
            <a:r>
              <a:rPr lang="en-US" altLang="en-US" sz="1600" b="0" dirty="0">
                <a:solidFill>
                  <a:srgbClr val="00B0F0"/>
                </a:solidFill>
                <a:latin typeface="Times" charset="0"/>
              </a:rPr>
              <a:t>&gt;</a:t>
            </a:r>
          </a:p>
        </p:txBody>
      </p:sp>
      <p:sp>
        <p:nvSpPr>
          <p:cNvPr id="226" name="Rectangle 75">
            <a:extLst>
              <a:ext uri="{FF2B5EF4-FFF2-40B4-BE49-F238E27FC236}">
                <a16:creationId xmlns:a16="http://schemas.microsoft.com/office/drawing/2014/main" id="{AAB89D01-A84A-4318-BA76-01217067D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841" y="5263083"/>
            <a:ext cx="10275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solidFill>
                  <a:srgbClr val="00B050"/>
                </a:solidFill>
                <a:latin typeface="Times" charset="0"/>
              </a:rPr>
              <a:t>PCSrc2=1</a:t>
            </a:r>
          </a:p>
        </p:txBody>
      </p:sp>
      <p:sp>
        <p:nvSpPr>
          <p:cNvPr id="227" name="Line 76">
            <a:extLst>
              <a:ext uri="{FF2B5EF4-FFF2-40B4-BE49-F238E27FC236}">
                <a16:creationId xmlns:a16="http://schemas.microsoft.com/office/drawing/2014/main" id="{20F337C5-ABE4-47A3-8526-C8B802A006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3632" y="4051323"/>
            <a:ext cx="0" cy="126257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" name="Line 122">
            <a:extLst>
              <a:ext uri="{FF2B5EF4-FFF2-40B4-BE49-F238E27FC236}">
                <a16:creationId xmlns:a16="http://schemas.microsoft.com/office/drawing/2014/main" id="{4761F9E5-1F11-4B2D-96F3-6AA3FC906E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93663" y="2841790"/>
            <a:ext cx="0" cy="56667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" name="Rectangle 125">
            <a:extLst>
              <a:ext uri="{FF2B5EF4-FFF2-40B4-BE49-F238E27FC236}">
                <a16:creationId xmlns:a16="http://schemas.microsoft.com/office/drawing/2014/main" id="{F93AA9BF-FDBE-479D-95C3-BB29F21A6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281" y="2914711"/>
            <a:ext cx="70226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200" b="0" dirty="0">
                <a:solidFill>
                  <a:srgbClr val="00B0F0"/>
                </a:solidFill>
                <a:latin typeface="Times" charset="0"/>
              </a:rPr>
              <a:t>&lt;31:28&gt;</a:t>
            </a:r>
          </a:p>
        </p:txBody>
      </p:sp>
      <p:sp>
        <p:nvSpPr>
          <p:cNvPr id="231" name="Rectangle 147">
            <a:extLst>
              <a:ext uri="{FF2B5EF4-FFF2-40B4-BE49-F238E27FC236}">
                <a16:creationId xmlns:a16="http://schemas.microsoft.com/office/drawing/2014/main" id="{381F616F-054A-40C7-91D4-D283766B8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9" y="668752"/>
            <a:ext cx="4088811" cy="29751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kern="0" dirty="0"/>
              <a:t>PC = {PC[31:28], Inst[25:0]&lt;&lt;2}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019422-090E-466C-A921-376B9711C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366" y="515899"/>
            <a:ext cx="4808008" cy="572607"/>
          </a:xfrm>
          <a:prstGeom prst="rect">
            <a:avLst/>
          </a:prstGeom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3F23B921-0EA0-4C2B-3BBB-F20DF930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80" y="2773959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1C128-1315-8DA2-FACB-1C120D47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291" y="3757266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15B13AA9-51BF-A3C5-1921-B6826A4C0B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33629" y="2846945"/>
            <a:ext cx="8870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48C6A7FA-A01A-3A8A-A45F-AA0A8C06D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0641" y="2847637"/>
            <a:ext cx="282782" cy="100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A9DFC473-33CB-21D2-9510-6E45028527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2430" y="3828161"/>
            <a:ext cx="19265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809866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533400" y="1033462"/>
            <a:ext cx="8610600" cy="447675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2254563" y="-11588"/>
            <a:ext cx="4756110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3600" b="1" dirty="0"/>
              <a:t>Load: </a:t>
            </a:r>
            <a:r>
              <a:rPr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单周期数据通路</a:t>
            </a:r>
            <a:endParaRPr lang="en-US" altLang="en-US" sz="3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785" y="4054153"/>
            <a:ext cx="1150134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9313" y="397759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943" y="4054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751" y="3888111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430" y="3179444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878" y="2789682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=Add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71" y="4469020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040" y="3627486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480" y="3457253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689" y="4423307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6830" y="4535264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537" y="2927407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2" y="3977953"/>
            <a:ext cx="549742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461" y="3895164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25" y="393475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3603363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7405" y="35271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668" y="367315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3292153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705" y="3203253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405" y="4498713"/>
            <a:ext cx="5971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205" y="444150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868" y="447277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415976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1257" y="4535260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505" y="2771453"/>
            <a:ext cx="0" cy="693741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505" y="3033394"/>
            <a:ext cx="0" cy="43180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56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6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2705" y="303339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2855" y="313340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2987353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444553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18" y="344455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818" y="3444553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618" y="3749353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0261" y="6702299"/>
            <a:ext cx="5291476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0262" y="3969598"/>
            <a:ext cx="0" cy="2745085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518" y="2733353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917" y="4511353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63734"/>
            <a:ext cx="0" cy="104660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6684462" y="3457253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748" y="4841026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26108" y="5073875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36749" y="4664020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3348" y="5209326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0219" y="5207739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2596" y="513778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418" y="528552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218" y="5133126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5557" y="3168734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837" y="2845501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6086767" y="4224541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836" y="4047803"/>
            <a:ext cx="0" cy="133624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164" y="5390397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8919" y="6411487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728" y="6105495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346" y="5564184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3990" y="6317497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6689" y="6411487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114" y="5374522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112" y="5884109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0439" y="5819022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533" y="5825345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8789" y="5149097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302" y="5376109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013" y="5707254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61139" y="5889226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390" y="5632490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8964" y="4877866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4288" y="5950784"/>
            <a:ext cx="336631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61" y="5651718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8294570" y="5095026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2876"/>
            <a:ext cx="18601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4047803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552" y="5384047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58479" y="5540963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013" y="4732541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32" y="5657976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436" y="5760493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(Singed)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5112" y="4498712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3891257" y="2122453"/>
            <a:ext cx="2268538" cy="676275"/>
            <a:chOff x="1408" y="1728"/>
            <a:chExt cx="1429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=0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8374" y="4389840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218" y="1118006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291" y="957001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1746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31006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3312" y="1287373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79369" y="1287373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54239" y="1287373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4051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6357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63" y="1118006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596" y="1848955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290" y="1848955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456" y="1848955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150" y="1848955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2733829" y="949325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679268" y="1336571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110" y="1387895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118006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387" y="1590312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168" y="1447201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14" y="274150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518" y="372231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731" y="3334388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215" y="4511353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85137" y="3739481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45" y="5012208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85" y="4099341"/>
            <a:ext cx="41241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1797664" y="3203992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1368" y="3370678"/>
            <a:ext cx="63026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9535" y="4526378"/>
            <a:ext cx="2762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020" y="4819970"/>
            <a:ext cx="924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627" y="4531431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435" y="498357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3045593" y="1834901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845" y="2032145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0970" y="3942178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65697" y="2524266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573697" y="3370678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43" y="342930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370498" y="4590724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751468" y="2653555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97" y="2645191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585" y="2840454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1082953" y="3976212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9392" y="4810820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9103" y="5220630"/>
            <a:ext cx="0" cy="10968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697" y="6317497"/>
            <a:ext cx="51679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697" y="5393343"/>
            <a:ext cx="0" cy="9241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3222" y="2847447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2197" y="62409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60" y="627218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012" y="3842593"/>
            <a:ext cx="305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784" y="3615103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18" y="2742878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381" name="图片 380">
            <a:extLst>
              <a:ext uri="{FF2B5EF4-FFF2-40B4-BE49-F238E27FC236}">
                <a16:creationId xmlns:a16="http://schemas.microsoft.com/office/drawing/2014/main" id="{44C3B704-56C9-4AF6-8659-751CD19B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64" y="491194"/>
            <a:ext cx="4608191" cy="564364"/>
          </a:xfrm>
          <a:prstGeom prst="rect">
            <a:avLst/>
          </a:prstGeom>
        </p:spPr>
      </p:pic>
      <p:sp>
        <p:nvSpPr>
          <p:cNvPr id="382" name="Rectangle 147">
            <a:extLst>
              <a:ext uri="{FF2B5EF4-FFF2-40B4-BE49-F238E27FC236}">
                <a16:creationId xmlns:a16="http://schemas.microsoft.com/office/drawing/2014/main" id="{55A565E1-AA22-4DC9-BBA7-2228A30C6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6" y="747191"/>
            <a:ext cx="2606710" cy="543739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kern="0" dirty="0">
                <a:ea typeface="SimHei" panose="02010609060101010101" pitchFamily="49" charset="-122"/>
              </a:rPr>
              <a:t>Reg[rt] = Mem(Reg[</a:t>
            </a:r>
            <a:r>
              <a:rPr lang="en-US" altLang="en-US" sz="160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kern="0" dirty="0">
                <a:ea typeface="SimHei" panose="02010609060101010101" pitchFamily="49" charset="-122"/>
              </a:rPr>
              <a:t>] + </a:t>
            </a:r>
            <a:r>
              <a:rPr lang="en-US" altLang="en-US" sz="1600" kern="0" dirty="0" err="1">
                <a:ea typeface="SimHei" panose="02010609060101010101" pitchFamily="49" charset="-122"/>
              </a:rPr>
              <a:t>SignExt</a:t>
            </a:r>
            <a:r>
              <a:rPr lang="en-US" altLang="en-US" sz="1600" kern="0" dirty="0">
                <a:ea typeface="SimHei" panose="02010609060101010101" pitchFamily="49" charset="-122"/>
              </a:rPr>
              <a:t>(</a:t>
            </a:r>
            <a:r>
              <a:rPr lang="en-US" altLang="en-US" sz="160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kern="0" dirty="0">
                <a:ea typeface="SimHei" panose="02010609060101010101" pitchFamily="49" charset="-122"/>
              </a:rPr>
              <a:t>))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D03BB1C2-7D0F-DFA3-8C63-DA2CDDF5194A}"/>
              </a:ext>
            </a:extLst>
          </p:cNvPr>
          <p:cNvCxnSpPr>
            <a:cxnSpLocks/>
            <a:stCxn id="209" idx="0"/>
            <a:endCxn id="40" idx="0"/>
          </p:cNvCxnSpPr>
          <p:nvPr/>
        </p:nvCxnSpPr>
        <p:spPr>
          <a:xfrm rot="16200000" flipH="1">
            <a:off x="4877721" y="3031178"/>
            <a:ext cx="560268" cy="5647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23">
            <a:extLst>
              <a:ext uri="{FF2B5EF4-FFF2-40B4-BE49-F238E27FC236}">
                <a16:creationId xmlns:a16="http://schemas.microsoft.com/office/drawing/2014/main" id="{B67CE4FD-D5F9-5993-3725-D4402D2A1A61}"/>
              </a:ext>
            </a:extLst>
          </p:cNvPr>
          <p:cNvSpPr>
            <a:spLocks/>
          </p:cNvSpPr>
          <p:nvPr/>
        </p:nvSpPr>
        <p:spPr bwMode="auto">
          <a:xfrm>
            <a:off x="73101" y="2514464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4B5767C8-76D6-B7C5-DF72-4092863A1B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4213" y="3713301"/>
            <a:ext cx="60630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C09C831B-0221-1FAF-2CA5-6D71CBB54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8920" y="3354324"/>
            <a:ext cx="646996" cy="1159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" name="Line 28">
            <a:extLst>
              <a:ext uri="{FF2B5EF4-FFF2-40B4-BE49-F238E27FC236}">
                <a16:creationId xmlns:a16="http://schemas.microsoft.com/office/drawing/2014/main" id="{00DD4F15-EED1-A8AA-C153-0BDB4BF5F2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7088" y="3959450"/>
            <a:ext cx="54974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" name="Line 54">
            <a:extLst>
              <a:ext uri="{FF2B5EF4-FFF2-40B4-BE49-F238E27FC236}">
                <a16:creationId xmlns:a16="http://schemas.microsoft.com/office/drawing/2014/main" id="{1409FB25-37CF-424A-F3E7-3C7D376D2A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9797" y="6702299"/>
            <a:ext cx="529147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" name="Line 55">
            <a:extLst>
              <a:ext uri="{FF2B5EF4-FFF2-40B4-BE49-F238E27FC236}">
                <a16:creationId xmlns:a16="http://schemas.microsoft.com/office/drawing/2014/main" id="{11FD355C-B024-125D-B596-3C42DB911A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4476" y="3959450"/>
            <a:ext cx="0" cy="274508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" name="Line 89">
            <a:extLst>
              <a:ext uri="{FF2B5EF4-FFF2-40B4-BE49-F238E27FC236}">
                <a16:creationId xmlns:a16="http://schemas.microsoft.com/office/drawing/2014/main" id="{E7927075-BB64-804A-B505-AAF77421D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1737" y="5655695"/>
            <a:ext cx="0" cy="1046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" name="Line 89">
            <a:extLst>
              <a:ext uri="{FF2B5EF4-FFF2-40B4-BE49-F238E27FC236}">
                <a16:creationId xmlns:a16="http://schemas.microsoft.com/office/drawing/2014/main" id="{E3A53593-0D04-3E6E-0975-C09BA7A7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5720" y="5677117"/>
            <a:ext cx="1860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2BE2005-3AD9-2F9A-6EC0-3C0150086B9A}"/>
              </a:ext>
            </a:extLst>
          </p:cNvPr>
          <p:cNvCxnSpPr>
            <a:cxnSpLocks/>
          </p:cNvCxnSpPr>
          <p:nvPr/>
        </p:nvCxnSpPr>
        <p:spPr>
          <a:xfrm>
            <a:off x="4525196" y="5188327"/>
            <a:ext cx="1574261" cy="70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ine 29">
            <a:extLst>
              <a:ext uri="{FF2B5EF4-FFF2-40B4-BE49-F238E27FC236}">
                <a16:creationId xmlns:a16="http://schemas.microsoft.com/office/drawing/2014/main" id="{424CCFED-BE5B-C273-47E7-99134D58E2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3117" y="4519924"/>
            <a:ext cx="314650" cy="645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362C7E-818B-1310-1DF1-D40320613BFD}"/>
              </a:ext>
            </a:extLst>
          </p:cNvPr>
          <p:cNvCxnSpPr>
            <a:cxnSpLocks/>
            <a:endCxn id="35" idx="0"/>
          </p:cNvCxnSpPr>
          <p:nvPr/>
        </p:nvCxnSpPr>
        <p:spPr>
          <a:xfrm flipV="1">
            <a:off x="7108908" y="4054153"/>
            <a:ext cx="605707" cy="32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ine 29">
            <a:extLst>
              <a:ext uri="{FF2B5EF4-FFF2-40B4-BE49-F238E27FC236}">
                <a16:creationId xmlns:a16="http://schemas.microsoft.com/office/drawing/2014/main" id="{9B11F347-B2C1-48B0-2404-919FC6ED5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4615" y="4054153"/>
            <a:ext cx="0" cy="13362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0" name="Line 29">
            <a:extLst>
              <a:ext uri="{FF2B5EF4-FFF2-40B4-BE49-F238E27FC236}">
                <a16:creationId xmlns:a16="http://schemas.microsoft.com/office/drawing/2014/main" id="{117FB5F8-96FF-E07C-4269-7F1D5978D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0205" y="3593662"/>
            <a:ext cx="1247134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1" name="Line 29">
            <a:extLst>
              <a:ext uri="{FF2B5EF4-FFF2-40B4-BE49-F238E27FC236}">
                <a16:creationId xmlns:a16="http://schemas.microsoft.com/office/drawing/2014/main" id="{4F0BDFDD-E849-DC13-D534-D9B1B5E008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65933" y="2422126"/>
            <a:ext cx="206313" cy="36499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F3041C6F-F711-F501-B611-39D8715CF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701" y="2417456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FFCB67DD-D5A9-562E-3CAB-2CC14A52E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521" y="243128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488ADE0-ADCF-6446-8428-558F66C81792}"/>
              </a:ext>
            </a:extLst>
          </p:cNvPr>
          <p:cNvCxnSpPr>
            <a:cxnSpLocks/>
          </p:cNvCxnSpPr>
          <p:nvPr/>
        </p:nvCxnSpPr>
        <p:spPr>
          <a:xfrm>
            <a:off x="3014477" y="3942007"/>
            <a:ext cx="178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EF32693-9167-2FC0-C55C-E616DDAA1A3F}"/>
              </a:ext>
            </a:extLst>
          </p:cNvPr>
          <p:cNvCxnSpPr>
            <a:cxnSpLocks/>
          </p:cNvCxnSpPr>
          <p:nvPr/>
        </p:nvCxnSpPr>
        <p:spPr>
          <a:xfrm flipH="1" flipV="1">
            <a:off x="3167674" y="2487772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ine 29">
            <a:extLst>
              <a:ext uri="{FF2B5EF4-FFF2-40B4-BE49-F238E27FC236}">
                <a16:creationId xmlns:a16="http://schemas.microsoft.com/office/drawing/2014/main" id="{11DFFA2A-E60F-C299-821D-74E1F0F309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2436" y="4506591"/>
            <a:ext cx="268376" cy="1105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037F99-3D77-2E3D-8F3E-CEA16B91FD85}"/>
              </a:ext>
            </a:extLst>
          </p:cNvPr>
          <p:cNvCxnSpPr>
            <a:cxnSpLocks/>
            <a:stCxn id="215" idx="0"/>
          </p:cNvCxnSpPr>
          <p:nvPr/>
        </p:nvCxnSpPr>
        <p:spPr>
          <a:xfrm flipH="1" flipV="1">
            <a:off x="4472884" y="2758334"/>
            <a:ext cx="11972" cy="6862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ine 29">
            <a:extLst>
              <a:ext uri="{FF2B5EF4-FFF2-40B4-BE49-F238E27FC236}">
                <a16:creationId xmlns:a16="http://schemas.microsoft.com/office/drawing/2014/main" id="{E06568E8-F402-FD28-2E18-65BBA7D74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384" y="3369893"/>
            <a:ext cx="333375" cy="581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39B5D2C5-4475-1A71-8D2A-B8DAA7639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168" y="3942007"/>
            <a:ext cx="597582" cy="1875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75398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 dirty="0"/>
              <a:t>回顾：建立时间和保持时间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AD2C69-E162-EE43-AE33-7E642714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 bwMode="auto">
          <a:xfrm>
            <a:off x="685800" y="6629400"/>
            <a:ext cx="2438400" cy="2286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74535DE-9611-4903-9A63-0912887C0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19422"/>
            <a:ext cx="8077200" cy="255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2800" b="0" kern="0" dirty="0">
                <a:ea typeface="黑体" panose="02010609060101010101" pitchFamily="49" charset="-122"/>
              </a:rPr>
              <a:t>输出响应时间</a:t>
            </a:r>
            <a:r>
              <a:rPr lang="en-US" altLang="zh-CN" sz="2800" b="0" kern="0" dirty="0" err="1">
                <a:ea typeface="黑体" panose="02010609060101010101" pitchFamily="49" charset="-122"/>
              </a:rPr>
              <a:t>t</a:t>
            </a:r>
            <a:r>
              <a:rPr lang="en-US" altLang="zh-CN" sz="2800" b="0" kern="0" baseline="-25000" dirty="0" err="1">
                <a:ea typeface="黑体" panose="02010609060101010101" pitchFamily="49" charset="-122"/>
              </a:rPr>
              <a:t>co</a:t>
            </a:r>
            <a:r>
              <a:rPr lang="zh-CN" altLang="en-US" sz="2800" b="0" kern="0" baseline="-25000" dirty="0">
                <a:ea typeface="黑体" panose="02010609060101010101" pitchFamily="49" charset="-122"/>
              </a:rPr>
              <a:t> </a:t>
            </a:r>
            <a:r>
              <a:rPr lang="en-US" altLang="zh-CN" sz="2800" b="0" kern="0" dirty="0">
                <a:ea typeface="黑体" panose="02010609060101010101" pitchFamily="49" charset="-122"/>
              </a:rPr>
              <a:t>(co:</a:t>
            </a:r>
            <a:r>
              <a:rPr lang="zh-CN" altLang="en-US" sz="2800" b="0" kern="0" dirty="0">
                <a:ea typeface="黑体" panose="02010609060101010101" pitchFamily="49" charset="-122"/>
              </a:rPr>
              <a:t> </a:t>
            </a:r>
            <a:r>
              <a:rPr lang="en-US" altLang="zh-CN" sz="2800" b="0" kern="0" dirty="0" err="1">
                <a:ea typeface="黑体" panose="02010609060101010101" pitchFamily="49" charset="-122"/>
              </a:rPr>
              <a:t>clk</a:t>
            </a:r>
            <a:r>
              <a:rPr lang="en-US" altLang="zh-CN" sz="2800" b="0" kern="0" dirty="0">
                <a:ea typeface="黑体" panose="02010609060101010101" pitchFamily="49" charset="-122"/>
              </a:rPr>
              <a:t>-to-output)</a:t>
            </a:r>
            <a:endParaRPr lang="zh-CN" altLang="en-US" sz="2800" b="0" kern="0" baseline="-25000" dirty="0">
              <a:ea typeface="黑体" panose="02010609060101010101" pitchFamily="49" charset="-122"/>
            </a:endParaRPr>
          </a:p>
          <a:p>
            <a:pPr lvl="1">
              <a:spcBef>
                <a:spcPts val="0"/>
              </a:spcBef>
            </a:pPr>
            <a:r>
              <a:rPr lang="zh-CN" altLang="en-US" sz="2400" b="0" kern="0" dirty="0">
                <a:ea typeface="黑体" panose="02010609060101010101" pitchFamily="49" charset="-122"/>
              </a:rPr>
              <a:t>从开始采样到输出信号的延时</a:t>
            </a:r>
            <a:endParaRPr lang="en-US" altLang="zh-CN" sz="2400" b="0" kern="0" dirty="0">
              <a:ea typeface="黑体" panose="02010609060101010101" pitchFamily="49" charset="-122"/>
            </a:endParaRPr>
          </a:p>
          <a:p>
            <a:r>
              <a:rPr lang="zh-CN" altLang="en-US" sz="2800" b="0" kern="0" dirty="0">
                <a:ea typeface="黑体" panose="02010609060101010101" pitchFamily="49" charset="-122"/>
              </a:rPr>
              <a:t>建立时间</a:t>
            </a:r>
            <a:r>
              <a:rPr lang="en-US" altLang="zh-CN" sz="2800" b="0" kern="0" dirty="0" err="1">
                <a:ea typeface="黑体" panose="02010609060101010101" pitchFamily="49" charset="-122"/>
              </a:rPr>
              <a:t>t</a:t>
            </a:r>
            <a:r>
              <a:rPr lang="en-US" altLang="zh-CN" sz="2800" b="0" kern="0" baseline="-25000" dirty="0" err="1">
                <a:ea typeface="黑体" panose="02010609060101010101" pitchFamily="49" charset="-122"/>
              </a:rPr>
              <a:t>su</a:t>
            </a:r>
            <a:endParaRPr lang="en-US" altLang="zh-CN" sz="2800" b="0" kern="0" baseline="-25000" dirty="0">
              <a:ea typeface="黑体" panose="02010609060101010101" pitchFamily="49" charset="-122"/>
            </a:endParaRPr>
          </a:p>
          <a:p>
            <a:pPr lvl="1"/>
            <a:r>
              <a:rPr lang="zh-CN" altLang="en-US" sz="2400" b="0" kern="0" dirty="0">
                <a:ea typeface="黑体" panose="02010609060101010101" pitchFamily="49" charset="-122"/>
              </a:rPr>
              <a:t>锁存操作开始之前，</a:t>
            </a:r>
            <a:r>
              <a:rPr lang="zh-CN" altLang="en-US" sz="2400" b="0" kern="0" dirty="0">
                <a:solidFill>
                  <a:srgbClr val="0432FF"/>
                </a:solidFill>
                <a:ea typeface="黑体" panose="02010609060101010101" pitchFamily="49" charset="-122"/>
              </a:rPr>
              <a:t>输入信号</a:t>
            </a:r>
            <a:r>
              <a:rPr lang="zh-CN" altLang="en-US" sz="2400" b="0" kern="0" dirty="0">
                <a:ea typeface="黑体" panose="02010609060101010101" pitchFamily="49" charset="-122"/>
              </a:rPr>
              <a:t>应保持不变的最短时间</a:t>
            </a:r>
            <a:endParaRPr lang="en-US" altLang="zh-CN" sz="2400" b="0" kern="0" dirty="0">
              <a:ea typeface="黑体" panose="02010609060101010101" pitchFamily="49" charset="-122"/>
            </a:endParaRPr>
          </a:p>
          <a:p>
            <a:r>
              <a:rPr lang="zh-CN" altLang="en-US" sz="2800" b="0" kern="0" dirty="0">
                <a:ea typeface="黑体" panose="02010609060101010101" pitchFamily="49" charset="-122"/>
              </a:rPr>
              <a:t>保持时间</a:t>
            </a:r>
            <a:r>
              <a:rPr lang="en-US" altLang="zh-CN" sz="2800" b="0" kern="0" dirty="0" err="1">
                <a:ea typeface="黑体" panose="02010609060101010101" pitchFamily="49" charset="-122"/>
              </a:rPr>
              <a:t>t</a:t>
            </a:r>
            <a:r>
              <a:rPr lang="en-US" altLang="zh-CN" sz="2800" b="0" kern="0" baseline="-25000" dirty="0" err="1">
                <a:ea typeface="黑体" panose="02010609060101010101" pitchFamily="49" charset="-122"/>
              </a:rPr>
              <a:t>h</a:t>
            </a:r>
            <a:endParaRPr lang="en-US" altLang="zh-CN" sz="2800" b="0" kern="0" baseline="-25000" dirty="0">
              <a:ea typeface="黑体" panose="02010609060101010101" pitchFamily="49" charset="-122"/>
            </a:endParaRPr>
          </a:p>
          <a:p>
            <a:pPr lvl="1"/>
            <a:r>
              <a:rPr lang="zh-CN" altLang="en-US" sz="2400" b="0" kern="0" dirty="0">
                <a:ea typeface="黑体" panose="02010609060101010101" pitchFamily="49" charset="-122"/>
              </a:rPr>
              <a:t>锁存操作之后，</a:t>
            </a:r>
            <a:r>
              <a:rPr lang="zh-CN" altLang="en-US" sz="2400" b="0" kern="0" dirty="0">
                <a:solidFill>
                  <a:srgbClr val="0432FF"/>
                </a:solidFill>
                <a:ea typeface="黑体" panose="02010609060101010101" pitchFamily="49" charset="-122"/>
              </a:rPr>
              <a:t>输入信号</a:t>
            </a:r>
            <a:r>
              <a:rPr lang="zh-CN" altLang="en-US" sz="2400" b="0" kern="0" dirty="0">
                <a:ea typeface="黑体" panose="02010609060101010101" pitchFamily="49" charset="-122"/>
              </a:rPr>
              <a:t>还应保持不变的最短时间</a:t>
            </a:r>
            <a:endParaRPr lang="en-US" altLang="zh-CN" sz="2400" b="0" kern="0" dirty="0">
              <a:ea typeface="黑体" panose="02010609060101010101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CBD6361-C67D-49A2-9EF8-4FD4B311ABB8}"/>
              </a:ext>
            </a:extLst>
          </p:cNvPr>
          <p:cNvGrpSpPr/>
          <p:nvPr/>
        </p:nvGrpSpPr>
        <p:grpSpPr>
          <a:xfrm>
            <a:off x="3178627" y="4713782"/>
            <a:ext cx="3505188" cy="690664"/>
            <a:chOff x="2667000" y="4795736"/>
            <a:chExt cx="2438400" cy="690664"/>
          </a:xfrm>
        </p:grpSpPr>
        <p:cxnSp>
          <p:nvCxnSpPr>
            <p:cNvPr id="9" name="直线连接符 20">
              <a:extLst>
                <a:ext uri="{FF2B5EF4-FFF2-40B4-BE49-F238E27FC236}">
                  <a16:creationId xmlns:a16="http://schemas.microsoft.com/office/drawing/2014/main" id="{D7C2B411-3872-40AA-8D65-DAF53E5DDFBF}"/>
                </a:ext>
              </a:extLst>
            </p:cNvPr>
            <p:cNvCxnSpPr/>
            <p:nvPr/>
          </p:nvCxnSpPr>
          <p:spPr bwMode="auto">
            <a:xfrm>
              <a:off x="2667000" y="4795736"/>
              <a:ext cx="1676400" cy="0"/>
            </a:xfrm>
            <a:prstGeom prst="line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线连接符 21">
              <a:extLst>
                <a:ext uri="{FF2B5EF4-FFF2-40B4-BE49-F238E27FC236}">
                  <a16:creationId xmlns:a16="http://schemas.microsoft.com/office/drawing/2014/main" id="{7137966C-FDAC-4006-90BE-93074180F2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43400" y="4795736"/>
              <a:ext cx="0" cy="690664"/>
            </a:xfrm>
            <a:prstGeom prst="line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线连接符 22">
              <a:extLst>
                <a:ext uri="{FF2B5EF4-FFF2-40B4-BE49-F238E27FC236}">
                  <a16:creationId xmlns:a16="http://schemas.microsoft.com/office/drawing/2014/main" id="{6698445D-1C55-4233-A445-609A7A5A42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43400" y="5486400"/>
              <a:ext cx="762000" cy="0"/>
            </a:xfrm>
            <a:prstGeom prst="line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2" name="直线连接符 23">
            <a:extLst>
              <a:ext uri="{FF2B5EF4-FFF2-40B4-BE49-F238E27FC236}">
                <a16:creationId xmlns:a16="http://schemas.microsoft.com/office/drawing/2014/main" id="{1D5AF30F-8CDB-4988-AC90-726C65BEC573}"/>
              </a:ext>
            </a:extLst>
          </p:cNvPr>
          <p:cNvCxnSpPr>
            <a:cxnSpLocks/>
          </p:cNvCxnSpPr>
          <p:nvPr/>
        </p:nvCxnSpPr>
        <p:spPr bwMode="auto">
          <a:xfrm>
            <a:off x="4796449" y="4518817"/>
            <a:ext cx="0" cy="1455080"/>
          </a:xfrm>
          <a:prstGeom prst="line">
            <a:avLst/>
          </a:prstGeom>
          <a:noFill/>
          <a:ln w="5715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82C8DB1-50CC-4551-946A-FE91D84D99E2}"/>
              </a:ext>
            </a:extLst>
          </p:cNvPr>
          <p:cNvSpPr txBox="1"/>
          <p:nvPr/>
        </p:nvSpPr>
        <p:spPr>
          <a:xfrm>
            <a:off x="3466598" y="6034952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  <a:ea typeface="黑体" panose="02010609060101010101" pitchFamily="49" charset="-122"/>
              </a:rPr>
              <a:t>锁存操作发生时刻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971150-D539-4D6D-A712-6922B8E669D3}"/>
              </a:ext>
            </a:extLst>
          </p:cNvPr>
          <p:cNvSpPr txBox="1"/>
          <p:nvPr/>
        </p:nvSpPr>
        <p:spPr>
          <a:xfrm>
            <a:off x="2518434" y="4287985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0432FF"/>
                </a:solidFill>
                <a:ea typeface="黑体" panose="02010609060101010101" pitchFamily="49" charset="-122"/>
              </a:rPr>
              <a:t>输入信号</a:t>
            </a:r>
          </a:p>
        </p:txBody>
      </p:sp>
      <p:cxnSp>
        <p:nvCxnSpPr>
          <p:cNvPr id="15" name="直线连接符 26">
            <a:extLst>
              <a:ext uri="{FF2B5EF4-FFF2-40B4-BE49-F238E27FC236}">
                <a16:creationId xmlns:a16="http://schemas.microsoft.com/office/drawing/2014/main" id="{4D5A94BA-4F55-4E8C-912E-5CDC67A7F496}"/>
              </a:ext>
            </a:extLst>
          </p:cNvPr>
          <p:cNvCxnSpPr>
            <a:cxnSpLocks/>
          </p:cNvCxnSpPr>
          <p:nvPr/>
        </p:nvCxnSpPr>
        <p:spPr bwMode="auto">
          <a:xfrm>
            <a:off x="3940618" y="4561382"/>
            <a:ext cx="0" cy="817601"/>
          </a:xfrm>
          <a:prstGeom prst="line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箭头连接符 27">
            <a:extLst>
              <a:ext uri="{FF2B5EF4-FFF2-40B4-BE49-F238E27FC236}">
                <a16:creationId xmlns:a16="http://schemas.microsoft.com/office/drawing/2014/main" id="{FA1B2791-344F-46DF-ADF9-53C9A4A7292B}"/>
              </a:ext>
            </a:extLst>
          </p:cNvPr>
          <p:cNvCxnSpPr/>
          <p:nvPr/>
        </p:nvCxnSpPr>
        <p:spPr bwMode="auto">
          <a:xfrm flipH="1">
            <a:off x="3940618" y="5016350"/>
            <a:ext cx="855831" cy="0"/>
          </a:xfrm>
          <a:prstGeom prst="straightConnector1">
            <a:avLst/>
          </a:prstGeom>
          <a:noFill/>
          <a:ln w="9525" cap="flat" cmpd="sng" algn="ctr">
            <a:solidFill>
              <a:schemeClr val="accent1">
                <a:lumMod val="1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EEE0FB5-CF7F-4A22-87D0-A27A4FDF2BCA}"/>
                  </a:ext>
                </a:extLst>
              </p:cNvPr>
              <p:cNvSpPr txBox="1"/>
              <p:nvPr/>
            </p:nvSpPr>
            <p:spPr>
              <a:xfrm>
                <a:off x="4134201" y="4927457"/>
                <a:ext cx="5663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𝒔𝒖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accent6">
                      <a:lumMod val="5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EEE0FB5-CF7F-4A22-87D0-A27A4FDF2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01" y="4927457"/>
                <a:ext cx="56630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线箭头连接符 29">
            <a:extLst>
              <a:ext uri="{FF2B5EF4-FFF2-40B4-BE49-F238E27FC236}">
                <a16:creationId xmlns:a16="http://schemas.microsoft.com/office/drawing/2014/main" id="{C41D6694-8AA1-4B26-84FD-30B954DB9ADF}"/>
              </a:ext>
            </a:extLst>
          </p:cNvPr>
          <p:cNvCxnSpPr>
            <a:cxnSpLocks/>
          </p:cNvCxnSpPr>
          <p:nvPr/>
        </p:nvCxnSpPr>
        <p:spPr bwMode="auto">
          <a:xfrm flipH="1">
            <a:off x="4796450" y="5170982"/>
            <a:ext cx="607645" cy="0"/>
          </a:xfrm>
          <a:prstGeom prst="straightConnector1">
            <a:avLst/>
          </a:prstGeom>
          <a:noFill/>
          <a:ln w="9525" cap="flat" cmpd="sng" algn="ctr">
            <a:solidFill>
              <a:schemeClr val="accent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45A4887-FBEF-41B1-B687-5638E6FECD56}"/>
                  </a:ext>
                </a:extLst>
              </p:cNvPr>
              <p:cNvSpPr txBox="1"/>
              <p:nvPr/>
            </p:nvSpPr>
            <p:spPr>
              <a:xfrm>
                <a:off x="4937979" y="5131085"/>
                <a:ext cx="4351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accent6">
                      <a:lumMod val="5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45A4887-FBEF-41B1-B687-5638E6FEC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979" y="5131085"/>
                <a:ext cx="43511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连接符 31">
            <a:extLst>
              <a:ext uri="{FF2B5EF4-FFF2-40B4-BE49-F238E27FC236}">
                <a16:creationId xmlns:a16="http://schemas.microsoft.com/office/drawing/2014/main" id="{5617C755-6763-4655-B519-A00EC7FCC56B}"/>
              </a:ext>
            </a:extLst>
          </p:cNvPr>
          <p:cNvCxnSpPr>
            <a:cxnSpLocks/>
          </p:cNvCxnSpPr>
          <p:nvPr/>
        </p:nvCxnSpPr>
        <p:spPr bwMode="auto">
          <a:xfrm>
            <a:off x="5429075" y="4561382"/>
            <a:ext cx="0" cy="817601"/>
          </a:xfrm>
          <a:prstGeom prst="line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5343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C9C2D-A370-44A1-854B-CB379F72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回顾：建立时间约束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5BAF5E-A1CB-4941-8E9E-CA59495A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16</a:t>
            </a:fld>
            <a:endParaRPr lang="en-US" altLang="zh-CN">
              <a:latin typeface="+mn-lt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3EFE4F7-6E8E-4B6F-9F2A-EC95936BF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632" y="1520180"/>
            <a:ext cx="5875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延时</a:t>
            </a:r>
            <a:r>
              <a:rPr kumimoji="1" lang="zh-CN" altLang="en-US" sz="2400" dirty="0">
                <a:latin typeface="+mn-lt"/>
                <a:ea typeface="黑体" panose="02010609060101010101" pitchFamily="49" charset="-122"/>
              </a:rPr>
              <a:t>需满足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en-US" altLang="zh-CN" sz="2400" b="1" dirty="0" err="1">
                <a:latin typeface="+mn-lt"/>
              </a:rPr>
              <a:t>Tco</a:t>
            </a:r>
            <a:r>
              <a:rPr kumimoji="1" lang="en-US" altLang="zh-CN" sz="2400" dirty="0" err="1">
                <a:latin typeface="+mn-lt"/>
              </a:rPr>
              <a:t>+</a:t>
            </a:r>
            <a:r>
              <a:rPr kumimoji="1" lang="en-US" altLang="zh-CN" sz="2400" b="1" dirty="0" err="1">
                <a:latin typeface="+mn-lt"/>
              </a:rPr>
              <a:t>Td_</a:t>
            </a:r>
            <a:r>
              <a:rPr kumimoji="1" lang="en-US" altLang="zh-CN" sz="2400" b="1" dirty="0" err="1">
                <a:solidFill>
                  <a:srgbClr val="3333FF"/>
                </a:solidFill>
                <a:latin typeface="+mn-lt"/>
              </a:rPr>
              <a:t>max</a:t>
            </a:r>
            <a:r>
              <a:rPr kumimoji="1" lang="en-US" altLang="zh-CN" sz="2400" b="1" dirty="0" err="1">
                <a:latin typeface="+mn-lt"/>
              </a:rPr>
              <a:t>+Tsu</a:t>
            </a:r>
            <a:r>
              <a:rPr kumimoji="1" lang="en-US" altLang="zh-CN" sz="2400" b="1" dirty="0">
                <a:latin typeface="+mn-lt"/>
              </a:rPr>
              <a:t> </a:t>
            </a:r>
            <a:r>
              <a:rPr kumimoji="1" lang="en-US" altLang="zh-CN" sz="2400" dirty="0">
                <a:latin typeface="+mn-lt"/>
                <a:sym typeface="Symbol" pitchFamily="18" charset="2"/>
              </a:rPr>
              <a:t> </a:t>
            </a:r>
            <a:r>
              <a:rPr kumimoji="1" lang="en-US" altLang="zh-CN" sz="2400" b="1" dirty="0" err="1">
                <a:latin typeface="+mn-lt"/>
              </a:rPr>
              <a:t>Tcycle</a:t>
            </a:r>
            <a:endParaRPr kumimoji="1" lang="zh-CN" altLang="en-US" sz="2400" b="1" dirty="0">
              <a:latin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59BB99-AC6C-46F7-B136-7DF56E713363}"/>
              </a:ext>
            </a:extLst>
          </p:cNvPr>
          <p:cNvSpPr/>
          <p:nvPr/>
        </p:nvSpPr>
        <p:spPr>
          <a:xfrm>
            <a:off x="1588769" y="2242350"/>
            <a:ext cx="1977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寄存器延时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)</a:t>
            </a:r>
            <a:endParaRPr lang="zh-CN" altLang="en-US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A74BE6-17C1-4A86-B8B7-3BBD37F7BD3C}"/>
              </a:ext>
            </a:extLst>
          </p:cNvPr>
          <p:cNvSpPr/>
          <p:nvPr/>
        </p:nvSpPr>
        <p:spPr>
          <a:xfrm>
            <a:off x="4056912" y="2242349"/>
            <a:ext cx="47098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组合逻辑与互连线</a:t>
            </a:r>
            <a:r>
              <a:rPr kumimoji="1" lang="zh-CN" altLang="en-US" sz="2400" b="1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最长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路径延时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)</a:t>
            </a:r>
            <a:endParaRPr lang="zh-CN" altLang="en-US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12" name="直线箭头连接符 4">
            <a:extLst>
              <a:ext uri="{FF2B5EF4-FFF2-40B4-BE49-F238E27FC236}">
                <a16:creationId xmlns:a16="http://schemas.microsoft.com/office/drawing/2014/main" id="{FBC8CEF4-6468-4E0C-AB3A-EE50D3013451}"/>
              </a:ext>
            </a:extLst>
          </p:cNvPr>
          <p:cNvCxnSpPr>
            <a:cxnSpLocks/>
            <a:stCxn id="10" idx="0"/>
          </p:cNvCxnSpPr>
          <p:nvPr/>
        </p:nvCxnSpPr>
        <p:spPr bwMode="auto">
          <a:xfrm flipV="1">
            <a:off x="2577465" y="1961915"/>
            <a:ext cx="1045845" cy="280435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线箭头连接符 13">
            <a:extLst>
              <a:ext uri="{FF2B5EF4-FFF2-40B4-BE49-F238E27FC236}">
                <a16:creationId xmlns:a16="http://schemas.microsoft.com/office/drawing/2014/main" id="{B72C1EE7-32AB-428A-A49C-A6C19A7CDDBE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H="1" flipV="1">
            <a:off x="5267344" y="1961915"/>
            <a:ext cx="1144517" cy="280434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5" name="Group 5">
            <a:extLst>
              <a:ext uri="{FF2B5EF4-FFF2-40B4-BE49-F238E27FC236}">
                <a16:creationId xmlns:a16="http://schemas.microsoft.com/office/drawing/2014/main" id="{3EAF1BD3-6F4B-4358-AC1D-F60B82A8037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47899" y="2963862"/>
            <a:ext cx="5049587" cy="2819697"/>
            <a:chOff x="1416" y="1867"/>
            <a:chExt cx="2928" cy="1635"/>
          </a:xfrm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14B3C5C3-E7D3-4BCA-BE58-9E9D1F20D74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416" y="1867"/>
              <a:ext cx="2928" cy="1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2492224E-6789-41A8-BEEC-ACCC36981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1945"/>
              <a:ext cx="182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26C7609-05D5-4138-99F8-EA9D80694F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1" y="1945"/>
              <a:ext cx="182" cy="227"/>
            </a:xfrm>
            <a:custGeom>
              <a:avLst/>
              <a:gdLst>
                <a:gd name="T0" fmla="*/ 131 w 182"/>
                <a:gd name="T1" fmla="*/ 166 h 227"/>
                <a:gd name="T2" fmla="*/ 165 w 182"/>
                <a:gd name="T3" fmla="*/ 166 h 227"/>
                <a:gd name="T4" fmla="*/ 0 w 182"/>
                <a:gd name="T5" fmla="*/ 94 h 227"/>
                <a:gd name="T6" fmla="*/ 34 w 182"/>
                <a:gd name="T7" fmla="*/ 113 h 227"/>
                <a:gd name="T8" fmla="*/ 0 w 182"/>
                <a:gd name="T9" fmla="*/ 134 h 227"/>
                <a:gd name="T10" fmla="*/ 0 w 182"/>
                <a:gd name="T11" fmla="*/ 227 h 227"/>
                <a:gd name="T12" fmla="*/ 182 w 182"/>
                <a:gd name="T13" fmla="*/ 227 h 227"/>
                <a:gd name="T14" fmla="*/ 182 w 182"/>
                <a:gd name="T15" fmla="*/ 0 h 227"/>
                <a:gd name="T16" fmla="*/ 0 w 182"/>
                <a:gd name="T17" fmla="*/ 0 h 227"/>
                <a:gd name="T18" fmla="*/ 0 w 182"/>
                <a:gd name="T1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227">
                  <a:moveTo>
                    <a:pt x="131" y="166"/>
                  </a:moveTo>
                  <a:lnTo>
                    <a:pt x="165" y="166"/>
                  </a:lnTo>
                  <a:moveTo>
                    <a:pt x="0" y="94"/>
                  </a:moveTo>
                  <a:lnTo>
                    <a:pt x="34" y="113"/>
                  </a:lnTo>
                  <a:lnTo>
                    <a:pt x="0" y="134"/>
                  </a:lnTo>
                  <a:moveTo>
                    <a:pt x="0" y="227"/>
                  </a:moveTo>
                  <a:lnTo>
                    <a:pt x="182" y="227"/>
                  </a:lnTo>
                  <a:lnTo>
                    <a:pt x="182" y="0"/>
                  </a:lnTo>
                  <a:lnTo>
                    <a:pt x="0" y="0"/>
                  </a:lnTo>
                  <a:lnTo>
                    <a:pt x="0" y="227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57DF7D8F-756C-4974-AAA4-B1A23FDAE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" y="2115"/>
              <a:ext cx="29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12F64A47-145A-4840-BC1E-25C66C071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" y="1964"/>
              <a:ext cx="29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20CB3CA6-9A6B-450C-B021-5FE31C16B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1956"/>
              <a:ext cx="44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SET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73B44C76-1B45-4F4D-86BA-CE6FA50E3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129"/>
              <a:ext cx="44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CLR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AD3595B1-7A7C-4DAA-888A-14433AA74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1961"/>
              <a:ext cx="27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8F85A115-A43C-45D4-A2FD-5A939E8720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0" y="1911"/>
              <a:ext cx="272" cy="68"/>
            </a:xfrm>
            <a:custGeom>
              <a:avLst/>
              <a:gdLst>
                <a:gd name="T0" fmla="*/ 0 w 272"/>
                <a:gd name="T1" fmla="*/ 0 h 68"/>
                <a:gd name="T2" fmla="*/ 136 w 272"/>
                <a:gd name="T3" fmla="*/ 0 h 68"/>
                <a:gd name="T4" fmla="*/ 0 w 272"/>
                <a:gd name="T5" fmla="*/ 68 h 68"/>
                <a:gd name="T6" fmla="*/ 136 w 272"/>
                <a:gd name="T7" fmla="*/ 68 h 68"/>
                <a:gd name="T8" fmla="*/ 272 w 272"/>
                <a:gd name="T9" fmla="*/ 34 h 68"/>
                <a:gd name="T10" fmla="*/ 136 w 272"/>
                <a:gd name="T11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2" h="68">
                  <a:moveTo>
                    <a:pt x="0" y="0"/>
                  </a:moveTo>
                  <a:lnTo>
                    <a:pt x="136" y="0"/>
                  </a:lnTo>
                  <a:moveTo>
                    <a:pt x="0" y="68"/>
                  </a:moveTo>
                  <a:lnTo>
                    <a:pt x="136" y="68"/>
                  </a:lnTo>
                  <a:moveTo>
                    <a:pt x="272" y="34"/>
                  </a:moveTo>
                  <a:lnTo>
                    <a:pt x="136" y="34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621499C3-BEB8-4F42-A35B-519A4F12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877"/>
              <a:ext cx="177" cy="136"/>
            </a:xfrm>
            <a:custGeom>
              <a:avLst/>
              <a:gdLst>
                <a:gd name="T0" fmla="*/ 944 w 944"/>
                <a:gd name="T1" fmla="*/ 362 h 725"/>
                <a:gd name="T2" fmla="*/ 283 w 944"/>
                <a:gd name="T3" fmla="*/ 725 h 725"/>
                <a:gd name="T4" fmla="*/ 0 w 944"/>
                <a:gd name="T5" fmla="*/ 725 h 725"/>
                <a:gd name="T6" fmla="*/ 0 w 944"/>
                <a:gd name="T7" fmla="*/ 0 h 725"/>
                <a:gd name="T8" fmla="*/ 283 w 944"/>
                <a:gd name="T9" fmla="*/ 0 h 725"/>
                <a:gd name="T10" fmla="*/ 944 w 944"/>
                <a:gd name="T11" fmla="*/ 362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4" h="725">
                  <a:moveTo>
                    <a:pt x="944" y="362"/>
                  </a:moveTo>
                  <a:cubicBezTo>
                    <a:pt x="831" y="541"/>
                    <a:pt x="586" y="676"/>
                    <a:pt x="283" y="725"/>
                  </a:cubicBezTo>
                  <a:lnTo>
                    <a:pt x="0" y="725"/>
                  </a:lnTo>
                  <a:cubicBezTo>
                    <a:pt x="176" y="495"/>
                    <a:pt x="176" y="230"/>
                    <a:pt x="0" y="0"/>
                  </a:cubicBezTo>
                  <a:lnTo>
                    <a:pt x="283" y="0"/>
                  </a:lnTo>
                  <a:cubicBezTo>
                    <a:pt x="587" y="48"/>
                    <a:pt x="833" y="183"/>
                    <a:pt x="944" y="3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63F88FC8-604B-4D61-98FF-BFF2555A8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877"/>
              <a:ext cx="177" cy="136"/>
            </a:xfrm>
            <a:custGeom>
              <a:avLst/>
              <a:gdLst>
                <a:gd name="T0" fmla="*/ 944 w 944"/>
                <a:gd name="T1" fmla="*/ 362 h 725"/>
                <a:gd name="T2" fmla="*/ 283 w 944"/>
                <a:gd name="T3" fmla="*/ 725 h 725"/>
                <a:gd name="T4" fmla="*/ 0 w 944"/>
                <a:gd name="T5" fmla="*/ 725 h 725"/>
                <a:gd name="T6" fmla="*/ 0 w 944"/>
                <a:gd name="T7" fmla="*/ 0 h 725"/>
                <a:gd name="T8" fmla="*/ 283 w 944"/>
                <a:gd name="T9" fmla="*/ 0 h 725"/>
                <a:gd name="T10" fmla="*/ 944 w 944"/>
                <a:gd name="T11" fmla="*/ 362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4" h="725">
                  <a:moveTo>
                    <a:pt x="944" y="362"/>
                  </a:moveTo>
                  <a:cubicBezTo>
                    <a:pt x="831" y="541"/>
                    <a:pt x="586" y="676"/>
                    <a:pt x="283" y="725"/>
                  </a:cubicBezTo>
                  <a:lnTo>
                    <a:pt x="0" y="725"/>
                  </a:lnTo>
                  <a:cubicBezTo>
                    <a:pt x="176" y="495"/>
                    <a:pt x="176" y="230"/>
                    <a:pt x="0" y="0"/>
                  </a:cubicBezTo>
                  <a:lnTo>
                    <a:pt x="283" y="0"/>
                  </a:lnTo>
                  <a:cubicBezTo>
                    <a:pt x="587" y="48"/>
                    <a:pt x="833" y="183"/>
                    <a:pt x="944" y="362"/>
                  </a:cubicBez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B461DBC-CCF7-4926-BDF5-6FC3FE806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877"/>
              <a:ext cx="177" cy="136"/>
            </a:xfrm>
            <a:custGeom>
              <a:avLst/>
              <a:gdLst>
                <a:gd name="T0" fmla="*/ 581 w 944"/>
                <a:gd name="T1" fmla="*/ 725 h 725"/>
                <a:gd name="T2" fmla="*/ 0 w 944"/>
                <a:gd name="T3" fmla="*/ 725 h 725"/>
                <a:gd name="T4" fmla="*/ 0 w 944"/>
                <a:gd name="T5" fmla="*/ 0 h 725"/>
                <a:gd name="T6" fmla="*/ 581 w 944"/>
                <a:gd name="T7" fmla="*/ 0 h 725"/>
                <a:gd name="T8" fmla="*/ 944 w 944"/>
                <a:gd name="T9" fmla="*/ 362 h 725"/>
                <a:gd name="T10" fmla="*/ 581 w 944"/>
                <a:gd name="T11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4" h="725">
                  <a:moveTo>
                    <a:pt x="581" y="725"/>
                  </a:moveTo>
                  <a:lnTo>
                    <a:pt x="0" y="725"/>
                  </a:lnTo>
                  <a:lnTo>
                    <a:pt x="0" y="0"/>
                  </a:lnTo>
                  <a:lnTo>
                    <a:pt x="581" y="0"/>
                  </a:lnTo>
                  <a:cubicBezTo>
                    <a:pt x="781" y="0"/>
                    <a:pt x="944" y="162"/>
                    <a:pt x="944" y="362"/>
                  </a:cubicBezTo>
                  <a:cubicBezTo>
                    <a:pt x="944" y="563"/>
                    <a:pt x="781" y="725"/>
                    <a:pt x="581" y="72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2A428405-B312-4391-B9AC-F7BA9F54F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877"/>
              <a:ext cx="177" cy="136"/>
            </a:xfrm>
            <a:custGeom>
              <a:avLst/>
              <a:gdLst>
                <a:gd name="T0" fmla="*/ 581 w 944"/>
                <a:gd name="T1" fmla="*/ 725 h 725"/>
                <a:gd name="T2" fmla="*/ 0 w 944"/>
                <a:gd name="T3" fmla="*/ 725 h 725"/>
                <a:gd name="T4" fmla="*/ 0 w 944"/>
                <a:gd name="T5" fmla="*/ 0 h 725"/>
                <a:gd name="T6" fmla="*/ 581 w 944"/>
                <a:gd name="T7" fmla="*/ 0 h 725"/>
                <a:gd name="T8" fmla="*/ 944 w 944"/>
                <a:gd name="T9" fmla="*/ 362 h 725"/>
                <a:gd name="T10" fmla="*/ 581 w 944"/>
                <a:gd name="T11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4" h="725">
                  <a:moveTo>
                    <a:pt x="581" y="725"/>
                  </a:moveTo>
                  <a:lnTo>
                    <a:pt x="0" y="725"/>
                  </a:lnTo>
                  <a:lnTo>
                    <a:pt x="0" y="0"/>
                  </a:lnTo>
                  <a:lnTo>
                    <a:pt x="581" y="0"/>
                  </a:lnTo>
                  <a:cubicBezTo>
                    <a:pt x="781" y="0"/>
                    <a:pt x="944" y="162"/>
                    <a:pt x="944" y="362"/>
                  </a:cubicBezTo>
                  <a:cubicBezTo>
                    <a:pt x="944" y="563"/>
                    <a:pt x="781" y="725"/>
                    <a:pt x="581" y="725"/>
                  </a:cubicBez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90CA36B8-4517-4413-954B-1C57A9E5C1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5" y="1957"/>
              <a:ext cx="273" cy="68"/>
            </a:xfrm>
            <a:custGeom>
              <a:avLst/>
              <a:gdLst>
                <a:gd name="T0" fmla="*/ 0 w 273"/>
                <a:gd name="T1" fmla="*/ 0 h 68"/>
                <a:gd name="T2" fmla="*/ 136 w 273"/>
                <a:gd name="T3" fmla="*/ 0 h 68"/>
                <a:gd name="T4" fmla="*/ 0 w 273"/>
                <a:gd name="T5" fmla="*/ 68 h 68"/>
                <a:gd name="T6" fmla="*/ 136 w 273"/>
                <a:gd name="T7" fmla="*/ 68 h 68"/>
                <a:gd name="T8" fmla="*/ 273 w 273"/>
                <a:gd name="T9" fmla="*/ 34 h 68"/>
                <a:gd name="T10" fmla="*/ 136 w 273"/>
                <a:gd name="T11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3" h="68">
                  <a:moveTo>
                    <a:pt x="0" y="0"/>
                  </a:moveTo>
                  <a:lnTo>
                    <a:pt x="136" y="0"/>
                  </a:lnTo>
                  <a:moveTo>
                    <a:pt x="0" y="68"/>
                  </a:moveTo>
                  <a:lnTo>
                    <a:pt x="136" y="68"/>
                  </a:lnTo>
                  <a:moveTo>
                    <a:pt x="273" y="34"/>
                  </a:moveTo>
                  <a:lnTo>
                    <a:pt x="136" y="34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9F7DA16C-0908-4330-AFA4-6C86278D1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1923"/>
              <a:ext cx="177" cy="136"/>
            </a:xfrm>
            <a:custGeom>
              <a:avLst/>
              <a:gdLst>
                <a:gd name="T0" fmla="*/ 943 w 943"/>
                <a:gd name="T1" fmla="*/ 363 h 726"/>
                <a:gd name="T2" fmla="*/ 283 w 943"/>
                <a:gd name="T3" fmla="*/ 726 h 726"/>
                <a:gd name="T4" fmla="*/ 0 w 943"/>
                <a:gd name="T5" fmla="*/ 726 h 726"/>
                <a:gd name="T6" fmla="*/ 0 w 943"/>
                <a:gd name="T7" fmla="*/ 0 h 726"/>
                <a:gd name="T8" fmla="*/ 283 w 943"/>
                <a:gd name="T9" fmla="*/ 0 h 726"/>
                <a:gd name="T10" fmla="*/ 943 w 943"/>
                <a:gd name="T11" fmla="*/ 363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3" h="726">
                  <a:moveTo>
                    <a:pt x="943" y="363"/>
                  </a:moveTo>
                  <a:cubicBezTo>
                    <a:pt x="830" y="542"/>
                    <a:pt x="585" y="677"/>
                    <a:pt x="283" y="726"/>
                  </a:cubicBezTo>
                  <a:lnTo>
                    <a:pt x="0" y="726"/>
                  </a:lnTo>
                  <a:cubicBezTo>
                    <a:pt x="175" y="496"/>
                    <a:pt x="175" y="230"/>
                    <a:pt x="0" y="0"/>
                  </a:cubicBezTo>
                  <a:lnTo>
                    <a:pt x="283" y="0"/>
                  </a:lnTo>
                  <a:cubicBezTo>
                    <a:pt x="586" y="49"/>
                    <a:pt x="832" y="184"/>
                    <a:pt x="943" y="3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0077AB90-9D5C-466A-9ACC-98C5B9FF9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1922"/>
              <a:ext cx="177" cy="137"/>
            </a:xfrm>
            <a:custGeom>
              <a:avLst/>
              <a:gdLst>
                <a:gd name="T0" fmla="*/ 943 w 943"/>
                <a:gd name="T1" fmla="*/ 363 h 726"/>
                <a:gd name="T2" fmla="*/ 283 w 943"/>
                <a:gd name="T3" fmla="*/ 726 h 726"/>
                <a:gd name="T4" fmla="*/ 0 w 943"/>
                <a:gd name="T5" fmla="*/ 726 h 726"/>
                <a:gd name="T6" fmla="*/ 0 w 943"/>
                <a:gd name="T7" fmla="*/ 0 h 726"/>
                <a:gd name="T8" fmla="*/ 283 w 943"/>
                <a:gd name="T9" fmla="*/ 0 h 726"/>
                <a:gd name="T10" fmla="*/ 943 w 943"/>
                <a:gd name="T11" fmla="*/ 363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3" h="726">
                  <a:moveTo>
                    <a:pt x="943" y="363"/>
                  </a:moveTo>
                  <a:cubicBezTo>
                    <a:pt x="830" y="542"/>
                    <a:pt x="585" y="677"/>
                    <a:pt x="283" y="726"/>
                  </a:cubicBezTo>
                  <a:lnTo>
                    <a:pt x="0" y="726"/>
                  </a:lnTo>
                  <a:cubicBezTo>
                    <a:pt x="175" y="496"/>
                    <a:pt x="175" y="230"/>
                    <a:pt x="0" y="0"/>
                  </a:cubicBezTo>
                  <a:lnTo>
                    <a:pt x="283" y="0"/>
                  </a:lnTo>
                  <a:cubicBezTo>
                    <a:pt x="586" y="49"/>
                    <a:pt x="832" y="184"/>
                    <a:pt x="943" y="363"/>
                  </a:cubicBez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6982309C-C50E-48FE-B7E7-7BED27887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1923"/>
              <a:ext cx="177" cy="136"/>
            </a:xfrm>
            <a:custGeom>
              <a:avLst/>
              <a:gdLst>
                <a:gd name="T0" fmla="*/ 580 w 943"/>
                <a:gd name="T1" fmla="*/ 726 h 726"/>
                <a:gd name="T2" fmla="*/ 0 w 943"/>
                <a:gd name="T3" fmla="*/ 726 h 726"/>
                <a:gd name="T4" fmla="*/ 0 w 943"/>
                <a:gd name="T5" fmla="*/ 0 h 726"/>
                <a:gd name="T6" fmla="*/ 580 w 943"/>
                <a:gd name="T7" fmla="*/ 0 h 726"/>
                <a:gd name="T8" fmla="*/ 943 w 943"/>
                <a:gd name="T9" fmla="*/ 363 h 726"/>
                <a:gd name="T10" fmla="*/ 580 w 943"/>
                <a:gd name="T11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3" h="726">
                  <a:moveTo>
                    <a:pt x="580" y="726"/>
                  </a:moveTo>
                  <a:lnTo>
                    <a:pt x="0" y="726"/>
                  </a:lnTo>
                  <a:lnTo>
                    <a:pt x="0" y="0"/>
                  </a:lnTo>
                  <a:lnTo>
                    <a:pt x="580" y="0"/>
                  </a:lnTo>
                  <a:cubicBezTo>
                    <a:pt x="781" y="0"/>
                    <a:pt x="943" y="163"/>
                    <a:pt x="943" y="363"/>
                  </a:cubicBezTo>
                  <a:cubicBezTo>
                    <a:pt x="943" y="564"/>
                    <a:pt x="781" y="726"/>
                    <a:pt x="580" y="72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4EA39691-8EB0-4315-8BFA-14A4C6FCC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1922"/>
              <a:ext cx="177" cy="137"/>
            </a:xfrm>
            <a:custGeom>
              <a:avLst/>
              <a:gdLst>
                <a:gd name="T0" fmla="*/ 580 w 943"/>
                <a:gd name="T1" fmla="*/ 726 h 726"/>
                <a:gd name="T2" fmla="*/ 0 w 943"/>
                <a:gd name="T3" fmla="*/ 726 h 726"/>
                <a:gd name="T4" fmla="*/ 0 w 943"/>
                <a:gd name="T5" fmla="*/ 0 h 726"/>
                <a:gd name="T6" fmla="*/ 580 w 943"/>
                <a:gd name="T7" fmla="*/ 0 h 726"/>
                <a:gd name="T8" fmla="*/ 943 w 943"/>
                <a:gd name="T9" fmla="*/ 363 h 726"/>
                <a:gd name="T10" fmla="*/ 580 w 943"/>
                <a:gd name="T11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3" h="726">
                  <a:moveTo>
                    <a:pt x="580" y="726"/>
                  </a:moveTo>
                  <a:lnTo>
                    <a:pt x="0" y="726"/>
                  </a:lnTo>
                  <a:lnTo>
                    <a:pt x="0" y="0"/>
                  </a:lnTo>
                  <a:lnTo>
                    <a:pt x="580" y="0"/>
                  </a:lnTo>
                  <a:cubicBezTo>
                    <a:pt x="781" y="0"/>
                    <a:pt x="943" y="163"/>
                    <a:pt x="943" y="363"/>
                  </a:cubicBezTo>
                  <a:cubicBezTo>
                    <a:pt x="943" y="564"/>
                    <a:pt x="781" y="726"/>
                    <a:pt x="580" y="726"/>
                  </a:cubicBez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DDB0B131-07A9-4960-A544-69CB1A1B3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1954"/>
              <a:ext cx="182" cy="2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CDAA0625-6764-4630-837E-469001CB0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7" y="1954"/>
              <a:ext cx="182" cy="227"/>
            </a:xfrm>
            <a:custGeom>
              <a:avLst/>
              <a:gdLst>
                <a:gd name="T0" fmla="*/ 131 w 182"/>
                <a:gd name="T1" fmla="*/ 166 h 227"/>
                <a:gd name="T2" fmla="*/ 165 w 182"/>
                <a:gd name="T3" fmla="*/ 166 h 227"/>
                <a:gd name="T4" fmla="*/ 0 w 182"/>
                <a:gd name="T5" fmla="*/ 94 h 227"/>
                <a:gd name="T6" fmla="*/ 34 w 182"/>
                <a:gd name="T7" fmla="*/ 113 h 227"/>
                <a:gd name="T8" fmla="*/ 0 w 182"/>
                <a:gd name="T9" fmla="*/ 134 h 227"/>
                <a:gd name="T10" fmla="*/ 0 w 182"/>
                <a:gd name="T11" fmla="*/ 227 h 227"/>
                <a:gd name="T12" fmla="*/ 182 w 182"/>
                <a:gd name="T13" fmla="*/ 227 h 227"/>
                <a:gd name="T14" fmla="*/ 182 w 182"/>
                <a:gd name="T15" fmla="*/ 0 h 227"/>
                <a:gd name="T16" fmla="*/ 0 w 182"/>
                <a:gd name="T17" fmla="*/ 0 h 227"/>
                <a:gd name="T18" fmla="*/ 0 w 182"/>
                <a:gd name="T1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227">
                  <a:moveTo>
                    <a:pt x="131" y="166"/>
                  </a:moveTo>
                  <a:lnTo>
                    <a:pt x="165" y="166"/>
                  </a:lnTo>
                  <a:moveTo>
                    <a:pt x="0" y="94"/>
                  </a:moveTo>
                  <a:lnTo>
                    <a:pt x="34" y="113"/>
                  </a:lnTo>
                  <a:lnTo>
                    <a:pt x="0" y="134"/>
                  </a:lnTo>
                  <a:moveTo>
                    <a:pt x="0" y="227"/>
                  </a:moveTo>
                  <a:lnTo>
                    <a:pt x="182" y="227"/>
                  </a:lnTo>
                  <a:lnTo>
                    <a:pt x="182" y="0"/>
                  </a:lnTo>
                  <a:lnTo>
                    <a:pt x="0" y="0"/>
                  </a:lnTo>
                  <a:lnTo>
                    <a:pt x="0" y="227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140443C4-BDE8-4CF9-94D6-79BAC88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124"/>
              <a:ext cx="29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7" name="Rectangle 26">
              <a:extLst>
                <a:ext uri="{FF2B5EF4-FFF2-40B4-BE49-F238E27FC236}">
                  <a16:creationId xmlns:a16="http://schemas.microsoft.com/office/drawing/2014/main" id="{F935404D-17E7-431D-B76A-083E622F0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1972"/>
              <a:ext cx="29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D38ABFF3-9DA5-4133-8DA6-CBB3B5D1E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" y="1964"/>
              <a:ext cx="44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SET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CAB892EF-F90B-46AD-8ED4-1EECAB750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" y="2138"/>
              <a:ext cx="44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CLR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92A36B58-D646-41B2-A2BA-F92E198EB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970"/>
              <a:ext cx="27" cy="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41" name="Line 30">
              <a:extLst>
                <a:ext uri="{FF2B5EF4-FFF2-40B4-BE49-F238E27FC236}">
                  <a16:creationId xmlns:a16="http://schemas.microsoft.com/office/drawing/2014/main" id="{F003C24E-C268-4C71-ABE6-250363C42B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3" y="1979"/>
              <a:ext cx="227" cy="0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EEC7E3F5-201F-42B9-8FAC-BA542F49F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945"/>
              <a:ext cx="363" cy="12"/>
            </a:xfrm>
            <a:custGeom>
              <a:avLst/>
              <a:gdLst>
                <a:gd name="T0" fmla="*/ 0 w 363"/>
                <a:gd name="T1" fmla="*/ 0 h 12"/>
                <a:gd name="T2" fmla="*/ 85 w 363"/>
                <a:gd name="T3" fmla="*/ 12 h 12"/>
                <a:gd name="T4" fmla="*/ 363 w 363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3" h="12">
                  <a:moveTo>
                    <a:pt x="0" y="0"/>
                  </a:moveTo>
                  <a:lnTo>
                    <a:pt x="85" y="12"/>
                  </a:lnTo>
                  <a:lnTo>
                    <a:pt x="363" y="12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+mn-lt"/>
              </a:endParaRPr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B07A692B-14C8-424D-9E05-56414141E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1991"/>
              <a:ext cx="269" cy="0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933B9F92-2459-43C7-B175-233A705E4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9" y="1991"/>
              <a:ext cx="207" cy="0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77A87747-EF61-4C65-9998-77BCAE9DF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1956"/>
              <a:ext cx="227" cy="56"/>
            </a:xfrm>
            <a:custGeom>
              <a:avLst/>
              <a:gdLst>
                <a:gd name="T0" fmla="*/ 0 w 227"/>
                <a:gd name="T1" fmla="*/ 28 h 56"/>
                <a:gd name="T2" fmla="*/ 0 w 227"/>
                <a:gd name="T3" fmla="*/ 0 h 56"/>
                <a:gd name="T4" fmla="*/ 170 w 227"/>
                <a:gd name="T5" fmla="*/ 0 h 56"/>
                <a:gd name="T6" fmla="*/ 227 w 227"/>
                <a:gd name="T7" fmla="*/ 28 h 56"/>
                <a:gd name="T8" fmla="*/ 170 w 227"/>
                <a:gd name="T9" fmla="*/ 56 h 56"/>
                <a:gd name="T10" fmla="*/ 0 w 227"/>
                <a:gd name="T11" fmla="*/ 56 h 56"/>
                <a:gd name="T12" fmla="*/ 0 w 227"/>
                <a:gd name="T13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6">
                  <a:moveTo>
                    <a:pt x="0" y="28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227" y="28"/>
                  </a:lnTo>
                  <a:lnTo>
                    <a:pt x="170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CE20F3C2-586C-4CA9-B8CA-8FA391F0A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1956"/>
              <a:ext cx="227" cy="56"/>
            </a:xfrm>
            <a:custGeom>
              <a:avLst/>
              <a:gdLst>
                <a:gd name="T0" fmla="*/ 0 w 227"/>
                <a:gd name="T1" fmla="*/ 28 h 56"/>
                <a:gd name="T2" fmla="*/ 0 w 227"/>
                <a:gd name="T3" fmla="*/ 0 h 56"/>
                <a:gd name="T4" fmla="*/ 170 w 227"/>
                <a:gd name="T5" fmla="*/ 0 h 56"/>
                <a:gd name="T6" fmla="*/ 227 w 227"/>
                <a:gd name="T7" fmla="*/ 28 h 56"/>
                <a:gd name="T8" fmla="*/ 170 w 227"/>
                <a:gd name="T9" fmla="*/ 56 h 56"/>
                <a:gd name="T10" fmla="*/ 0 w 227"/>
                <a:gd name="T11" fmla="*/ 56 h 56"/>
                <a:gd name="T12" fmla="*/ 0 w 227"/>
                <a:gd name="T13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6">
                  <a:moveTo>
                    <a:pt x="0" y="28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227" y="28"/>
                  </a:lnTo>
                  <a:lnTo>
                    <a:pt x="170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B263300C-4157-478E-8552-A7A036A86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1983"/>
              <a:ext cx="388" cy="0"/>
            </a:xfrm>
            <a:prstGeom prst="lin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73BC822C-6825-4FD0-AAAA-C6DC5654B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962"/>
              <a:ext cx="227" cy="57"/>
            </a:xfrm>
            <a:custGeom>
              <a:avLst/>
              <a:gdLst>
                <a:gd name="T0" fmla="*/ 0 w 227"/>
                <a:gd name="T1" fmla="*/ 29 h 57"/>
                <a:gd name="T2" fmla="*/ 0 w 227"/>
                <a:gd name="T3" fmla="*/ 0 h 57"/>
                <a:gd name="T4" fmla="*/ 170 w 227"/>
                <a:gd name="T5" fmla="*/ 0 h 57"/>
                <a:gd name="T6" fmla="*/ 227 w 227"/>
                <a:gd name="T7" fmla="*/ 29 h 57"/>
                <a:gd name="T8" fmla="*/ 170 w 227"/>
                <a:gd name="T9" fmla="*/ 57 h 57"/>
                <a:gd name="T10" fmla="*/ 0 w 227"/>
                <a:gd name="T11" fmla="*/ 57 h 57"/>
                <a:gd name="T12" fmla="*/ 0 w 227"/>
                <a:gd name="T13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7">
                  <a:moveTo>
                    <a:pt x="0" y="2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227" y="29"/>
                  </a:lnTo>
                  <a:lnTo>
                    <a:pt x="170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2C369E58-91B5-42CF-A5E9-37729F21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962"/>
              <a:ext cx="227" cy="57"/>
            </a:xfrm>
            <a:custGeom>
              <a:avLst/>
              <a:gdLst>
                <a:gd name="T0" fmla="*/ 0 w 227"/>
                <a:gd name="T1" fmla="*/ 29 h 57"/>
                <a:gd name="T2" fmla="*/ 0 w 227"/>
                <a:gd name="T3" fmla="*/ 0 h 57"/>
                <a:gd name="T4" fmla="*/ 170 w 227"/>
                <a:gd name="T5" fmla="*/ 0 h 57"/>
                <a:gd name="T6" fmla="*/ 227 w 227"/>
                <a:gd name="T7" fmla="*/ 29 h 57"/>
                <a:gd name="T8" fmla="*/ 170 w 227"/>
                <a:gd name="T9" fmla="*/ 57 h 57"/>
                <a:gd name="T10" fmla="*/ 0 w 227"/>
                <a:gd name="T11" fmla="*/ 57 h 57"/>
                <a:gd name="T12" fmla="*/ 0 w 227"/>
                <a:gd name="T13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7">
                  <a:moveTo>
                    <a:pt x="0" y="2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227" y="29"/>
                  </a:lnTo>
                  <a:lnTo>
                    <a:pt x="170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6C5925F7-2A56-4ED1-932D-84159D50F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388"/>
              <a:ext cx="227" cy="57"/>
            </a:xfrm>
            <a:custGeom>
              <a:avLst/>
              <a:gdLst>
                <a:gd name="T0" fmla="*/ 0 w 227"/>
                <a:gd name="T1" fmla="*/ 29 h 57"/>
                <a:gd name="T2" fmla="*/ 0 w 227"/>
                <a:gd name="T3" fmla="*/ 0 h 57"/>
                <a:gd name="T4" fmla="*/ 171 w 227"/>
                <a:gd name="T5" fmla="*/ 0 h 57"/>
                <a:gd name="T6" fmla="*/ 227 w 227"/>
                <a:gd name="T7" fmla="*/ 29 h 57"/>
                <a:gd name="T8" fmla="*/ 171 w 227"/>
                <a:gd name="T9" fmla="*/ 57 h 57"/>
                <a:gd name="T10" fmla="*/ 0 w 227"/>
                <a:gd name="T11" fmla="*/ 57 h 57"/>
                <a:gd name="T12" fmla="*/ 0 w 227"/>
                <a:gd name="T13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7">
                  <a:moveTo>
                    <a:pt x="0" y="29"/>
                  </a:moveTo>
                  <a:lnTo>
                    <a:pt x="0" y="0"/>
                  </a:lnTo>
                  <a:lnTo>
                    <a:pt x="171" y="0"/>
                  </a:lnTo>
                  <a:lnTo>
                    <a:pt x="227" y="29"/>
                  </a:lnTo>
                  <a:lnTo>
                    <a:pt x="171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4AD44555-970D-463D-B58B-10FECCFC9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" y="2388"/>
              <a:ext cx="227" cy="57"/>
            </a:xfrm>
            <a:custGeom>
              <a:avLst/>
              <a:gdLst>
                <a:gd name="T0" fmla="*/ 0 w 227"/>
                <a:gd name="T1" fmla="*/ 29 h 57"/>
                <a:gd name="T2" fmla="*/ 0 w 227"/>
                <a:gd name="T3" fmla="*/ 0 h 57"/>
                <a:gd name="T4" fmla="*/ 171 w 227"/>
                <a:gd name="T5" fmla="*/ 0 h 57"/>
                <a:gd name="T6" fmla="*/ 227 w 227"/>
                <a:gd name="T7" fmla="*/ 29 h 57"/>
                <a:gd name="T8" fmla="*/ 171 w 227"/>
                <a:gd name="T9" fmla="*/ 57 h 57"/>
                <a:gd name="T10" fmla="*/ 0 w 227"/>
                <a:gd name="T11" fmla="*/ 57 h 57"/>
                <a:gd name="T12" fmla="*/ 0 w 227"/>
                <a:gd name="T13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7" h="57">
                  <a:moveTo>
                    <a:pt x="0" y="29"/>
                  </a:moveTo>
                  <a:lnTo>
                    <a:pt x="0" y="0"/>
                  </a:lnTo>
                  <a:lnTo>
                    <a:pt x="171" y="0"/>
                  </a:lnTo>
                  <a:lnTo>
                    <a:pt x="227" y="29"/>
                  </a:lnTo>
                  <a:lnTo>
                    <a:pt x="171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7084D402-BC60-400D-958E-D436F4FA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059"/>
              <a:ext cx="341" cy="358"/>
            </a:xfrm>
            <a:custGeom>
              <a:avLst/>
              <a:gdLst>
                <a:gd name="T0" fmla="*/ 0 w 341"/>
                <a:gd name="T1" fmla="*/ 358 h 358"/>
                <a:gd name="T2" fmla="*/ 86 w 341"/>
                <a:gd name="T3" fmla="*/ 358 h 358"/>
                <a:gd name="T4" fmla="*/ 86 w 341"/>
                <a:gd name="T5" fmla="*/ 0 h 358"/>
                <a:gd name="T6" fmla="*/ 341 w 341"/>
                <a:gd name="T7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1" h="358">
                  <a:moveTo>
                    <a:pt x="0" y="358"/>
                  </a:moveTo>
                  <a:lnTo>
                    <a:pt x="86" y="358"/>
                  </a:lnTo>
                  <a:lnTo>
                    <a:pt x="86" y="0"/>
                  </a:lnTo>
                  <a:lnTo>
                    <a:pt x="341" y="0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3E4F58CE-1C81-4F84-AC3F-68A2F031A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068"/>
              <a:ext cx="1927" cy="349"/>
            </a:xfrm>
            <a:custGeom>
              <a:avLst/>
              <a:gdLst>
                <a:gd name="T0" fmla="*/ 1927 w 1927"/>
                <a:gd name="T1" fmla="*/ 0 h 349"/>
                <a:gd name="T2" fmla="*/ 1842 w 1927"/>
                <a:gd name="T3" fmla="*/ 0 h 349"/>
                <a:gd name="T4" fmla="*/ 1842 w 1927"/>
                <a:gd name="T5" fmla="*/ 349 h 349"/>
                <a:gd name="T6" fmla="*/ 0 w 1927"/>
                <a:gd name="T7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27" h="349">
                  <a:moveTo>
                    <a:pt x="1927" y="0"/>
                  </a:moveTo>
                  <a:lnTo>
                    <a:pt x="1842" y="0"/>
                  </a:lnTo>
                  <a:lnTo>
                    <a:pt x="1842" y="349"/>
                  </a:lnTo>
                  <a:lnTo>
                    <a:pt x="0" y="349"/>
                  </a:ln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AD8E5840-80CF-44F8-883B-F20AF0316F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8" y="2056"/>
              <a:ext cx="6" cy="846"/>
            </a:xfrm>
            <a:custGeom>
              <a:avLst/>
              <a:gdLst>
                <a:gd name="T0" fmla="*/ 31 w 31"/>
                <a:gd name="T1" fmla="*/ 230 h 4505"/>
                <a:gd name="T2" fmla="*/ 0 w 31"/>
                <a:gd name="T3" fmla="*/ 230 h 4505"/>
                <a:gd name="T4" fmla="*/ 15 w 31"/>
                <a:gd name="T5" fmla="*/ 0 h 4505"/>
                <a:gd name="T6" fmla="*/ 31 w 31"/>
                <a:gd name="T7" fmla="*/ 384 h 4505"/>
                <a:gd name="T8" fmla="*/ 15 w 31"/>
                <a:gd name="T9" fmla="*/ 614 h 4505"/>
                <a:gd name="T10" fmla="*/ 0 w 31"/>
                <a:gd name="T11" fmla="*/ 384 h 4505"/>
                <a:gd name="T12" fmla="*/ 31 w 31"/>
                <a:gd name="T13" fmla="*/ 384 h 4505"/>
                <a:gd name="T14" fmla="*/ 31 w 31"/>
                <a:gd name="T15" fmla="*/ 967 h 4505"/>
                <a:gd name="T16" fmla="*/ 0 w 31"/>
                <a:gd name="T17" fmla="*/ 967 h 4505"/>
                <a:gd name="T18" fmla="*/ 15 w 31"/>
                <a:gd name="T19" fmla="*/ 737 h 4505"/>
                <a:gd name="T20" fmla="*/ 31 w 31"/>
                <a:gd name="T21" fmla="*/ 1121 h 4505"/>
                <a:gd name="T22" fmla="*/ 15 w 31"/>
                <a:gd name="T23" fmla="*/ 1351 h 4505"/>
                <a:gd name="T24" fmla="*/ 0 w 31"/>
                <a:gd name="T25" fmla="*/ 1121 h 4505"/>
                <a:gd name="T26" fmla="*/ 31 w 31"/>
                <a:gd name="T27" fmla="*/ 1121 h 4505"/>
                <a:gd name="T28" fmla="*/ 31 w 31"/>
                <a:gd name="T29" fmla="*/ 1705 h 4505"/>
                <a:gd name="T30" fmla="*/ 0 w 31"/>
                <a:gd name="T31" fmla="*/ 1705 h 4505"/>
                <a:gd name="T32" fmla="*/ 15 w 31"/>
                <a:gd name="T33" fmla="*/ 1474 h 4505"/>
                <a:gd name="T34" fmla="*/ 31 w 31"/>
                <a:gd name="T35" fmla="*/ 1858 h 4505"/>
                <a:gd name="T36" fmla="*/ 15 w 31"/>
                <a:gd name="T37" fmla="*/ 2089 h 4505"/>
                <a:gd name="T38" fmla="*/ 0 w 31"/>
                <a:gd name="T39" fmla="*/ 1858 h 4505"/>
                <a:gd name="T40" fmla="*/ 31 w 31"/>
                <a:gd name="T41" fmla="*/ 1858 h 4505"/>
                <a:gd name="T42" fmla="*/ 31 w 31"/>
                <a:gd name="T43" fmla="*/ 2442 h 4505"/>
                <a:gd name="T44" fmla="*/ 0 w 31"/>
                <a:gd name="T45" fmla="*/ 2442 h 4505"/>
                <a:gd name="T46" fmla="*/ 15 w 31"/>
                <a:gd name="T47" fmla="*/ 2212 h 4505"/>
                <a:gd name="T48" fmla="*/ 31 w 31"/>
                <a:gd name="T49" fmla="*/ 2596 h 4505"/>
                <a:gd name="T50" fmla="*/ 15 w 31"/>
                <a:gd name="T51" fmla="*/ 2826 h 4505"/>
                <a:gd name="T52" fmla="*/ 0 w 31"/>
                <a:gd name="T53" fmla="*/ 2596 h 4505"/>
                <a:gd name="T54" fmla="*/ 31 w 31"/>
                <a:gd name="T55" fmla="*/ 2596 h 4505"/>
                <a:gd name="T56" fmla="*/ 31 w 31"/>
                <a:gd name="T57" fmla="*/ 3179 h 4505"/>
                <a:gd name="T58" fmla="*/ 0 w 31"/>
                <a:gd name="T59" fmla="*/ 3179 h 4505"/>
                <a:gd name="T60" fmla="*/ 15 w 31"/>
                <a:gd name="T61" fmla="*/ 2949 h 4505"/>
                <a:gd name="T62" fmla="*/ 31 w 31"/>
                <a:gd name="T63" fmla="*/ 3333 h 4505"/>
                <a:gd name="T64" fmla="*/ 15 w 31"/>
                <a:gd name="T65" fmla="*/ 3563 h 4505"/>
                <a:gd name="T66" fmla="*/ 0 w 31"/>
                <a:gd name="T67" fmla="*/ 3333 h 4505"/>
                <a:gd name="T68" fmla="*/ 31 w 31"/>
                <a:gd name="T69" fmla="*/ 3333 h 4505"/>
                <a:gd name="T70" fmla="*/ 31 w 31"/>
                <a:gd name="T71" fmla="*/ 3917 h 4505"/>
                <a:gd name="T72" fmla="*/ 0 w 31"/>
                <a:gd name="T73" fmla="*/ 3917 h 4505"/>
                <a:gd name="T74" fmla="*/ 15 w 31"/>
                <a:gd name="T75" fmla="*/ 3686 h 4505"/>
                <a:gd name="T76" fmla="*/ 31 w 31"/>
                <a:gd name="T77" fmla="*/ 4070 h 4505"/>
                <a:gd name="T78" fmla="*/ 15 w 31"/>
                <a:gd name="T79" fmla="*/ 4301 h 4505"/>
                <a:gd name="T80" fmla="*/ 0 w 31"/>
                <a:gd name="T81" fmla="*/ 4070 h 4505"/>
                <a:gd name="T82" fmla="*/ 31 w 31"/>
                <a:gd name="T83" fmla="*/ 4070 h 4505"/>
                <a:gd name="T84" fmla="*/ 31 w 31"/>
                <a:gd name="T85" fmla="*/ 4490 h 4505"/>
                <a:gd name="T86" fmla="*/ 0 w 31"/>
                <a:gd name="T87" fmla="*/ 4490 h 4505"/>
                <a:gd name="T88" fmla="*/ 15 w 31"/>
                <a:gd name="T89" fmla="*/ 4423 h 4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" h="4505">
                  <a:moveTo>
                    <a:pt x="31" y="15"/>
                  </a:moveTo>
                  <a:lnTo>
                    <a:pt x="31" y="230"/>
                  </a:lnTo>
                  <a:cubicBezTo>
                    <a:pt x="31" y="239"/>
                    <a:pt x="24" y="246"/>
                    <a:pt x="15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15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lose/>
                  <a:moveTo>
                    <a:pt x="31" y="384"/>
                  </a:moveTo>
                  <a:lnTo>
                    <a:pt x="31" y="599"/>
                  </a:lnTo>
                  <a:cubicBezTo>
                    <a:pt x="31" y="607"/>
                    <a:pt x="24" y="614"/>
                    <a:pt x="15" y="614"/>
                  </a:cubicBezTo>
                  <a:cubicBezTo>
                    <a:pt x="7" y="614"/>
                    <a:pt x="0" y="607"/>
                    <a:pt x="0" y="599"/>
                  </a:cubicBezTo>
                  <a:lnTo>
                    <a:pt x="0" y="384"/>
                  </a:lnTo>
                  <a:cubicBezTo>
                    <a:pt x="0" y="375"/>
                    <a:pt x="7" y="368"/>
                    <a:pt x="15" y="368"/>
                  </a:cubicBezTo>
                  <a:cubicBezTo>
                    <a:pt x="24" y="368"/>
                    <a:pt x="31" y="375"/>
                    <a:pt x="31" y="384"/>
                  </a:cubicBezTo>
                  <a:close/>
                  <a:moveTo>
                    <a:pt x="31" y="752"/>
                  </a:moveTo>
                  <a:lnTo>
                    <a:pt x="31" y="967"/>
                  </a:lnTo>
                  <a:cubicBezTo>
                    <a:pt x="31" y="976"/>
                    <a:pt x="24" y="983"/>
                    <a:pt x="15" y="983"/>
                  </a:cubicBezTo>
                  <a:cubicBezTo>
                    <a:pt x="7" y="983"/>
                    <a:pt x="0" y="976"/>
                    <a:pt x="0" y="967"/>
                  </a:cubicBezTo>
                  <a:lnTo>
                    <a:pt x="0" y="752"/>
                  </a:lnTo>
                  <a:cubicBezTo>
                    <a:pt x="0" y="744"/>
                    <a:pt x="7" y="737"/>
                    <a:pt x="15" y="737"/>
                  </a:cubicBezTo>
                  <a:cubicBezTo>
                    <a:pt x="24" y="737"/>
                    <a:pt x="31" y="744"/>
                    <a:pt x="31" y="752"/>
                  </a:cubicBezTo>
                  <a:close/>
                  <a:moveTo>
                    <a:pt x="31" y="1121"/>
                  </a:moveTo>
                  <a:lnTo>
                    <a:pt x="31" y="1336"/>
                  </a:lnTo>
                  <a:cubicBezTo>
                    <a:pt x="31" y="1345"/>
                    <a:pt x="24" y="1351"/>
                    <a:pt x="15" y="1351"/>
                  </a:cubicBezTo>
                  <a:cubicBezTo>
                    <a:pt x="7" y="1351"/>
                    <a:pt x="0" y="1345"/>
                    <a:pt x="0" y="1336"/>
                  </a:cubicBezTo>
                  <a:lnTo>
                    <a:pt x="0" y="1121"/>
                  </a:lnTo>
                  <a:cubicBezTo>
                    <a:pt x="0" y="1113"/>
                    <a:pt x="7" y="1106"/>
                    <a:pt x="15" y="1106"/>
                  </a:cubicBezTo>
                  <a:cubicBezTo>
                    <a:pt x="24" y="1106"/>
                    <a:pt x="31" y="1113"/>
                    <a:pt x="31" y="1121"/>
                  </a:cubicBezTo>
                  <a:close/>
                  <a:moveTo>
                    <a:pt x="31" y="1490"/>
                  </a:moveTo>
                  <a:lnTo>
                    <a:pt x="31" y="1705"/>
                  </a:lnTo>
                  <a:cubicBezTo>
                    <a:pt x="31" y="1713"/>
                    <a:pt x="24" y="1720"/>
                    <a:pt x="15" y="1720"/>
                  </a:cubicBezTo>
                  <a:cubicBezTo>
                    <a:pt x="7" y="1720"/>
                    <a:pt x="0" y="1713"/>
                    <a:pt x="0" y="1705"/>
                  </a:cubicBezTo>
                  <a:lnTo>
                    <a:pt x="0" y="1490"/>
                  </a:lnTo>
                  <a:cubicBezTo>
                    <a:pt x="0" y="1481"/>
                    <a:pt x="7" y="1474"/>
                    <a:pt x="15" y="1474"/>
                  </a:cubicBezTo>
                  <a:cubicBezTo>
                    <a:pt x="24" y="1474"/>
                    <a:pt x="31" y="1481"/>
                    <a:pt x="31" y="1490"/>
                  </a:cubicBezTo>
                  <a:close/>
                  <a:moveTo>
                    <a:pt x="31" y="1858"/>
                  </a:moveTo>
                  <a:lnTo>
                    <a:pt x="31" y="2073"/>
                  </a:lnTo>
                  <a:cubicBezTo>
                    <a:pt x="31" y="2082"/>
                    <a:pt x="24" y="2089"/>
                    <a:pt x="15" y="2089"/>
                  </a:cubicBezTo>
                  <a:cubicBezTo>
                    <a:pt x="7" y="2089"/>
                    <a:pt x="0" y="2082"/>
                    <a:pt x="0" y="2073"/>
                  </a:cubicBezTo>
                  <a:lnTo>
                    <a:pt x="0" y="1858"/>
                  </a:lnTo>
                  <a:cubicBezTo>
                    <a:pt x="0" y="1850"/>
                    <a:pt x="7" y="1843"/>
                    <a:pt x="15" y="1843"/>
                  </a:cubicBezTo>
                  <a:cubicBezTo>
                    <a:pt x="24" y="1843"/>
                    <a:pt x="31" y="1850"/>
                    <a:pt x="31" y="1858"/>
                  </a:cubicBezTo>
                  <a:close/>
                  <a:moveTo>
                    <a:pt x="31" y="2227"/>
                  </a:moveTo>
                  <a:lnTo>
                    <a:pt x="31" y="2442"/>
                  </a:lnTo>
                  <a:cubicBezTo>
                    <a:pt x="31" y="2451"/>
                    <a:pt x="24" y="2457"/>
                    <a:pt x="15" y="2457"/>
                  </a:cubicBezTo>
                  <a:cubicBezTo>
                    <a:pt x="7" y="2457"/>
                    <a:pt x="0" y="2451"/>
                    <a:pt x="0" y="2442"/>
                  </a:cubicBezTo>
                  <a:lnTo>
                    <a:pt x="0" y="2227"/>
                  </a:lnTo>
                  <a:cubicBezTo>
                    <a:pt x="0" y="2219"/>
                    <a:pt x="7" y="2212"/>
                    <a:pt x="15" y="2212"/>
                  </a:cubicBezTo>
                  <a:cubicBezTo>
                    <a:pt x="24" y="2212"/>
                    <a:pt x="31" y="2219"/>
                    <a:pt x="31" y="2227"/>
                  </a:cubicBezTo>
                  <a:close/>
                  <a:moveTo>
                    <a:pt x="31" y="2596"/>
                  </a:moveTo>
                  <a:lnTo>
                    <a:pt x="31" y="2811"/>
                  </a:lnTo>
                  <a:cubicBezTo>
                    <a:pt x="31" y="2819"/>
                    <a:pt x="24" y="2826"/>
                    <a:pt x="15" y="2826"/>
                  </a:cubicBezTo>
                  <a:cubicBezTo>
                    <a:pt x="7" y="2826"/>
                    <a:pt x="0" y="2819"/>
                    <a:pt x="0" y="2811"/>
                  </a:cubicBezTo>
                  <a:lnTo>
                    <a:pt x="0" y="2596"/>
                  </a:lnTo>
                  <a:cubicBezTo>
                    <a:pt x="0" y="2587"/>
                    <a:pt x="7" y="2580"/>
                    <a:pt x="15" y="2580"/>
                  </a:cubicBezTo>
                  <a:cubicBezTo>
                    <a:pt x="24" y="2580"/>
                    <a:pt x="31" y="2587"/>
                    <a:pt x="31" y="2596"/>
                  </a:cubicBezTo>
                  <a:close/>
                  <a:moveTo>
                    <a:pt x="31" y="2964"/>
                  </a:moveTo>
                  <a:lnTo>
                    <a:pt x="31" y="3179"/>
                  </a:lnTo>
                  <a:cubicBezTo>
                    <a:pt x="31" y="3188"/>
                    <a:pt x="24" y="3195"/>
                    <a:pt x="15" y="3195"/>
                  </a:cubicBezTo>
                  <a:cubicBezTo>
                    <a:pt x="7" y="3195"/>
                    <a:pt x="0" y="3188"/>
                    <a:pt x="0" y="3179"/>
                  </a:cubicBezTo>
                  <a:lnTo>
                    <a:pt x="0" y="2964"/>
                  </a:lnTo>
                  <a:cubicBezTo>
                    <a:pt x="0" y="2956"/>
                    <a:pt x="7" y="2949"/>
                    <a:pt x="15" y="2949"/>
                  </a:cubicBezTo>
                  <a:cubicBezTo>
                    <a:pt x="24" y="2949"/>
                    <a:pt x="31" y="2956"/>
                    <a:pt x="31" y="2964"/>
                  </a:cubicBezTo>
                  <a:close/>
                  <a:moveTo>
                    <a:pt x="31" y="3333"/>
                  </a:moveTo>
                  <a:lnTo>
                    <a:pt x="31" y="3548"/>
                  </a:lnTo>
                  <a:cubicBezTo>
                    <a:pt x="31" y="3556"/>
                    <a:pt x="24" y="3563"/>
                    <a:pt x="15" y="3563"/>
                  </a:cubicBezTo>
                  <a:cubicBezTo>
                    <a:pt x="7" y="3563"/>
                    <a:pt x="0" y="3556"/>
                    <a:pt x="0" y="3548"/>
                  </a:cubicBezTo>
                  <a:lnTo>
                    <a:pt x="0" y="3333"/>
                  </a:lnTo>
                  <a:cubicBezTo>
                    <a:pt x="0" y="3324"/>
                    <a:pt x="7" y="3318"/>
                    <a:pt x="15" y="3318"/>
                  </a:cubicBezTo>
                  <a:cubicBezTo>
                    <a:pt x="24" y="3318"/>
                    <a:pt x="31" y="3324"/>
                    <a:pt x="31" y="3333"/>
                  </a:cubicBezTo>
                  <a:close/>
                  <a:moveTo>
                    <a:pt x="31" y="3702"/>
                  </a:moveTo>
                  <a:lnTo>
                    <a:pt x="31" y="3917"/>
                  </a:lnTo>
                  <a:cubicBezTo>
                    <a:pt x="31" y="3925"/>
                    <a:pt x="24" y="3932"/>
                    <a:pt x="15" y="3932"/>
                  </a:cubicBezTo>
                  <a:cubicBezTo>
                    <a:pt x="7" y="3932"/>
                    <a:pt x="0" y="3925"/>
                    <a:pt x="0" y="3917"/>
                  </a:cubicBezTo>
                  <a:lnTo>
                    <a:pt x="0" y="3702"/>
                  </a:lnTo>
                  <a:cubicBezTo>
                    <a:pt x="0" y="3693"/>
                    <a:pt x="7" y="3686"/>
                    <a:pt x="15" y="3686"/>
                  </a:cubicBezTo>
                  <a:cubicBezTo>
                    <a:pt x="24" y="3686"/>
                    <a:pt x="31" y="3693"/>
                    <a:pt x="31" y="3702"/>
                  </a:cubicBezTo>
                  <a:close/>
                  <a:moveTo>
                    <a:pt x="31" y="4070"/>
                  </a:moveTo>
                  <a:lnTo>
                    <a:pt x="31" y="4285"/>
                  </a:lnTo>
                  <a:cubicBezTo>
                    <a:pt x="31" y="4294"/>
                    <a:pt x="24" y="4301"/>
                    <a:pt x="15" y="4301"/>
                  </a:cubicBezTo>
                  <a:cubicBezTo>
                    <a:pt x="7" y="4301"/>
                    <a:pt x="0" y="4294"/>
                    <a:pt x="0" y="4285"/>
                  </a:cubicBezTo>
                  <a:lnTo>
                    <a:pt x="0" y="4070"/>
                  </a:lnTo>
                  <a:cubicBezTo>
                    <a:pt x="0" y="4062"/>
                    <a:pt x="7" y="4055"/>
                    <a:pt x="15" y="4055"/>
                  </a:cubicBezTo>
                  <a:cubicBezTo>
                    <a:pt x="24" y="4055"/>
                    <a:pt x="31" y="4062"/>
                    <a:pt x="31" y="4070"/>
                  </a:cubicBezTo>
                  <a:close/>
                  <a:moveTo>
                    <a:pt x="31" y="4439"/>
                  </a:moveTo>
                  <a:lnTo>
                    <a:pt x="31" y="4490"/>
                  </a:lnTo>
                  <a:cubicBezTo>
                    <a:pt x="31" y="4499"/>
                    <a:pt x="24" y="4505"/>
                    <a:pt x="15" y="4505"/>
                  </a:cubicBezTo>
                  <a:cubicBezTo>
                    <a:pt x="7" y="4505"/>
                    <a:pt x="0" y="4499"/>
                    <a:pt x="0" y="4490"/>
                  </a:cubicBezTo>
                  <a:lnTo>
                    <a:pt x="0" y="4439"/>
                  </a:lnTo>
                  <a:cubicBezTo>
                    <a:pt x="0" y="4430"/>
                    <a:pt x="7" y="4423"/>
                    <a:pt x="15" y="4423"/>
                  </a:cubicBezTo>
                  <a:cubicBezTo>
                    <a:pt x="24" y="4423"/>
                    <a:pt x="31" y="4430"/>
                    <a:pt x="31" y="443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7F33C299-A2FA-4F1F-9EF8-05CF26A8F6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7" y="1976"/>
              <a:ext cx="6" cy="926"/>
            </a:xfrm>
            <a:custGeom>
              <a:avLst/>
              <a:gdLst>
                <a:gd name="T0" fmla="*/ 31 w 31"/>
                <a:gd name="T1" fmla="*/ 231 h 4929"/>
                <a:gd name="T2" fmla="*/ 0 w 31"/>
                <a:gd name="T3" fmla="*/ 231 h 4929"/>
                <a:gd name="T4" fmla="*/ 15 w 31"/>
                <a:gd name="T5" fmla="*/ 0 h 4929"/>
                <a:gd name="T6" fmla="*/ 31 w 31"/>
                <a:gd name="T7" fmla="*/ 384 h 4929"/>
                <a:gd name="T8" fmla="*/ 15 w 31"/>
                <a:gd name="T9" fmla="*/ 615 h 4929"/>
                <a:gd name="T10" fmla="*/ 0 w 31"/>
                <a:gd name="T11" fmla="*/ 384 h 4929"/>
                <a:gd name="T12" fmla="*/ 31 w 31"/>
                <a:gd name="T13" fmla="*/ 384 h 4929"/>
                <a:gd name="T14" fmla="*/ 31 w 31"/>
                <a:gd name="T15" fmla="*/ 968 h 4929"/>
                <a:gd name="T16" fmla="*/ 0 w 31"/>
                <a:gd name="T17" fmla="*/ 968 h 4929"/>
                <a:gd name="T18" fmla="*/ 15 w 31"/>
                <a:gd name="T19" fmla="*/ 738 h 4929"/>
                <a:gd name="T20" fmla="*/ 31 w 31"/>
                <a:gd name="T21" fmla="*/ 1122 h 4929"/>
                <a:gd name="T22" fmla="*/ 15 w 31"/>
                <a:gd name="T23" fmla="*/ 1352 h 4929"/>
                <a:gd name="T24" fmla="*/ 0 w 31"/>
                <a:gd name="T25" fmla="*/ 1122 h 4929"/>
                <a:gd name="T26" fmla="*/ 31 w 31"/>
                <a:gd name="T27" fmla="*/ 1122 h 4929"/>
                <a:gd name="T28" fmla="*/ 31 w 31"/>
                <a:gd name="T29" fmla="*/ 1705 h 4929"/>
                <a:gd name="T30" fmla="*/ 0 w 31"/>
                <a:gd name="T31" fmla="*/ 1705 h 4929"/>
                <a:gd name="T32" fmla="*/ 15 w 31"/>
                <a:gd name="T33" fmla="*/ 1475 h 4929"/>
                <a:gd name="T34" fmla="*/ 31 w 31"/>
                <a:gd name="T35" fmla="*/ 1859 h 4929"/>
                <a:gd name="T36" fmla="*/ 15 w 31"/>
                <a:gd name="T37" fmla="*/ 2089 h 4929"/>
                <a:gd name="T38" fmla="*/ 0 w 31"/>
                <a:gd name="T39" fmla="*/ 1859 h 4929"/>
                <a:gd name="T40" fmla="*/ 31 w 31"/>
                <a:gd name="T41" fmla="*/ 1859 h 4929"/>
                <a:gd name="T42" fmla="*/ 31 w 31"/>
                <a:gd name="T43" fmla="*/ 2443 h 4929"/>
                <a:gd name="T44" fmla="*/ 0 w 31"/>
                <a:gd name="T45" fmla="*/ 2443 h 4929"/>
                <a:gd name="T46" fmla="*/ 15 w 31"/>
                <a:gd name="T47" fmla="*/ 2212 h 4929"/>
                <a:gd name="T48" fmla="*/ 31 w 31"/>
                <a:gd name="T49" fmla="*/ 2596 h 4929"/>
                <a:gd name="T50" fmla="*/ 15 w 31"/>
                <a:gd name="T51" fmla="*/ 2827 h 4929"/>
                <a:gd name="T52" fmla="*/ 0 w 31"/>
                <a:gd name="T53" fmla="*/ 2596 h 4929"/>
                <a:gd name="T54" fmla="*/ 31 w 31"/>
                <a:gd name="T55" fmla="*/ 2596 h 4929"/>
                <a:gd name="T56" fmla="*/ 31 w 31"/>
                <a:gd name="T57" fmla="*/ 3180 h 4929"/>
                <a:gd name="T58" fmla="*/ 0 w 31"/>
                <a:gd name="T59" fmla="*/ 3180 h 4929"/>
                <a:gd name="T60" fmla="*/ 15 w 31"/>
                <a:gd name="T61" fmla="*/ 2950 h 4929"/>
                <a:gd name="T62" fmla="*/ 31 w 31"/>
                <a:gd name="T63" fmla="*/ 3334 h 4929"/>
                <a:gd name="T64" fmla="*/ 15 w 31"/>
                <a:gd name="T65" fmla="*/ 3564 h 4929"/>
                <a:gd name="T66" fmla="*/ 0 w 31"/>
                <a:gd name="T67" fmla="*/ 3334 h 4929"/>
                <a:gd name="T68" fmla="*/ 31 w 31"/>
                <a:gd name="T69" fmla="*/ 3334 h 4929"/>
                <a:gd name="T70" fmla="*/ 31 w 31"/>
                <a:gd name="T71" fmla="*/ 3917 h 4929"/>
                <a:gd name="T72" fmla="*/ 0 w 31"/>
                <a:gd name="T73" fmla="*/ 3917 h 4929"/>
                <a:gd name="T74" fmla="*/ 15 w 31"/>
                <a:gd name="T75" fmla="*/ 3687 h 4929"/>
                <a:gd name="T76" fmla="*/ 31 w 31"/>
                <a:gd name="T77" fmla="*/ 4071 h 4929"/>
                <a:gd name="T78" fmla="*/ 15 w 31"/>
                <a:gd name="T79" fmla="*/ 4301 h 4929"/>
                <a:gd name="T80" fmla="*/ 0 w 31"/>
                <a:gd name="T81" fmla="*/ 4071 h 4929"/>
                <a:gd name="T82" fmla="*/ 31 w 31"/>
                <a:gd name="T83" fmla="*/ 4071 h 4929"/>
                <a:gd name="T84" fmla="*/ 31 w 31"/>
                <a:gd name="T85" fmla="*/ 4655 h 4929"/>
                <a:gd name="T86" fmla="*/ 0 w 31"/>
                <a:gd name="T87" fmla="*/ 4655 h 4929"/>
                <a:gd name="T88" fmla="*/ 15 w 31"/>
                <a:gd name="T89" fmla="*/ 4424 h 4929"/>
                <a:gd name="T90" fmla="*/ 31 w 31"/>
                <a:gd name="T91" fmla="*/ 4808 h 4929"/>
                <a:gd name="T92" fmla="*/ 15 w 31"/>
                <a:gd name="T93" fmla="*/ 4929 h 4929"/>
                <a:gd name="T94" fmla="*/ 0 w 31"/>
                <a:gd name="T95" fmla="*/ 4808 h 4929"/>
                <a:gd name="T96" fmla="*/ 31 w 31"/>
                <a:gd name="T97" fmla="*/ 4808 h 4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" h="4929">
                  <a:moveTo>
                    <a:pt x="31" y="16"/>
                  </a:moveTo>
                  <a:lnTo>
                    <a:pt x="31" y="231"/>
                  </a:lnTo>
                  <a:cubicBezTo>
                    <a:pt x="31" y="239"/>
                    <a:pt x="24" y="246"/>
                    <a:pt x="15" y="246"/>
                  </a:cubicBezTo>
                  <a:cubicBezTo>
                    <a:pt x="7" y="246"/>
                    <a:pt x="0" y="239"/>
                    <a:pt x="0" y="231"/>
                  </a:cubicBezTo>
                  <a:lnTo>
                    <a:pt x="0" y="16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6"/>
                  </a:cubicBezTo>
                  <a:close/>
                  <a:moveTo>
                    <a:pt x="31" y="384"/>
                  </a:moveTo>
                  <a:lnTo>
                    <a:pt x="31" y="600"/>
                  </a:lnTo>
                  <a:cubicBezTo>
                    <a:pt x="31" y="608"/>
                    <a:pt x="24" y="615"/>
                    <a:pt x="15" y="615"/>
                  </a:cubicBezTo>
                  <a:cubicBezTo>
                    <a:pt x="7" y="615"/>
                    <a:pt x="0" y="608"/>
                    <a:pt x="0" y="600"/>
                  </a:cubicBezTo>
                  <a:lnTo>
                    <a:pt x="0" y="384"/>
                  </a:lnTo>
                  <a:cubicBezTo>
                    <a:pt x="0" y="376"/>
                    <a:pt x="7" y="369"/>
                    <a:pt x="15" y="369"/>
                  </a:cubicBezTo>
                  <a:cubicBezTo>
                    <a:pt x="24" y="369"/>
                    <a:pt x="31" y="376"/>
                    <a:pt x="31" y="384"/>
                  </a:cubicBezTo>
                  <a:close/>
                  <a:moveTo>
                    <a:pt x="31" y="753"/>
                  </a:moveTo>
                  <a:lnTo>
                    <a:pt x="31" y="968"/>
                  </a:lnTo>
                  <a:cubicBezTo>
                    <a:pt x="31" y="977"/>
                    <a:pt x="24" y="984"/>
                    <a:pt x="15" y="984"/>
                  </a:cubicBezTo>
                  <a:cubicBezTo>
                    <a:pt x="7" y="984"/>
                    <a:pt x="0" y="977"/>
                    <a:pt x="0" y="968"/>
                  </a:cubicBezTo>
                  <a:lnTo>
                    <a:pt x="0" y="753"/>
                  </a:lnTo>
                  <a:cubicBezTo>
                    <a:pt x="0" y="745"/>
                    <a:pt x="7" y="738"/>
                    <a:pt x="15" y="738"/>
                  </a:cubicBezTo>
                  <a:cubicBezTo>
                    <a:pt x="24" y="738"/>
                    <a:pt x="31" y="745"/>
                    <a:pt x="31" y="753"/>
                  </a:cubicBezTo>
                  <a:close/>
                  <a:moveTo>
                    <a:pt x="31" y="1122"/>
                  </a:moveTo>
                  <a:lnTo>
                    <a:pt x="31" y="1337"/>
                  </a:lnTo>
                  <a:cubicBezTo>
                    <a:pt x="31" y="1345"/>
                    <a:pt x="24" y="1352"/>
                    <a:pt x="15" y="1352"/>
                  </a:cubicBezTo>
                  <a:cubicBezTo>
                    <a:pt x="7" y="1352"/>
                    <a:pt x="0" y="1345"/>
                    <a:pt x="0" y="1337"/>
                  </a:cubicBezTo>
                  <a:lnTo>
                    <a:pt x="0" y="1122"/>
                  </a:lnTo>
                  <a:cubicBezTo>
                    <a:pt x="0" y="1113"/>
                    <a:pt x="7" y="1106"/>
                    <a:pt x="15" y="1106"/>
                  </a:cubicBezTo>
                  <a:cubicBezTo>
                    <a:pt x="24" y="1106"/>
                    <a:pt x="31" y="1113"/>
                    <a:pt x="31" y="1122"/>
                  </a:cubicBezTo>
                  <a:close/>
                  <a:moveTo>
                    <a:pt x="31" y="1490"/>
                  </a:moveTo>
                  <a:lnTo>
                    <a:pt x="31" y="1705"/>
                  </a:lnTo>
                  <a:cubicBezTo>
                    <a:pt x="31" y="1714"/>
                    <a:pt x="24" y="1721"/>
                    <a:pt x="15" y="1721"/>
                  </a:cubicBezTo>
                  <a:cubicBezTo>
                    <a:pt x="7" y="1721"/>
                    <a:pt x="0" y="1714"/>
                    <a:pt x="0" y="1705"/>
                  </a:cubicBezTo>
                  <a:lnTo>
                    <a:pt x="0" y="1490"/>
                  </a:lnTo>
                  <a:cubicBezTo>
                    <a:pt x="0" y="1482"/>
                    <a:pt x="7" y="1475"/>
                    <a:pt x="15" y="1475"/>
                  </a:cubicBezTo>
                  <a:cubicBezTo>
                    <a:pt x="24" y="1475"/>
                    <a:pt x="31" y="1482"/>
                    <a:pt x="31" y="1490"/>
                  </a:cubicBezTo>
                  <a:close/>
                  <a:moveTo>
                    <a:pt x="31" y="1859"/>
                  </a:moveTo>
                  <a:lnTo>
                    <a:pt x="31" y="2074"/>
                  </a:lnTo>
                  <a:cubicBezTo>
                    <a:pt x="31" y="2083"/>
                    <a:pt x="24" y="2089"/>
                    <a:pt x="15" y="2089"/>
                  </a:cubicBezTo>
                  <a:cubicBezTo>
                    <a:pt x="7" y="2089"/>
                    <a:pt x="0" y="2083"/>
                    <a:pt x="0" y="2074"/>
                  </a:cubicBezTo>
                  <a:lnTo>
                    <a:pt x="0" y="1859"/>
                  </a:lnTo>
                  <a:cubicBezTo>
                    <a:pt x="0" y="1851"/>
                    <a:pt x="7" y="1844"/>
                    <a:pt x="15" y="1844"/>
                  </a:cubicBezTo>
                  <a:cubicBezTo>
                    <a:pt x="24" y="1844"/>
                    <a:pt x="31" y="1851"/>
                    <a:pt x="31" y="1859"/>
                  </a:cubicBezTo>
                  <a:close/>
                  <a:moveTo>
                    <a:pt x="31" y="2228"/>
                  </a:moveTo>
                  <a:lnTo>
                    <a:pt x="31" y="2443"/>
                  </a:lnTo>
                  <a:cubicBezTo>
                    <a:pt x="31" y="2451"/>
                    <a:pt x="24" y="2458"/>
                    <a:pt x="15" y="2458"/>
                  </a:cubicBezTo>
                  <a:cubicBezTo>
                    <a:pt x="7" y="2458"/>
                    <a:pt x="0" y="2451"/>
                    <a:pt x="0" y="2443"/>
                  </a:cubicBezTo>
                  <a:lnTo>
                    <a:pt x="0" y="2228"/>
                  </a:lnTo>
                  <a:cubicBezTo>
                    <a:pt x="0" y="2219"/>
                    <a:pt x="7" y="2212"/>
                    <a:pt x="15" y="2212"/>
                  </a:cubicBezTo>
                  <a:cubicBezTo>
                    <a:pt x="24" y="2212"/>
                    <a:pt x="31" y="2219"/>
                    <a:pt x="31" y="2228"/>
                  </a:cubicBezTo>
                  <a:close/>
                  <a:moveTo>
                    <a:pt x="31" y="2596"/>
                  </a:moveTo>
                  <a:lnTo>
                    <a:pt x="31" y="2811"/>
                  </a:lnTo>
                  <a:cubicBezTo>
                    <a:pt x="31" y="2820"/>
                    <a:pt x="24" y="2827"/>
                    <a:pt x="15" y="2827"/>
                  </a:cubicBezTo>
                  <a:cubicBezTo>
                    <a:pt x="7" y="2827"/>
                    <a:pt x="0" y="2820"/>
                    <a:pt x="0" y="2811"/>
                  </a:cubicBezTo>
                  <a:lnTo>
                    <a:pt x="0" y="2596"/>
                  </a:lnTo>
                  <a:cubicBezTo>
                    <a:pt x="0" y="2588"/>
                    <a:pt x="7" y="2581"/>
                    <a:pt x="15" y="2581"/>
                  </a:cubicBezTo>
                  <a:cubicBezTo>
                    <a:pt x="24" y="2581"/>
                    <a:pt x="31" y="2588"/>
                    <a:pt x="31" y="2596"/>
                  </a:cubicBezTo>
                  <a:close/>
                  <a:moveTo>
                    <a:pt x="31" y="2965"/>
                  </a:moveTo>
                  <a:lnTo>
                    <a:pt x="31" y="3180"/>
                  </a:lnTo>
                  <a:cubicBezTo>
                    <a:pt x="31" y="3188"/>
                    <a:pt x="24" y="3195"/>
                    <a:pt x="15" y="3195"/>
                  </a:cubicBezTo>
                  <a:cubicBezTo>
                    <a:pt x="7" y="3195"/>
                    <a:pt x="0" y="3188"/>
                    <a:pt x="0" y="3180"/>
                  </a:cubicBezTo>
                  <a:lnTo>
                    <a:pt x="0" y="2965"/>
                  </a:lnTo>
                  <a:cubicBezTo>
                    <a:pt x="0" y="2956"/>
                    <a:pt x="7" y="2950"/>
                    <a:pt x="15" y="2950"/>
                  </a:cubicBezTo>
                  <a:cubicBezTo>
                    <a:pt x="24" y="2950"/>
                    <a:pt x="31" y="2956"/>
                    <a:pt x="31" y="2965"/>
                  </a:cubicBezTo>
                  <a:close/>
                  <a:moveTo>
                    <a:pt x="31" y="3334"/>
                  </a:moveTo>
                  <a:lnTo>
                    <a:pt x="31" y="3549"/>
                  </a:lnTo>
                  <a:cubicBezTo>
                    <a:pt x="31" y="3557"/>
                    <a:pt x="24" y="3564"/>
                    <a:pt x="15" y="3564"/>
                  </a:cubicBezTo>
                  <a:cubicBezTo>
                    <a:pt x="7" y="3564"/>
                    <a:pt x="0" y="3557"/>
                    <a:pt x="0" y="3549"/>
                  </a:cubicBezTo>
                  <a:lnTo>
                    <a:pt x="0" y="3334"/>
                  </a:lnTo>
                  <a:cubicBezTo>
                    <a:pt x="0" y="3325"/>
                    <a:pt x="7" y="3318"/>
                    <a:pt x="15" y="3318"/>
                  </a:cubicBezTo>
                  <a:cubicBezTo>
                    <a:pt x="24" y="3318"/>
                    <a:pt x="31" y="3325"/>
                    <a:pt x="31" y="3334"/>
                  </a:cubicBezTo>
                  <a:close/>
                  <a:moveTo>
                    <a:pt x="31" y="3702"/>
                  </a:moveTo>
                  <a:lnTo>
                    <a:pt x="31" y="3917"/>
                  </a:lnTo>
                  <a:cubicBezTo>
                    <a:pt x="31" y="3926"/>
                    <a:pt x="24" y="3933"/>
                    <a:pt x="15" y="3933"/>
                  </a:cubicBezTo>
                  <a:cubicBezTo>
                    <a:pt x="7" y="3933"/>
                    <a:pt x="0" y="3926"/>
                    <a:pt x="0" y="3917"/>
                  </a:cubicBezTo>
                  <a:lnTo>
                    <a:pt x="0" y="3702"/>
                  </a:lnTo>
                  <a:cubicBezTo>
                    <a:pt x="0" y="3694"/>
                    <a:pt x="7" y="3687"/>
                    <a:pt x="15" y="3687"/>
                  </a:cubicBezTo>
                  <a:cubicBezTo>
                    <a:pt x="24" y="3687"/>
                    <a:pt x="31" y="3694"/>
                    <a:pt x="31" y="3702"/>
                  </a:cubicBezTo>
                  <a:close/>
                  <a:moveTo>
                    <a:pt x="31" y="4071"/>
                  </a:moveTo>
                  <a:lnTo>
                    <a:pt x="31" y="4286"/>
                  </a:lnTo>
                  <a:cubicBezTo>
                    <a:pt x="31" y="4294"/>
                    <a:pt x="24" y="4301"/>
                    <a:pt x="15" y="4301"/>
                  </a:cubicBezTo>
                  <a:cubicBezTo>
                    <a:pt x="7" y="4301"/>
                    <a:pt x="0" y="4294"/>
                    <a:pt x="0" y="4286"/>
                  </a:cubicBezTo>
                  <a:lnTo>
                    <a:pt x="0" y="4071"/>
                  </a:lnTo>
                  <a:cubicBezTo>
                    <a:pt x="0" y="4062"/>
                    <a:pt x="7" y="4056"/>
                    <a:pt x="15" y="4056"/>
                  </a:cubicBezTo>
                  <a:cubicBezTo>
                    <a:pt x="24" y="4056"/>
                    <a:pt x="31" y="4062"/>
                    <a:pt x="31" y="4071"/>
                  </a:cubicBezTo>
                  <a:close/>
                  <a:moveTo>
                    <a:pt x="31" y="4440"/>
                  </a:moveTo>
                  <a:lnTo>
                    <a:pt x="31" y="4655"/>
                  </a:lnTo>
                  <a:cubicBezTo>
                    <a:pt x="31" y="4663"/>
                    <a:pt x="24" y="4670"/>
                    <a:pt x="15" y="4670"/>
                  </a:cubicBezTo>
                  <a:cubicBezTo>
                    <a:pt x="7" y="4670"/>
                    <a:pt x="0" y="4663"/>
                    <a:pt x="0" y="4655"/>
                  </a:cubicBezTo>
                  <a:lnTo>
                    <a:pt x="0" y="4440"/>
                  </a:lnTo>
                  <a:cubicBezTo>
                    <a:pt x="0" y="4431"/>
                    <a:pt x="7" y="4424"/>
                    <a:pt x="15" y="4424"/>
                  </a:cubicBezTo>
                  <a:cubicBezTo>
                    <a:pt x="24" y="4424"/>
                    <a:pt x="31" y="4431"/>
                    <a:pt x="31" y="4440"/>
                  </a:cubicBezTo>
                  <a:close/>
                  <a:moveTo>
                    <a:pt x="31" y="4808"/>
                  </a:moveTo>
                  <a:lnTo>
                    <a:pt x="31" y="4914"/>
                  </a:lnTo>
                  <a:cubicBezTo>
                    <a:pt x="31" y="4923"/>
                    <a:pt x="24" y="4929"/>
                    <a:pt x="15" y="4929"/>
                  </a:cubicBezTo>
                  <a:cubicBezTo>
                    <a:pt x="7" y="4929"/>
                    <a:pt x="0" y="4923"/>
                    <a:pt x="0" y="4914"/>
                  </a:cubicBezTo>
                  <a:lnTo>
                    <a:pt x="0" y="4808"/>
                  </a:lnTo>
                  <a:cubicBezTo>
                    <a:pt x="0" y="4800"/>
                    <a:pt x="7" y="4793"/>
                    <a:pt x="15" y="4793"/>
                  </a:cubicBezTo>
                  <a:cubicBezTo>
                    <a:pt x="24" y="4793"/>
                    <a:pt x="31" y="4800"/>
                    <a:pt x="31" y="4808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6CEB3B64-B17D-47AD-A097-9B7DBD98D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9" y="1942"/>
              <a:ext cx="6" cy="947"/>
            </a:xfrm>
            <a:custGeom>
              <a:avLst/>
              <a:gdLst>
                <a:gd name="T0" fmla="*/ 31 w 31"/>
                <a:gd name="T1" fmla="*/ 230 h 5038"/>
                <a:gd name="T2" fmla="*/ 0 w 31"/>
                <a:gd name="T3" fmla="*/ 230 h 5038"/>
                <a:gd name="T4" fmla="*/ 16 w 31"/>
                <a:gd name="T5" fmla="*/ 0 h 5038"/>
                <a:gd name="T6" fmla="*/ 31 w 31"/>
                <a:gd name="T7" fmla="*/ 384 h 5038"/>
                <a:gd name="T8" fmla="*/ 16 w 31"/>
                <a:gd name="T9" fmla="*/ 614 h 5038"/>
                <a:gd name="T10" fmla="*/ 0 w 31"/>
                <a:gd name="T11" fmla="*/ 384 h 5038"/>
                <a:gd name="T12" fmla="*/ 31 w 31"/>
                <a:gd name="T13" fmla="*/ 384 h 5038"/>
                <a:gd name="T14" fmla="*/ 31 w 31"/>
                <a:gd name="T15" fmla="*/ 968 h 5038"/>
                <a:gd name="T16" fmla="*/ 0 w 31"/>
                <a:gd name="T17" fmla="*/ 968 h 5038"/>
                <a:gd name="T18" fmla="*/ 16 w 31"/>
                <a:gd name="T19" fmla="*/ 737 h 5038"/>
                <a:gd name="T20" fmla="*/ 31 w 31"/>
                <a:gd name="T21" fmla="*/ 1121 h 5038"/>
                <a:gd name="T22" fmla="*/ 16 w 31"/>
                <a:gd name="T23" fmla="*/ 1352 h 5038"/>
                <a:gd name="T24" fmla="*/ 0 w 31"/>
                <a:gd name="T25" fmla="*/ 1121 h 5038"/>
                <a:gd name="T26" fmla="*/ 31 w 31"/>
                <a:gd name="T27" fmla="*/ 1121 h 5038"/>
                <a:gd name="T28" fmla="*/ 31 w 31"/>
                <a:gd name="T29" fmla="*/ 1705 h 5038"/>
                <a:gd name="T30" fmla="*/ 0 w 31"/>
                <a:gd name="T31" fmla="*/ 1705 h 5038"/>
                <a:gd name="T32" fmla="*/ 16 w 31"/>
                <a:gd name="T33" fmla="*/ 1475 h 5038"/>
                <a:gd name="T34" fmla="*/ 31 w 31"/>
                <a:gd name="T35" fmla="*/ 1859 h 5038"/>
                <a:gd name="T36" fmla="*/ 16 w 31"/>
                <a:gd name="T37" fmla="*/ 2089 h 5038"/>
                <a:gd name="T38" fmla="*/ 0 w 31"/>
                <a:gd name="T39" fmla="*/ 1859 h 5038"/>
                <a:gd name="T40" fmla="*/ 31 w 31"/>
                <a:gd name="T41" fmla="*/ 1859 h 5038"/>
                <a:gd name="T42" fmla="*/ 31 w 31"/>
                <a:gd name="T43" fmla="*/ 2442 h 5038"/>
                <a:gd name="T44" fmla="*/ 0 w 31"/>
                <a:gd name="T45" fmla="*/ 2442 h 5038"/>
                <a:gd name="T46" fmla="*/ 16 w 31"/>
                <a:gd name="T47" fmla="*/ 2212 h 5038"/>
                <a:gd name="T48" fmla="*/ 31 w 31"/>
                <a:gd name="T49" fmla="*/ 2596 h 5038"/>
                <a:gd name="T50" fmla="*/ 16 w 31"/>
                <a:gd name="T51" fmla="*/ 2826 h 5038"/>
                <a:gd name="T52" fmla="*/ 0 w 31"/>
                <a:gd name="T53" fmla="*/ 2596 h 5038"/>
                <a:gd name="T54" fmla="*/ 31 w 31"/>
                <a:gd name="T55" fmla="*/ 2596 h 5038"/>
                <a:gd name="T56" fmla="*/ 31 w 31"/>
                <a:gd name="T57" fmla="*/ 3180 h 5038"/>
                <a:gd name="T58" fmla="*/ 0 w 31"/>
                <a:gd name="T59" fmla="*/ 3180 h 5038"/>
                <a:gd name="T60" fmla="*/ 16 w 31"/>
                <a:gd name="T61" fmla="*/ 2949 h 5038"/>
                <a:gd name="T62" fmla="*/ 31 w 31"/>
                <a:gd name="T63" fmla="*/ 3333 h 5038"/>
                <a:gd name="T64" fmla="*/ 16 w 31"/>
                <a:gd name="T65" fmla="*/ 3564 h 5038"/>
                <a:gd name="T66" fmla="*/ 0 w 31"/>
                <a:gd name="T67" fmla="*/ 3333 h 5038"/>
                <a:gd name="T68" fmla="*/ 31 w 31"/>
                <a:gd name="T69" fmla="*/ 3333 h 5038"/>
                <a:gd name="T70" fmla="*/ 31 w 31"/>
                <a:gd name="T71" fmla="*/ 3917 h 5038"/>
                <a:gd name="T72" fmla="*/ 0 w 31"/>
                <a:gd name="T73" fmla="*/ 3917 h 5038"/>
                <a:gd name="T74" fmla="*/ 16 w 31"/>
                <a:gd name="T75" fmla="*/ 3686 h 5038"/>
                <a:gd name="T76" fmla="*/ 31 w 31"/>
                <a:gd name="T77" fmla="*/ 4070 h 5038"/>
                <a:gd name="T78" fmla="*/ 16 w 31"/>
                <a:gd name="T79" fmla="*/ 4301 h 5038"/>
                <a:gd name="T80" fmla="*/ 0 w 31"/>
                <a:gd name="T81" fmla="*/ 4070 h 5038"/>
                <a:gd name="T82" fmla="*/ 31 w 31"/>
                <a:gd name="T83" fmla="*/ 4070 h 5038"/>
                <a:gd name="T84" fmla="*/ 31 w 31"/>
                <a:gd name="T85" fmla="*/ 4654 h 5038"/>
                <a:gd name="T86" fmla="*/ 0 w 31"/>
                <a:gd name="T87" fmla="*/ 4654 h 5038"/>
                <a:gd name="T88" fmla="*/ 16 w 31"/>
                <a:gd name="T89" fmla="*/ 4424 h 5038"/>
                <a:gd name="T90" fmla="*/ 31 w 31"/>
                <a:gd name="T91" fmla="*/ 4808 h 5038"/>
                <a:gd name="T92" fmla="*/ 16 w 31"/>
                <a:gd name="T93" fmla="*/ 5038 h 5038"/>
                <a:gd name="T94" fmla="*/ 0 w 31"/>
                <a:gd name="T95" fmla="*/ 4808 h 5038"/>
                <a:gd name="T96" fmla="*/ 31 w 31"/>
                <a:gd name="T97" fmla="*/ 4808 h 5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" h="5038">
                  <a:moveTo>
                    <a:pt x="31" y="15"/>
                  </a:moveTo>
                  <a:lnTo>
                    <a:pt x="31" y="230"/>
                  </a:lnTo>
                  <a:cubicBezTo>
                    <a:pt x="31" y="239"/>
                    <a:pt x="24" y="246"/>
                    <a:pt x="16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15"/>
                  </a:ln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5"/>
                  </a:cubicBezTo>
                  <a:close/>
                  <a:moveTo>
                    <a:pt x="31" y="384"/>
                  </a:moveTo>
                  <a:lnTo>
                    <a:pt x="31" y="599"/>
                  </a:lnTo>
                  <a:cubicBezTo>
                    <a:pt x="31" y="608"/>
                    <a:pt x="24" y="614"/>
                    <a:pt x="16" y="614"/>
                  </a:cubicBezTo>
                  <a:cubicBezTo>
                    <a:pt x="7" y="614"/>
                    <a:pt x="0" y="608"/>
                    <a:pt x="0" y="599"/>
                  </a:cubicBezTo>
                  <a:lnTo>
                    <a:pt x="0" y="384"/>
                  </a:lnTo>
                  <a:cubicBezTo>
                    <a:pt x="0" y="376"/>
                    <a:pt x="7" y="369"/>
                    <a:pt x="16" y="369"/>
                  </a:cubicBezTo>
                  <a:cubicBezTo>
                    <a:pt x="24" y="369"/>
                    <a:pt x="31" y="376"/>
                    <a:pt x="31" y="384"/>
                  </a:cubicBezTo>
                  <a:close/>
                  <a:moveTo>
                    <a:pt x="31" y="753"/>
                  </a:moveTo>
                  <a:lnTo>
                    <a:pt x="31" y="968"/>
                  </a:lnTo>
                  <a:cubicBezTo>
                    <a:pt x="31" y="976"/>
                    <a:pt x="24" y="983"/>
                    <a:pt x="16" y="983"/>
                  </a:cubicBezTo>
                  <a:cubicBezTo>
                    <a:pt x="7" y="983"/>
                    <a:pt x="0" y="976"/>
                    <a:pt x="0" y="968"/>
                  </a:cubicBezTo>
                  <a:lnTo>
                    <a:pt x="0" y="753"/>
                  </a:lnTo>
                  <a:cubicBezTo>
                    <a:pt x="0" y="744"/>
                    <a:pt x="7" y="737"/>
                    <a:pt x="16" y="737"/>
                  </a:cubicBezTo>
                  <a:cubicBezTo>
                    <a:pt x="24" y="737"/>
                    <a:pt x="31" y="744"/>
                    <a:pt x="31" y="753"/>
                  </a:cubicBezTo>
                  <a:close/>
                  <a:moveTo>
                    <a:pt x="31" y="1121"/>
                  </a:moveTo>
                  <a:lnTo>
                    <a:pt x="31" y="1336"/>
                  </a:lnTo>
                  <a:cubicBezTo>
                    <a:pt x="31" y="1345"/>
                    <a:pt x="24" y="1352"/>
                    <a:pt x="16" y="1352"/>
                  </a:cubicBezTo>
                  <a:cubicBezTo>
                    <a:pt x="7" y="1352"/>
                    <a:pt x="0" y="1345"/>
                    <a:pt x="0" y="1336"/>
                  </a:cubicBezTo>
                  <a:lnTo>
                    <a:pt x="0" y="1121"/>
                  </a:lnTo>
                  <a:cubicBezTo>
                    <a:pt x="0" y="1113"/>
                    <a:pt x="7" y="1106"/>
                    <a:pt x="16" y="1106"/>
                  </a:cubicBezTo>
                  <a:cubicBezTo>
                    <a:pt x="24" y="1106"/>
                    <a:pt x="31" y="1113"/>
                    <a:pt x="31" y="1121"/>
                  </a:cubicBezTo>
                  <a:close/>
                  <a:moveTo>
                    <a:pt x="31" y="1490"/>
                  </a:moveTo>
                  <a:lnTo>
                    <a:pt x="31" y="1705"/>
                  </a:lnTo>
                  <a:cubicBezTo>
                    <a:pt x="31" y="1714"/>
                    <a:pt x="24" y="1720"/>
                    <a:pt x="16" y="1720"/>
                  </a:cubicBezTo>
                  <a:cubicBezTo>
                    <a:pt x="7" y="1720"/>
                    <a:pt x="0" y="1714"/>
                    <a:pt x="0" y="1705"/>
                  </a:cubicBezTo>
                  <a:lnTo>
                    <a:pt x="0" y="1490"/>
                  </a:lnTo>
                  <a:cubicBezTo>
                    <a:pt x="0" y="1481"/>
                    <a:pt x="7" y="1475"/>
                    <a:pt x="16" y="1475"/>
                  </a:cubicBezTo>
                  <a:cubicBezTo>
                    <a:pt x="24" y="1475"/>
                    <a:pt x="31" y="1481"/>
                    <a:pt x="31" y="1490"/>
                  </a:cubicBezTo>
                  <a:close/>
                  <a:moveTo>
                    <a:pt x="31" y="1859"/>
                  </a:moveTo>
                  <a:lnTo>
                    <a:pt x="31" y="2074"/>
                  </a:lnTo>
                  <a:cubicBezTo>
                    <a:pt x="31" y="2082"/>
                    <a:pt x="24" y="2089"/>
                    <a:pt x="16" y="2089"/>
                  </a:cubicBezTo>
                  <a:cubicBezTo>
                    <a:pt x="7" y="2089"/>
                    <a:pt x="0" y="2082"/>
                    <a:pt x="0" y="2074"/>
                  </a:cubicBezTo>
                  <a:lnTo>
                    <a:pt x="0" y="1859"/>
                  </a:lnTo>
                  <a:cubicBezTo>
                    <a:pt x="0" y="1850"/>
                    <a:pt x="7" y="1843"/>
                    <a:pt x="16" y="1843"/>
                  </a:cubicBezTo>
                  <a:cubicBezTo>
                    <a:pt x="24" y="1843"/>
                    <a:pt x="31" y="1850"/>
                    <a:pt x="31" y="1859"/>
                  </a:cubicBezTo>
                  <a:close/>
                  <a:moveTo>
                    <a:pt x="31" y="2227"/>
                  </a:moveTo>
                  <a:lnTo>
                    <a:pt x="31" y="2442"/>
                  </a:lnTo>
                  <a:cubicBezTo>
                    <a:pt x="31" y="2451"/>
                    <a:pt x="24" y="2458"/>
                    <a:pt x="16" y="2458"/>
                  </a:cubicBezTo>
                  <a:cubicBezTo>
                    <a:pt x="7" y="2458"/>
                    <a:pt x="0" y="2451"/>
                    <a:pt x="0" y="2442"/>
                  </a:cubicBezTo>
                  <a:lnTo>
                    <a:pt x="0" y="2227"/>
                  </a:lnTo>
                  <a:cubicBezTo>
                    <a:pt x="0" y="2219"/>
                    <a:pt x="7" y="2212"/>
                    <a:pt x="16" y="2212"/>
                  </a:cubicBezTo>
                  <a:cubicBezTo>
                    <a:pt x="24" y="2212"/>
                    <a:pt x="31" y="2219"/>
                    <a:pt x="31" y="2227"/>
                  </a:cubicBezTo>
                  <a:close/>
                  <a:moveTo>
                    <a:pt x="31" y="2596"/>
                  </a:moveTo>
                  <a:lnTo>
                    <a:pt x="31" y="2811"/>
                  </a:lnTo>
                  <a:cubicBezTo>
                    <a:pt x="31" y="2819"/>
                    <a:pt x="24" y="2826"/>
                    <a:pt x="16" y="2826"/>
                  </a:cubicBezTo>
                  <a:cubicBezTo>
                    <a:pt x="7" y="2826"/>
                    <a:pt x="0" y="2819"/>
                    <a:pt x="0" y="2811"/>
                  </a:cubicBezTo>
                  <a:lnTo>
                    <a:pt x="0" y="2596"/>
                  </a:lnTo>
                  <a:cubicBezTo>
                    <a:pt x="0" y="2587"/>
                    <a:pt x="7" y="2581"/>
                    <a:pt x="16" y="2581"/>
                  </a:cubicBezTo>
                  <a:cubicBezTo>
                    <a:pt x="24" y="2581"/>
                    <a:pt x="31" y="2587"/>
                    <a:pt x="31" y="2596"/>
                  </a:cubicBezTo>
                  <a:close/>
                  <a:moveTo>
                    <a:pt x="31" y="2965"/>
                  </a:moveTo>
                  <a:lnTo>
                    <a:pt x="31" y="3180"/>
                  </a:lnTo>
                  <a:cubicBezTo>
                    <a:pt x="31" y="3188"/>
                    <a:pt x="24" y="3195"/>
                    <a:pt x="16" y="3195"/>
                  </a:cubicBezTo>
                  <a:cubicBezTo>
                    <a:pt x="7" y="3195"/>
                    <a:pt x="0" y="3188"/>
                    <a:pt x="0" y="3180"/>
                  </a:cubicBezTo>
                  <a:lnTo>
                    <a:pt x="0" y="2965"/>
                  </a:lnTo>
                  <a:cubicBezTo>
                    <a:pt x="0" y="2956"/>
                    <a:pt x="7" y="2949"/>
                    <a:pt x="16" y="2949"/>
                  </a:cubicBezTo>
                  <a:cubicBezTo>
                    <a:pt x="24" y="2949"/>
                    <a:pt x="31" y="2956"/>
                    <a:pt x="31" y="2965"/>
                  </a:cubicBezTo>
                  <a:close/>
                  <a:moveTo>
                    <a:pt x="31" y="3333"/>
                  </a:moveTo>
                  <a:lnTo>
                    <a:pt x="31" y="3548"/>
                  </a:lnTo>
                  <a:cubicBezTo>
                    <a:pt x="31" y="3557"/>
                    <a:pt x="24" y="3564"/>
                    <a:pt x="16" y="3564"/>
                  </a:cubicBezTo>
                  <a:cubicBezTo>
                    <a:pt x="7" y="3564"/>
                    <a:pt x="0" y="3557"/>
                    <a:pt x="0" y="3548"/>
                  </a:cubicBezTo>
                  <a:lnTo>
                    <a:pt x="0" y="3333"/>
                  </a:lnTo>
                  <a:cubicBezTo>
                    <a:pt x="0" y="3325"/>
                    <a:pt x="7" y="3318"/>
                    <a:pt x="16" y="3318"/>
                  </a:cubicBezTo>
                  <a:cubicBezTo>
                    <a:pt x="24" y="3318"/>
                    <a:pt x="31" y="3325"/>
                    <a:pt x="31" y="3333"/>
                  </a:cubicBezTo>
                  <a:close/>
                  <a:moveTo>
                    <a:pt x="31" y="3702"/>
                  </a:moveTo>
                  <a:lnTo>
                    <a:pt x="31" y="3917"/>
                  </a:lnTo>
                  <a:cubicBezTo>
                    <a:pt x="31" y="3925"/>
                    <a:pt x="24" y="3932"/>
                    <a:pt x="16" y="3932"/>
                  </a:cubicBezTo>
                  <a:cubicBezTo>
                    <a:pt x="7" y="3932"/>
                    <a:pt x="0" y="3925"/>
                    <a:pt x="0" y="3917"/>
                  </a:cubicBezTo>
                  <a:lnTo>
                    <a:pt x="0" y="3702"/>
                  </a:lnTo>
                  <a:cubicBezTo>
                    <a:pt x="0" y="3693"/>
                    <a:pt x="7" y="3686"/>
                    <a:pt x="16" y="3686"/>
                  </a:cubicBezTo>
                  <a:cubicBezTo>
                    <a:pt x="24" y="3686"/>
                    <a:pt x="31" y="3693"/>
                    <a:pt x="31" y="3702"/>
                  </a:cubicBezTo>
                  <a:close/>
                  <a:moveTo>
                    <a:pt x="31" y="4070"/>
                  </a:moveTo>
                  <a:lnTo>
                    <a:pt x="31" y="4286"/>
                  </a:lnTo>
                  <a:cubicBezTo>
                    <a:pt x="31" y="4294"/>
                    <a:pt x="24" y="4301"/>
                    <a:pt x="16" y="4301"/>
                  </a:cubicBezTo>
                  <a:cubicBezTo>
                    <a:pt x="7" y="4301"/>
                    <a:pt x="0" y="4294"/>
                    <a:pt x="0" y="4286"/>
                  </a:cubicBezTo>
                  <a:lnTo>
                    <a:pt x="0" y="4070"/>
                  </a:lnTo>
                  <a:cubicBezTo>
                    <a:pt x="0" y="4062"/>
                    <a:pt x="7" y="4055"/>
                    <a:pt x="16" y="4055"/>
                  </a:cubicBezTo>
                  <a:cubicBezTo>
                    <a:pt x="24" y="4055"/>
                    <a:pt x="31" y="4062"/>
                    <a:pt x="31" y="4070"/>
                  </a:cubicBezTo>
                  <a:close/>
                  <a:moveTo>
                    <a:pt x="31" y="4439"/>
                  </a:moveTo>
                  <a:lnTo>
                    <a:pt x="31" y="4654"/>
                  </a:lnTo>
                  <a:cubicBezTo>
                    <a:pt x="31" y="4663"/>
                    <a:pt x="24" y="4670"/>
                    <a:pt x="16" y="4670"/>
                  </a:cubicBezTo>
                  <a:cubicBezTo>
                    <a:pt x="7" y="4670"/>
                    <a:pt x="0" y="4663"/>
                    <a:pt x="0" y="4654"/>
                  </a:cubicBezTo>
                  <a:lnTo>
                    <a:pt x="0" y="4439"/>
                  </a:lnTo>
                  <a:cubicBezTo>
                    <a:pt x="0" y="4431"/>
                    <a:pt x="7" y="4424"/>
                    <a:pt x="16" y="4424"/>
                  </a:cubicBezTo>
                  <a:cubicBezTo>
                    <a:pt x="24" y="4424"/>
                    <a:pt x="31" y="4431"/>
                    <a:pt x="31" y="4439"/>
                  </a:cubicBezTo>
                  <a:close/>
                  <a:moveTo>
                    <a:pt x="31" y="4808"/>
                  </a:moveTo>
                  <a:lnTo>
                    <a:pt x="31" y="5023"/>
                  </a:lnTo>
                  <a:cubicBezTo>
                    <a:pt x="31" y="5031"/>
                    <a:pt x="24" y="5038"/>
                    <a:pt x="16" y="5038"/>
                  </a:cubicBezTo>
                  <a:cubicBezTo>
                    <a:pt x="7" y="5038"/>
                    <a:pt x="0" y="5031"/>
                    <a:pt x="0" y="5023"/>
                  </a:cubicBezTo>
                  <a:lnTo>
                    <a:pt x="0" y="4808"/>
                  </a:lnTo>
                  <a:cubicBezTo>
                    <a:pt x="0" y="4799"/>
                    <a:pt x="7" y="4792"/>
                    <a:pt x="16" y="4792"/>
                  </a:cubicBezTo>
                  <a:cubicBezTo>
                    <a:pt x="24" y="4792"/>
                    <a:pt x="31" y="4799"/>
                    <a:pt x="31" y="4808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476433B0-615D-46BA-BB33-2E34526A8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2" y="1954"/>
              <a:ext cx="6" cy="946"/>
            </a:xfrm>
            <a:custGeom>
              <a:avLst/>
              <a:gdLst>
                <a:gd name="T0" fmla="*/ 31 w 31"/>
                <a:gd name="T1" fmla="*/ 230 h 5038"/>
                <a:gd name="T2" fmla="*/ 0 w 31"/>
                <a:gd name="T3" fmla="*/ 230 h 5038"/>
                <a:gd name="T4" fmla="*/ 16 w 31"/>
                <a:gd name="T5" fmla="*/ 0 h 5038"/>
                <a:gd name="T6" fmla="*/ 31 w 31"/>
                <a:gd name="T7" fmla="*/ 384 h 5038"/>
                <a:gd name="T8" fmla="*/ 16 w 31"/>
                <a:gd name="T9" fmla="*/ 614 h 5038"/>
                <a:gd name="T10" fmla="*/ 0 w 31"/>
                <a:gd name="T11" fmla="*/ 384 h 5038"/>
                <a:gd name="T12" fmla="*/ 31 w 31"/>
                <a:gd name="T13" fmla="*/ 384 h 5038"/>
                <a:gd name="T14" fmla="*/ 31 w 31"/>
                <a:gd name="T15" fmla="*/ 967 h 5038"/>
                <a:gd name="T16" fmla="*/ 0 w 31"/>
                <a:gd name="T17" fmla="*/ 967 h 5038"/>
                <a:gd name="T18" fmla="*/ 16 w 31"/>
                <a:gd name="T19" fmla="*/ 737 h 5038"/>
                <a:gd name="T20" fmla="*/ 31 w 31"/>
                <a:gd name="T21" fmla="*/ 1121 h 5038"/>
                <a:gd name="T22" fmla="*/ 16 w 31"/>
                <a:gd name="T23" fmla="*/ 1351 h 5038"/>
                <a:gd name="T24" fmla="*/ 0 w 31"/>
                <a:gd name="T25" fmla="*/ 1121 h 5038"/>
                <a:gd name="T26" fmla="*/ 31 w 31"/>
                <a:gd name="T27" fmla="*/ 1121 h 5038"/>
                <a:gd name="T28" fmla="*/ 31 w 31"/>
                <a:gd name="T29" fmla="*/ 1704 h 5038"/>
                <a:gd name="T30" fmla="*/ 0 w 31"/>
                <a:gd name="T31" fmla="*/ 1704 h 5038"/>
                <a:gd name="T32" fmla="*/ 16 w 31"/>
                <a:gd name="T33" fmla="*/ 1474 h 5038"/>
                <a:gd name="T34" fmla="*/ 31 w 31"/>
                <a:gd name="T35" fmla="*/ 1858 h 5038"/>
                <a:gd name="T36" fmla="*/ 16 w 31"/>
                <a:gd name="T37" fmla="*/ 2088 h 5038"/>
                <a:gd name="T38" fmla="*/ 0 w 31"/>
                <a:gd name="T39" fmla="*/ 1858 h 5038"/>
                <a:gd name="T40" fmla="*/ 31 w 31"/>
                <a:gd name="T41" fmla="*/ 1858 h 5038"/>
                <a:gd name="T42" fmla="*/ 31 w 31"/>
                <a:gd name="T43" fmla="*/ 2442 h 5038"/>
                <a:gd name="T44" fmla="*/ 0 w 31"/>
                <a:gd name="T45" fmla="*/ 2442 h 5038"/>
                <a:gd name="T46" fmla="*/ 16 w 31"/>
                <a:gd name="T47" fmla="*/ 2211 h 5038"/>
                <a:gd name="T48" fmla="*/ 31 w 31"/>
                <a:gd name="T49" fmla="*/ 2595 h 5038"/>
                <a:gd name="T50" fmla="*/ 16 w 31"/>
                <a:gd name="T51" fmla="*/ 2826 h 5038"/>
                <a:gd name="T52" fmla="*/ 0 w 31"/>
                <a:gd name="T53" fmla="*/ 2595 h 5038"/>
                <a:gd name="T54" fmla="*/ 31 w 31"/>
                <a:gd name="T55" fmla="*/ 2595 h 5038"/>
                <a:gd name="T56" fmla="*/ 31 w 31"/>
                <a:gd name="T57" fmla="*/ 3179 h 5038"/>
                <a:gd name="T58" fmla="*/ 0 w 31"/>
                <a:gd name="T59" fmla="*/ 3179 h 5038"/>
                <a:gd name="T60" fmla="*/ 16 w 31"/>
                <a:gd name="T61" fmla="*/ 2949 h 5038"/>
                <a:gd name="T62" fmla="*/ 31 w 31"/>
                <a:gd name="T63" fmla="*/ 3333 h 5038"/>
                <a:gd name="T64" fmla="*/ 16 w 31"/>
                <a:gd name="T65" fmla="*/ 3563 h 5038"/>
                <a:gd name="T66" fmla="*/ 0 w 31"/>
                <a:gd name="T67" fmla="*/ 3333 h 5038"/>
                <a:gd name="T68" fmla="*/ 31 w 31"/>
                <a:gd name="T69" fmla="*/ 3333 h 5038"/>
                <a:gd name="T70" fmla="*/ 31 w 31"/>
                <a:gd name="T71" fmla="*/ 3916 h 5038"/>
                <a:gd name="T72" fmla="*/ 0 w 31"/>
                <a:gd name="T73" fmla="*/ 3916 h 5038"/>
                <a:gd name="T74" fmla="*/ 16 w 31"/>
                <a:gd name="T75" fmla="*/ 3686 h 5038"/>
                <a:gd name="T76" fmla="*/ 31 w 31"/>
                <a:gd name="T77" fmla="*/ 4070 h 5038"/>
                <a:gd name="T78" fmla="*/ 16 w 31"/>
                <a:gd name="T79" fmla="*/ 4300 h 5038"/>
                <a:gd name="T80" fmla="*/ 0 w 31"/>
                <a:gd name="T81" fmla="*/ 4070 h 5038"/>
                <a:gd name="T82" fmla="*/ 31 w 31"/>
                <a:gd name="T83" fmla="*/ 4070 h 5038"/>
                <a:gd name="T84" fmla="*/ 31 w 31"/>
                <a:gd name="T85" fmla="*/ 4654 h 5038"/>
                <a:gd name="T86" fmla="*/ 0 w 31"/>
                <a:gd name="T87" fmla="*/ 4654 h 5038"/>
                <a:gd name="T88" fmla="*/ 16 w 31"/>
                <a:gd name="T89" fmla="*/ 4423 h 5038"/>
                <a:gd name="T90" fmla="*/ 31 w 31"/>
                <a:gd name="T91" fmla="*/ 4807 h 5038"/>
                <a:gd name="T92" fmla="*/ 16 w 31"/>
                <a:gd name="T93" fmla="*/ 5038 h 5038"/>
                <a:gd name="T94" fmla="*/ 0 w 31"/>
                <a:gd name="T95" fmla="*/ 4807 h 5038"/>
                <a:gd name="T96" fmla="*/ 31 w 31"/>
                <a:gd name="T97" fmla="*/ 4807 h 5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" h="5038">
                  <a:moveTo>
                    <a:pt x="31" y="15"/>
                  </a:moveTo>
                  <a:lnTo>
                    <a:pt x="31" y="230"/>
                  </a:lnTo>
                  <a:cubicBezTo>
                    <a:pt x="31" y="238"/>
                    <a:pt x="24" y="245"/>
                    <a:pt x="16" y="245"/>
                  </a:cubicBezTo>
                  <a:cubicBezTo>
                    <a:pt x="7" y="245"/>
                    <a:pt x="0" y="238"/>
                    <a:pt x="0" y="230"/>
                  </a:cubicBezTo>
                  <a:lnTo>
                    <a:pt x="0" y="15"/>
                  </a:lnTo>
                  <a:cubicBezTo>
                    <a:pt x="0" y="6"/>
                    <a:pt x="7" y="0"/>
                    <a:pt x="16" y="0"/>
                  </a:cubicBezTo>
                  <a:cubicBezTo>
                    <a:pt x="24" y="0"/>
                    <a:pt x="31" y="6"/>
                    <a:pt x="31" y="15"/>
                  </a:cubicBezTo>
                  <a:close/>
                  <a:moveTo>
                    <a:pt x="31" y="384"/>
                  </a:moveTo>
                  <a:lnTo>
                    <a:pt x="31" y="599"/>
                  </a:lnTo>
                  <a:cubicBezTo>
                    <a:pt x="31" y="607"/>
                    <a:pt x="24" y="614"/>
                    <a:pt x="16" y="614"/>
                  </a:cubicBezTo>
                  <a:cubicBezTo>
                    <a:pt x="7" y="614"/>
                    <a:pt x="0" y="607"/>
                    <a:pt x="0" y="599"/>
                  </a:cubicBezTo>
                  <a:lnTo>
                    <a:pt x="0" y="384"/>
                  </a:lnTo>
                  <a:cubicBezTo>
                    <a:pt x="0" y="375"/>
                    <a:pt x="7" y="368"/>
                    <a:pt x="16" y="368"/>
                  </a:cubicBezTo>
                  <a:cubicBezTo>
                    <a:pt x="24" y="368"/>
                    <a:pt x="31" y="375"/>
                    <a:pt x="31" y="384"/>
                  </a:cubicBezTo>
                  <a:close/>
                  <a:moveTo>
                    <a:pt x="31" y="752"/>
                  </a:moveTo>
                  <a:lnTo>
                    <a:pt x="31" y="967"/>
                  </a:lnTo>
                  <a:cubicBezTo>
                    <a:pt x="31" y="976"/>
                    <a:pt x="24" y="983"/>
                    <a:pt x="16" y="983"/>
                  </a:cubicBezTo>
                  <a:cubicBezTo>
                    <a:pt x="7" y="983"/>
                    <a:pt x="0" y="976"/>
                    <a:pt x="0" y="967"/>
                  </a:cubicBezTo>
                  <a:lnTo>
                    <a:pt x="0" y="752"/>
                  </a:lnTo>
                  <a:cubicBezTo>
                    <a:pt x="0" y="744"/>
                    <a:pt x="7" y="737"/>
                    <a:pt x="16" y="737"/>
                  </a:cubicBezTo>
                  <a:cubicBezTo>
                    <a:pt x="24" y="737"/>
                    <a:pt x="31" y="744"/>
                    <a:pt x="31" y="752"/>
                  </a:cubicBezTo>
                  <a:close/>
                  <a:moveTo>
                    <a:pt x="31" y="1121"/>
                  </a:moveTo>
                  <a:lnTo>
                    <a:pt x="31" y="1336"/>
                  </a:lnTo>
                  <a:cubicBezTo>
                    <a:pt x="31" y="1344"/>
                    <a:pt x="24" y="1351"/>
                    <a:pt x="16" y="1351"/>
                  </a:cubicBezTo>
                  <a:cubicBezTo>
                    <a:pt x="7" y="1351"/>
                    <a:pt x="0" y="1344"/>
                    <a:pt x="0" y="1336"/>
                  </a:cubicBezTo>
                  <a:lnTo>
                    <a:pt x="0" y="1121"/>
                  </a:lnTo>
                  <a:cubicBezTo>
                    <a:pt x="0" y="1112"/>
                    <a:pt x="7" y="1105"/>
                    <a:pt x="16" y="1105"/>
                  </a:cubicBezTo>
                  <a:cubicBezTo>
                    <a:pt x="24" y="1105"/>
                    <a:pt x="31" y="1112"/>
                    <a:pt x="31" y="1121"/>
                  </a:cubicBezTo>
                  <a:close/>
                  <a:moveTo>
                    <a:pt x="31" y="1489"/>
                  </a:moveTo>
                  <a:lnTo>
                    <a:pt x="31" y="1704"/>
                  </a:lnTo>
                  <a:cubicBezTo>
                    <a:pt x="31" y="1713"/>
                    <a:pt x="24" y="1720"/>
                    <a:pt x="16" y="1720"/>
                  </a:cubicBezTo>
                  <a:cubicBezTo>
                    <a:pt x="7" y="1720"/>
                    <a:pt x="0" y="1713"/>
                    <a:pt x="0" y="1704"/>
                  </a:cubicBezTo>
                  <a:lnTo>
                    <a:pt x="0" y="1489"/>
                  </a:lnTo>
                  <a:cubicBezTo>
                    <a:pt x="0" y="1481"/>
                    <a:pt x="7" y="1474"/>
                    <a:pt x="16" y="1474"/>
                  </a:cubicBezTo>
                  <a:cubicBezTo>
                    <a:pt x="24" y="1474"/>
                    <a:pt x="31" y="1481"/>
                    <a:pt x="31" y="1489"/>
                  </a:cubicBezTo>
                  <a:close/>
                  <a:moveTo>
                    <a:pt x="31" y="1858"/>
                  </a:moveTo>
                  <a:lnTo>
                    <a:pt x="31" y="2073"/>
                  </a:lnTo>
                  <a:cubicBezTo>
                    <a:pt x="31" y="2082"/>
                    <a:pt x="24" y="2088"/>
                    <a:pt x="16" y="2088"/>
                  </a:cubicBezTo>
                  <a:cubicBezTo>
                    <a:pt x="7" y="2088"/>
                    <a:pt x="0" y="2082"/>
                    <a:pt x="0" y="2073"/>
                  </a:cubicBezTo>
                  <a:lnTo>
                    <a:pt x="0" y="1858"/>
                  </a:lnTo>
                  <a:cubicBezTo>
                    <a:pt x="0" y="1850"/>
                    <a:pt x="7" y="1843"/>
                    <a:pt x="16" y="1843"/>
                  </a:cubicBezTo>
                  <a:cubicBezTo>
                    <a:pt x="24" y="1843"/>
                    <a:pt x="31" y="1850"/>
                    <a:pt x="31" y="1858"/>
                  </a:cubicBezTo>
                  <a:close/>
                  <a:moveTo>
                    <a:pt x="31" y="2227"/>
                  </a:moveTo>
                  <a:lnTo>
                    <a:pt x="31" y="2442"/>
                  </a:lnTo>
                  <a:cubicBezTo>
                    <a:pt x="31" y="2450"/>
                    <a:pt x="24" y="2457"/>
                    <a:pt x="16" y="2457"/>
                  </a:cubicBezTo>
                  <a:cubicBezTo>
                    <a:pt x="7" y="2457"/>
                    <a:pt x="0" y="2450"/>
                    <a:pt x="0" y="2442"/>
                  </a:cubicBezTo>
                  <a:lnTo>
                    <a:pt x="0" y="2227"/>
                  </a:lnTo>
                  <a:cubicBezTo>
                    <a:pt x="0" y="2218"/>
                    <a:pt x="7" y="2211"/>
                    <a:pt x="16" y="2211"/>
                  </a:cubicBezTo>
                  <a:cubicBezTo>
                    <a:pt x="24" y="2211"/>
                    <a:pt x="31" y="2218"/>
                    <a:pt x="31" y="2227"/>
                  </a:cubicBezTo>
                  <a:close/>
                  <a:moveTo>
                    <a:pt x="31" y="2595"/>
                  </a:moveTo>
                  <a:lnTo>
                    <a:pt x="31" y="2810"/>
                  </a:lnTo>
                  <a:cubicBezTo>
                    <a:pt x="31" y="2819"/>
                    <a:pt x="24" y="2826"/>
                    <a:pt x="16" y="2826"/>
                  </a:cubicBezTo>
                  <a:cubicBezTo>
                    <a:pt x="7" y="2826"/>
                    <a:pt x="0" y="2819"/>
                    <a:pt x="0" y="2810"/>
                  </a:cubicBezTo>
                  <a:lnTo>
                    <a:pt x="0" y="2595"/>
                  </a:lnTo>
                  <a:cubicBezTo>
                    <a:pt x="0" y="2587"/>
                    <a:pt x="7" y="2580"/>
                    <a:pt x="16" y="2580"/>
                  </a:cubicBezTo>
                  <a:cubicBezTo>
                    <a:pt x="24" y="2580"/>
                    <a:pt x="31" y="2587"/>
                    <a:pt x="31" y="2595"/>
                  </a:cubicBezTo>
                  <a:close/>
                  <a:moveTo>
                    <a:pt x="31" y="2964"/>
                  </a:moveTo>
                  <a:lnTo>
                    <a:pt x="31" y="3179"/>
                  </a:lnTo>
                  <a:cubicBezTo>
                    <a:pt x="31" y="3188"/>
                    <a:pt x="24" y="3194"/>
                    <a:pt x="16" y="3194"/>
                  </a:cubicBezTo>
                  <a:cubicBezTo>
                    <a:pt x="7" y="3194"/>
                    <a:pt x="0" y="3188"/>
                    <a:pt x="0" y="3179"/>
                  </a:cubicBezTo>
                  <a:lnTo>
                    <a:pt x="0" y="2964"/>
                  </a:lnTo>
                  <a:cubicBezTo>
                    <a:pt x="0" y="2956"/>
                    <a:pt x="7" y="2949"/>
                    <a:pt x="16" y="2949"/>
                  </a:cubicBezTo>
                  <a:cubicBezTo>
                    <a:pt x="24" y="2949"/>
                    <a:pt x="31" y="2956"/>
                    <a:pt x="31" y="2964"/>
                  </a:cubicBezTo>
                  <a:close/>
                  <a:moveTo>
                    <a:pt x="31" y="3333"/>
                  </a:moveTo>
                  <a:lnTo>
                    <a:pt x="31" y="3548"/>
                  </a:lnTo>
                  <a:cubicBezTo>
                    <a:pt x="31" y="3556"/>
                    <a:pt x="24" y="3563"/>
                    <a:pt x="16" y="3563"/>
                  </a:cubicBezTo>
                  <a:cubicBezTo>
                    <a:pt x="7" y="3563"/>
                    <a:pt x="0" y="3556"/>
                    <a:pt x="0" y="3548"/>
                  </a:cubicBezTo>
                  <a:lnTo>
                    <a:pt x="0" y="3333"/>
                  </a:lnTo>
                  <a:cubicBezTo>
                    <a:pt x="0" y="3324"/>
                    <a:pt x="7" y="3317"/>
                    <a:pt x="16" y="3317"/>
                  </a:cubicBezTo>
                  <a:cubicBezTo>
                    <a:pt x="24" y="3317"/>
                    <a:pt x="31" y="3324"/>
                    <a:pt x="31" y="3333"/>
                  </a:cubicBezTo>
                  <a:close/>
                  <a:moveTo>
                    <a:pt x="31" y="3701"/>
                  </a:moveTo>
                  <a:lnTo>
                    <a:pt x="31" y="3916"/>
                  </a:lnTo>
                  <a:cubicBezTo>
                    <a:pt x="31" y="3925"/>
                    <a:pt x="24" y="3932"/>
                    <a:pt x="16" y="3932"/>
                  </a:cubicBezTo>
                  <a:cubicBezTo>
                    <a:pt x="7" y="3932"/>
                    <a:pt x="0" y="3925"/>
                    <a:pt x="0" y="3916"/>
                  </a:cubicBezTo>
                  <a:lnTo>
                    <a:pt x="0" y="3701"/>
                  </a:lnTo>
                  <a:cubicBezTo>
                    <a:pt x="0" y="3693"/>
                    <a:pt x="7" y="3686"/>
                    <a:pt x="16" y="3686"/>
                  </a:cubicBezTo>
                  <a:cubicBezTo>
                    <a:pt x="24" y="3686"/>
                    <a:pt x="31" y="3693"/>
                    <a:pt x="31" y="3701"/>
                  </a:cubicBezTo>
                  <a:close/>
                  <a:moveTo>
                    <a:pt x="31" y="4070"/>
                  </a:moveTo>
                  <a:lnTo>
                    <a:pt x="31" y="4285"/>
                  </a:lnTo>
                  <a:cubicBezTo>
                    <a:pt x="31" y="4293"/>
                    <a:pt x="24" y="4300"/>
                    <a:pt x="16" y="4300"/>
                  </a:cubicBezTo>
                  <a:cubicBezTo>
                    <a:pt x="7" y="4300"/>
                    <a:pt x="0" y="4293"/>
                    <a:pt x="0" y="4285"/>
                  </a:cubicBezTo>
                  <a:lnTo>
                    <a:pt x="0" y="4070"/>
                  </a:lnTo>
                  <a:cubicBezTo>
                    <a:pt x="0" y="4061"/>
                    <a:pt x="7" y="4055"/>
                    <a:pt x="16" y="4055"/>
                  </a:cubicBezTo>
                  <a:cubicBezTo>
                    <a:pt x="24" y="4055"/>
                    <a:pt x="31" y="4061"/>
                    <a:pt x="31" y="4070"/>
                  </a:cubicBezTo>
                  <a:close/>
                  <a:moveTo>
                    <a:pt x="31" y="4439"/>
                  </a:moveTo>
                  <a:lnTo>
                    <a:pt x="31" y="4654"/>
                  </a:lnTo>
                  <a:cubicBezTo>
                    <a:pt x="31" y="4662"/>
                    <a:pt x="24" y="4669"/>
                    <a:pt x="16" y="4669"/>
                  </a:cubicBezTo>
                  <a:cubicBezTo>
                    <a:pt x="7" y="4669"/>
                    <a:pt x="0" y="4662"/>
                    <a:pt x="0" y="4654"/>
                  </a:cubicBezTo>
                  <a:lnTo>
                    <a:pt x="0" y="4439"/>
                  </a:lnTo>
                  <a:cubicBezTo>
                    <a:pt x="0" y="4430"/>
                    <a:pt x="7" y="4423"/>
                    <a:pt x="16" y="4423"/>
                  </a:cubicBezTo>
                  <a:cubicBezTo>
                    <a:pt x="24" y="4423"/>
                    <a:pt x="31" y="4430"/>
                    <a:pt x="31" y="4439"/>
                  </a:cubicBezTo>
                  <a:close/>
                  <a:moveTo>
                    <a:pt x="31" y="4807"/>
                  </a:moveTo>
                  <a:lnTo>
                    <a:pt x="31" y="5022"/>
                  </a:lnTo>
                  <a:cubicBezTo>
                    <a:pt x="31" y="5031"/>
                    <a:pt x="24" y="5038"/>
                    <a:pt x="16" y="5038"/>
                  </a:cubicBezTo>
                  <a:cubicBezTo>
                    <a:pt x="7" y="5038"/>
                    <a:pt x="0" y="5031"/>
                    <a:pt x="0" y="5022"/>
                  </a:cubicBezTo>
                  <a:lnTo>
                    <a:pt x="0" y="4807"/>
                  </a:lnTo>
                  <a:cubicBezTo>
                    <a:pt x="0" y="4799"/>
                    <a:pt x="7" y="4792"/>
                    <a:pt x="16" y="4792"/>
                  </a:cubicBezTo>
                  <a:cubicBezTo>
                    <a:pt x="24" y="4792"/>
                    <a:pt x="31" y="4799"/>
                    <a:pt x="31" y="4807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07544DB5-AAC1-4AE1-A01A-19850E056E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5" y="1988"/>
              <a:ext cx="6" cy="914"/>
            </a:xfrm>
            <a:custGeom>
              <a:avLst/>
              <a:gdLst>
                <a:gd name="T0" fmla="*/ 31 w 31"/>
                <a:gd name="T1" fmla="*/ 230 h 4868"/>
                <a:gd name="T2" fmla="*/ 0 w 31"/>
                <a:gd name="T3" fmla="*/ 230 h 4868"/>
                <a:gd name="T4" fmla="*/ 15 w 31"/>
                <a:gd name="T5" fmla="*/ 0 h 4868"/>
                <a:gd name="T6" fmla="*/ 31 w 31"/>
                <a:gd name="T7" fmla="*/ 384 h 4868"/>
                <a:gd name="T8" fmla="*/ 15 w 31"/>
                <a:gd name="T9" fmla="*/ 614 h 4868"/>
                <a:gd name="T10" fmla="*/ 0 w 31"/>
                <a:gd name="T11" fmla="*/ 384 h 4868"/>
                <a:gd name="T12" fmla="*/ 31 w 31"/>
                <a:gd name="T13" fmla="*/ 384 h 4868"/>
                <a:gd name="T14" fmla="*/ 31 w 31"/>
                <a:gd name="T15" fmla="*/ 968 h 4868"/>
                <a:gd name="T16" fmla="*/ 0 w 31"/>
                <a:gd name="T17" fmla="*/ 968 h 4868"/>
                <a:gd name="T18" fmla="*/ 15 w 31"/>
                <a:gd name="T19" fmla="*/ 737 h 4868"/>
                <a:gd name="T20" fmla="*/ 31 w 31"/>
                <a:gd name="T21" fmla="*/ 1121 h 4868"/>
                <a:gd name="T22" fmla="*/ 15 w 31"/>
                <a:gd name="T23" fmla="*/ 1352 h 4868"/>
                <a:gd name="T24" fmla="*/ 0 w 31"/>
                <a:gd name="T25" fmla="*/ 1121 h 4868"/>
                <a:gd name="T26" fmla="*/ 31 w 31"/>
                <a:gd name="T27" fmla="*/ 1121 h 4868"/>
                <a:gd name="T28" fmla="*/ 31 w 31"/>
                <a:gd name="T29" fmla="*/ 1705 h 4868"/>
                <a:gd name="T30" fmla="*/ 0 w 31"/>
                <a:gd name="T31" fmla="*/ 1705 h 4868"/>
                <a:gd name="T32" fmla="*/ 15 w 31"/>
                <a:gd name="T33" fmla="*/ 1475 h 4868"/>
                <a:gd name="T34" fmla="*/ 31 w 31"/>
                <a:gd name="T35" fmla="*/ 1859 h 4868"/>
                <a:gd name="T36" fmla="*/ 15 w 31"/>
                <a:gd name="T37" fmla="*/ 2089 h 4868"/>
                <a:gd name="T38" fmla="*/ 0 w 31"/>
                <a:gd name="T39" fmla="*/ 1859 h 4868"/>
                <a:gd name="T40" fmla="*/ 31 w 31"/>
                <a:gd name="T41" fmla="*/ 1859 h 4868"/>
                <a:gd name="T42" fmla="*/ 31 w 31"/>
                <a:gd name="T43" fmla="*/ 2442 h 4868"/>
                <a:gd name="T44" fmla="*/ 0 w 31"/>
                <a:gd name="T45" fmla="*/ 2442 h 4868"/>
                <a:gd name="T46" fmla="*/ 15 w 31"/>
                <a:gd name="T47" fmla="*/ 2212 h 4868"/>
                <a:gd name="T48" fmla="*/ 31 w 31"/>
                <a:gd name="T49" fmla="*/ 2596 h 4868"/>
                <a:gd name="T50" fmla="*/ 15 w 31"/>
                <a:gd name="T51" fmla="*/ 2826 h 4868"/>
                <a:gd name="T52" fmla="*/ 0 w 31"/>
                <a:gd name="T53" fmla="*/ 2596 h 4868"/>
                <a:gd name="T54" fmla="*/ 31 w 31"/>
                <a:gd name="T55" fmla="*/ 2596 h 4868"/>
                <a:gd name="T56" fmla="*/ 31 w 31"/>
                <a:gd name="T57" fmla="*/ 3179 h 4868"/>
                <a:gd name="T58" fmla="*/ 0 w 31"/>
                <a:gd name="T59" fmla="*/ 3179 h 4868"/>
                <a:gd name="T60" fmla="*/ 15 w 31"/>
                <a:gd name="T61" fmla="*/ 2949 h 4868"/>
                <a:gd name="T62" fmla="*/ 31 w 31"/>
                <a:gd name="T63" fmla="*/ 3333 h 4868"/>
                <a:gd name="T64" fmla="*/ 15 w 31"/>
                <a:gd name="T65" fmla="*/ 3563 h 4868"/>
                <a:gd name="T66" fmla="*/ 0 w 31"/>
                <a:gd name="T67" fmla="*/ 3333 h 4868"/>
                <a:gd name="T68" fmla="*/ 31 w 31"/>
                <a:gd name="T69" fmla="*/ 3333 h 4868"/>
                <a:gd name="T70" fmla="*/ 31 w 31"/>
                <a:gd name="T71" fmla="*/ 3917 h 4868"/>
                <a:gd name="T72" fmla="*/ 0 w 31"/>
                <a:gd name="T73" fmla="*/ 3917 h 4868"/>
                <a:gd name="T74" fmla="*/ 15 w 31"/>
                <a:gd name="T75" fmla="*/ 3686 h 4868"/>
                <a:gd name="T76" fmla="*/ 31 w 31"/>
                <a:gd name="T77" fmla="*/ 4070 h 4868"/>
                <a:gd name="T78" fmla="*/ 15 w 31"/>
                <a:gd name="T79" fmla="*/ 4301 h 4868"/>
                <a:gd name="T80" fmla="*/ 0 w 31"/>
                <a:gd name="T81" fmla="*/ 4070 h 4868"/>
                <a:gd name="T82" fmla="*/ 31 w 31"/>
                <a:gd name="T83" fmla="*/ 4070 h 4868"/>
                <a:gd name="T84" fmla="*/ 31 w 31"/>
                <a:gd name="T85" fmla="*/ 4654 h 4868"/>
                <a:gd name="T86" fmla="*/ 0 w 31"/>
                <a:gd name="T87" fmla="*/ 4654 h 4868"/>
                <a:gd name="T88" fmla="*/ 15 w 31"/>
                <a:gd name="T89" fmla="*/ 4424 h 4868"/>
                <a:gd name="T90" fmla="*/ 31 w 31"/>
                <a:gd name="T91" fmla="*/ 4808 h 4868"/>
                <a:gd name="T92" fmla="*/ 15 w 31"/>
                <a:gd name="T93" fmla="*/ 4868 h 4868"/>
                <a:gd name="T94" fmla="*/ 0 w 31"/>
                <a:gd name="T95" fmla="*/ 4808 h 4868"/>
                <a:gd name="T96" fmla="*/ 31 w 31"/>
                <a:gd name="T97" fmla="*/ 4808 h 4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" h="4868">
                  <a:moveTo>
                    <a:pt x="31" y="15"/>
                  </a:moveTo>
                  <a:lnTo>
                    <a:pt x="31" y="230"/>
                  </a:lnTo>
                  <a:cubicBezTo>
                    <a:pt x="31" y="239"/>
                    <a:pt x="24" y="246"/>
                    <a:pt x="15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15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lose/>
                  <a:moveTo>
                    <a:pt x="31" y="384"/>
                  </a:moveTo>
                  <a:lnTo>
                    <a:pt x="31" y="599"/>
                  </a:lnTo>
                  <a:cubicBezTo>
                    <a:pt x="31" y="607"/>
                    <a:pt x="24" y="614"/>
                    <a:pt x="15" y="614"/>
                  </a:cubicBezTo>
                  <a:cubicBezTo>
                    <a:pt x="7" y="614"/>
                    <a:pt x="0" y="607"/>
                    <a:pt x="0" y="599"/>
                  </a:cubicBezTo>
                  <a:lnTo>
                    <a:pt x="0" y="384"/>
                  </a:lnTo>
                  <a:cubicBezTo>
                    <a:pt x="0" y="375"/>
                    <a:pt x="7" y="369"/>
                    <a:pt x="15" y="369"/>
                  </a:cubicBezTo>
                  <a:cubicBezTo>
                    <a:pt x="24" y="369"/>
                    <a:pt x="31" y="375"/>
                    <a:pt x="31" y="384"/>
                  </a:cubicBezTo>
                  <a:close/>
                  <a:moveTo>
                    <a:pt x="31" y="753"/>
                  </a:moveTo>
                  <a:lnTo>
                    <a:pt x="31" y="968"/>
                  </a:lnTo>
                  <a:cubicBezTo>
                    <a:pt x="31" y="976"/>
                    <a:pt x="24" y="983"/>
                    <a:pt x="15" y="983"/>
                  </a:cubicBezTo>
                  <a:cubicBezTo>
                    <a:pt x="7" y="983"/>
                    <a:pt x="0" y="976"/>
                    <a:pt x="0" y="968"/>
                  </a:cubicBezTo>
                  <a:lnTo>
                    <a:pt x="0" y="753"/>
                  </a:lnTo>
                  <a:cubicBezTo>
                    <a:pt x="0" y="744"/>
                    <a:pt x="7" y="737"/>
                    <a:pt x="15" y="737"/>
                  </a:cubicBezTo>
                  <a:cubicBezTo>
                    <a:pt x="24" y="737"/>
                    <a:pt x="31" y="744"/>
                    <a:pt x="31" y="753"/>
                  </a:cubicBezTo>
                  <a:close/>
                  <a:moveTo>
                    <a:pt x="31" y="1121"/>
                  </a:moveTo>
                  <a:lnTo>
                    <a:pt x="31" y="1336"/>
                  </a:lnTo>
                  <a:cubicBezTo>
                    <a:pt x="31" y="1345"/>
                    <a:pt x="24" y="1352"/>
                    <a:pt x="15" y="1352"/>
                  </a:cubicBezTo>
                  <a:cubicBezTo>
                    <a:pt x="7" y="1352"/>
                    <a:pt x="0" y="1345"/>
                    <a:pt x="0" y="1336"/>
                  </a:cubicBezTo>
                  <a:lnTo>
                    <a:pt x="0" y="1121"/>
                  </a:lnTo>
                  <a:cubicBezTo>
                    <a:pt x="0" y="1113"/>
                    <a:pt x="7" y="1106"/>
                    <a:pt x="15" y="1106"/>
                  </a:cubicBezTo>
                  <a:cubicBezTo>
                    <a:pt x="24" y="1106"/>
                    <a:pt x="31" y="1113"/>
                    <a:pt x="31" y="1121"/>
                  </a:cubicBezTo>
                  <a:close/>
                  <a:moveTo>
                    <a:pt x="31" y="1490"/>
                  </a:moveTo>
                  <a:lnTo>
                    <a:pt x="31" y="1705"/>
                  </a:lnTo>
                  <a:cubicBezTo>
                    <a:pt x="31" y="1713"/>
                    <a:pt x="24" y="1720"/>
                    <a:pt x="15" y="1720"/>
                  </a:cubicBezTo>
                  <a:cubicBezTo>
                    <a:pt x="7" y="1720"/>
                    <a:pt x="0" y="1713"/>
                    <a:pt x="0" y="1705"/>
                  </a:cubicBezTo>
                  <a:lnTo>
                    <a:pt x="0" y="1490"/>
                  </a:lnTo>
                  <a:cubicBezTo>
                    <a:pt x="0" y="1481"/>
                    <a:pt x="7" y="1475"/>
                    <a:pt x="15" y="1475"/>
                  </a:cubicBezTo>
                  <a:cubicBezTo>
                    <a:pt x="24" y="1475"/>
                    <a:pt x="31" y="1481"/>
                    <a:pt x="31" y="1490"/>
                  </a:cubicBezTo>
                  <a:close/>
                  <a:moveTo>
                    <a:pt x="31" y="1859"/>
                  </a:moveTo>
                  <a:lnTo>
                    <a:pt x="31" y="2074"/>
                  </a:lnTo>
                  <a:cubicBezTo>
                    <a:pt x="31" y="2082"/>
                    <a:pt x="24" y="2089"/>
                    <a:pt x="15" y="2089"/>
                  </a:cubicBezTo>
                  <a:cubicBezTo>
                    <a:pt x="7" y="2089"/>
                    <a:pt x="0" y="2082"/>
                    <a:pt x="0" y="2074"/>
                  </a:cubicBezTo>
                  <a:lnTo>
                    <a:pt x="0" y="1859"/>
                  </a:lnTo>
                  <a:cubicBezTo>
                    <a:pt x="0" y="1850"/>
                    <a:pt x="7" y="1843"/>
                    <a:pt x="15" y="1843"/>
                  </a:cubicBezTo>
                  <a:cubicBezTo>
                    <a:pt x="24" y="1843"/>
                    <a:pt x="31" y="1850"/>
                    <a:pt x="31" y="1859"/>
                  </a:cubicBezTo>
                  <a:close/>
                  <a:moveTo>
                    <a:pt x="31" y="2227"/>
                  </a:moveTo>
                  <a:lnTo>
                    <a:pt x="31" y="2442"/>
                  </a:lnTo>
                  <a:cubicBezTo>
                    <a:pt x="31" y="2451"/>
                    <a:pt x="24" y="2458"/>
                    <a:pt x="15" y="2458"/>
                  </a:cubicBezTo>
                  <a:cubicBezTo>
                    <a:pt x="7" y="2458"/>
                    <a:pt x="0" y="2451"/>
                    <a:pt x="0" y="2442"/>
                  </a:cubicBezTo>
                  <a:lnTo>
                    <a:pt x="0" y="2227"/>
                  </a:lnTo>
                  <a:cubicBezTo>
                    <a:pt x="0" y="2219"/>
                    <a:pt x="7" y="2212"/>
                    <a:pt x="15" y="2212"/>
                  </a:cubicBezTo>
                  <a:cubicBezTo>
                    <a:pt x="24" y="2212"/>
                    <a:pt x="31" y="2219"/>
                    <a:pt x="31" y="2227"/>
                  </a:cubicBezTo>
                  <a:close/>
                  <a:moveTo>
                    <a:pt x="31" y="2596"/>
                  </a:moveTo>
                  <a:lnTo>
                    <a:pt x="31" y="2811"/>
                  </a:lnTo>
                  <a:cubicBezTo>
                    <a:pt x="31" y="2819"/>
                    <a:pt x="24" y="2826"/>
                    <a:pt x="15" y="2826"/>
                  </a:cubicBezTo>
                  <a:cubicBezTo>
                    <a:pt x="7" y="2826"/>
                    <a:pt x="0" y="2819"/>
                    <a:pt x="0" y="2811"/>
                  </a:cubicBezTo>
                  <a:lnTo>
                    <a:pt x="0" y="2596"/>
                  </a:lnTo>
                  <a:cubicBezTo>
                    <a:pt x="0" y="2587"/>
                    <a:pt x="7" y="2580"/>
                    <a:pt x="15" y="2580"/>
                  </a:cubicBezTo>
                  <a:cubicBezTo>
                    <a:pt x="24" y="2580"/>
                    <a:pt x="31" y="2587"/>
                    <a:pt x="31" y="2596"/>
                  </a:cubicBezTo>
                  <a:close/>
                  <a:moveTo>
                    <a:pt x="31" y="2964"/>
                  </a:moveTo>
                  <a:lnTo>
                    <a:pt x="31" y="3179"/>
                  </a:lnTo>
                  <a:cubicBezTo>
                    <a:pt x="31" y="3188"/>
                    <a:pt x="24" y="3195"/>
                    <a:pt x="15" y="3195"/>
                  </a:cubicBezTo>
                  <a:cubicBezTo>
                    <a:pt x="7" y="3195"/>
                    <a:pt x="0" y="3188"/>
                    <a:pt x="0" y="3179"/>
                  </a:cubicBezTo>
                  <a:lnTo>
                    <a:pt x="0" y="2964"/>
                  </a:lnTo>
                  <a:cubicBezTo>
                    <a:pt x="0" y="2956"/>
                    <a:pt x="7" y="2949"/>
                    <a:pt x="15" y="2949"/>
                  </a:cubicBezTo>
                  <a:cubicBezTo>
                    <a:pt x="24" y="2949"/>
                    <a:pt x="31" y="2956"/>
                    <a:pt x="31" y="2964"/>
                  </a:cubicBezTo>
                  <a:close/>
                  <a:moveTo>
                    <a:pt x="31" y="3333"/>
                  </a:moveTo>
                  <a:lnTo>
                    <a:pt x="31" y="3548"/>
                  </a:lnTo>
                  <a:cubicBezTo>
                    <a:pt x="31" y="3557"/>
                    <a:pt x="24" y="3563"/>
                    <a:pt x="15" y="3563"/>
                  </a:cubicBezTo>
                  <a:cubicBezTo>
                    <a:pt x="7" y="3563"/>
                    <a:pt x="0" y="3557"/>
                    <a:pt x="0" y="3548"/>
                  </a:cubicBezTo>
                  <a:lnTo>
                    <a:pt x="0" y="3333"/>
                  </a:lnTo>
                  <a:cubicBezTo>
                    <a:pt x="0" y="3325"/>
                    <a:pt x="7" y="3318"/>
                    <a:pt x="15" y="3318"/>
                  </a:cubicBezTo>
                  <a:cubicBezTo>
                    <a:pt x="24" y="3318"/>
                    <a:pt x="31" y="3325"/>
                    <a:pt x="31" y="3333"/>
                  </a:cubicBezTo>
                  <a:close/>
                  <a:moveTo>
                    <a:pt x="31" y="3702"/>
                  </a:moveTo>
                  <a:lnTo>
                    <a:pt x="31" y="3917"/>
                  </a:lnTo>
                  <a:cubicBezTo>
                    <a:pt x="31" y="3925"/>
                    <a:pt x="24" y="3932"/>
                    <a:pt x="15" y="3932"/>
                  </a:cubicBezTo>
                  <a:cubicBezTo>
                    <a:pt x="7" y="3932"/>
                    <a:pt x="0" y="3925"/>
                    <a:pt x="0" y="3917"/>
                  </a:cubicBezTo>
                  <a:lnTo>
                    <a:pt x="0" y="3702"/>
                  </a:lnTo>
                  <a:cubicBezTo>
                    <a:pt x="0" y="3693"/>
                    <a:pt x="7" y="3686"/>
                    <a:pt x="15" y="3686"/>
                  </a:cubicBezTo>
                  <a:cubicBezTo>
                    <a:pt x="24" y="3686"/>
                    <a:pt x="31" y="3693"/>
                    <a:pt x="31" y="3702"/>
                  </a:cubicBezTo>
                  <a:close/>
                  <a:moveTo>
                    <a:pt x="31" y="4070"/>
                  </a:moveTo>
                  <a:lnTo>
                    <a:pt x="31" y="4285"/>
                  </a:lnTo>
                  <a:cubicBezTo>
                    <a:pt x="31" y="4294"/>
                    <a:pt x="24" y="4301"/>
                    <a:pt x="15" y="4301"/>
                  </a:cubicBezTo>
                  <a:cubicBezTo>
                    <a:pt x="7" y="4301"/>
                    <a:pt x="0" y="4294"/>
                    <a:pt x="0" y="4285"/>
                  </a:cubicBezTo>
                  <a:lnTo>
                    <a:pt x="0" y="4070"/>
                  </a:lnTo>
                  <a:cubicBezTo>
                    <a:pt x="0" y="4062"/>
                    <a:pt x="7" y="4055"/>
                    <a:pt x="15" y="4055"/>
                  </a:cubicBezTo>
                  <a:cubicBezTo>
                    <a:pt x="24" y="4055"/>
                    <a:pt x="31" y="4062"/>
                    <a:pt x="31" y="4070"/>
                  </a:cubicBezTo>
                  <a:close/>
                  <a:moveTo>
                    <a:pt x="31" y="4439"/>
                  </a:moveTo>
                  <a:lnTo>
                    <a:pt x="31" y="4654"/>
                  </a:lnTo>
                  <a:cubicBezTo>
                    <a:pt x="31" y="4663"/>
                    <a:pt x="24" y="4669"/>
                    <a:pt x="15" y="4669"/>
                  </a:cubicBezTo>
                  <a:cubicBezTo>
                    <a:pt x="7" y="4669"/>
                    <a:pt x="0" y="4663"/>
                    <a:pt x="0" y="4654"/>
                  </a:cubicBezTo>
                  <a:lnTo>
                    <a:pt x="0" y="4439"/>
                  </a:lnTo>
                  <a:cubicBezTo>
                    <a:pt x="0" y="4431"/>
                    <a:pt x="7" y="4424"/>
                    <a:pt x="15" y="4424"/>
                  </a:cubicBezTo>
                  <a:cubicBezTo>
                    <a:pt x="24" y="4424"/>
                    <a:pt x="31" y="4431"/>
                    <a:pt x="31" y="4439"/>
                  </a:cubicBezTo>
                  <a:close/>
                  <a:moveTo>
                    <a:pt x="31" y="4808"/>
                  </a:moveTo>
                  <a:lnTo>
                    <a:pt x="31" y="4853"/>
                  </a:lnTo>
                  <a:cubicBezTo>
                    <a:pt x="31" y="4862"/>
                    <a:pt x="24" y="4868"/>
                    <a:pt x="15" y="4868"/>
                  </a:cubicBezTo>
                  <a:cubicBezTo>
                    <a:pt x="7" y="4868"/>
                    <a:pt x="0" y="4862"/>
                    <a:pt x="0" y="4853"/>
                  </a:cubicBezTo>
                  <a:lnTo>
                    <a:pt x="0" y="4808"/>
                  </a:lnTo>
                  <a:cubicBezTo>
                    <a:pt x="0" y="4799"/>
                    <a:pt x="7" y="4792"/>
                    <a:pt x="15" y="4792"/>
                  </a:cubicBezTo>
                  <a:cubicBezTo>
                    <a:pt x="24" y="4792"/>
                    <a:pt x="31" y="4799"/>
                    <a:pt x="31" y="4808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046D627E-8016-4AF0-902B-F85AD9A42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4" y="1989"/>
              <a:ext cx="9" cy="913"/>
            </a:xfrm>
            <a:custGeom>
              <a:avLst/>
              <a:gdLst>
                <a:gd name="T0" fmla="*/ 31 w 46"/>
                <a:gd name="T1" fmla="*/ 230 h 4862"/>
                <a:gd name="T2" fmla="*/ 0 w 46"/>
                <a:gd name="T3" fmla="*/ 230 h 4862"/>
                <a:gd name="T4" fmla="*/ 15 w 46"/>
                <a:gd name="T5" fmla="*/ 0 h 4862"/>
                <a:gd name="T6" fmla="*/ 32 w 46"/>
                <a:gd name="T7" fmla="*/ 384 h 4862"/>
                <a:gd name="T8" fmla="*/ 17 w 46"/>
                <a:gd name="T9" fmla="*/ 614 h 4862"/>
                <a:gd name="T10" fmla="*/ 1 w 46"/>
                <a:gd name="T11" fmla="*/ 384 h 4862"/>
                <a:gd name="T12" fmla="*/ 32 w 46"/>
                <a:gd name="T13" fmla="*/ 384 h 4862"/>
                <a:gd name="T14" fmla="*/ 33 w 46"/>
                <a:gd name="T15" fmla="*/ 968 h 4862"/>
                <a:gd name="T16" fmla="*/ 3 w 46"/>
                <a:gd name="T17" fmla="*/ 968 h 4862"/>
                <a:gd name="T18" fmla="*/ 17 w 46"/>
                <a:gd name="T19" fmla="*/ 737 h 4862"/>
                <a:gd name="T20" fmla="*/ 34 w 46"/>
                <a:gd name="T21" fmla="*/ 1121 h 4862"/>
                <a:gd name="T22" fmla="*/ 19 w 46"/>
                <a:gd name="T23" fmla="*/ 1352 h 4862"/>
                <a:gd name="T24" fmla="*/ 3 w 46"/>
                <a:gd name="T25" fmla="*/ 1121 h 4862"/>
                <a:gd name="T26" fmla="*/ 34 w 46"/>
                <a:gd name="T27" fmla="*/ 1121 h 4862"/>
                <a:gd name="T28" fmla="*/ 36 w 46"/>
                <a:gd name="T29" fmla="*/ 1705 h 4862"/>
                <a:gd name="T30" fmla="*/ 5 w 46"/>
                <a:gd name="T31" fmla="*/ 1705 h 4862"/>
                <a:gd name="T32" fmla="*/ 20 w 46"/>
                <a:gd name="T33" fmla="*/ 1475 h 4862"/>
                <a:gd name="T34" fmla="*/ 36 w 46"/>
                <a:gd name="T35" fmla="*/ 1859 h 4862"/>
                <a:gd name="T36" fmla="*/ 22 w 46"/>
                <a:gd name="T37" fmla="*/ 2089 h 4862"/>
                <a:gd name="T38" fmla="*/ 6 w 46"/>
                <a:gd name="T39" fmla="*/ 1859 h 4862"/>
                <a:gd name="T40" fmla="*/ 36 w 46"/>
                <a:gd name="T41" fmla="*/ 1859 h 4862"/>
                <a:gd name="T42" fmla="*/ 38 w 46"/>
                <a:gd name="T43" fmla="*/ 2442 h 4862"/>
                <a:gd name="T44" fmla="*/ 7 w 46"/>
                <a:gd name="T45" fmla="*/ 2442 h 4862"/>
                <a:gd name="T46" fmla="*/ 22 w 46"/>
                <a:gd name="T47" fmla="*/ 2212 h 4862"/>
                <a:gd name="T48" fmla="*/ 39 w 46"/>
                <a:gd name="T49" fmla="*/ 2596 h 4862"/>
                <a:gd name="T50" fmla="*/ 24 w 46"/>
                <a:gd name="T51" fmla="*/ 2826 h 4862"/>
                <a:gd name="T52" fmla="*/ 8 w 46"/>
                <a:gd name="T53" fmla="*/ 2596 h 4862"/>
                <a:gd name="T54" fmla="*/ 39 w 46"/>
                <a:gd name="T55" fmla="*/ 2596 h 4862"/>
                <a:gd name="T56" fmla="*/ 41 w 46"/>
                <a:gd name="T57" fmla="*/ 3179 h 4862"/>
                <a:gd name="T58" fmla="*/ 10 w 46"/>
                <a:gd name="T59" fmla="*/ 3180 h 4862"/>
                <a:gd name="T60" fmla="*/ 24 w 46"/>
                <a:gd name="T61" fmla="*/ 2949 h 4862"/>
                <a:gd name="T62" fmla="*/ 41 w 46"/>
                <a:gd name="T63" fmla="*/ 3333 h 4862"/>
                <a:gd name="T64" fmla="*/ 26 w 46"/>
                <a:gd name="T65" fmla="*/ 3564 h 4862"/>
                <a:gd name="T66" fmla="*/ 10 w 46"/>
                <a:gd name="T67" fmla="*/ 3333 h 4862"/>
                <a:gd name="T68" fmla="*/ 41 w 46"/>
                <a:gd name="T69" fmla="*/ 3333 h 4862"/>
                <a:gd name="T70" fmla="*/ 43 w 46"/>
                <a:gd name="T71" fmla="*/ 3917 h 4862"/>
                <a:gd name="T72" fmla="*/ 12 w 46"/>
                <a:gd name="T73" fmla="*/ 3917 h 4862"/>
                <a:gd name="T74" fmla="*/ 27 w 46"/>
                <a:gd name="T75" fmla="*/ 3686 h 4862"/>
                <a:gd name="T76" fmla="*/ 43 w 46"/>
                <a:gd name="T77" fmla="*/ 4070 h 4862"/>
                <a:gd name="T78" fmla="*/ 29 w 46"/>
                <a:gd name="T79" fmla="*/ 4301 h 4862"/>
                <a:gd name="T80" fmla="*/ 13 w 46"/>
                <a:gd name="T81" fmla="*/ 4070 h 4862"/>
                <a:gd name="T82" fmla="*/ 43 w 46"/>
                <a:gd name="T83" fmla="*/ 4070 h 4862"/>
                <a:gd name="T84" fmla="*/ 45 w 46"/>
                <a:gd name="T85" fmla="*/ 4654 h 4862"/>
                <a:gd name="T86" fmla="*/ 15 w 46"/>
                <a:gd name="T87" fmla="*/ 4654 h 4862"/>
                <a:gd name="T88" fmla="*/ 29 w 46"/>
                <a:gd name="T89" fmla="*/ 4424 h 4862"/>
                <a:gd name="T90" fmla="*/ 46 w 46"/>
                <a:gd name="T91" fmla="*/ 4808 h 4862"/>
                <a:gd name="T92" fmla="*/ 31 w 46"/>
                <a:gd name="T93" fmla="*/ 4862 h 4862"/>
                <a:gd name="T94" fmla="*/ 15 w 46"/>
                <a:gd name="T95" fmla="*/ 4808 h 4862"/>
                <a:gd name="T96" fmla="*/ 46 w 46"/>
                <a:gd name="T97" fmla="*/ 4808 h 4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6" h="4862">
                  <a:moveTo>
                    <a:pt x="30" y="15"/>
                  </a:moveTo>
                  <a:lnTo>
                    <a:pt x="31" y="230"/>
                  </a:lnTo>
                  <a:cubicBezTo>
                    <a:pt x="31" y="239"/>
                    <a:pt x="24" y="246"/>
                    <a:pt x="16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15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0" y="7"/>
                    <a:pt x="30" y="15"/>
                  </a:cubicBezTo>
                  <a:close/>
                  <a:moveTo>
                    <a:pt x="32" y="384"/>
                  </a:moveTo>
                  <a:lnTo>
                    <a:pt x="32" y="599"/>
                  </a:lnTo>
                  <a:cubicBezTo>
                    <a:pt x="32" y="607"/>
                    <a:pt x="25" y="614"/>
                    <a:pt x="17" y="614"/>
                  </a:cubicBezTo>
                  <a:cubicBezTo>
                    <a:pt x="9" y="614"/>
                    <a:pt x="2" y="608"/>
                    <a:pt x="2" y="599"/>
                  </a:cubicBezTo>
                  <a:lnTo>
                    <a:pt x="1" y="384"/>
                  </a:lnTo>
                  <a:cubicBezTo>
                    <a:pt x="1" y="376"/>
                    <a:pt x="8" y="369"/>
                    <a:pt x="16" y="369"/>
                  </a:cubicBezTo>
                  <a:cubicBezTo>
                    <a:pt x="25" y="369"/>
                    <a:pt x="32" y="375"/>
                    <a:pt x="32" y="384"/>
                  </a:cubicBezTo>
                  <a:close/>
                  <a:moveTo>
                    <a:pt x="33" y="753"/>
                  </a:moveTo>
                  <a:lnTo>
                    <a:pt x="33" y="968"/>
                  </a:lnTo>
                  <a:cubicBezTo>
                    <a:pt x="34" y="976"/>
                    <a:pt x="27" y="983"/>
                    <a:pt x="18" y="983"/>
                  </a:cubicBezTo>
                  <a:cubicBezTo>
                    <a:pt x="10" y="983"/>
                    <a:pt x="3" y="976"/>
                    <a:pt x="3" y="968"/>
                  </a:cubicBezTo>
                  <a:lnTo>
                    <a:pt x="2" y="753"/>
                  </a:lnTo>
                  <a:cubicBezTo>
                    <a:pt x="2" y="744"/>
                    <a:pt x="9" y="737"/>
                    <a:pt x="17" y="737"/>
                  </a:cubicBezTo>
                  <a:cubicBezTo>
                    <a:pt x="26" y="737"/>
                    <a:pt x="33" y="744"/>
                    <a:pt x="33" y="753"/>
                  </a:cubicBezTo>
                  <a:close/>
                  <a:moveTo>
                    <a:pt x="34" y="1121"/>
                  </a:moveTo>
                  <a:lnTo>
                    <a:pt x="35" y="1336"/>
                  </a:lnTo>
                  <a:cubicBezTo>
                    <a:pt x="35" y="1345"/>
                    <a:pt x="28" y="1352"/>
                    <a:pt x="19" y="1352"/>
                  </a:cubicBezTo>
                  <a:cubicBezTo>
                    <a:pt x="11" y="1352"/>
                    <a:pt x="4" y="1345"/>
                    <a:pt x="4" y="1336"/>
                  </a:cubicBezTo>
                  <a:lnTo>
                    <a:pt x="3" y="1121"/>
                  </a:lnTo>
                  <a:cubicBezTo>
                    <a:pt x="3" y="1113"/>
                    <a:pt x="10" y="1106"/>
                    <a:pt x="19" y="1106"/>
                  </a:cubicBezTo>
                  <a:cubicBezTo>
                    <a:pt x="27" y="1106"/>
                    <a:pt x="34" y="1113"/>
                    <a:pt x="34" y="1121"/>
                  </a:cubicBezTo>
                  <a:close/>
                  <a:moveTo>
                    <a:pt x="35" y="1490"/>
                  </a:moveTo>
                  <a:lnTo>
                    <a:pt x="36" y="1705"/>
                  </a:lnTo>
                  <a:cubicBezTo>
                    <a:pt x="36" y="1713"/>
                    <a:pt x="29" y="1720"/>
                    <a:pt x="21" y="1720"/>
                  </a:cubicBezTo>
                  <a:cubicBezTo>
                    <a:pt x="12" y="1720"/>
                    <a:pt x="5" y="1713"/>
                    <a:pt x="5" y="1705"/>
                  </a:cubicBezTo>
                  <a:lnTo>
                    <a:pt x="4" y="1490"/>
                  </a:lnTo>
                  <a:cubicBezTo>
                    <a:pt x="4" y="1481"/>
                    <a:pt x="11" y="1475"/>
                    <a:pt x="20" y="1475"/>
                  </a:cubicBezTo>
                  <a:cubicBezTo>
                    <a:pt x="28" y="1475"/>
                    <a:pt x="35" y="1481"/>
                    <a:pt x="35" y="1490"/>
                  </a:cubicBezTo>
                  <a:close/>
                  <a:moveTo>
                    <a:pt x="36" y="1859"/>
                  </a:moveTo>
                  <a:lnTo>
                    <a:pt x="37" y="2074"/>
                  </a:lnTo>
                  <a:cubicBezTo>
                    <a:pt x="37" y="2082"/>
                    <a:pt x="30" y="2089"/>
                    <a:pt x="22" y="2089"/>
                  </a:cubicBezTo>
                  <a:cubicBezTo>
                    <a:pt x="13" y="2089"/>
                    <a:pt x="6" y="2082"/>
                    <a:pt x="6" y="2074"/>
                  </a:cubicBezTo>
                  <a:lnTo>
                    <a:pt x="6" y="1859"/>
                  </a:lnTo>
                  <a:cubicBezTo>
                    <a:pt x="6" y="1850"/>
                    <a:pt x="12" y="1843"/>
                    <a:pt x="21" y="1843"/>
                  </a:cubicBezTo>
                  <a:cubicBezTo>
                    <a:pt x="29" y="1843"/>
                    <a:pt x="36" y="1850"/>
                    <a:pt x="36" y="1859"/>
                  </a:cubicBezTo>
                  <a:close/>
                  <a:moveTo>
                    <a:pt x="37" y="2227"/>
                  </a:moveTo>
                  <a:lnTo>
                    <a:pt x="38" y="2442"/>
                  </a:lnTo>
                  <a:cubicBezTo>
                    <a:pt x="38" y="2451"/>
                    <a:pt x="31" y="2458"/>
                    <a:pt x="23" y="2458"/>
                  </a:cubicBezTo>
                  <a:cubicBezTo>
                    <a:pt x="14" y="2458"/>
                    <a:pt x="7" y="2451"/>
                    <a:pt x="7" y="2442"/>
                  </a:cubicBezTo>
                  <a:lnTo>
                    <a:pt x="7" y="2227"/>
                  </a:lnTo>
                  <a:cubicBezTo>
                    <a:pt x="7" y="2219"/>
                    <a:pt x="14" y="2212"/>
                    <a:pt x="22" y="2212"/>
                  </a:cubicBezTo>
                  <a:cubicBezTo>
                    <a:pt x="31" y="2212"/>
                    <a:pt x="37" y="2219"/>
                    <a:pt x="37" y="2227"/>
                  </a:cubicBezTo>
                  <a:close/>
                  <a:moveTo>
                    <a:pt x="39" y="2596"/>
                  </a:moveTo>
                  <a:lnTo>
                    <a:pt x="39" y="2811"/>
                  </a:lnTo>
                  <a:cubicBezTo>
                    <a:pt x="39" y="2819"/>
                    <a:pt x="33" y="2826"/>
                    <a:pt x="24" y="2826"/>
                  </a:cubicBezTo>
                  <a:cubicBezTo>
                    <a:pt x="16" y="2826"/>
                    <a:pt x="9" y="2819"/>
                    <a:pt x="9" y="2811"/>
                  </a:cubicBezTo>
                  <a:lnTo>
                    <a:pt x="8" y="2596"/>
                  </a:lnTo>
                  <a:cubicBezTo>
                    <a:pt x="8" y="2587"/>
                    <a:pt x="15" y="2581"/>
                    <a:pt x="23" y="2580"/>
                  </a:cubicBezTo>
                  <a:cubicBezTo>
                    <a:pt x="32" y="2580"/>
                    <a:pt x="39" y="2587"/>
                    <a:pt x="39" y="2596"/>
                  </a:cubicBezTo>
                  <a:close/>
                  <a:moveTo>
                    <a:pt x="40" y="2964"/>
                  </a:moveTo>
                  <a:lnTo>
                    <a:pt x="41" y="3179"/>
                  </a:lnTo>
                  <a:cubicBezTo>
                    <a:pt x="41" y="3188"/>
                    <a:pt x="34" y="3195"/>
                    <a:pt x="25" y="3195"/>
                  </a:cubicBezTo>
                  <a:cubicBezTo>
                    <a:pt x="17" y="3195"/>
                    <a:pt x="10" y="3188"/>
                    <a:pt x="10" y="3180"/>
                  </a:cubicBezTo>
                  <a:lnTo>
                    <a:pt x="9" y="2965"/>
                  </a:lnTo>
                  <a:cubicBezTo>
                    <a:pt x="9" y="2956"/>
                    <a:pt x="16" y="2949"/>
                    <a:pt x="24" y="2949"/>
                  </a:cubicBezTo>
                  <a:cubicBezTo>
                    <a:pt x="33" y="2949"/>
                    <a:pt x="40" y="2956"/>
                    <a:pt x="40" y="2964"/>
                  </a:cubicBezTo>
                  <a:close/>
                  <a:moveTo>
                    <a:pt x="41" y="3333"/>
                  </a:moveTo>
                  <a:lnTo>
                    <a:pt x="42" y="3548"/>
                  </a:lnTo>
                  <a:cubicBezTo>
                    <a:pt x="42" y="3557"/>
                    <a:pt x="35" y="3563"/>
                    <a:pt x="26" y="3564"/>
                  </a:cubicBezTo>
                  <a:cubicBezTo>
                    <a:pt x="18" y="3564"/>
                    <a:pt x="11" y="3557"/>
                    <a:pt x="11" y="3548"/>
                  </a:cubicBezTo>
                  <a:lnTo>
                    <a:pt x="10" y="3333"/>
                  </a:lnTo>
                  <a:cubicBezTo>
                    <a:pt x="10" y="3325"/>
                    <a:pt x="17" y="3318"/>
                    <a:pt x="26" y="3318"/>
                  </a:cubicBezTo>
                  <a:cubicBezTo>
                    <a:pt x="34" y="3318"/>
                    <a:pt x="41" y="3325"/>
                    <a:pt x="41" y="3333"/>
                  </a:cubicBezTo>
                  <a:close/>
                  <a:moveTo>
                    <a:pt x="42" y="3702"/>
                  </a:moveTo>
                  <a:lnTo>
                    <a:pt x="43" y="3917"/>
                  </a:lnTo>
                  <a:cubicBezTo>
                    <a:pt x="43" y="3925"/>
                    <a:pt x="36" y="3932"/>
                    <a:pt x="28" y="3932"/>
                  </a:cubicBezTo>
                  <a:cubicBezTo>
                    <a:pt x="19" y="3932"/>
                    <a:pt x="12" y="3925"/>
                    <a:pt x="12" y="3917"/>
                  </a:cubicBezTo>
                  <a:lnTo>
                    <a:pt x="11" y="3702"/>
                  </a:lnTo>
                  <a:cubicBezTo>
                    <a:pt x="11" y="3693"/>
                    <a:pt x="18" y="3686"/>
                    <a:pt x="27" y="3686"/>
                  </a:cubicBezTo>
                  <a:cubicBezTo>
                    <a:pt x="35" y="3686"/>
                    <a:pt x="42" y="3693"/>
                    <a:pt x="42" y="3702"/>
                  </a:cubicBezTo>
                  <a:close/>
                  <a:moveTo>
                    <a:pt x="43" y="4070"/>
                  </a:moveTo>
                  <a:lnTo>
                    <a:pt x="44" y="4285"/>
                  </a:lnTo>
                  <a:cubicBezTo>
                    <a:pt x="44" y="4294"/>
                    <a:pt x="37" y="4301"/>
                    <a:pt x="29" y="4301"/>
                  </a:cubicBezTo>
                  <a:cubicBezTo>
                    <a:pt x="20" y="4301"/>
                    <a:pt x="13" y="4294"/>
                    <a:pt x="13" y="4285"/>
                  </a:cubicBezTo>
                  <a:lnTo>
                    <a:pt x="13" y="4070"/>
                  </a:lnTo>
                  <a:cubicBezTo>
                    <a:pt x="13" y="4062"/>
                    <a:pt x="19" y="4055"/>
                    <a:pt x="28" y="4055"/>
                  </a:cubicBezTo>
                  <a:cubicBezTo>
                    <a:pt x="36" y="4055"/>
                    <a:pt x="43" y="4062"/>
                    <a:pt x="43" y="4070"/>
                  </a:cubicBezTo>
                  <a:close/>
                  <a:moveTo>
                    <a:pt x="45" y="4439"/>
                  </a:moveTo>
                  <a:lnTo>
                    <a:pt x="45" y="4654"/>
                  </a:lnTo>
                  <a:cubicBezTo>
                    <a:pt x="45" y="4663"/>
                    <a:pt x="38" y="4669"/>
                    <a:pt x="30" y="4669"/>
                  </a:cubicBezTo>
                  <a:cubicBezTo>
                    <a:pt x="21" y="4669"/>
                    <a:pt x="15" y="4663"/>
                    <a:pt x="15" y="4654"/>
                  </a:cubicBezTo>
                  <a:lnTo>
                    <a:pt x="14" y="4439"/>
                  </a:lnTo>
                  <a:cubicBezTo>
                    <a:pt x="14" y="4431"/>
                    <a:pt x="21" y="4424"/>
                    <a:pt x="29" y="4424"/>
                  </a:cubicBezTo>
                  <a:cubicBezTo>
                    <a:pt x="38" y="4424"/>
                    <a:pt x="45" y="4430"/>
                    <a:pt x="45" y="4439"/>
                  </a:cubicBezTo>
                  <a:close/>
                  <a:moveTo>
                    <a:pt x="46" y="4808"/>
                  </a:moveTo>
                  <a:lnTo>
                    <a:pt x="46" y="4847"/>
                  </a:lnTo>
                  <a:cubicBezTo>
                    <a:pt x="46" y="4856"/>
                    <a:pt x="39" y="4862"/>
                    <a:pt x="31" y="4862"/>
                  </a:cubicBezTo>
                  <a:cubicBezTo>
                    <a:pt x="22" y="4862"/>
                    <a:pt x="15" y="4856"/>
                    <a:pt x="15" y="4847"/>
                  </a:cubicBezTo>
                  <a:lnTo>
                    <a:pt x="15" y="4808"/>
                  </a:lnTo>
                  <a:cubicBezTo>
                    <a:pt x="15" y="4799"/>
                    <a:pt x="22" y="4792"/>
                    <a:pt x="30" y="4792"/>
                  </a:cubicBezTo>
                  <a:cubicBezTo>
                    <a:pt x="39" y="4792"/>
                    <a:pt x="46" y="4799"/>
                    <a:pt x="46" y="4808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C725A1E4-BB89-471F-89AC-17240771E2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0" y="1980"/>
              <a:ext cx="5" cy="922"/>
            </a:xfrm>
            <a:custGeom>
              <a:avLst/>
              <a:gdLst>
                <a:gd name="T0" fmla="*/ 30 w 30"/>
                <a:gd name="T1" fmla="*/ 230 h 4908"/>
                <a:gd name="T2" fmla="*/ 0 w 30"/>
                <a:gd name="T3" fmla="*/ 230 h 4908"/>
                <a:gd name="T4" fmla="*/ 15 w 30"/>
                <a:gd name="T5" fmla="*/ 0 h 4908"/>
                <a:gd name="T6" fmla="*/ 30 w 30"/>
                <a:gd name="T7" fmla="*/ 384 h 4908"/>
                <a:gd name="T8" fmla="*/ 15 w 30"/>
                <a:gd name="T9" fmla="*/ 614 h 4908"/>
                <a:gd name="T10" fmla="*/ 0 w 30"/>
                <a:gd name="T11" fmla="*/ 384 h 4908"/>
                <a:gd name="T12" fmla="*/ 30 w 30"/>
                <a:gd name="T13" fmla="*/ 384 h 4908"/>
                <a:gd name="T14" fmla="*/ 30 w 30"/>
                <a:gd name="T15" fmla="*/ 967 h 4908"/>
                <a:gd name="T16" fmla="*/ 0 w 30"/>
                <a:gd name="T17" fmla="*/ 967 h 4908"/>
                <a:gd name="T18" fmla="*/ 15 w 30"/>
                <a:gd name="T19" fmla="*/ 737 h 4908"/>
                <a:gd name="T20" fmla="*/ 30 w 30"/>
                <a:gd name="T21" fmla="*/ 1121 h 4908"/>
                <a:gd name="T22" fmla="*/ 15 w 30"/>
                <a:gd name="T23" fmla="*/ 1351 h 4908"/>
                <a:gd name="T24" fmla="*/ 0 w 30"/>
                <a:gd name="T25" fmla="*/ 1121 h 4908"/>
                <a:gd name="T26" fmla="*/ 30 w 30"/>
                <a:gd name="T27" fmla="*/ 1121 h 4908"/>
                <a:gd name="T28" fmla="*/ 30 w 30"/>
                <a:gd name="T29" fmla="*/ 1705 h 4908"/>
                <a:gd name="T30" fmla="*/ 0 w 30"/>
                <a:gd name="T31" fmla="*/ 1705 h 4908"/>
                <a:gd name="T32" fmla="*/ 15 w 30"/>
                <a:gd name="T33" fmla="*/ 1474 h 4908"/>
                <a:gd name="T34" fmla="*/ 30 w 30"/>
                <a:gd name="T35" fmla="*/ 1858 h 4908"/>
                <a:gd name="T36" fmla="*/ 15 w 30"/>
                <a:gd name="T37" fmla="*/ 2089 h 4908"/>
                <a:gd name="T38" fmla="*/ 0 w 30"/>
                <a:gd name="T39" fmla="*/ 1858 h 4908"/>
                <a:gd name="T40" fmla="*/ 30 w 30"/>
                <a:gd name="T41" fmla="*/ 1858 h 4908"/>
                <a:gd name="T42" fmla="*/ 30 w 30"/>
                <a:gd name="T43" fmla="*/ 2442 h 4908"/>
                <a:gd name="T44" fmla="*/ 0 w 30"/>
                <a:gd name="T45" fmla="*/ 2442 h 4908"/>
                <a:gd name="T46" fmla="*/ 15 w 30"/>
                <a:gd name="T47" fmla="*/ 2211 h 4908"/>
                <a:gd name="T48" fmla="*/ 30 w 30"/>
                <a:gd name="T49" fmla="*/ 2595 h 4908"/>
                <a:gd name="T50" fmla="*/ 15 w 30"/>
                <a:gd name="T51" fmla="*/ 2826 h 4908"/>
                <a:gd name="T52" fmla="*/ 0 w 30"/>
                <a:gd name="T53" fmla="*/ 2595 h 4908"/>
                <a:gd name="T54" fmla="*/ 30 w 30"/>
                <a:gd name="T55" fmla="*/ 2595 h 4908"/>
                <a:gd name="T56" fmla="*/ 30 w 30"/>
                <a:gd name="T57" fmla="*/ 3179 h 4908"/>
                <a:gd name="T58" fmla="*/ 0 w 30"/>
                <a:gd name="T59" fmla="*/ 3179 h 4908"/>
                <a:gd name="T60" fmla="*/ 15 w 30"/>
                <a:gd name="T61" fmla="*/ 2949 h 4908"/>
                <a:gd name="T62" fmla="*/ 30 w 30"/>
                <a:gd name="T63" fmla="*/ 3333 h 4908"/>
                <a:gd name="T64" fmla="*/ 15 w 30"/>
                <a:gd name="T65" fmla="*/ 3563 h 4908"/>
                <a:gd name="T66" fmla="*/ 0 w 30"/>
                <a:gd name="T67" fmla="*/ 3333 h 4908"/>
                <a:gd name="T68" fmla="*/ 30 w 30"/>
                <a:gd name="T69" fmla="*/ 3333 h 4908"/>
                <a:gd name="T70" fmla="*/ 30 w 30"/>
                <a:gd name="T71" fmla="*/ 3916 h 4908"/>
                <a:gd name="T72" fmla="*/ 0 w 30"/>
                <a:gd name="T73" fmla="*/ 3916 h 4908"/>
                <a:gd name="T74" fmla="*/ 15 w 30"/>
                <a:gd name="T75" fmla="*/ 3686 h 4908"/>
                <a:gd name="T76" fmla="*/ 30 w 30"/>
                <a:gd name="T77" fmla="*/ 4070 h 4908"/>
                <a:gd name="T78" fmla="*/ 15 w 30"/>
                <a:gd name="T79" fmla="*/ 4300 h 4908"/>
                <a:gd name="T80" fmla="*/ 0 w 30"/>
                <a:gd name="T81" fmla="*/ 4070 h 4908"/>
                <a:gd name="T82" fmla="*/ 30 w 30"/>
                <a:gd name="T83" fmla="*/ 4070 h 4908"/>
                <a:gd name="T84" fmla="*/ 30 w 30"/>
                <a:gd name="T85" fmla="*/ 4654 h 4908"/>
                <a:gd name="T86" fmla="*/ 0 w 30"/>
                <a:gd name="T87" fmla="*/ 4654 h 4908"/>
                <a:gd name="T88" fmla="*/ 15 w 30"/>
                <a:gd name="T89" fmla="*/ 4423 h 4908"/>
                <a:gd name="T90" fmla="*/ 30 w 30"/>
                <a:gd name="T91" fmla="*/ 4807 h 4908"/>
                <a:gd name="T92" fmla="*/ 15 w 30"/>
                <a:gd name="T93" fmla="*/ 4908 h 4908"/>
                <a:gd name="T94" fmla="*/ 0 w 30"/>
                <a:gd name="T95" fmla="*/ 4807 h 4908"/>
                <a:gd name="T96" fmla="*/ 30 w 30"/>
                <a:gd name="T97" fmla="*/ 4807 h 4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" h="4908">
                  <a:moveTo>
                    <a:pt x="30" y="15"/>
                  </a:moveTo>
                  <a:lnTo>
                    <a:pt x="30" y="230"/>
                  </a:lnTo>
                  <a:cubicBezTo>
                    <a:pt x="30" y="239"/>
                    <a:pt x="23" y="245"/>
                    <a:pt x="15" y="245"/>
                  </a:cubicBezTo>
                  <a:cubicBezTo>
                    <a:pt x="6" y="245"/>
                    <a:pt x="0" y="239"/>
                    <a:pt x="0" y="230"/>
                  </a:cubicBezTo>
                  <a:lnTo>
                    <a:pt x="0" y="15"/>
                  </a:lnTo>
                  <a:cubicBezTo>
                    <a:pt x="0" y="7"/>
                    <a:pt x="6" y="0"/>
                    <a:pt x="15" y="0"/>
                  </a:cubicBezTo>
                  <a:cubicBezTo>
                    <a:pt x="23" y="0"/>
                    <a:pt x="30" y="7"/>
                    <a:pt x="30" y="15"/>
                  </a:cubicBezTo>
                  <a:close/>
                  <a:moveTo>
                    <a:pt x="30" y="384"/>
                  </a:moveTo>
                  <a:lnTo>
                    <a:pt x="30" y="599"/>
                  </a:lnTo>
                  <a:cubicBezTo>
                    <a:pt x="30" y="607"/>
                    <a:pt x="23" y="614"/>
                    <a:pt x="15" y="614"/>
                  </a:cubicBezTo>
                  <a:cubicBezTo>
                    <a:pt x="6" y="614"/>
                    <a:pt x="0" y="607"/>
                    <a:pt x="0" y="599"/>
                  </a:cubicBezTo>
                  <a:lnTo>
                    <a:pt x="0" y="384"/>
                  </a:lnTo>
                  <a:cubicBezTo>
                    <a:pt x="0" y="375"/>
                    <a:pt x="6" y="368"/>
                    <a:pt x="15" y="368"/>
                  </a:cubicBezTo>
                  <a:cubicBezTo>
                    <a:pt x="23" y="368"/>
                    <a:pt x="30" y="375"/>
                    <a:pt x="30" y="384"/>
                  </a:cubicBezTo>
                  <a:close/>
                  <a:moveTo>
                    <a:pt x="30" y="752"/>
                  </a:moveTo>
                  <a:lnTo>
                    <a:pt x="30" y="967"/>
                  </a:lnTo>
                  <a:cubicBezTo>
                    <a:pt x="30" y="976"/>
                    <a:pt x="23" y="983"/>
                    <a:pt x="15" y="983"/>
                  </a:cubicBezTo>
                  <a:cubicBezTo>
                    <a:pt x="6" y="983"/>
                    <a:pt x="0" y="976"/>
                    <a:pt x="0" y="967"/>
                  </a:cubicBezTo>
                  <a:lnTo>
                    <a:pt x="0" y="752"/>
                  </a:lnTo>
                  <a:cubicBezTo>
                    <a:pt x="0" y="744"/>
                    <a:pt x="6" y="737"/>
                    <a:pt x="15" y="737"/>
                  </a:cubicBezTo>
                  <a:cubicBezTo>
                    <a:pt x="23" y="737"/>
                    <a:pt x="30" y="744"/>
                    <a:pt x="30" y="752"/>
                  </a:cubicBezTo>
                  <a:close/>
                  <a:moveTo>
                    <a:pt x="30" y="1121"/>
                  </a:moveTo>
                  <a:lnTo>
                    <a:pt x="30" y="1336"/>
                  </a:lnTo>
                  <a:cubicBezTo>
                    <a:pt x="30" y="1344"/>
                    <a:pt x="23" y="1351"/>
                    <a:pt x="15" y="1351"/>
                  </a:cubicBezTo>
                  <a:cubicBezTo>
                    <a:pt x="6" y="1351"/>
                    <a:pt x="0" y="1344"/>
                    <a:pt x="0" y="1336"/>
                  </a:cubicBezTo>
                  <a:lnTo>
                    <a:pt x="0" y="1121"/>
                  </a:lnTo>
                  <a:cubicBezTo>
                    <a:pt x="0" y="1112"/>
                    <a:pt x="6" y="1106"/>
                    <a:pt x="15" y="1106"/>
                  </a:cubicBezTo>
                  <a:cubicBezTo>
                    <a:pt x="23" y="1106"/>
                    <a:pt x="30" y="1112"/>
                    <a:pt x="30" y="1121"/>
                  </a:cubicBezTo>
                  <a:close/>
                  <a:moveTo>
                    <a:pt x="30" y="1490"/>
                  </a:moveTo>
                  <a:lnTo>
                    <a:pt x="30" y="1705"/>
                  </a:lnTo>
                  <a:cubicBezTo>
                    <a:pt x="30" y="1713"/>
                    <a:pt x="23" y="1720"/>
                    <a:pt x="15" y="1720"/>
                  </a:cubicBezTo>
                  <a:cubicBezTo>
                    <a:pt x="6" y="1720"/>
                    <a:pt x="0" y="1713"/>
                    <a:pt x="0" y="1705"/>
                  </a:cubicBezTo>
                  <a:lnTo>
                    <a:pt x="0" y="1490"/>
                  </a:lnTo>
                  <a:cubicBezTo>
                    <a:pt x="0" y="1481"/>
                    <a:pt x="6" y="1474"/>
                    <a:pt x="15" y="1474"/>
                  </a:cubicBezTo>
                  <a:cubicBezTo>
                    <a:pt x="23" y="1474"/>
                    <a:pt x="30" y="1481"/>
                    <a:pt x="30" y="1490"/>
                  </a:cubicBezTo>
                  <a:close/>
                  <a:moveTo>
                    <a:pt x="30" y="1858"/>
                  </a:moveTo>
                  <a:lnTo>
                    <a:pt x="30" y="2073"/>
                  </a:lnTo>
                  <a:cubicBezTo>
                    <a:pt x="30" y="2082"/>
                    <a:pt x="23" y="2089"/>
                    <a:pt x="15" y="2089"/>
                  </a:cubicBezTo>
                  <a:cubicBezTo>
                    <a:pt x="6" y="2089"/>
                    <a:pt x="0" y="2082"/>
                    <a:pt x="0" y="2073"/>
                  </a:cubicBezTo>
                  <a:lnTo>
                    <a:pt x="0" y="1858"/>
                  </a:lnTo>
                  <a:cubicBezTo>
                    <a:pt x="0" y="1850"/>
                    <a:pt x="6" y="1843"/>
                    <a:pt x="15" y="1843"/>
                  </a:cubicBezTo>
                  <a:cubicBezTo>
                    <a:pt x="23" y="1843"/>
                    <a:pt x="30" y="1850"/>
                    <a:pt x="30" y="1858"/>
                  </a:cubicBezTo>
                  <a:close/>
                  <a:moveTo>
                    <a:pt x="30" y="2227"/>
                  </a:moveTo>
                  <a:lnTo>
                    <a:pt x="30" y="2442"/>
                  </a:lnTo>
                  <a:cubicBezTo>
                    <a:pt x="30" y="2450"/>
                    <a:pt x="23" y="2457"/>
                    <a:pt x="15" y="2457"/>
                  </a:cubicBezTo>
                  <a:cubicBezTo>
                    <a:pt x="6" y="2457"/>
                    <a:pt x="0" y="2450"/>
                    <a:pt x="0" y="2442"/>
                  </a:cubicBezTo>
                  <a:lnTo>
                    <a:pt x="0" y="2227"/>
                  </a:lnTo>
                  <a:cubicBezTo>
                    <a:pt x="0" y="2218"/>
                    <a:pt x="6" y="2211"/>
                    <a:pt x="15" y="2211"/>
                  </a:cubicBezTo>
                  <a:cubicBezTo>
                    <a:pt x="23" y="2211"/>
                    <a:pt x="30" y="2218"/>
                    <a:pt x="30" y="2227"/>
                  </a:cubicBezTo>
                  <a:close/>
                  <a:moveTo>
                    <a:pt x="30" y="2595"/>
                  </a:moveTo>
                  <a:lnTo>
                    <a:pt x="30" y="2811"/>
                  </a:lnTo>
                  <a:cubicBezTo>
                    <a:pt x="30" y="2819"/>
                    <a:pt x="23" y="2826"/>
                    <a:pt x="15" y="2826"/>
                  </a:cubicBezTo>
                  <a:cubicBezTo>
                    <a:pt x="6" y="2826"/>
                    <a:pt x="0" y="2819"/>
                    <a:pt x="0" y="2811"/>
                  </a:cubicBezTo>
                  <a:lnTo>
                    <a:pt x="0" y="2595"/>
                  </a:lnTo>
                  <a:cubicBezTo>
                    <a:pt x="0" y="2587"/>
                    <a:pt x="6" y="2580"/>
                    <a:pt x="15" y="2580"/>
                  </a:cubicBezTo>
                  <a:cubicBezTo>
                    <a:pt x="23" y="2580"/>
                    <a:pt x="30" y="2587"/>
                    <a:pt x="30" y="2595"/>
                  </a:cubicBezTo>
                  <a:close/>
                  <a:moveTo>
                    <a:pt x="30" y="2964"/>
                  </a:moveTo>
                  <a:lnTo>
                    <a:pt x="30" y="3179"/>
                  </a:lnTo>
                  <a:cubicBezTo>
                    <a:pt x="30" y="3188"/>
                    <a:pt x="23" y="3195"/>
                    <a:pt x="15" y="3195"/>
                  </a:cubicBezTo>
                  <a:cubicBezTo>
                    <a:pt x="6" y="3195"/>
                    <a:pt x="0" y="3188"/>
                    <a:pt x="0" y="3179"/>
                  </a:cubicBezTo>
                  <a:lnTo>
                    <a:pt x="0" y="2964"/>
                  </a:lnTo>
                  <a:cubicBezTo>
                    <a:pt x="0" y="2956"/>
                    <a:pt x="6" y="2949"/>
                    <a:pt x="15" y="2949"/>
                  </a:cubicBezTo>
                  <a:cubicBezTo>
                    <a:pt x="23" y="2949"/>
                    <a:pt x="30" y="2956"/>
                    <a:pt x="30" y="2964"/>
                  </a:cubicBezTo>
                  <a:close/>
                  <a:moveTo>
                    <a:pt x="30" y="3333"/>
                  </a:moveTo>
                  <a:lnTo>
                    <a:pt x="30" y="3548"/>
                  </a:lnTo>
                  <a:cubicBezTo>
                    <a:pt x="30" y="3556"/>
                    <a:pt x="23" y="3563"/>
                    <a:pt x="15" y="3563"/>
                  </a:cubicBezTo>
                  <a:cubicBezTo>
                    <a:pt x="6" y="3563"/>
                    <a:pt x="0" y="3556"/>
                    <a:pt x="0" y="3548"/>
                  </a:cubicBezTo>
                  <a:lnTo>
                    <a:pt x="0" y="3333"/>
                  </a:lnTo>
                  <a:cubicBezTo>
                    <a:pt x="0" y="3324"/>
                    <a:pt x="6" y="3317"/>
                    <a:pt x="15" y="3317"/>
                  </a:cubicBezTo>
                  <a:cubicBezTo>
                    <a:pt x="23" y="3317"/>
                    <a:pt x="30" y="3324"/>
                    <a:pt x="30" y="3333"/>
                  </a:cubicBezTo>
                  <a:close/>
                  <a:moveTo>
                    <a:pt x="30" y="3701"/>
                  </a:moveTo>
                  <a:lnTo>
                    <a:pt x="30" y="3916"/>
                  </a:lnTo>
                  <a:cubicBezTo>
                    <a:pt x="30" y="3925"/>
                    <a:pt x="23" y="3932"/>
                    <a:pt x="15" y="3932"/>
                  </a:cubicBezTo>
                  <a:cubicBezTo>
                    <a:pt x="6" y="3932"/>
                    <a:pt x="0" y="3925"/>
                    <a:pt x="0" y="3916"/>
                  </a:cubicBezTo>
                  <a:lnTo>
                    <a:pt x="0" y="3701"/>
                  </a:lnTo>
                  <a:cubicBezTo>
                    <a:pt x="0" y="3693"/>
                    <a:pt x="6" y="3686"/>
                    <a:pt x="15" y="3686"/>
                  </a:cubicBezTo>
                  <a:cubicBezTo>
                    <a:pt x="23" y="3686"/>
                    <a:pt x="30" y="3693"/>
                    <a:pt x="30" y="3701"/>
                  </a:cubicBezTo>
                  <a:close/>
                  <a:moveTo>
                    <a:pt x="30" y="4070"/>
                  </a:moveTo>
                  <a:lnTo>
                    <a:pt x="30" y="4285"/>
                  </a:lnTo>
                  <a:cubicBezTo>
                    <a:pt x="30" y="4294"/>
                    <a:pt x="23" y="4300"/>
                    <a:pt x="15" y="4300"/>
                  </a:cubicBezTo>
                  <a:cubicBezTo>
                    <a:pt x="6" y="4300"/>
                    <a:pt x="0" y="4294"/>
                    <a:pt x="0" y="4285"/>
                  </a:cubicBezTo>
                  <a:lnTo>
                    <a:pt x="0" y="4070"/>
                  </a:lnTo>
                  <a:cubicBezTo>
                    <a:pt x="0" y="4062"/>
                    <a:pt x="6" y="4055"/>
                    <a:pt x="15" y="4055"/>
                  </a:cubicBezTo>
                  <a:cubicBezTo>
                    <a:pt x="23" y="4055"/>
                    <a:pt x="30" y="4062"/>
                    <a:pt x="30" y="4070"/>
                  </a:cubicBezTo>
                  <a:close/>
                  <a:moveTo>
                    <a:pt x="30" y="4439"/>
                  </a:moveTo>
                  <a:lnTo>
                    <a:pt x="30" y="4654"/>
                  </a:lnTo>
                  <a:cubicBezTo>
                    <a:pt x="30" y="4662"/>
                    <a:pt x="23" y="4669"/>
                    <a:pt x="15" y="4669"/>
                  </a:cubicBezTo>
                  <a:cubicBezTo>
                    <a:pt x="6" y="4669"/>
                    <a:pt x="0" y="4662"/>
                    <a:pt x="0" y="4654"/>
                  </a:cubicBezTo>
                  <a:lnTo>
                    <a:pt x="0" y="4439"/>
                  </a:lnTo>
                  <a:cubicBezTo>
                    <a:pt x="0" y="4430"/>
                    <a:pt x="6" y="4423"/>
                    <a:pt x="15" y="4423"/>
                  </a:cubicBezTo>
                  <a:cubicBezTo>
                    <a:pt x="23" y="4423"/>
                    <a:pt x="30" y="4430"/>
                    <a:pt x="30" y="4439"/>
                  </a:cubicBezTo>
                  <a:close/>
                  <a:moveTo>
                    <a:pt x="30" y="4807"/>
                  </a:moveTo>
                  <a:lnTo>
                    <a:pt x="30" y="4893"/>
                  </a:lnTo>
                  <a:cubicBezTo>
                    <a:pt x="30" y="4902"/>
                    <a:pt x="23" y="4908"/>
                    <a:pt x="15" y="4908"/>
                  </a:cubicBezTo>
                  <a:cubicBezTo>
                    <a:pt x="6" y="4908"/>
                    <a:pt x="0" y="4902"/>
                    <a:pt x="0" y="4893"/>
                  </a:cubicBezTo>
                  <a:lnTo>
                    <a:pt x="0" y="4807"/>
                  </a:lnTo>
                  <a:cubicBezTo>
                    <a:pt x="0" y="4799"/>
                    <a:pt x="6" y="4792"/>
                    <a:pt x="15" y="4792"/>
                  </a:cubicBezTo>
                  <a:cubicBezTo>
                    <a:pt x="23" y="4792"/>
                    <a:pt x="30" y="4799"/>
                    <a:pt x="30" y="4807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1" name="Line 50">
              <a:extLst>
                <a:ext uri="{FF2B5EF4-FFF2-40B4-BE49-F238E27FC236}">
                  <a16:creationId xmlns:a16="http://schemas.microsoft.com/office/drawing/2014/main" id="{84B325E9-E107-4B87-8BB0-216B1D034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899"/>
              <a:ext cx="39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E95F253B-D1A2-413E-B169-5CC4AFBE0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2874"/>
              <a:ext cx="78" cy="51"/>
            </a:xfrm>
            <a:custGeom>
              <a:avLst/>
              <a:gdLst>
                <a:gd name="T0" fmla="*/ 78 w 78"/>
                <a:gd name="T1" fmla="*/ 51 h 51"/>
                <a:gd name="T2" fmla="*/ 0 w 78"/>
                <a:gd name="T3" fmla="*/ 25 h 51"/>
                <a:gd name="T4" fmla="*/ 78 w 78"/>
                <a:gd name="T5" fmla="*/ 0 h 51"/>
                <a:gd name="T6" fmla="*/ 78 w 78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78" y="51"/>
                  </a:moveTo>
                  <a:lnTo>
                    <a:pt x="0" y="25"/>
                  </a:lnTo>
                  <a:lnTo>
                    <a:pt x="78" y="0"/>
                  </a:lnTo>
                  <a:lnTo>
                    <a:pt x="78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01E268B5-A313-4532-B890-30AE02A14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4" name="Line 53">
              <a:extLst>
                <a:ext uri="{FF2B5EF4-FFF2-40B4-BE49-F238E27FC236}">
                  <a16:creationId xmlns:a16="http://schemas.microsoft.com/office/drawing/2014/main" id="{5443FA49-7971-401E-9542-CEBA79ECF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4" y="2899"/>
              <a:ext cx="84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11C6501A-427A-4C25-A6FE-4F81773A5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2874"/>
              <a:ext cx="77" cy="51"/>
            </a:xfrm>
            <a:custGeom>
              <a:avLst/>
              <a:gdLst>
                <a:gd name="T0" fmla="*/ 77 w 77"/>
                <a:gd name="T1" fmla="*/ 51 h 51"/>
                <a:gd name="T2" fmla="*/ 0 w 77"/>
                <a:gd name="T3" fmla="*/ 25 h 51"/>
                <a:gd name="T4" fmla="*/ 77 w 77"/>
                <a:gd name="T5" fmla="*/ 0 h 51"/>
                <a:gd name="T6" fmla="*/ 77 w 7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51">
                  <a:moveTo>
                    <a:pt x="77" y="51"/>
                  </a:moveTo>
                  <a:lnTo>
                    <a:pt x="0" y="25"/>
                  </a:lnTo>
                  <a:lnTo>
                    <a:pt x="77" y="0"/>
                  </a:lnTo>
                  <a:lnTo>
                    <a:pt x="7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D21B02AD-943E-4BFB-BAC8-F06062674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7" name="Line 56">
              <a:extLst>
                <a:ext uri="{FF2B5EF4-FFF2-40B4-BE49-F238E27FC236}">
                  <a16:creationId xmlns:a16="http://schemas.microsoft.com/office/drawing/2014/main" id="{A2A0ED62-11DA-4E46-91FD-04FC22DF1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1" y="2899"/>
              <a:ext cx="130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229A383F-AA43-4695-B92B-90BDCFF17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2874"/>
              <a:ext cx="77" cy="51"/>
            </a:xfrm>
            <a:custGeom>
              <a:avLst/>
              <a:gdLst>
                <a:gd name="T0" fmla="*/ 77 w 77"/>
                <a:gd name="T1" fmla="*/ 51 h 51"/>
                <a:gd name="T2" fmla="*/ 0 w 77"/>
                <a:gd name="T3" fmla="*/ 25 h 51"/>
                <a:gd name="T4" fmla="*/ 77 w 77"/>
                <a:gd name="T5" fmla="*/ 0 h 51"/>
                <a:gd name="T6" fmla="*/ 77 w 77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51">
                  <a:moveTo>
                    <a:pt x="77" y="51"/>
                  </a:moveTo>
                  <a:lnTo>
                    <a:pt x="0" y="25"/>
                  </a:lnTo>
                  <a:lnTo>
                    <a:pt x="77" y="0"/>
                  </a:lnTo>
                  <a:lnTo>
                    <a:pt x="77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DB7798F5-FD35-4AA4-97B0-B968A95EA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0" name="Line 59">
              <a:extLst>
                <a:ext uri="{FF2B5EF4-FFF2-40B4-BE49-F238E27FC236}">
                  <a16:creationId xmlns:a16="http://schemas.microsoft.com/office/drawing/2014/main" id="{151F0E47-CBCF-490B-9020-20D0EC8FE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3" y="2899"/>
              <a:ext cx="221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1" name="Freeform 60">
              <a:extLst>
                <a:ext uri="{FF2B5EF4-FFF2-40B4-BE49-F238E27FC236}">
                  <a16:creationId xmlns:a16="http://schemas.microsoft.com/office/drawing/2014/main" id="{DF6A7918-6DB0-423C-9FF1-EB9D6ACED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874"/>
              <a:ext cx="78" cy="51"/>
            </a:xfrm>
            <a:custGeom>
              <a:avLst/>
              <a:gdLst>
                <a:gd name="T0" fmla="*/ 78 w 78"/>
                <a:gd name="T1" fmla="*/ 51 h 51"/>
                <a:gd name="T2" fmla="*/ 0 w 78"/>
                <a:gd name="T3" fmla="*/ 25 h 51"/>
                <a:gd name="T4" fmla="*/ 78 w 78"/>
                <a:gd name="T5" fmla="*/ 0 h 51"/>
                <a:gd name="T6" fmla="*/ 78 w 78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78" y="51"/>
                  </a:moveTo>
                  <a:lnTo>
                    <a:pt x="0" y="25"/>
                  </a:lnTo>
                  <a:lnTo>
                    <a:pt x="78" y="0"/>
                  </a:lnTo>
                  <a:lnTo>
                    <a:pt x="78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2" name="Freeform 61">
              <a:extLst>
                <a:ext uri="{FF2B5EF4-FFF2-40B4-BE49-F238E27FC236}">
                  <a16:creationId xmlns:a16="http://schemas.microsoft.com/office/drawing/2014/main" id="{DD91BC9E-B1C2-4FE0-BBB0-ED7AAE0C0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3" name="Line 62">
              <a:extLst>
                <a:ext uri="{FF2B5EF4-FFF2-40B4-BE49-F238E27FC236}">
                  <a16:creationId xmlns:a16="http://schemas.microsoft.com/office/drawing/2014/main" id="{AECE2280-29B6-427E-8783-229561661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" y="2899"/>
              <a:ext cx="129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4" name="Freeform 63">
              <a:extLst>
                <a:ext uri="{FF2B5EF4-FFF2-40B4-BE49-F238E27FC236}">
                  <a16:creationId xmlns:a16="http://schemas.microsoft.com/office/drawing/2014/main" id="{C81663C9-7046-4D6A-9AA7-1292DB34B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2874"/>
              <a:ext cx="78" cy="51"/>
            </a:xfrm>
            <a:custGeom>
              <a:avLst/>
              <a:gdLst>
                <a:gd name="T0" fmla="*/ 78 w 78"/>
                <a:gd name="T1" fmla="*/ 51 h 51"/>
                <a:gd name="T2" fmla="*/ 0 w 78"/>
                <a:gd name="T3" fmla="*/ 25 h 51"/>
                <a:gd name="T4" fmla="*/ 78 w 78"/>
                <a:gd name="T5" fmla="*/ 0 h 51"/>
                <a:gd name="T6" fmla="*/ 78 w 78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78" y="51"/>
                  </a:moveTo>
                  <a:lnTo>
                    <a:pt x="0" y="25"/>
                  </a:lnTo>
                  <a:lnTo>
                    <a:pt x="78" y="0"/>
                  </a:lnTo>
                  <a:lnTo>
                    <a:pt x="78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5" name="Freeform 64">
              <a:extLst>
                <a:ext uri="{FF2B5EF4-FFF2-40B4-BE49-F238E27FC236}">
                  <a16:creationId xmlns:a16="http://schemas.microsoft.com/office/drawing/2014/main" id="{23B5AE7C-8A2B-4B72-8186-D4BD440B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6" name="Line 65">
              <a:extLst>
                <a:ext uri="{FF2B5EF4-FFF2-40B4-BE49-F238E27FC236}">
                  <a16:creationId xmlns:a16="http://schemas.microsoft.com/office/drawing/2014/main" id="{6F4AE5F1-1FBE-4660-A49F-59E9A0737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2899"/>
              <a:ext cx="130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7" name="Freeform 66">
              <a:extLst>
                <a:ext uri="{FF2B5EF4-FFF2-40B4-BE49-F238E27FC236}">
                  <a16:creationId xmlns:a16="http://schemas.microsoft.com/office/drawing/2014/main" id="{547C4ACD-37E0-4BD6-A7CD-989FE432B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2874"/>
              <a:ext cx="78" cy="51"/>
            </a:xfrm>
            <a:custGeom>
              <a:avLst/>
              <a:gdLst>
                <a:gd name="T0" fmla="*/ 78 w 78"/>
                <a:gd name="T1" fmla="*/ 51 h 51"/>
                <a:gd name="T2" fmla="*/ 0 w 78"/>
                <a:gd name="T3" fmla="*/ 25 h 51"/>
                <a:gd name="T4" fmla="*/ 78 w 78"/>
                <a:gd name="T5" fmla="*/ 0 h 51"/>
                <a:gd name="T6" fmla="*/ 78 w 78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78" y="51"/>
                  </a:moveTo>
                  <a:lnTo>
                    <a:pt x="0" y="25"/>
                  </a:lnTo>
                  <a:lnTo>
                    <a:pt x="78" y="0"/>
                  </a:lnTo>
                  <a:lnTo>
                    <a:pt x="78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8" name="Freeform 67">
              <a:extLst>
                <a:ext uri="{FF2B5EF4-FFF2-40B4-BE49-F238E27FC236}">
                  <a16:creationId xmlns:a16="http://schemas.microsoft.com/office/drawing/2014/main" id="{FD8A646B-5640-434F-8586-DD6E572DA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874"/>
              <a:ext cx="78" cy="51"/>
            </a:xfrm>
            <a:custGeom>
              <a:avLst/>
              <a:gdLst>
                <a:gd name="T0" fmla="*/ 0 w 78"/>
                <a:gd name="T1" fmla="*/ 0 h 51"/>
                <a:gd name="T2" fmla="*/ 78 w 78"/>
                <a:gd name="T3" fmla="*/ 25 h 51"/>
                <a:gd name="T4" fmla="*/ 0 w 78"/>
                <a:gd name="T5" fmla="*/ 51 h 51"/>
                <a:gd name="T6" fmla="*/ 0 w 78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lnTo>
                    <a:pt x="78" y="25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9" name="Rectangle 68">
              <a:extLst>
                <a:ext uri="{FF2B5EF4-FFF2-40B4-BE49-F238E27FC236}">
                  <a16:creationId xmlns:a16="http://schemas.microsoft.com/office/drawing/2014/main" id="{A871864E-A3BE-4498-992C-759F7C767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2" y="2732"/>
              <a:ext cx="13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0" name="Rectangle 69">
              <a:extLst>
                <a:ext uri="{FF2B5EF4-FFF2-40B4-BE49-F238E27FC236}">
                  <a16:creationId xmlns:a16="http://schemas.microsoft.com/office/drawing/2014/main" id="{426D9703-3D31-40BC-8E39-C7FF350B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5" y="2732"/>
              <a:ext cx="16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Tw1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1" name="Rectangle 70">
              <a:extLst>
                <a:ext uri="{FF2B5EF4-FFF2-40B4-BE49-F238E27FC236}">
                  <a16:creationId xmlns:a16="http://schemas.microsoft.com/office/drawing/2014/main" id="{8F9D29F2-1D80-44CB-A110-BA78A5541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732"/>
              <a:ext cx="20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Tpd1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2" name="Rectangle 71">
              <a:extLst>
                <a:ext uri="{FF2B5EF4-FFF2-40B4-BE49-F238E27FC236}">
                  <a16:creationId xmlns:a16="http://schemas.microsoft.com/office/drawing/2014/main" id="{81989DB8-62D0-421F-BC31-E34A1DD6C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3" y="2732"/>
              <a:ext cx="16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Tw2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3" name="Rectangle 72">
              <a:extLst>
                <a:ext uri="{FF2B5EF4-FFF2-40B4-BE49-F238E27FC236}">
                  <a16:creationId xmlns:a16="http://schemas.microsoft.com/office/drawing/2014/main" id="{4C7D8170-F11C-424A-999B-2A7CEE91E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732"/>
              <a:ext cx="20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Tpd2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4" name="Rectangle 73">
              <a:extLst>
                <a:ext uri="{FF2B5EF4-FFF2-40B4-BE49-F238E27FC236}">
                  <a16:creationId xmlns:a16="http://schemas.microsoft.com/office/drawing/2014/main" id="{D42F6A66-2AA5-4F6F-89A4-593CE948F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3232"/>
              <a:ext cx="13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Tsu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5" name="Freeform 74">
              <a:extLst>
                <a:ext uri="{FF2B5EF4-FFF2-40B4-BE49-F238E27FC236}">
                  <a16:creationId xmlns:a16="http://schemas.microsoft.com/office/drawing/2014/main" id="{0606D79D-7280-4CD1-8A46-5C7EC6B4B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" y="3024"/>
              <a:ext cx="386" cy="216"/>
            </a:xfrm>
            <a:custGeom>
              <a:avLst/>
              <a:gdLst>
                <a:gd name="T0" fmla="*/ 0 w 386"/>
                <a:gd name="T1" fmla="*/ 216 h 216"/>
                <a:gd name="T2" fmla="*/ 386 w 386"/>
                <a:gd name="T3" fmla="*/ 216 h 216"/>
                <a:gd name="T4" fmla="*/ 386 w 386"/>
                <a:gd name="T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6" h="216">
                  <a:moveTo>
                    <a:pt x="0" y="216"/>
                  </a:moveTo>
                  <a:lnTo>
                    <a:pt x="386" y="216"/>
                  </a:lnTo>
                  <a:lnTo>
                    <a:pt x="386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86" name="Freeform 75">
              <a:extLst>
                <a:ext uri="{FF2B5EF4-FFF2-40B4-BE49-F238E27FC236}">
                  <a16:creationId xmlns:a16="http://schemas.microsoft.com/office/drawing/2014/main" id="{40762B01-CF97-4746-AB86-F9354FEB4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3013"/>
              <a:ext cx="2293" cy="227"/>
            </a:xfrm>
            <a:custGeom>
              <a:avLst/>
              <a:gdLst>
                <a:gd name="T0" fmla="*/ 0 w 2293"/>
                <a:gd name="T1" fmla="*/ 11 h 227"/>
                <a:gd name="T2" fmla="*/ 863 w 2293"/>
                <a:gd name="T3" fmla="*/ 11 h 227"/>
                <a:gd name="T4" fmla="*/ 863 w 2293"/>
                <a:gd name="T5" fmla="*/ 227 h 227"/>
                <a:gd name="T6" fmla="*/ 1771 w 2293"/>
                <a:gd name="T7" fmla="*/ 227 h 227"/>
                <a:gd name="T8" fmla="*/ 1771 w 2293"/>
                <a:gd name="T9" fmla="*/ 0 h 227"/>
                <a:gd name="T10" fmla="*/ 2293 w 2293"/>
                <a:gd name="T11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3" h="227">
                  <a:moveTo>
                    <a:pt x="0" y="11"/>
                  </a:moveTo>
                  <a:lnTo>
                    <a:pt x="863" y="11"/>
                  </a:lnTo>
                  <a:lnTo>
                    <a:pt x="863" y="227"/>
                  </a:lnTo>
                  <a:lnTo>
                    <a:pt x="1771" y="227"/>
                  </a:lnTo>
                  <a:lnTo>
                    <a:pt x="1771" y="0"/>
                  </a:lnTo>
                  <a:lnTo>
                    <a:pt x="2293" y="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87" name="Line 76">
              <a:extLst>
                <a:ext uri="{FF2B5EF4-FFF2-40B4-BE49-F238E27FC236}">
                  <a16:creationId xmlns:a16="http://schemas.microsoft.com/office/drawing/2014/main" id="{37387A6C-2A70-487D-8CA9-989BACBE1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0" y="2899"/>
              <a:ext cx="0" cy="341"/>
            </a:xfrm>
            <a:prstGeom prst="line">
              <a:avLst/>
            </a:prstGeom>
            <a:noFill/>
            <a:ln w="26988" cap="rnd">
              <a:solidFill>
                <a:srgbClr val="FF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88" name="Freeform 77">
              <a:extLst>
                <a:ext uri="{FF2B5EF4-FFF2-40B4-BE49-F238E27FC236}">
                  <a16:creationId xmlns:a16="http://schemas.microsoft.com/office/drawing/2014/main" id="{520F303F-9934-47CD-8E15-9F3E76D7C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4" y="3232"/>
              <a:ext cx="17" cy="242"/>
            </a:xfrm>
            <a:custGeom>
              <a:avLst/>
              <a:gdLst>
                <a:gd name="T0" fmla="*/ 92 w 92"/>
                <a:gd name="T1" fmla="*/ 46 h 1290"/>
                <a:gd name="T2" fmla="*/ 92 w 92"/>
                <a:gd name="T3" fmla="*/ 138 h 1290"/>
                <a:gd name="T4" fmla="*/ 46 w 92"/>
                <a:gd name="T5" fmla="*/ 185 h 1290"/>
                <a:gd name="T6" fmla="*/ 0 w 92"/>
                <a:gd name="T7" fmla="*/ 138 h 1290"/>
                <a:gd name="T8" fmla="*/ 0 w 92"/>
                <a:gd name="T9" fmla="*/ 46 h 1290"/>
                <a:gd name="T10" fmla="*/ 46 w 92"/>
                <a:gd name="T11" fmla="*/ 0 h 1290"/>
                <a:gd name="T12" fmla="*/ 92 w 92"/>
                <a:gd name="T13" fmla="*/ 46 h 1290"/>
                <a:gd name="T14" fmla="*/ 92 w 92"/>
                <a:gd name="T15" fmla="*/ 323 h 1290"/>
                <a:gd name="T16" fmla="*/ 92 w 92"/>
                <a:gd name="T17" fmla="*/ 415 h 1290"/>
                <a:gd name="T18" fmla="*/ 46 w 92"/>
                <a:gd name="T19" fmla="*/ 461 h 1290"/>
                <a:gd name="T20" fmla="*/ 0 w 92"/>
                <a:gd name="T21" fmla="*/ 415 h 1290"/>
                <a:gd name="T22" fmla="*/ 0 w 92"/>
                <a:gd name="T23" fmla="*/ 323 h 1290"/>
                <a:gd name="T24" fmla="*/ 46 w 92"/>
                <a:gd name="T25" fmla="*/ 277 h 1290"/>
                <a:gd name="T26" fmla="*/ 92 w 92"/>
                <a:gd name="T27" fmla="*/ 323 h 1290"/>
                <a:gd name="T28" fmla="*/ 92 w 92"/>
                <a:gd name="T29" fmla="*/ 599 h 1290"/>
                <a:gd name="T30" fmla="*/ 92 w 92"/>
                <a:gd name="T31" fmla="*/ 691 h 1290"/>
                <a:gd name="T32" fmla="*/ 46 w 92"/>
                <a:gd name="T33" fmla="*/ 737 h 1290"/>
                <a:gd name="T34" fmla="*/ 0 w 92"/>
                <a:gd name="T35" fmla="*/ 691 h 1290"/>
                <a:gd name="T36" fmla="*/ 0 w 92"/>
                <a:gd name="T37" fmla="*/ 599 h 1290"/>
                <a:gd name="T38" fmla="*/ 46 w 92"/>
                <a:gd name="T39" fmla="*/ 553 h 1290"/>
                <a:gd name="T40" fmla="*/ 92 w 92"/>
                <a:gd name="T41" fmla="*/ 599 h 1290"/>
                <a:gd name="T42" fmla="*/ 92 w 92"/>
                <a:gd name="T43" fmla="*/ 876 h 1290"/>
                <a:gd name="T44" fmla="*/ 92 w 92"/>
                <a:gd name="T45" fmla="*/ 968 h 1290"/>
                <a:gd name="T46" fmla="*/ 46 w 92"/>
                <a:gd name="T47" fmla="*/ 1014 h 1290"/>
                <a:gd name="T48" fmla="*/ 0 w 92"/>
                <a:gd name="T49" fmla="*/ 968 h 1290"/>
                <a:gd name="T50" fmla="*/ 0 w 92"/>
                <a:gd name="T51" fmla="*/ 876 h 1290"/>
                <a:gd name="T52" fmla="*/ 46 w 92"/>
                <a:gd name="T53" fmla="*/ 830 h 1290"/>
                <a:gd name="T54" fmla="*/ 92 w 92"/>
                <a:gd name="T55" fmla="*/ 876 h 1290"/>
                <a:gd name="T56" fmla="*/ 92 w 92"/>
                <a:gd name="T57" fmla="*/ 1152 h 1290"/>
                <a:gd name="T58" fmla="*/ 92 w 92"/>
                <a:gd name="T59" fmla="*/ 1244 h 1290"/>
                <a:gd name="T60" fmla="*/ 46 w 92"/>
                <a:gd name="T61" fmla="*/ 1290 h 1290"/>
                <a:gd name="T62" fmla="*/ 0 w 92"/>
                <a:gd name="T63" fmla="*/ 1244 h 1290"/>
                <a:gd name="T64" fmla="*/ 0 w 92"/>
                <a:gd name="T65" fmla="*/ 1152 h 1290"/>
                <a:gd name="T66" fmla="*/ 46 w 92"/>
                <a:gd name="T67" fmla="*/ 1106 h 1290"/>
                <a:gd name="T68" fmla="*/ 92 w 92"/>
                <a:gd name="T69" fmla="*/ 1152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" h="1290">
                  <a:moveTo>
                    <a:pt x="92" y="46"/>
                  </a:moveTo>
                  <a:lnTo>
                    <a:pt x="92" y="138"/>
                  </a:lnTo>
                  <a:cubicBezTo>
                    <a:pt x="92" y="164"/>
                    <a:pt x="72" y="185"/>
                    <a:pt x="46" y="185"/>
                  </a:cubicBezTo>
                  <a:cubicBezTo>
                    <a:pt x="21" y="185"/>
                    <a:pt x="0" y="164"/>
                    <a:pt x="0" y="138"/>
                  </a:cubicBezTo>
                  <a:lnTo>
                    <a:pt x="0" y="46"/>
                  </a:lnTo>
                  <a:cubicBezTo>
                    <a:pt x="0" y="21"/>
                    <a:pt x="21" y="0"/>
                    <a:pt x="46" y="0"/>
                  </a:cubicBezTo>
                  <a:cubicBezTo>
                    <a:pt x="72" y="0"/>
                    <a:pt x="92" y="21"/>
                    <a:pt x="92" y="46"/>
                  </a:cubicBezTo>
                  <a:close/>
                  <a:moveTo>
                    <a:pt x="92" y="323"/>
                  </a:moveTo>
                  <a:lnTo>
                    <a:pt x="92" y="415"/>
                  </a:lnTo>
                  <a:cubicBezTo>
                    <a:pt x="92" y="440"/>
                    <a:pt x="72" y="461"/>
                    <a:pt x="46" y="461"/>
                  </a:cubicBezTo>
                  <a:cubicBezTo>
                    <a:pt x="21" y="461"/>
                    <a:pt x="0" y="440"/>
                    <a:pt x="0" y="415"/>
                  </a:cubicBezTo>
                  <a:lnTo>
                    <a:pt x="0" y="323"/>
                  </a:lnTo>
                  <a:cubicBezTo>
                    <a:pt x="0" y="297"/>
                    <a:pt x="21" y="277"/>
                    <a:pt x="46" y="277"/>
                  </a:cubicBezTo>
                  <a:cubicBezTo>
                    <a:pt x="72" y="277"/>
                    <a:pt x="92" y="297"/>
                    <a:pt x="92" y="323"/>
                  </a:cubicBezTo>
                  <a:close/>
                  <a:moveTo>
                    <a:pt x="92" y="599"/>
                  </a:moveTo>
                  <a:lnTo>
                    <a:pt x="92" y="691"/>
                  </a:lnTo>
                  <a:cubicBezTo>
                    <a:pt x="92" y="717"/>
                    <a:pt x="72" y="737"/>
                    <a:pt x="46" y="737"/>
                  </a:cubicBezTo>
                  <a:cubicBezTo>
                    <a:pt x="21" y="737"/>
                    <a:pt x="0" y="717"/>
                    <a:pt x="0" y="691"/>
                  </a:cubicBezTo>
                  <a:lnTo>
                    <a:pt x="0" y="599"/>
                  </a:lnTo>
                  <a:cubicBezTo>
                    <a:pt x="0" y="574"/>
                    <a:pt x="21" y="553"/>
                    <a:pt x="46" y="553"/>
                  </a:cubicBezTo>
                  <a:cubicBezTo>
                    <a:pt x="72" y="553"/>
                    <a:pt x="92" y="574"/>
                    <a:pt x="92" y="599"/>
                  </a:cubicBezTo>
                  <a:close/>
                  <a:moveTo>
                    <a:pt x="92" y="876"/>
                  </a:moveTo>
                  <a:lnTo>
                    <a:pt x="92" y="968"/>
                  </a:lnTo>
                  <a:cubicBezTo>
                    <a:pt x="92" y="993"/>
                    <a:pt x="72" y="1014"/>
                    <a:pt x="46" y="1014"/>
                  </a:cubicBezTo>
                  <a:cubicBezTo>
                    <a:pt x="21" y="1014"/>
                    <a:pt x="0" y="993"/>
                    <a:pt x="0" y="968"/>
                  </a:cubicBezTo>
                  <a:lnTo>
                    <a:pt x="0" y="876"/>
                  </a:lnTo>
                  <a:cubicBezTo>
                    <a:pt x="0" y="850"/>
                    <a:pt x="21" y="830"/>
                    <a:pt x="46" y="830"/>
                  </a:cubicBezTo>
                  <a:cubicBezTo>
                    <a:pt x="72" y="830"/>
                    <a:pt x="92" y="850"/>
                    <a:pt x="92" y="876"/>
                  </a:cubicBezTo>
                  <a:close/>
                  <a:moveTo>
                    <a:pt x="92" y="1152"/>
                  </a:moveTo>
                  <a:lnTo>
                    <a:pt x="92" y="1244"/>
                  </a:lnTo>
                  <a:cubicBezTo>
                    <a:pt x="92" y="1270"/>
                    <a:pt x="72" y="1290"/>
                    <a:pt x="46" y="1290"/>
                  </a:cubicBezTo>
                  <a:cubicBezTo>
                    <a:pt x="21" y="1290"/>
                    <a:pt x="0" y="1270"/>
                    <a:pt x="0" y="1244"/>
                  </a:cubicBezTo>
                  <a:lnTo>
                    <a:pt x="0" y="1152"/>
                  </a:lnTo>
                  <a:cubicBezTo>
                    <a:pt x="0" y="1127"/>
                    <a:pt x="21" y="1106"/>
                    <a:pt x="46" y="1106"/>
                  </a:cubicBezTo>
                  <a:cubicBezTo>
                    <a:pt x="72" y="1106"/>
                    <a:pt x="92" y="1127"/>
                    <a:pt x="92" y="1152"/>
                  </a:cubicBezTo>
                  <a:close/>
                </a:path>
              </a:pathLst>
            </a:custGeom>
            <a:solidFill>
              <a:srgbClr val="0000FF"/>
            </a:solidFill>
            <a:ln w="0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89" name="Freeform 78">
              <a:extLst>
                <a:ext uri="{FF2B5EF4-FFF2-40B4-BE49-F238E27FC236}">
                  <a16:creationId xmlns:a16="http://schemas.microsoft.com/office/drawing/2014/main" id="{BCAA66FF-A14A-4618-9703-953745BD18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9" y="3237"/>
              <a:ext cx="5" cy="233"/>
            </a:xfrm>
            <a:custGeom>
              <a:avLst/>
              <a:gdLst>
                <a:gd name="T0" fmla="*/ 30 w 30"/>
                <a:gd name="T1" fmla="*/ 46 h 1240"/>
                <a:gd name="T2" fmla="*/ 0 w 30"/>
                <a:gd name="T3" fmla="*/ 46 h 1240"/>
                <a:gd name="T4" fmla="*/ 15 w 30"/>
                <a:gd name="T5" fmla="*/ 0 h 1240"/>
                <a:gd name="T6" fmla="*/ 30 w 30"/>
                <a:gd name="T7" fmla="*/ 107 h 1240"/>
                <a:gd name="T8" fmla="*/ 15 w 30"/>
                <a:gd name="T9" fmla="*/ 154 h 1240"/>
                <a:gd name="T10" fmla="*/ 0 w 30"/>
                <a:gd name="T11" fmla="*/ 107 h 1240"/>
                <a:gd name="T12" fmla="*/ 30 w 30"/>
                <a:gd name="T13" fmla="*/ 107 h 1240"/>
                <a:gd name="T14" fmla="*/ 30 w 30"/>
                <a:gd name="T15" fmla="*/ 230 h 1240"/>
                <a:gd name="T16" fmla="*/ 0 w 30"/>
                <a:gd name="T17" fmla="*/ 230 h 1240"/>
                <a:gd name="T18" fmla="*/ 15 w 30"/>
                <a:gd name="T19" fmla="*/ 184 h 1240"/>
                <a:gd name="T20" fmla="*/ 30 w 30"/>
                <a:gd name="T21" fmla="*/ 292 h 1240"/>
                <a:gd name="T22" fmla="*/ 15 w 30"/>
                <a:gd name="T23" fmla="*/ 338 h 1240"/>
                <a:gd name="T24" fmla="*/ 0 w 30"/>
                <a:gd name="T25" fmla="*/ 292 h 1240"/>
                <a:gd name="T26" fmla="*/ 30 w 30"/>
                <a:gd name="T27" fmla="*/ 292 h 1240"/>
                <a:gd name="T28" fmla="*/ 30 w 30"/>
                <a:gd name="T29" fmla="*/ 415 h 1240"/>
                <a:gd name="T30" fmla="*/ 0 w 30"/>
                <a:gd name="T31" fmla="*/ 415 h 1240"/>
                <a:gd name="T32" fmla="*/ 15 w 30"/>
                <a:gd name="T33" fmla="*/ 369 h 1240"/>
                <a:gd name="T34" fmla="*/ 30 w 30"/>
                <a:gd name="T35" fmla="*/ 476 h 1240"/>
                <a:gd name="T36" fmla="*/ 15 w 30"/>
                <a:gd name="T37" fmla="*/ 522 h 1240"/>
                <a:gd name="T38" fmla="*/ 0 w 30"/>
                <a:gd name="T39" fmla="*/ 476 h 1240"/>
                <a:gd name="T40" fmla="*/ 30 w 30"/>
                <a:gd name="T41" fmla="*/ 476 h 1240"/>
                <a:gd name="T42" fmla="*/ 30 w 30"/>
                <a:gd name="T43" fmla="*/ 599 h 1240"/>
                <a:gd name="T44" fmla="*/ 0 w 30"/>
                <a:gd name="T45" fmla="*/ 599 h 1240"/>
                <a:gd name="T46" fmla="*/ 15 w 30"/>
                <a:gd name="T47" fmla="*/ 553 h 1240"/>
                <a:gd name="T48" fmla="*/ 30 w 30"/>
                <a:gd name="T49" fmla="*/ 660 h 1240"/>
                <a:gd name="T50" fmla="*/ 15 w 30"/>
                <a:gd name="T51" fmla="*/ 706 h 1240"/>
                <a:gd name="T52" fmla="*/ 0 w 30"/>
                <a:gd name="T53" fmla="*/ 660 h 1240"/>
                <a:gd name="T54" fmla="*/ 30 w 30"/>
                <a:gd name="T55" fmla="*/ 660 h 1240"/>
                <a:gd name="T56" fmla="*/ 30 w 30"/>
                <a:gd name="T57" fmla="*/ 783 h 1240"/>
                <a:gd name="T58" fmla="*/ 0 w 30"/>
                <a:gd name="T59" fmla="*/ 783 h 1240"/>
                <a:gd name="T60" fmla="*/ 15 w 30"/>
                <a:gd name="T61" fmla="*/ 737 h 1240"/>
                <a:gd name="T62" fmla="*/ 30 w 30"/>
                <a:gd name="T63" fmla="*/ 845 h 1240"/>
                <a:gd name="T64" fmla="*/ 15 w 30"/>
                <a:gd name="T65" fmla="*/ 891 h 1240"/>
                <a:gd name="T66" fmla="*/ 0 w 30"/>
                <a:gd name="T67" fmla="*/ 845 h 1240"/>
                <a:gd name="T68" fmla="*/ 30 w 30"/>
                <a:gd name="T69" fmla="*/ 845 h 1240"/>
                <a:gd name="T70" fmla="*/ 30 w 30"/>
                <a:gd name="T71" fmla="*/ 968 h 1240"/>
                <a:gd name="T72" fmla="*/ 0 w 30"/>
                <a:gd name="T73" fmla="*/ 968 h 1240"/>
                <a:gd name="T74" fmla="*/ 15 w 30"/>
                <a:gd name="T75" fmla="*/ 922 h 1240"/>
                <a:gd name="T76" fmla="*/ 30 w 30"/>
                <a:gd name="T77" fmla="*/ 1029 h 1240"/>
                <a:gd name="T78" fmla="*/ 15 w 30"/>
                <a:gd name="T79" fmla="*/ 1075 h 1240"/>
                <a:gd name="T80" fmla="*/ 0 w 30"/>
                <a:gd name="T81" fmla="*/ 1029 h 1240"/>
                <a:gd name="T82" fmla="*/ 30 w 30"/>
                <a:gd name="T83" fmla="*/ 1029 h 1240"/>
                <a:gd name="T84" fmla="*/ 30 w 30"/>
                <a:gd name="T85" fmla="*/ 1152 h 1240"/>
                <a:gd name="T86" fmla="*/ 0 w 30"/>
                <a:gd name="T87" fmla="*/ 1152 h 1240"/>
                <a:gd name="T88" fmla="*/ 15 w 30"/>
                <a:gd name="T89" fmla="*/ 1106 h 1240"/>
                <a:gd name="T90" fmla="*/ 30 w 30"/>
                <a:gd name="T91" fmla="*/ 1213 h 1240"/>
                <a:gd name="T92" fmla="*/ 15 w 30"/>
                <a:gd name="T93" fmla="*/ 1240 h 1240"/>
                <a:gd name="T94" fmla="*/ 0 w 30"/>
                <a:gd name="T95" fmla="*/ 1213 h 1240"/>
                <a:gd name="T96" fmla="*/ 30 w 30"/>
                <a:gd name="T97" fmla="*/ 1213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" h="1240">
                  <a:moveTo>
                    <a:pt x="30" y="15"/>
                  </a:moveTo>
                  <a:lnTo>
                    <a:pt x="30" y="46"/>
                  </a:lnTo>
                  <a:cubicBezTo>
                    <a:pt x="30" y="54"/>
                    <a:pt x="24" y="61"/>
                    <a:pt x="15" y="61"/>
                  </a:cubicBezTo>
                  <a:cubicBezTo>
                    <a:pt x="7" y="61"/>
                    <a:pt x="0" y="54"/>
                    <a:pt x="0" y="46"/>
                  </a:cubicBezTo>
                  <a:lnTo>
                    <a:pt x="0" y="15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0" y="7"/>
                    <a:pt x="30" y="15"/>
                  </a:cubicBezTo>
                  <a:close/>
                  <a:moveTo>
                    <a:pt x="30" y="107"/>
                  </a:moveTo>
                  <a:lnTo>
                    <a:pt x="30" y="138"/>
                  </a:lnTo>
                  <a:cubicBezTo>
                    <a:pt x="30" y="147"/>
                    <a:pt x="24" y="154"/>
                    <a:pt x="15" y="154"/>
                  </a:cubicBezTo>
                  <a:cubicBezTo>
                    <a:pt x="7" y="154"/>
                    <a:pt x="0" y="147"/>
                    <a:pt x="0" y="138"/>
                  </a:cubicBezTo>
                  <a:lnTo>
                    <a:pt x="0" y="107"/>
                  </a:lnTo>
                  <a:cubicBezTo>
                    <a:pt x="0" y="99"/>
                    <a:pt x="7" y="92"/>
                    <a:pt x="15" y="92"/>
                  </a:cubicBezTo>
                  <a:cubicBezTo>
                    <a:pt x="24" y="92"/>
                    <a:pt x="30" y="99"/>
                    <a:pt x="30" y="107"/>
                  </a:cubicBezTo>
                  <a:close/>
                  <a:moveTo>
                    <a:pt x="30" y="200"/>
                  </a:moveTo>
                  <a:lnTo>
                    <a:pt x="30" y="230"/>
                  </a:lnTo>
                  <a:cubicBezTo>
                    <a:pt x="30" y="239"/>
                    <a:pt x="24" y="246"/>
                    <a:pt x="15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200"/>
                  </a:lnTo>
                  <a:cubicBezTo>
                    <a:pt x="0" y="191"/>
                    <a:pt x="7" y="184"/>
                    <a:pt x="15" y="184"/>
                  </a:cubicBezTo>
                  <a:cubicBezTo>
                    <a:pt x="24" y="184"/>
                    <a:pt x="30" y="191"/>
                    <a:pt x="30" y="200"/>
                  </a:cubicBezTo>
                  <a:close/>
                  <a:moveTo>
                    <a:pt x="30" y="292"/>
                  </a:moveTo>
                  <a:lnTo>
                    <a:pt x="30" y="322"/>
                  </a:lnTo>
                  <a:cubicBezTo>
                    <a:pt x="30" y="331"/>
                    <a:pt x="24" y="338"/>
                    <a:pt x="15" y="338"/>
                  </a:cubicBezTo>
                  <a:cubicBezTo>
                    <a:pt x="7" y="338"/>
                    <a:pt x="0" y="331"/>
                    <a:pt x="0" y="322"/>
                  </a:cubicBezTo>
                  <a:lnTo>
                    <a:pt x="0" y="292"/>
                  </a:lnTo>
                  <a:cubicBezTo>
                    <a:pt x="0" y="283"/>
                    <a:pt x="7" y="276"/>
                    <a:pt x="15" y="276"/>
                  </a:cubicBezTo>
                  <a:cubicBezTo>
                    <a:pt x="24" y="276"/>
                    <a:pt x="30" y="283"/>
                    <a:pt x="30" y="292"/>
                  </a:cubicBezTo>
                  <a:close/>
                  <a:moveTo>
                    <a:pt x="30" y="384"/>
                  </a:moveTo>
                  <a:lnTo>
                    <a:pt x="30" y="415"/>
                  </a:lnTo>
                  <a:cubicBezTo>
                    <a:pt x="30" y="423"/>
                    <a:pt x="24" y="430"/>
                    <a:pt x="15" y="430"/>
                  </a:cubicBezTo>
                  <a:cubicBezTo>
                    <a:pt x="7" y="430"/>
                    <a:pt x="0" y="423"/>
                    <a:pt x="0" y="415"/>
                  </a:cubicBezTo>
                  <a:lnTo>
                    <a:pt x="0" y="384"/>
                  </a:lnTo>
                  <a:cubicBezTo>
                    <a:pt x="0" y="375"/>
                    <a:pt x="7" y="369"/>
                    <a:pt x="15" y="369"/>
                  </a:cubicBezTo>
                  <a:cubicBezTo>
                    <a:pt x="24" y="369"/>
                    <a:pt x="30" y="375"/>
                    <a:pt x="30" y="384"/>
                  </a:cubicBezTo>
                  <a:close/>
                  <a:moveTo>
                    <a:pt x="30" y="476"/>
                  </a:moveTo>
                  <a:lnTo>
                    <a:pt x="30" y="507"/>
                  </a:lnTo>
                  <a:cubicBezTo>
                    <a:pt x="30" y="515"/>
                    <a:pt x="24" y="522"/>
                    <a:pt x="15" y="522"/>
                  </a:cubicBezTo>
                  <a:cubicBezTo>
                    <a:pt x="7" y="522"/>
                    <a:pt x="0" y="515"/>
                    <a:pt x="0" y="507"/>
                  </a:cubicBezTo>
                  <a:lnTo>
                    <a:pt x="0" y="476"/>
                  </a:lnTo>
                  <a:cubicBezTo>
                    <a:pt x="0" y="468"/>
                    <a:pt x="7" y="461"/>
                    <a:pt x="15" y="461"/>
                  </a:cubicBezTo>
                  <a:cubicBezTo>
                    <a:pt x="24" y="461"/>
                    <a:pt x="30" y="468"/>
                    <a:pt x="30" y="476"/>
                  </a:cubicBezTo>
                  <a:close/>
                  <a:moveTo>
                    <a:pt x="30" y="568"/>
                  </a:moveTo>
                  <a:lnTo>
                    <a:pt x="30" y="599"/>
                  </a:lnTo>
                  <a:cubicBezTo>
                    <a:pt x="30" y="607"/>
                    <a:pt x="24" y="614"/>
                    <a:pt x="15" y="614"/>
                  </a:cubicBezTo>
                  <a:cubicBezTo>
                    <a:pt x="7" y="614"/>
                    <a:pt x="0" y="607"/>
                    <a:pt x="0" y="599"/>
                  </a:cubicBezTo>
                  <a:lnTo>
                    <a:pt x="0" y="568"/>
                  </a:lnTo>
                  <a:cubicBezTo>
                    <a:pt x="0" y="560"/>
                    <a:pt x="7" y="553"/>
                    <a:pt x="15" y="553"/>
                  </a:cubicBezTo>
                  <a:cubicBezTo>
                    <a:pt x="24" y="553"/>
                    <a:pt x="30" y="560"/>
                    <a:pt x="30" y="568"/>
                  </a:cubicBezTo>
                  <a:close/>
                  <a:moveTo>
                    <a:pt x="30" y="660"/>
                  </a:moveTo>
                  <a:lnTo>
                    <a:pt x="30" y="691"/>
                  </a:lnTo>
                  <a:cubicBezTo>
                    <a:pt x="30" y="700"/>
                    <a:pt x="24" y="706"/>
                    <a:pt x="15" y="706"/>
                  </a:cubicBezTo>
                  <a:cubicBezTo>
                    <a:pt x="7" y="706"/>
                    <a:pt x="0" y="700"/>
                    <a:pt x="0" y="691"/>
                  </a:cubicBezTo>
                  <a:lnTo>
                    <a:pt x="0" y="660"/>
                  </a:lnTo>
                  <a:cubicBezTo>
                    <a:pt x="0" y="652"/>
                    <a:pt x="7" y="645"/>
                    <a:pt x="15" y="645"/>
                  </a:cubicBezTo>
                  <a:cubicBezTo>
                    <a:pt x="24" y="645"/>
                    <a:pt x="30" y="652"/>
                    <a:pt x="30" y="660"/>
                  </a:cubicBezTo>
                  <a:close/>
                  <a:moveTo>
                    <a:pt x="30" y="753"/>
                  </a:moveTo>
                  <a:lnTo>
                    <a:pt x="30" y="783"/>
                  </a:lnTo>
                  <a:cubicBezTo>
                    <a:pt x="30" y="792"/>
                    <a:pt x="24" y="799"/>
                    <a:pt x="15" y="799"/>
                  </a:cubicBezTo>
                  <a:cubicBezTo>
                    <a:pt x="7" y="799"/>
                    <a:pt x="0" y="792"/>
                    <a:pt x="0" y="783"/>
                  </a:cubicBezTo>
                  <a:lnTo>
                    <a:pt x="0" y="753"/>
                  </a:lnTo>
                  <a:cubicBezTo>
                    <a:pt x="0" y="744"/>
                    <a:pt x="7" y="737"/>
                    <a:pt x="15" y="737"/>
                  </a:cubicBezTo>
                  <a:cubicBezTo>
                    <a:pt x="24" y="737"/>
                    <a:pt x="30" y="744"/>
                    <a:pt x="30" y="753"/>
                  </a:cubicBezTo>
                  <a:close/>
                  <a:moveTo>
                    <a:pt x="30" y="845"/>
                  </a:moveTo>
                  <a:lnTo>
                    <a:pt x="30" y="875"/>
                  </a:lnTo>
                  <a:cubicBezTo>
                    <a:pt x="30" y="884"/>
                    <a:pt x="24" y="891"/>
                    <a:pt x="15" y="891"/>
                  </a:cubicBezTo>
                  <a:cubicBezTo>
                    <a:pt x="7" y="891"/>
                    <a:pt x="0" y="884"/>
                    <a:pt x="0" y="875"/>
                  </a:cubicBezTo>
                  <a:lnTo>
                    <a:pt x="0" y="845"/>
                  </a:lnTo>
                  <a:cubicBezTo>
                    <a:pt x="0" y="836"/>
                    <a:pt x="7" y="829"/>
                    <a:pt x="15" y="829"/>
                  </a:cubicBezTo>
                  <a:cubicBezTo>
                    <a:pt x="24" y="829"/>
                    <a:pt x="30" y="836"/>
                    <a:pt x="30" y="845"/>
                  </a:cubicBezTo>
                  <a:close/>
                  <a:moveTo>
                    <a:pt x="30" y="937"/>
                  </a:moveTo>
                  <a:lnTo>
                    <a:pt x="30" y="968"/>
                  </a:lnTo>
                  <a:cubicBezTo>
                    <a:pt x="30" y="976"/>
                    <a:pt x="24" y="983"/>
                    <a:pt x="15" y="983"/>
                  </a:cubicBezTo>
                  <a:cubicBezTo>
                    <a:pt x="7" y="983"/>
                    <a:pt x="0" y="976"/>
                    <a:pt x="0" y="968"/>
                  </a:cubicBezTo>
                  <a:lnTo>
                    <a:pt x="0" y="937"/>
                  </a:lnTo>
                  <a:cubicBezTo>
                    <a:pt x="0" y="928"/>
                    <a:pt x="7" y="922"/>
                    <a:pt x="15" y="922"/>
                  </a:cubicBezTo>
                  <a:cubicBezTo>
                    <a:pt x="24" y="922"/>
                    <a:pt x="30" y="928"/>
                    <a:pt x="30" y="937"/>
                  </a:cubicBezTo>
                  <a:close/>
                  <a:moveTo>
                    <a:pt x="30" y="1029"/>
                  </a:moveTo>
                  <a:lnTo>
                    <a:pt x="30" y="1060"/>
                  </a:lnTo>
                  <a:cubicBezTo>
                    <a:pt x="30" y="1068"/>
                    <a:pt x="24" y="1075"/>
                    <a:pt x="15" y="1075"/>
                  </a:cubicBezTo>
                  <a:cubicBezTo>
                    <a:pt x="7" y="1075"/>
                    <a:pt x="0" y="1068"/>
                    <a:pt x="0" y="1060"/>
                  </a:cubicBezTo>
                  <a:lnTo>
                    <a:pt x="0" y="1029"/>
                  </a:lnTo>
                  <a:cubicBezTo>
                    <a:pt x="0" y="1021"/>
                    <a:pt x="7" y="1014"/>
                    <a:pt x="15" y="1014"/>
                  </a:cubicBezTo>
                  <a:cubicBezTo>
                    <a:pt x="24" y="1014"/>
                    <a:pt x="30" y="1021"/>
                    <a:pt x="30" y="1029"/>
                  </a:cubicBezTo>
                  <a:close/>
                  <a:moveTo>
                    <a:pt x="30" y="1121"/>
                  </a:moveTo>
                  <a:lnTo>
                    <a:pt x="30" y="1152"/>
                  </a:lnTo>
                  <a:cubicBezTo>
                    <a:pt x="30" y="1160"/>
                    <a:pt x="24" y="1167"/>
                    <a:pt x="15" y="1167"/>
                  </a:cubicBezTo>
                  <a:cubicBezTo>
                    <a:pt x="7" y="1167"/>
                    <a:pt x="0" y="1160"/>
                    <a:pt x="0" y="1152"/>
                  </a:cubicBezTo>
                  <a:lnTo>
                    <a:pt x="0" y="1121"/>
                  </a:lnTo>
                  <a:cubicBezTo>
                    <a:pt x="0" y="1113"/>
                    <a:pt x="7" y="1106"/>
                    <a:pt x="15" y="1106"/>
                  </a:cubicBezTo>
                  <a:cubicBezTo>
                    <a:pt x="24" y="1106"/>
                    <a:pt x="30" y="1113"/>
                    <a:pt x="30" y="1121"/>
                  </a:cubicBezTo>
                  <a:close/>
                  <a:moveTo>
                    <a:pt x="30" y="1213"/>
                  </a:moveTo>
                  <a:lnTo>
                    <a:pt x="30" y="1225"/>
                  </a:lnTo>
                  <a:cubicBezTo>
                    <a:pt x="30" y="1233"/>
                    <a:pt x="24" y="1240"/>
                    <a:pt x="15" y="1240"/>
                  </a:cubicBezTo>
                  <a:cubicBezTo>
                    <a:pt x="7" y="1240"/>
                    <a:pt x="0" y="1233"/>
                    <a:pt x="0" y="1225"/>
                  </a:cubicBezTo>
                  <a:lnTo>
                    <a:pt x="0" y="1213"/>
                  </a:lnTo>
                  <a:cubicBezTo>
                    <a:pt x="0" y="1205"/>
                    <a:pt x="7" y="1198"/>
                    <a:pt x="15" y="1198"/>
                  </a:cubicBezTo>
                  <a:cubicBezTo>
                    <a:pt x="24" y="1198"/>
                    <a:pt x="30" y="1205"/>
                    <a:pt x="30" y="121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0" name="Line 79">
              <a:extLst>
                <a:ext uri="{FF2B5EF4-FFF2-40B4-BE49-F238E27FC236}">
                  <a16:creationId xmlns:a16="http://schemas.microsoft.com/office/drawing/2014/main" id="{4266C435-C4A4-4164-B8B5-40036B623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1" y="3354"/>
              <a:ext cx="150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1" name="Freeform 80">
              <a:extLst>
                <a:ext uri="{FF2B5EF4-FFF2-40B4-BE49-F238E27FC236}">
                  <a16:creationId xmlns:a16="http://schemas.microsoft.com/office/drawing/2014/main" id="{5A49FA47-E7DA-4863-9C33-751865690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3328"/>
              <a:ext cx="77" cy="52"/>
            </a:xfrm>
            <a:custGeom>
              <a:avLst/>
              <a:gdLst>
                <a:gd name="T0" fmla="*/ 0 w 77"/>
                <a:gd name="T1" fmla="*/ 0 h 52"/>
                <a:gd name="T2" fmla="*/ 77 w 77"/>
                <a:gd name="T3" fmla="*/ 26 h 52"/>
                <a:gd name="T4" fmla="*/ 0 w 77"/>
                <a:gd name="T5" fmla="*/ 52 h 52"/>
                <a:gd name="T6" fmla="*/ 0 w 77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52">
                  <a:moveTo>
                    <a:pt x="0" y="0"/>
                  </a:moveTo>
                  <a:lnTo>
                    <a:pt x="77" y="26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2" name="Line 81">
              <a:extLst>
                <a:ext uri="{FF2B5EF4-FFF2-40B4-BE49-F238E27FC236}">
                  <a16:creationId xmlns:a16="http://schemas.microsoft.com/office/drawing/2014/main" id="{95F493B6-7DE5-4482-9E17-239DAA6BE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3" y="3354"/>
              <a:ext cx="156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3" name="Freeform 82">
              <a:extLst>
                <a:ext uri="{FF2B5EF4-FFF2-40B4-BE49-F238E27FC236}">
                  <a16:creationId xmlns:a16="http://schemas.microsoft.com/office/drawing/2014/main" id="{C93F00DF-9CFC-4906-A41F-A2DAAB8CA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328"/>
              <a:ext cx="78" cy="52"/>
            </a:xfrm>
            <a:custGeom>
              <a:avLst/>
              <a:gdLst>
                <a:gd name="T0" fmla="*/ 78 w 78"/>
                <a:gd name="T1" fmla="*/ 52 h 52"/>
                <a:gd name="T2" fmla="*/ 0 w 78"/>
                <a:gd name="T3" fmla="*/ 26 h 52"/>
                <a:gd name="T4" fmla="*/ 78 w 78"/>
                <a:gd name="T5" fmla="*/ 0 h 52"/>
                <a:gd name="T6" fmla="*/ 78 w 78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2">
                  <a:moveTo>
                    <a:pt x="78" y="52"/>
                  </a:moveTo>
                  <a:lnTo>
                    <a:pt x="0" y="26"/>
                  </a:lnTo>
                  <a:lnTo>
                    <a:pt x="78" y="0"/>
                  </a:lnTo>
                  <a:lnTo>
                    <a:pt x="78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4" name="Freeform 83">
              <a:extLst>
                <a:ext uri="{FF2B5EF4-FFF2-40B4-BE49-F238E27FC236}">
                  <a16:creationId xmlns:a16="http://schemas.microsoft.com/office/drawing/2014/main" id="{968B4D47-1598-4C51-9DDA-1E469E7322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8" y="3237"/>
              <a:ext cx="6" cy="233"/>
            </a:xfrm>
            <a:custGeom>
              <a:avLst/>
              <a:gdLst>
                <a:gd name="T0" fmla="*/ 31 w 31"/>
                <a:gd name="T1" fmla="*/ 46 h 1240"/>
                <a:gd name="T2" fmla="*/ 0 w 31"/>
                <a:gd name="T3" fmla="*/ 46 h 1240"/>
                <a:gd name="T4" fmla="*/ 15 w 31"/>
                <a:gd name="T5" fmla="*/ 0 h 1240"/>
                <a:gd name="T6" fmla="*/ 31 w 31"/>
                <a:gd name="T7" fmla="*/ 107 h 1240"/>
                <a:gd name="T8" fmla="*/ 15 w 31"/>
                <a:gd name="T9" fmla="*/ 154 h 1240"/>
                <a:gd name="T10" fmla="*/ 0 w 31"/>
                <a:gd name="T11" fmla="*/ 107 h 1240"/>
                <a:gd name="T12" fmla="*/ 31 w 31"/>
                <a:gd name="T13" fmla="*/ 107 h 1240"/>
                <a:gd name="T14" fmla="*/ 31 w 31"/>
                <a:gd name="T15" fmla="*/ 230 h 1240"/>
                <a:gd name="T16" fmla="*/ 0 w 31"/>
                <a:gd name="T17" fmla="*/ 230 h 1240"/>
                <a:gd name="T18" fmla="*/ 15 w 31"/>
                <a:gd name="T19" fmla="*/ 184 h 1240"/>
                <a:gd name="T20" fmla="*/ 31 w 31"/>
                <a:gd name="T21" fmla="*/ 292 h 1240"/>
                <a:gd name="T22" fmla="*/ 15 w 31"/>
                <a:gd name="T23" fmla="*/ 338 h 1240"/>
                <a:gd name="T24" fmla="*/ 0 w 31"/>
                <a:gd name="T25" fmla="*/ 292 h 1240"/>
                <a:gd name="T26" fmla="*/ 31 w 31"/>
                <a:gd name="T27" fmla="*/ 292 h 1240"/>
                <a:gd name="T28" fmla="*/ 31 w 31"/>
                <a:gd name="T29" fmla="*/ 415 h 1240"/>
                <a:gd name="T30" fmla="*/ 0 w 31"/>
                <a:gd name="T31" fmla="*/ 415 h 1240"/>
                <a:gd name="T32" fmla="*/ 15 w 31"/>
                <a:gd name="T33" fmla="*/ 369 h 1240"/>
                <a:gd name="T34" fmla="*/ 31 w 31"/>
                <a:gd name="T35" fmla="*/ 476 h 1240"/>
                <a:gd name="T36" fmla="*/ 15 w 31"/>
                <a:gd name="T37" fmla="*/ 522 h 1240"/>
                <a:gd name="T38" fmla="*/ 0 w 31"/>
                <a:gd name="T39" fmla="*/ 476 h 1240"/>
                <a:gd name="T40" fmla="*/ 31 w 31"/>
                <a:gd name="T41" fmla="*/ 476 h 1240"/>
                <a:gd name="T42" fmla="*/ 31 w 31"/>
                <a:gd name="T43" fmla="*/ 599 h 1240"/>
                <a:gd name="T44" fmla="*/ 0 w 31"/>
                <a:gd name="T45" fmla="*/ 599 h 1240"/>
                <a:gd name="T46" fmla="*/ 15 w 31"/>
                <a:gd name="T47" fmla="*/ 553 h 1240"/>
                <a:gd name="T48" fmla="*/ 31 w 31"/>
                <a:gd name="T49" fmla="*/ 660 h 1240"/>
                <a:gd name="T50" fmla="*/ 15 w 31"/>
                <a:gd name="T51" fmla="*/ 706 h 1240"/>
                <a:gd name="T52" fmla="*/ 0 w 31"/>
                <a:gd name="T53" fmla="*/ 660 h 1240"/>
                <a:gd name="T54" fmla="*/ 31 w 31"/>
                <a:gd name="T55" fmla="*/ 660 h 1240"/>
                <a:gd name="T56" fmla="*/ 31 w 31"/>
                <a:gd name="T57" fmla="*/ 783 h 1240"/>
                <a:gd name="T58" fmla="*/ 0 w 31"/>
                <a:gd name="T59" fmla="*/ 783 h 1240"/>
                <a:gd name="T60" fmla="*/ 15 w 31"/>
                <a:gd name="T61" fmla="*/ 737 h 1240"/>
                <a:gd name="T62" fmla="*/ 31 w 31"/>
                <a:gd name="T63" fmla="*/ 845 h 1240"/>
                <a:gd name="T64" fmla="*/ 15 w 31"/>
                <a:gd name="T65" fmla="*/ 891 h 1240"/>
                <a:gd name="T66" fmla="*/ 0 w 31"/>
                <a:gd name="T67" fmla="*/ 845 h 1240"/>
                <a:gd name="T68" fmla="*/ 31 w 31"/>
                <a:gd name="T69" fmla="*/ 845 h 1240"/>
                <a:gd name="T70" fmla="*/ 31 w 31"/>
                <a:gd name="T71" fmla="*/ 968 h 1240"/>
                <a:gd name="T72" fmla="*/ 0 w 31"/>
                <a:gd name="T73" fmla="*/ 968 h 1240"/>
                <a:gd name="T74" fmla="*/ 15 w 31"/>
                <a:gd name="T75" fmla="*/ 922 h 1240"/>
                <a:gd name="T76" fmla="*/ 31 w 31"/>
                <a:gd name="T77" fmla="*/ 1029 h 1240"/>
                <a:gd name="T78" fmla="*/ 15 w 31"/>
                <a:gd name="T79" fmla="*/ 1075 h 1240"/>
                <a:gd name="T80" fmla="*/ 0 w 31"/>
                <a:gd name="T81" fmla="*/ 1029 h 1240"/>
                <a:gd name="T82" fmla="*/ 31 w 31"/>
                <a:gd name="T83" fmla="*/ 1029 h 1240"/>
                <a:gd name="T84" fmla="*/ 31 w 31"/>
                <a:gd name="T85" fmla="*/ 1152 h 1240"/>
                <a:gd name="T86" fmla="*/ 0 w 31"/>
                <a:gd name="T87" fmla="*/ 1152 h 1240"/>
                <a:gd name="T88" fmla="*/ 15 w 31"/>
                <a:gd name="T89" fmla="*/ 1106 h 1240"/>
                <a:gd name="T90" fmla="*/ 31 w 31"/>
                <a:gd name="T91" fmla="*/ 1213 h 1240"/>
                <a:gd name="T92" fmla="*/ 15 w 31"/>
                <a:gd name="T93" fmla="*/ 1240 h 1240"/>
                <a:gd name="T94" fmla="*/ 0 w 31"/>
                <a:gd name="T95" fmla="*/ 1213 h 1240"/>
                <a:gd name="T96" fmla="*/ 31 w 31"/>
                <a:gd name="T97" fmla="*/ 1213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" h="1240">
                  <a:moveTo>
                    <a:pt x="31" y="15"/>
                  </a:moveTo>
                  <a:lnTo>
                    <a:pt x="31" y="46"/>
                  </a:lnTo>
                  <a:cubicBezTo>
                    <a:pt x="31" y="54"/>
                    <a:pt x="24" y="61"/>
                    <a:pt x="15" y="61"/>
                  </a:cubicBezTo>
                  <a:cubicBezTo>
                    <a:pt x="7" y="61"/>
                    <a:pt x="0" y="54"/>
                    <a:pt x="0" y="46"/>
                  </a:cubicBezTo>
                  <a:lnTo>
                    <a:pt x="0" y="15"/>
                  </a:ln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lose/>
                  <a:moveTo>
                    <a:pt x="31" y="107"/>
                  </a:moveTo>
                  <a:lnTo>
                    <a:pt x="31" y="138"/>
                  </a:lnTo>
                  <a:cubicBezTo>
                    <a:pt x="31" y="147"/>
                    <a:pt x="24" y="154"/>
                    <a:pt x="15" y="154"/>
                  </a:cubicBezTo>
                  <a:cubicBezTo>
                    <a:pt x="7" y="154"/>
                    <a:pt x="0" y="147"/>
                    <a:pt x="0" y="138"/>
                  </a:cubicBezTo>
                  <a:lnTo>
                    <a:pt x="0" y="107"/>
                  </a:lnTo>
                  <a:cubicBezTo>
                    <a:pt x="0" y="99"/>
                    <a:pt x="7" y="92"/>
                    <a:pt x="15" y="92"/>
                  </a:cubicBezTo>
                  <a:cubicBezTo>
                    <a:pt x="24" y="92"/>
                    <a:pt x="31" y="99"/>
                    <a:pt x="31" y="107"/>
                  </a:cubicBezTo>
                  <a:close/>
                  <a:moveTo>
                    <a:pt x="31" y="200"/>
                  </a:moveTo>
                  <a:lnTo>
                    <a:pt x="31" y="230"/>
                  </a:lnTo>
                  <a:cubicBezTo>
                    <a:pt x="31" y="239"/>
                    <a:pt x="24" y="246"/>
                    <a:pt x="15" y="246"/>
                  </a:cubicBezTo>
                  <a:cubicBezTo>
                    <a:pt x="7" y="246"/>
                    <a:pt x="0" y="239"/>
                    <a:pt x="0" y="230"/>
                  </a:cubicBezTo>
                  <a:lnTo>
                    <a:pt x="0" y="200"/>
                  </a:lnTo>
                  <a:cubicBezTo>
                    <a:pt x="0" y="191"/>
                    <a:pt x="7" y="184"/>
                    <a:pt x="15" y="184"/>
                  </a:cubicBezTo>
                  <a:cubicBezTo>
                    <a:pt x="24" y="184"/>
                    <a:pt x="31" y="191"/>
                    <a:pt x="31" y="200"/>
                  </a:cubicBezTo>
                  <a:close/>
                  <a:moveTo>
                    <a:pt x="31" y="292"/>
                  </a:moveTo>
                  <a:lnTo>
                    <a:pt x="31" y="322"/>
                  </a:lnTo>
                  <a:cubicBezTo>
                    <a:pt x="31" y="331"/>
                    <a:pt x="24" y="338"/>
                    <a:pt x="15" y="338"/>
                  </a:cubicBezTo>
                  <a:cubicBezTo>
                    <a:pt x="7" y="338"/>
                    <a:pt x="0" y="331"/>
                    <a:pt x="0" y="322"/>
                  </a:cubicBezTo>
                  <a:lnTo>
                    <a:pt x="0" y="292"/>
                  </a:lnTo>
                  <a:cubicBezTo>
                    <a:pt x="0" y="283"/>
                    <a:pt x="7" y="276"/>
                    <a:pt x="15" y="276"/>
                  </a:cubicBezTo>
                  <a:cubicBezTo>
                    <a:pt x="24" y="276"/>
                    <a:pt x="31" y="283"/>
                    <a:pt x="31" y="292"/>
                  </a:cubicBezTo>
                  <a:close/>
                  <a:moveTo>
                    <a:pt x="31" y="384"/>
                  </a:moveTo>
                  <a:lnTo>
                    <a:pt x="31" y="415"/>
                  </a:lnTo>
                  <a:cubicBezTo>
                    <a:pt x="31" y="423"/>
                    <a:pt x="24" y="430"/>
                    <a:pt x="15" y="430"/>
                  </a:cubicBezTo>
                  <a:cubicBezTo>
                    <a:pt x="7" y="430"/>
                    <a:pt x="0" y="423"/>
                    <a:pt x="0" y="415"/>
                  </a:cubicBezTo>
                  <a:lnTo>
                    <a:pt x="0" y="384"/>
                  </a:lnTo>
                  <a:cubicBezTo>
                    <a:pt x="0" y="375"/>
                    <a:pt x="7" y="369"/>
                    <a:pt x="15" y="369"/>
                  </a:cubicBezTo>
                  <a:cubicBezTo>
                    <a:pt x="24" y="369"/>
                    <a:pt x="31" y="375"/>
                    <a:pt x="31" y="384"/>
                  </a:cubicBezTo>
                  <a:close/>
                  <a:moveTo>
                    <a:pt x="31" y="476"/>
                  </a:moveTo>
                  <a:lnTo>
                    <a:pt x="31" y="507"/>
                  </a:lnTo>
                  <a:cubicBezTo>
                    <a:pt x="31" y="515"/>
                    <a:pt x="24" y="522"/>
                    <a:pt x="15" y="522"/>
                  </a:cubicBezTo>
                  <a:cubicBezTo>
                    <a:pt x="7" y="522"/>
                    <a:pt x="0" y="515"/>
                    <a:pt x="0" y="507"/>
                  </a:cubicBezTo>
                  <a:lnTo>
                    <a:pt x="0" y="476"/>
                  </a:lnTo>
                  <a:cubicBezTo>
                    <a:pt x="0" y="468"/>
                    <a:pt x="7" y="461"/>
                    <a:pt x="15" y="461"/>
                  </a:cubicBezTo>
                  <a:cubicBezTo>
                    <a:pt x="24" y="461"/>
                    <a:pt x="31" y="468"/>
                    <a:pt x="31" y="476"/>
                  </a:cubicBezTo>
                  <a:close/>
                  <a:moveTo>
                    <a:pt x="31" y="568"/>
                  </a:moveTo>
                  <a:lnTo>
                    <a:pt x="31" y="599"/>
                  </a:lnTo>
                  <a:cubicBezTo>
                    <a:pt x="31" y="607"/>
                    <a:pt x="24" y="614"/>
                    <a:pt x="15" y="614"/>
                  </a:cubicBezTo>
                  <a:cubicBezTo>
                    <a:pt x="7" y="614"/>
                    <a:pt x="0" y="607"/>
                    <a:pt x="0" y="599"/>
                  </a:cubicBezTo>
                  <a:lnTo>
                    <a:pt x="0" y="568"/>
                  </a:lnTo>
                  <a:cubicBezTo>
                    <a:pt x="0" y="560"/>
                    <a:pt x="7" y="553"/>
                    <a:pt x="15" y="553"/>
                  </a:cubicBezTo>
                  <a:cubicBezTo>
                    <a:pt x="24" y="553"/>
                    <a:pt x="31" y="560"/>
                    <a:pt x="31" y="568"/>
                  </a:cubicBezTo>
                  <a:close/>
                  <a:moveTo>
                    <a:pt x="31" y="660"/>
                  </a:moveTo>
                  <a:lnTo>
                    <a:pt x="31" y="691"/>
                  </a:lnTo>
                  <a:cubicBezTo>
                    <a:pt x="31" y="700"/>
                    <a:pt x="24" y="706"/>
                    <a:pt x="15" y="706"/>
                  </a:cubicBezTo>
                  <a:cubicBezTo>
                    <a:pt x="7" y="706"/>
                    <a:pt x="0" y="700"/>
                    <a:pt x="0" y="691"/>
                  </a:cubicBezTo>
                  <a:lnTo>
                    <a:pt x="0" y="660"/>
                  </a:lnTo>
                  <a:cubicBezTo>
                    <a:pt x="0" y="652"/>
                    <a:pt x="7" y="645"/>
                    <a:pt x="15" y="645"/>
                  </a:cubicBezTo>
                  <a:cubicBezTo>
                    <a:pt x="24" y="645"/>
                    <a:pt x="31" y="652"/>
                    <a:pt x="31" y="660"/>
                  </a:cubicBezTo>
                  <a:close/>
                  <a:moveTo>
                    <a:pt x="31" y="753"/>
                  </a:moveTo>
                  <a:lnTo>
                    <a:pt x="31" y="783"/>
                  </a:lnTo>
                  <a:cubicBezTo>
                    <a:pt x="31" y="792"/>
                    <a:pt x="24" y="799"/>
                    <a:pt x="15" y="799"/>
                  </a:cubicBezTo>
                  <a:cubicBezTo>
                    <a:pt x="7" y="799"/>
                    <a:pt x="0" y="792"/>
                    <a:pt x="0" y="783"/>
                  </a:cubicBezTo>
                  <a:lnTo>
                    <a:pt x="0" y="753"/>
                  </a:lnTo>
                  <a:cubicBezTo>
                    <a:pt x="0" y="744"/>
                    <a:pt x="7" y="737"/>
                    <a:pt x="15" y="737"/>
                  </a:cubicBezTo>
                  <a:cubicBezTo>
                    <a:pt x="24" y="737"/>
                    <a:pt x="31" y="744"/>
                    <a:pt x="31" y="753"/>
                  </a:cubicBezTo>
                  <a:close/>
                  <a:moveTo>
                    <a:pt x="31" y="845"/>
                  </a:moveTo>
                  <a:lnTo>
                    <a:pt x="31" y="875"/>
                  </a:lnTo>
                  <a:cubicBezTo>
                    <a:pt x="31" y="884"/>
                    <a:pt x="24" y="891"/>
                    <a:pt x="15" y="891"/>
                  </a:cubicBezTo>
                  <a:cubicBezTo>
                    <a:pt x="7" y="891"/>
                    <a:pt x="0" y="884"/>
                    <a:pt x="0" y="875"/>
                  </a:cubicBezTo>
                  <a:lnTo>
                    <a:pt x="0" y="845"/>
                  </a:lnTo>
                  <a:cubicBezTo>
                    <a:pt x="0" y="836"/>
                    <a:pt x="7" y="829"/>
                    <a:pt x="15" y="829"/>
                  </a:cubicBezTo>
                  <a:cubicBezTo>
                    <a:pt x="24" y="829"/>
                    <a:pt x="31" y="836"/>
                    <a:pt x="31" y="845"/>
                  </a:cubicBezTo>
                  <a:close/>
                  <a:moveTo>
                    <a:pt x="31" y="937"/>
                  </a:moveTo>
                  <a:lnTo>
                    <a:pt x="31" y="968"/>
                  </a:lnTo>
                  <a:cubicBezTo>
                    <a:pt x="31" y="976"/>
                    <a:pt x="24" y="983"/>
                    <a:pt x="15" y="983"/>
                  </a:cubicBezTo>
                  <a:cubicBezTo>
                    <a:pt x="7" y="983"/>
                    <a:pt x="0" y="976"/>
                    <a:pt x="0" y="968"/>
                  </a:cubicBezTo>
                  <a:lnTo>
                    <a:pt x="0" y="937"/>
                  </a:lnTo>
                  <a:cubicBezTo>
                    <a:pt x="0" y="928"/>
                    <a:pt x="7" y="922"/>
                    <a:pt x="15" y="922"/>
                  </a:cubicBezTo>
                  <a:cubicBezTo>
                    <a:pt x="24" y="922"/>
                    <a:pt x="31" y="928"/>
                    <a:pt x="31" y="937"/>
                  </a:cubicBezTo>
                  <a:close/>
                  <a:moveTo>
                    <a:pt x="31" y="1029"/>
                  </a:moveTo>
                  <a:lnTo>
                    <a:pt x="31" y="1060"/>
                  </a:lnTo>
                  <a:cubicBezTo>
                    <a:pt x="31" y="1068"/>
                    <a:pt x="24" y="1075"/>
                    <a:pt x="15" y="1075"/>
                  </a:cubicBezTo>
                  <a:cubicBezTo>
                    <a:pt x="7" y="1075"/>
                    <a:pt x="0" y="1068"/>
                    <a:pt x="0" y="1060"/>
                  </a:cubicBezTo>
                  <a:lnTo>
                    <a:pt x="0" y="1029"/>
                  </a:lnTo>
                  <a:cubicBezTo>
                    <a:pt x="0" y="1021"/>
                    <a:pt x="7" y="1014"/>
                    <a:pt x="15" y="1014"/>
                  </a:cubicBezTo>
                  <a:cubicBezTo>
                    <a:pt x="24" y="1014"/>
                    <a:pt x="31" y="1021"/>
                    <a:pt x="31" y="1029"/>
                  </a:cubicBezTo>
                  <a:close/>
                  <a:moveTo>
                    <a:pt x="31" y="1121"/>
                  </a:moveTo>
                  <a:lnTo>
                    <a:pt x="31" y="1152"/>
                  </a:lnTo>
                  <a:cubicBezTo>
                    <a:pt x="31" y="1160"/>
                    <a:pt x="24" y="1167"/>
                    <a:pt x="15" y="1167"/>
                  </a:cubicBezTo>
                  <a:cubicBezTo>
                    <a:pt x="7" y="1167"/>
                    <a:pt x="0" y="1160"/>
                    <a:pt x="0" y="1152"/>
                  </a:cubicBezTo>
                  <a:lnTo>
                    <a:pt x="0" y="1121"/>
                  </a:lnTo>
                  <a:cubicBezTo>
                    <a:pt x="0" y="1113"/>
                    <a:pt x="7" y="1106"/>
                    <a:pt x="15" y="1106"/>
                  </a:cubicBezTo>
                  <a:cubicBezTo>
                    <a:pt x="24" y="1106"/>
                    <a:pt x="31" y="1113"/>
                    <a:pt x="31" y="1121"/>
                  </a:cubicBezTo>
                  <a:close/>
                  <a:moveTo>
                    <a:pt x="31" y="1213"/>
                  </a:moveTo>
                  <a:lnTo>
                    <a:pt x="31" y="1225"/>
                  </a:lnTo>
                  <a:cubicBezTo>
                    <a:pt x="31" y="1233"/>
                    <a:pt x="24" y="1240"/>
                    <a:pt x="15" y="1240"/>
                  </a:cubicBezTo>
                  <a:cubicBezTo>
                    <a:pt x="7" y="1240"/>
                    <a:pt x="0" y="1233"/>
                    <a:pt x="0" y="1225"/>
                  </a:cubicBezTo>
                  <a:lnTo>
                    <a:pt x="0" y="1213"/>
                  </a:lnTo>
                  <a:cubicBezTo>
                    <a:pt x="0" y="1205"/>
                    <a:pt x="7" y="1198"/>
                    <a:pt x="15" y="1198"/>
                  </a:cubicBezTo>
                  <a:cubicBezTo>
                    <a:pt x="24" y="1198"/>
                    <a:pt x="31" y="1205"/>
                    <a:pt x="31" y="121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5" name="Line 84">
              <a:extLst>
                <a:ext uri="{FF2B5EF4-FFF2-40B4-BE49-F238E27FC236}">
                  <a16:creationId xmlns:a16="http://schemas.microsoft.com/office/drawing/2014/main" id="{B52245E1-8442-4944-966F-4AEFBDF51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468"/>
              <a:ext cx="1628" cy="0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6" name="Freeform 85">
              <a:extLst>
                <a:ext uri="{FF2B5EF4-FFF2-40B4-BE49-F238E27FC236}">
                  <a16:creationId xmlns:a16="http://schemas.microsoft.com/office/drawing/2014/main" id="{A8DCD4B2-BA40-4039-81F0-B41799D09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3441"/>
              <a:ext cx="78" cy="52"/>
            </a:xfrm>
            <a:custGeom>
              <a:avLst/>
              <a:gdLst>
                <a:gd name="T0" fmla="*/ 78 w 78"/>
                <a:gd name="T1" fmla="*/ 52 h 52"/>
                <a:gd name="T2" fmla="*/ 0 w 78"/>
                <a:gd name="T3" fmla="*/ 27 h 52"/>
                <a:gd name="T4" fmla="*/ 78 w 78"/>
                <a:gd name="T5" fmla="*/ 0 h 52"/>
                <a:gd name="T6" fmla="*/ 78 w 78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2">
                  <a:moveTo>
                    <a:pt x="78" y="52"/>
                  </a:moveTo>
                  <a:lnTo>
                    <a:pt x="0" y="27"/>
                  </a:lnTo>
                  <a:lnTo>
                    <a:pt x="78" y="0"/>
                  </a:lnTo>
                  <a:lnTo>
                    <a:pt x="78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7" name="Freeform 86">
              <a:extLst>
                <a:ext uri="{FF2B5EF4-FFF2-40B4-BE49-F238E27FC236}">
                  <a16:creationId xmlns:a16="http://schemas.microsoft.com/office/drawing/2014/main" id="{0AD37DED-A10D-4242-8B49-ABABF28AB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3441"/>
              <a:ext cx="78" cy="52"/>
            </a:xfrm>
            <a:custGeom>
              <a:avLst/>
              <a:gdLst>
                <a:gd name="T0" fmla="*/ 0 w 78"/>
                <a:gd name="T1" fmla="*/ 0 h 52"/>
                <a:gd name="T2" fmla="*/ 78 w 78"/>
                <a:gd name="T3" fmla="*/ 27 h 52"/>
                <a:gd name="T4" fmla="*/ 0 w 78"/>
                <a:gd name="T5" fmla="*/ 52 h 52"/>
                <a:gd name="T6" fmla="*/ 0 w 78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52">
                  <a:moveTo>
                    <a:pt x="0" y="0"/>
                  </a:moveTo>
                  <a:lnTo>
                    <a:pt x="78" y="27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98" name="Rectangle 87">
              <a:extLst>
                <a:ext uri="{FF2B5EF4-FFF2-40B4-BE49-F238E27FC236}">
                  <a16:creationId xmlns:a16="http://schemas.microsoft.com/office/drawing/2014/main" id="{5E7DC96C-FB0D-48E8-A467-DE03F9341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3346"/>
              <a:ext cx="2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  <a:ea typeface="宋体" panose="02010600030101010101" pitchFamily="2" charset="-122"/>
                </a:rPr>
                <a:t>Tcycle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6856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9404F-6506-43D7-A872-B5C51E78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sz="4000" dirty="0">
                <a:latin typeface="+mn-lt"/>
              </a:rPr>
              <a:t>ADD: </a:t>
            </a:r>
            <a:r>
              <a:rPr lang="zh-CN" altLang="en-US" sz="4000" dirty="0">
                <a:latin typeface="+mn-lt"/>
              </a:rPr>
              <a:t>如何确定最短时钟周期？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C9724-A0DD-4632-A901-545EFD14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35231"/>
            <a:ext cx="2133600" cy="4762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806CE5-282B-4233-8654-09F35EA875E2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FFC95023-8A3D-8D06-D90F-05486927CCD6}"/>
              </a:ext>
            </a:extLst>
          </p:cNvPr>
          <p:cNvGrpSpPr>
            <a:grpSpLocks/>
          </p:cNvGrpSpPr>
          <p:nvPr/>
        </p:nvGrpSpPr>
        <p:grpSpPr bwMode="auto">
          <a:xfrm>
            <a:off x="5865819" y="5481331"/>
            <a:ext cx="458788" cy="1104900"/>
            <a:chOff x="3695" y="3223"/>
            <a:chExt cx="289" cy="696"/>
          </a:xfrm>
        </p:grpSpPr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C4F6F4FF-1DFD-C846-D056-973BE22DF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223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B9AF0DE7-ECA1-5F4E-4A07-EAE5BC6BB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3223"/>
              <a:ext cx="28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81DA2E95-E8B8-09A0-81A0-6C7EE9570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381"/>
              <a:ext cx="144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BB20C213-5603-4B1F-C8A4-311A62458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81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BB508D71-13E4-B25E-3219-A31560669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395"/>
              <a:ext cx="0" cy="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C7014B26-11E4-DA72-918A-607711B32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5" y="3637"/>
              <a:ext cx="137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13F81703-3D2E-8C02-995E-29C4CBDB4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743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A2269586-0949-3D0E-391D-38740C108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715"/>
              <a:ext cx="288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7" name="Line 14">
            <a:extLst>
              <a:ext uri="{FF2B5EF4-FFF2-40B4-BE49-F238E27FC236}">
                <a16:creationId xmlns:a16="http://schemas.microsoft.com/office/drawing/2014/main" id="{189B1552-2787-96E6-D8ED-5D0565107A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6014731"/>
            <a:ext cx="185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" name="Line 15">
            <a:extLst>
              <a:ext uri="{FF2B5EF4-FFF2-40B4-BE49-F238E27FC236}">
                <a16:creationId xmlns:a16="http://schemas.microsoft.com/office/drawing/2014/main" id="{132EFEE9-9FBE-2AEA-1FB3-EAE4966599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5884556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228B3256-0D82-F01F-750E-B47337736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6009968"/>
            <a:ext cx="39370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C0D19378-0E56-C2E3-FC72-F6EA4E997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5736918"/>
            <a:ext cx="76303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Result</a:t>
            </a:r>
          </a:p>
        </p:txBody>
      </p:sp>
      <p:sp>
        <p:nvSpPr>
          <p:cNvPr id="31" name="Line 18">
            <a:extLst>
              <a:ext uri="{FF2B5EF4-FFF2-40B4-BE49-F238E27FC236}">
                <a16:creationId xmlns:a16="http://schemas.microsoft.com/office/drawing/2014/main" id="{0099DAC5-D0A5-4C42-2537-346501AE6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208281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C4BBBBFF-0092-7A0A-F6C7-6FB3E4840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5136843"/>
            <a:ext cx="11456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ALUC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onf</a:t>
            </a:r>
            <a:endParaRPr lang="en-US" altLang="en-US" sz="16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3" name="Rectangle 20">
            <a:extLst>
              <a:ext uri="{FF2B5EF4-FFF2-40B4-BE49-F238E27FC236}">
                <a16:creationId xmlns:a16="http://schemas.microsoft.com/office/drawing/2014/main" id="{3FD999C8-3258-4043-D0C8-C25734549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6154431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Clk</a:t>
            </a:r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94BC879D-8710-3F94-7E08-78136E4F8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668656"/>
            <a:ext cx="70692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  <a:ea typeface="黑体" panose="02010609060101010101" pitchFamily="49" charset="-122"/>
              </a:rPr>
              <a:t>busW</a:t>
            </a:r>
            <a:endParaRPr lang="en-US" altLang="en-US" sz="16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F5F021C6-0A07-3392-14EE-A49ACE98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5481331"/>
            <a:ext cx="1431925" cy="1084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6" name="Line 23">
            <a:extLst>
              <a:ext uri="{FF2B5EF4-FFF2-40B4-BE49-F238E27FC236}">
                <a16:creationId xmlns:a16="http://schemas.microsoft.com/office/drawing/2014/main" id="{7CBE38EF-DEC1-D094-96C3-852ABF71B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6344932"/>
            <a:ext cx="250032" cy="746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7" name="Line 24">
            <a:extLst>
              <a:ext uri="{FF2B5EF4-FFF2-40B4-BE49-F238E27FC236}">
                <a16:creationId xmlns:a16="http://schemas.microsoft.com/office/drawing/2014/main" id="{995F11F9-322F-6D92-1BD6-18F7933C98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5561" y="6427482"/>
            <a:ext cx="243680" cy="8423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CCDBBB43-F0E8-8A17-662E-C7587B197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4968568"/>
            <a:ext cx="81702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  <a:ea typeface="黑体" panose="02010609060101010101" pitchFamily="49" charset="-122"/>
              </a:rPr>
              <a:t>RegWr</a:t>
            </a:r>
            <a:endParaRPr lang="en-US" altLang="en-US" sz="16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" name="Line 26">
            <a:extLst>
              <a:ext uri="{FF2B5EF4-FFF2-40B4-BE49-F238E27FC236}">
                <a16:creationId xmlns:a16="http://schemas.microsoft.com/office/drawing/2014/main" id="{DD32BE8F-1CA5-ECDF-1EE4-D016E27AE7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594646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0" name="Line 27">
            <a:extLst>
              <a:ext uri="{FF2B5EF4-FFF2-40B4-BE49-F238E27FC236}">
                <a16:creationId xmlns:a16="http://schemas.microsoft.com/office/drawing/2014/main" id="{E9AF049E-12CF-CC37-62B7-20A1F4839F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5816293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1" name="Rectangle 28">
            <a:extLst>
              <a:ext uri="{FF2B5EF4-FFF2-40B4-BE49-F238E27FC236}">
                <a16:creationId xmlns:a16="http://schemas.microsoft.com/office/drawing/2014/main" id="{45F8CE92-8B9B-61D7-3BAC-246499B95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594170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42" name="Line 29">
            <a:extLst>
              <a:ext uri="{FF2B5EF4-FFF2-40B4-BE49-F238E27FC236}">
                <a16:creationId xmlns:a16="http://schemas.microsoft.com/office/drawing/2014/main" id="{63990D37-6A14-0BF6-675A-FED407106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1300" y="5605156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3" name="Line 30">
            <a:extLst>
              <a:ext uri="{FF2B5EF4-FFF2-40B4-BE49-F238E27FC236}">
                <a16:creationId xmlns:a16="http://schemas.microsoft.com/office/drawing/2014/main" id="{F200829E-57A2-9403-884B-A672605781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5474981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E6FE9E7D-3243-E7C4-4277-E1001D62E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5668656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45" name="Rectangle 32">
            <a:extLst>
              <a:ext uri="{FF2B5EF4-FFF2-40B4-BE49-F238E27FC236}">
                <a16:creationId xmlns:a16="http://schemas.microsoft.com/office/drawing/2014/main" id="{6C41AEA6-F272-FDA1-42DC-4A3F2467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532734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  <a:ea typeface="黑体" panose="02010609060101010101" pitchFamily="49" charset="-122"/>
              </a:rPr>
              <a:t>busA</a:t>
            </a:r>
            <a:endParaRPr lang="en-US" altLang="en-US" sz="16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6" name="Line 33">
            <a:extLst>
              <a:ext uri="{FF2B5EF4-FFF2-40B4-BE49-F238E27FC236}">
                <a16:creationId xmlns:a16="http://schemas.microsoft.com/office/drawing/2014/main" id="{FFE31E9F-FE8A-1E5B-F7E9-9CC9BCD50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5251143"/>
            <a:ext cx="0" cy="230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7" name="Line 34">
            <a:extLst>
              <a:ext uri="{FF2B5EF4-FFF2-40B4-BE49-F238E27FC236}">
                <a16:creationId xmlns:a16="http://schemas.microsoft.com/office/drawing/2014/main" id="{CAEBA8DD-3BD3-9AEA-0218-48F8FD876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1300" y="6424306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" name="Line 35">
            <a:extLst>
              <a:ext uri="{FF2B5EF4-FFF2-40B4-BE49-F238E27FC236}">
                <a16:creationId xmlns:a16="http://schemas.microsoft.com/office/drawing/2014/main" id="{842B0E6E-A5ED-DE7D-0337-6FB212F19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6294131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" name="Rectangle 36">
            <a:extLst>
              <a:ext uri="{FF2B5EF4-FFF2-40B4-BE49-F238E27FC236}">
                <a16:creationId xmlns:a16="http://schemas.microsoft.com/office/drawing/2014/main" id="{67F8BC36-E432-3D22-BBA5-901786A7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6419543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50" name="Rectangle 37">
            <a:extLst>
              <a:ext uri="{FF2B5EF4-FFF2-40B4-BE49-F238E27FC236}">
                <a16:creationId xmlns:a16="http://schemas.microsoft.com/office/drawing/2014/main" id="{A9B1F83F-E60D-9425-76CF-F6BB976D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6146493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  <a:ea typeface="黑体" panose="02010609060101010101" pitchFamily="49" charset="-122"/>
              </a:rPr>
              <a:t>busB</a:t>
            </a:r>
            <a:endParaRPr lang="en-US" altLang="en-US" sz="16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1" name="Line 38">
            <a:extLst>
              <a:ext uri="{FF2B5EF4-FFF2-40B4-BE49-F238E27FC236}">
                <a16:creationId xmlns:a16="http://schemas.microsoft.com/office/drawing/2014/main" id="{F5BDC986-2EE0-146F-16A6-E438078DCE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8500" y="6424306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" name="Line 39">
            <a:extLst>
              <a:ext uri="{FF2B5EF4-FFF2-40B4-BE49-F238E27FC236}">
                <a16:creationId xmlns:a16="http://schemas.microsoft.com/office/drawing/2014/main" id="{282293C3-3C99-2F5F-15D3-32A9B4FB4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071756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3" name="Line 40">
            <a:extLst>
              <a:ext uri="{FF2B5EF4-FFF2-40B4-BE49-F238E27FC236}">
                <a16:creationId xmlns:a16="http://schemas.microsoft.com/office/drawing/2014/main" id="{14DD0209-EFEC-A394-CA20-29F032197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5189231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4" name="Rectangle 41">
            <a:extLst>
              <a:ext uri="{FF2B5EF4-FFF2-40B4-BE49-F238E27FC236}">
                <a16:creationId xmlns:a16="http://schemas.microsoft.com/office/drawing/2014/main" id="{93016542-F2BE-F435-8FB0-2C14971F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505429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55" name="Line 42">
            <a:extLst>
              <a:ext uri="{FF2B5EF4-FFF2-40B4-BE49-F238E27FC236}">
                <a16:creationId xmlns:a16="http://schemas.microsoft.com/office/drawing/2014/main" id="{D8AF6B5C-EEDF-AC71-DF15-89B57E0DE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5071756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6" name="Line 43">
            <a:extLst>
              <a:ext uri="{FF2B5EF4-FFF2-40B4-BE49-F238E27FC236}">
                <a16:creationId xmlns:a16="http://schemas.microsoft.com/office/drawing/2014/main" id="{57997687-0964-44A6-F3A0-E4D671E8E7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150" y="5189231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7" name="Rectangle 44">
            <a:extLst>
              <a:ext uri="{FF2B5EF4-FFF2-40B4-BE49-F238E27FC236}">
                <a16:creationId xmlns:a16="http://schemas.microsoft.com/office/drawing/2014/main" id="{FCE911B7-C078-7556-1BA4-320E80FB9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505429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58" name="Line 45">
            <a:extLst>
              <a:ext uri="{FF2B5EF4-FFF2-40B4-BE49-F238E27FC236}">
                <a16:creationId xmlns:a16="http://schemas.microsoft.com/office/drawing/2014/main" id="{9FD54A6E-9141-5DA6-2111-4944BAF2E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071756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" name="Line 46">
            <a:extLst>
              <a:ext uri="{FF2B5EF4-FFF2-40B4-BE49-F238E27FC236}">
                <a16:creationId xmlns:a16="http://schemas.microsoft.com/office/drawing/2014/main" id="{4D4B6152-FE80-8815-E67F-3B05D1F0CB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6350" y="5189231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0" name="Rectangle 47">
            <a:extLst>
              <a:ext uri="{FF2B5EF4-FFF2-40B4-BE49-F238E27FC236}">
                <a16:creationId xmlns:a16="http://schemas.microsoft.com/office/drawing/2014/main" id="{57185841-420B-44A3-4634-B78488E06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5054293"/>
            <a:ext cx="2965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61" name="Rectangle 48">
            <a:extLst>
              <a:ext uri="{FF2B5EF4-FFF2-40B4-BE49-F238E27FC236}">
                <a16:creationId xmlns:a16="http://schemas.microsoft.com/office/drawing/2014/main" id="{4289F89F-92A9-FD5C-230E-79D67F51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5463868"/>
            <a:ext cx="4776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  <a:ea typeface="黑体" panose="02010609060101010101" pitchFamily="49" charset="-122"/>
              </a:rPr>
              <a:t>Rw</a:t>
            </a:r>
            <a:endParaRPr lang="en-US" altLang="en-US" sz="16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2" name="Rectangle 49">
            <a:extLst>
              <a:ext uri="{FF2B5EF4-FFF2-40B4-BE49-F238E27FC236}">
                <a16:creationId xmlns:a16="http://schemas.microsoft.com/office/drawing/2014/main" id="{4233CBAC-61E2-466C-A3CE-A86D71EE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546386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Ra</a:t>
            </a:r>
          </a:p>
        </p:txBody>
      </p:sp>
      <p:sp>
        <p:nvSpPr>
          <p:cNvPr id="63" name="Rectangle 50">
            <a:extLst>
              <a:ext uri="{FF2B5EF4-FFF2-40B4-BE49-F238E27FC236}">
                <a16:creationId xmlns:a16="http://schemas.microsoft.com/office/drawing/2014/main" id="{E4F346AF-3315-7921-6A1D-CCB8BD94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5463868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Rb</a:t>
            </a:r>
          </a:p>
        </p:txBody>
      </p:sp>
      <p:sp>
        <p:nvSpPr>
          <p:cNvPr id="481" name="Rectangle 51">
            <a:extLst>
              <a:ext uri="{FF2B5EF4-FFF2-40B4-BE49-F238E27FC236}">
                <a16:creationId xmlns:a16="http://schemas.microsoft.com/office/drawing/2014/main" id="{997EDE98-4736-ABA5-2854-4EE656576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5784543"/>
            <a:ext cx="104836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黑体" panose="02010609060101010101" pitchFamily="49" charset="-122"/>
              </a:rPr>
              <a:t>32  32-bit</a:t>
            </a:r>
          </a:p>
          <a:p>
            <a:pPr eaLnBrk="0" hangingPunct="0"/>
            <a:r>
              <a:rPr lang="en-US" altLang="en-US" sz="1600" dirty="0">
                <a:latin typeface="+mn-lt"/>
                <a:ea typeface="黑体" panose="02010609060101010101" pitchFamily="49" charset="-122"/>
              </a:rPr>
              <a:t>Registers</a:t>
            </a:r>
          </a:p>
        </p:txBody>
      </p:sp>
      <p:sp>
        <p:nvSpPr>
          <p:cNvPr id="482" name="Line 52">
            <a:extLst>
              <a:ext uri="{FF2B5EF4-FFF2-40B4-BE49-F238E27FC236}">
                <a16:creationId xmlns:a16="http://schemas.microsoft.com/office/drawing/2014/main" id="{D6390BC5-A693-E1C7-52E8-267545280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6027431"/>
            <a:ext cx="0" cy="725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3" name="Line 53">
            <a:extLst>
              <a:ext uri="{FF2B5EF4-FFF2-40B4-BE49-F238E27FC236}">
                <a16:creationId xmlns:a16="http://schemas.microsoft.com/office/drawing/2014/main" id="{89D583AC-847C-F603-6A64-619EBBFE6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6765618"/>
            <a:ext cx="581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4" name="Line 54">
            <a:extLst>
              <a:ext uri="{FF2B5EF4-FFF2-40B4-BE49-F238E27FC236}">
                <a16:creationId xmlns:a16="http://schemas.microsoft.com/office/drawing/2014/main" id="{B832CC00-FC60-B680-5A93-1FA77E333E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5933768"/>
            <a:ext cx="0" cy="844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5" name="Rectangle 55">
            <a:extLst>
              <a:ext uri="{FF2B5EF4-FFF2-40B4-BE49-F238E27FC236}">
                <a16:creationId xmlns:a16="http://schemas.microsoft.com/office/drawing/2014/main" id="{3E41FBAC-A315-B356-436F-05401CAFD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781243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Rs</a:t>
            </a:r>
          </a:p>
        </p:txBody>
      </p:sp>
      <p:sp>
        <p:nvSpPr>
          <p:cNvPr id="486" name="Rectangle 56">
            <a:extLst>
              <a:ext uri="{FF2B5EF4-FFF2-40B4-BE49-F238E27FC236}">
                <a16:creationId xmlns:a16="http://schemas.microsoft.com/office/drawing/2014/main" id="{23FDEA4B-3697-7B17-BE0B-C7C7FE698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781243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Rt</a:t>
            </a:r>
          </a:p>
        </p:txBody>
      </p:sp>
      <p:sp>
        <p:nvSpPr>
          <p:cNvPr id="487" name="Rectangle 57">
            <a:extLst>
              <a:ext uri="{FF2B5EF4-FFF2-40B4-BE49-F238E27FC236}">
                <a16:creationId xmlns:a16="http://schemas.microsoft.com/office/drawing/2014/main" id="{DBFF2700-1B47-1130-1BDD-488540A7E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4781243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>
                <a:latin typeface="+mn-lt"/>
                <a:ea typeface="黑体" panose="02010609060101010101" pitchFamily="49" charset="-122"/>
              </a:rPr>
              <a:t>Rd</a:t>
            </a:r>
          </a:p>
        </p:txBody>
      </p:sp>
      <p:sp>
        <p:nvSpPr>
          <p:cNvPr id="488" name="Rectangle 58">
            <a:extLst>
              <a:ext uri="{FF2B5EF4-FFF2-40B4-BE49-F238E27FC236}">
                <a16:creationId xmlns:a16="http://schemas.microsoft.com/office/drawing/2014/main" id="{C989F88E-2B42-FD2E-A2EE-D0E4FFF5A4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20950" y="5855468"/>
            <a:ext cx="5802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+mn-lt"/>
                <a:ea typeface="黑体" panose="02010609060101010101" pitchFamily="49" charset="-122"/>
              </a:rPr>
              <a:t>ALU</a:t>
            </a:r>
          </a:p>
        </p:txBody>
      </p:sp>
      <p:sp>
        <p:nvSpPr>
          <p:cNvPr id="489" name="Line 59">
            <a:extLst>
              <a:ext uri="{FF2B5EF4-FFF2-40B4-BE49-F238E27FC236}">
                <a16:creationId xmlns:a16="http://schemas.microsoft.com/office/drawing/2014/main" id="{C91A9050-4DFD-25D6-4BA6-978B2F5B5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167159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490" name="Group 60">
            <a:extLst>
              <a:ext uri="{FF2B5EF4-FFF2-40B4-BE49-F238E27FC236}">
                <a16:creationId xmlns:a16="http://schemas.microsoft.com/office/drawing/2014/main" id="{E1034178-3A3A-7DA7-E33A-4AEF6BF90DA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69900" y="1167159"/>
            <a:ext cx="8356600" cy="228600"/>
            <a:chOff x="296" y="432"/>
            <a:chExt cx="5264" cy="144"/>
          </a:xfrm>
        </p:grpSpPr>
        <p:sp>
          <p:nvSpPr>
            <p:cNvPr id="491" name="Line 61">
              <a:extLst>
                <a:ext uri="{FF2B5EF4-FFF2-40B4-BE49-F238E27FC236}">
                  <a16:creationId xmlns:a16="http://schemas.microsoft.com/office/drawing/2014/main" id="{A22969F3-D455-BAF8-226C-EE7648E91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" y="432"/>
              <a:ext cx="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92" name="Line 62">
              <a:extLst>
                <a:ext uri="{FF2B5EF4-FFF2-40B4-BE49-F238E27FC236}">
                  <a16:creationId xmlns:a16="http://schemas.microsoft.com/office/drawing/2014/main" id="{377FC8CA-7DA2-3D48-DBC0-AD3020918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576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93" name="Line 63">
              <a:extLst>
                <a:ext uri="{FF2B5EF4-FFF2-40B4-BE49-F238E27FC236}">
                  <a16:creationId xmlns:a16="http://schemas.microsoft.com/office/drawing/2014/main" id="{B28F09B6-C245-B0BB-183E-7EB26E234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44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94" name="Line 64">
              <a:extLst>
                <a:ext uri="{FF2B5EF4-FFF2-40B4-BE49-F238E27FC236}">
                  <a16:creationId xmlns:a16="http://schemas.microsoft.com/office/drawing/2014/main" id="{EDE2CD82-6150-6215-CB78-ED6845676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432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95" name="Line 65">
              <a:extLst>
                <a:ext uri="{FF2B5EF4-FFF2-40B4-BE49-F238E27FC236}">
                  <a16:creationId xmlns:a16="http://schemas.microsoft.com/office/drawing/2014/main" id="{3345E150-5B65-0861-AAF4-C2D189764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44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96" name="Line 66">
              <a:extLst>
                <a:ext uri="{FF2B5EF4-FFF2-40B4-BE49-F238E27FC236}">
                  <a16:creationId xmlns:a16="http://schemas.microsoft.com/office/drawing/2014/main" id="{1BF37503-D103-2B2B-79E3-D53705909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4" y="576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7" name="Rectangle 67">
            <a:extLst>
              <a:ext uri="{FF2B5EF4-FFF2-40B4-BE49-F238E27FC236}">
                <a16:creationId xmlns:a16="http://schemas.microsoft.com/office/drawing/2014/main" id="{933D43A1-F72B-ACCE-FBB1-31BD6259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14772"/>
            <a:ext cx="4424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Clk</a:t>
            </a:r>
          </a:p>
        </p:txBody>
      </p:sp>
      <p:sp>
        <p:nvSpPr>
          <p:cNvPr id="498" name="Line 68">
            <a:extLst>
              <a:ext uri="{FF2B5EF4-FFF2-40B4-BE49-F238E27FC236}">
                <a16:creationId xmlns:a16="http://schemas.microsoft.com/office/drawing/2014/main" id="{11C336C2-5E93-54FD-65F1-B4CFADCBD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624359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9" name="Line 69">
            <a:extLst>
              <a:ext uri="{FF2B5EF4-FFF2-40B4-BE49-F238E27FC236}">
                <a16:creationId xmlns:a16="http://schemas.microsoft.com/office/drawing/2014/main" id="{9080852C-4FDD-2DE1-25F5-5D7955945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814" y="1618012"/>
            <a:ext cx="200024" cy="23812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0" name="Line 70">
            <a:extLst>
              <a:ext uri="{FF2B5EF4-FFF2-40B4-BE49-F238E27FC236}">
                <a16:creationId xmlns:a16="http://schemas.microsoft.com/office/drawing/2014/main" id="{C0469298-E8BF-52EE-E2E8-59C99D151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852959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1" name="Line 71">
            <a:extLst>
              <a:ext uri="{FF2B5EF4-FFF2-40B4-BE49-F238E27FC236}">
                <a16:creationId xmlns:a16="http://schemas.microsoft.com/office/drawing/2014/main" id="{0EAEC6CA-CD51-7C32-6946-EAA3D1265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1813" y="1624358"/>
            <a:ext cx="200023" cy="236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2" name="Line 72">
            <a:extLst>
              <a:ext uri="{FF2B5EF4-FFF2-40B4-BE49-F238E27FC236}">
                <a16:creationId xmlns:a16="http://schemas.microsoft.com/office/drawing/2014/main" id="{EB864473-882A-AD34-B136-6BE784DFB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624359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3" name="Rectangle 73">
            <a:extLst>
              <a:ext uri="{FF2B5EF4-FFF2-40B4-BE49-F238E27FC236}">
                <a16:creationId xmlns:a16="http://schemas.microsoft.com/office/drawing/2014/main" id="{6640A2CA-DCF9-330C-5BF3-C83AC855E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4359"/>
            <a:ext cx="45243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PC</a:t>
            </a:r>
          </a:p>
        </p:txBody>
      </p:sp>
      <p:sp>
        <p:nvSpPr>
          <p:cNvPr id="504" name="Line 74">
            <a:extLst>
              <a:ext uri="{FF2B5EF4-FFF2-40B4-BE49-F238E27FC236}">
                <a16:creationId xmlns:a16="http://schemas.microsoft.com/office/drawing/2014/main" id="{1DFC0598-9931-A2B7-EB33-509AD6EFB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852959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5" name="Line 75">
            <a:extLst>
              <a:ext uri="{FF2B5EF4-FFF2-40B4-BE49-F238E27FC236}">
                <a16:creationId xmlns:a16="http://schemas.microsoft.com/office/drawing/2014/main" id="{96DCD174-0212-F301-6F0B-83D9A63A4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408459"/>
            <a:ext cx="0" cy="332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6" name="Line 76">
            <a:extLst>
              <a:ext uri="{FF2B5EF4-FFF2-40B4-BE49-F238E27FC236}">
                <a16:creationId xmlns:a16="http://schemas.microsoft.com/office/drawing/2014/main" id="{C9C4C43E-70F5-E81B-3948-02C465233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408459"/>
            <a:ext cx="0" cy="332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7" name="Line 77">
            <a:extLst>
              <a:ext uri="{FF2B5EF4-FFF2-40B4-BE49-F238E27FC236}">
                <a16:creationId xmlns:a16="http://schemas.microsoft.com/office/drawing/2014/main" id="{5247A3B6-12CE-2730-0568-5868CB23A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1" y="1618012"/>
            <a:ext cx="190497" cy="2349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8" name="Line 78">
            <a:extLst>
              <a:ext uri="{FF2B5EF4-FFF2-40B4-BE49-F238E27FC236}">
                <a16:creationId xmlns:a16="http://schemas.microsoft.com/office/drawing/2014/main" id="{3D23C80D-BB00-E00B-4A1D-536807F96B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80399" y="1625945"/>
            <a:ext cx="190495" cy="2349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09" name="Line 79">
            <a:extLst>
              <a:ext uri="{FF2B5EF4-FFF2-40B4-BE49-F238E27FC236}">
                <a16:creationId xmlns:a16="http://schemas.microsoft.com/office/drawing/2014/main" id="{F0953950-9B58-BF30-74BB-E248287D9C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2157759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10" name="Line 80">
            <a:extLst>
              <a:ext uri="{FF2B5EF4-FFF2-40B4-BE49-F238E27FC236}">
                <a16:creationId xmlns:a16="http://schemas.microsoft.com/office/drawing/2014/main" id="{E9F895C3-14B1-6F08-BC1F-9B7FDA93D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7213" y="2154584"/>
            <a:ext cx="206373" cy="2365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11" name="Line 81">
            <a:extLst>
              <a:ext uri="{FF2B5EF4-FFF2-40B4-BE49-F238E27FC236}">
                <a16:creationId xmlns:a16="http://schemas.microsoft.com/office/drawing/2014/main" id="{E21A2FA9-19B4-89AC-E4CB-A6E538473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2386359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28" name="Line 82">
            <a:extLst>
              <a:ext uri="{FF2B5EF4-FFF2-40B4-BE49-F238E27FC236}">
                <a16:creationId xmlns:a16="http://schemas.microsoft.com/office/drawing/2014/main" id="{F6C1C4AD-4AB8-A652-9938-64D13EE269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7214" y="2154582"/>
            <a:ext cx="219866" cy="23653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29" name="Line 83">
            <a:extLst>
              <a:ext uri="{FF2B5EF4-FFF2-40B4-BE49-F238E27FC236}">
                <a16:creationId xmlns:a16="http://schemas.microsoft.com/office/drawing/2014/main" id="{EEEB2AD7-A8A1-F958-11C6-84FFD49EA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6" y="2157759"/>
            <a:ext cx="55229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0" name="Rectangle 84">
            <a:extLst>
              <a:ext uri="{FF2B5EF4-FFF2-40B4-BE49-F238E27FC236}">
                <a16:creationId xmlns:a16="http://schemas.microsoft.com/office/drawing/2014/main" id="{319FCB9A-B208-FBD2-5F2E-C561BD4B6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2038697"/>
            <a:ext cx="1139825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Rs, Rt, Rd,</a:t>
            </a:r>
          </a:p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Op, </a:t>
            </a:r>
            <a:r>
              <a:rPr lang="en-US" altLang="en-US" sz="1400" b="0" dirty="0" err="1">
                <a:latin typeface="+mn-lt"/>
                <a:ea typeface="黑体" panose="02010609060101010101" pitchFamily="49" charset="-122"/>
              </a:rPr>
              <a:t>Func</a:t>
            </a:r>
            <a:endParaRPr lang="en-US" altLang="en-US" sz="14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1" name="Line 85">
            <a:extLst>
              <a:ext uri="{FF2B5EF4-FFF2-40B4-BE49-F238E27FC236}">
                <a16:creationId xmlns:a16="http://schemas.microsoft.com/office/drawing/2014/main" id="{FC7BF370-C89B-1E8D-A907-BAEE59151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2386359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2" name="Line 86">
            <a:extLst>
              <a:ext uri="{FF2B5EF4-FFF2-40B4-BE49-F238E27FC236}">
                <a16:creationId xmlns:a16="http://schemas.microsoft.com/office/drawing/2014/main" id="{A114559A-D87F-4EAE-4673-AA1F9E0C7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408459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3" name="Rectangle 87">
            <a:extLst>
              <a:ext uri="{FF2B5EF4-FFF2-40B4-BE49-F238E27FC236}">
                <a16:creationId xmlns:a16="http://schemas.microsoft.com/office/drawing/2014/main" id="{2E3F5A68-89C8-8591-4F80-F34B5238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1343372"/>
            <a:ext cx="849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Clk-to-Q</a:t>
            </a:r>
          </a:p>
        </p:txBody>
      </p:sp>
      <p:sp>
        <p:nvSpPr>
          <p:cNvPr id="134" name="Line 88">
            <a:extLst>
              <a:ext uri="{FF2B5EF4-FFF2-40B4-BE49-F238E27FC236}">
                <a16:creationId xmlns:a16="http://schemas.microsoft.com/office/drawing/2014/main" id="{1E126BA1-21E6-8DAF-FCFA-5A17DC8AC3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1471959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5" name="Line 89">
            <a:extLst>
              <a:ext uri="{FF2B5EF4-FFF2-40B4-BE49-F238E27FC236}">
                <a16:creationId xmlns:a16="http://schemas.microsoft.com/office/drawing/2014/main" id="{BE0793C2-29D0-8D6B-CDC5-88E4DB7DE6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1471959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6" name="Line 90">
            <a:extLst>
              <a:ext uri="{FF2B5EF4-FFF2-40B4-BE49-F238E27FC236}">
                <a16:creationId xmlns:a16="http://schemas.microsoft.com/office/drawing/2014/main" id="{8D27BA10-4E87-35BF-BD1A-1168D6D1B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" y="2691159"/>
            <a:ext cx="355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7" name="Line 91">
            <a:extLst>
              <a:ext uri="{FF2B5EF4-FFF2-40B4-BE49-F238E27FC236}">
                <a16:creationId xmlns:a16="http://schemas.microsoft.com/office/drawing/2014/main" id="{06347FAF-1440-2760-94AB-0B6F85915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2913" y="2683220"/>
            <a:ext cx="188909" cy="24130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8" name="Line 92">
            <a:extLst>
              <a:ext uri="{FF2B5EF4-FFF2-40B4-BE49-F238E27FC236}">
                <a16:creationId xmlns:a16="http://schemas.microsoft.com/office/drawing/2014/main" id="{2853AEFD-C94B-16D9-6C2F-72C49169A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2919759"/>
            <a:ext cx="355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9" name="Line 93">
            <a:extLst>
              <a:ext uri="{FF2B5EF4-FFF2-40B4-BE49-F238E27FC236}">
                <a16:creationId xmlns:a16="http://schemas.microsoft.com/office/drawing/2014/main" id="{1FBCA5F3-0E70-689B-4610-5502F236D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2899" y="2686397"/>
            <a:ext cx="188908" cy="2453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0" name="Line 94">
            <a:extLst>
              <a:ext uri="{FF2B5EF4-FFF2-40B4-BE49-F238E27FC236}">
                <a16:creationId xmlns:a16="http://schemas.microsoft.com/office/drawing/2014/main" id="{7F3E43C2-A455-61A1-D6F7-3AC67BD71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691159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1" name="Line 95">
            <a:extLst>
              <a:ext uri="{FF2B5EF4-FFF2-40B4-BE49-F238E27FC236}">
                <a16:creationId xmlns:a16="http://schemas.microsoft.com/office/drawing/2014/main" id="{637C7B2E-DADF-F6A9-E15F-E87CB1FFF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919759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2" name="Line 96">
            <a:extLst>
              <a:ext uri="{FF2B5EF4-FFF2-40B4-BE49-F238E27FC236}">
                <a16:creationId xmlns:a16="http://schemas.microsoft.com/office/drawing/2014/main" id="{9FC25BDA-5976-3712-D52C-F508FCB9E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3224559"/>
            <a:ext cx="462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3" name="Line 97">
            <a:extLst>
              <a:ext uri="{FF2B5EF4-FFF2-40B4-BE49-F238E27FC236}">
                <a16:creationId xmlns:a16="http://schemas.microsoft.com/office/drawing/2014/main" id="{86B45174-5B99-708E-5927-4224226D4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049" y="3216623"/>
            <a:ext cx="246837" cy="23812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4" name="Line 98">
            <a:extLst>
              <a:ext uri="{FF2B5EF4-FFF2-40B4-BE49-F238E27FC236}">
                <a16:creationId xmlns:a16="http://schemas.microsoft.com/office/drawing/2014/main" id="{55369B99-7941-DA3D-E485-96F94E2FB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3453159"/>
            <a:ext cx="462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5" name="Line 99">
            <a:extLst>
              <a:ext uri="{FF2B5EF4-FFF2-40B4-BE49-F238E27FC236}">
                <a16:creationId xmlns:a16="http://schemas.microsoft.com/office/drawing/2014/main" id="{8EF75749-7BF3-3441-3555-1925807A0D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3048" y="3224558"/>
            <a:ext cx="246837" cy="230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6" name="Line 100">
            <a:extLst>
              <a:ext uri="{FF2B5EF4-FFF2-40B4-BE49-F238E27FC236}">
                <a16:creationId xmlns:a16="http://schemas.microsoft.com/office/drawing/2014/main" id="{BC45AC29-F457-14F0-1CBB-E59509139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252" y="3453159"/>
            <a:ext cx="329724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7" name="Line 101">
            <a:extLst>
              <a:ext uri="{FF2B5EF4-FFF2-40B4-BE49-F238E27FC236}">
                <a16:creationId xmlns:a16="http://schemas.microsoft.com/office/drawing/2014/main" id="{8A57BDE0-F9D7-1BDA-0F28-CA8469112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3757959"/>
            <a:ext cx="576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8" name="Line 102">
            <a:extLst>
              <a:ext uri="{FF2B5EF4-FFF2-40B4-BE49-F238E27FC236}">
                <a16:creationId xmlns:a16="http://schemas.microsoft.com/office/drawing/2014/main" id="{C0954E64-B3D9-D1CE-D25B-3939B6451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0013" y="3759546"/>
            <a:ext cx="209545" cy="2270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9" name="Line 103">
            <a:extLst>
              <a:ext uri="{FF2B5EF4-FFF2-40B4-BE49-F238E27FC236}">
                <a16:creationId xmlns:a16="http://schemas.microsoft.com/office/drawing/2014/main" id="{1DD59FF8-DB49-3954-600E-87D40BAF2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3986559"/>
            <a:ext cx="576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0" name="Line 104">
            <a:extLst>
              <a:ext uri="{FF2B5EF4-FFF2-40B4-BE49-F238E27FC236}">
                <a16:creationId xmlns:a16="http://schemas.microsoft.com/office/drawing/2014/main" id="{5924428D-CE15-E450-159F-1FC2D98554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0013" y="3756371"/>
            <a:ext cx="209545" cy="23018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1" name="Line 105">
            <a:extLst>
              <a:ext uri="{FF2B5EF4-FFF2-40B4-BE49-F238E27FC236}">
                <a16:creationId xmlns:a16="http://schemas.microsoft.com/office/drawing/2014/main" id="{2E82914D-C28F-C9B0-E968-6FB7DF8FA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3757959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2" name="Line 106">
            <a:extLst>
              <a:ext uri="{FF2B5EF4-FFF2-40B4-BE49-F238E27FC236}">
                <a16:creationId xmlns:a16="http://schemas.microsoft.com/office/drawing/2014/main" id="{6EF2FCBA-830E-6EE6-B2CB-F07934B29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3986559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3" name="Rectangle 107">
            <a:extLst>
              <a:ext uri="{FF2B5EF4-FFF2-40B4-BE49-F238E27FC236}">
                <a16:creationId xmlns:a16="http://schemas.microsoft.com/office/drawing/2014/main" id="{F771C72F-9F21-7790-BBCD-85EB2398E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" y="2656234"/>
            <a:ext cx="96202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ALUC</a:t>
            </a:r>
            <a:r>
              <a:rPr lang="en-US" altLang="zh-CN" sz="1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onf</a:t>
            </a:r>
            <a:endParaRPr lang="en-US" altLang="en-US" sz="14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4" name="Line 108">
            <a:extLst>
              <a:ext uri="{FF2B5EF4-FFF2-40B4-BE49-F238E27FC236}">
                <a16:creationId xmlns:a16="http://schemas.microsoft.com/office/drawing/2014/main" id="{96F0E13C-902E-1EC3-9415-4FC30CA25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941859"/>
            <a:ext cx="0" cy="2184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5" name="Rectangle 109">
            <a:extLst>
              <a:ext uri="{FF2B5EF4-FFF2-40B4-BE49-F238E27FC236}">
                <a16:creationId xmlns:a16="http://schemas.microsoft.com/office/drawing/2014/main" id="{8F3C0B9C-959A-D8B9-E89F-07EB8A5DE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847" y="1845950"/>
            <a:ext cx="179857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zh-CN" altLang="en-US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指令存储器访问延迟</a:t>
            </a:r>
          </a:p>
        </p:txBody>
      </p:sp>
      <p:sp>
        <p:nvSpPr>
          <p:cNvPr id="156" name="Line 110">
            <a:extLst>
              <a:ext uri="{FF2B5EF4-FFF2-40B4-BE49-F238E27FC236}">
                <a16:creationId xmlns:a16="http://schemas.microsoft.com/office/drawing/2014/main" id="{6180F5E0-D829-0F94-F656-8D2B57B9D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005359"/>
            <a:ext cx="1270000" cy="0"/>
          </a:xfrm>
          <a:prstGeom prst="line">
            <a:avLst/>
          </a:prstGeom>
          <a:noFill/>
          <a:ln w="25400">
            <a:solidFill>
              <a:srgbClr val="0432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7" name="Rectangle 111">
            <a:extLst>
              <a:ext uri="{FF2B5EF4-FFF2-40B4-BE49-F238E27FC236}">
                <a16:creationId xmlns:a16="http://schemas.microsoft.com/office/drawing/2014/main" id="{E0EBC611-B36B-E615-AA41-6E16027D7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4" y="2656234"/>
            <a:ext cx="1015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58" name="Rectangle 112">
            <a:extLst>
              <a:ext uri="{FF2B5EF4-FFF2-40B4-BE49-F238E27FC236}">
                <a16:creationId xmlns:a16="http://schemas.microsoft.com/office/drawing/2014/main" id="{93D8F411-D436-FF9F-735E-9B401478D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656234"/>
            <a:ext cx="10795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59" name="Line 113">
            <a:extLst>
              <a:ext uri="{FF2B5EF4-FFF2-40B4-BE49-F238E27FC236}">
                <a16:creationId xmlns:a16="http://schemas.microsoft.com/office/drawing/2014/main" id="{440321F8-3796-DA8C-E711-7B3DE18A2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6" y="2475259"/>
            <a:ext cx="0" cy="210185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0" name="Line 114">
            <a:extLst>
              <a:ext uri="{FF2B5EF4-FFF2-40B4-BE49-F238E27FC236}">
                <a16:creationId xmlns:a16="http://schemas.microsoft.com/office/drawing/2014/main" id="{DB3F332A-7C8D-DA52-D038-97636AFF0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2538759"/>
            <a:ext cx="1117600" cy="0"/>
          </a:xfrm>
          <a:prstGeom prst="line">
            <a:avLst/>
          </a:prstGeom>
          <a:noFill/>
          <a:ln w="25400">
            <a:solidFill>
              <a:srgbClr val="7030A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1" name="Rectangle 115">
            <a:extLst>
              <a:ext uri="{FF2B5EF4-FFF2-40B4-BE49-F238E27FC236}">
                <a16:creationId xmlns:a16="http://schemas.microsoft.com/office/drawing/2014/main" id="{49E120C7-C215-2A7B-1543-CAD625041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410172"/>
            <a:ext cx="179857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zh-CN" altLang="en-US" sz="1400" b="0" dirty="0">
                <a:solidFill>
                  <a:srgbClr val="7030A0"/>
                </a:solidFill>
                <a:latin typeface="+mn-lt"/>
                <a:ea typeface="黑体" panose="02010609060101010101" pitchFamily="49" charset="-122"/>
              </a:rPr>
              <a:t>控制逻辑电路的延迟</a:t>
            </a:r>
          </a:p>
        </p:txBody>
      </p:sp>
      <p:sp>
        <p:nvSpPr>
          <p:cNvPr id="162" name="Line 116">
            <a:extLst>
              <a:ext uri="{FF2B5EF4-FFF2-40B4-BE49-F238E27FC236}">
                <a16:creationId xmlns:a16="http://schemas.microsoft.com/office/drawing/2014/main" id="{4A81B52C-21C4-E2FA-A7F7-E3AF5933E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252" y="3224559"/>
            <a:ext cx="329724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3" name="Rectangle 117">
            <a:extLst>
              <a:ext uri="{FF2B5EF4-FFF2-40B4-BE49-F238E27FC236}">
                <a16:creationId xmlns:a16="http://schemas.microsoft.com/office/drawing/2014/main" id="{A4DC143F-6FBB-4AFD-15E7-306879D0E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189634"/>
            <a:ext cx="774700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 err="1">
                <a:latin typeface="+mn-lt"/>
                <a:ea typeface="黑体" panose="02010609060101010101" pitchFamily="49" charset="-122"/>
              </a:rPr>
              <a:t>busA</a:t>
            </a:r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, B</a:t>
            </a:r>
          </a:p>
        </p:txBody>
      </p:sp>
      <p:sp>
        <p:nvSpPr>
          <p:cNvPr id="164" name="Line 118">
            <a:extLst>
              <a:ext uri="{FF2B5EF4-FFF2-40B4-BE49-F238E27FC236}">
                <a16:creationId xmlns:a16="http://schemas.microsoft.com/office/drawing/2014/main" id="{533EAFC6-0380-3756-5C23-7D35C07C2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2" y="3008659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5" name="Line 119">
            <a:extLst>
              <a:ext uri="{FF2B5EF4-FFF2-40B4-BE49-F238E27FC236}">
                <a16:creationId xmlns:a16="http://schemas.microsoft.com/office/drawing/2014/main" id="{E954AF89-B65E-7299-1581-0AC790F0E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072159"/>
            <a:ext cx="2184400" cy="0"/>
          </a:xfrm>
          <a:prstGeom prst="line">
            <a:avLst/>
          </a:prstGeom>
          <a:noFill/>
          <a:ln w="25400">
            <a:solidFill>
              <a:srgbClr val="0432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6" name="Rectangle 120">
            <a:extLst>
              <a:ext uri="{FF2B5EF4-FFF2-40B4-BE49-F238E27FC236}">
                <a16:creationId xmlns:a16="http://schemas.microsoft.com/office/drawing/2014/main" id="{CE4E683C-C815-00C6-032D-43F08DFED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2943572"/>
            <a:ext cx="243335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Register File </a:t>
            </a:r>
            <a:r>
              <a:rPr lang="zh-CN" altLang="en-US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访问时间</a:t>
            </a:r>
            <a:r>
              <a:rPr lang="en-US" altLang="zh-CN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0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67" name="Rectangle 121">
            <a:extLst>
              <a:ext uri="{FF2B5EF4-FFF2-40B4-BE49-F238E27FC236}">
                <a16:creationId xmlns:a16="http://schemas.microsoft.com/office/drawing/2014/main" id="{AD00CC22-5089-1A4B-C02E-D829E8BEC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4" y="3189634"/>
            <a:ext cx="1015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68" name="Rectangle 122">
            <a:extLst>
              <a:ext uri="{FF2B5EF4-FFF2-40B4-BE49-F238E27FC236}">
                <a16:creationId xmlns:a16="http://schemas.microsoft.com/office/drawing/2014/main" id="{FFDE4BF7-8E8A-C818-7E02-2DCCAF1DC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3189634"/>
            <a:ext cx="10795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69" name="Rectangle 123">
            <a:extLst>
              <a:ext uri="{FF2B5EF4-FFF2-40B4-BE49-F238E27FC236}">
                <a16:creationId xmlns:a16="http://schemas.microsoft.com/office/drawing/2014/main" id="{8A936578-692A-EA29-72EC-F68EA6C02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723034"/>
            <a:ext cx="7747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 err="1">
                <a:latin typeface="+mn-lt"/>
                <a:ea typeface="黑体" panose="02010609060101010101" pitchFamily="49" charset="-122"/>
              </a:rPr>
              <a:t>busW</a:t>
            </a:r>
            <a:endParaRPr lang="en-US" altLang="en-US" sz="1400" b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0" name="Line 124">
            <a:extLst>
              <a:ext uri="{FF2B5EF4-FFF2-40B4-BE49-F238E27FC236}">
                <a16:creationId xmlns:a16="http://schemas.microsoft.com/office/drawing/2014/main" id="{69F4C78D-D263-3F66-D588-E271B9269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529359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1" name="Line 125">
            <a:extLst>
              <a:ext uri="{FF2B5EF4-FFF2-40B4-BE49-F238E27FC236}">
                <a16:creationId xmlns:a16="http://schemas.microsoft.com/office/drawing/2014/main" id="{834960B9-BF05-6144-D079-A645D7FF72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2588" y="3602385"/>
            <a:ext cx="1042985" cy="3174"/>
          </a:xfrm>
          <a:prstGeom prst="line">
            <a:avLst/>
          </a:prstGeom>
          <a:noFill/>
          <a:ln w="25400">
            <a:solidFill>
              <a:srgbClr val="7030A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2" name="Rectangle 126">
            <a:extLst>
              <a:ext uri="{FF2B5EF4-FFF2-40B4-BE49-F238E27FC236}">
                <a16:creationId xmlns:a16="http://schemas.microsoft.com/office/drawing/2014/main" id="{51C4ED4D-014A-A82F-A9F1-6B5A774D1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476972"/>
            <a:ext cx="95539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solidFill>
                  <a:srgbClr val="7030A0"/>
                </a:solidFill>
                <a:latin typeface="+mn-lt"/>
                <a:ea typeface="黑体" panose="02010609060101010101" pitchFamily="49" charset="-122"/>
              </a:rPr>
              <a:t>ALU </a:t>
            </a:r>
            <a:r>
              <a:rPr lang="zh-CN" altLang="en-US" sz="1400" b="0" dirty="0">
                <a:solidFill>
                  <a:srgbClr val="7030A0"/>
                </a:solidFill>
                <a:latin typeface="+mn-lt"/>
                <a:ea typeface="黑体" panose="02010609060101010101" pitchFamily="49" charset="-122"/>
              </a:rPr>
              <a:t>延迟</a:t>
            </a:r>
          </a:p>
        </p:txBody>
      </p:sp>
      <p:sp>
        <p:nvSpPr>
          <p:cNvPr id="173" name="Rectangle 127">
            <a:extLst>
              <a:ext uri="{FF2B5EF4-FFF2-40B4-BE49-F238E27FC236}">
                <a16:creationId xmlns:a16="http://schemas.microsoft.com/office/drawing/2014/main" id="{0B00D649-C7F7-EDFD-A363-0FDEFE2D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4" y="3723034"/>
            <a:ext cx="1015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74" name="Rectangle 128">
            <a:extLst>
              <a:ext uri="{FF2B5EF4-FFF2-40B4-BE49-F238E27FC236}">
                <a16:creationId xmlns:a16="http://schemas.microsoft.com/office/drawing/2014/main" id="{5C6D8253-D078-3708-9516-A7190F6E5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3723034"/>
            <a:ext cx="10795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75" name="Rectangle 129">
            <a:extLst>
              <a:ext uri="{FF2B5EF4-FFF2-40B4-BE49-F238E27FC236}">
                <a16:creationId xmlns:a16="http://schemas.microsoft.com/office/drawing/2014/main" id="{2970DBB3-6BAC-BC45-1290-B44C7D777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4" y="2122834"/>
            <a:ext cx="101599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76" name="Line 130">
            <a:extLst>
              <a:ext uri="{FF2B5EF4-FFF2-40B4-BE49-F238E27FC236}">
                <a16:creationId xmlns:a16="http://schemas.microsoft.com/office/drawing/2014/main" id="{CD99487A-8EC0-021E-0B55-542A014DC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7725" y="1624359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7" name="Line 131">
            <a:extLst>
              <a:ext uri="{FF2B5EF4-FFF2-40B4-BE49-F238E27FC236}">
                <a16:creationId xmlns:a16="http://schemas.microsoft.com/office/drawing/2014/main" id="{1257797D-D333-4AF8-7857-938EE6F66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7725" y="1852959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8" name="Rectangle 132">
            <a:extLst>
              <a:ext uri="{FF2B5EF4-FFF2-40B4-BE49-F238E27FC236}">
                <a16:creationId xmlns:a16="http://schemas.microsoft.com/office/drawing/2014/main" id="{91923135-B5F8-9FF8-B185-B31333602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2122834"/>
            <a:ext cx="10795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79" name="Rectangle 133">
            <a:extLst>
              <a:ext uri="{FF2B5EF4-FFF2-40B4-BE49-F238E27FC236}">
                <a16:creationId xmlns:a16="http://schemas.microsoft.com/office/drawing/2014/main" id="{C85A1660-DB29-C444-425F-9539E5DF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589434"/>
            <a:ext cx="107950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80" name="Rectangle 134">
            <a:extLst>
              <a:ext uri="{FF2B5EF4-FFF2-40B4-BE49-F238E27FC236}">
                <a16:creationId xmlns:a16="http://schemas.microsoft.com/office/drawing/2014/main" id="{C5AA214D-3648-D143-DD25-5CC56095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1589434"/>
            <a:ext cx="101123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0" dirty="0">
                <a:latin typeface="+mn-lt"/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81" name="Oval 135">
            <a:extLst>
              <a:ext uri="{FF2B5EF4-FFF2-40B4-BE49-F238E27FC236}">
                <a16:creationId xmlns:a16="http://schemas.microsoft.com/office/drawing/2014/main" id="{E2D8EA70-4F40-C0D1-6809-7C3198041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3611909"/>
            <a:ext cx="139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2" name="Arc 136">
            <a:extLst>
              <a:ext uri="{FF2B5EF4-FFF2-40B4-BE49-F238E27FC236}">
                <a16:creationId xmlns:a16="http://schemas.microsoft.com/office/drawing/2014/main" id="{C14FB76D-447C-8705-9F7B-D10F66A2AB7E}"/>
              </a:ext>
            </a:extLst>
          </p:cNvPr>
          <p:cNvSpPr>
            <a:spLocks/>
          </p:cNvSpPr>
          <p:nvPr/>
        </p:nvSpPr>
        <p:spPr bwMode="auto">
          <a:xfrm>
            <a:off x="8229600" y="4216747"/>
            <a:ext cx="214313" cy="763587"/>
          </a:xfrm>
          <a:custGeom>
            <a:avLst/>
            <a:gdLst>
              <a:gd name="T0" fmla="*/ 0 w 20883"/>
              <a:gd name="T1" fmla="*/ 0 h 21600"/>
              <a:gd name="T2" fmla="*/ 2199400 w 20883"/>
              <a:gd name="T3" fmla="*/ 20097857 h 21600"/>
              <a:gd name="T4" fmla="*/ 0 w 20883"/>
              <a:gd name="T5" fmla="*/ 2699375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83" h="21600" fill="none" extrusionOk="0">
                <a:moveTo>
                  <a:pt x="-1" y="0"/>
                </a:moveTo>
                <a:cubicBezTo>
                  <a:pt x="9804" y="0"/>
                  <a:pt x="18378" y="6603"/>
                  <a:pt x="20883" y="16081"/>
                </a:cubicBezTo>
              </a:path>
              <a:path w="20883" h="21600" stroke="0" extrusionOk="0">
                <a:moveTo>
                  <a:pt x="-1" y="0"/>
                </a:moveTo>
                <a:cubicBezTo>
                  <a:pt x="9804" y="0"/>
                  <a:pt x="18378" y="6603"/>
                  <a:pt x="20883" y="1608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3" name="Arc 137">
            <a:extLst>
              <a:ext uri="{FF2B5EF4-FFF2-40B4-BE49-F238E27FC236}">
                <a16:creationId xmlns:a16="http://schemas.microsoft.com/office/drawing/2014/main" id="{E30A445D-CDA6-1A60-7655-DBFDDBE49365}"/>
              </a:ext>
            </a:extLst>
          </p:cNvPr>
          <p:cNvSpPr>
            <a:spLocks/>
          </p:cNvSpPr>
          <p:nvPr/>
        </p:nvSpPr>
        <p:spPr bwMode="auto">
          <a:xfrm>
            <a:off x="8229600" y="3843684"/>
            <a:ext cx="381000" cy="733425"/>
          </a:xfrm>
          <a:custGeom>
            <a:avLst/>
            <a:gdLst>
              <a:gd name="T0" fmla="*/ 0 w 21600"/>
              <a:gd name="T1" fmla="*/ 0 h 37998"/>
              <a:gd name="T2" fmla="*/ 4374180 w 21600"/>
              <a:gd name="T3" fmla="*/ 14156330 h 37998"/>
              <a:gd name="T4" fmla="*/ 0 w 21600"/>
              <a:gd name="T5" fmla="*/ 8047177 h 379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7998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7904"/>
                  <a:pt x="18845" y="33894"/>
                  <a:pt x="14059" y="37998"/>
                </a:cubicBezTo>
              </a:path>
              <a:path w="21600" h="37998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7904"/>
                  <a:pt x="18845" y="33894"/>
                  <a:pt x="14059" y="3799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5" name="Rectangle 138">
            <a:extLst>
              <a:ext uri="{FF2B5EF4-FFF2-40B4-BE49-F238E27FC236}">
                <a16:creationId xmlns:a16="http://schemas.microsoft.com/office/drawing/2014/main" id="{CA20E840-BD45-AFC9-396A-79388D9C8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0702" y="4748559"/>
            <a:ext cx="147906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+mn-lt"/>
                <a:ea typeface="黑体" panose="02010609060101010101" pitchFamily="49" charset="-122"/>
              </a:rPr>
              <a:t>Register Write</a:t>
            </a:r>
          </a:p>
          <a:p>
            <a:pPr algn="ctr" eaLnBrk="0" hangingPunct="0"/>
            <a:r>
              <a:rPr lang="en-US" altLang="en-US" sz="1600" dirty="0">
                <a:latin typeface="+mn-lt"/>
                <a:ea typeface="黑体" panose="02010609060101010101" pitchFamily="49" charset="-122"/>
              </a:rPr>
              <a:t>Occurs Here</a:t>
            </a:r>
          </a:p>
        </p:txBody>
      </p:sp>
      <p:sp>
        <p:nvSpPr>
          <p:cNvPr id="187" name="Oval 139">
            <a:extLst>
              <a:ext uri="{FF2B5EF4-FFF2-40B4-BE49-F238E27FC236}">
                <a16:creationId xmlns:a16="http://schemas.microsoft.com/office/drawing/2014/main" id="{26E206AF-8909-C59C-C422-679803A73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138959"/>
            <a:ext cx="14605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188" name="Group 140">
            <a:extLst>
              <a:ext uri="{FF2B5EF4-FFF2-40B4-BE49-F238E27FC236}">
                <a16:creationId xmlns:a16="http://schemas.microsoft.com/office/drawing/2014/main" id="{3854CC65-17EE-CC48-2600-7C5CEA863AE6}"/>
              </a:ext>
            </a:extLst>
          </p:cNvPr>
          <p:cNvGrpSpPr>
            <a:grpSpLocks/>
          </p:cNvGrpSpPr>
          <p:nvPr/>
        </p:nvGrpSpPr>
        <p:grpSpPr bwMode="auto">
          <a:xfrm>
            <a:off x="0" y="4138959"/>
            <a:ext cx="8688388" cy="304800"/>
            <a:chOff x="87" y="2374"/>
            <a:chExt cx="5473" cy="192"/>
          </a:xfrm>
        </p:grpSpPr>
        <p:sp>
          <p:nvSpPr>
            <p:cNvPr id="189" name="Line 141">
              <a:extLst>
                <a:ext uri="{FF2B5EF4-FFF2-40B4-BE49-F238E27FC236}">
                  <a16:creationId xmlns:a16="http://schemas.microsoft.com/office/drawing/2014/main" id="{9035678D-6451-E98F-2D17-EE2F427E7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" y="2396"/>
              <a:ext cx="2333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0" name="Line 142">
              <a:extLst>
                <a:ext uri="{FF2B5EF4-FFF2-40B4-BE49-F238E27FC236}">
                  <a16:creationId xmlns:a16="http://schemas.microsoft.com/office/drawing/2014/main" id="{C438B5DD-7C9B-9C83-F4DB-F111B7D9E6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6" y="2395"/>
              <a:ext cx="126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1" name="Line 143">
              <a:extLst>
                <a:ext uri="{FF2B5EF4-FFF2-40B4-BE49-F238E27FC236}">
                  <a16:creationId xmlns:a16="http://schemas.microsoft.com/office/drawing/2014/main" id="{7F77CAD4-ECE4-63DF-F1D3-D8A39C4A0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" y="2540"/>
              <a:ext cx="2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56" name="Line 144">
              <a:extLst>
                <a:ext uri="{FF2B5EF4-FFF2-40B4-BE49-F238E27FC236}">
                  <a16:creationId xmlns:a16="http://schemas.microsoft.com/office/drawing/2014/main" id="{4C740707-E604-98FF-6782-160F2BD9C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3" y="2396"/>
              <a:ext cx="2677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57" name="Rectangle 145">
              <a:extLst>
                <a:ext uri="{FF2B5EF4-FFF2-40B4-BE49-F238E27FC236}">
                  <a16:creationId xmlns:a16="http://schemas.microsoft.com/office/drawing/2014/main" id="{2415EF92-A613-190E-5AED-1ADCDD681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" y="2374"/>
              <a:ext cx="4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b="0" dirty="0" err="1">
                  <a:latin typeface="+mn-lt"/>
                  <a:ea typeface="黑体" panose="02010609060101010101" pitchFamily="49" charset="-122"/>
                </a:rPr>
                <a:t>RegWr</a:t>
              </a:r>
              <a:endParaRPr lang="en-US" altLang="en-US" sz="1400" b="0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58" name="Rectangle 146">
              <a:extLst>
                <a:ext uri="{FF2B5EF4-FFF2-40B4-BE49-F238E27FC236}">
                  <a16:creationId xmlns:a16="http://schemas.microsoft.com/office/drawing/2014/main" id="{55EF9153-C151-C0B0-6C92-E662201E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374"/>
              <a:ext cx="6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b="0" dirty="0">
                  <a:latin typeface="+mn-lt"/>
                  <a:ea typeface="黑体" panose="02010609060101010101" pitchFamily="49" charset="-122"/>
                </a:rPr>
                <a:t>Old Value</a:t>
              </a:r>
            </a:p>
          </p:txBody>
        </p:sp>
        <p:sp>
          <p:nvSpPr>
            <p:cNvPr id="259" name="Rectangle 147">
              <a:extLst>
                <a:ext uri="{FF2B5EF4-FFF2-40B4-BE49-F238E27FC236}">
                  <a16:creationId xmlns:a16="http://schemas.microsoft.com/office/drawing/2014/main" id="{C268C1B4-FE5F-A55B-C2DD-9FA457832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2374"/>
              <a:ext cx="6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400" b="0" dirty="0">
                  <a:latin typeface="+mn-lt"/>
                  <a:ea typeface="黑体" panose="02010609060101010101" pitchFamily="49" charset="-122"/>
                </a:rPr>
                <a:t>New Value</a:t>
              </a:r>
            </a:p>
          </p:txBody>
        </p:sp>
        <p:sp>
          <p:nvSpPr>
            <p:cNvPr id="260" name="Line 148">
              <a:extLst>
                <a:ext uri="{FF2B5EF4-FFF2-40B4-BE49-F238E27FC236}">
                  <a16:creationId xmlns:a16="http://schemas.microsoft.com/office/drawing/2014/main" id="{9BC5AE17-0336-8A73-B3BE-90C82EF38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3" y="2539"/>
              <a:ext cx="262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61" name="Line 149">
              <a:extLst>
                <a:ext uri="{FF2B5EF4-FFF2-40B4-BE49-F238E27FC236}">
                  <a16:creationId xmlns:a16="http://schemas.microsoft.com/office/drawing/2014/main" id="{94781F52-3F7D-3A72-786B-BA34CFF03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6" y="2398"/>
              <a:ext cx="126" cy="14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262" name="Group 189">
            <a:extLst>
              <a:ext uri="{FF2B5EF4-FFF2-40B4-BE49-F238E27FC236}">
                <a16:creationId xmlns:a16="http://schemas.microsoft.com/office/drawing/2014/main" id="{E1D20D3C-4081-757D-8594-C100F008BE09}"/>
              </a:ext>
            </a:extLst>
          </p:cNvPr>
          <p:cNvGrpSpPr>
            <a:grpSpLocks/>
          </p:cNvGrpSpPr>
          <p:nvPr/>
        </p:nvGrpSpPr>
        <p:grpSpPr bwMode="auto">
          <a:xfrm>
            <a:off x="533401" y="4632018"/>
            <a:ext cx="1106488" cy="1068388"/>
            <a:chOff x="1258" y="456"/>
            <a:chExt cx="697" cy="673"/>
          </a:xfrm>
        </p:grpSpPr>
        <p:sp>
          <p:nvSpPr>
            <p:cNvPr id="263" name="Rectangle 190">
              <a:extLst>
                <a:ext uri="{FF2B5EF4-FFF2-40B4-BE49-F238E27FC236}">
                  <a16:creationId xmlns:a16="http://schemas.microsoft.com/office/drawing/2014/main" id="{E4928D39-3615-1546-6459-58B59FB7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64" name="Rectangle 191">
              <a:extLst>
                <a:ext uri="{FF2B5EF4-FFF2-40B4-BE49-F238E27FC236}">
                  <a16:creationId xmlns:a16="http://schemas.microsoft.com/office/drawing/2014/main" id="{957FA4BB-15DC-A251-49DF-BE85E618E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917"/>
              <a:ext cx="3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b="0" dirty="0" err="1">
                  <a:latin typeface="+mn-lt"/>
                  <a:ea typeface="黑体" panose="02010609060101010101" pitchFamily="49" charset="-122"/>
                </a:rPr>
                <a:t>Addr</a:t>
              </a:r>
              <a:endParaRPr lang="en-US" altLang="en-US" sz="1600" b="0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65" name="Rectangle 192">
              <a:extLst>
                <a:ext uri="{FF2B5EF4-FFF2-40B4-BE49-F238E27FC236}">
                  <a16:creationId xmlns:a16="http://schemas.microsoft.com/office/drawing/2014/main" id="{18F2BE53-B2B1-9407-1DBB-AD10D2760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2" y="565"/>
              <a:ext cx="583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>
                  <a:latin typeface="+mn-lt"/>
                  <a:ea typeface="黑体" panose="02010609060101010101" pitchFamily="49" charset="-122"/>
                </a:rPr>
                <a:t>Inst</a:t>
              </a:r>
            </a:p>
            <a:p>
              <a:pPr algn="ctr" eaLnBrk="0" hangingPunct="0"/>
              <a:r>
                <a:rPr lang="en-US" altLang="en-US" sz="1600" dirty="0">
                  <a:latin typeface="+mn-lt"/>
                  <a:ea typeface="黑体" panose="02010609060101010101" pitchFamily="49" charset="-122"/>
                </a:rPr>
                <a:t>Memory</a:t>
              </a:r>
            </a:p>
          </p:txBody>
        </p:sp>
      </p:grpSp>
      <p:sp>
        <p:nvSpPr>
          <p:cNvPr id="266" name="Line 116">
            <a:extLst>
              <a:ext uri="{FF2B5EF4-FFF2-40B4-BE49-F238E27FC236}">
                <a16:creationId xmlns:a16="http://schemas.microsoft.com/office/drawing/2014/main" id="{0348E913-AD9E-221F-256D-0D28A224E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4916" y="4828191"/>
            <a:ext cx="317759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67" name="Text Box 222">
            <a:extLst>
              <a:ext uri="{FF2B5EF4-FFF2-40B4-BE49-F238E27FC236}">
                <a16:creationId xmlns:a16="http://schemas.microsoft.com/office/drawing/2014/main" id="{52882B2F-7F3B-7B66-AF54-94D745F93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4443759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3333FF"/>
                </a:solidFill>
                <a:latin typeface="+mn-lt"/>
                <a:ea typeface="黑体" panose="02010609060101010101" pitchFamily="49" charset="-122"/>
              </a:rPr>
              <a:t>指令</a:t>
            </a:r>
          </a:p>
        </p:txBody>
      </p:sp>
      <p:grpSp>
        <p:nvGrpSpPr>
          <p:cNvPr id="268" name="Group 189">
            <a:extLst>
              <a:ext uri="{FF2B5EF4-FFF2-40B4-BE49-F238E27FC236}">
                <a16:creationId xmlns:a16="http://schemas.microsoft.com/office/drawing/2014/main" id="{F80913A1-154C-4E34-4000-003F713C27E9}"/>
              </a:ext>
            </a:extLst>
          </p:cNvPr>
          <p:cNvGrpSpPr>
            <a:grpSpLocks/>
          </p:cNvGrpSpPr>
          <p:nvPr/>
        </p:nvGrpSpPr>
        <p:grpSpPr bwMode="auto">
          <a:xfrm>
            <a:off x="4851400" y="4605030"/>
            <a:ext cx="1924050" cy="450850"/>
            <a:chOff x="1258" y="499"/>
            <a:chExt cx="694" cy="284"/>
          </a:xfrm>
        </p:grpSpPr>
        <p:sp>
          <p:nvSpPr>
            <p:cNvPr id="269" name="Rectangle 190">
              <a:extLst>
                <a:ext uri="{FF2B5EF4-FFF2-40B4-BE49-F238E27FC236}">
                  <a16:creationId xmlns:a16="http://schemas.microsoft.com/office/drawing/2014/main" id="{A74C1D22-8B3F-41FD-018F-D7B5BAEAD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99"/>
              <a:ext cx="694" cy="2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70" name="Rectangle 192">
              <a:extLst>
                <a:ext uri="{FF2B5EF4-FFF2-40B4-BE49-F238E27FC236}">
                  <a16:creationId xmlns:a16="http://schemas.microsoft.com/office/drawing/2014/main" id="{EDFC7628-F64B-4DBA-9FA2-A7A233976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533"/>
              <a:ext cx="3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zh-CN" sz="1600" dirty="0">
                  <a:latin typeface="+mn-lt"/>
                  <a:ea typeface="黑体" panose="02010609060101010101" pitchFamily="49" charset="-122"/>
                </a:rPr>
                <a:t>Decoder</a:t>
              </a:r>
              <a:endParaRPr lang="en-US" altLang="en-US" sz="1600" dirty="0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72" name="Text Box 222">
            <a:extLst>
              <a:ext uri="{FF2B5EF4-FFF2-40B4-BE49-F238E27FC236}">
                <a16:creationId xmlns:a16="http://schemas.microsoft.com/office/drawing/2014/main" id="{04C08436-A257-01AC-6DB0-4F76FF668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" y="5805987"/>
            <a:ext cx="76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432FF"/>
                </a:solidFill>
                <a:latin typeface="+mn-lt"/>
              </a:rPr>
              <a:t>PC</a:t>
            </a:r>
            <a:endParaRPr lang="zh-CN" altLang="en-US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295" name="Rectangle 162">
            <a:extLst>
              <a:ext uri="{FF2B5EF4-FFF2-40B4-BE49-F238E27FC236}">
                <a16:creationId xmlns:a16="http://schemas.microsoft.com/office/drawing/2014/main" id="{4C971429-A3A3-5D3D-D796-15A893FE4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9" y="5711160"/>
            <a:ext cx="218858" cy="793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</a:endParaRPr>
          </a:p>
        </p:txBody>
      </p:sp>
      <p:cxnSp>
        <p:nvCxnSpPr>
          <p:cNvPr id="512" name="肘形连接符 3">
            <a:extLst>
              <a:ext uri="{FF2B5EF4-FFF2-40B4-BE49-F238E27FC236}">
                <a16:creationId xmlns:a16="http://schemas.microsoft.com/office/drawing/2014/main" id="{94215209-3B6E-49B5-EC0E-0A24529F8464}"/>
              </a:ext>
            </a:extLst>
          </p:cNvPr>
          <p:cNvCxnSpPr>
            <a:cxnSpLocks/>
            <a:stCxn id="295" idx="3"/>
          </p:cNvCxnSpPr>
          <p:nvPr/>
        </p:nvCxnSpPr>
        <p:spPr bwMode="auto">
          <a:xfrm flipV="1">
            <a:off x="445077" y="5654686"/>
            <a:ext cx="881280" cy="453349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" name="Freeform 169">
            <a:extLst>
              <a:ext uri="{FF2B5EF4-FFF2-40B4-BE49-F238E27FC236}">
                <a16:creationId xmlns:a16="http://schemas.microsoft.com/office/drawing/2014/main" id="{36AFCD81-1D2B-9752-B545-08A7F8AEDB4A}"/>
              </a:ext>
            </a:extLst>
          </p:cNvPr>
          <p:cNvSpPr/>
          <p:nvPr/>
        </p:nvSpPr>
        <p:spPr>
          <a:xfrm>
            <a:off x="252919" y="6384293"/>
            <a:ext cx="184826" cy="116732"/>
          </a:xfrm>
          <a:custGeom>
            <a:avLst/>
            <a:gdLst>
              <a:gd name="connsiteX0" fmla="*/ 0 w 184826"/>
              <a:gd name="connsiteY0" fmla="*/ 116732 h 116732"/>
              <a:gd name="connsiteX1" fmla="*/ 87549 w 184826"/>
              <a:gd name="connsiteY1" fmla="*/ 0 h 116732"/>
              <a:gd name="connsiteX2" fmla="*/ 184826 w 184826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826" h="116732">
                <a:moveTo>
                  <a:pt x="0" y="116732"/>
                </a:moveTo>
                <a:lnTo>
                  <a:pt x="87549" y="0"/>
                </a:lnTo>
                <a:lnTo>
                  <a:pt x="184826" y="116732"/>
                </a:ln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4" name="Rectangle 20">
            <a:extLst>
              <a:ext uri="{FF2B5EF4-FFF2-40B4-BE49-F238E27FC236}">
                <a16:creationId xmlns:a16="http://schemas.microsoft.com/office/drawing/2014/main" id="{28AA8220-B2C7-19EF-EC99-B4F467A13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38" y="6459152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b="0" dirty="0" err="1">
                <a:latin typeface="+mn-lt"/>
              </a:rPr>
              <a:t>Clk</a:t>
            </a:r>
            <a:endParaRPr lang="en-US" altLang="en-US" sz="1600" b="0" dirty="0">
              <a:latin typeface="+mn-lt"/>
            </a:endParaRPr>
          </a:p>
        </p:txBody>
      </p:sp>
      <p:sp>
        <p:nvSpPr>
          <p:cNvPr id="515" name="Line 38">
            <a:extLst>
              <a:ext uri="{FF2B5EF4-FFF2-40B4-BE49-F238E27FC236}">
                <a16:creationId xmlns:a16="http://schemas.microsoft.com/office/drawing/2014/main" id="{5E405ABB-24D6-6B61-AE02-27B27D7969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349" y="6729027"/>
            <a:ext cx="3931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</a:endParaRPr>
          </a:p>
        </p:txBody>
      </p:sp>
      <p:sp>
        <p:nvSpPr>
          <p:cNvPr id="516" name="Line 38">
            <a:extLst>
              <a:ext uri="{FF2B5EF4-FFF2-40B4-BE49-F238E27FC236}">
                <a16:creationId xmlns:a16="http://schemas.microsoft.com/office/drawing/2014/main" id="{2A17F14B-B758-EAF6-9ACB-139C20971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336" y="6518589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</a:endParaRPr>
          </a:p>
        </p:txBody>
      </p:sp>
      <p:cxnSp>
        <p:nvCxnSpPr>
          <p:cNvPr id="517" name="直接箭头连接符 4">
            <a:extLst>
              <a:ext uri="{FF2B5EF4-FFF2-40B4-BE49-F238E27FC236}">
                <a16:creationId xmlns:a16="http://schemas.microsoft.com/office/drawing/2014/main" id="{3FE1549A-0A20-D993-27FC-A09D994CA2D7}"/>
              </a:ext>
            </a:extLst>
          </p:cNvPr>
          <p:cNvCxnSpPr>
            <a:cxnSpLocks/>
          </p:cNvCxnSpPr>
          <p:nvPr/>
        </p:nvCxnSpPr>
        <p:spPr>
          <a:xfrm flipH="1" flipV="1">
            <a:off x="4737100" y="2683220"/>
            <a:ext cx="1574800" cy="25463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直接箭头连接符 5">
            <a:extLst>
              <a:ext uri="{FF2B5EF4-FFF2-40B4-BE49-F238E27FC236}">
                <a16:creationId xmlns:a16="http://schemas.microsoft.com/office/drawing/2014/main" id="{137F6701-B7F0-04F9-A0A7-31BF070E46D4}"/>
              </a:ext>
            </a:extLst>
          </p:cNvPr>
          <p:cNvCxnSpPr>
            <a:cxnSpLocks/>
          </p:cNvCxnSpPr>
          <p:nvPr/>
        </p:nvCxnSpPr>
        <p:spPr>
          <a:xfrm flipV="1">
            <a:off x="331186" y="6108035"/>
            <a:ext cx="0" cy="622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直接箭头连接符 8">
            <a:extLst>
              <a:ext uri="{FF2B5EF4-FFF2-40B4-BE49-F238E27FC236}">
                <a16:creationId xmlns:a16="http://schemas.microsoft.com/office/drawing/2014/main" id="{04EF92D7-1AC0-CD3C-DEEC-B365C61DF0B5}"/>
              </a:ext>
            </a:extLst>
          </p:cNvPr>
          <p:cNvCxnSpPr>
            <a:cxnSpLocks/>
          </p:cNvCxnSpPr>
          <p:nvPr/>
        </p:nvCxnSpPr>
        <p:spPr>
          <a:xfrm>
            <a:off x="1326357" y="4823132"/>
            <a:ext cx="7342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13">
            <a:extLst>
              <a:ext uri="{FF2B5EF4-FFF2-40B4-BE49-F238E27FC236}">
                <a16:creationId xmlns:a16="http://schemas.microsoft.com/office/drawing/2014/main" id="{6217C262-4E77-E258-BA2B-C4E621B6377B}"/>
              </a:ext>
            </a:extLst>
          </p:cNvPr>
          <p:cNvCxnSpPr>
            <a:cxnSpLocks/>
          </p:cNvCxnSpPr>
          <p:nvPr/>
        </p:nvCxnSpPr>
        <p:spPr>
          <a:xfrm>
            <a:off x="1326357" y="4828191"/>
            <a:ext cx="0" cy="13045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1" name="Rectangle 9">
            <a:extLst>
              <a:ext uri="{FF2B5EF4-FFF2-40B4-BE49-F238E27FC236}">
                <a16:creationId xmlns:a16="http://schemas.microsoft.com/office/drawing/2014/main" id="{021CAA27-15C1-AE65-C2C7-83DE04EBE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32" y="6228692"/>
            <a:ext cx="52418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2000" dirty="0" err="1">
                <a:solidFill>
                  <a:schemeClr val="accent1"/>
                </a:solidFill>
                <a:latin typeface="+mn-lt"/>
                <a:ea typeface="SimHei" panose="02010609060101010101" pitchFamily="49" charset="-122"/>
              </a:rPr>
              <a:t>tcq</a:t>
            </a:r>
            <a:endParaRPr lang="en-US" altLang="en-US" sz="2000" dirty="0">
              <a:solidFill>
                <a:schemeClr val="accent1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522" name="Line 38">
            <a:extLst>
              <a:ext uri="{FF2B5EF4-FFF2-40B4-BE49-F238E27FC236}">
                <a16:creationId xmlns:a16="http://schemas.microsoft.com/office/drawing/2014/main" id="{77E55827-0DCB-1714-2A01-01979A7C5D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1186" y="6105608"/>
            <a:ext cx="99517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187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举例：</a:t>
            </a:r>
            <a:r>
              <a:rPr lang="en-US" altLang="zh-CN" dirty="0">
                <a:latin typeface="+mn-lt"/>
              </a:rPr>
              <a:t>ADD</a:t>
            </a:r>
            <a:r>
              <a:rPr lang="zh-CN" altLang="en-US" dirty="0">
                <a:latin typeface="+mn-lt"/>
              </a:rPr>
              <a:t>指令的</a:t>
            </a:r>
            <a:r>
              <a:rPr lang="en-US" altLang="zh-CN" dirty="0">
                <a:latin typeface="+mn-lt"/>
              </a:rPr>
              <a:t>critical path</a:t>
            </a:r>
            <a:endParaRPr lang="zh-CN" alt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BCCFD-00BC-684E-A0D8-E45BCED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18</a:t>
            </a:fld>
            <a:endParaRPr lang="en-US" altLang="zh-CN">
              <a:latin typeface="+mn-lt"/>
            </a:endParaRPr>
          </a:p>
        </p:txBody>
      </p:sp>
      <p:sp>
        <p:nvSpPr>
          <p:cNvPr id="176" name="Text Box 170">
            <a:extLst>
              <a:ext uri="{FF2B5EF4-FFF2-40B4-BE49-F238E27FC236}">
                <a16:creationId xmlns:a16="http://schemas.microsoft.com/office/drawing/2014/main" id="{472A7709-3E49-4D79-80A5-C68D83A9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618" y="1282561"/>
            <a:ext cx="4091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关键路径：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 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B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 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C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 D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 G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 D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 L</a:t>
            </a: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AE965A5C-89AE-4194-B367-D2F2CE15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29" y="2890656"/>
            <a:ext cx="3355974" cy="267509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A. PC </a:t>
            </a:r>
            <a:r>
              <a:rPr lang="en-US" altLang="en-US" sz="1400" b="1" dirty="0" err="1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Clk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-to-Q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B.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指令存储器的访问时间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C. 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的访问时间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D.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多路选择器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Mux</a:t>
            </a: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ImmExt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对立即数进行符号位扩展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移位单元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(&lt;&lt;2)</a:t>
            </a: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. ALU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进行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32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位运算的时间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H. PC Adder1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计算出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I. PC Adder2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与偏移量相加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J.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数据存储器访问时间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lang="en-US" altLang="zh-CN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建立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时间</a:t>
            </a:r>
            <a:endParaRPr lang="en-US" altLang="en-US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L. 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写入的建立时间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CEB1A740-733A-2EB4-D19D-6559640B9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84" y="2210333"/>
            <a:ext cx="6004559" cy="4099604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86B1BECE-FA92-C94A-BCFC-0F7EAB058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384" y="2210333"/>
            <a:ext cx="5835690" cy="412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83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530A1ED0-66CC-A7EE-2040-D3F05DC7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80" y="2219700"/>
            <a:ext cx="6016612" cy="4081138"/>
          </a:xfrm>
          <a:prstGeom prst="rect">
            <a:avLst/>
          </a:prstGeom>
        </p:spPr>
      </p:pic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举例：</a:t>
            </a:r>
            <a:r>
              <a:rPr lang="en-US" altLang="zh-CN" dirty="0">
                <a:latin typeface="+mn-lt"/>
              </a:rPr>
              <a:t>Store</a:t>
            </a:r>
            <a:r>
              <a:rPr lang="zh-CN" altLang="en-US" dirty="0">
                <a:latin typeface="+mn-lt"/>
              </a:rPr>
              <a:t>指令的</a:t>
            </a:r>
            <a:r>
              <a:rPr lang="en-US" altLang="zh-CN" dirty="0">
                <a:latin typeface="+mn-lt"/>
              </a:rPr>
              <a:t>critical path</a:t>
            </a:r>
            <a:endParaRPr lang="zh-CN" alt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BCCFD-00BC-684E-A0D8-E45BCED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19</a:t>
            </a:fld>
            <a:endParaRPr lang="en-US" altLang="zh-CN">
              <a:latin typeface="+mn-lt"/>
            </a:endParaRPr>
          </a:p>
        </p:txBody>
      </p:sp>
      <p:sp>
        <p:nvSpPr>
          <p:cNvPr id="176" name="Text Box 170">
            <a:extLst>
              <a:ext uri="{FF2B5EF4-FFF2-40B4-BE49-F238E27FC236}">
                <a16:creationId xmlns:a16="http://schemas.microsoft.com/office/drawing/2014/main" id="{472A7709-3E49-4D79-80A5-C68D83A9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088" y="1279525"/>
            <a:ext cx="4848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en-US" altLang="zh-CN" dirty="0">
                <a:solidFill>
                  <a:srgbClr val="00B0F0"/>
                </a:solidFill>
                <a:latin typeface="+mn-lt"/>
              </a:rPr>
              <a:t>Critical path: 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A </a:t>
            </a:r>
            <a:r>
              <a:rPr lang="en-US" altLang="zh-CN" dirty="0">
                <a:solidFill>
                  <a:srgbClr val="00B0F0"/>
                </a:solidFill>
                <a:latin typeface="+mn-lt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 B </a:t>
            </a:r>
            <a:r>
              <a:rPr lang="en-US" altLang="zh-CN" dirty="0">
                <a:solidFill>
                  <a:srgbClr val="00B0F0"/>
                </a:solidFill>
                <a:latin typeface="+mn-lt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 [C or (E – D)] </a:t>
            </a:r>
            <a:r>
              <a:rPr lang="en-US" altLang="zh-CN" dirty="0">
                <a:solidFill>
                  <a:srgbClr val="00B0F0"/>
                </a:solidFill>
                <a:latin typeface="+mn-lt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 G </a:t>
            </a:r>
            <a:r>
              <a:rPr lang="en-US" altLang="zh-CN" dirty="0">
                <a:solidFill>
                  <a:srgbClr val="00B0F0"/>
                </a:solidFill>
                <a:latin typeface="+mn-lt"/>
              </a:rPr>
              <a:t>–</a:t>
            </a:r>
            <a:r>
              <a:rPr lang="en-US" altLang="en-US" dirty="0">
                <a:solidFill>
                  <a:srgbClr val="00B0F0"/>
                </a:solidFill>
                <a:latin typeface="+mn-lt"/>
              </a:rPr>
              <a:t> M </a:t>
            </a: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AE965A5C-89AE-4194-B367-D2F2CE15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43" y="2169972"/>
            <a:ext cx="3355974" cy="289053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A. PC </a:t>
            </a:r>
            <a:r>
              <a:rPr lang="en-US" altLang="en-US" sz="1400" b="1" dirty="0" err="1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Clk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-to-Q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B.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指令存储器的访问时间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C. 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的访问时间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D.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多路选择器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Mux</a:t>
            </a: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en-US" sz="1400" b="1" dirty="0" err="1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ImmExt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对立即数进行符号位扩展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移位单元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(&lt;&lt;2)</a:t>
            </a: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. ALU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进行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32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位运算的时间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H. PC Adder1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计算出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I. PC Adder2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与偏移量相加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latin typeface="+mn-lt"/>
                <a:ea typeface="黑体" panose="02010609060101010101" pitchFamily="49" charset="-122"/>
              </a:rPr>
              <a:t>J. </a:t>
            </a:r>
            <a:r>
              <a:rPr lang="zh-CN" altLang="en-US" sz="1400" b="1" dirty="0">
                <a:latin typeface="+mn-lt"/>
                <a:ea typeface="黑体" panose="02010609060101010101" pitchFamily="49" charset="-122"/>
              </a:rPr>
              <a:t>数据存储器访问时间</a:t>
            </a:r>
            <a:r>
              <a:rPr lang="en-US" altLang="zh-CN" sz="1400" b="1" dirty="0"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1" dirty="0"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1" dirty="0">
                <a:latin typeface="+mn-lt"/>
                <a:ea typeface="黑体" panose="02010609060101010101" pitchFamily="49" charset="-122"/>
              </a:rPr>
              <a:t>)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lang="en-US" altLang="zh-CN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建立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时间</a:t>
            </a:r>
            <a:endParaRPr lang="en-US" altLang="en-US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L.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写入的建立时间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</a:rPr>
              <a:t>M. Data memory </a:t>
            </a:r>
            <a:r>
              <a:rPr lang="en-US" altLang="zh-CN" sz="1400" b="1" dirty="0" err="1">
                <a:solidFill>
                  <a:srgbClr val="0432FF"/>
                </a:solidFill>
                <a:latin typeface="+mn-lt"/>
              </a:rPr>
              <a:t>Addr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</a:rPr>
              <a:t> setup time</a:t>
            </a:r>
            <a:endParaRPr lang="zh-CN" altLang="en-US" sz="1400" b="1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E47D8427-78AD-4DE2-B6CD-1B319C0BA444}"/>
              </a:ext>
            </a:extLst>
          </p:cNvPr>
          <p:cNvSpPr txBox="1"/>
          <p:nvPr/>
        </p:nvSpPr>
        <p:spPr>
          <a:xfrm>
            <a:off x="4295328" y="1658594"/>
            <a:ext cx="345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黑体" panose="02010609060101010101" pitchFamily="49" charset="-122"/>
              </a:rPr>
              <a:t>取决于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E+D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延时谁更长</a:t>
            </a:r>
            <a:endParaRPr lang="en-US" altLang="zh-CN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0E8E00-105A-C94D-B3D7-B83BB025F637}"/>
              </a:ext>
            </a:extLst>
          </p:cNvPr>
          <p:cNvSpPr/>
          <p:nvPr/>
        </p:nvSpPr>
        <p:spPr>
          <a:xfrm>
            <a:off x="7405992" y="5638727"/>
            <a:ext cx="194553" cy="194553"/>
          </a:xfrm>
          <a:prstGeom prst="ellipse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 dirty="0">
                <a:solidFill>
                  <a:schemeClr val="bg1"/>
                </a:solidFill>
              </a:rPr>
              <a:t>M</a:t>
            </a: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25B57120-33C2-DCAF-39AF-310D09B3A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080" y="2169972"/>
            <a:ext cx="5835690" cy="412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43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824D8778-3248-B65A-95BF-76DD2C14F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02" y="2076712"/>
            <a:ext cx="5978639" cy="4168513"/>
          </a:xfrm>
          <a:prstGeom prst="rect">
            <a:avLst/>
          </a:prstGeom>
        </p:spPr>
      </p:pic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举例：</a:t>
            </a:r>
            <a:r>
              <a:rPr lang="en-US" altLang="zh-CN" dirty="0">
                <a:latin typeface="+mn-lt"/>
              </a:rPr>
              <a:t>Load</a:t>
            </a:r>
            <a:r>
              <a:rPr lang="zh-CN" altLang="en-US" dirty="0">
                <a:latin typeface="+mn-lt"/>
              </a:rPr>
              <a:t>指令的</a:t>
            </a:r>
            <a:r>
              <a:rPr lang="en-US" altLang="zh-CN" dirty="0">
                <a:latin typeface="+mn-lt"/>
              </a:rPr>
              <a:t>critical path</a:t>
            </a:r>
            <a:endParaRPr lang="zh-CN" alt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BCCFD-00BC-684E-A0D8-E45BCED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20</a:t>
            </a:fld>
            <a:endParaRPr lang="en-US" altLang="zh-CN">
              <a:latin typeface="+mn-lt"/>
            </a:endParaRPr>
          </a:p>
        </p:txBody>
      </p:sp>
      <p:sp>
        <p:nvSpPr>
          <p:cNvPr id="176" name="Text Box 170">
            <a:extLst>
              <a:ext uri="{FF2B5EF4-FFF2-40B4-BE49-F238E27FC236}">
                <a16:creationId xmlns:a16="http://schemas.microsoft.com/office/drawing/2014/main" id="{472A7709-3E49-4D79-80A5-C68D83A9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421" y="1279525"/>
            <a:ext cx="52624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关键路径：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A – B – [C or (E – D)] – G – J – D –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L</a:t>
            </a:r>
            <a:endParaRPr lang="en-US" altLang="en-US" dirty="0">
              <a:solidFill>
                <a:srgbClr val="00B0F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AE965A5C-89AE-4194-B367-D2F2CE15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0" y="2811144"/>
            <a:ext cx="3355974" cy="267509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A. PC </a:t>
            </a:r>
            <a:r>
              <a:rPr lang="en-US" altLang="en-US" sz="1400" b="1" dirty="0" err="1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Clk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-to-Q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B.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指令存储器的访问时间</a:t>
            </a: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C. 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的访问时间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D.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多路选择器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Mux</a:t>
            </a: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en-US" sz="1400" b="1" dirty="0" err="1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ImmExt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对立即数进行符号位扩展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移位单元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(&lt;&lt;2)</a:t>
            </a:r>
          </a:p>
          <a:p>
            <a:pPr eaLnBrk="0" hangingPunct="0"/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. ALU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进行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32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位运算的时间</a:t>
            </a:r>
            <a:endParaRPr lang="en-US" altLang="zh-CN" sz="1400" b="1" dirty="0">
              <a:solidFill>
                <a:srgbClr val="0432FF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H. PC Adder1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计算出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I. PC Adder2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与偏移量相加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J. 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数据存储器访问时间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)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lang="en-US" altLang="zh-CN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建立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时间</a:t>
            </a:r>
            <a:endParaRPr lang="en-US" altLang="en-US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L. </a:t>
            </a:r>
            <a:r>
              <a:rPr lang="en-US" altLang="zh-CN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写入的建立时间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BFB4A4-A711-4C9C-8487-9BC46662348C}"/>
              </a:ext>
            </a:extLst>
          </p:cNvPr>
          <p:cNvSpPr txBox="1"/>
          <p:nvPr/>
        </p:nvSpPr>
        <p:spPr>
          <a:xfrm>
            <a:off x="4295328" y="1658594"/>
            <a:ext cx="345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黑体" panose="02010609060101010101" pitchFamily="49" charset="-122"/>
              </a:rPr>
              <a:t>取决于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E+D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延时谁更长</a:t>
            </a:r>
            <a:endParaRPr lang="en-US" altLang="zh-CN" dirty="0">
              <a:latin typeface="+mn-lt"/>
              <a:ea typeface="黑体" panose="02010609060101010101" pitchFamily="49" charset="-122"/>
            </a:endParaRPr>
          </a:p>
        </p:txBody>
      </p:sp>
      <p:pic>
        <p:nvPicPr>
          <p:cNvPr id="32" name="Picture 7">
            <a:extLst>
              <a:ext uri="{FF2B5EF4-FFF2-40B4-BE49-F238E27FC236}">
                <a16:creationId xmlns:a16="http://schemas.microsoft.com/office/drawing/2014/main" id="{7361E114-16CD-8079-92B0-D653BF529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02" y="2099097"/>
            <a:ext cx="5835690" cy="4123744"/>
          </a:xfrm>
          <a:prstGeom prst="rect">
            <a:avLst/>
          </a:prstGeom>
        </p:spPr>
      </p:pic>
      <p:sp>
        <p:nvSpPr>
          <p:cNvPr id="3" name="Line 29">
            <a:extLst>
              <a:ext uri="{FF2B5EF4-FFF2-40B4-BE49-F238E27FC236}">
                <a16:creationId xmlns:a16="http://schemas.microsoft.com/office/drawing/2014/main" id="{41347A22-700D-AFD4-6E7F-3F098C837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6924" y="4356132"/>
            <a:ext cx="384626" cy="15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CFAB5564-A560-2C6C-F857-5451578C4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856" y="3998025"/>
            <a:ext cx="213068" cy="346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7181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最长的</a:t>
            </a:r>
            <a:r>
              <a:rPr lang="en-US" altLang="zh-CN" dirty="0">
                <a:latin typeface="+mn-lt"/>
              </a:rPr>
              <a:t>critical path</a:t>
            </a:r>
            <a:endParaRPr lang="zh-CN" alt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BCCFD-00BC-684E-A0D8-E45BCED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21</a:t>
            </a:fld>
            <a:endParaRPr lang="en-US" altLang="zh-CN">
              <a:latin typeface="+mn-lt"/>
            </a:endParaRPr>
          </a:p>
        </p:txBody>
      </p:sp>
      <p:sp>
        <p:nvSpPr>
          <p:cNvPr id="176" name="Text Box 170">
            <a:extLst>
              <a:ext uri="{FF2B5EF4-FFF2-40B4-BE49-F238E27FC236}">
                <a16:creationId xmlns:a16="http://schemas.microsoft.com/office/drawing/2014/main" id="{472A7709-3E49-4D79-80A5-C68D83A9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421" y="1279525"/>
            <a:ext cx="52624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关键路径：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A – B – [C or (E – D)] – G – J – D – L</a:t>
            </a:r>
          </a:p>
        </p:txBody>
      </p:sp>
      <p:sp>
        <p:nvSpPr>
          <p:cNvPr id="7" name="Rectangle 172">
            <a:extLst>
              <a:ext uri="{FF2B5EF4-FFF2-40B4-BE49-F238E27FC236}">
                <a16:creationId xmlns:a16="http://schemas.microsoft.com/office/drawing/2014/main" id="{AE965A5C-89AE-4194-B367-D2F2CE153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4" y="1577855"/>
            <a:ext cx="3355974" cy="267509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A. PC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Clk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-to-Q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指令存储器的访问时间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C.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的访问时间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多路选择器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Mux</a:t>
            </a: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ImmExt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对立即数进行符号位扩展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移位单元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(&lt;&lt;2)</a:t>
            </a: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ALU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进行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位运算的时间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H. PC Adder1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计算出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I. PC Adder2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与偏移量相加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J.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数据存储器访问时间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lang="en-US" altLang="zh-CN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建立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时间</a:t>
            </a:r>
            <a:endParaRPr lang="en-US" altLang="en-US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L.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写入的建立时间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BFB4A4-A711-4C9C-8487-9BC46662348C}"/>
              </a:ext>
            </a:extLst>
          </p:cNvPr>
          <p:cNvSpPr txBox="1"/>
          <p:nvPr/>
        </p:nvSpPr>
        <p:spPr>
          <a:xfrm>
            <a:off x="4295328" y="1658594"/>
            <a:ext cx="345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黑体" panose="02010609060101010101" pitchFamily="49" charset="-122"/>
              </a:rPr>
              <a:t>取决于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E+D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延时谁更长</a:t>
            </a:r>
            <a:endParaRPr lang="en-US" altLang="zh-CN" dirty="0">
              <a:latin typeface="+mn-lt"/>
              <a:ea typeface="黑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FD7304-719D-41C8-AB87-C1675419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85" y="2178122"/>
            <a:ext cx="5980408" cy="3863449"/>
          </a:xfrm>
          <a:prstGeom prst="rect">
            <a:avLst/>
          </a:prstGeom>
        </p:spPr>
      </p:pic>
      <p:sp>
        <p:nvSpPr>
          <p:cNvPr id="8" name="Text Box 170">
            <a:extLst>
              <a:ext uri="{FF2B5EF4-FFF2-40B4-BE49-F238E27FC236}">
                <a16:creationId xmlns:a16="http://schemas.microsoft.com/office/drawing/2014/main" id="{707B329F-F5DF-4636-BDD3-CED6905B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94" y="4365808"/>
            <a:ext cx="239520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dirty="0">
                <a:latin typeface="+mn-lt"/>
                <a:ea typeface="黑体" panose="02010609060101010101" pitchFamily="49" charset="-122"/>
              </a:rPr>
              <a:t>最长</a:t>
            </a:r>
            <a:r>
              <a:rPr lang="en-US" altLang="zh-CN" sz="2000" dirty="0">
                <a:latin typeface="+mn-lt"/>
                <a:ea typeface="黑体" panose="02010609060101010101" pitchFamily="49" charset="-122"/>
              </a:rPr>
              <a:t>critical path</a:t>
            </a:r>
            <a:r>
              <a:rPr lang="zh-CN" altLang="en-US" sz="2000" dirty="0">
                <a:latin typeface="+mn-lt"/>
                <a:ea typeface="黑体" panose="02010609060101010101" pitchFamily="49" charset="-122"/>
              </a:rPr>
              <a:t>？</a:t>
            </a:r>
            <a:endParaRPr lang="en-US" altLang="en-US" sz="2000" dirty="0">
              <a:latin typeface="+mn-lt"/>
              <a:ea typeface="黑体" panose="02010609060101010101" pitchFamily="49" charset="-122"/>
            </a:endParaRP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1. ADDU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2. BEQ 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3. LW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4. ORI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5. SUBU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6. SW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8F961C-F030-0C40-B0D0-1C054034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259" y="1874784"/>
            <a:ext cx="5835690" cy="412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03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38C18F8F-6647-922E-089B-ED0A89A3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02" y="2076712"/>
            <a:ext cx="5978639" cy="4168513"/>
          </a:xfrm>
          <a:prstGeom prst="rect">
            <a:avLst/>
          </a:prstGeom>
        </p:spPr>
      </p:pic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最长的</a:t>
            </a:r>
            <a:r>
              <a:rPr lang="en-US" altLang="zh-CN" dirty="0">
                <a:latin typeface="+mn-lt"/>
              </a:rPr>
              <a:t>critical path</a:t>
            </a:r>
            <a:r>
              <a:rPr lang="zh-CN" altLang="en-US" dirty="0">
                <a:latin typeface="+mn-lt"/>
              </a:rPr>
              <a:t>：</a:t>
            </a:r>
            <a:r>
              <a:rPr lang="en-US" altLang="zh-CN" dirty="0">
                <a:latin typeface="+mn-lt"/>
              </a:rPr>
              <a:t>LW</a:t>
            </a:r>
            <a:endParaRPr lang="zh-CN" altLang="en-US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BCCFD-00BC-684E-A0D8-E45BCEDBB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</a:rPr>
              <a:pPr/>
              <a:t>22</a:t>
            </a:fld>
            <a:endParaRPr lang="en-US" altLang="zh-CN">
              <a:latin typeface="+mn-lt"/>
            </a:endParaRPr>
          </a:p>
        </p:txBody>
      </p:sp>
      <p:sp>
        <p:nvSpPr>
          <p:cNvPr id="176" name="Text Box 170">
            <a:extLst>
              <a:ext uri="{FF2B5EF4-FFF2-40B4-BE49-F238E27FC236}">
                <a16:creationId xmlns:a16="http://schemas.microsoft.com/office/drawing/2014/main" id="{472A7709-3E49-4D79-80A5-C68D83A9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9421" y="1279525"/>
            <a:ext cx="52624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关键路径：</a:t>
            </a:r>
            <a:r>
              <a:rPr lang="en-US" altLang="en-US" dirty="0">
                <a:solidFill>
                  <a:srgbClr val="00B0F0"/>
                </a:solidFill>
                <a:latin typeface="+mn-lt"/>
                <a:ea typeface="黑体" panose="02010609060101010101" pitchFamily="49" charset="-122"/>
              </a:rPr>
              <a:t>A – B – [C or (E – D)] – G – J – D – 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BFB4A4-A711-4C9C-8487-9BC46662348C}"/>
              </a:ext>
            </a:extLst>
          </p:cNvPr>
          <p:cNvSpPr txBox="1"/>
          <p:nvPr/>
        </p:nvSpPr>
        <p:spPr>
          <a:xfrm>
            <a:off x="4295328" y="1658594"/>
            <a:ext cx="345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黑体" panose="02010609060101010101" pitchFamily="49" charset="-122"/>
              </a:rPr>
              <a:t>取决于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E+D</a:t>
            </a:r>
            <a:r>
              <a:rPr lang="zh-CN" altLang="en-US" dirty="0">
                <a:latin typeface="+mn-lt"/>
                <a:ea typeface="黑体" panose="02010609060101010101" pitchFamily="49" charset="-122"/>
              </a:rPr>
              <a:t>延时谁更长</a:t>
            </a:r>
            <a:endParaRPr lang="en-US" altLang="zh-CN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Text Box 170">
            <a:extLst>
              <a:ext uri="{FF2B5EF4-FFF2-40B4-BE49-F238E27FC236}">
                <a16:creationId xmlns:a16="http://schemas.microsoft.com/office/drawing/2014/main" id="{707B329F-F5DF-4636-BDD3-CED6905B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53" y="4367855"/>
            <a:ext cx="230063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lang="zh-CN" altLang="en-US" sz="2000" dirty="0">
                <a:latin typeface="+mn-lt"/>
                <a:ea typeface="黑体" panose="02010609060101010101" pitchFamily="49" charset="-122"/>
              </a:rPr>
              <a:t>最长</a:t>
            </a:r>
            <a:r>
              <a:rPr lang="en-US" altLang="zh-CN" sz="2000" dirty="0">
                <a:latin typeface="+mn-lt"/>
                <a:ea typeface="黑体" panose="02010609060101010101" pitchFamily="49" charset="-122"/>
              </a:rPr>
              <a:t>critical path?</a:t>
            </a:r>
            <a:endParaRPr lang="en-US" altLang="en-US" sz="2000" dirty="0">
              <a:latin typeface="+mn-lt"/>
              <a:ea typeface="黑体" panose="02010609060101010101" pitchFamily="49" charset="-122"/>
            </a:endParaRP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1. ADDU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2. BEQ </a:t>
            </a:r>
          </a:p>
          <a:p>
            <a:r>
              <a:rPr lang="en-US" altLang="en-US" sz="2000" dirty="0">
                <a:solidFill>
                  <a:srgbClr val="0432FF"/>
                </a:solidFill>
                <a:latin typeface="+mn-lt"/>
                <a:ea typeface="黑体" panose="02010609060101010101" pitchFamily="49" charset="-122"/>
              </a:rPr>
              <a:t>3. LW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4. ORI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5. SUBU</a:t>
            </a:r>
          </a:p>
          <a:p>
            <a:r>
              <a:rPr lang="en-US" altLang="en-US" sz="2000" dirty="0">
                <a:latin typeface="+mn-lt"/>
                <a:ea typeface="黑体" panose="02010609060101010101" pitchFamily="49" charset="-122"/>
              </a:rPr>
              <a:t>6. SW</a:t>
            </a:r>
          </a:p>
        </p:txBody>
      </p:sp>
      <p:sp>
        <p:nvSpPr>
          <p:cNvPr id="11" name="Rectangle 172">
            <a:extLst>
              <a:ext uri="{FF2B5EF4-FFF2-40B4-BE49-F238E27FC236}">
                <a16:creationId xmlns:a16="http://schemas.microsoft.com/office/drawing/2014/main" id="{8383D9CD-F752-4100-9C42-CD4E1836C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42" y="1582863"/>
            <a:ext cx="3065981" cy="267509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A. PC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Clk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-to-Q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指令存储器的访问时间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C.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的访问时间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多路选择器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Mux</a:t>
            </a: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ImmExt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对立即数进行符号位扩展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移位单元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(&lt;&lt;2)</a:t>
            </a:r>
          </a:p>
          <a:p>
            <a:pPr eaLnBrk="0" hangingPunct="0"/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ALU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进行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位运算的时间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H. PC Adder1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计算出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I. PC Adder2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将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PC+4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与偏移量相加</a:t>
            </a:r>
            <a:endParaRPr lang="en-US" altLang="zh-CN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J. 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数据存储器访问时间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延迟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K. </a:t>
            </a:r>
            <a:r>
              <a:rPr lang="en-US" altLang="en-US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lang="en-US" altLang="zh-CN" sz="1400" b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建立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时间</a:t>
            </a:r>
            <a:endParaRPr lang="en-US" altLang="en-US" sz="1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0" hangingPunct="0"/>
            <a:r>
              <a:rPr lang="en-US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L. </a:t>
            </a:r>
            <a:r>
              <a:rPr lang="en-US" altLang="zh-CN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RF</a:t>
            </a:r>
            <a:r>
              <a:rPr lang="zh-CN" altLang="en-US" sz="1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写入的建立时间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D3CDE2B8-D821-F98A-C56E-7F6ECD35F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02" y="2099097"/>
            <a:ext cx="5835690" cy="4123744"/>
          </a:xfrm>
          <a:prstGeom prst="rect">
            <a:avLst/>
          </a:prstGeom>
        </p:spPr>
      </p:pic>
      <p:sp>
        <p:nvSpPr>
          <p:cNvPr id="3" name="Line 29">
            <a:extLst>
              <a:ext uri="{FF2B5EF4-FFF2-40B4-BE49-F238E27FC236}">
                <a16:creationId xmlns:a16="http://schemas.microsoft.com/office/drawing/2014/main" id="{4D9E5CDE-35DA-B771-A7F6-4DA778316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6924" y="4356132"/>
            <a:ext cx="384626" cy="15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5" name="Line 29">
            <a:extLst>
              <a:ext uri="{FF2B5EF4-FFF2-40B4-BE49-F238E27FC236}">
                <a16:creationId xmlns:a16="http://schemas.microsoft.com/office/drawing/2014/main" id="{701D7471-1AE2-DDFB-787A-BBECA9B26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001773"/>
            <a:ext cx="205924" cy="3543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694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35D884FC-E2B6-BC3F-B598-E927AE14E12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75779" y="2670720"/>
            <a:ext cx="5311021" cy="362044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42D2B-212B-448C-88AB-0EA6FDC8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CEB684-A407-4145-A7DD-B443ACE2FA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82E0A3-2DC6-4237-A634-92BA640A704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09276" y="279330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330ps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C84164-9C24-414D-BB2F-3C924665E42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09276" y="365055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470ps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3A6C81-2C08-4A0B-BAEC-27025A6348D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09276" y="450780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420ps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50E1A-D632-4F40-9091-3ECCC09C951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509276" y="536505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430ps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61C79E7-F38C-4597-B0F9-8592C3A662C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794901" y="285760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0D8D2C8-B166-48D9-934D-C4258984312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794901" y="371485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E0C8326-FE2C-46F8-BC0D-D0D43E71CD7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94901" y="4572102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2A97E1-DC47-451E-B639-4524A52D13B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94901" y="542935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A4E540-EF52-4A80-9414-DB6CF5ACD1F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387475" y="6078020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FA318CFA-0219-4691-A84A-9B228C8CE9AB}"/>
              </a:ext>
            </a:extLst>
          </p:cNvPr>
          <p:cNvSpPr txBox="1">
            <a:spLocks/>
          </p:cNvSpPr>
          <p:nvPr/>
        </p:nvSpPr>
        <p:spPr>
          <a:xfrm>
            <a:off x="457200" y="851795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zh-CN" altLang="en-US" sz="2000" kern="0" dirty="0"/>
              <a:t>假定一个单周期处理器各模块的延时如下</a:t>
            </a:r>
            <a:r>
              <a:rPr lang="en-US" altLang="zh-CN" sz="2000" kern="0" dirty="0"/>
              <a:t>(</a:t>
            </a:r>
            <a:r>
              <a:rPr lang="zh-CN" altLang="en-US" sz="2000" kern="0" dirty="0"/>
              <a:t>忽略生成控制信号的延时</a:t>
            </a:r>
            <a:r>
              <a:rPr lang="en-US" altLang="zh-CN" sz="2000" kern="0" dirty="0"/>
              <a:t>)</a:t>
            </a:r>
            <a:r>
              <a:rPr lang="zh-CN" altLang="en-US" sz="2000" kern="0" dirty="0"/>
              <a:t>：</a:t>
            </a:r>
            <a:endParaRPr lang="en-US" altLang="zh-CN" sz="2000" kern="0" dirty="0"/>
          </a:p>
          <a:p>
            <a:endParaRPr lang="en-US" altLang="zh-CN" sz="2000" kern="0" dirty="0"/>
          </a:p>
          <a:p>
            <a:endParaRPr lang="en-US" altLang="zh-CN" sz="2000" kern="0" dirty="0"/>
          </a:p>
          <a:p>
            <a:endParaRPr lang="en-US" altLang="zh-CN" sz="2000" kern="0" dirty="0"/>
          </a:p>
          <a:p>
            <a:pPr marL="0" indent="0">
              <a:buFontTx/>
              <a:buNone/>
            </a:pPr>
            <a:r>
              <a:rPr lang="en-US" altLang="zh-CN" sz="2000" kern="0" dirty="0" err="1"/>
              <a:t>beq</a:t>
            </a:r>
            <a:r>
              <a:rPr lang="en-US" altLang="zh-CN" sz="2000" kern="0" dirty="0"/>
              <a:t>/</a:t>
            </a:r>
            <a:r>
              <a:rPr lang="en-US" altLang="zh-CN" sz="2000" kern="0" dirty="0" err="1"/>
              <a:t>bne</a:t>
            </a:r>
            <a:r>
              <a:rPr lang="zh-CN" altLang="en-US" sz="2000" kern="0" dirty="0"/>
              <a:t>指令延时</a:t>
            </a:r>
            <a:r>
              <a:rPr lang="en-US" altLang="zh-CN" sz="2000" kern="0" dirty="0"/>
              <a:t>(</a:t>
            </a:r>
            <a:r>
              <a:rPr lang="en-US" altLang="zh-CN" sz="2000" dirty="0"/>
              <a:t>CLK-to-</a:t>
            </a:r>
            <a:r>
              <a:rPr lang="en-US" altLang="zh-CN" sz="2000" dirty="0" err="1"/>
              <a:t>InsOutput</a:t>
            </a:r>
            <a:r>
              <a:rPr lang="en-US" altLang="zh-CN" sz="2000" kern="0" dirty="0"/>
              <a:t>)</a:t>
            </a:r>
            <a:r>
              <a:rPr lang="zh-CN" altLang="en-US" sz="2000" kern="0" dirty="0"/>
              <a:t>是：</a:t>
            </a:r>
            <a:endParaRPr lang="en-US" altLang="zh-CN" sz="2000" kern="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C92284B-D653-662E-F754-E9648ACCE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9704"/>
              </p:ext>
            </p:extLst>
          </p:nvPr>
        </p:nvGraphicFramePr>
        <p:xfrm>
          <a:off x="267448" y="1376109"/>
          <a:ext cx="8647950" cy="75941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51258">
                  <a:extLst>
                    <a:ext uri="{9D8B030D-6E8A-4147-A177-3AD203B41FA5}">
                      <a16:colId xmlns:a16="http://schemas.microsoft.com/office/drawing/2014/main" val="3933815846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2688935752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4230027787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611730462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2193694290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3688192053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321701332"/>
                    </a:ext>
                  </a:extLst>
                </a:gridCol>
                <a:gridCol w="1289144">
                  <a:extLst>
                    <a:ext uri="{9D8B030D-6E8A-4147-A177-3AD203B41FA5}">
                      <a16:colId xmlns:a16="http://schemas.microsoft.com/office/drawing/2014/main" val="1457603162"/>
                    </a:ext>
                  </a:extLst>
                </a:gridCol>
              </a:tblGrid>
              <a:tr h="4241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I-MEM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Regs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Mux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ALU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ADD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D-MEM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Sign-Ext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Shift-Left-2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500837"/>
                  </a:ext>
                </a:extLst>
              </a:tr>
              <a:tr h="3035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250ps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10ps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988586"/>
                  </a:ext>
                </a:extLst>
              </a:tr>
            </a:tbl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343CC43D-4201-4793-B771-6030DEAA6C6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D4612B6-D2C3-4223-B138-C9B43D91FEA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754E1ECE-964E-4DD4-8C5E-8CE00988EB6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67498414-8F49-46C8-B502-0D68FC0BAEF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CBA4-0D78-497F-BC1A-0CB356B29CE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240C9FF-2798-47D0-A989-8EE2AA01355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6164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2EF6C19-41DF-8A60-653B-E1C82832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343" y="3111148"/>
            <a:ext cx="5311021" cy="36204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34DEE48-CBEA-4A13-B28A-6741358B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FC569-16B3-4406-819D-4E6DC4A8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假定一个单周期处理器各模块的延时如下</a:t>
            </a:r>
            <a:r>
              <a:rPr lang="en-US" altLang="zh-CN" sz="2000" dirty="0"/>
              <a:t>(</a:t>
            </a:r>
            <a:r>
              <a:rPr lang="zh-CN" altLang="en-US" sz="2000" dirty="0"/>
              <a:t>忽略生成控制信号的延时</a:t>
            </a:r>
            <a:r>
              <a:rPr lang="en-US" altLang="zh-CN" sz="2000" dirty="0"/>
              <a:t>)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beq</a:t>
            </a:r>
            <a:r>
              <a:rPr lang="en-US" altLang="zh-CN" sz="2000" dirty="0"/>
              <a:t>/</a:t>
            </a:r>
            <a:r>
              <a:rPr lang="en-US" altLang="zh-CN" sz="2000" dirty="0" err="1"/>
              <a:t>bne</a:t>
            </a:r>
            <a:r>
              <a:rPr lang="zh-CN" altLang="en-US" sz="2000" dirty="0"/>
              <a:t>指令延时</a:t>
            </a:r>
            <a:r>
              <a:rPr lang="en-US" altLang="zh-CN" sz="2000" dirty="0"/>
              <a:t>(CLK-to-</a:t>
            </a:r>
            <a:r>
              <a:rPr lang="en-US" altLang="zh-CN" sz="2000" dirty="0" err="1"/>
              <a:t>InsOutput</a:t>
            </a:r>
            <a:r>
              <a:rPr lang="en-US" altLang="zh-CN" sz="2000" dirty="0"/>
              <a:t>)</a:t>
            </a:r>
            <a:r>
              <a:rPr lang="zh-CN" altLang="en-US" sz="2000" dirty="0"/>
              <a:t>是：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0" dirty="0"/>
              <a:t>A. 330ps</a:t>
            </a:r>
          </a:p>
          <a:p>
            <a:pPr marL="0" indent="0">
              <a:buNone/>
            </a:pPr>
            <a:r>
              <a:rPr lang="en-US" altLang="zh-CN" sz="2000" b="0" dirty="0"/>
              <a:t>B. 470ps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3333FF"/>
                </a:solidFill>
              </a:rPr>
              <a:t>C. 420ps</a:t>
            </a:r>
          </a:p>
          <a:p>
            <a:pPr marL="0" indent="0">
              <a:buNone/>
            </a:pPr>
            <a:r>
              <a:rPr lang="en-US" altLang="zh-CN" sz="2000" b="0" dirty="0"/>
              <a:t>D. 430ps</a:t>
            </a:r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708B99-D23A-400D-BF1C-40D940DB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7D382-3EFC-1C42-8566-1200DA589A82}"/>
              </a:ext>
            </a:extLst>
          </p:cNvPr>
          <p:cNvSpPr/>
          <p:nvPr/>
        </p:nvSpPr>
        <p:spPr>
          <a:xfrm>
            <a:off x="429291" y="4701162"/>
            <a:ext cx="27016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3333FF"/>
                </a:solidFill>
                <a:ea typeface="黑体" panose="02010609060101010101" pitchFamily="49" charset="-122"/>
              </a:rPr>
              <a:t>解答：</a:t>
            </a:r>
            <a:r>
              <a:rPr lang="en-US" altLang="zh-CN" sz="2400" b="1" dirty="0">
                <a:solidFill>
                  <a:srgbClr val="3333FF"/>
                </a:solidFill>
                <a:ea typeface="黑体" panose="02010609060101010101" pitchFamily="49" charset="-122"/>
              </a:rPr>
              <a:t>C</a:t>
            </a:r>
          </a:p>
          <a:p>
            <a:pPr marL="0" indent="0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I-MEM + Regs + Mux + ALU + Mux </a:t>
            </a:r>
          </a:p>
          <a:p>
            <a:pPr marL="0" indent="0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=</a:t>
            </a:r>
            <a:r>
              <a:rPr lang="zh-CN" altLang="en-US" sz="2400" dirty="0"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ea typeface="黑体" panose="02010609060101010101" pitchFamily="49" charset="-122"/>
              </a:rPr>
              <a:t>200 + 90 + 20 + 90 + 20 = 420ps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146ED82-AA84-ECFB-2BB9-283714B9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39312"/>
              </p:ext>
            </p:extLst>
          </p:nvPr>
        </p:nvGraphicFramePr>
        <p:xfrm>
          <a:off x="267448" y="1806415"/>
          <a:ext cx="8647950" cy="75941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51258">
                  <a:extLst>
                    <a:ext uri="{9D8B030D-6E8A-4147-A177-3AD203B41FA5}">
                      <a16:colId xmlns:a16="http://schemas.microsoft.com/office/drawing/2014/main" val="3933815846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2688935752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4230027787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611730462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2193694290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3688192053"/>
                    </a:ext>
                  </a:extLst>
                </a:gridCol>
                <a:gridCol w="1051258">
                  <a:extLst>
                    <a:ext uri="{9D8B030D-6E8A-4147-A177-3AD203B41FA5}">
                      <a16:colId xmlns:a16="http://schemas.microsoft.com/office/drawing/2014/main" val="321701332"/>
                    </a:ext>
                  </a:extLst>
                </a:gridCol>
                <a:gridCol w="1289144">
                  <a:extLst>
                    <a:ext uri="{9D8B030D-6E8A-4147-A177-3AD203B41FA5}">
                      <a16:colId xmlns:a16="http://schemas.microsoft.com/office/drawing/2014/main" val="1457603162"/>
                    </a:ext>
                  </a:extLst>
                </a:gridCol>
              </a:tblGrid>
              <a:tr h="4241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I-MEM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Regs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Mux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ALU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ADD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D-MEM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Sign-Ext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Shift-Left-2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500837"/>
                  </a:ext>
                </a:extLst>
              </a:tr>
              <a:tr h="3035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250ps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15ps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10ps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988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064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AE00-ED87-4D07-BB67-7C3EFBD1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寄存器堆访问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2425F-6A7F-4484-BFA8-ED7FEBFAE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7"/>
            <a:ext cx="8601740" cy="1664894"/>
          </a:xfrm>
        </p:spPr>
        <p:txBody>
          <a:bodyPr/>
          <a:lstStyle/>
          <a:p>
            <a:r>
              <a:rPr lang="zh-CN" altLang="en-US" sz="2800" dirty="0"/>
              <a:t>时钟触发边沿写入，且支持</a:t>
            </a:r>
            <a:r>
              <a:rPr lang="en-US" altLang="zh-CN" sz="2800" dirty="0"/>
              <a:t>“</a:t>
            </a:r>
            <a:r>
              <a:rPr lang="zh-CN" altLang="en-US" sz="2800" dirty="0">
                <a:solidFill>
                  <a:srgbClr val="0432FF"/>
                </a:solidFill>
              </a:rPr>
              <a:t>先写后读</a:t>
            </a:r>
            <a:r>
              <a:rPr lang="en-US" altLang="zh-CN" sz="2800" dirty="0">
                <a:solidFill>
                  <a:srgbClr val="0432FF"/>
                </a:solidFill>
              </a:rPr>
              <a:t>/</a:t>
            </a:r>
            <a:r>
              <a:rPr lang="zh-CN" altLang="en-US" sz="2800" dirty="0">
                <a:solidFill>
                  <a:srgbClr val="0432FF"/>
                </a:solidFill>
              </a:rPr>
              <a:t>写后即读</a:t>
            </a:r>
            <a:r>
              <a:rPr lang="en-US" altLang="zh-CN" sz="2800" dirty="0"/>
              <a:t>”</a:t>
            </a:r>
          </a:p>
          <a:p>
            <a:pPr lvl="1"/>
            <a:r>
              <a:rPr lang="zh-CN" altLang="en-US" sz="2000" dirty="0"/>
              <a:t>时钟沿写入到</a:t>
            </a:r>
            <a:r>
              <a:rPr lang="en-US" altLang="zh-CN" sz="2000" dirty="0"/>
              <a:t>RF</a:t>
            </a:r>
            <a:r>
              <a:rPr lang="zh-CN" altLang="en-US" sz="2000" dirty="0"/>
              <a:t>的数据在下一个边沿之前就可以直接被访问</a:t>
            </a:r>
            <a:endParaRPr lang="en-US" altLang="zh-CN" sz="2000" dirty="0"/>
          </a:p>
          <a:p>
            <a:pPr lvl="1"/>
            <a:r>
              <a:rPr lang="en-US" altLang="zh-CN" sz="2000" dirty="0">
                <a:ea typeface="SimHei" panose="02010609060101010101" pitchFamily="49" charset="-122"/>
              </a:rPr>
              <a:t>RF/Memory</a:t>
            </a:r>
            <a:r>
              <a:rPr lang="zh-CN" altLang="en-US" sz="2000" dirty="0">
                <a:ea typeface="SimHei" panose="02010609060101010101" pitchFamily="49" charset="-122"/>
              </a:rPr>
              <a:t>阵列大，写入的更新数据需建立时间，如</a:t>
            </a:r>
            <a:r>
              <a:rPr lang="en-US" altLang="zh-CN" sz="2000" dirty="0">
                <a:ea typeface="SimHei" panose="02010609060101010101" pitchFamily="49" charset="-122"/>
              </a:rPr>
              <a:t>50/200ps</a:t>
            </a:r>
          </a:p>
          <a:p>
            <a:pPr lvl="1"/>
            <a:r>
              <a:rPr lang="zh-CN" altLang="en-US" sz="2000" dirty="0">
                <a:ea typeface="SimHei" panose="02010609060101010101" pitchFamily="49" charset="-122"/>
              </a:rPr>
              <a:t>如刚写入的数据马上就要读出使用，可利用额外旁路加速（见附录）</a:t>
            </a:r>
            <a:endParaRPr lang="en-US" altLang="zh-CN" sz="2000" dirty="0">
              <a:ea typeface="SimHei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6522AC-4C04-4A27-AA11-1DBA77AB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26FCE3-5FF9-430D-BA0B-DE80AAE71673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0489984-11E5-214C-A391-A270E42636E7}"/>
              </a:ext>
            </a:extLst>
          </p:cNvPr>
          <p:cNvGrpSpPr/>
          <p:nvPr/>
        </p:nvGrpSpPr>
        <p:grpSpPr>
          <a:xfrm>
            <a:off x="2992148" y="4073446"/>
            <a:ext cx="2473988" cy="2081923"/>
            <a:chOff x="778148" y="3455585"/>
            <a:chExt cx="2473988" cy="2081923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802E6FD-31B6-C141-910B-20C6FEF65206}"/>
                </a:ext>
              </a:extLst>
            </p:cNvPr>
            <p:cNvSpPr/>
            <p:nvPr/>
          </p:nvSpPr>
          <p:spPr>
            <a:xfrm>
              <a:off x="1540879" y="3927304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705269D-CAF4-C748-B845-359330506BEE}"/>
                </a:ext>
              </a:extLst>
            </p:cNvPr>
            <p:cNvSpPr/>
            <p:nvPr/>
          </p:nvSpPr>
          <p:spPr>
            <a:xfrm>
              <a:off x="1505281" y="3894503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46D7681-32C1-294D-AAAF-48C0FC54F6BA}"/>
                </a:ext>
              </a:extLst>
            </p:cNvPr>
            <p:cNvSpPr/>
            <p:nvPr/>
          </p:nvSpPr>
          <p:spPr>
            <a:xfrm>
              <a:off x="1469683" y="3861702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A0876D6A-7003-B44A-BA2A-CF11717D1BD7}"/>
                </a:ext>
              </a:extLst>
            </p:cNvPr>
            <p:cNvSpPr/>
            <p:nvPr/>
          </p:nvSpPr>
          <p:spPr>
            <a:xfrm>
              <a:off x="1434085" y="3828901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3533B53-029A-3B46-9132-60C8D04CDA81}"/>
                </a:ext>
              </a:extLst>
            </p:cNvPr>
            <p:cNvSpPr/>
            <p:nvPr/>
          </p:nvSpPr>
          <p:spPr>
            <a:xfrm>
              <a:off x="1398487" y="3796100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E71BB12-ACCE-7546-BFE7-9991F1CB0942}"/>
                </a:ext>
              </a:extLst>
            </p:cNvPr>
            <p:cNvSpPr/>
            <p:nvPr/>
          </p:nvSpPr>
          <p:spPr>
            <a:xfrm>
              <a:off x="1364198" y="3756484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F450847-10D2-1944-9499-655B561827BE}"/>
                </a:ext>
              </a:extLst>
            </p:cNvPr>
            <p:cNvSpPr/>
            <p:nvPr/>
          </p:nvSpPr>
          <p:spPr>
            <a:xfrm>
              <a:off x="1959912" y="4113601"/>
              <a:ext cx="424272" cy="618126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4921FA04-73AC-FD42-A10F-3BE6F7982140}"/>
                </a:ext>
              </a:extLst>
            </p:cNvPr>
            <p:cNvSpPr/>
            <p:nvPr/>
          </p:nvSpPr>
          <p:spPr>
            <a:xfrm>
              <a:off x="1964918" y="4513002"/>
              <a:ext cx="94268" cy="179109"/>
            </a:xfrm>
            <a:custGeom>
              <a:avLst/>
              <a:gdLst>
                <a:gd name="connsiteX0" fmla="*/ 0 w 94268"/>
                <a:gd name="connsiteY0" fmla="*/ 0 h 179109"/>
                <a:gd name="connsiteX1" fmla="*/ 94268 w 94268"/>
                <a:gd name="connsiteY1" fmla="*/ 94268 h 179109"/>
                <a:gd name="connsiteX2" fmla="*/ 9427 w 94268"/>
                <a:gd name="connsiteY2" fmla="*/ 179109 h 1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268" h="179109">
                  <a:moveTo>
                    <a:pt x="0" y="0"/>
                  </a:moveTo>
                  <a:lnTo>
                    <a:pt x="94268" y="94268"/>
                  </a:lnTo>
                  <a:lnTo>
                    <a:pt x="9427" y="179109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7" name="文本框 8">
              <a:extLst>
                <a:ext uri="{FF2B5EF4-FFF2-40B4-BE49-F238E27FC236}">
                  <a16:creationId xmlns:a16="http://schemas.microsoft.com/office/drawing/2014/main" id="{E937E606-DB26-E84A-B331-6B81E3E7B80F}"/>
                </a:ext>
              </a:extLst>
            </p:cNvPr>
            <p:cNvSpPr txBox="1"/>
            <p:nvPr/>
          </p:nvSpPr>
          <p:spPr>
            <a:xfrm>
              <a:off x="1847253" y="4090771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D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78" name="文本框 8">
              <a:extLst>
                <a:ext uri="{FF2B5EF4-FFF2-40B4-BE49-F238E27FC236}">
                  <a16:creationId xmlns:a16="http://schemas.microsoft.com/office/drawing/2014/main" id="{36E6BC1C-1507-DF4F-8A2B-B745E58B2030}"/>
                </a:ext>
              </a:extLst>
            </p:cNvPr>
            <p:cNvSpPr txBox="1"/>
            <p:nvPr/>
          </p:nvSpPr>
          <p:spPr>
            <a:xfrm>
              <a:off x="2080341" y="4146700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Q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79" name="AutoShape 67">
              <a:extLst>
                <a:ext uri="{FF2B5EF4-FFF2-40B4-BE49-F238E27FC236}">
                  <a16:creationId xmlns:a16="http://schemas.microsoft.com/office/drawing/2014/main" id="{7BF2118C-3B41-1541-9B75-6072C313B8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64545" y="4144058"/>
              <a:ext cx="331146" cy="98268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703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14BC6A4-42D9-834C-A092-8F669DE4839C}"/>
                </a:ext>
              </a:extLst>
            </p:cNvPr>
            <p:cNvSpPr/>
            <p:nvPr/>
          </p:nvSpPr>
          <p:spPr>
            <a:xfrm>
              <a:off x="1478532" y="3885833"/>
              <a:ext cx="978921" cy="394010"/>
            </a:xfrm>
            <a:custGeom>
              <a:avLst/>
              <a:gdLst>
                <a:gd name="connsiteX0" fmla="*/ 1018478 w 1018478"/>
                <a:gd name="connsiteY0" fmla="*/ 394010 h 394010"/>
                <a:gd name="connsiteX1" fmla="*/ 1018478 w 1018478"/>
                <a:gd name="connsiteY1" fmla="*/ 0 h 394010"/>
                <a:gd name="connsiteX2" fmla="*/ 0 w 1018478"/>
                <a:gd name="connsiteY2" fmla="*/ 0 h 394010"/>
                <a:gd name="connsiteX3" fmla="*/ 0 w 1018478"/>
                <a:gd name="connsiteY3" fmla="*/ 230459 h 394010"/>
                <a:gd name="connsiteX4" fmla="*/ 104078 w 1018478"/>
                <a:gd name="connsiteY4" fmla="*/ 230459 h 39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8478" h="394010">
                  <a:moveTo>
                    <a:pt x="1018478" y="394010"/>
                  </a:moveTo>
                  <a:lnTo>
                    <a:pt x="1018478" y="0"/>
                  </a:lnTo>
                  <a:lnTo>
                    <a:pt x="0" y="0"/>
                  </a:lnTo>
                  <a:lnTo>
                    <a:pt x="0" y="230459"/>
                  </a:lnTo>
                  <a:lnTo>
                    <a:pt x="104078" y="230459"/>
                  </a:ln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A2F4A85-C58D-5045-BD96-DDE884BAA2AC}"/>
                </a:ext>
              </a:extLst>
            </p:cNvPr>
            <p:cNvCxnSpPr>
              <a:cxnSpLocks/>
            </p:cNvCxnSpPr>
            <p:nvPr/>
          </p:nvCxnSpPr>
          <p:spPr>
            <a:xfrm>
              <a:off x="1679252" y="4189752"/>
              <a:ext cx="280111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A83E003-A13F-9643-90C6-DB80211DA74C}"/>
                </a:ext>
              </a:extLst>
            </p:cNvPr>
            <p:cNvSpPr/>
            <p:nvPr/>
          </p:nvSpPr>
          <p:spPr>
            <a:xfrm>
              <a:off x="1205114" y="4324747"/>
              <a:ext cx="428587" cy="202518"/>
            </a:xfrm>
            <a:custGeom>
              <a:avLst/>
              <a:gdLst>
                <a:gd name="connsiteX0" fmla="*/ 0 w 251613"/>
                <a:gd name="connsiteY0" fmla="*/ 202518 h 202518"/>
                <a:gd name="connsiteX1" fmla="*/ 251613 w 251613"/>
                <a:gd name="connsiteY1" fmla="*/ 202518 h 202518"/>
                <a:gd name="connsiteX2" fmla="*/ 251613 w 251613"/>
                <a:gd name="connsiteY2" fmla="*/ 0 h 20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613" h="202518">
                  <a:moveTo>
                    <a:pt x="0" y="202518"/>
                  </a:moveTo>
                  <a:lnTo>
                    <a:pt x="251613" y="202518"/>
                  </a:lnTo>
                  <a:lnTo>
                    <a:pt x="251613" y="0"/>
                  </a:ln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4B3F213A-1561-094D-8D76-7541251B8A1C}"/>
                </a:ext>
              </a:extLst>
            </p:cNvPr>
            <p:cNvSpPr/>
            <p:nvPr/>
          </p:nvSpPr>
          <p:spPr>
            <a:xfrm>
              <a:off x="1469370" y="4269515"/>
              <a:ext cx="105054" cy="969806"/>
            </a:xfrm>
            <a:custGeom>
              <a:avLst/>
              <a:gdLst>
                <a:gd name="connsiteX0" fmla="*/ 104327 w 104327"/>
                <a:gd name="connsiteY0" fmla="*/ 0 h 803935"/>
                <a:gd name="connsiteX1" fmla="*/ 0 w 104327"/>
                <a:gd name="connsiteY1" fmla="*/ 0 h 803935"/>
                <a:gd name="connsiteX2" fmla="*/ 0 w 104327"/>
                <a:gd name="connsiteY2" fmla="*/ 803935 h 80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327" h="803935">
                  <a:moveTo>
                    <a:pt x="104327" y="0"/>
                  </a:moveTo>
                  <a:lnTo>
                    <a:pt x="0" y="0"/>
                  </a:lnTo>
                  <a:lnTo>
                    <a:pt x="0" y="803935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2B3AEED-9846-D949-9F74-78BB1476BFF2}"/>
                </a:ext>
              </a:extLst>
            </p:cNvPr>
            <p:cNvSpPr/>
            <p:nvPr/>
          </p:nvSpPr>
          <p:spPr>
            <a:xfrm>
              <a:off x="1517150" y="4442596"/>
              <a:ext cx="234545" cy="1566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85" name="AutoShape 67">
              <a:extLst>
                <a:ext uri="{FF2B5EF4-FFF2-40B4-BE49-F238E27FC236}">
                  <a16:creationId xmlns:a16="http://schemas.microsoft.com/office/drawing/2014/main" id="{C85E10AB-311A-214C-B959-29B22677A6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63962" y="4222208"/>
              <a:ext cx="666390" cy="127762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F2803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cxnSp>
          <p:nvCxnSpPr>
            <p:cNvPr id="186" name="直接箭头连接符 13">
              <a:extLst>
                <a:ext uri="{FF2B5EF4-FFF2-40B4-BE49-F238E27FC236}">
                  <a16:creationId xmlns:a16="http://schemas.microsoft.com/office/drawing/2014/main" id="{2ADF653E-9E27-A747-AC47-FD54DA283983}"/>
                </a:ext>
              </a:extLst>
            </p:cNvPr>
            <p:cNvCxnSpPr>
              <a:cxnSpLocks/>
            </p:cNvCxnSpPr>
            <p:nvPr/>
          </p:nvCxnSpPr>
          <p:spPr>
            <a:xfrm>
              <a:off x="2389791" y="4279843"/>
              <a:ext cx="406538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8">
              <a:extLst>
                <a:ext uri="{FF2B5EF4-FFF2-40B4-BE49-F238E27FC236}">
                  <a16:creationId xmlns:a16="http://schemas.microsoft.com/office/drawing/2014/main" id="{853A43BE-85AE-EA47-8FC2-47909925DF6E}"/>
                </a:ext>
              </a:extLst>
            </p:cNvPr>
            <p:cNvSpPr txBox="1"/>
            <p:nvPr/>
          </p:nvSpPr>
          <p:spPr>
            <a:xfrm>
              <a:off x="2580301" y="3455585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solidFill>
                    <a:srgbClr val="EC7B2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89" name="文本框 15">
              <a:extLst>
                <a:ext uri="{FF2B5EF4-FFF2-40B4-BE49-F238E27FC236}">
                  <a16:creationId xmlns:a16="http://schemas.microsoft.com/office/drawing/2014/main" id="{73A071BD-FB8E-1742-AFB8-A1437B42E480}"/>
                </a:ext>
              </a:extLst>
            </p:cNvPr>
            <p:cNvSpPr txBox="1"/>
            <p:nvPr/>
          </p:nvSpPr>
          <p:spPr>
            <a:xfrm>
              <a:off x="1999220" y="4914344"/>
              <a:ext cx="893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32 Regs</a:t>
              </a:r>
            </a:p>
          </p:txBody>
        </p:sp>
        <p:sp>
          <p:nvSpPr>
            <p:cNvPr id="190" name="文本框 11">
              <a:extLst>
                <a:ext uri="{FF2B5EF4-FFF2-40B4-BE49-F238E27FC236}">
                  <a16:creationId xmlns:a16="http://schemas.microsoft.com/office/drawing/2014/main" id="{EC24EFC0-CC69-DB45-A0A0-65B3A0B82F71}"/>
                </a:ext>
              </a:extLst>
            </p:cNvPr>
            <p:cNvSpPr txBox="1"/>
            <p:nvPr/>
          </p:nvSpPr>
          <p:spPr>
            <a:xfrm>
              <a:off x="778148" y="4864005"/>
              <a:ext cx="654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Write Data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91" name="文本框 12">
              <a:extLst>
                <a:ext uri="{FF2B5EF4-FFF2-40B4-BE49-F238E27FC236}">
                  <a16:creationId xmlns:a16="http://schemas.microsoft.com/office/drawing/2014/main" id="{17D77095-DBDD-F541-83F3-9DF754229DB7}"/>
                </a:ext>
              </a:extLst>
            </p:cNvPr>
            <p:cNvSpPr txBox="1"/>
            <p:nvPr/>
          </p:nvSpPr>
          <p:spPr>
            <a:xfrm>
              <a:off x="795297" y="4398548"/>
              <a:ext cx="5060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Rw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5132789-07DE-5948-BB68-8AFA7180EB0B}"/>
                </a:ext>
              </a:extLst>
            </p:cNvPr>
            <p:cNvCxnSpPr>
              <a:cxnSpLocks/>
            </p:cNvCxnSpPr>
            <p:nvPr/>
          </p:nvCxnSpPr>
          <p:spPr>
            <a:xfrm>
              <a:off x="3061038" y="4298998"/>
              <a:ext cx="191098" cy="0"/>
            </a:xfrm>
            <a:prstGeom prst="line">
              <a:avLst/>
            </a:prstGeom>
            <a:ln w="19050">
              <a:solidFill>
                <a:srgbClr val="EC7B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15">
              <a:extLst>
                <a:ext uri="{FF2B5EF4-FFF2-40B4-BE49-F238E27FC236}">
                  <a16:creationId xmlns:a16="http://schemas.microsoft.com/office/drawing/2014/main" id="{1C23FE40-BEE0-0E4E-80DF-83F5CA178E3B}"/>
                </a:ext>
              </a:extLst>
            </p:cNvPr>
            <p:cNvSpPr txBox="1"/>
            <p:nvPr/>
          </p:nvSpPr>
          <p:spPr>
            <a:xfrm>
              <a:off x="1845743" y="4338773"/>
              <a:ext cx="5929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N-bit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  <p:cxnSp>
          <p:nvCxnSpPr>
            <p:cNvPr id="206" name="直接箭头连接符 13">
              <a:extLst>
                <a:ext uri="{FF2B5EF4-FFF2-40B4-BE49-F238E27FC236}">
                  <a16:creationId xmlns:a16="http://schemas.microsoft.com/office/drawing/2014/main" id="{0023E9AB-BA00-2B40-9559-8A90C6A1DFCA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101787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箭头连接符 13">
              <a:extLst>
                <a:ext uri="{FF2B5EF4-FFF2-40B4-BE49-F238E27FC236}">
                  <a16:creationId xmlns:a16="http://schemas.microsoft.com/office/drawing/2014/main" id="{07B9BAB1-8BD6-0E4C-9DB1-AEDC451F60ED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178364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13">
              <a:extLst>
                <a:ext uri="{FF2B5EF4-FFF2-40B4-BE49-F238E27FC236}">
                  <a16:creationId xmlns:a16="http://schemas.microsoft.com/office/drawing/2014/main" id="{1262FE8D-7DC7-6142-ACAF-9CD57F3CA4D5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254941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13">
              <a:extLst>
                <a:ext uri="{FF2B5EF4-FFF2-40B4-BE49-F238E27FC236}">
                  <a16:creationId xmlns:a16="http://schemas.microsoft.com/office/drawing/2014/main" id="{BBCA8F66-9088-6540-A974-BAB064376150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484672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直接箭头连接符 13">
              <a:extLst>
                <a:ext uri="{FF2B5EF4-FFF2-40B4-BE49-F238E27FC236}">
                  <a16:creationId xmlns:a16="http://schemas.microsoft.com/office/drawing/2014/main" id="{6A743E4C-F558-6147-B8AF-BF6BCE41A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059" y="4313652"/>
              <a:ext cx="0" cy="108000"/>
            </a:xfrm>
            <a:prstGeom prst="straightConnector1">
              <a:avLst/>
            </a:prstGeom>
            <a:ln w="19050">
              <a:solidFill>
                <a:srgbClr val="7030A0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349C23E-7D78-694D-AC57-C30EE5E51107}"/>
                </a:ext>
              </a:extLst>
            </p:cNvPr>
            <p:cNvCxnSpPr>
              <a:cxnSpLocks/>
            </p:cNvCxnSpPr>
            <p:nvPr/>
          </p:nvCxnSpPr>
          <p:spPr>
            <a:xfrm>
              <a:off x="2769826" y="4090771"/>
              <a:ext cx="0" cy="41592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B53B9D9-DE11-624B-B476-0B36CF5F0DF8}"/>
                </a:ext>
              </a:extLst>
            </p:cNvPr>
            <p:cNvSpPr/>
            <p:nvPr/>
          </p:nvSpPr>
          <p:spPr>
            <a:xfrm>
              <a:off x="2683337" y="3725349"/>
              <a:ext cx="333213" cy="325464"/>
            </a:xfrm>
            <a:custGeom>
              <a:avLst/>
              <a:gdLst>
                <a:gd name="connsiteX0" fmla="*/ 0 w 333213"/>
                <a:gd name="connsiteY0" fmla="*/ 0 h 325464"/>
                <a:gd name="connsiteX1" fmla="*/ 333213 w 333213"/>
                <a:gd name="connsiteY1" fmla="*/ 0 h 325464"/>
                <a:gd name="connsiteX2" fmla="*/ 333213 w 333213"/>
                <a:gd name="connsiteY2" fmla="*/ 325464 h 32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213" h="325464">
                  <a:moveTo>
                    <a:pt x="0" y="0"/>
                  </a:moveTo>
                  <a:lnTo>
                    <a:pt x="333213" y="0"/>
                  </a:lnTo>
                  <a:lnTo>
                    <a:pt x="333213" y="325464"/>
                  </a:lnTo>
                </a:path>
              </a:pathLst>
            </a:custGeom>
            <a:noFill/>
            <a:ln w="19050">
              <a:solidFill>
                <a:srgbClr val="EC7B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EE406B48-6D13-824B-B789-BFA8FE258EC1}"/>
                </a:ext>
              </a:extLst>
            </p:cNvPr>
            <p:cNvSpPr/>
            <p:nvPr/>
          </p:nvSpPr>
          <p:spPr>
            <a:xfrm>
              <a:off x="1850309" y="4621369"/>
              <a:ext cx="105054" cy="828153"/>
            </a:xfrm>
            <a:custGeom>
              <a:avLst/>
              <a:gdLst>
                <a:gd name="connsiteX0" fmla="*/ 104327 w 104327"/>
                <a:gd name="connsiteY0" fmla="*/ 0 h 803935"/>
                <a:gd name="connsiteX1" fmla="*/ 0 w 104327"/>
                <a:gd name="connsiteY1" fmla="*/ 0 h 803935"/>
                <a:gd name="connsiteX2" fmla="*/ 0 w 104327"/>
                <a:gd name="connsiteY2" fmla="*/ 803935 h 80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327" h="803935">
                  <a:moveTo>
                    <a:pt x="104327" y="0"/>
                  </a:moveTo>
                  <a:lnTo>
                    <a:pt x="0" y="0"/>
                  </a:lnTo>
                  <a:lnTo>
                    <a:pt x="0" y="803935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219" name="文本框 11">
              <a:extLst>
                <a:ext uri="{FF2B5EF4-FFF2-40B4-BE49-F238E27FC236}">
                  <a16:creationId xmlns:a16="http://schemas.microsoft.com/office/drawing/2014/main" id="{E9501C62-DF40-CA4C-9F08-AD3B42F21790}"/>
                </a:ext>
              </a:extLst>
            </p:cNvPr>
            <p:cNvSpPr txBox="1"/>
            <p:nvPr/>
          </p:nvSpPr>
          <p:spPr>
            <a:xfrm>
              <a:off x="1313945" y="5229731"/>
              <a:ext cx="654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</a:rPr>
                <a:t>CLK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" name="文本框 8">
            <a:extLst>
              <a:ext uri="{FF2B5EF4-FFF2-40B4-BE49-F238E27FC236}">
                <a16:creationId xmlns:a16="http://schemas.microsoft.com/office/drawing/2014/main" id="{AEE21693-6606-0624-FB7E-45B252C37DAC}"/>
              </a:ext>
            </a:extLst>
          </p:cNvPr>
          <p:cNvSpPr txBox="1"/>
          <p:nvPr/>
        </p:nvSpPr>
        <p:spPr>
          <a:xfrm>
            <a:off x="5312734" y="4902284"/>
            <a:ext cx="41446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R[</a:t>
            </a:r>
            <a:r>
              <a:rPr lang="en-US" altLang="zh-CN" sz="1400" dirty="0">
                <a:solidFill>
                  <a:srgbClr val="EC7B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]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C7B2F"/>
              </a:solidFill>
              <a:effectLst/>
              <a:uLnTx/>
              <a:uFillTx/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684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单周期实现的性能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FA092-A9C4-4C5C-A010-9660AACB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4174"/>
            <a:ext cx="7874000" cy="4952851"/>
          </a:xfrm>
        </p:spPr>
        <p:txBody>
          <a:bodyPr/>
          <a:lstStyle/>
          <a:p>
            <a:pPr hangingPunct="1"/>
            <a:r>
              <a:rPr lang="zh-CN" altLang="en-US" sz="2800" dirty="0"/>
              <a:t>假设主要功能单元的操作时间</a:t>
            </a:r>
            <a:endParaRPr lang="en-US" altLang="zh-CN" sz="2800" dirty="0"/>
          </a:p>
          <a:p>
            <a:pPr lvl="1"/>
            <a:r>
              <a:rPr lang="en-US" altLang="zh-CN" sz="2000" dirty="0"/>
              <a:t>ALU</a:t>
            </a:r>
            <a:r>
              <a:rPr lang="zh-CN" altLang="en-US" sz="2000" dirty="0"/>
              <a:t>和加法器：</a:t>
            </a:r>
            <a:r>
              <a:rPr lang="en-US" altLang="zh-CN" sz="2000" dirty="0"/>
              <a:t>100ps</a:t>
            </a:r>
          </a:p>
          <a:p>
            <a:pPr lvl="1"/>
            <a:r>
              <a:rPr lang="zh-CN" altLang="en-US" sz="2000" dirty="0"/>
              <a:t>存储单元（读写相同） ：</a:t>
            </a:r>
            <a:r>
              <a:rPr lang="en-US" altLang="zh-CN" sz="2000" dirty="0"/>
              <a:t>200ps</a:t>
            </a:r>
          </a:p>
          <a:p>
            <a:pPr lvl="1"/>
            <a:r>
              <a:rPr lang="zh-CN" altLang="en-US" sz="2000" dirty="0"/>
              <a:t>寄存器堆（读写相同）：</a:t>
            </a:r>
            <a:r>
              <a:rPr lang="en-US" altLang="zh-CN" sz="2000" dirty="0"/>
              <a:t>50ps</a:t>
            </a:r>
          </a:p>
          <a:p>
            <a:pPr lvl="1"/>
            <a:r>
              <a:rPr lang="zh-CN" altLang="en-US" sz="2000" dirty="0"/>
              <a:t>假设</a:t>
            </a:r>
            <a:r>
              <a:rPr lang="zh-CN" altLang="en-CN" sz="2000" dirty="0"/>
              <a:t>其他</a:t>
            </a:r>
            <a:r>
              <a:rPr lang="zh-CN" altLang="en-US" sz="2000" dirty="0"/>
              <a:t>延迟忽略不计</a:t>
            </a:r>
            <a:endParaRPr lang="en-US" altLang="zh-CN" sz="2000" dirty="0"/>
          </a:p>
          <a:p>
            <a:pPr hangingPunct="1"/>
            <a:r>
              <a:rPr lang="zh-CN" altLang="en-US" sz="2800" dirty="0"/>
              <a:t>假设某程序中，各种指令的占比</a:t>
            </a:r>
            <a:endParaRPr lang="en-US" altLang="zh-CN" sz="2800" dirty="0"/>
          </a:p>
          <a:p>
            <a:pPr lvl="1" hangingPunct="1"/>
            <a:r>
              <a:rPr lang="en-US" altLang="zh-CN" sz="1800" dirty="0" err="1"/>
              <a:t>Lw</a:t>
            </a:r>
            <a:r>
              <a:rPr lang="zh-CN" altLang="en-US" sz="1800" dirty="0"/>
              <a:t>：</a:t>
            </a:r>
            <a:r>
              <a:rPr lang="en-US" altLang="zh-CN" sz="1800" dirty="0"/>
              <a:t>25%</a:t>
            </a:r>
          </a:p>
          <a:p>
            <a:pPr lvl="1" hangingPunct="1"/>
            <a:r>
              <a:rPr lang="en-US" altLang="zh-CN" sz="1800" dirty="0" err="1"/>
              <a:t>Sw</a:t>
            </a:r>
            <a:r>
              <a:rPr lang="zh-CN" altLang="en-US" sz="1800" dirty="0"/>
              <a:t>：</a:t>
            </a:r>
            <a:r>
              <a:rPr lang="en-US" altLang="zh-CN" sz="1800" dirty="0"/>
              <a:t>10%</a:t>
            </a:r>
          </a:p>
          <a:p>
            <a:pPr lvl="1" hangingPunct="1"/>
            <a:r>
              <a:rPr lang="en-US" altLang="zh-CN" sz="1800" dirty="0"/>
              <a:t>ALU</a:t>
            </a:r>
            <a:r>
              <a:rPr lang="zh-CN" altLang="en-US" sz="1800" dirty="0"/>
              <a:t>：</a:t>
            </a:r>
            <a:r>
              <a:rPr lang="en-US" altLang="zh-CN" sz="1800" dirty="0"/>
              <a:t>45%</a:t>
            </a:r>
          </a:p>
          <a:p>
            <a:pPr lvl="1" hangingPunct="1"/>
            <a:r>
              <a:rPr lang="en-US" altLang="zh-CN" sz="1800" dirty="0" err="1"/>
              <a:t>Beq</a:t>
            </a:r>
            <a:r>
              <a:rPr lang="zh-CN" altLang="en-US" sz="1800" dirty="0"/>
              <a:t>：</a:t>
            </a:r>
            <a:r>
              <a:rPr lang="en-US" altLang="zh-CN" sz="1800" dirty="0"/>
              <a:t>15%</a:t>
            </a:r>
          </a:p>
          <a:p>
            <a:pPr lvl="1" hangingPunct="1"/>
            <a:r>
              <a:rPr lang="en-US" altLang="zh-CN" sz="1800" dirty="0"/>
              <a:t>J</a:t>
            </a:r>
            <a:r>
              <a:rPr lang="zh-CN" altLang="en-US" sz="1800" dirty="0"/>
              <a:t>：</a:t>
            </a:r>
            <a:r>
              <a:rPr lang="en-US" altLang="zh-CN" sz="1800" dirty="0"/>
              <a:t>5%</a:t>
            </a:r>
          </a:p>
          <a:p>
            <a:r>
              <a:rPr lang="zh-CN" altLang="en-US" sz="2800" dirty="0"/>
              <a:t>该程序平均指令执行时间是多少？</a:t>
            </a:r>
            <a:endParaRPr lang="en-US" altLang="zh-CN" sz="2800" dirty="0"/>
          </a:p>
          <a:p>
            <a:pPr lvl="1"/>
            <a:r>
              <a:rPr lang="zh-CN" altLang="en-US" sz="2000" b="0" dirty="0"/>
              <a:t>需要</a:t>
            </a:r>
            <a:r>
              <a:rPr lang="zh-CN" altLang="en-US" sz="2000" b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计算出每一类指令所需时间</a:t>
            </a:r>
            <a:endParaRPr lang="en-US" altLang="zh-CN" sz="2000" b="0" dirty="0"/>
          </a:p>
          <a:p>
            <a:pPr lvl="1"/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BE599-D97E-294D-BA82-2DEDE4A8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3360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44428-507F-4C50-95CF-801FE7B2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回顾指令的单周期执行过程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FBC96-75E3-4BA3-82DD-88A69C5AB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不同的指令执行需要不同的步骤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记住简写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sz="2400" dirty="0"/>
              <a:t>取指令 </a:t>
            </a:r>
            <a:r>
              <a:rPr lang="en-US" altLang="zh-CN" sz="2400" dirty="0"/>
              <a:t>(Instruction Fetch, </a:t>
            </a:r>
            <a:r>
              <a:rPr lang="en-US" altLang="zh-CN" sz="2400" dirty="0">
                <a:solidFill>
                  <a:srgbClr val="C00000"/>
                </a:solidFill>
              </a:rPr>
              <a:t>IF</a:t>
            </a:r>
            <a:r>
              <a:rPr lang="en-US" altLang="zh-CN" sz="2400" dirty="0"/>
              <a:t>)</a:t>
            </a:r>
          </a:p>
          <a:p>
            <a:pPr lvl="1"/>
            <a:r>
              <a:rPr lang="zh-CN" altLang="en-US" sz="2400" dirty="0"/>
              <a:t>指令译码和控制信号生成 </a:t>
            </a:r>
            <a:r>
              <a:rPr lang="en-US" altLang="zh-CN" sz="2400" dirty="0"/>
              <a:t>(Instruction Decode, </a:t>
            </a:r>
            <a:r>
              <a:rPr lang="en-US" altLang="zh-CN" sz="2400" dirty="0">
                <a:solidFill>
                  <a:srgbClr val="C00000"/>
                </a:solidFill>
              </a:rPr>
              <a:t>ID</a:t>
            </a:r>
            <a:r>
              <a:rPr lang="en-US" altLang="zh-CN" sz="2400" dirty="0"/>
              <a:t>)</a:t>
            </a:r>
          </a:p>
          <a:p>
            <a:pPr lvl="1"/>
            <a:r>
              <a:rPr lang="zh-CN" altLang="en-US" sz="2400" dirty="0"/>
              <a:t>操作执行 </a:t>
            </a:r>
            <a:r>
              <a:rPr lang="en-US" altLang="zh-CN" sz="2400" dirty="0"/>
              <a:t>(Execution, </a:t>
            </a:r>
            <a:r>
              <a:rPr lang="en-US" altLang="zh-CN" sz="2400" dirty="0">
                <a:solidFill>
                  <a:srgbClr val="C00000"/>
                </a:solidFill>
              </a:rPr>
              <a:t>EX</a:t>
            </a:r>
            <a:r>
              <a:rPr lang="en-US" altLang="zh-CN" sz="2400" dirty="0"/>
              <a:t>)</a:t>
            </a:r>
          </a:p>
          <a:p>
            <a:pPr lvl="1"/>
            <a:r>
              <a:rPr lang="zh-CN" altLang="en-US" sz="2400" dirty="0"/>
              <a:t>内存访问 </a:t>
            </a:r>
            <a:r>
              <a:rPr lang="en-US" altLang="zh-CN" sz="2400" dirty="0"/>
              <a:t>(Memory Access, </a:t>
            </a:r>
            <a:r>
              <a:rPr lang="en-US" altLang="zh-CN" sz="2400" dirty="0">
                <a:solidFill>
                  <a:srgbClr val="C00000"/>
                </a:solidFill>
              </a:rPr>
              <a:t>MEM</a:t>
            </a:r>
            <a:r>
              <a:rPr lang="en-US" altLang="zh-CN" sz="2400" dirty="0"/>
              <a:t>)</a:t>
            </a:r>
          </a:p>
          <a:p>
            <a:pPr lvl="1"/>
            <a:r>
              <a:rPr lang="zh-CN" altLang="en-US" sz="2400" dirty="0"/>
              <a:t>写回寄存器堆 </a:t>
            </a:r>
            <a:r>
              <a:rPr lang="en-US" altLang="zh-CN" sz="2400" dirty="0"/>
              <a:t>(Write Back, </a:t>
            </a:r>
            <a:r>
              <a:rPr lang="en-US" altLang="zh-CN" sz="2400" dirty="0">
                <a:solidFill>
                  <a:srgbClr val="C00000"/>
                </a:solidFill>
              </a:rPr>
              <a:t>WB</a:t>
            </a:r>
            <a:r>
              <a:rPr lang="en-US" altLang="zh-CN" sz="2400" dirty="0"/>
              <a:t>)</a:t>
            </a:r>
          </a:p>
          <a:p>
            <a:r>
              <a:rPr lang="zh-CN" altLang="en-US" dirty="0"/>
              <a:t>不同的执行步骤有不同的累积延时</a:t>
            </a:r>
            <a:endParaRPr lang="en-US" altLang="zh-CN" dirty="0"/>
          </a:p>
          <a:p>
            <a:pPr lvl="1"/>
            <a:r>
              <a:rPr lang="zh-CN" altLang="en-US" dirty="0"/>
              <a:t>关键路径</a:t>
            </a:r>
            <a:r>
              <a:rPr lang="en-US" altLang="zh-CN" dirty="0"/>
              <a:t> (Critical Path)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1E7E-544C-0F47-81C7-A8240BF2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62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单周期实现的性能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FA092-A9C4-4C5C-A010-9660AACB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6939"/>
            <a:ext cx="8229600" cy="4525963"/>
          </a:xfrm>
        </p:spPr>
        <p:txBody>
          <a:bodyPr/>
          <a:lstStyle/>
          <a:p>
            <a:pPr hangingPunct="1"/>
            <a:r>
              <a:rPr lang="zh-CN" altLang="en-US" dirty="0"/>
              <a:t>不同指令的关键路径</a:t>
            </a:r>
            <a:endParaRPr lang="en-US" altLang="zh-CN" dirty="0"/>
          </a:p>
          <a:p>
            <a:pPr hangingPunct="1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C589E-BBDE-2946-A9A2-768594C7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28</a:t>
            </a:fld>
            <a:endParaRPr lang="en-US" altLang="zh-CN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58C1ECC-0BE1-4964-B2D8-AD9B8CB52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27317"/>
              </p:ext>
            </p:extLst>
          </p:nvPr>
        </p:nvGraphicFramePr>
        <p:xfrm>
          <a:off x="252247" y="2064845"/>
          <a:ext cx="8639506" cy="4216800"/>
        </p:xfrm>
        <a:graphic>
          <a:graphicData uri="http://schemas.openxmlformats.org/drawingml/2006/table">
            <a:tbl>
              <a:tblPr firstRow="1" firstCol="1" bandRow="1"/>
              <a:tblGrid>
                <a:gridCol w="1320008">
                  <a:extLst>
                    <a:ext uri="{9D8B030D-6E8A-4147-A177-3AD203B41FA5}">
                      <a16:colId xmlns:a16="http://schemas.microsoft.com/office/drawing/2014/main" val="1290588818"/>
                    </a:ext>
                  </a:extLst>
                </a:gridCol>
                <a:gridCol w="1049978">
                  <a:extLst>
                    <a:ext uri="{9D8B030D-6E8A-4147-A177-3AD203B41FA5}">
                      <a16:colId xmlns:a16="http://schemas.microsoft.com/office/drawing/2014/main" val="2231977953"/>
                    </a:ext>
                  </a:extLst>
                </a:gridCol>
                <a:gridCol w="1766940">
                  <a:extLst>
                    <a:ext uri="{9D8B030D-6E8A-4147-A177-3AD203B41FA5}">
                      <a16:colId xmlns:a16="http://schemas.microsoft.com/office/drawing/2014/main" val="3201623978"/>
                    </a:ext>
                  </a:extLst>
                </a:gridCol>
                <a:gridCol w="1244389">
                  <a:extLst>
                    <a:ext uri="{9D8B030D-6E8A-4147-A177-3AD203B41FA5}">
                      <a16:colId xmlns:a16="http://schemas.microsoft.com/office/drawing/2014/main" val="3887269222"/>
                    </a:ext>
                  </a:extLst>
                </a:gridCol>
                <a:gridCol w="1702244">
                  <a:extLst>
                    <a:ext uri="{9D8B030D-6E8A-4147-A177-3AD203B41FA5}">
                      <a16:colId xmlns:a16="http://schemas.microsoft.com/office/drawing/2014/main" val="1552503566"/>
                    </a:ext>
                  </a:extLst>
                </a:gridCol>
                <a:gridCol w="1555947">
                  <a:extLst>
                    <a:ext uri="{9D8B030D-6E8A-4147-A177-3AD203B41FA5}">
                      <a16:colId xmlns:a16="http://schemas.microsoft.com/office/drawing/2014/main" val="3878877061"/>
                    </a:ext>
                  </a:extLst>
                </a:gridCol>
              </a:tblGrid>
              <a:tr h="299304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指令类型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指令用到的功能单元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355640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20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型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指令译码和寄存器堆读取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寄存器堆写入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080000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Load</a:t>
                      </a:r>
                      <a:r>
                        <a:rPr lang="zh-CN" sz="20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指令译码和寄存器堆读取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存储器读取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寄存器堆写入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390597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Store</a:t>
                      </a:r>
                      <a:r>
                        <a:rPr lang="zh-CN" sz="20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指令译码和寄存器堆读取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存储器写入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310625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Branch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指令译码和寄存器堆读取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982176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Jump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指令译码和寄存器堆读取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440055" algn="l"/>
                        </a:tabLst>
                      </a:pPr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20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72000" marB="72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59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3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单周期实现的性能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FA092-A9C4-4C5C-A010-9660AACB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4856"/>
            <a:ext cx="8229600" cy="4525963"/>
          </a:xfrm>
        </p:spPr>
        <p:txBody>
          <a:bodyPr/>
          <a:lstStyle/>
          <a:p>
            <a:pPr hangingPunct="1"/>
            <a:r>
              <a:rPr lang="zh-CN" altLang="en-US" dirty="0"/>
              <a:t>各类的指令的执行时间细分</a:t>
            </a:r>
            <a:endParaRPr lang="en-US" altLang="zh-CN" dirty="0"/>
          </a:p>
          <a:p>
            <a:pPr lvl="1"/>
            <a:r>
              <a:rPr lang="zh-CN" altLang="en-US" dirty="0"/>
              <a:t>如果所有指令都在</a:t>
            </a:r>
            <a:r>
              <a:rPr lang="zh-CN" altLang="en-US" dirty="0">
                <a:solidFill>
                  <a:srgbClr val="3333FF"/>
                </a:solidFill>
              </a:rPr>
              <a:t>相同的时钟周期内</a:t>
            </a:r>
            <a:r>
              <a:rPr lang="zh-CN" altLang="en-US" dirty="0"/>
              <a:t>完成，则时钟周期取决于</a:t>
            </a:r>
            <a:r>
              <a:rPr lang="zh-CN" altLang="en-US" dirty="0">
                <a:solidFill>
                  <a:srgbClr val="3333FF"/>
                </a:solidFill>
              </a:rPr>
              <a:t>执行时间最长</a:t>
            </a:r>
            <a:r>
              <a:rPr lang="zh-CN" altLang="en-US" dirty="0"/>
              <a:t>的指令：</a:t>
            </a:r>
            <a:r>
              <a:rPr lang="en-US" altLang="zh-CN" dirty="0"/>
              <a:t>600ps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86F4-0491-7E4E-ABA3-12AA2AA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29</a:t>
            </a:fld>
            <a:endParaRPr lang="en-US" altLang="zh-CN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30E45B6B-E7AE-3D4F-900A-C02676170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62845"/>
              </p:ext>
            </p:extLst>
          </p:nvPr>
        </p:nvGraphicFramePr>
        <p:xfrm>
          <a:off x="170817" y="3340660"/>
          <a:ext cx="8802365" cy="2710914"/>
        </p:xfrm>
        <a:graphic>
          <a:graphicData uri="http://schemas.openxmlformats.org/drawingml/2006/table">
            <a:tbl>
              <a:tblPr firstRow="1" firstCol="1" bandRow="1"/>
              <a:tblGrid>
                <a:gridCol w="1339484">
                  <a:extLst>
                    <a:ext uri="{9D8B030D-6E8A-4147-A177-3AD203B41FA5}">
                      <a16:colId xmlns:a16="http://schemas.microsoft.com/office/drawing/2014/main" val="4005744390"/>
                    </a:ext>
                  </a:extLst>
                </a:gridCol>
                <a:gridCol w="1263553">
                  <a:extLst>
                    <a:ext uri="{9D8B030D-6E8A-4147-A177-3AD203B41FA5}">
                      <a16:colId xmlns:a16="http://schemas.microsoft.com/office/drawing/2014/main" val="3916064879"/>
                    </a:ext>
                  </a:extLst>
                </a:gridCol>
                <a:gridCol w="1331763">
                  <a:extLst>
                    <a:ext uri="{9D8B030D-6E8A-4147-A177-3AD203B41FA5}">
                      <a16:colId xmlns:a16="http://schemas.microsoft.com/office/drawing/2014/main" val="3423279505"/>
                    </a:ext>
                  </a:extLst>
                </a:gridCol>
                <a:gridCol w="1174710">
                  <a:extLst>
                    <a:ext uri="{9D8B030D-6E8A-4147-A177-3AD203B41FA5}">
                      <a16:colId xmlns:a16="http://schemas.microsoft.com/office/drawing/2014/main" val="2166460312"/>
                    </a:ext>
                  </a:extLst>
                </a:gridCol>
                <a:gridCol w="1354047">
                  <a:extLst>
                    <a:ext uri="{9D8B030D-6E8A-4147-A177-3AD203B41FA5}">
                      <a16:colId xmlns:a16="http://schemas.microsoft.com/office/drawing/2014/main" val="4203826851"/>
                    </a:ext>
                  </a:extLst>
                </a:gridCol>
                <a:gridCol w="1352986">
                  <a:extLst>
                    <a:ext uri="{9D8B030D-6E8A-4147-A177-3AD203B41FA5}">
                      <a16:colId xmlns:a16="http://schemas.microsoft.com/office/drawing/2014/main" val="328071946"/>
                    </a:ext>
                  </a:extLst>
                </a:gridCol>
                <a:gridCol w="985822">
                  <a:extLst>
                    <a:ext uri="{9D8B030D-6E8A-4147-A177-3AD203B41FA5}">
                      <a16:colId xmlns:a16="http://schemas.microsoft.com/office/drawing/2014/main" val="4148841290"/>
                    </a:ext>
                  </a:extLst>
                </a:gridCol>
              </a:tblGrid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指令存储器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读寄存器堆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数据存储器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写寄存器堆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总延时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5064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400ps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88551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Load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600ps</a:t>
                      </a:r>
                      <a:endParaRPr lang="zh-CN" sz="24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706152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Store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550ps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36316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Branch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350ps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343133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Jump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440055" algn="l"/>
                        </a:tabLs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614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240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</a:t>
            </a:r>
            <a:r>
              <a:rPr lang="zh-CN" altLang="en-US" dirty="0">
                <a:solidFill>
                  <a:srgbClr val="3333FF"/>
                </a:solidFill>
              </a:rPr>
              <a:t>单周期</a:t>
            </a:r>
            <a:r>
              <a:rPr lang="zh-CN" altLang="en-US" dirty="0"/>
              <a:t>到</a:t>
            </a:r>
            <a:r>
              <a:rPr lang="zh-CN" altLang="en-US" dirty="0">
                <a:solidFill>
                  <a:srgbClr val="3333FF"/>
                </a:solidFill>
              </a:rPr>
              <a:t>多周期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1AC18D-5281-4F47-868B-EB77A5631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6222"/>
            <a:ext cx="8455152" cy="5163670"/>
          </a:xfrm>
        </p:spPr>
        <p:txBody>
          <a:bodyPr/>
          <a:lstStyle/>
          <a:p>
            <a:r>
              <a:rPr lang="zh-CN" altLang="en-US" sz="2800" b="0" dirty="0"/>
              <a:t>给定任务，衡量处理器性能的方式</a:t>
            </a:r>
            <a:endParaRPr lang="en-US" altLang="zh-CN" sz="2800" b="0" dirty="0"/>
          </a:p>
          <a:p>
            <a:pPr lvl="1"/>
            <a:r>
              <a:rPr lang="en-US" altLang="zh-CN" sz="2400" b="0" dirty="0">
                <a:solidFill>
                  <a:srgbClr val="3333FF"/>
                </a:solidFill>
                <a:ea typeface="黑体" panose="02010609060101010101" pitchFamily="49" charset="-122"/>
              </a:rPr>
              <a:t>CPU</a:t>
            </a:r>
            <a:r>
              <a:rPr lang="zh-CN" altLang="en-US" sz="2400" b="0" dirty="0">
                <a:solidFill>
                  <a:srgbClr val="3333FF"/>
                </a:solidFill>
                <a:ea typeface="黑体" panose="02010609060101010101" pitchFamily="49" charset="-122"/>
              </a:rPr>
              <a:t>执行时间 ＝ 指令数 </a:t>
            </a:r>
            <a:r>
              <a:rPr lang="zh-CN" altLang="en-US" sz="2400" b="0" dirty="0">
                <a:solidFill>
                  <a:srgbClr val="3333FF"/>
                </a:solidFill>
                <a:ea typeface="黑体" panose="02010609060101010101" pitchFamily="49" charset="-122"/>
                <a:sym typeface="Symbol" pitchFamily="18" charset="2"/>
              </a:rPr>
              <a:t></a:t>
            </a:r>
            <a:r>
              <a:rPr lang="zh-CN" altLang="en-US" sz="2400" b="0" dirty="0">
                <a:solidFill>
                  <a:srgbClr val="3333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0" dirty="0">
                <a:solidFill>
                  <a:srgbClr val="3333FF"/>
                </a:solidFill>
                <a:ea typeface="黑体" panose="02010609060101010101" pitchFamily="49" charset="-122"/>
              </a:rPr>
              <a:t>CPI </a:t>
            </a:r>
            <a:r>
              <a:rPr lang="en-US" altLang="zh-CN" sz="2400" b="0" dirty="0">
                <a:solidFill>
                  <a:srgbClr val="3333FF"/>
                </a:solidFill>
                <a:ea typeface="黑体" panose="02010609060101010101" pitchFamily="49" charset="-122"/>
                <a:sym typeface="Symbol" pitchFamily="18" charset="2"/>
              </a:rPr>
              <a:t> </a:t>
            </a:r>
            <a:r>
              <a:rPr lang="zh-CN" altLang="en-US" sz="2400" b="0" dirty="0">
                <a:solidFill>
                  <a:srgbClr val="3333FF"/>
                </a:solidFill>
                <a:ea typeface="黑体" panose="02010609060101010101" pitchFamily="49" charset="-122"/>
                <a:sym typeface="Symbol" pitchFamily="18" charset="2"/>
              </a:rPr>
              <a:t>时钟周期</a:t>
            </a:r>
            <a:endParaRPr lang="en-US" altLang="zh-CN" sz="2400" b="0" dirty="0"/>
          </a:p>
          <a:p>
            <a:r>
              <a:rPr lang="zh-CN" altLang="en-US" sz="2800" b="0" dirty="0"/>
              <a:t>减少</a:t>
            </a:r>
            <a:r>
              <a:rPr lang="en-US" altLang="zh-CN" sz="2800" b="0" dirty="0"/>
              <a:t>CPU</a:t>
            </a:r>
            <a:r>
              <a:rPr lang="zh-CN" altLang="en-US" sz="2800" b="0" dirty="0"/>
              <a:t>执行时间的主要途径</a:t>
            </a:r>
            <a:endParaRPr lang="en-US" altLang="zh-CN" sz="2800" b="0" dirty="0"/>
          </a:p>
          <a:p>
            <a:pPr marL="995363" lvl="1" indent="-533400" hangingPunct="1">
              <a:defRPr/>
            </a:pPr>
            <a:r>
              <a:rPr lang="zh-CN" altLang="en-US" sz="2400" b="0" dirty="0"/>
              <a:t>减小指令数 </a:t>
            </a:r>
            <a:endParaRPr lang="en-US" altLang="zh-CN" sz="2400" b="0" dirty="0"/>
          </a:p>
          <a:p>
            <a:pPr marL="995363" lvl="1" indent="-533400" hangingPunct="1">
              <a:defRPr/>
            </a:pPr>
            <a:r>
              <a:rPr lang="zh-CN" altLang="en-US" sz="2400" b="0" dirty="0">
                <a:solidFill>
                  <a:srgbClr val="3333FF"/>
                </a:solidFill>
              </a:rPr>
              <a:t>减小</a:t>
            </a:r>
            <a:r>
              <a:rPr lang="en-US" altLang="zh-CN" sz="2400" b="0" dirty="0">
                <a:solidFill>
                  <a:srgbClr val="3333FF"/>
                </a:solidFill>
              </a:rPr>
              <a:t>CPI</a:t>
            </a:r>
            <a:r>
              <a:rPr lang="zh-CN" altLang="en-US" sz="2400" b="0" dirty="0">
                <a:solidFill>
                  <a:srgbClr val="3333FF"/>
                </a:solidFill>
              </a:rPr>
              <a:t> 时钟周期</a:t>
            </a:r>
            <a:endParaRPr lang="en-US" altLang="zh-CN" sz="2400" b="0" dirty="0">
              <a:solidFill>
                <a:srgbClr val="3333FF"/>
              </a:solidFill>
            </a:endParaRPr>
          </a:p>
          <a:p>
            <a:pPr hangingPunct="1"/>
            <a:r>
              <a:rPr lang="zh-CN" altLang="en-US" sz="2800" b="0" dirty="0">
                <a:ea typeface="SimHei" panose="02010609060101010101" pitchFamily="49" charset="-122"/>
              </a:rPr>
              <a:t>改进方法：多周期处理器</a:t>
            </a:r>
            <a:endParaRPr lang="en-US" altLang="zh-CN" sz="2800" b="0" dirty="0">
              <a:ea typeface="SimHei" panose="02010609060101010101" pitchFamily="49" charset="-122"/>
            </a:endParaRPr>
          </a:p>
          <a:p>
            <a:pPr marL="995363" lvl="1" indent="-533400">
              <a:defRPr/>
            </a:pPr>
            <a:r>
              <a:rPr lang="zh-CN" altLang="en-US" sz="2400" b="0" dirty="0">
                <a:solidFill>
                  <a:srgbClr val="3333FF"/>
                </a:solidFill>
              </a:rPr>
              <a:t>关键路径延时被拆分为</a:t>
            </a:r>
            <a:r>
              <a:rPr lang="en-US" altLang="zh-CN" sz="2400" b="0" dirty="0">
                <a:solidFill>
                  <a:srgbClr val="3333FF"/>
                </a:solidFill>
              </a:rPr>
              <a:t>N</a:t>
            </a:r>
            <a:r>
              <a:rPr lang="zh-CN" altLang="en-US" sz="2400" b="0" dirty="0">
                <a:solidFill>
                  <a:srgbClr val="3333FF"/>
                </a:solidFill>
              </a:rPr>
              <a:t>个时钟，时钟周期减少为</a:t>
            </a:r>
            <a:r>
              <a:rPr lang="en-US" altLang="zh-CN" sz="2400" b="0" dirty="0">
                <a:solidFill>
                  <a:srgbClr val="3333FF"/>
                </a:solidFill>
              </a:rPr>
              <a:t>1/N</a:t>
            </a:r>
          </a:p>
          <a:p>
            <a:pPr marL="995363" lvl="1" indent="-533400">
              <a:defRPr/>
            </a:pPr>
            <a:r>
              <a:rPr lang="zh-CN" altLang="en-US" sz="2400" b="0" dirty="0"/>
              <a:t>每类指令用不同的时钟数完成</a:t>
            </a:r>
            <a:endParaRPr lang="en-US" altLang="zh-CN" sz="2400" b="0" dirty="0"/>
          </a:p>
          <a:p>
            <a:pPr lvl="2">
              <a:defRPr/>
            </a:pPr>
            <a:r>
              <a:rPr lang="zh-CN" altLang="en-US" sz="2000" b="0" dirty="0">
                <a:ea typeface="SimHei" panose="02010609060101010101" pitchFamily="49" charset="-122"/>
              </a:rPr>
              <a:t>不包含全部步骤的指令执行的周期数小于</a:t>
            </a:r>
            <a:r>
              <a:rPr lang="en-US" altLang="zh-CN" sz="2000" b="0" dirty="0">
                <a:ea typeface="SimHei" panose="02010609060101010101" pitchFamily="49" charset="-122"/>
              </a:rPr>
              <a:t>N</a:t>
            </a:r>
          </a:p>
          <a:p>
            <a:pPr lvl="2"/>
            <a:r>
              <a:rPr lang="zh-CN" altLang="en-US" sz="2000" b="0" dirty="0">
                <a:ea typeface="SimHei" panose="02010609060101010101" pitchFamily="49" charset="-122"/>
              </a:rPr>
              <a:t>如：</a:t>
            </a:r>
            <a:r>
              <a:rPr lang="en-US" altLang="zh-CN" sz="2000" b="0" dirty="0">
                <a:ea typeface="SimHei" panose="02010609060101010101" pitchFamily="49" charset="-122"/>
              </a:rPr>
              <a:t>LW</a:t>
            </a:r>
            <a:r>
              <a:rPr lang="zh-CN" altLang="en-US" sz="2000" b="0" dirty="0">
                <a:ea typeface="SimHei" panose="02010609060101010101" pitchFamily="49" charset="-122"/>
              </a:rPr>
              <a:t>五周期，</a:t>
            </a:r>
            <a:r>
              <a:rPr lang="en-US" altLang="zh-CN" sz="2000" b="0" dirty="0">
                <a:ea typeface="SimHei" panose="02010609060101010101" pitchFamily="49" charset="-122"/>
              </a:rPr>
              <a:t>J</a:t>
            </a:r>
            <a:r>
              <a:rPr lang="zh-CN" altLang="en-US" sz="2000" b="0" dirty="0">
                <a:ea typeface="SimHei" panose="02010609060101010101" pitchFamily="49" charset="-122"/>
              </a:rPr>
              <a:t>两周期</a:t>
            </a:r>
            <a:endParaRPr lang="en-US" altLang="zh-CN" sz="2400" b="0" dirty="0">
              <a:ea typeface="SimHei" panose="02010609060101010101" pitchFamily="49" charset="-122"/>
            </a:endParaRPr>
          </a:p>
          <a:p>
            <a:pPr marL="995363" lvl="1" indent="-533400">
              <a:defRPr/>
            </a:pPr>
            <a:r>
              <a:rPr lang="zh-CN" altLang="en-US" sz="2400" b="0" dirty="0">
                <a:solidFill>
                  <a:srgbClr val="3333FF"/>
                </a:solidFill>
              </a:rPr>
              <a:t>平均</a:t>
            </a:r>
            <a:r>
              <a:rPr lang="en-US" altLang="zh-CN" sz="2400" b="0" dirty="0">
                <a:solidFill>
                  <a:srgbClr val="3333FF"/>
                </a:solidFill>
              </a:rPr>
              <a:t>CPI</a:t>
            </a:r>
            <a:r>
              <a:rPr lang="zh-CN" altLang="en-US" sz="2400" b="0" dirty="0">
                <a:solidFill>
                  <a:srgbClr val="3333FF"/>
                </a:solidFill>
              </a:rPr>
              <a:t>小于</a:t>
            </a:r>
            <a:r>
              <a:rPr lang="en-US" altLang="zh-CN" sz="2400" b="0" dirty="0">
                <a:solidFill>
                  <a:srgbClr val="3333FF"/>
                </a:solidFill>
              </a:rPr>
              <a:t>N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CPI×</a:t>
            </a:r>
            <a:r>
              <a:rPr lang="zh-CN" altLang="en-US" sz="2400" b="0" dirty="0"/>
              <a:t>时钟周期减小</a:t>
            </a:r>
            <a:endParaRPr lang="en-US" altLang="zh-CN" sz="2400" b="0" dirty="0"/>
          </a:p>
          <a:p>
            <a:pPr marL="595313" indent="-533400">
              <a:defRPr/>
            </a:pPr>
            <a:endParaRPr lang="en-US" altLang="zh-CN" sz="2800" b="0" dirty="0">
              <a:solidFill>
                <a:srgbClr val="3333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A31D96-90AC-0244-B58E-D805CFEC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30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EDB4232-8F3D-C616-E7DD-9AE977311737}"/>
                  </a:ext>
                </a:extLst>
              </p14:cNvPr>
              <p14:cNvContentPartPr/>
              <p14:nvPr/>
            </p14:nvContentPartPr>
            <p14:xfrm>
              <a:off x="6546960" y="323208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EDB4232-8F3D-C616-E7DD-9AE9773117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7600" y="3222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550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多周期：基本思路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71AC18D-5281-4F47-868B-EB77A5631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多周期 </a:t>
            </a:r>
            <a:r>
              <a:rPr lang="en-US" altLang="zh-CN" sz="2800" dirty="0"/>
              <a:t>(Multicycle)</a:t>
            </a:r>
          </a:p>
          <a:p>
            <a:pPr lvl="1" eaLnBrk="1" hangingPunct="1"/>
            <a:r>
              <a:rPr lang="zh-CN" altLang="en-US" sz="2400" dirty="0"/>
              <a:t>一条指令的执行分解为多个步骤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zh-CN" altLang="en-US" sz="2000" dirty="0"/>
              <a:t>取指令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zh-CN" altLang="en-US" sz="2000" dirty="0"/>
              <a:t>指令译码，以及可能的读寄存器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zh-CN" altLang="en-US" sz="2000" dirty="0"/>
              <a:t>其他步骤（</a:t>
            </a:r>
            <a:r>
              <a:rPr lang="zh-CN" altLang="en-CN" sz="2000" dirty="0"/>
              <a:t>不同指令</a:t>
            </a:r>
            <a:r>
              <a:rPr lang="zh-CN" altLang="en-US" sz="2000" dirty="0"/>
              <a:t>可能</a:t>
            </a:r>
            <a:r>
              <a:rPr lang="zh-CN" altLang="en-CN" sz="2000" dirty="0"/>
              <a:t>不同</a:t>
            </a:r>
            <a:r>
              <a:rPr lang="zh-CN" altLang="en-US" sz="2000" dirty="0"/>
              <a:t>）</a:t>
            </a:r>
          </a:p>
          <a:p>
            <a:pPr lvl="1" eaLnBrk="1" hangingPunct="1"/>
            <a:r>
              <a:rPr lang="zh-CN" altLang="en-US" sz="2400" dirty="0"/>
              <a:t>指令的每一步占用一个时钟周期</a:t>
            </a:r>
            <a:endParaRPr lang="en-US" altLang="zh-CN" sz="2400" dirty="0"/>
          </a:p>
          <a:p>
            <a:pPr lvl="2"/>
            <a:r>
              <a:rPr lang="zh-CN" altLang="en-US" sz="2000" dirty="0"/>
              <a:t>同一个功能单元可以在多个步骤中复用</a:t>
            </a:r>
          </a:p>
          <a:p>
            <a:pPr lvl="1"/>
            <a:endParaRPr lang="zh-CN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A590EC-0574-954E-8EB0-DE0FED5D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4953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复习与回顾</a:t>
            </a:r>
            <a:endParaRPr lang="en-US" altLang="zh-C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b="0" dirty="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t>单周期数据通路设计流程</a:t>
            </a:r>
            <a:endParaRPr lang="en-US" altLang="zh-CN" sz="3200" b="0" dirty="0">
              <a:solidFill>
                <a:schemeClr val="tx1">
                  <a:lumMod val="50000"/>
                  <a:lumOff val="50000"/>
                </a:schemeClr>
              </a:solidFill>
              <a:cs typeface="+mn-cs"/>
            </a:endParaRPr>
          </a:p>
          <a:p>
            <a:pPr lvl="1"/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指令集和设计需求分析</a:t>
            </a:r>
            <a:endParaRPr lang="en-US" altLang="zh-CN" sz="24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功能模块设计</a:t>
            </a:r>
            <a:endParaRPr lang="en-US" altLang="zh-C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数据通路模块组装</a:t>
            </a:r>
            <a:endParaRPr lang="en-US" altLang="zh-CN" sz="24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控制信号分析与逻辑设计</a:t>
            </a:r>
            <a:endParaRPr lang="en-US" altLang="zh-CN" sz="24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b="0" dirty="0"/>
              <a:t>单周期数据通路延时分析</a:t>
            </a:r>
            <a:endParaRPr lang="en-US" altLang="zh-CN" b="0" dirty="0"/>
          </a:p>
          <a:p>
            <a:r>
              <a:rPr lang="zh-CN" altLang="en-US" b="0" dirty="0">
                <a:solidFill>
                  <a:srgbClr val="3333FF"/>
                </a:solidFill>
              </a:rPr>
              <a:t>多周期数据通路</a:t>
            </a:r>
            <a:endParaRPr lang="en-US" altLang="zh-CN" b="0" dirty="0">
              <a:solidFill>
                <a:srgbClr val="3333FF"/>
              </a:solidFill>
            </a:endParaRPr>
          </a:p>
          <a:p>
            <a:r>
              <a:rPr lang="zh-CN" altLang="en-US" b="0" dirty="0"/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504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多周期功能分解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1CD94-B044-7E41-8D49-9BB32497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003C74-AB3D-4254-A7AE-723022A277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93024" y="1497359"/>
            <a:ext cx="7521498" cy="45300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90F43D0-DC02-6EF3-F72C-D1E40103D26B}"/>
                  </a:ext>
                </a:extLst>
              </p14:cNvPr>
              <p14:cNvContentPartPr/>
              <p14:nvPr/>
            </p14:nvContentPartPr>
            <p14:xfrm>
              <a:off x="6455160" y="211140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90F43D0-DC02-6EF3-F72C-D1E40103D2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5800" y="2102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8609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2E87B7F-D0B5-401A-97B1-F75E0C431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55" y="3307241"/>
            <a:ext cx="7831567" cy="333896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EABD343-0FD1-45AD-AEE1-5320B5F2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多周期处理器数据通路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B2571-7404-49F5-90D3-C46A3DE1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79525"/>
            <a:ext cx="8308975" cy="2110789"/>
          </a:xfrm>
        </p:spPr>
        <p:txBody>
          <a:bodyPr/>
          <a:lstStyle/>
          <a:p>
            <a:r>
              <a:rPr lang="zh-CN" altLang="en-US" sz="2800" dirty="0"/>
              <a:t>与单周期的主要结构差别</a:t>
            </a:r>
            <a:endParaRPr lang="en-US" altLang="zh-CN" sz="2800" dirty="0"/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阶段性存储：</a:t>
            </a:r>
            <a:r>
              <a:rPr lang="zh-CN" altLang="en-US" sz="2400" dirty="0"/>
              <a:t>主要功能单元加输出寄存器存储输出值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3333FF"/>
                </a:solidFill>
              </a:rPr>
              <a:t>结构复用：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lvl="2"/>
            <a:r>
              <a:rPr lang="zh-CN" altLang="en-US" sz="1800" dirty="0"/>
              <a:t>指令和数据共用一个存储单元</a:t>
            </a:r>
            <a:endParaRPr lang="en-US" altLang="zh-CN" sz="1800" dirty="0"/>
          </a:p>
          <a:p>
            <a:pPr lvl="2"/>
            <a:r>
              <a:rPr lang="zh-CN" altLang="en-US" sz="1800" dirty="0"/>
              <a:t>只需要一个</a:t>
            </a:r>
            <a:r>
              <a:rPr lang="en-US" altLang="zh-CN" sz="1800" dirty="0"/>
              <a:t>ALU</a:t>
            </a:r>
            <a:r>
              <a:rPr lang="zh-CN" altLang="en-US" sz="1800" dirty="0"/>
              <a:t>，而不是一个</a:t>
            </a:r>
            <a:r>
              <a:rPr lang="en-US" altLang="zh-CN" sz="1800" dirty="0"/>
              <a:t>ALU</a:t>
            </a:r>
            <a:r>
              <a:rPr lang="zh-CN" altLang="en-US" sz="1800" dirty="0"/>
              <a:t>和两个加法器</a:t>
            </a:r>
            <a:endParaRPr lang="en-US" altLang="zh-CN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6E24A-B69F-2649-A8AF-6B4C424F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34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9F403F3-70E6-ADEA-0F35-4ABFBF77A618}"/>
                  </a:ext>
                </a:extLst>
              </p14:cNvPr>
              <p14:cNvContentPartPr/>
              <p14:nvPr/>
            </p14:nvContentPartPr>
            <p14:xfrm>
              <a:off x="3335040" y="3849120"/>
              <a:ext cx="5148720" cy="27162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9F403F3-70E6-ADEA-0F35-4ABFBF77A6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680" y="3839760"/>
                <a:ext cx="5167440" cy="27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1318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381319-DD4A-4F10-B668-21D33926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" y="2588072"/>
            <a:ext cx="9058656" cy="370010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533672-E1FB-4E11-ADB6-B5CF00E4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5E0E4B-FA78-4D14-813E-99F9F0475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549" y="1365296"/>
            <a:ext cx="8780929" cy="1088008"/>
          </a:xfrm>
        </p:spPr>
        <p:txBody>
          <a:bodyPr/>
          <a:lstStyle/>
          <a:p>
            <a:r>
              <a:rPr lang="zh-CN" altLang="en-US" sz="2000" dirty="0"/>
              <a:t>给</a:t>
            </a:r>
            <a:r>
              <a:rPr lang="en-US" altLang="zh-CN" sz="2000" dirty="0"/>
              <a:t>ALU</a:t>
            </a:r>
            <a:r>
              <a:rPr lang="zh-CN" altLang="en-US" sz="2000" dirty="0"/>
              <a:t>的第一个输入添加一个多路复用器，在寄存器</a:t>
            </a:r>
            <a:r>
              <a:rPr lang="en-US" altLang="zh-CN" sz="2000" dirty="0"/>
              <a:t>A</a:t>
            </a:r>
            <a:r>
              <a:rPr lang="zh-CN" altLang="en-US" sz="2000" dirty="0"/>
              <a:t>和</a:t>
            </a:r>
            <a:r>
              <a:rPr lang="en-US" altLang="zh-CN" sz="2000" dirty="0"/>
              <a:t>PC</a:t>
            </a:r>
            <a:r>
              <a:rPr lang="zh-CN" altLang="en-US" sz="2000" dirty="0"/>
              <a:t>间进行选择</a:t>
            </a:r>
          </a:p>
          <a:p>
            <a:r>
              <a:rPr lang="en-US" altLang="zh-CN" sz="2000" dirty="0"/>
              <a:t>ALU</a:t>
            </a:r>
            <a:r>
              <a:rPr lang="zh-CN" altLang="en-US" sz="2000" dirty="0"/>
              <a:t>第二个输入的多路复用器由</a:t>
            </a:r>
            <a:r>
              <a:rPr lang="en-US" altLang="zh-CN" sz="2000" dirty="0"/>
              <a:t>2</a:t>
            </a:r>
            <a:r>
              <a:rPr lang="zh-CN" altLang="en-US" sz="2000" dirty="0"/>
              <a:t>路改为</a:t>
            </a:r>
            <a:r>
              <a:rPr lang="en-US" altLang="zh-CN" sz="2000" dirty="0"/>
              <a:t>4</a:t>
            </a:r>
            <a:r>
              <a:rPr lang="zh-CN" altLang="en-US" sz="2000" dirty="0"/>
              <a:t>路，两个新加输入为：常数</a:t>
            </a:r>
            <a:r>
              <a:rPr lang="en-US" altLang="zh-CN" sz="2000" dirty="0"/>
              <a:t>4</a:t>
            </a:r>
            <a:r>
              <a:rPr lang="zh-CN" altLang="en-US" sz="2000" dirty="0"/>
              <a:t>（用于</a:t>
            </a:r>
            <a:r>
              <a:rPr lang="en-US" altLang="zh-CN" sz="2000" dirty="0"/>
              <a:t>PC</a:t>
            </a:r>
            <a:r>
              <a:rPr lang="zh-CN" altLang="en-US" sz="2000" dirty="0"/>
              <a:t>增值）和符号扩展及移位后的偏移量字段（用于计算分支地址）</a:t>
            </a:r>
          </a:p>
          <a:p>
            <a:endParaRPr lang="zh-CN" alt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DE542-75F7-0747-BF32-EE0D8743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35</a:t>
            </a:fld>
            <a:endParaRPr lang="en-US" altLang="zh-CN"/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D4053510-64BF-4AEC-874F-D32D3534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433" y="3260010"/>
            <a:ext cx="442125" cy="91284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5A23263F-3E9D-4EF5-8FCC-9C572D7D8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2041" y="4498029"/>
            <a:ext cx="510908" cy="120282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290295B-D3F2-7A4B-AD47-487CAC3392F8}"/>
              </a:ext>
            </a:extLst>
          </p:cNvPr>
          <p:cNvSpPr/>
          <p:nvPr/>
        </p:nvSpPr>
        <p:spPr>
          <a:xfrm>
            <a:off x="998707" y="4181834"/>
            <a:ext cx="5554493" cy="2013625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57975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33672-E1FB-4E11-ADB6-B5CF00E4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多周期数据通路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2717E-2C9E-0546-84CF-2FE28339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36</a:t>
            </a:fld>
            <a:endParaRPr lang="en-US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989292-B19F-4FF0-85F0-E6FFED1DB8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51"/>
          <a:stretch/>
        </p:blipFill>
        <p:spPr>
          <a:xfrm>
            <a:off x="457200" y="1571729"/>
            <a:ext cx="7161179" cy="4301669"/>
          </a:xfrm>
          <a:prstGeom prst="rect">
            <a:avLst/>
          </a:prstGeom>
        </p:spPr>
      </p:pic>
      <p:grpSp>
        <p:nvGrpSpPr>
          <p:cNvPr id="14" name="Group 20">
            <a:extLst>
              <a:ext uri="{FF2B5EF4-FFF2-40B4-BE49-F238E27FC236}">
                <a16:creationId xmlns:a16="http://schemas.microsoft.com/office/drawing/2014/main" id="{5EE0E763-85DA-4973-AF15-27F1638FB958}"/>
              </a:ext>
            </a:extLst>
          </p:cNvPr>
          <p:cNvGrpSpPr>
            <a:grpSpLocks/>
          </p:cNvGrpSpPr>
          <p:nvPr/>
        </p:nvGrpSpPr>
        <p:grpSpPr bwMode="auto">
          <a:xfrm>
            <a:off x="2480344" y="1495777"/>
            <a:ext cx="1717676" cy="1384301"/>
            <a:chOff x="1899" y="1599"/>
            <a:chExt cx="1082" cy="872"/>
          </a:xfrm>
        </p:grpSpPr>
        <p:sp>
          <p:nvSpPr>
            <p:cNvPr id="16" name="Oval 18">
              <a:extLst>
                <a:ext uri="{FF2B5EF4-FFF2-40B4-BE49-F238E27FC236}">
                  <a16:creationId xmlns:a16="http://schemas.microsoft.com/office/drawing/2014/main" id="{C344F29B-0FF1-4591-8B42-E29FDE7DC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1948"/>
              <a:ext cx="359" cy="52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EE516A02-4CB9-4FE4-8B35-1E496F1B8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" y="1599"/>
              <a:ext cx="89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为什么需要</a:t>
              </a:r>
              <a:r>
                <a:rPr lang="en-US" altLang="zh-CN" i="1" dirty="0">
                  <a:solidFill>
                    <a:srgbClr val="FF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r>
                <a:rPr lang="en-US" altLang="zh-CN" i="1" dirty="0" err="1">
                  <a:solidFill>
                    <a:srgbClr val="FF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IRWrite</a:t>
              </a:r>
              <a:r>
                <a:rPr lang="en-US" altLang="zh-CN" i="1" dirty="0">
                  <a:solidFill>
                    <a:srgbClr val="FF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?</a:t>
              </a:r>
              <a:endParaRPr lang="zh-CN" altLang="en-US" i="1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" name="Freeform 19">
            <a:extLst>
              <a:ext uri="{FF2B5EF4-FFF2-40B4-BE49-F238E27FC236}">
                <a16:creationId xmlns:a16="http://schemas.microsoft.com/office/drawing/2014/main" id="{79CF3045-D7D0-4276-B633-66CF7216441D}"/>
              </a:ext>
            </a:extLst>
          </p:cNvPr>
          <p:cNvSpPr/>
          <p:nvPr/>
        </p:nvSpPr>
        <p:spPr>
          <a:xfrm>
            <a:off x="1200715" y="3966463"/>
            <a:ext cx="4426086" cy="1556426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Oval 25">
            <a:extLst>
              <a:ext uri="{FF2B5EF4-FFF2-40B4-BE49-F238E27FC236}">
                <a16:creationId xmlns:a16="http://schemas.microsoft.com/office/drawing/2014/main" id="{60139738-0640-413B-8D70-9B75E2D17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935" y="3270935"/>
            <a:ext cx="742306" cy="1371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7D1E180B-A290-49E7-8209-A86DF70E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958" y="4078192"/>
            <a:ext cx="742306" cy="584776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Oval 25">
            <a:extLst>
              <a:ext uri="{FF2B5EF4-FFF2-40B4-BE49-F238E27FC236}">
                <a16:creationId xmlns:a16="http://schemas.microsoft.com/office/drawing/2014/main" id="{486161DD-D6F2-75DC-828E-C4E955FEA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467" y="4338602"/>
            <a:ext cx="997471" cy="708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516072E0-C4E1-3653-F104-C2933C3B2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5268" y="4678363"/>
            <a:ext cx="14128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为什么不需要控制信号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?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Text Box 29">
            <a:extLst>
              <a:ext uri="{FF2B5EF4-FFF2-40B4-BE49-F238E27FC236}">
                <a16:creationId xmlns:a16="http://schemas.microsoft.com/office/drawing/2014/main" id="{7E6D4718-AB83-FC08-CACD-3B513F870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8144" y="3452917"/>
            <a:ext cx="11909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在相邻两个周期间存储数据</a:t>
            </a:r>
          </a:p>
        </p:txBody>
      </p:sp>
      <p:sp>
        <p:nvSpPr>
          <p:cNvPr id="3" name="Text Box 23">
            <a:extLst>
              <a:ext uri="{FF2B5EF4-FFF2-40B4-BE49-F238E27FC236}">
                <a16:creationId xmlns:a16="http://schemas.microsoft.com/office/drawing/2014/main" id="{D30C2A2F-7148-7CB0-24C5-32D48CFBF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906" y="1509038"/>
            <a:ext cx="17182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6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IR</a:t>
            </a:r>
            <a:r>
              <a:rPr lang="zh-CN" altLang="en-US" sz="16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需要保存指令直到执行结束</a:t>
            </a: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B90AB6B2-C482-E8B5-301E-099DB3154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5268" y="5565004"/>
            <a:ext cx="212085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6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内容只在写入的下一个周期读出并使用</a:t>
            </a:r>
            <a:endParaRPr lang="en-US" altLang="zh-CN" sz="1600" dirty="0">
              <a:solidFill>
                <a:srgbClr val="3333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sz="1600" dirty="0">
                <a:solidFill>
                  <a:srgbClr val="3333FF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或者内容不会变</a:t>
            </a:r>
            <a:endParaRPr lang="en-US" altLang="zh-CN" sz="1600" dirty="0">
              <a:solidFill>
                <a:srgbClr val="3333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sz="1600" dirty="0">
              <a:solidFill>
                <a:srgbClr val="3333CC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35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DC327-6903-439C-8D48-F7B2D286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126"/>
            <a:ext cx="8229600" cy="4525963"/>
          </a:xfrm>
        </p:spPr>
        <p:txBody>
          <a:bodyPr/>
          <a:lstStyle/>
          <a:p>
            <a:r>
              <a:rPr lang="zh-CN" altLang="en-US" dirty="0"/>
              <a:t>有限状态机的视角</a:t>
            </a:r>
            <a:endParaRPr lang="en-US" altLang="zh-CN" dirty="0"/>
          </a:p>
          <a:p>
            <a:pPr lvl="1"/>
            <a:r>
              <a:rPr lang="zh-CN" altLang="en-US" dirty="0"/>
              <a:t>五个阶段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628E-49E5-BF4C-A487-52D180F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37</a:t>
            </a:fld>
            <a:endParaRPr lang="en-US" altLang="zh-CN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B13C0F6-6094-472E-A562-7262ABB95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496103"/>
              </p:ext>
            </p:extLst>
          </p:nvPr>
        </p:nvGraphicFramePr>
        <p:xfrm>
          <a:off x="102552" y="2595086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 </a:t>
                      </a: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15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提前完成</a:t>
                      </a: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zh-CN" sz="17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</a:t>
                      </a:r>
                      <a:r>
                        <a:rPr lang="en-US" sz="1500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+ (sign-extended(IR[15:0]) &lt;&lt; 2)</a:t>
                      </a:r>
                      <a:r>
                        <a:rPr lang="zh-CN" alt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提前完成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400" b="1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600" b="1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150EBCF-35DA-4C06-9C45-340C49A027FD}"/>
              </a:ext>
            </a:extLst>
          </p:cNvPr>
          <p:cNvSpPr/>
          <p:nvPr/>
        </p:nvSpPr>
        <p:spPr>
          <a:xfrm>
            <a:off x="77822" y="2905494"/>
            <a:ext cx="8978630" cy="583058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5690DC-548E-E6B7-A217-8C0B8AF28F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571" b="31048"/>
          <a:stretch/>
        </p:blipFill>
        <p:spPr>
          <a:xfrm>
            <a:off x="6619930" y="807286"/>
            <a:ext cx="2524070" cy="1565294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CE16484-F550-3798-135D-E0CA79E25D6C}"/>
                  </a:ext>
                </a:extLst>
              </p14:cNvPr>
              <p14:cNvContentPartPr/>
              <p14:nvPr/>
            </p14:nvContentPartPr>
            <p14:xfrm>
              <a:off x="6565484" y="3035520"/>
              <a:ext cx="1515960" cy="9604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CE16484-F550-3798-135D-E0CA79E25D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6124" y="3026160"/>
                <a:ext cx="1534680" cy="97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06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873750D-3F18-4A3C-A5D2-FD52FAB23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1540040"/>
            <a:ext cx="8770745" cy="5324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203C07-69BF-374B-AE7B-E6C5D008DAB2}"/>
              </a:ext>
            </a:extLst>
          </p:cNvPr>
          <p:cNvSpPr txBox="1"/>
          <p:nvPr/>
        </p:nvSpPr>
        <p:spPr>
          <a:xfrm>
            <a:off x="7654515" y="2398173"/>
            <a:ext cx="117852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1200" b="1" dirty="0">
                <a:solidFill>
                  <a:srgbClr val="00B050"/>
                </a:solidFill>
              </a:rPr>
              <a:t>PCSource</a:t>
            </a:r>
            <a:r>
              <a:rPr lang="en-CN" sz="1200" b="1">
                <a:solidFill>
                  <a:srgbClr val="00B050"/>
                </a:solidFill>
              </a:rPr>
              <a:t>=0</a:t>
            </a:r>
            <a:r>
              <a:rPr lang="en-US" altLang="zh-CN" sz="1200" b="1" dirty="0">
                <a:solidFill>
                  <a:srgbClr val="00B050"/>
                </a:solidFill>
              </a:rPr>
              <a:t>0</a:t>
            </a:r>
            <a:endParaRPr lang="en-CN" sz="1200" b="1" dirty="0">
              <a:solidFill>
                <a:srgbClr val="00B050"/>
              </a:solidFill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E333488-7EE3-4FBD-A055-13520C9F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多周期功能描述：取指令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1CC0F6-8F43-3F43-8DB7-5B16FA5C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38</a:t>
            </a:fld>
            <a:endParaRPr lang="en-US" altLang="zh-CN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BC5DD3C-F5A6-46E5-B245-FB73B9C77E7E}"/>
              </a:ext>
            </a:extLst>
          </p:cNvPr>
          <p:cNvSpPr/>
          <p:nvPr/>
        </p:nvSpPr>
        <p:spPr>
          <a:xfrm>
            <a:off x="7644006" y="389834"/>
            <a:ext cx="1215640" cy="13716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MemRead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IRWrite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PCSource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ALUSrcA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IorD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ALUSrcB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ALUOp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A3CDE6-04DD-4213-B10A-E9AB949AB745}"/>
              </a:ext>
            </a:extLst>
          </p:cNvPr>
          <p:cNvSpPr txBox="1"/>
          <p:nvPr/>
        </p:nvSpPr>
        <p:spPr>
          <a:xfrm>
            <a:off x="5175392" y="1275558"/>
            <a:ext cx="1643431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F0"/>
                </a:solidFill>
                <a:ea typeface="黑体" panose="02010609060101010101" pitchFamily="49" charset="-122"/>
              </a:rPr>
              <a:t>PC &lt;= PC + 4</a:t>
            </a:r>
          </a:p>
          <a:p>
            <a:pPr algn="ctr"/>
            <a:r>
              <a:rPr lang="en-US" altLang="zh-CN" b="1" dirty="0">
                <a:solidFill>
                  <a:srgbClr val="ED7D31"/>
                </a:solidFill>
                <a:ea typeface="黑体" panose="02010609060101010101" pitchFamily="49" charset="-122"/>
              </a:rPr>
              <a:t>IR &lt;= Mem[PC]</a:t>
            </a:r>
            <a:endParaRPr lang="zh-CN" altLang="en-US" b="1" dirty="0">
              <a:solidFill>
                <a:srgbClr val="ED7D31"/>
              </a:solidFill>
              <a:ea typeface="黑体" panose="02010609060101010101" pitchFamily="49" charset="-122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BF3ABDA-43AB-F344-8332-BC8EA44347C3}"/>
              </a:ext>
            </a:extLst>
          </p:cNvPr>
          <p:cNvSpPr/>
          <p:nvPr/>
        </p:nvSpPr>
        <p:spPr>
          <a:xfrm>
            <a:off x="1034952" y="4422429"/>
            <a:ext cx="5356118" cy="1953911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23BD5E-2EB3-DC30-20F2-FD14B8220FE3}"/>
              </a:ext>
            </a:extLst>
          </p:cNvPr>
          <p:cNvGrpSpPr/>
          <p:nvPr/>
        </p:nvGrpSpPr>
        <p:grpSpPr>
          <a:xfrm>
            <a:off x="88900" y="2893899"/>
            <a:ext cx="7853798" cy="2021546"/>
            <a:chOff x="2804154" y="4238305"/>
            <a:chExt cx="2061416" cy="849684"/>
          </a:xfrm>
        </p:grpSpPr>
        <p:sp>
          <p:nvSpPr>
            <p:cNvPr id="5" name="Freeform 123">
              <a:extLst>
                <a:ext uri="{FF2B5EF4-FFF2-40B4-BE49-F238E27FC236}">
                  <a16:creationId xmlns:a16="http://schemas.microsoft.com/office/drawing/2014/main" id="{15FE8DF0-B76F-E358-2641-DFBD582B4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154" y="4238305"/>
              <a:ext cx="2005236" cy="210483"/>
            </a:xfrm>
            <a:custGeom>
              <a:avLst/>
              <a:gdLst>
                <a:gd name="T0" fmla="*/ 2147483647 w 1902"/>
                <a:gd name="T1" fmla="*/ 0 h 737"/>
                <a:gd name="T2" fmla="*/ 0 w 1902"/>
                <a:gd name="T3" fmla="*/ 0 h 737"/>
                <a:gd name="T4" fmla="*/ 0 w 1902"/>
                <a:gd name="T5" fmla="*/ 1854834207 h 737"/>
                <a:gd name="T6" fmla="*/ 418345938 w 1902"/>
                <a:gd name="T7" fmla="*/ 1854834207 h 7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2" h="737">
                  <a:moveTo>
                    <a:pt x="1901" y="0"/>
                  </a:moveTo>
                  <a:lnTo>
                    <a:pt x="0" y="0"/>
                  </a:lnTo>
                  <a:lnTo>
                    <a:pt x="0" y="736"/>
                  </a:lnTo>
                  <a:lnTo>
                    <a:pt x="166" y="736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6" name="Line 29">
              <a:extLst>
                <a:ext uri="{FF2B5EF4-FFF2-40B4-BE49-F238E27FC236}">
                  <a16:creationId xmlns:a16="http://schemas.microsoft.com/office/drawing/2014/main" id="{ADF91C66-FFE5-9445-7BA1-01D33C057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829" y="4509420"/>
              <a:ext cx="339009" cy="19476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194966C-EE96-B988-3916-E292F96A1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5570" y="4245761"/>
              <a:ext cx="0" cy="84222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E088EC-79CB-80E0-3116-D4CAE1FEEC27}"/>
              </a:ext>
            </a:extLst>
          </p:cNvPr>
          <p:cNvCxnSpPr>
            <a:cxnSpLocks/>
          </p:cNvCxnSpPr>
          <p:nvPr/>
        </p:nvCxnSpPr>
        <p:spPr>
          <a:xfrm flipH="1">
            <a:off x="683570" y="3394676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673EB9F-DD6B-71AF-8F60-87F4A294F59D}"/>
              </a:ext>
            </a:extLst>
          </p:cNvPr>
          <p:cNvCxnSpPr>
            <a:cxnSpLocks/>
          </p:cNvCxnSpPr>
          <p:nvPr/>
        </p:nvCxnSpPr>
        <p:spPr>
          <a:xfrm flipH="1">
            <a:off x="891540" y="3064233"/>
            <a:ext cx="54995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1B9AFE5-E62B-600F-970D-78B613A5E961}"/>
              </a:ext>
            </a:extLst>
          </p:cNvPr>
          <p:cNvSpPr/>
          <p:nvPr/>
        </p:nvSpPr>
        <p:spPr>
          <a:xfrm>
            <a:off x="7717729" y="2351017"/>
            <a:ext cx="1027850" cy="324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112372-B2D6-806D-621C-9B43EA47C255}"/>
              </a:ext>
            </a:extLst>
          </p:cNvPr>
          <p:cNvSpPr/>
          <p:nvPr/>
        </p:nvSpPr>
        <p:spPr>
          <a:xfrm>
            <a:off x="6257580" y="2348995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48F271-16B3-97C6-6913-2195C1FE9017}"/>
              </a:ext>
            </a:extLst>
          </p:cNvPr>
          <p:cNvSpPr/>
          <p:nvPr/>
        </p:nvSpPr>
        <p:spPr>
          <a:xfrm>
            <a:off x="2501747" y="2168754"/>
            <a:ext cx="812953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69F131-E309-402C-E7C5-771FF498105C}"/>
              </a:ext>
            </a:extLst>
          </p:cNvPr>
          <p:cNvSpPr/>
          <p:nvPr/>
        </p:nvSpPr>
        <p:spPr>
          <a:xfrm>
            <a:off x="1293322" y="5110717"/>
            <a:ext cx="933214" cy="295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6214BD-5F10-3FE8-A2EF-CB1EAB7EEC00}"/>
              </a:ext>
            </a:extLst>
          </p:cNvPr>
          <p:cNvSpPr/>
          <p:nvPr/>
        </p:nvSpPr>
        <p:spPr>
          <a:xfrm>
            <a:off x="6335232" y="6515100"/>
            <a:ext cx="933214" cy="306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12DA62D0-1BA4-D128-327D-C94B312B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7" y="2575649"/>
            <a:ext cx="70051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PC+</a:t>
            </a:r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5B5B4E69-7EA1-2085-30D1-40A39B573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453" y="4861463"/>
            <a:ext cx="410370" cy="1074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00</a:t>
            </a:r>
          </a:p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01</a:t>
            </a:r>
          </a:p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10</a:t>
            </a:r>
          </a:p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11</a:t>
            </a:r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89CE04AE-40E5-7550-EAB3-0EC0BD2B8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581" y="4915445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937E6135-1186-94C2-7AA6-530CFFDFE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672" y="3446990"/>
            <a:ext cx="46647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PC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7" name="Line 29">
            <a:extLst>
              <a:ext uri="{FF2B5EF4-FFF2-40B4-BE49-F238E27FC236}">
                <a16:creationId xmlns:a16="http://schemas.microsoft.com/office/drawing/2014/main" id="{99623A54-FA59-9E3D-AA91-3E82B0FDB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5254" y="3476225"/>
            <a:ext cx="0" cy="4633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3420FC61-51DF-B74E-B639-CEDD2DB4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611" y="3118912"/>
            <a:ext cx="44082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“+”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685A583-D7ED-A508-07EC-49AEA27A1FF1}"/>
              </a:ext>
            </a:extLst>
          </p:cNvPr>
          <p:cNvCxnSpPr>
            <a:cxnSpLocks/>
          </p:cNvCxnSpPr>
          <p:nvPr/>
        </p:nvCxnSpPr>
        <p:spPr>
          <a:xfrm>
            <a:off x="881690" y="3040380"/>
            <a:ext cx="0" cy="3542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190FFBA-5046-8840-3C2B-E00474071AC1}"/>
              </a:ext>
            </a:extLst>
          </p:cNvPr>
          <p:cNvCxnSpPr>
            <a:cxnSpLocks/>
          </p:cNvCxnSpPr>
          <p:nvPr/>
        </p:nvCxnSpPr>
        <p:spPr>
          <a:xfrm flipH="1">
            <a:off x="7728658" y="2890887"/>
            <a:ext cx="228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EA82777-FD48-E402-741D-E72111D87EFC}"/>
              </a:ext>
            </a:extLst>
          </p:cNvPr>
          <p:cNvCxnSpPr>
            <a:cxnSpLocks/>
          </p:cNvCxnSpPr>
          <p:nvPr/>
        </p:nvCxnSpPr>
        <p:spPr>
          <a:xfrm flipV="1">
            <a:off x="6391070" y="3046879"/>
            <a:ext cx="0" cy="6610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29">
            <a:extLst>
              <a:ext uri="{FF2B5EF4-FFF2-40B4-BE49-F238E27FC236}">
                <a16:creationId xmlns:a16="http://schemas.microsoft.com/office/drawing/2014/main" id="{3729C769-1071-8361-3C2D-6E88A1E3B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8498" y="3679222"/>
            <a:ext cx="194882" cy="2456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3" name="Line 29">
            <a:extLst>
              <a:ext uri="{FF2B5EF4-FFF2-40B4-BE49-F238E27FC236}">
                <a16:creationId xmlns:a16="http://schemas.microsoft.com/office/drawing/2014/main" id="{F57CE13B-3ADE-4BC9-A294-605387E5AA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3606" y="5406390"/>
            <a:ext cx="329771" cy="42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4" name="Line 29">
            <a:extLst>
              <a:ext uri="{FF2B5EF4-FFF2-40B4-BE49-F238E27FC236}">
                <a16:creationId xmlns:a16="http://schemas.microsoft.com/office/drawing/2014/main" id="{A81C6D9C-FBA2-FA75-091E-E62C2E940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4561" y="5285912"/>
            <a:ext cx="194882" cy="335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45" name="Line 29">
            <a:extLst>
              <a:ext uri="{FF2B5EF4-FFF2-40B4-BE49-F238E27FC236}">
                <a16:creationId xmlns:a16="http://schemas.microsoft.com/office/drawing/2014/main" id="{BCF7F9B8-6589-77F6-AB5B-EB5E208D4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0759" y="5285911"/>
            <a:ext cx="253801" cy="11193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" name="Line 29">
            <a:extLst>
              <a:ext uri="{FF2B5EF4-FFF2-40B4-BE49-F238E27FC236}">
                <a16:creationId xmlns:a16="http://schemas.microsoft.com/office/drawing/2014/main" id="{781D2B04-AB8F-33DE-4311-D38AEBAE6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511" y="3712926"/>
            <a:ext cx="466474" cy="21028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33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/>
      <p:bldP spid="34" grpId="0"/>
      <p:bldP spid="35" grpId="0"/>
      <p:bldP spid="36" grpId="0"/>
      <p:bldP spid="37" grpId="0" animBg="1"/>
      <p:bldP spid="38" grpId="0"/>
      <p:bldP spid="42" grpId="0" animBg="1"/>
      <p:bldP spid="43" grpId="0" animBg="1"/>
      <p:bldP spid="44" grpId="0" animBg="1"/>
      <p:bldP spid="45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9BB59-C2D3-46E3-B80A-9E819C30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多周期的有限状态机视角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AA65A-F8D2-4D5A-9347-BE5C317E3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0592"/>
            <a:ext cx="8229600" cy="4525963"/>
          </a:xfrm>
        </p:spPr>
        <p:txBody>
          <a:bodyPr/>
          <a:lstStyle/>
          <a:p>
            <a:r>
              <a:rPr lang="en-US" altLang="zh-CN" sz="2800" dirty="0"/>
              <a:t>State 0: Instruction Fetch</a:t>
            </a:r>
          </a:p>
          <a:p>
            <a:pPr lvl="1"/>
            <a:r>
              <a:rPr lang="en-US" altLang="zh-CN" sz="2000" b="0" dirty="0" err="1"/>
              <a:t>IRWrite</a:t>
            </a:r>
            <a:endParaRPr lang="en-US" altLang="zh-CN" sz="2000" b="0" dirty="0"/>
          </a:p>
          <a:p>
            <a:pPr lvl="1"/>
            <a:r>
              <a:rPr lang="en-US" altLang="zh-CN" sz="2000" b="0" dirty="0" err="1"/>
              <a:t>PCWrite</a:t>
            </a:r>
            <a:r>
              <a:rPr lang="en-US" altLang="zh-CN" sz="2000" b="0" dirty="0"/>
              <a:t> </a:t>
            </a:r>
          </a:p>
          <a:p>
            <a:pPr lvl="1"/>
            <a:r>
              <a:rPr lang="en-US" altLang="zh-CN" sz="2000" b="0" dirty="0" err="1"/>
              <a:t>PCSource</a:t>
            </a:r>
            <a:r>
              <a:rPr lang="en-US" altLang="zh-CN" sz="2000" b="0" dirty="0"/>
              <a:t>=00</a:t>
            </a:r>
          </a:p>
          <a:p>
            <a:pPr lvl="1"/>
            <a:r>
              <a:rPr lang="en-US" altLang="zh-CN" sz="2000" b="0" dirty="0" err="1"/>
              <a:t>ALUSrcA</a:t>
            </a:r>
            <a:r>
              <a:rPr lang="en-US" altLang="zh-CN" sz="2000" b="0" dirty="0"/>
              <a:t>=0</a:t>
            </a:r>
          </a:p>
          <a:p>
            <a:pPr lvl="1"/>
            <a:r>
              <a:rPr lang="en-US" altLang="zh-CN" sz="2000" b="0" dirty="0" err="1"/>
              <a:t>IorD</a:t>
            </a:r>
            <a:r>
              <a:rPr lang="en-US" altLang="zh-CN" sz="2000" b="0" dirty="0"/>
              <a:t>=0</a:t>
            </a:r>
          </a:p>
          <a:p>
            <a:pPr lvl="1"/>
            <a:r>
              <a:rPr lang="en-US" altLang="zh-CN" sz="2000" b="0" dirty="0" err="1"/>
              <a:t>ALUSrcB</a:t>
            </a:r>
            <a:r>
              <a:rPr lang="en-US" altLang="zh-CN" sz="2000" b="0" dirty="0"/>
              <a:t>=01</a:t>
            </a:r>
          </a:p>
          <a:p>
            <a:pPr lvl="1"/>
            <a:r>
              <a:rPr lang="en-US" altLang="zh-CN" sz="2000" b="0" dirty="0" err="1"/>
              <a:t>ALUOp</a:t>
            </a:r>
            <a:r>
              <a:rPr lang="en-US" altLang="zh-CN" sz="2000" b="0" dirty="0"/>
              <a:t>=00</a:t>
            </a:r>
          </a:p>
          <a:p>
            <a:pPr lvl="1"/>
            <a:r>
              <a:rPr lang="en-US" altLang="zh-CN" sz="2000" b="0" dirty="0" err="1"/>
              <a:t>MemRead</a:t>
            </a:r>
            <a:endParaRPr lang="en-US" altLang="zh-CN" sz="2000" b="0" dirty="0"/>
          </a:p>
          <a:p>
            <a:pPr lvl="1"/>
            <a:r>
              <a:rPr lang="zh-CN" altLang="en-US" sz="2000" b="0" dirty="0"/>
              <a:t>思考：</a:t>
            </a:r>
            <a:r>
              <a:rPr lang="en-US" altLang="zh-CN" sz="2000" b="0" dirty="0" err="1"/>
              <a:t>MemRead</a:t>
            </a:r>
            <a:r>
              <a:rPr lang="en-US" altLang="zh-CN" sz="2000" b="0" dirty="0"/>
              <a:t>=0</a:t>
            </a:r>
            <a:r>
              <a:rPr lang="zh-CN" altLang="en-US" sz="2000" b="0" dirty="0"/>
              <a:t>时，</a:t>
            </a:r>
            <a:r>
              <a:rPr lang="en-US" altLang="zh-CN" sz="2000" b="0" dirty="0"/>
              <a:t>Memory</a:t>
            </a:r>
            <a:r>
              <a:rPr lang="zh-CN" altLang="en-US" sz="2000" b="0" dirty="0"/>
              <a:t>模块的输出是什么？</a:t>
            </a:r>
            <a:endParaRPr lang="en-US" altLang="zh-CN" sz="2000" b="0" dirty="0"/>
          </a:p>
          <a:p>
            <a:pPr lvl="2"/>
            <a:r>
              <a:rPr lang="en-US" altLang="zh-CN" sz="1600" b="0" dirty="0"/>
              <a:t>Memory</a:t>
            </a:r>
            <a:r>
              <a:rPr lang="zh-CN" altLang="en-US" sz="1600" b="0" dirty="0"/>
              <a:t>模块输出保持不变？高阻输出？</a:t>
            </a:r>
            <a:endParaRPr lang="en-US" altLang="zh-CN" sz="1600" b="0" dirty="0"/>
          </a:p>
          <a:p>
            <a:pPr lvl="2"/>
            <a:r>
              <a:rPr lang="zh-CN" altLang="en-US" sz="1600" b="0" dirty="0"/>
              <a:t>由设计人员考虑，实践中均可，但要注意不同实现方式的影响</a:t>
            </a:r>
            <a:endParaRPr lang="en-US" altLang="zh-CN" sz="16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DAA88-69BB-CF4D-A938-9D1A7103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39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E92101-85F1-099F-DD5C-C06EEFA51D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571" b="31048"/>
          <a:stretch/>
        </p:blipFill>
        <p:spPr>
          <a:xfrm>
            <a:off x="3051426" y="2293943"/>
            <a:ext cx="2524070" cy="156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9BB59-C2D3-46E3-B80A-9E819C30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多周期的有限状态机视角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AA65A-F8D2-4D5A-9347-BE5C317E3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0592"/>
            <a:ext cx="8229600" cy="4525963"/>
          </a:xfrm>
        </p:spPr>
        <p:txBody>
          <a:bodyPr/>
          <a:lstStyle/>
          <a:p>
            <a:r>
              <a:rPr lang="en-US" altLang="zh-CN" sz="2800" dirty="0"/>
              <a:t>State 1: Instruction decode/Register fetch</a:t>
            </a:r>
          </a:p>
          <a:p>
            <a:pPr lvl="1"/>
            <a:r>
              <a:rPr lang="en-US" altLang="zh-CN" sz="2000" b="0" dirty="0" err="1"/>
              <a:t>ALUSrcA</a:t>
            </a:r>
            <a:r>
              <a:rPr lang="en-US" altLang="zh-CN" sz="2000" b="0" dirty="0"/>
              <a:t>=0</a:t>
            </a:r>
          </a:p>
          <a:p>
            <a:pPr lvl="1"/>
            <a:r>
              <a:rPr lang="en-US" altLang="zh-CN" sz="2000" b="0" dirty="0" err="1"/>
              <a:t>ALUSrcB</a:t>
            </a:r>
            <a:r>
              <a:rPr lang="en-US" altLang="zh-CN" sz="2000" b="0" dirty="0"/>
              <a:t>=11</a:t>
            </a:r>
          </a:p>
          <a:p>
            <a:pPr lvl="1"/>
            <a:r>
              <a:rPr lang="en-US" altLang="zh-CN" sz="2000" b="0" dirty="0" err="1"/>
              <a:t>ALUOp</a:t>
            </a:r>
            <a:r>
              <a:rPr lang="en-US" altLang="zh-CN" sz="2000" b="0" dirty="0"/>
              <a:t>=00 (add)</a:t>
            </a:r>
            <a:endParaRPr lang="zh-CN" altLang="en-US" sz="20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3A9C3-2638-0F49-91DF-B30D5AE6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BBCE7-77AB-8A4F-B793-D01DC6097BAD}"/>
              </a:ext>
            </a:extLst>
          </p:cNvPr>
          <p:cNvSpPr/>
          <p:nvPr/>
        </p:nvSpPr>
        <p:spPr>
          <a:xfrm>
            <a:off x="51515" y="4138561"/>
            <a:ext cx="9040969" cy="57955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9E8E181-E2B6-CA42-BDAC-16067C50C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084425"/>
              </p:ext>
            </p:extLst>
          </p:nvPr>
        </p:nvGraphicFramePr>
        <p:xfrm>
          <a:off x="91961" y="3262858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709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9638D24-C610-42D6-8728-154D3C58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多周期功能描述：寄存器读取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9D74EA-4630-4B43-9B8B-3E14A749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41</a:t>
            </a:fld>
            <a:endParaRPr lang="en-US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B8C2568-47FC-4053-940D-04E748ED1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546225"/>
            <a:ext cx="8813800" cy="535947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51CDFEA-1800-4487-BAC5-50CD660972EB}"/>
              </a:ext>
            </a:extLst>
          </p:cNvPr>
          <p:cNvSpPr/>
          <p:nvPr/>
        </p:nvSpPr>
        <p:spPr>
          <a:xfrm>
            <a:off x="7898006" y="952535"/>
            <a:ext cx="1167936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ALUSrcA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ALUSrcB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ALUOp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34269CC-E599-487C-9EE3-B5ED940990B6}"/>
              </a:ext>
            </a:extLst>
          </p:cNvPr>
          <p:cNvSpPr txBox="1"/>
          <p:nvPr/>
        </p:nvSpPr>
        <p:spPr>
          <a:xfrm>
            <a:off x="3207291" y="1277704"/>
            <a:ext cx="4525350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  <a:ea typeface="黑体" panose="02010609060101010101" pitchFamily="49" charset="-122"/>
              </a:rPr>
              <a:t>ALUOut</a:t>
            </a:r>
            <a:r>
              <a:rPr lang="en-US" altLang="zh-CN" dirty="0">
                <a:solidFill>
                  <a:srgbClr val="00B0F0"/>
                </a:solidFill>
                <a:ea typeface="黑体" panose="02010609060101010101" pitchFamily="49" charset="-122"/>
              </a:rPr>
              <a:t> &lt;= PC + </a:t>
            </a:r>
            <a:r>
              <a:rPr lang="en-US" altLang="zh-CN" dirty="0" err="1">
                <a:solidFill>
                  <a:srgbClr val="00B0F0"/>
                </a:solidFill>
                <a:ea typeface="黑体" panose="02010609060101010101" pitchFamily="49" charset="-122"/>
              </a:rPr>
              <a:t>SignExtImm</a:t>
            </a:r>
            <a:r>
              <a:rPr lang="en-US" altLang="zh-CN" dirty="0">
                <a:solidFill>
                  <a:srgbClr val="00B0F0"/>
                </a:solidFill>
                <a:ea typeface="黑体" panose="02010609060101010101" pitchFamily="49" charset="-122"/>
              </a:rPr>
              <a:t>&lt;&lt;2</a:t>
            </a:r>
          </a:p>
          <a:p>
            <a:pPr algn="ctr"/>
            <a:r>
              <a:rPr lang="en-US" altLang="zh-CN" dirty="0">
                <a:solidFill>
                  <a:srgbClr val="ED7D31"/>
                </a:solidFill>
                <a:ea typeface="黑体" panose="02010609060101010101" pitchFamily="49" charset="-122"/>
              </a:rPr>
              <a:t>A &lt;= Reg[IR[25:21]]; B &lt;= Reg[IR[20:16]]</a:t>
            </a:r>
            <a:endParaRPr lang="zh-CN" altLang="en-US" dirty="0">
              <a:solidFill>
                <a:srgbClr val="ED7D31"/>
              </a:solidFill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85B30-B301-4A4D-94A0-6002D16E26D2}"/>
              </a:ext>
            </a:extLst>
          </p:cNvPr>
          <p:cNvSpPr/>
          <p:nvPr/>
        </p:nvSpPr>
        <p:spPr>
          <a:xfrm>
            <a:off x="4702629" y="3679371"/>
            <a:ext cx="1251857" cy="1817915"/>
          </a:xfrm>
          <a:prstGeom prst="rect">
            <a:avLst/>
          </a:prstGeom>
          <a:noFill/>
          <a:ln>
            <a:solidFill>
              <a:srgbClr val="EC7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994302A-8F54-2241-97F5-2367F8DF0454}"/>
              </a:ext>
            </a:extLst>
          </p:cNvPr>
          <p:cNvSpPr/>
          <p:nvPr/>
        </p:nvSpPr>
        <p:spPr>
          <a:xfrm>
            <a:off x="1070043" y="4464996"/>
            <a:ext cx="5415760" cy="1892573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EC6352-B6C8-0F34-485A-AAA034AD838E}"/>
              </a:ext>
            </a:extLst>
          </p:cNvPr>
          <p:cNvCxnSpPr/>
          <p:nvPr/>
        </p:nvCxnSpPr>
        <p:spPr>
          <a:xfrm>
            <a:off x="3777923" y="4732020"/>
            <a:ext cx="0" cy="14173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0FD8BAA-1B00-B36A-15E7-A365147D68D1}"/>
              </a:ext>
            </a:extLst>
          </p:cNvPr>
          <p:cNvCxnSpPr>
            <a:cxnSpLocks/>
          </p:cNvCxnSpPr>
          <p:nvPr/>
        </p:nvCxnSpPr>
        <p:spPr>
          <a:xfrm>
            <a:off x="3806190" y="6149340"/>
            <a:ext cx="226435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F354279-B44E-94B2-8041-70C8021A6FDA}"/>
              </a:ext>
            </a:extLst>
          </p:cNvPr>
          <p:cNvCxnSpPr>
            <a:cxnSpLocks/>
          </p:cNvCxnSpPr>
          <p:nvPr/>
        </p:nvCxnSpPr>
        <p:spPr>
          <a:xfrm flipV="1">
            <a:off x="6722026" y="5273749"/>
            <a:ext cx="277702" cy="4945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A55A4DB-65ED-9138-3B6E-17F823F6261B}"/>
              </a:ext>
            </a:extLst>
          </p:cNvPr>
          <p:cNvCxnSpPr>
            <a:cxnSpLocks/>
          </p:cNvCxnSpPr>
          <p:nvPr/>
        </p:nvCxnSpPr>
        <p:spPr>
          <a:xfrm>
            <a:off x="6722026" y="3726269"/>
            <a:ext cx="209655" cy="2191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898EF59-A5DE-56A3-63F3-DDB35A966FF9}"/>
              </a:ext>
            </a:extLst>
          </p:cNvPr>
          <p:cNvCxnSpPr>
            <a:cxnSpLocks/>
          </p:cNvCxnSpPr>
          <p:nvPr/>
        </p:nvCxnSpPr>
        <p:spPr>
          <a:xfrm>
            <a:off x="5824745" y="3997606"/>
            <a:ext cx="319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CE2716C7-76AB-C06A-DAA5-CD7CE6EB01AE}"/>
              </a:ext>
            </a:extLst>
          </p:cNvPr>
          <p:cNvSpPr/>
          <p:nvPr/>
        </p:nvSpPr>
        <p:spPr>
          <a:xfrm>
            <a:off x="6341556" y="6508750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1E5732-08C0-68F6-412F-D2DDDF3493CE}"/>
              </a:ext>
            </a:extLst>
          </p:cNvPr>
          <p:cNvSpPr/>
          <p:nvPr/>
        </p:nvSpPr>
        <p:spPr>
          <a:xfrm>
            <a:off x="6485803" y="2366659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05B2FBA6-9C5C-E837-E6E6-CD4FC430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8319" y="3727731"/>
            <a:ext cx="44082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“+”</a:t>
            </a:r>
            <a:endParaRPr lang="en-US" altLang="en-US" sz="16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4FE1A5-1188-C4D1-0578-98CC57E5515A}"/>
              </a:ext>
            </a:extLst>
          </p:cNvPr>
          <p:cNvGrpSpPr/>
          <p:nvPr/>
        </p:nvGrpSpPr>
        <p:grpSpPr>
          <a:xfrm>
            <a:off x="917078" y="3038446"/>
            <a:ext cx="5766405" cy="685830"/>
            <a:chOff x="881690" y="3040380"/>
            <a:chExt cx="5766405" cy="68583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EEA6E4D-D763-44D2-6F6F-EEEBA8123E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540" y="3064233"/>
              <a:ext cx="555887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8EEF11C-ABCA-67E1-ED43-BD73515800EA}"/>
                </a:ext>
              </a:extLst>
            </p:cNvPr>
            <p:cNvCxnSpPr>
              <a:cxnSpLocks/>
            </p:cNvCxnSpPr>
            <p:nvPr/>
          </p:nvCxnSpPr>
          <p:spPr>
            <a:xfrm>
              <a:off x="881690" y="3040380"/>
              <a:ext cx="0" cy="35429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44F31FF-91D0-030D-0135-A1A134504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3213" y="3042747"/>
              <a:ext cx="0" cy="66103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7DF6A5D1-802F-DCAC-E54E-E8945CAD7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3213" y="3701649"/>
              <a:ext cx="194882" cy="2456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9" name="Line 29">
            <a:extLst>
              <a:ext uri="{FF2B5EF4-FFF2-40B4-BE49-F238E27FC236}">
                <a16:creationId xmlns:a16="http://schemas.microsoft.com/office/drawing/2014/main" id="{E2F3987D-83A0-C797-3433-BE49FFB1B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728" y="3941241"/>
            <a:ext cx="194882" cy="2456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878B918-EB6D-B05D-ED0D-511AF5378809}"/>
              </a:ext>
            </a:extLst>
          </p:cNvPr>
          <p:cNvCxnSpPr>
            <a:cxnSpLocks/>
          </p:cNvCxnSpPr>
          <p:nvPr/>
        </p:nvCxnSpPr>
        <p:spPr>
          <a:xfrm flipV="1">
            <a:off x="6096265" y="5783301"/>
            <a:ext cx="0" cy="3771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ine 29">
            <a:extLst>
              <a:ext uri="{FF2B5EF4-FFF2-40B4-BE49-F238E27FC236}">
                <a16:creationId xmlns:a16="http://schemas.microsoft.com/office/drawing/2014/main" id="{CEFE564D-7CE4-2B34-F8F9-D47117033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0543" y="5796635"/>
            <a:ext cx="61293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9BBFCCD6-3F42-A19F-A438-228C282FF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9728" y="5273749"/>
            <a:ext cx="19488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14" name="直接箭头连接符 25">
            <a:extLst>
              <a:ext uri="{FF2B5EF4-FFF2-40B4-BE49-F238E27FC236}">
                <a16:creationId xmlns:a16="http://schemas.microsoft.com/office/drawing/2014/main" id="{0DA5C7BF-D385-E766-2D9C-B122F0AAED76}"/>
              </a:ext>
            </a:extLst>
          </p:cNvPr>
          <p:cNvCxnSpPr>
            <a:cxnSpLocks/>
          </p:cNvCxnSpPr>
          <p:nvPr/>
        </p:nvCxnSpPr>
        <p:spPr>
          <a:xfrm>
            <a:off x="5824745" y="5166448"/>
            <a:ext cx="319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00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/>
      <p:bldP spid="29" grpId="0" animBg="1"/>
      <p:bldP spid="36" grpId="0" animBg="1"/>
      <p:bldP spid="3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120FD-9611-F0ED-822E-A6C05242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State 1 to more states…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D65403-B9D5-6022-F723-3CF4C08D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D995-88A0-46FA-B356-FA459EF841CD}" type="slidenum">
              <a:rPr lang="en-US" altLang="zh-CN" smtClean="0"/>
              <a:pPr/>
              <a:t>42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E3FE38-DD41-4DEC-9A1E-122A86892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77" y="2227483"/>
            <a:ext cx="6449306" cy="240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72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C01C2AA-5993-1340-81A2-B31AE1089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4053"/>
              </p:ext>
            </p:extLst>
          </p:nvPr>
        </p:nvGraphicFramePr>
        <p:xfrm>
          <a:off x="102552" y="2595086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Branch</a:t>
            </a:r>
            <a:r>
              <a:rPr lang="zh-CN" altLang="en-US" dirty="0"/>
              <a:t>型指令的状态转移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DC327-6903-439C-8D48-F7B2D286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有限状态机的视角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C00000"/>
                </a:solidFill>
              </a:rPr>
              <a:t>还有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r>
              <a:rPr lang="zh-CN" altLang="en-US" sz="2000" dirty="0">
                <a:solidFill>
                  <a:srgbClr val="C00000"/>
                </a:solidFill>
              </a:rPr>
              <a:t>个状态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628E-49E5-BF4C-A487-52D180F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16584-301F-0C47-A320-BCE1A92DCB85}"/>
              </a:ext>
            </a:extLst>
          </p:cNvPr>
          <p:cNvSpPr/>
          <p:nvPr/>
        </p:nvSpPr>
        <p:spPr>
          <a:xfrm>
            <a:off x="6340674" y="4039514"/>
            <a:ext cx="1364462" cy="989686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5664D5-FBC5-4E12-B4BF-C7FD71F77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828" y="1288014"/>
            <a:ext cx="1374972" cy="13407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E12D26-92B1-A94B-95F9-1FABFF780AC6}"/>
              </a:ext>
            </a:extLst>
          </p:cNvPr>
          <p:cNvSpPr/>
          <p:nvPr/>
        </p:nvSpPr>
        <p:spPr>
          <a:xfrm>
            <a:off x="7705136" y="2223449"/>
            <a:ext cx="755374" cy="1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1BEFD-85C6-6644-823F-8494714AE812}"/>
              </a:ext>
            </a:extLst>
          </p:cNvPr>
          <p:cNvSpPr/>
          <p:nvPr/>
        </p:nvSpPr>
        <p:spPr>
          <a:xfrm>
            <a:off x="7600122" y="2161157"/>
            <a:ext cx="10118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CN" sz="1000" b="1" kern="0" dirty="0" err="1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PCSource</a:t>
            </a:r>
            <a:r>
              <a:rPr lang="en-US" altLang="zh-CN" sz="10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=01</a:t>
            </a:r>
            <a:endParaRPr lang="zh-CN" altLang="en-US" sz="1000" b="1" kern="0" dirty="0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6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4A78C29-4788-4E95-BE79-180CD72CED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61"/>
          <a:stretch/>
        </p:blipFill>
        <p:spPr>
          <a:xfrm>
            <a:off x="118968" y="1524000"/>
            <a:ext cx="8906064" cy="5334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3CC5E6-48AF-B248-A25A-46DCA08AEAE2}"/>
              </a:ext>
            </a:extLst>
          </p:cNvPr>
          <p:cNvSpPr txBox="1"/>
          <p:nvPr/>
        </p:nvSpPr>
        <p:spPr>
          <a:xfrm>
            <a:off x="7795912" y="2410683"/>
            <a:ext cx="117852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N" sz="1200" b="1">
                <a:solidFill>
                  <a:srgbClr val="00B050"/>
                </a:solidFill>
              </a:rPr>
              <a:t>PCSource=</a:t>
            </a:r>
            <a:r>
              <a:rPr lang="en-US" altLang="zh-CN" sz="1200" b="1" dirty="0">
                <a:solidFill>
                  <a:srgbClr val="00B050"/>
                </a:solidFill>
              </a:rPr>
              <a:t>01</a:t>
            </a:r>
            <a:endParaRPr lang="en-CN" sz="1200" b="1" dirty="0">
              <a:solidFill>
                <a:srgbClr val="00B05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401327-5DF0-4507-9399-921C5B37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Branch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917132-B49E-4301-BE6E-1C18AB67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417D3B4-1A45-48C2-81E3-FC95E6FFB34B}"/>
              </a:ext>
            </a:extLst>
          </p:cNvPr>
          <p:cNvSpPr/>
          <p:nvPr/>
        </p:nvSpPr>
        <p:spPr>
          <a:xfrm>
            <a:off x="7805855" y="849219"/>
            <a:ext cx="1219178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PCWriteCond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ALUSrcA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ALUSrcB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ALUOp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PCSource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C34DBA-CF32-4AE7-B70F-B9F4D290BF0A}"/>
              </a:ext>
            </a:extLst>
          </p:cNvPr>
          <p:cNvSpPr txBox="1"/>
          <p:nvPr/>
        </p:nvSpPr>
        <p:spPr>
          <a:xfrm>
            <a:off x="4245982" y="1305874"/>
            <a:ext cx="283504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  <a:ea typeface="黑体" panose="02010609060101010101" pitchFamily="49" charset="-122"/>
              </a:rPr>
              <a:t>If (A==B) PC &lt;= </a:t>
            </a:r>
            <a:r>
              <a:rPr lang="en-US" altLang="zh-CN" dirty="0" err="1">
                <a:solidFill>
                  <a:srgbClr val="00B0F0"/>
                </a:solidFill>
                <a:ea typeface="黑体" panose="02010609060101010101" pitchFamily="49" charset="-122"/>
              </a:rPr>
              <a:t>ALUOut</a:t>
            </a:r>
            <a:endParaRPr lang="en-US" altLang="zh-CN" dirty="0">
              <a:solidFill>
                <a:srgbClr val="00B0F0"/>
              </a:solidFill>
              <a:ea typeface="黑体" panose="02010609060101010101" pitchFamily="49" charset="-122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74F67F64-72C2-044D-B0FA-2DFF08781236}"/>
              </a:ext>
            </a:extLst>
          </p:cNvPr>
          <p:cNvSpPr/>
          <p:nvPr/>
        </p:nvSpPr>
        <p:spPr>
          <a:xfrm>
            <a:off x="8256104" y="3405809"/>
            <a:ext cx="755374" cy="1603513"/>
          </a:xfrm>
          <a:custGeom>
            <a:avLst/>
            <a:gdLst>
              <a:gd name="connsiteX0" fmla="*/ 609600 w 755374"/>
              <a:gd name="connsiteY0" fmla="*/ 1603513 h 1603513"/>
              <a:gd name="connsiteX1" fmla="*/ 755374 w 755374"/>
              <a:gd name="connsiteY1" fmla="*/ 1603513 h 1603513"/>
              <a:gd name="connsiteX2" fmla="*/ 755374 w 755374"/>
              <a:gd name="connsiteY2" fmla="*/ 1073426 h 1603513"/>
              <a:gd name="connsiteX3" fmla="*/ 0 w 755374"/>
              <a:gd name="connsiteY3" fmla="*/ 1073426 h 1603513"/>
              <a:gd name="connsiteX4" fmla="*/ 0 w 755374"/>
              <a:gd name="connsiteY4" fmla="*/ 0 h 160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374" h="1603513">
                <a:moveTo>
                  <a:pt x="609600" y="1603513"/>
                </a:moveTo>
                <a:lnTo>
                  <a:pt x="755374" y="1603513"/>
                </a:lnTo>
                <a:lnTo>
                  <a:pt x="755374" y="1073426"/>
                </a:lnTo>
                <a:lnTo>
                  <a:pt x="0" y="1073426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CN" dirty="0">
              <a:solidFill>
                <a:schemeClr val="tx1"/>
              </a:solidFill>
              <a:latin typeface="Arial" charset="0"/>
              <a:ea typeface="SimHei" panose="02010609060101010101" pitchFamily="49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B748F321-7385-C04D-C2C8-7B956DD172C0}"/>
              </a:ext>
            </a:extLst>
          </p:cNvPr>
          <p:cNvCxnSpPr>
            <a:cxnSpLocks/>
          </p:cNvCxnSpPr>
          <p:nvPr/>
        </p:nvCxnSpPr>
        <p:spPr>
          <a:xfrm flipV="1">
            <a:off x="8097124" y="3360340"/>
            <a:ext cx="0" cy="16489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147E79D-CB86-CF7F-CF3C-024EE6E44B4F}"/>
              </a:ext>
            </a:extLst>
          </p:cNvPr>
          <p:cNvCxnSpPr>
            <a:cxnSpLocks/>
          </p:cNvCxnSpPr>
          <p:nvPr/>
        </p:nvCxnSpPr>
        <p:spPr>
          <a:xfrm>
            <a:off x="6440209" y="5162033"/>
            <a:ext cx="748611" cy="149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7674F86-A35D-DC0E-3DF4-A3D725E8E52B}"/>
              </a:ext>
            </a:extLst>
          </p:cNvPr>
          <p:cNvGrpSpPr/>
          <p:nvPr/>
        </p:nvGrpSpPr>
        <p:grpSpPr>
          <a:xfrm>
            <a:off x="118969" y="2887859"/>
            <a:ext cx="8133981" cy="536916"/>
            <a:chOff x="2814419" y="4244743"/>
            <a:chExt cx="2049868" cy="274459"/>
          </a:xfrm>
        </p:grpSpPr>
        <p:sp>
          <p:nvSpPr>
            <p:cNvPr id="14" name="Freeform 123">
              <a:extLst>
                <a:ext uri="{FF2B5EF4-FFF2-40B4-BE49-F238E27FC236}">
                  <a16:creationId xmlns:a16="http://schemas.microsoft.com/office/drawing/2014/main" id="{B5CCC037-6034-59DC-3173-499DBB1CC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419" y="4248234"/>
              <a:ext cx="2049073" cy="270968"/>
            </a:xfrm>
            <a:custGeom>
              <a:avLst/>
              <a:gdLst>
                <a:gd name="T0" fmla="*/ 2147483647 w 1902"/>
                <a:gd name="T1" fmla="*/ 0 h 737"/>
                <a:gd name="T2" fmla="*/ 0 w 1902"/>
                <a:gd name="T3" fmla="*/ 0 h 737"/>
                <a:gd name="T4" fmla="*/ 0 w 1902"/>
                <a:gd name="T5" fmla="*/ 1854834207 h 737"/>
                <a:gd name="T6" fmla="*/ 418345938 w 1902"/>
                <a:gd name="T7" fmla="*/ 1854834207 h 7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2" h="737">
                  <a:moveTo>
                    <a:pt x="1901" y="0"/>
                  </a:moveTo>
                  <a:lnTo>
                    <a:pt x="0" y="0"/>
                  </a:lnTo>
                  <a:lnTo>
                    <a:pt x="0" y="736"/>
                  </a:lnTo>
                  <a:lnTo>
                    <a:pt x="166" y="736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03497ED-1241-FDA0-F992-E5548F997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4287" y="4244743"/>
              <a:ext cx="0" cy="26476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Line 29">
            <a:extLst>
              <a:ext uri="{FF2B5EF4-FFF2-40B4-BE49-F238E27FC236}">
                <a16:creationId xmlns:a16="http://schemas.microsoft.com/office/drawing/2014/main" id="{2023E941-2F27-A4B7-2DB8-E449E0D53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" y="1825200"/>
            <a:ext cx="1" cy="1318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4CDBA68-D5D5-8257-627D-D5B250B3DE3C}"/>
              </a:ext>
            </a:extLst>
          </p:cNvPr>
          <p:cNvCxnSpPr>
            <a:cxnSpLocks/>
          </p:cNvCxnSpPr>
          <p:nvPr/>
        </p:nvCxnSpPr>
        <p:spPr>
          <a:xfrm flipH="1">
            <a:off x="457200" y="1825200"/>
            <a:ext cx="85172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B14E89-1C93-56D9-D682-805B39D38CF3}"/>
              </a:ext>
            </a:extLst>
          </p:cNvPr>
          <p:cNvCxnSpPr>
            <a:cxnSpLocks/>
          </p:cNvCxnSpPr>
          <p:nvPr/>
        </p:nvCxnSpPr>
        <p:spPr>
          <a:xfrm>
            <a:off x="7969458" y="4286250"/>
            <a:ext cx="10420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00B674A-31FF-A7D2-CB83-B2337098B25A}"/>
              </a:ext>
            </a:extLst>
          </p:cNvPr>
          <p:cNvCxnSpPr>
            <a:cxnSpLocks/>
          </p:cNvCxnSpPr>
          <p:nvPr/>
        </p:nvCxnSpPr>
        <p:spPr>
          <a:xfrm flipV="1">
            <a:off x="9011478" y="1825200"/>
            <a:ext cx="0" cy="24610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9">
            <a:extLst>
              <a:ext uri="{FF2B5EF4-FFF2-40B4-BE49-F238E27FC236}">
                <a16:creationId xmlns:a16="http://schemas.microsoft.com/office/drawing/2014/main" id="{0AB098B4-47A6-9BAA-F7D3-6C67A87D944F}"/>
              </a:ext>
            </a:extLst>
          </p:cNvPr>
          <p:cNvCxnSpPr>
            <a:cxnSpLocks/>
          </p:cNvCxnSpPr>
          <p:nvPr/>
        </p:nvCxnSpPr>
        <p:spPr>
          <a:xfrm flipV="1">
            <a:off x="6440209" y="3942883"/>
            <a:ext cx="748611" cy="149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56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4BB037B-8486-5440-9D98-5C282FA7D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880932"/>
              </p:ext>
            </p:extLst>
          </p:nvPr>
        </p:nvGraphicFramePr>
        <p:xfrm>
          <a:off x="102552" y="2878115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</a:t>
                      </a:r>
                      <a:r>
                        <a:rPr lang="en-US" sz="15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PC[31:28]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</a:t>
            </a:r>
            <a:r>
              <a:rPr lang="zh-CN" altLang="en-US" dirty="0"/>
              <a:t>型指令的状态转移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DC327-6903-439C-8D48-F7B2D286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有限状态机的视角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C00000"/>
                </a:solidFill>
              </a:rPr>
              <a:t>还有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r>
              <a:rPr lang="zh-CN" altLang="en-US" sz="2000" dirty="0">
                <a:solidFill>
                  <a:srgbClr val="C00000"/>
                </a:solidFill>
              </a:rPr>
              <a:t>个状态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628E-49E5-BF4C-A487-52D180F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45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16584-301F-0C47-A320-BCE1A92DCB85}"/>
              </a:ext>
            </a:extLst>
          </p:cNvPr>
          <p:cNvSpPr/>
          <p:nvPr/>
        </p:nvSpPr>
        <p:spPr>
          <a:xfrm>
            <a:off x="7680253" y="4350435"/>
            <a:ext cx="1382375" cy="944628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D355CE-0A92-4D87-BE65-69EF7B03B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529" y="1339621"/>
            <a:ext cx="1396105" cy="14509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4675D2-7610-AD43-9535-04E4E180ECFE}"/>
                  </a:ext>
                </a:extLst>
              </p14:cNvPr>
              <p14:cNvContentPartPr/>
              <p14:nvPr/>
            </p14:nvContentPartPr>
            <p14:xfrm>
              <a:off x="6557400" y="44413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4675D2-7610-AD43-9535-04E4E180EC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8040" y="44319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1EC54BE-7BAF-D043-B663-400A2E33DA8C}"/>
              </a:ext>
            </a:extLst>
          </p:cNvPr>
          <p:cNvSpPr txBox="1"/>
          <p:nvPr/>
        </p:nvSpPr>
        <p:spPr>
          <a:xfrm>
            <a:off x="7610785" y="2115661"/>
            <a:ext cx="1058303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CN" sz="1050" b="1"/>
              <a:t>PCSource=</a:t>
            </a:r>
            <a:r>
              <a:rPr lang="en-US" altLang="zh-CN" sz="1050" b="1" dirty="0"/>
              <a:t>10</a:t>
            </a:r>
            <a:endParaRPr lang="en-CN" sz="1050" b="1" dirty="0"/>
          </a:p>
        </p:txBody>
      </p:sp>
    </p:spTree>
    <p:extLst>
      <p:ext uri="{BB962C8B-B14F-4D97-AF65-F5344CB8AC3E}">
        <p14:creationId xmlns:p14="http://schemas.microsoft.com/office/powerpoint/2010/main" val="20117411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430BDB-1DE2-4A81-95B8-26A1CADD1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8"/>
          <a:stretch/>
        </p:blipFill>
        <p:spPr>
          <a:xfrm>
            <a:off x="73891" y="1448918"/>
            <a:ext cx="8996218" cy="5409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D88B6F-49B6-6E4E-8299-832C67412775}"/>
              </a:ext>
            </a:extLst>
          </p:cNvPr>
          <p:cNvSpPr txBox="1"/>
          <p:nvPr/>
        </p:nvSpPr>
        <p:spPr>
          <a:xfrm>
            <a:off x="7796866" y="2346602"/>
            <a:ext cx="117852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N" sz="1200" b="1">
                <a:solidFill>
                  <a:srgbClr val="00B050"/>
                </a:solidFill>
              </a:rPr>
              <a:t>PCSource=</a:t>
            </a:r>
            <a:r>
              <a:rPr lang="en-US" altLang="zh-CN" sz="1200" b="1" dirty="0">
                <a:solidFill>
                  <a:srgbClr val="00B050"/>
                </a:solidFill>
              </a:rPr>
              <a:t>10</a:t>
            </a:r>
            <a:endParaRPr lang="en-CN" sz="1200" b="1" dirty="0">
              <a:solidFill>
                <a:srgbClr val="00B05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8FC0773-6C13-4DF4-9394-31143DEC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J</a:t>
            </a:r>
            <a:r>
              <a:rPr lang="zh-CN" altLang="en-US" dirty="0"/>
              <a:t>型指令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6AFDB-9716-4E9B-A53C-43C5D852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46</a:t>
            </a:fld>
            <a:endParaRPr lang="en-US" altLang="zh-CN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A9A41E-232B-47B6-8209-C9B2936171D9}"/>
              </a:ext>
            </a:extLst>
          </p:cNvPr>
          <p:cNvSpPr/>
          <p:nvPr/>
        </p:nvSpPr>
        <p:spPr>
          <a:xfrm>
            <a:off x="7783551" y="708025"/>
            <a:ext cx="1170879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PCSource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</a:t>
            </a:r>
            <a:r>
              <a:rPr lang="en-US" altLang="zh-CN" sz="10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10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9">
            <a:extLst>
              <a:ext uri="{FF2B5EF4-FFF2-40B4-BE49-F238E27FC236}">
                <a16:creationId xmlns:a16="http://schemas.microsoft.com/office/drawing/2014/main" id="{B4ED2432-4995-4643-A459-21DD7678EB5F}"/>
              </a:ext>
            </a:extLst>
          </p:cNvPr>
          <p:cNvSpPr txBox="1"/>
          <p:nvPr/>
        </p:nvSpPr>
        <p:spPr>
          <a:xfrm>
            <a:off x="3933747" y="1305874"/>
            <a:ext cx="3459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  <a:ea typeface="黑体" panose="02010609060101010101" pitchFamily="49" charset="-122"/>
              </a:rPr>
              <a:t>PC &lt;= {PC[31:28], IR[25:0]&lt;&lt;2}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C6E60C3-B444-4963-4B08-0BF6833BE570}"/>
              </a:ext>
            </a:extLst>
          </p:cNvPr>
          <p:cNvGrpSpPr/>
          <p:nvPr/>
        </p:nvGrpSpPr>
        <p:grpSpPr>
          <a:xfrm>
            <a:off x="73891" y="2847510"/>
            <a:ext cx="8088598" cy="549210"/>
            <a:chOff x="2814419" y="4226046"/>
            <a:chExt cx="2034968" cy="293155"/>
          </a:xfrm>
        </p:grpSpPr>
        <p:sp>
          <p:nvSpPr>
            <p:cNvPr id="11" name="Freeform 123">
              <a:extLst>
                <a:ext uri="{FF2B5EF4-FFF2-40B4-BE49-F238E27FC236}">
                  <a16:creationId xmlns:a16="http://schemas.microsoft.com/office/drawing/2014/main" id="{78B8386F-964B-802F-8848-7AE3CCB3E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419" y="4226046"/>
              <a:ext cx="2034966" cy="293155"/>
            </a:xfrm>
            <a:custGeom>
              <a:avLst/>
              <a:gdLst>
                <a:gd name="T0" fmla="*/ 2147483647 w 1902"/>
                <a:gd name="T1" fmla="*/ 0 h 737"/>
                <a:gd name="T2" fmla="*/ 0 w 1902"/>
                <a:gd name="T3" fmla="*/ 0 h 737"/>
                <a:gd name="T4" fmla="*/ 0 w 1902"/>
                <a:gd name="T5" fmla="*/ 1854834207 h 737"/>
                <a:gd name="T6" fmla="*/ 418345938 w 1902"/>
                <a:gd name="T7" fmla="*/ 1854834207 h 7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02" h="737">
                  <a:moveTo>
                    <a:pt x="1901" y="0"/>
                  </a:moveTo>
                  <a:lnTo>
                    <a:pt x="0" y="0"/>
                  </a:lnTo>
                  <a:lnTo>
                    <a:pt x="0" y="736"/>
                  </a:lnTo>
                  <a:lnTo>
                    <a:pt x="166" y="736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2A46854-E60C-BCC1-EB2D-28F4441B5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9387" y="4226046"/>
              <a:ext cx="0" cy="2725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EBEF931-4A38-8450-E7A0-3AC7230E1A2C}"/>
              </a:ext>
            </a:extLst>
          </p:cNvPr>
          <p:cNvCxnSpPr>
            <a:cxnSpLocks/>
          </p:cNvCxnSpPr>
          <p:nvPr/>
        </p:nvCxnSpPr>
        <p:spPr>
          <a:xfrm flipV="1">
            <a:off x="3783330" y="3421007"/>
            <a:ext cx="0" cy="12760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90B0E29-DADE-190B-93A2-480E2582FFD5}"/>
              </a:ext>
            </a:extLst>
          </p:cNvPr>
          <p:cNvCxnSpPr>
            <a:cxnSpLocks/>
          </p:cNvCxnSpPr>
          <p:nvPr/>
        </p:nvCxnSpPr>
        <p:spPr>
          <a:xfrm flipV="1">
            <a:off x="873959" y="3006090"/>
            <a:ext cx="0" cy="4229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569506E-2026-159E-81F0-68BD61DBB6A2}"/>
              </a:ext>
            </a:extLst>
          </p:cNvPr>
          <p:cNvCxnSpPr>
            <a:cxnSpLocks/>
          </p:cNvCxnSpPr>
          <p:nvPr/>
        </p:nvCxnSpPr>
        <p:spPr>
          <a:xfrm flipH="1">
            <a:off x="873959" y="3006090"/>
            <a:ext cx="67699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24C557A-004F-19EC-324E-C3517CA879B3}"/>
              </a:ext>
            </a:extLst>
          </p:cNvPr>
          <p:cNvCxnSpPr>
            <a:cxnSpLocks/>
          </p:cNvCxnSpPr>
          <p:nvPr/>
        </p:nvCxnSpPr>
        <p:spPr>
          <a:xfrm>
            <a:off x="7643931" y="3006090"/>
            <a:ext cx="0" cy="4178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023C524-96A7-F674-F9C0-8E7242EA0D7F}"/>
              </a:ext>
            </a:extLst>
          </p:cNvPr>
          <p:cNvCxnSpPr>
            <a:cxnSpLocks/>
          </p:cNvCxnSpPr>
          <p:nvPr/>
        </p:nvCxnSpPr>
        <p:spPr>
          <a:xfrm>
            <a:off x="3783330" y="3421007"/>
            <a:ext cx="41961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ADD0001-724D-413B-4059-CEE442F85433}"/>
              </a:ext>
            </a:extLst>
          </p:cNvPr>
          <p:cNvSpPr/>
          <p:nvPr/>
        </p:nvSpPr>
        <p:spPr>
          <a:xfrm>
            <a:off x="7872205" y="2299444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615717-FB8D-0845-E485-FDD80802CABA}"/>
              </a:ext>
            </a:extLst>
          </p:cNvPr>
          <p:cNvSpPr/>
          <p:nvPr/>
        </p:nvSpPr>
        <p:spPr>
          <a:xfrm>
            <a:off x="360034" y="1848159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8">
            <a:extLst>
              <a:ext uri="{FF2B5EF4-FFF2-40B4-BE49-F238E27FC236}">
                <a16:creationId xmlns:a16="http://schemas.microsoft.com/office/drawing/2014/main" id="{51E61A7C-193A-F924-DF4D-C0F5D1DBCE7F}"/>
              </a:ext>
            </a:extLst>
          </p:cNvPr>
          <p:cNvCxnSpPr>
            <a:cxnSpLocks/>
          </p:cNvCxnSpPr>
          <p:nvPr/>
        </p:nvCxnSpPr>
        <p:spPr>
          <a:xfrm flipH="1">
            <a:off x="3665415" y="4702029"/>
            <a:ext cx="11791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9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70D042-5E6A-9044-8133-B383345D0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983071"/>
              </p:ext>
            </p:extLst>
          </p:nvPr>
        </p:nvGraphicFramePr>
        <p:xfrm>
          <a:off x="91962" y="3330802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型指令的状态转移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DC327-6903-439C-8D48-F7B2D286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有限状态机的视角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C00000"/>
                </a:solidFill>
              </a:rPr>
              <a:t>还有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  <a:r>
              <a:rPr lang="zh-CN" altLang="en-US" sz="2000" dirty="0">
                <a:solidFill>
                  <a:srgbClr val="C00000"/>
                </a:solidFill>
              </a:rPr>
              <a:t>个状态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628E-49E5-BF4C-A487-52D180F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47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16584-301F-0C47-A320-BCE1A92DCB85}"/>
              </a:ext>
            </a:extLst>
          </p:cNvPr>
          <p:cNvSpPr/>
          <p:nvPr/>
        </p:nvSpPr>
        <p:spPr>
          <a:xfrm>
            <a:off x="1514484" y="4812266"/>
            <a:ext cx="1808097" cy="1511596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solidFill>
                <a:srgbClr val="3333FF"/>
              </a:solidFill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8258A8-03E1-4272-A55C-C42390FB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272" y="0"/>
            <a:ext cx="1531766" cy="330644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28752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FBCB2CC-404E-4D9E-BEDB-4C5A5C94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R</a:t>
            </a:r>
            <a:r>
              <a:rPr lang="zh-CN" altLang="en-US" dirty="0"/>
              <a:t>型指令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70830E-38B0-426C-8AC9-ACB68305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48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49FABE-A642-4974-850A-27C1C29423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67"/>
          <a:stretch/>
        </p:blipFill>
        <p:spPr>
          <a:xfrm>
            <a:off x="72803" y="1447992"/>
            <a:ext cx="9012915" cy="541000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B400394A-1259-4334-A2B6-B9E7FB73AC73}"/>
              </a:ext>
            </a:extLst>
          </p:cNvPr>
          <p:cNvSpPr/>
          <p:nvPr/>
        </p:nvSpPr>
        <p:spPr>
          <a:xfrm>
            <a:off x="7898006" y="708025"/>
            <a:ext cx="1173192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ALUSrcA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ALUSrcB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ALUOp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=10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196658-84D1-4A8E-A95E-12909634F478}"/>
              </a:ext>
            </a:extLst>
          </p:cNvPr>
          <p:cNvSpPr txBox="1"/>
          <p:nvPr/>
        </p:nvSpPr>
        <p:spPr>
          <a:xfrm>
            <a:off x="3327401" y="1304101"/>
            <a:ext cx="442269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ea typeface="黑体" panose="02010609060101010101" pitchFamily="49" charset="-122"/>
              </a:rPr>
              <a:t>ALUOut &lt;= A op B; op depends on IR[5:0]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0EF64E9-6C4F-8640-8F3A-E6214716B7C9}"/>
              </a:ext>
            </a:extLst>
          </p:cNvPr>
          <p:cNvSpPr/>
          <p:nvPr/>
        </p:nvSpPr>
        <p:spPr>
          <a:xfrm>
            <a:off x="1021402" y="4494180"/>
            <a:ext cx="5531798" cy="1892573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445A41C-EA48-0A61-5636-FCE4AF782718}"/>
              </a:ext>
            </a:extLst>
          </p:cNvPr>
          <p:cNvCxnSpPr>
            <a:cxnSpLocks/>
          </p:cNvCxnSpPr>
          <p:nvPr/>
        </p:nvCxnSpPr>
        <p:spPr>
          <a:xfrm>
            <a:off x="8003379" y="4997563"/>
            <a:ext cx="31766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9">
            <a:extLst>
              <a:ext uri="{FF2B5EF4-FFF2-40B4-BE49-F238E27FC236}">
                <a16:creationId xmlns:a16="http://schemas.microsoft.com/office/drawing/2014/main" id="{350C778D-712F-E10D-FFCF-5F0B3A86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718413"/>
            <a:ext cx="41037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op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62AB9E9-BB9A-8ED1-E11A-40AEBCD329CC}"/>
              </a:ext>
            </a:extLst>
          </p:cNvPr>
          <p:cNvCxnSpPr>
            <a:cxnSpLocks/>
          </p:cNvCxnSpPr>
          <p:nvPr/>
        </p:nvCxnSpPr>
        <p:spPr>
          <a:xfrm>
            <a:off x="6463080" y="5107832"/>
            <a:ext cx="775621" cy="1503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5">
            <a:extLst>
              <a:ext uri="{FF2B5EF4-FFF2-40B4-BE49-F238E27FC236}">
                <a16:creationId xmlns:a16="http://schemas.microsoft.com/office/drawing/2014/main" id="{D0E092DC-E92F-9B76-7977-D3486AF59301}"/>
              </a:ext>
            </a:extLst>
          </p:cNvPr>
          <p:cNvCxnSpPr>
            <a:cxnSpLocks/>
          </p:cNvCxnSpPr>
          <p:nvPr/>
        </p:nvCxnSpPr>
        <p:spPr>
          <a:xfrm flipV="1">
            <a:off x="6463080" y="3872593"/>
            <a:ext cx="775621" cy="1503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19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53B10-3C9B-4804-9C0A-8509B6DB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R</a:t>
            </a:r>
            <a:r>
              <a:rPr lang="zh-CN" altLang="en-US" dirty="0"/>
              <a:t>型指令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E75A1F-0DE6-48AC-BACB-090DEEDD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D995-88A0-46FA-B356-FA459EF841CD}" type="slidenum">
              <a:rPr lang="en-US" altLang="zh-CN" smtClean="0"/>
              <a:pPr/>
              <a:t>49</a:t>
            </a:fld>
            <a:endParaRPr lang="en-US" altLang="zh-CN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246147-2D33-4602-9878-1080847DB461}"/>
              </a:ext>
            </a:extLst>
          </p:cNvPr>
          <p:cNvSpPr/>
          <p:nvPr/>
        </p:nvSpPr>
        <p:spPr>
          <a:xfrm>
            <a:off x="7908280" y="708025"/>
            <a:ext cx="1171812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RegWrite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RegDst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MemtoReg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8032EC-D26A-4A2D-B21D-594584E3D2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62"/>
          <a:stretch/>
        </p:blipFill>
        <p:spPr>
          <a:xfrm>
            <a:off x="63909" y="1446745"/>
            <a:ext cx="9035845" cy="543091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FF0F1B8-BC3F-441B-AD41-DF2CA8BCEB26}"/>
              </a:ext>
            </a:extLst>
          </p:cNvPr>
          <p:cNvSpPr txBox="1"/>
          <p:nvPr/>
        </p:nvSpPr>
        <p:spPr>
          <a:xfrm>
            <a:off x="3757472" y="1254988"/>
            <a:ext cx="29667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ED7D31"/>
                </a:solidFill>
                <a:ea typeface="黑体" panose="02010609060101010101" pitchFamily="49" charset="-122"/>
              </a:rPr>
              <a:t>Reg[IR[15:11]] &lt;= </a:t>
            </a:r>
            <a:r>
              <a:rPr lang="en-US" altLang="zh-CN" dirty="0" err="1">
                <a:solidFill>
                  <a:srgbClr val="ED7D31"/>
                </a:solidFill>
                <a:ea typeface="黑体" panose="02010609060101010101" pitchFamily="49" charset="-122"/>
              </a:rPr>
              <a:t>ALUOut</a:t>
            </a:r>
            <a:endParaRPr lang="en-US" altLang="zh-CN" dirty="0">
              <a:solidFill>
                <a:srgbClr val="ED7D31"/>
              </a:solidFill>
              <a:ea typeface="黑体" panose="02010609060101010101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DF6FE-9152-6B4A-98E9-A8C0943CC468}"/>
              </a:ext>
            </a:extLst>
          </p:cNvPr>
          <p:cNvSpPr/>
          <p:nvPr/>
        </p:nvSpPr>
        <p:spPr>
          <a:xfrm>
            <a:off x="4713514" y="3635829"/>
            <a:ext cx="1284515" cy="1861457"/>
          </a:xfrm>
          <a:prstGeom prst="rect">
            <a:avLst/>
          </a:prstGeom>
          <a:noFill/>
          <a:ln>
            <a:solidFill>
              <a:srgbClr val="EC7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41B67C-6CBB-8245-81B4-6AA28C1CFF27}"/>
              </a:ext>
            </a:extLst>
          </p:cNvPr>
          <p:cNvSpPr/>
          <p:nvPr/>
        </p:nvSpPr>
        <p:spPr>
          <a:xfrm>
            <a:off x="1021402" y="4464996"/>
            <a:ext cx="5531798" cy="1892573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5CEF11-AB66-93E0-3D5F-37D2F2C5937D}"/>
              </a:ext>
            </a:extLst>
          </p:cNvPr>
          <p:cNvSpPr txBox="1"/>
          <p:nvPr/>
        </p:nvSpPr>
        <p:spPr>
          <a:xfrm>
            <a:off x="1821873" y="536491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AF0C99-A843-4AF2-4468-8ACC48BF0AFF}"/>
              </a:ext>
            </a:extLst>
          </p:cNvPr>
          <p:cNvSpPr txBox="1"/>
          <p:nvPr/>
        </p:nvSpPr>
        <p:spPr>
          <a:xfrm>
            <a:off x="3833751" y="5793748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ABB15C-B957-B618-E7DE-46BDCFA5E1F4}"/>
              </a:ext>
            </a:extLst>
          </p:cNvPr>
          <p:cNvSpPr txBox="1"/>
          <p:nvPr/>
        </p:nvSpPr>
        <p:spPr>
          <a:xfrm>
            <a:off x="3833751" y="4435752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408C4C-140E-5D9A-EB9C-31BB25B26F03}"/>
              </a:ext>
            </a:extLst>
          </p:cNvPr>
          <p:cNvSpPr txBox="1"/>
          <p:nvPr/>
        </p:nvSpPr>
        <p:spPr>
          <a:xfrm>
            <a:off x="3833751" y="4801272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26122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00F0C7E-2875-A848-97A2-5B1BC040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1954"/>
              </p:ext>
            </p:extLst>
          </p:nvPr>
        </p:nvGraphicFramePr>
        <p:xfrm>
          <a:off x="102552" y="2595086"/>
          <a:ext cx="8960076" cy="3278502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</a:t>
                      </a:r>
                      <a:r>
                        <a:rPr lang="en-US" altLang="zh-CN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4BC7896-7177-4F72-BC9D-F896DDC1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SW/LW</a:t>
            </a:r>
            <a:r>
              <a:rPr lang="zh-CN" altLang="en-US" dirty="0"/>
              <a:t>指令的状态转移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DC327-6903-439C-8D48-F7B2D286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有限状态机的视角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C00000"/>
                </a:solidFill>
              </a:rPr>
              <a:t>还有</a:t>
            </a:r>
            <a:r>
              <a:rPr lang="en-US" altLang="zh-CN" sz="2000" dirty="0">
                <a:solidFill>
                  <a:srgbClr val="C00000"/>
                </a:solidFill>
              </a:rPr>
              <a:t>4</a:t>
            </a:r>
            <a:r>
              <a:rPr lang="zh-CN" altLang="en-US" sz="2000" dirty="0">
                <a:solidFill>
                  <a:srgbClr val="C00000"/>
                </a:solidFill>
              </a:rPr>
              <a:t>个状态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628E-49E5-BF4C-A487-52D180F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16584-301F-0C47-A320-BCE1A92DCB85}"/>
              </a:ext>
            </a:extLst>
          </p:cNvPr>
          <p:cNvSpPr/>
          <p:nvPr/>
        </p:nvSpPr>
        <p:spPr>
          <a:xfrm>
            <a:off x="3357021" y="4070700"/>
            <a:ext cx="2940500" cy="1802888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89C4A9B-1B89-D11A-2ADE-43F16367CC11}"/>
                  </a:ext>
                </a:extLst>
              </p14:cNvPr>
              <p14:cNvContentPartPr/>
              <p14:nvPr/>
            </p14:nvContentPartPr>
            <p14:xfrm>
              <a:off x="5206320" y="2342160"/>
              <a:ext cx="1586160" cy="33357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89C4A9B-1B89-D11A-2ADE-43F16367CC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6960" y="2332800"/>
                <a:ext cx="1604880" cy="335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0022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212BD-1192-4A15-9D92-FCB4B5AA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SW/LW</a:t>
            </a:r>
            <a:r>
              <a:rPr lang="zh-CN" altLang="en-US" dirty="0"/>
              <a:t>指令的状态转移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B30C6E-5A95-47E8-B90E-BED5B6A9F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0" y="1551432"/>
            <a:ext cx="3390900" cy="4525963"/>
          </a:xfrm>
        </p:spPr>
        <p:txBody>
          <a:bodyPr/>
          <a:lstStyle/>
          <a:p>
            <a:r>
              <a:rPr lang="zh-CN" altLang="en-US" dirty="0"/>
              <a:t>还有</a:t>
            </a:r>
            <a:r>
              <a:rPr lang="en-US" altLang="zh-CN" dirty="0"/>
              <a:t>4</a:t>
            </a:r>
            <a:r>
              <a:rPr lang="zh-CN" altLang="en-US" dirty="0"/>
              <a:t>个状态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1C2E9-7CAA-ED4B-B86D-5D0A0A3E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51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9B4A1A6-E01E-4FEC-909D-8EC742A3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29" y="1461442"/>
            <a:ext cx="4354146" cy="5396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D4F3B9-0C3A-E245-B360-BF5772BED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2516681"/>
            <a:ext cx="3136771" cy="242975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D66BC9D-1932-E1EE-E1E0-D8B28243902C}"/>
              </a:ext>
            </a:extLst>
          </p:cNvPr>
          <p:cNvSpPr/>
          <p:nvPr/>
        </p:nvSpPr>
        <p:spPr>
          <a:xfrm>
            <a:off x="3301340" y="5973288"/>
            <a:ext cx="213756" cy="271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142497-473C-4DD8-3715-17537D6C960B}"/>
              </a:ext>
            </a:extLst>
          </p:cNvPr>
          <p:cNvSpPr/>
          <p:nvPr/>
        </p:nvSpPr>
        <p:spPr>
          <a:xfrm>
            <a:off x="3194462" y="5818909"/>
            <a:ext cx="213756" cy="15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9BCD4B-9B03-353F-2E6B-E247B3CA6F81}"/>
              </a:ext>
            </a:extLst>
          </p:cNvPr>
          <p:cNvSpPr txBox="1"/>
          <p:nvPr/>
        </p:nvSpPr>
        <p:spPr>
          <a:xfrm>
            <a:off x="3027218" y="5791371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F29B45-3349-A434-7F85-7A7C90DE0A27}"/>
              </a:ext>
            </a:extLst>
          </p:cNvPr>
          <p:cNvSpPr txBox="1"/>
          <p:nvPr/>
        </p:nvSpPr>
        <p:spPr>
          <a:xfrm>
            <a:off x="3134096" y="5966953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834070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C19AD-4F0C-43C5-B34B-128ACE36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33350"/>
            <a:ext cx="8229600" cy="1143000"/>
          </a:xfrm>
        </p:spPr>
        <p:txBody>
          <a:bodyPr/>
          <a:lstStyle/>
          <a:p>
            <a:r>
              <a:rPr lang="zh-CN" altLang="en-US" dirty="0"/>
              <a:t>多周期功能描述：访存地址计算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E128F1-7894-4699-9E6F-9C01A7B9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4AC5A6-E103-49E5-AE30-A673E317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475513"/>
            <a:ext cx="8629650" cy="524596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5C24DB-F134-4959-8158-3B77B543FE30}"/>
              </a:ext>
            </a:extLst>
          </p:cNvPr>
          <p:cNvSpPr/>
          <p:nvPr/>
        </p:nvSpPr>
        <p:spPr>
          <a:xfrm>
            <a:off x="7898006" y="860425"/>
            <a:ext cx="1090420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ALUSrcA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ALUSrcB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ALUOp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=00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04F580-FA13-4E87-BAB6-759BB6B9B298}"/>
              </a:ext>
            </a:extLst>
          </p:cNvPr>
          <p:cNvSpPr txBox="1"/>
          <p:nvPr/>
        </p:nvSpPr>
        <p:spPr>
          <a:xfrm>
            <a:off x="3124201" y="1276350"/>
            <a:ext cx="413263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ALUOut &lt;= A + sign-extend(IR[15:0])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AF8A14B-C02B-5543-9960-6E934E2B975D}"/>
              </a:ext>
            </a:extLst>
          </p:cNvPr>
          <p:cNvSpPr/>
          <p:nvPr/>
        </p:nvSpPr>
        <p:spPr>
          <a:xfrm>
            <a:off x="1021402" y="4333196"/>
            <a:ext cx="5340487" cy="1892573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A4F490D-A847-A282-1443-D35BFC999B8D}"/>
              </a:ext>
            </a:extLst>
          </p:cNvPr>
          <p:cNvCxnSpPr>
            <a:cxnSpLocks/>
          </p:cNvCxnSpPr>
          <p:nvPr/>
        </p:nvCxnSpPr>
        <p:spPr>
          <a:xfrm>
            <a:off x="7050960" y="3862097"/>
            <a:ext cx="744300" cy="9967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FD64AE-225F-0D87-9D7A-2BE829A1FF4F}"/>
              </a:ext>
            </a:extLst>
          </p:cNvPr>
          <p:cNvCxnSpPr>
            <a:cxnSpLocks/>
          </p:cNvCxnSpPr>
          <p:nvPr/>
        </p:nvCxnSpPr>
        <p:spPr>
          <a:xfrm>
            <a:off x="8785225" y="4900066"/>
            <a:ext cx="0" cy="13451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ED71F67-7E46-99C4-DEB4-30E264EFE40E}"/>
              </a:ext>
            </a:extLst>
          </p:cNvPr>
          <p:cNvCxnSpPr>
            <a:cxnSpLocks/>
          </p:cNvCxnSpPr>
          <p:nvPr/>
        </p:nvCxnSpPr>
        <p:spPr>
          <a:xfrm flipV="1">
            <a:off x="5250397" y="5429250"/>
            <a:ext cx="0" cy="5441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9">
            <a:extLst>
              <a:ext uri="{FF2B5EF4-FFF2-40B4-BE49-F238E27FC236}">
                <a16:creationId xmlns:a16="http://schemas.microsoft.com/office/drawing/2014/main" id="{3B52B123-EC94-C2A4-FD7E-CE442E901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227" y="3379526"/>
            <a:ext cx="44403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“+”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76F2A9-E266-F216-E6D0-D37EAB5F660A}"/>
              </a:ext>
            </a:extLst>
          </p:cNvPr>
          <p:cNvSpPr/>
          <p:nvPr/>
        </p:nvSpPr>
        <p:spPr>
          <a:xfrm>
            <a:off x="6160816" y="2283936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C6740A-B099-B9BB-DC5C-D5FF0F08BB04}"/>
              </a:ext>
            </a:extLst>
          </p:cNvPr>
          <p:cNvSpPr/>
          <p:nvPr/>
        </p:nvSpPr>
        <p:spPr>
          <a:xfrm>
            <a:off x="6160816" y="6346939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170FB77-354C-9B8A-0C15-2C34B32FE136}"/>
              </a:ext>
            </a:extLst>
          </p:cNvPr>
          <p:cNvCxnSpPr>
            <a:cxnSpLocks/>
          </p:cNvCxnSpPr>
          <p:nvPr/>
        </p:nvCxnSpPr>
        <p:spPr>
          <a:xfrm flipH="1">
            <a:off x="7414814" y="3659314"/>
            <a:ext cx="123770" cy="1879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D95CCDD-1AEA-2BCF-66BF-93B8BA3E4279}"/>
              </a:ext>
            </a:extLst>
          </p:cNvPr>
          <p:cNvCxnSpPr>
            <a:cxnSpLocks/>
          </p:cNvCxnSpPr>
          <p:nvPr/>
        </p:nvCxnSpPr>
        <p:spPr>
          <a:xfrm>
            <a:off x="5250397" y="5444222"/>
            <a:ext cx="13028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CCEAC46-23C8-AD6B-590C-4523D143E206}"/>
              </a:ext>
            </a:extLst>
          </p:cNvPr>
          <p:cNvCxnSpPr>
            <a:cxnSpLocks/>
          </p:cNvCxnSpPr>
          <p:nvPr/>
        </p:nvCxnSpPr>
        <p:spPr>
          <a:xfrm>
            <a:off x="6858000" y="5162282"/>
            <a:ext cx="1929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6475AB8-66D3-9765-CA56-4D5D02040A89}"/>
              </a:ext>
            </a:extLst>
          </p:cNvPr>
          <p:cNvCxnSpPr>
            <a:cxnSpLocks/>
          </p:cNvCxnSpPr>
          <p:nvPr/>
        </p:nvCxnSpPr>
        <p:spPr>
          <a:xfrm flipV="1">
            <a:off x="6553200" y="5162282"/>
            <a:ext cx="304800" cy="2819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D978AE2-958A-7251-E727-60AFB4C7BDD1}"/>
              </a:ext>
            </a:extLst>
          </p:cNvPr>
          <p:cNvCxnSpPr>
            <a:cxnSpLocks/>
          </p:cNvCxnSpPr>
          <p:nvPr/>
        </p:nvCxnSpPr>
        <p:spPr>
          <a:xfrm>
            <a:off x="7795260" y="4858826"/>
            <a:ext cx="2606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3442728-0ACD-BC0C-A40B-AAA8B5EC72C5}"/>
              </a:ext>
            </a:extLst>
          </p:cNvPr>
          <p:cNvCxnSpPr>
            <a:cxnSpLocks/>
          </p:cNvCxnSpPr>
          <p:nvPr/>
        </p:nvCxnSpPr>
        <p:spPr>
          <a:xfrm>
            <a:off x="5858647" y="3866060"/>
            <a:ext cx="6945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41F3FE3-334E-CB40-CC9A-FFC6118BDDED}"/>
              </a:ext>
            </a:extLst>
          </p:cNvPr>
          <p:cNvCxnSpPr>
            <a:cxnSpLocks/>
          </p:cNvCxnSpPr>
          <p:nvPr/>
        </p:nvCxnSpPr>
        <p:spPr>
          <a:xfrm>
            <a:off x="6804877" y="3831770"/>
            <a:ext cx="24608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5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E65C1-D693-4EBA-BF37-49FD8AE6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Store</a:t>
            </a:r>
            <a:r>
              <a:rPr lang="zh-CN" altLang="en-US" dirty="0"/>
              <a:t>访存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ADB0A0-7662-465F-BDE6-35E10C97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D995-88A0-46FA-B356-FA459EF841CD}" type="slidenum">
              <a:rPr lang="en-US" altLang="zh-CN" smtClean="0"/>
              <a:pPr/>
              <a:t>53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6632C2-35D4-4EBA-9E7A-BA229912D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1248"/>
          <a:stretch/>
        </p:blipFill>
        <p:spPr>
          <a:xfrm>
            <a:off x="96981" y="1490540"/>
            <a:ext cx="8950037" cy="536746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F6AC87EE-D089-4D18-9ADD-A121D7ABA0F0}"/>
              </a:ext>
            </a:extLst>
          </p:cNvPr>
          <p:cNvSpPr/>
          <p:nvPr/>
        </p:nvSpPr>
        <p:spPr>
          <a:xfrm>
            <a:off x="7898006" y="708025"/>
            <a:ext cx="1049294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MemWrite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IorD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196B77-5D55-0A49-B4D8-608C24B1960C}"/>
              </a:ext>
            </a:extLst>
          </p:cNvPr>
          <p:cNvCxnSpPr/>
          <p:nvPr/>
        </p:nvCxnSpPr>
        <p:spPr>
          <a:xfrm>
            <a:off x="1093595" y="4399722"/>
            <a:ext cx="350892" cy="0"/>
          </a:xfrm>
          <a:prstGeom prst="straightConnector1">
            <a:avLst/>
          </a:prstGeom>
          <a:ln w="57150"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1278B69-E314-44EB-BF67-F64E6E5B63A5}"/>
              </a:ext>
            </a:extLst>
          </p:cNvPr>
          <p:cNvSpPr txBox="1"/>
          <p:nvPr/>
        </p:nvSpPr>
        <p:spPr>
          <a:xfrm>
            <a:off x="4410640" y="1305874"/>
            <a:ext cx="2505726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Mem[ALUOut] &lt;= B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51B516C-B76E-4360-9935-E0194BDAD3DC}"/>
              </a:ext>
            </a:extLst>
          </p:cNvPr>
          <p:cNvCxnSpPr>
            <a:cxnSpLocks/>
          </p:cNvCxnSpPr>
          <p:nvPr/>
        </p:nvCxnSpPr>
        <p:spPr>
          <a:xfrm>
            <a:off x="1120451" y="4399722"/>
            <a:ext cx="267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BD6729-BFFE-8697-E9DC-DD5645EF5D03}"/>
              </a:ext>
            </a:extLst>
          </p:cNvPr>
          <p:cNvCxnSpPr>
            <a:cxnSpLocks/>
          </p:cNvCxnSpPr>
          <p:nvPr/>
        </p:nvCxnSpPr>
        <p:spPr>
          <a:xfrm flipV="1">
            <a:off x="1093595" y="3505095"/>
            <a:ext cx="385493" cy="1653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E7C76C4-6C00-5A83-EA88-6C06F0B4522B}"/>
              </a:ext>
            </a:extLst>
          </p:cNvPr>
          <p:cNvCxnSpPr>
            <a:cxnSpLocks/>
          </p:cNvCxnSpPr>
          <p:nvPr/>
        </p:nvCxnSpPr>
        <p:spPr>
          <a:xfrm flipV="1">
            <a:off x="1093595" y="4399722"/>
            <a:ext cx="0" cy="19553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ABF8ECD-8B6A-5173-B5FE-2B79E8AC43B8}"/>
              </a:ext>
            </a:extLst>
          </p:cNvPr>
          <p:cNvCxnSpPr>
            <a:cxnSpLocks/>
          </p:cNvCxnSpPr>
          <p:nvPr/>
        </p:nvCxnSpPr>
        <p:spPr>
          <a:xfrm>
            <a:off x="1093595" y="6355080"/>
            <a:ext cx="54596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1397EF-C1BA-5644-F060-C4DA210424D2}"/>
              </a:ext>
            </a:extLst>
          </p:cNvPr>
          <p:cNvCxnSpPr>
            <a:cxnSpLocks/>
          </p:cNvCxnSpPr>
          <p:nvPr/>
        </p:nvCxnSpPr>
        <p:spPr>
          <a:xfrm flipV="1">
            <a:off x="6560820" y="5210320"/>
            <a:ext cx="0" cy="11447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055FD85-CF66-A661-41D7-7B236CB2EFE1}"/>
              </a:ext>
            </a:extLst>
          </p:cNvPr>
          <p:cNvCxnSpPr>
            <a:cxnSpLocks/>
          </p:cNvCxnSpPr>
          <p:nvPr/>
        </p:nvCxnSpPr>
        <p:spPr>
          <a:xfrm flipV="1">
            <a:off x="838761" y="3670420"/>
            <a:ext cx="0" cy="27989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4657384-2105-7949-6473-5BE1D2CC5284}"/>
              </a:ext>
            </a:extLst>
          </p:cNvPr>
          <p:cNvCxnSpPr>
            <a:cxnSpLocks/>
          </p:cNvCxnSpPr>
          <p:nvPr/>
        </p:nvCxnSpPr>
        <p:spPr>
          <a:xfrm flipH="1">
            <a:off x="805361" y="6469380"/>
            <a:ext cx="82416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071628B-E154-4BA3-D116-1B2B81F2764C}"/>
              </a:ext>
            </a:extLst>
          </p:cNvPr>
          <p:cNvCxnSpPr>
            <a:cxnSpLocks/>
          </p:cNvCxnSpPr>
          <p:nvPr/>
        </p:nvCxnSpPr>
        <p:spPr>
          <a:xfrm flipV="1">
            <a:off x="9017879" y="4974590"/>
            <a:ext cx="0" cy="15087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DEB0493-78DB-C1F7-E710-BEF748C15078}"/>
              </a:ext>
            </a:extLst>
          </p:cNvPr>
          <p:cNvCxnSpPr>
            <a:cxnSpLocks/>
          </p:cNvCxnSpPr>
          <p:nvPr/>
        </p:nvCxnSpPr>
        <p:spPr>
          <a:xfrm>
            <a:off x="8879915" y="4974590"/>
            <a:ext cx="1347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A6D5CA7-90B5-9D6E-2B61-3EF8867F06E9}"/>
              </a:ext>
            </a:extLst>
          </p:cNvPr>
          <p:cNvCxnSpPr>
            <a:cxnSpLocks/>
          </p:cNvCxnSpPr>
          <p:nvPr/>
        </p:nvCxnSpPr>
        <p:spPr>
          <a:xfrm>
            <a:off x="826398" y="3670420"/>
            <a:ext cx="267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33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D269E-45ED-48D3-9514-5416F28E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Load</a:t>
            </a:r>
            <a:r>
              <a:rPr lang="zh-CN" altLang="en-US" dirty="0"/>
              <a:t>访存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330A914-B326-4E60-B44F-3618150F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D995-88A0-46FA-B356-FA459EF841CD}" type="slidenum">
              <a:rPr lang="en-US" altLang="zh-CN" smtClean="0"/>
              <a:pPr/>
              <a:t>54</a:t>
            </a:fld>
            <a:endParaRPr lang="en-US" altLang="zh-CN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5DB32C9-227C-4CCE-8D01-A7CE67697A10}"/>
              </a:ext>
            </a:extLst>
          </p:cNvPr>
          <p:cNvSpPr/>
          <p:nvPr/>
        </p:nvSpPr>
        <p:spPr>
          <a:xfrm>
            <a:off x="7898005" y="755883"/>
            <a:ext cx="1045273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MemRead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IorD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224FC5-CDF2-407E-BFB4-E76A14E81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7"/>
          <a:stretch/>
        </p:blipFill>
        <p:spPr>
          <a:xfrm>
            <a:off x="46182" y="1430530"/>
            <a:ext cx="9051636" cy="54274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278A70C-F442-4EB9-B6D7-11C6264CA04A}"/>
              </a:ext>
            </a:extLst>
          </p:cNvPr>
          <p:cNvSpPr txBox="1"/>
          <p:nvPr/>
        </p:nvSpPr>
        <p:spPr>
          <a:xfrm>
            <a:off x="4225815" y="1305874"/>
            <a:ext cx="2875376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MDR &lt;= Mem[ALUOut]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FFCC7EC-44C5-EC17-B1AA-42F11DA25F9E}"/>
              </a:ext>
            </a:extLst>
          </p:cNvPr>
          <p:cNvCxnSpPr>
            <a:cxnSpLocks/>
          </p:cNvCxnSpPr>
          <p:nvPr/>
        </p:nvCxnSpPr>
        <p:spPr>
          <a:xfrm>
            <a:off x="2571750" y="3871683"/>
            <a:ext cx="0" cy="14661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E791483-BDCE-6BB6-FDF1-AF2AF52F9ECB}"/>
              </a:ext>
            </a:extLst>
          </p:cNvPr>
          <p:cNvCxnSpPr>
            <a:cxnSpLocks/>
          </p:cNvCxnSpPr>
          <p:nvPr/>
        </p:nvCxnSpPr>
        <p:spPr>
          <a:xfrm>
            <a:off x="2057400" y="3626569"/>
            <a:ext cx="742950" cy="245114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BD8283A1-991C-ACB3-B9DE-44D066B58938}"/>
              </a:ext>
            </a:extLst>
          </p:cNvPr>
          <p:cNvSpPr/>
          <p:nvPr/>
        </p:nvSpPr>
        <p:spPr>
          <a:xfrm>
            <a:off x="1381326" y="5126923"/>
            <a:ext cx="1027850" cy="324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F08D374-6F44-C722-7209-6EA7796447CB}"/>
              </a:ext>
            </a:extLst>
          </p:cNvPr>
          <p:cNvCxnSpPr>
            <a:cxnSpLocks/>
          </p:cNvCxnSpPr>
          <p:nvPr/>
        </p:nvCxnSpPr>
        <p:spPr>
          <a:xfrm flipV="1">
            <a:off x="838761" y="3670420"/>
            <a:ext cx="0" cy="27989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974ABD1-E76C-5771-9B85-0487434712D5}"/>
              </a:ext>
            </a:extLst>
          </p:cNvPr>
          <p:cNvCxnSpPr>
            <a:cxnSpLocks/>
          </p:cNvCxnSpPr>
          <p:nvPr/>
        </p:nvCxnSpPr>
        <p:spPr>
          <a:xfrm flipH="1">
            <a:off x="805361" y="6469380"/>
            <a:ext cx="82416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039E388-2918-B867-3916-12B45C6379EB}"/>
              </a:ext>
            </a:extLst>
          </p:cNvPr>
          <p:cNvCxnSpPr>
            <a:cxnSpLocks/>
          </p:cNvCxnSpPr>
          <p:nvPr/>
        </p:nvCxnSpPr>
        <p:spPr>
          <a:xfrm flipV="1">
            <a:off x="9047018" y="4974590"/>
            <a:ext cx="0" cy="15087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9F5003B-5885-4C94-7CA7-33B4B4383C4A}"/>
              </a:ext>
            </a:extLst>
          </p:cNvPr>
          <p:cNvCxnSpPr>
            <a:cxnSpLocks/>
          </p:cNvCxnSpPr>
          <p:nvPr/>
        </p:nvCxnSpPr>
        <p:spPr>
          <a:xfrm>
            <a:off x="8912248" y="4974590"/>
            <a:ext cx="13477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02E115C-66CB-19F1-4C1F-08775A1B29CC}"/>
              </a:ext>
            </a:extLst>
          </p:cNvPr>
          <p:cNvCxnSpPr>
            <a:cxnSpLocks/>
          </p:cNvCxnSpPr>
          <p:nvPr/>
        </p:nvCxnSpPr>
        <p:spPr>
          <a:xfrm>
            <a:off x="826398" y="3670420"/>
            <a:ext cx="267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FF409C-C66F-D639-E859-1282FAE85BB7}"/>
              </a:ext>
            </a:extLst>
          </p:cNvPr>
          <p:cNvCxnSpPr>
            <a:cxnSpLocks/>
          </p:cNvCxnSpPr>
          <p:nvPr/>
        </p:nvCxnSpPr>
        <p:spPr>
          <a:xfrm>
            <a:off x="2571750" y="5337810"/>
            <a:ext cx="26719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15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77053-44F8-4253-B85A-1DAC5C39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多周期功能描述：</a:t>
            </a:r>
            <a:r>
              <a:rPr lang="en-US" altLang="zh-CN" dirty="0"/>
              <a:t>Load</a:t>
            </a:r>
            <a:r>
              <a:rPr lang="zh-CN" altLang="en-US" dirty="0"/>
              <a:t>写回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022463-4539-4297-BE1C-B0F4C947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3D995-88A0-46FA-B356-FA459EF841CD}" type="slidenum">
              <a:rPr lang="en-US" altLang="zh-CN" smtClean="0"/>
              <a:pPr/>
              <a:t>55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DB559A-5E8D-44A0-BB53-062643818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23"/>
          <a:stretch/>
        </p:blipFill>
        <p:spPr>
          <a:xfrm>
            <a:off x="58444" y="1452337"/>
            <a:ext cx="9027111" cy="5405663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7EA6A5CE-E768-42D7-BD42-23C20D0E486D}"/>
              </a:ext>
            </a:extLst>
          </p:cNvPr>
          <p:cNvSpPr/>
          <p:nvPr/>
        </p:nvSpPr>
        <p:spPr>
          <a:xfrm>
            <a:off x="7898005" y="708025"/>
            <a:ext cx="1187549" cy="838200"/>
          </a:xfrm>
          <a:prstGeom prst="roundRect">
            <a:avLst>
              <a:gd name="adj" fmla="val 27203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tIns="0" bIns="0" rtlCol="0" anchor="ctr" anchorCtr="1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RegWrite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RegDst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=0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MemtoReg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=1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FFF430-30C4-4BBF-8A59-22623ADC0A56}"/>
              </a:ext>
            </a:extLst>
          </p:cNvPr>
          <p:cNvSpPr txBox="1"/>
          <p:nvPr/>
        </p:nvSpPr>
        <p:spPr>
          <a:xfrm>
            <a:off x="4323091" y="1305874"/>
            <a:ext cx="268082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Reg[IR[20:16]] &lt;= MDR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16B6F9-6289-6775-B295-668CBB9C4E2E}"/>
              </a:ext>
            </a:extLst>
          </p:cNvPr>
          <p:cNvSpPr/>
          <p:nvPr/>
        </p:nvSpPr>
        <p:spPr>
          <a:xfrm>
            <a:off x="4647462" y="6561537"/>
            <a:ext cx="213756" cy="271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E0A59B-399E-A679-4F83-B5AABB1632BD}"/>
              </a:ext>
            </a:extLst>
          </p:cNvPr>
          <p:cNvSpPr/>
          <p:nvPr/>
        </p:nvSpPr>
        <p:spPr>
          <a:xfrm>
            <a:off x="4671263" y="2379970"/>
            <a:ext cx="213756" cy="15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BFF2EB-5B4E-7176-0557-423ADBE95E03}"/>
              </a:ext>
            </a:extLst>
          </p:cNvPr>
          <p:cNvSpPr txBox="1"/>
          <p:nvPr/>
        </p:nvSpPr>
        <p:spPr>
          <a:xfrm>
            <a:off x="4462376" y="2324385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1E5B2D-5411-0BDA-2644-1900702FA9AB}"/>
              </a:ext>
            </a:extLst>
          </p:cNvPr>
          <p:cNvSpPr txBox="1"/>
          <p:nvPr/>
        </p:nvSpPr>
        <p:spPr>
          <a:xfrm>
            <a:off x="4448831" y="6622535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20F811E-DFAF-1664-70BF-1A5ED7F24082}"/>
              </a:ext>
            </a:extLst>
          </p:cNvPr>
          <p:cNvCxnSpPr>
            <a:cxnSpLocks/>
          </p:cNvCxnSpPr>
          <p:nvPr/>
        </p:nvCxnSpPr>
        <p:spPr>
          <a:xfrm>
            <a:off x="3736325" y="4272006"/>
            <a:ext cx="934938" cy="6657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49A4899-98E2-E290-3B5B-BC9CC6AD6A4C}"/>
              </a:ext>
            </a:extLst>
          </p:cNvPr>
          <p:cNvCxnSpPr>
            <a:cxnSpLocks/>
          </p:cNvCxnSpPr>
          <p:nvPr/>
        </p:nvCxnSpPr>
        <p:spPr>
          <a:xfrm flipV="1">
            <a:off x="3736325" y="5223510"/>
            <a:ext cx="1018555" cy="1821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F46A82C-7994-0BC7-DE2B-CF8944DC9014}"/>
              </a:ext>
            </a:extLst>
          </p:cNvPr>
          <p:cNvSpPr/>
          <p:nvPr/>
        </p:nvSpPr>
        <p:spPr>
          <a:xfrm>
            <a:off x="3982770" y="2334318"/>
            <a:ext cx="934938" cy="261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F36CA4-D4D4-3C4A-CD86-B90CD0CDB842}"/>
              </a:ext>
            </a:extLst>
          </p:cNvPr>
          <p:cNvSpPr/>
          <p:nvPr/>
        </p:nvSpPr>
        <p:spPr>
          <a:xfrm>
            <a:off x="5173051" y="2365590"/>
            <a:ext cx="934938" cy="261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165D25-97CA-4545-877B-945E21EC2D84}"/>
              </a:ext>
            </a:extLst>
          </p:cNvPr>
          <p:cNvSpPr/>
          <p:nvPr/>
        </p:nvSpPr>
        <p:spPr>
          <a:xfrm>
            <a:off x="3777284" y="6612601"/>
            <a:ext cx="1018555" cy="2208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99AA1467-C929-1484-C4CB-F496F40F94D0}"/>
                  </a:ext>
                </a:extLst>
              </p14:cNvPr>
              <p14:cNvContentPartPr/>
              <p14:nvPr/>
            </p14:nvContentPartPr>
            <p14:xfrm>
              <a:off x="7171920" y="2909520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99AA1467-C929-1484-C4CB-F496F40F94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2560" y="2900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73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DA8CE-0979-408F-BAAE-0531F733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56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81D8DA-3D2A-48C8-957D-9B00BA4948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0293" y="438085"/>
            <a:ext cx="8499707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dirty="0">
                <a:latin typeface="+mn-lt"/>
                <a:ea typeface="+mn-ea"/>
              </a:rPr>
              <a:t>上述的多周期通路中，由于某些错误，使得控制信号 </a:t>
            </a:r>
            <a:r>
              <a:rPr lang="en-US" altLang="zh-CN" sz="2400" b="1" dirty="0" err="1">
                <a:latin typeface="+mn-lt"/>
                <a:ea typeface="+mn-ea"/>
              </a:rPr>
              <a:t>IRWrite</a:t>
            </a:r>
            <a:r>
              <a:rPr lang="en-US" altLang="zh-CN" sz="2400" b="1" dirty="0">
                <a:latin typeface="+mn-lt"/>
                <a:ea typeface="+mn-ea"/>
              </a:rPr>
              <a:t> </a:t>
            </a:r>
            <a:r>
              <a:rPr lang="zh-CN" altLang="en-US" sz="2400" b="1" dirty="0">
                <a:latin typeface="+mn-lt"/>
                <a:ea typeface="+mn-ea"/>
              </a:rPr>
              <a:t>恒为</a:t>
            </a:r>
            <a:r>
              <a:rPr lang="en-US" altLang="zh-CN" sz="2400" b="1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。以下指令</a:t>
            </a:r>
            <a:r>
              <a:rPr lang="zh-CN" altLang="en-US" sz="2400" b="1" dirty="0">
                <a:solidFill>
                  <a:srgbClr val="3333FF"/>
                </a:solidFill>
                <a:latin typeface="+mn-lt"/>
                <a:ea typeface="+mn-ea"/>
              </a:rPr>
              <a:t>一定不能</a:t>
            </a:r>
            <a:r>
              <a:rPr lang="zh-CN" altLang="en-US" sz="2400" b="1" dirty="0">
                <a:latin typeface="+mn-lt"/>
                <a:ea typeface="+mn-ea"/>
              </a:rPr>
              <a:t>正确执行的有哪些？</a:t>
            </a:r>
            <a:endParaRPr lang="en-US" altLang="zh-CN" sz="2400" b="1" dirty="0"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83D826-755C-404A-BD1C-52D030CE64D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68375" y="27860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sw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AD2472-DCC9-4AED-A1C1-B1A755061D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68375" y="36433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beq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A0D6DC-0F75-4D7A-BEFA-DCEA76F31C1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68375" y="45005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lw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D2D5FB-4A1B-463A-810C-F81D4597010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8375" y="53578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以上都是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CBDA90-5BD3-4E28-A982-C47283816FD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54000" y="285035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54D4B16-78AD-4D64-922B-C37B2A871D7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54000" y="370760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57E01CF-EC9B-458D-8C9E-773D6ECED94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4000" y="456485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8EF6C59-9F56-4E19-9C4A-E38D999238C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54000" y="542210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AFF3862-D7BE-4738-AFB0-FC9D15E8609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410325" y="6376987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" name="图片 22">
            <a:extLst>
              <a:ext uri="{FF2B5EF4-FFF2-40B4-BE49-F238E27FC236}">
                <a16:creationId xmlns:a16="http://schemas.microsoft.com/office/drawing/2014/main" id="{582453BA-53FF-D258-CFCC-3AC3503801BA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1251"/>
          <a:stretch/>
        </p:blipFill>
        <p:spPr>
          <a:xfrm>
            <a:off x="1726499" y="2297974"/>
            <a:ext cx="6746941" cy="4052839"/>
          </a:xfrm>
          <a:prstGeom prst="rect">
            <a:avLst/>
          </a:prstGeom>
        </p:spPr>
      </p:pic>
      <p:sp>
        <p:nvSpPr>
          <p:cNvPr id="25" name="Freeform 8">
            <a:extLst>
              <a:ext uri="{FF2B5EF4-FFF2-40B4-BE49-F238E27FC236}">
                <a16:creationId xmlns:a16="http://schemas.microsoft.com/office/drawing/2014/main" id="{358FEB2E-9BDA-D551-A231-C47529F5DED4}"/>
              </a:ext>
            </a:extLst>
          </p:cNvPr>
          <p:cNvSpPr/>
          <p:nvPr/>
        </p:nvSpPr>
        <p:spPr>
          <a:xfrm>
            <a:off x="2423159" y="4502898"/>
            <a:ext cx="4210181" cy="1527243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CC9BDD1-024E-4CA2-B2CC-EB38E02C282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02B5DC91-5C4E-4165-A360-0CF46CAC8A0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E1E33E32-908D-453C-B33A-341902452C4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3C01CFCA-F6CB-4CA9-B1A6-D72F289E442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2DC1C1B5-FC86-45F7-AD0B-BC1244A96B2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C2AB043-B77A-4342-9FDD-2A5873A32B6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89622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B810A-3FE0-4FE2-90C8-892F5814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36EA2-ADE1-044F-B3A1-83ED6A5B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57</a:t>
            </a:fld>
            <a:endParaRPr lang="en-US" altLang="zh-CN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4B54285-7A66-6A4C-D922-91175188EC7A}"/>
              </a:ext>
            </a:extLst>
          </p:cNvPr>
          <p:cNvGrpSpPr/>
          <p:nvPr/>
        </p:nvGrpSpPr>
        <p:grpSpPr>
          <a:xfrm>
            <a:off x="1146636" y="2832972"/>
            <a:ext cx="6473363" cy="3888503"/>
            <a:chOff x="1146636" y="2668636"/>
            <a:chExt cx="6746941" cy="4052839"/>
          </a:xfrm>
        </p:grpSpPr>
        <p:pic>
          <p:nvPicPr>
            <p:cNvPr id="10" name="图片 22">
              <a:extLst>
                <a:ext uri="{FF2B5EF4-FFF2-40B4-BE49-F238E27FC236}">
                  <a16:creationId xmlns:a16="http://schemas.microsoft.com/office/drawing/2014/main" id="{418752AD-C33C-524D-9EA3-F578BF25B0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251"/>
            <a:stretch/>
          </p:blipFill>
          <p:spPr>
            <a:xfrm>
              <a:off x="1146636" y="2668636"/>
              <a:ext cx="6746941" cy="4052839"/>
            </a:xfrm>
            <a:prstGeom prst="rect">
              <a:avLst/>
            </a:prstGeom>
          </p:spPr>
        </p:pic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CFF4E34E-9A73-4541-AC69-1B5997FD483B}"/>
                </a:ext>
              </a:extLst>
            </p:cNvPr>
            <p:cNvSpPr/>
            <p:nvPr/>
          </p:nvSpPr>
          <p:spPr>
            <a:xfrm>
              <a:off x="1843296" y="4873560"/>
              <a:ext cx="4210181" cy="1527243"/>
            </a:xfrm>
            <a:custGeom>
              <a:avLst/>
              <a:gdLst>
                <a:gd name="connsiteX0" fmla="*/ 5554493 w 5554493"/>
                <a:gd name="connsiteY0" fmla="*/ 700391 h 2013625"/>
                <a:gd name="connsiteX1" fmla="*/ 5554493 w 5554493"/>
                <a:gd name="connsiteY1" fmla="*/ 2013625 h 2013625"/>
                <a:gd name="connsiteX2" fmla="*/ 0 w 5554493"/>
                <a:gd name="connsiteY2" fmla="*/ 2013625 h 2013625"/>
                <a:gd name="connsiteX3" fmla="*/ 0 w 5554493"/>
                <a:gd name="connsiteY3" fmla="*/ 1663429 h 2013625"/>
                <a:gd name="connsiteX4" fmla="*/ 0 w 5554493"/>
                <a:gd name="connsiteY4" fmla="*/ 0 h 2013625"/>
                <a:gd name="connsiteX5" fmla="*/ 126459 w 5554493"/>
                <a:gd name="connsiteY5" fmla="*/ 0 h 2013625"/>
                <a:gd name="connsiteX6" fmla="*/ 398834 w 5554493"/>
                <a:gd name="connsiteY6" fmla="*/ 0 h 20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54493" h="2013625">
                  <a:moveTo>
                    <a:pt x="5554493" y="700391"/>
                  </a:moveTo>
                  <a:lnTo>
                    <a:pt x="5554493" y="2013625"/>
                  </a:lnTo>
                  <a:lnTo>
                    <a:pt x="0" y="2013625"/>
                  </a:lnTo>
                  <a:lnTo>
                    <a:pt x="0" y="1663429"/>
                  </a:lnTo>
                  <a:lnTo>
                    <a:pt x="0" y="0"/>
                  </a:lnTo>
                  <a:lnTo>
                    <a:pt x="126459" y="0"/>
                  </a:lnTo>
                  <a:lnTo>
                    <a:pt x="39883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87046E0-7E33-E554-EE39-506FBD1434DC}"/>
                </a:ext>
              </a:extLst>
            </p:cNvPr>
            <p:cNvGrpSpPr/>
            <p:nvPr/>
          </p:nvGrpSpPr>
          <p:grpSpPr>
            <a:xfrm>
              <a:off x="1739249" y="4141131"/>
              <a:ext cx="6134249" cy="2285167"/>
              <a:chOff x="851855" y="3507120"/>
              <a:chExt cx="8160263" cy="2964285"/>
            </a:xfrm>
          </p:grpSpPr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A10A5EE8-34A5-2961-E586-8E3ACA994D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1855" y="3507120"/>
                <a:ext cx="686771" cy="24466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383B9409-BC20-0289-C797-7C2F37441E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1855" y="3751782"/>
                <a:ext cx="18325" cy="271962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69F6D46-C691-6C42-CA30-6B56583D3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4900" y="6471405"/>
                <a:ext cx="8141939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87D964BA-DA3A-7C5F-CFD9-54FB934AF5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06839" y="5054085"/>
                <a:ext cx="5279" cy="141732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584C9DD5-8E30-07E8-255B-36B132AFD0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72069" y="5054085"/>
                <a:ext cx="134770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8596DD8-6641-E45D-5BB5-7BB070826E78}"/>
                </a:ext>
              </a:extLst>
            </p:cNvPr>
            <p:cNvCxnSpPr>
              <a:cxnSpLocks/>
            </p:cNvCxnSpPr>
            <p:nvPr/>
          </p:nvCxnSpPr>
          <p:spPr>
            <a:xfrm>
              <a:off x="3026849" y="4508322"/>
              <a:ext cx="0" cy="107521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806000F0-2E9D-F444-B222-9B83947CA7F0}"/>
                </a:ext>
              </a:extLst>
            </p:cNvPr>
            <p:cNvCxnSpPr>
              <a:cxnSpLocks/>
            </p:cNvCxnSpPr>
            <p:nvPr/>
          </p:nvCxnSpPr>
          <p:spPr>
            <a:xfrm>
              <a:off x="3920297" y="4695055"/>
              <a:ext cx="689060" cy="5742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1B2D18CA-737E-8F7C-F383-264B4F7650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3762" y="5447794"/>
              <a:ext cx="901789" cy="13573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B7339F1-7548-0985-D8C9-4571288EC54D}"/>
                </a:ext>
              </a:extLst>
            </p:cNvPr>
            <p:cNvSpPr/>
            <p:nvPr/>
          </p:nvSpPr>
          <p:spPr>
            <a:xfrm>
              <a:off x="4141888" y="3277773"/>
              <a:ext cx="467469" cy="2214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58B6589-91C5-EDD7-CC8F-2A68A98E1EC2}"/>
                </a:ext>
              </a:extLst>
            </p:cNvPr>
            <p:cNvSpPr/>
            <p:nvPr/>
          </p:nvSpPr>
          <p:spPr>
            <a:xfrm>
              <a:off x="5070402" y="3303965"/>
              <a:ext cx="467469" cy="2214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70E546E-01ED-A83B-1D13-CA13568E2DC8}"/>
                </a:ext>
              </a:extLst>
            </p:cNvPr>
            <p:cNvSpPr/>
            <p:nvPr/>
          </p:nvSpPr>
          <p:spPr>
            <a:xfrm>
              <a:off x="2214209" y="5447794"/>
              <a:ext cx="560367" cy="1947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A06FA0-E5BA-2B0B-C302-035E8E9508C8}"/>
                </a:ext>
              </a:extLst>
            </p:cNvPr>
            <p:cNvSpPr/>
            <p:nvPr/>
          </p:nvSpPr>
          <p:spPr>
            <a:xfrm>
              <a:off x="3969716" y="6504803"/>
              <a:ext cx="775835" cy="1996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206FDD8-C945-0F67-A3DD-4F8B01ED6BAC}"/>
              </a:ext>
            </a:extLst>
          </p:cNvPr>
          <p:cNvSpPr txBox="1"/>
          <p:nvPr/>
        </p:nvSpPr>
        <p:spPr>
          <a:xfrm>
            <a:off x="469710" y="1239705"/>
            <a:ext cx="82968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+mn-lt"/>
                <a:ea typeface="+mn-ea"/>
              </a:rPr>
              <a:t>上述的多周期通路中，由于某些错误，使得控制信号 </a:t>
            </a:r>
            <a:r>
              <a:rPr lang="en-US" altLang="zh-CN" sz="2000" b="1" dirty="0" err="1">
                <a:latin typeface="+mn-lt"/>
                <a:ea typeface="+mn-ea"/>
              </a:rPr>
              <a:t>IRWrite</a:t>
            </a:r>
            <a:r>
              <a:rPr lang="en-US" altLang="zh-CN" sz="2000" b="1" dirty="0">
                <a:latin typeface="+mn-lt"/>
                <a:ea typeface="+mn-ea"/>
              </a:rPr>
              <a:t> </a:t>
            </a:r>
            <a:r>
              <a:rPr lang="zh-CN" altLang="en-US" sz="2000" b="1" dirty="0">
                <a:latin typeface="+mn-lt"/>
                <a:ea typeface="+mn-ea"/>
              </a:rPr>
              <a:t>恒为</a:t>
            </a:r>
            <a:r>
              <a:rPr lang="en-US" altLang="zh-CN" sz="2000" b="1" dirty="0">
                <a:latin typeface="+mn-lt"/>
                <a:ea typeface="+mn-ea"/>
              </a:rPr>
              <a:t>1</a:t>
            </a:r>
            <a:r>
              <a:rPr lang="zh-CN" altLang="en-US" sz="2000" b="1" dirty="0">
                <a:latin typeface="+mn-lt"/>
                <a:ea typeface="+mn-ea"/>
              </a:rPr>
              <a:t>。以下指令不能正确执行的有哪些？</a:t>
            </a:r>
            <a:endParaRPr lang="en-US" altLang="zh-CN" sz="2000" b="1" dirty="0">
              <a:latin typeface="+mn-lt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+mn-lt"/>
                <a:ea typeface="+mn-ea"/>
              </a:rPr>
              <a:t>A. </a:t>
            </a:r>
            <a:r>
              <a:rPr lang="en-US" altLang="zh-CN" sz="2000" b="1" dirty="0" err="1">
                <a:latin typeface="+mn-lt"/>
                <a:ea typeface="+mn-ea"/>
              </a:rPr>
              <a:t>sw</a:t>
            </a:r>
            <a:r>
              <a:rPr lang="en-US" altLang="zh-CN" sz="2000" b="1" dirty="0">
                <a:latin typeface="+mn-lt"/>
                <a:ea typeface="+mn-ea"/>
              </a:rPr>
              <a:t>; B. </a:t>
            </a:r>
            <a:r>
              <a:rPr lang="en-US" altLang="zh-CN" sz="2000" b="1" dirty="0" err="1">
                <a:latin typeface="+mn-lt"/>
                <a:ea typeface="+mn-ea"/>
              </a:rPr>
              <a:t>beq</a:t>
            </a:r>
            <a:r>
              <a:rPr lang="en-US" altLang="zh-CN" sz="2000" b="1" dirty="0">
                <a:latin typeface="+mn-lt"/>
                <a:ea typeface="+mn-ea"/>
              </a:rPr>
              <a:t>; </a:t>
            </a:r>
            <a:r>
              <a:rPr lang="en-US" altLang="zh-CN" sz="2000" b="1" dirty="0">
                <a:solidFill>
                  <a:srgbClr val="3333FF"/>
                </a:solidFill>
                <a:latin typeface="+mn-lt"/>
                <a:ea typeface="+mn-ea"/>
              </a:rPr>
              <a:t>C. </a:t>
            </a:r>
            <a:r>
              <a:rPr lang="en-US" altLang="zh-CN" sz="2000" b="1" dirty="0" err="1">
                <a:solidFill>
                  <a:srgbClr val="3333FF"/>
                </a:solidFill>
                <a:latin typeface="+mn-lt"/>
                <a:ea typeface="+mn-ea"/>
              </a:rPr>
              <a:t>lw</a:t>
            </a:r>
            <a:r>
              <a:rPr lang="en-US" altLang="zh-CN" sz="2000" b="1" dirty="0">
                <a:latin typeface="+mn-lt"/>
                <a:ea typeface="+mn-ea"/>
              </a:rPr>
              <a:t>; D. </a:t>
            </a:r>
            <a:r>
              <a:rPr lang="zh-CN" altLang="en-US" sz="2000" b="1" dirty="0">
                <a:latin typeface="+mn-lt"/>
                <a:ea typeface="+mn-ea"/>
              </a:rPr>
              <a:t>以上都是</a:t>
            </a:r>
            <a:endParaRPr lang="en-US" altLang="zh-CN" sz="2000" b="1" dirty="0">
              <a:latin typeface="+mn-lt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3333FF"/>
                </a:solidFill>
                <a:latin typeface="+mn-lt"/>
                <a:ea typeface="+mn-ea"/>
              </a:rPr>
              <a:t>解答：</a:t>
            </a:r>
            <a:r>
              <a:rPr lang="en-US" altLang="zh-CN" sz="2000" b="1" dirty="0">
                <a:solidFill>
                  <a:srgbClr val="3333FF"/>
                </a:solidFill>
                <a:latin typeface="+mn-lt"/>
                <a:ea typeface="+mn-ea"/>
              </a:rPr>
              <a:t>C</a:t>
            </a:r>
            <a:r>
              <a:rPr lang="zh-CN" altLang="en-US" sz="2000" b="1" dirty="0">
                <a:latin typeface="+mn-lt"/>
                <a:ea typeface="+mn-ea"/>
              </a:rPr>
              <a:t>；</a:t>
            </a:r>
            <a:r>
              <a:rPr lang="en-US" altLang="zh-CN" sz="2000" b="1" dirty="0" err="1">
                <a:latin typeface="+mn-lt"/>
                <a:ea typeface="+mn-ea"/>
              </a:rPr>
              <a:t>IRWrite</a:t>
            </a:r>
            <a:r>
              <a:rPr lang="en-US" altLang="zh-CN" sz="2000" b="1" dirty="0">
                <a:latin typeface="+mn-lt"/>
                <a:ea typeface="+mn-ea"/>
              </a:rPr>
              <a:t> </a:t>
            </a:r>
            <a:r>
              <a:rPr lang="zh-CN" altLang="en-US" sz="2000" b="1" dirty="0">
                <a:latin typeface="+mn-lt"/>
                <a:ea typeface="+mn-ea"/>
              </a:rPr>
              <a:t>恒为</a:t>
            </a:r>
            <a:r>
              <a:rPr lang="en-US" altLang="zh-CN" sz="2000" b="1" dirty="0">
                <a:latin typeface="+mn-lt"/>
                <a:ea typeface="+mn-ea"/>
              </a:rPr>
              <a:t>1</a:t>
            </a:r>
            <a:r>
              <a:rPr lang="zh-CN" altLang="en-US" sz="2000" b="1" dirty="0">
                <a:latin typeface="+mn-lt"/>
                <a:ea typeface="+mn-ea"/>
              </a:rPr>
              <a:t>，导致</a:t>
            </a:r>
            <a:r>
              <a:rPr lang="en-US" altLang="zh-CN" sz="2000" b="1" dirty="0">
                <a:latin typeface="+mn-lt"/>
                <a:ea typeface="+mn-ea"/>
              </a:rPr>
              <a:t>Data Memory</a:t>
            </a:r>
            <a:r>
              <a:rPr lang="zh-CN" altLang="en-US" sz="2000" b="1" dirty="0">
                <a:latin typeface="+mn-lt"/>
                <a:ea typeface="+mn-ea"/>
              </a:rPr>
              <a:t>的</a:t>
            </a:r>
            <a:r>
              <a:rPr lang="en-US" altLang="zh-CN" sz="2000" b="1" dirty="0">
                <a:latin typeface="+mn-lt"/>
                <a:ea typeface="+mn-ea"/>
              </a:rPr>
              <a:t>output</a:t>
            </a:r>
            <a:r>
              <a:rPr lang="zh-CN" altLang="en-US" sz="2000" b="1" dirty="0">
                <a:latin typeface="+mn-lt"/>
                <a:ea typeface="+mn-ea"/>
              </a:rPr>
              <a:t>会被当做 </a:t>
            </a:r>
            <a:r>
              <a:rPr lang="en-US" altLang="zh-CN" sz="2000" b="1" dirty="0">
                <a:latin typeface="+mn-lt"/>
                <a:ea typeface="+mn-ea"/>
              </a:rPr>
              <a:t>Instruction</a:t>
            </a:r>
            <a:r>
              <a:rPr lang="zh-CN" altLang="en-US" sz="2000" b="1" dirty="0">
                <a:latin typeface="+mn-lt"/>
                <a:ea typeface="+mn-ea"/>
              </a:rPr>
              <a:t>写入到</a:t>
            </a:r>
            <a:r>
              <a:rPr lang="en-US" altLang="zh-CN" sz="2000" b="1" dirty="0">
                <a:latin typeface="+mn-lt"/>
                <a:ea typeface="+mn-ea"/>
              </a:rPr>
              <a:t>Instruction Register</a:t>
            </a:r>
            <a:r>
              <a:rPr lang="zh-CN" altLang="en-US" sz="2000" b="1" dirty="0">
                <a:latin typeface="+mn-lt"/>
                <a:ea typeface="+mn-ea"/>
              </a:rPr>
              <a:t>中，</a:t>
            </a:r>
            <a:r>
              <a:rPr lang="en-US" altLang="zh-CN" sz="2000" b="1" dirty="0" err="1">
                <a:solidFill>
                  <a:srgbClr val="3333FF"/>
                </a:solidFill>
                <a:latin typeface="+mn-lt"/>
                <a:ea typeface="+mn-ea"/>
              </a:rPr>
              <a:t>lw</a:t>
            </a:r>
            <a:r>
              <a:rPr lang="zh-CN" altLang="en-US" sz="2000" b="1" dirty="0">
                <a:solidFill>
                  <a:srgbClr val="3333FF"/>
                </a:solidFill>
                <a:latin typeface="+mn-lt"/>
                <a:ea typeface="+mn-ea"/>
              </a:rPr>
              <a:t>指令中</a:t>
            </a:r>
            <a:r>
              <a:rPr lang="en-US" altLang="zh-CN" sz="2000" b="1" dirty="0">
                <a:solidFill>
                  <a:srgbClr val="3333FF"/>
                </a:solidFill>
                <a:latin typeface="+mn-lt"/>
                <a:ea typeface="+mn-ea"/>
              </a:rPr>
              <a:t>rt</a:t>
            </a:r>
            <a:r>
              <a:rPr lang="zh-CN" altLang="en-US" sz="2000" b="1" dirty="0">
                <a:solidFill>
                  <a:srgbClr val="3333FF"/>
                </a:solidFill>
                <a:latin typeface="+mn-lt"/>
                <a:ea typeface="+mn-ea"/>
              </a:rPr>
              <a:t>信息被覆盖</a:t>
            </a:r>
            <a:r>
              <a:rPr lang="zh-CN" altLang="en-US" sz="2000" b="1" dirty="0">
                <a:latin typeface="+mn-lt"/>
                <a:ea typeface="+mn-ea"/>
              </a:rPr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+mn-lt"/>
              <a:ea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C616FCC-E8D6-41B4-2AB2-D44104330FFD}"/>
                  </a:ext>
                </a:extLst>
              </p14:cNvPr>
              <p14:cNvContentPartPr/>
              <p14:nvPr/>
            </p14:nvContentPartPr>
            <p14:xfrm>
              <a:off x="6792120" y="234216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C616FCC-E8D6-41B4-2AB2-D44104330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2760" y="2332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0064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06C219-76C7-4AC8-8CE9-BC347145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9DF1C9EE-A993-420F-AEC1-A4AB3ED092B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kern="0" dirty="0"/>
              <a:t>答案解析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40959081-E857-4D33-BC57-A06FF1A3BBFA}"/>
              </a:ext>
            </a:extLst>
          </p:cNvPr>
          <p:cNvSpPr txBox="1">
            <a:spLocks/>
          </p:cNvSpPr>
          <p:nvPr/>
        </p:nvSpPr>
        <p:spPr>
          <a:xfrm>
            <a:off x="742544" y="1387659"/>
            <a:ext cx="6877456" cy="723607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Sw</a:t>
            </a:r>
            <a:r>
              <a:rPr lang="zh-CN" altLang="en-US" sz="24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指令和其他指令呢？</a:t>
            </a:r>
            <a:endParaRPr lang="en-US" altLang="zh-CN" sz="2400" kern="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0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SW</a:t>
            </a:r>
            <a:r>
              <a:rPr lang="zh-CN" altLang="en-US" sz="20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指令中，</a:t>
            </a:r>
            <a:r>
              <a:rPr lang="en-US" altLang="zh-CN" sz="20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IR</a:t>
            </a:r>
            <a:r>
              <a:rPr lang="zh-CN" altLang="en-US" sz="200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的修改不会有问题。</a:t>
            </a:r>
            <a:endParaRPr lang="en-US" altLang="zh-CN" sz="2000" kern="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00E69A2-4238-4561-AA29-DB00C6F8DA5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1251"/>
          <a:stretch/>
        </p:blipFill>
        <p:spPr>
          <a:xfrm>
            <a:off x="1090098" y="2358474"/>
            <a:ext cx="7161179" cy="430166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B1DC8C3-B5BB-818D-1B67-978C71C4844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352" t="7779" r="-1"/>
          <a:stretch/>
        </p:blipFill>
        <p:spPr>
          <a:xfrm>
            <a:off x="6553200" y="12828"/>
            <a:ext cx="2590800" cy="23456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9AE0AE4A-48A4-0F86-3E02-E85B33B4C0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537C27D-5F47-1BA1-010F-70186FA0D023}"/>
                  </a:ext>
                </a:extLst>
              </p14:cNvPr>
              <p14:cNvContentPartPr/>
              <p14:nvPr/>
            </p14:nvContentPartPr>
            <p14:xfrm>
              <a:off x="7403040" y="338076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537C27D-5F47-1BA1-010F-70186FA0D02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93680" y="3371400"/>
                <a:ext cx="19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1EE0D449-0E9D-C2F1-7587-FB0667D9BC5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3811905" cy="635000"/>
            <a:chOff x="0" y="0"/>
            <a:chExt cx="3811905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04471723-4AF3-7B77-1363-EAAB6FED06E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2475914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31584533-C179-EE81-98B3-893467E5774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92DE8EE7-671D-E835-E7F5-6C3312BF6062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2A39462-4B0C-77F9-917C-B3D0EE8B362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40808E3-CFE4-355C-047D-E9F57DF4449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726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B810A-3FE0-4FE2-90C8-892F5814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BE30D-DDF5-4D6E-9406-D2F550818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9525"/>
            <a:ext cx="8229600" cy="4525962"/>
          </a:xfrm>
        </p:spPr>
        <p:txBody>
          <a:bodyPr/>
          <a:lstStyle/>
          <a:p>
            <a:r>
              <a:rPr lang="zh-CN" altLang="en-US" sz="2800" dirty="0"/>
              <a:t>有限状态机控制</a:t>
            </a:r>
            <a:endParaRPr lang="en-US" altLang="zh-CN" sz="2800" dirty="0"/>
          </a:p>
          <a:p>
            <a:pPr lvl="1"/>
            <a:r>
              <a:rPr lang="zh-CN" altLang="en-US" sz="2400" dirty="0"/>
              <a:t>整体整合图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36EA2-ADE1-044F-B3A1-83ED6A5B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59</a:t>
            </a:fld>
            <a:endParaRPr lang="en-US" altLang="zh-CN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E15A2C5-972E-A64F-B3B8-0A612B82C2D9}"/>
              </a:ext>
            </a:extLst>
          </p:cNvPr>
          <p:cNvSpPr txBox="1"/>
          <p:nvPr/>
        </p:nvSpPr>
        <p:spPr>
          <a:xfrm>
            <a:off x="219337" y="3429000"/>
            <a:ext cx="2011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黑体" panose="02010609060101010101" pitchFamily="49" charset="-122"/>
              </a:rPr>
              <a:t>状态中没有显式表示的控制信号都是</a:t>
            </a:r>
            <a:r>
              <a:rPr lang="zh-CN" altLang="en-US" sz="2000" b="1" dirty="0">
                <a:solidFill>
                  <a:srgbClr val="3333FF"/>
                </a:solidFill>
                <a:ea typeface="黑体" panose="02010609060101010101" pitchFamily="49" charset="-122"/>
              </a:rPr>
              <a:t>无效的</a:t>
            </a:r>
            <a:r>
              <a:rPr lang="zh-CN" altLang="en-US" sz="2000" b="1" dirty="0">
                <a:ea typeface="黑体" panose="02010609060101010101" pitchFamily="49" charset="-122"/>
              </a:rPr>
              <a:t>，对于多路选择没有显式表示的</a:t>
            </a:r>
            <a:r>
              <a:rPr lang="zh-CN" altLang="en-US" sz="2000" b="1" dirty="0">
                <a:solidFill>
                  <a:srgbClr val="3333FF"/>
                </a:solidFill>
                <a:ea typeface="黑体" panose="02010609060101010101" pitchFamily="49" charset="-122"/>
              </a:rPr>
              <a:t>都是无关的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DC28B9E-9E40-FFF7-05A5-4AEF1C88E279}"/>
              </a:ext>
            </a:extLst>
          </p:cNvPr>
          <p:cNvGrpSpPr/>
          <p:nvPr/>
        </p:nvGrpSpPr>
        <p:grpSpPr>
          <a:xfrm>
            <a:off x="2486647" y="1279525"/>
            <a:ext cx="6657353" cy="5374435"/>
            <a:chOff x="2486647" y="1279525"/>
            <a:chExt cx="6657353" cy="537443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68CB04D-1362-4748-AB18-B974D1823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6647" y="1279525"/>
              <a:ext cx="6657353" cy="5374435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1686FF8-CDDC-63B7-8684-A80AF8B7DBF5}"/>
                </a:ext>
              </a:extLst>
            </p:cNvPr>
            <p:cNvSpPr/>
            <p:nvPr/>
          </p:nvSpPr>
          <p:spPr>
            <a:xfrm>
              <a:off x="3771218" y="3620448"/>
              <a:ext cx="123013" cy="110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AABCDF3-553F-DB45-C6FE-99585342FFC2}"/>
                </a:ext>
              </a:extLst>
            </p:cNvPr>
            <p:cNvSpPr txBox="1"/>
            <p:nvPr/>
          </p:nvSpPr>
          <p:spPr>
            <a:xfrm>
              <a:off x="3676271" y="357678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900" b="1" dirty="0"/>
                <a:t>10</a:t>
              </a:r>
              <a:endParaRPr kumimoji="1" lang="zh-CN" altLang="en-US" sz="900" b="1" dirty="0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C349AAB-DE05-09ED-B925-F8E35D60FEE7}"/>
              </a:ext>
            </a:extLst>
          </p:cNvPr>
          <p:cNvSpPr/>
          <p:nvPr/>
        </p:nvSpPr>
        <p:spPr>
          <a:xfrm>
            <a:off x="8187587" y="5989966"/>
            <a:ext cx="130134" cy="181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EE33D6-499E-4BEA-397C-8C04B4652D10}"/>
              </a:ext>
            </a:extLst>
          </p:cNvPr>
          <p:cNvSpPr/>
          <p:nvPr/>
        </p:nvSpPr>
        <p:spPr>
          <a:xfrm>
            <a:off x="8103965" y="5833025"/>
            <a:ext cx="213756" cy="15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B84D9E-B78D-4369-9B1D-E07A406EED8E}"/>
              </a:ext>
            </a:extLst>
          </p:cNvPr>
          <p:cNvSpPr txBox="1"/>
          <p:nvPr/>
        </p:nvSpPr>
        <p:spPr>
          <a:xfrm>
            <a:off x="7915852" y="5778877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5D5F8E-D6A0-1D33-1516-BA14F24E0B5A}"/>
              </a:ext>
            </a:extLst>
          </p:cNvPr>
          <p:cNvSpPr txBox="1"/>
          <p:nvPr/>
        </p:nvSpPr>
        <p:spPr>
          <a:xfrm>
            <a:off x="7955478" y="5936443"/>
            <a:ext cx="548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307668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07A7-281D-4E41-B1F8-45AC7799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多周期实现的性能（情景一）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0923-6209-4A45-ADAE-E776C684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4166"/>
            <a:ext cx="8430322" cy="4893973"/>
          </a:xfrm>
        </p:spPr>
        <p:txBody>
          <a:bodyPr/>
          <a:lstStyle/>
          <a:p>
            <a:pPr hangingPunct="1"/>
            <a:r>
              <a:rPr lang="zh-CN" altLang="en-US" sz="2400" dirty="0"/>
              <a:t>假设主要功能单元的操作时间</a:t>
            </a:r>
            <a:endParaRPr lang="en-US" altLang="zh-CN" sz="2400" dirty="0"/>
          </a:p>
          <a:p>
            <a:pPr lvl="1" hangingPunct="1"/>
            <a:r>
              <a:rPr lang="zh-CN" altLang="en-US" sz="2000" dirty="0"/>
              <a:t>存储单元：</a:t>
            </a:r>
            <a:r>
              <a:rPr lang="en-US" altLang="zh-CN" sz="2000" dirty="0"/>
              <a:t>200ps</a:t>
            </a:r>
          </a:p>
          <a:p>
            <a:pPr lvl="1" hangingPunct="1"/>
            <a:r>
              <a:rPr lang="en-US" altLang="zh-CN" sz="2000" dirty="0"/>
              <a:t>ALU</a:t>
            </a:r>
            <a:r>
              <a:rPr lang="zh-CN" altLang="en-US" sz="2000" dirty="0"/>
              <a:t>：</a:t>
            </a:r>
            <a:r>
              <a:rPr lang="en-US" altLang="zh-CN" sz="2000" dirty="0"/>
              <a:t>150ps</a:t>
            </a:r>
          </a:p>
          <a:p>
            <a:pPr lvl="1" hangingPunct="1"/>
            <a:r>
              <a:rPr lang="zh-CN" altLang="en-US" sz="2000" dirty="0"/>
              <a:t>寄存器堆：</a:t>
            </a:r>
            <a:r>
              <a:rPr lang="en-US" altLang="zh-CN" sz="2000" dirty="0"/>
              <a:t>150ps</a:t>
            </a:r>
          </a:p>
          <a:p>
            <a:pPr lvl="1" hangingPunct="1"/>
            <a:r>
              <a:rPr lang="zh-CN" altLang="en-US" sz="2000" dirty="0"/>
              <a:t>忽略其他延迟</a:t>
            </a:r>
            <a:endParaRPr lang="en-US" altLang="zh-CN" sz="2000" dirty="0"/>
          </a:p>
          <a:p>
            <a:pPr hangingPunct="1"/>
            <a:r>
              <a:rPr lang="zh-CN" altLang="en-US" sz="2400" dirty="0"/>
              <a:t>指令执行各个步骤需要的时间</a:t>
            </a:r>
            <a:endParaRPr lang="en-US" altLang="zh-CN" sz="24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1</a:t>
            </a:r>
            <a:r>
              <a:rPr lang="zh-CN" altLang="en-US" sz="2000" dirty="0"/>
              <a:t>：取指</a:t>
            </a:r>
            <a:r>
              <a:rPr lang="en-US" altLang="zh-CN" sz="2000" dirty="0">
                <a:solidFill>
                  <a:srgbClr val="3333FF"/>
                </a:solidFill>
              </a:rPr>
              <a:t>200ps</a:t>
            </a:r>
            <a:endParaRPr lang="zh-CN" altLang="en-US" sz="2000" dirty="0">
              <a:solidFill>
                <a:srgbClr val="3333FF"/>
              </a:solidFill>
            </a:endParaRPr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2</a:t>
            </a:r>
            <a:r>
              <a:rPr lang="zh-CN" altLang="en-US" sz="2000" dirty="0"/>
              <a:t>：指令译码和读取寄存器</a:t>
            </a:r>
            <a:r>
              <a:rPr lang="en-US" altLang="zh-CN" sz="2000" dirty="0"/>
              <a:t>150ps</a:t>
            </a:r>
            <a:endParaRPr lang="zh-CN" altLang="en-US" sz="20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3</a:t>
            </a:r>
            <a:r>
              <a:rPr lang="zh-CN" altLang="en-US" sz="2000" dirty="0"/>
              <a:t>：指令执行，存储器地址计算或分支完成</a:t>
            </a:r>
            <a:r>
              <a:rPr lang="en-US" altLang="zh-CN" sz="2000" dirty="0"/>
              <a:t>150ps</a:t>
            </a:r>
            <a:endParaRPr lang="zh-CN" altLang="en-US" sz="20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4</a:t>
            </a:r>
            <a:r>
              <a:rPr lang="zh-CN" altLang="en-US" sz="2000" dirty="0"/>
              <a:t>：访存或</a:t>
            </a:r>
            <a:r>
              <a:rPr lang="en-US" altLang="zh-CN" sz="2000" dirty="0"/>
              <a:t>R</a:t>
            </a:r>
            <a:r>
              <a:rPr lang="zh-CN" altLang="en-US" sz="2000" dirty="0"/>
              <a:t>型指令写寄存器堆</a:t>
            </a:r>
            <a:r>
              <a:rPr lang="en-US" altLang="zh-CN" sz="2000" dirty="0">
                <a:solidFill>
                  <a:srgbClr val="3333FF"/>
                </a:solidFill>
              </a:rPr>
              <a:t>200ps</a:t>
            </a:r>
            <a:endParaRPr lang="zh-CN" altLang="en-US" sz="2000" dirty="0">
              <a:solidFill>
                <a:srgbClr val="3333FF"/>
              </a:solidFill>
            </a:endParaRPr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5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lw</a:t>
            </a:r>
            <a:r>
              <a:rPr lang="zh-CN" altLang="en-US" sz="2000" dirty="0"/>
              <a:t>指令写寄存器堆</a:t>
            </a:r>
            <a:r>
              <a:rPr lang="en-US" altLang="zh-CN" sz="2000" dirty="0"/>
              <a:t>150ps</a:t>
            </a:r>
          </a:p>
          <a:p>
            <a:r>
              <a:rPr lang="zh-CN" altLang="en-US" sz="2400" dirty="0"/>
              <a:t>多周期处理器的时钟周期：</a:t>
            </a:r>
            <a:r>
              <a:rPr lang="en-US" altLang="zh-CN" sz="2400" dirty="0"/>
              <a:t>200ps</a:t>
            </a:r>
          </a:p>
          <a:p>
            <a:pPr lvl="1"/>
            <a:r>
              <a:rPr lang="en-US" altLang="zh-CN" sz="2000" dirty="0"/>
              <a:t>Note</a:t>
            </a:r>
            <a:r>
              <a:rPr lang="zh-CN" altLang="en-US" sz="2000" dirty="0"/>
              <a:t>：</a:t>
            </a:r>
            <a:r>
              <a:rPr lang="zh-CN" altLang="en-CN" sz="2000" dirty="0"/>
              <a:t>单周期</a:t>
            </a:r>
            <a:r>
              <a:rPr lang="en-US" altLang="zh-CN" sz="2000" dirty="0"/>
              <a:t>CPU</a:t>
            </a:r>
            <a:r>
              <a:rPr lang="zh-CN" altLang="en-US" sz="2000" dirty="0"/>
              <a:t>时钟周期：</a:t>
            </a:r>
            <a:r>
              <a:rPr lang="en-US" altLang="zh-CN" sz="2000" dirty="0"/>
              <a:t>200+150+150+200+150=850ps</a:t>
            </a:r>
          </a:p>
          <a:p>
            <a:endParaRPr lang="en-US" altLang="zh-CN" sz="2400" dirty="0"/>
          </a:p>
          <a:p>
            <a:pPr lvl="1"/>
            <a:endParaRPr lang="en-US" altLang="zh-C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6B83-4AB8-E346-80FF-EE0F225C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60</a:t>
            </a:fld>
            <a:endParaRPr lang="en-US" altLang="zh-CN"/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B48582B5-A994-4DB3-65CE-FEEFC53FF287}"/>
              </a:ext>
            </a:extLst>
          </p:cNvPr>
          <p:cNvSpPr/>
          <p:nvPr/>
        </p:nvSpPr>
        <p:spPr>
          <a:xfrm>
            <a:off x="5444197" y="1725637"/>
            <a:ext cx="2133600" cy="1242646"/>
          </a:xfrm>
          <a:prstGeom prst="clou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此为各阶段延时差不多的情形</a:t>
            </a:r>
          </a:p>
        </p:txBody>
      </p:sp>
    </p:spTree>
    <p:extLst>
      <p:ext uri="{BB962C8B-B14F-4D97-AF65-F5344CB8AC3E}">
        <p14:creationId xmlns:p14="http://schemas.microsoft.com/office/powerpoint/2010/main" val="1314959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07A7-281D-4E41-B1F8-45AC7799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多周期实现的性能（情景一）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0923-6209-4A45-ADAE-E776C684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525"/>
            <a:ext cx="8229600" cy="4525963"/>
          </a:xfrm>
        </p:spPr>
        <p:txBody>
          <a:bodyPr/>
          <a:lstStyle/>
          <a:p>
            <a:pPr hangingPunct="1"/>
            <a:r>
              <a:rPr lang="zh-CN" altLang="en-US" sz="2400" dirty="0"/>
              <a:t>各指令执行需要的周期数和时间</a:t>
            </a:r>
            <a:endParaRPr lang="en-US" altLang="zh-CN" sz="2400" dirty="0"/>
          </a:p>
          <a:p>
            <a:pPr lvl="1"/>
            <a:r>
              <a:rPr lang="en-US" altLang="zh-CN" sz="2000" dirty="0"/>
              <a:t>R</a:t>
            </a:r>
            <a:r>
              <a:rPr lang="zh-CN" altLang="en-US" sz="2000" dirty="0"/>
              <a:t>型指令：</a:t>
            </a:r>
            <a:r>
              <a:rPr lang="en-US" altLang="zh-CN" sz="2000" dirty="0"/>
              <a:t>4 cycles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800ps</a:t>
            </a:r>
          </a:p>
          <a:p>
            <a:pPr lvl="1"/>
            <a:r>
              <a:rPr lang="en-US" altLang="zh-CN" sz="2000" dirty="0" err="1"/>
              <a:t>lw</a:t>
            </a:r>
            <a:r>
              <a:rPr lang="zh-CN" altLang="en-US" sz="2000" dirty="0"/>
              <a:t>指令：</a:t>
            </a:r>
            <a:r>
              <a:rPr lang="en-US" altLang="zh-CN" sz="2000" dirty="0"/>
              <a:t>5 cycles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1000ps</a:t>
            </a:r>
          </a:p>
          <a:p>
            <a:pPr lvl="1"/>
            <a:r>
              <a:rPr lang="en-US" altLang="zh-CN" sz="2000" dirty="0" err="1"/>
              <a:t>sw</a:t>
            </a:r>
            <a:r>
              <a:rPr lang="zh-CN" altLang="en-US" sz="2000" dirty="0"/>
              <a:t>指令：</a:t>
            </a:r>
            <a:r>
              <a:rPr lang="en-US" altLang="zh-CN" sz="2000" dirty="0"/>
              <a:t>4 cycles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800ps</a:t>
            </a:r>
          </a:p>
          <a:p>
            <a:pPr lvl="1"/>
            <a:r>
              <a:rPr lang="zh-CN" altLang="en-US" sz="2000" dirty="0"/>
              <a:t>分支指令：</a:t>
            </a:r>
            <a:r>
              <a:rPr lang="en-US" altLang="zh-CN" sz="2000" dirty="0"/>
              <a:t>3 cycles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600ps</a:t>
            </a:r>
          </a:p>
          <a:p>
            <a:pPr lvl="1"/>
            <a:r>
              <a:rPr lang="zh-CN" altLang="en-US" sz="2000" dirty="0"/>
              <a:t>跳转指令：</a:t>
            </a:r>
            <a:r>
              <a:rPr lang="en-US" altLang="zh-CN" sz="2000" dirty="0"/>
              <a:t>3 cycles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600ps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8C694-2015-3943-B509-857198E3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61</a:t>
            </a:fld>
            <a:endParaRPr lang="en-US" altLang="zh-CN"/>
          </a:p>
        </p:txBody>
      </p:sp>
      <p:graphicFrame>
        <p:nvGraphicFramePr>
          <p:cNvPr id="6" name="表格 8">
            <a:extLst>
              <a:ext uri="{FF2B5EF4-FFF2-40B4-BE49-F238E27FC236}">
                <a16:creationId xmlns:a16="http://schemas.microsoft.com/office/drawing/2014/main" id="{AACC36A0-5BF8-A742-B44F-3CBC943B6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713295"/>
              </p:ext>
            </p:extLst>
          </p:nvPr>
        </p:nvGraphicFramePr>
        <p:xfrm>
          <a:off x="91962" y="3542506"/>
          <a:ext cx="8960076" cy="3226851"/>
        </p:xfrm>
        <a:graphic>
          <a:graphicData uri="http://schemas.openxmlformats.org/drawingml/2006/table">
            <a:tbl>
              <a:tblPr firstRow="1" firstCol="1" bandRow="1"/>
              <a:tblGrid>
                <a:gridCol w="1448457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67099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65988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73006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0587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取指令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80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397" marR="97397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26450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 &lt;=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&lt;= 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 + sign-extend(IR[15:0])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if (A==B) PC&lt;=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PC &lt;= {PC[31:28], IR[25:0], 2’b00}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63226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Reg[IR[15:11]] &lt;= 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ALUOut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MDR&lt;=Memory[ALUOut]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Store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Memory[ALUOut] &lt;= B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31613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Reg[IR[20:16]]&lt;=MDR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4751" marR="94751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CD39AB7-7585-79FF-B983-6D9F8C003FDE}"/>
                  </a:ext>
                </a:extLst>
              </p14:cNvPr>
              <p14:cNvContentPartPr/>
              <p14:nvPr/>
            </p14:nvContentPartPr>
            <p14:xfrm>
              <a:off x="7403040" y="338076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CD39AB7-7585-79FF-B983-6D9F8C003F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3680" y="3371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38179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C60045-1FAB-42EE-99EE-84EE70A3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62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DA1972-FBD8-4942-AE27-A9813F9C148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5905" y="437562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700ps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B41630-0CA2-491E-A027-F3F6C3C295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25905" y="523287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810ps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1B69D2-CC32-487C-9C09-E3F4E2A134A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029200" y="4374914"/>
            <a:ext cx="3987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760ps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90CC72-9B9F-48AD-BD95-8EE2B37EC2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029200" y="5232164"/>
            <a:ext cx="380047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880ps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D4650F-5186-456A-A26D-8A0D2DFA897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811530" y="443991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902FAB2-C6B1-407D-AAE1-754D021BC09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11530" y="529716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9DDA1FC-3900-4A96-B287-B8E0F63E40A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314825" y="4439207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DB5B2A8-EE73-48F2-AF39-F9A9B368BA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314825" y="5296457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D7E8795-CE4B-4B68-95B0-79FB25C0C20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8D79F12-C4C4-A8A3-8EE2-1907E86ECCAC}"/>
              </a:ext>
            </a:extLst>
          </p:cNvPr>
          <p:cNvSpPr txBox="1">
            <a:spLocks/>
          </p:cNvSpPr>
          <p:nvPr/>
        </p:nvSpPr>
        <p:spPr>
          <a:xfrm>
            <a:off x="457200" y="1332504"/>
            <a:ext cx="8382000" cy="459333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假设某程序中各种指令出现的比例</a:t>
            </a:r>
            <a:endParaRPr lang="en-US" altLang="zh-CN" kern="0" dirty="0"/>
          </a:p>
          <a:p>
            <a:pPr lvl="1"/>
            <a:r>
              <a:rPr lang="en-US" altLang="zh-CN" sz="2000" kern="0" dirty="0" err="1"/>
              <a:t>Lw</a:t>
            </a:r>
            <a:r>
              <a:rPr lang="zh-CN" altLang="en-US" sz="2000" kern="0" dirty="0"/>
              <a:t>：</a:t>
            </a:r>
            <a:r>
              <a:rPr lang="en-US" altLang="zh-CN" sz="2000" kern="0" dirty="0"/>
              <a:t>10%</a:t>
            </a:r>
          </a:p>
          <a:p>
            <a:pPr lvl="1"/>
            <a:r>
              <a:rPr lang="en-US" altLang="zh-CN" sz="2000" kern="0" dirty="0" err="1"/>
              <a:t>Sw</a:t>
            </a:r>
            <a:r>
              <a:rPr lang="zh-CN" altLang="en-US" sz="2000" kern="0" dirty="0"/>
              <a:t>：</a:t>
            </a:r>
            <a:r>
              <a:rPr lang="en-US" altLang="zh-CN" sz="2000" kern="0" dirty="0"/>
              <a:t>10%</a:t>
            </a:r>
          </a:p>
          <a:p>
            <a:pPr lvl="1"/>
            <a:r>
              <a:rPr lang="en-US" altLang="zh-CN" sz="2000" kern="0" dirty="0"/>
              <a:t>R</a:t>
            </a:r>
            <a:r>
              <a:rPr lang="zh-CN" altLang="en-US" sz="2000" kern="0" dirty="0"/>
              <a:t>型：</a:t>
            </a:r>
            <a:r>
              <a:rPr lang="en-US" altLang="zh-CN" sz="2000" kern="0" dirty="0"/>
              <a:t>50%</a:t>
            </a:r>
          </a:p>
          <a:p>
            <a:pPr lvl="1"/>
            <a:r>
              <a:rPr lang="en-US" altLang="zh-CN" sz="2000" kern="0" dirty="0" err="1"/>
              <a:t>Beq</a:t>
            </a:r>
            <a:r>
              <a:rPr lang="zh-CN" altLang="en-US" sz="2000" kern="0" dirty="0"/>
              <a:t>：</a:t>
            </a:r>
            <a:r>
              <a:rPr lang="en-US" altLang="zh-CN" sz="2000" kern="0" dirty="0"/>
              <a:t>15%</a:t>
            </a:r>
          </a:p>
          <a:p>
            <a:pPr lvl="1"/>
            <a:r>
              <a:rPr lang="en-US" altLang="zh-CN" sz="2000" kern="0" dirty="0"/>
              <a:t>J</a:t>
            </a:r>
            <a:r>
              <a:rPr lang="zh-CN" altLang="en-US" sz="2000" kern="0" dirty="0"/>
              <a:t>：</a:t>
            </a:r>
            <a:r>
              <a:rPr lang="en-US" altLang="zh-CN" sz="2000" kern="0" dirty="0"/>
              <a:t>15%</a:t>
            </a:r>
          </a:p>
          <a:p>
            <a:pPr marL="0" indent="0">
              <a:buFontTx/>
              <a:buNone/>
            </a:pPr>
            <a:r>
              <a:rPr lang="zh-CN" altLang="en-US" sz="2400" kern="0" dirty="0"/>
              <a:t>问：该程序中一条指令的平均执行时间是多少？</a:t>
            </a:r>
            <a:endParaRPr lang="en-US" altLang="zh-CN" sz="2400" kern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F433E4-4850-9179-A463-7369D9147B85}"/>
              </a:ext>
            </a:extLst>
          </p:cNvPr>
          <p:cNvSpPr/>
          <p:nvPr/>
        </p:nvSpPr>
        <p:spPr>
          <a:xfrm>
            <a:off x="4147468" y="1960508"/>
            <a:ext cx="3732727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hangingPunct="1"/>
            <a:r>
              <a:rPr lang="zh-CN" altLang="en-US" dirty="0">
                <a:ea typeface="黑体" panose="02010609060101010101" pitchFamily="49" charset="-122"/>
              </a:rPr>
              <a:t>各指令执行需要的周期数和时间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 err="1">
                <a:ea typeface="黑体" panose="02010609060101010101" pitchFamily="49" charset="-122"/>
              </a:rPr>
              <a:t>lw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5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1000ps</a:t>
            </a:r>
          </a:p>
          <a:p>
            <a:pPr lvl="1"/>
            <a:r>
              <a:rPr lang="en-US" altLang="zh-CN" dirty="0" err="1">
                <a:ea typeface="黑体" panose="02010609060101010101" pitchFamily="49" charset="-122"/>
              </a:rPr>
              <a:t>sw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4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800ps</a:t>
            </a: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ALU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4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800ps</a:t>
            </a: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分支指令：</a:t>
            </a:r>
            <a:r>
              <a:rPr lang="en-US" altLang="zh-CN" dirty="0">
                <a:ea typeface="黑体" panose="02010609060101010101" pitchFamily="49" charset="-122"/>
              </a:rPr>
              <a:t>3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600ps</a:t>
            </a: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跳转指令：</a:t>
            </a:r>
            <a:r>
              <a:rPr lang="en-US" altLang="zh-CN" dirty="0">
                <a:ea typeface="黑体" panose="02010609060101010101" pitchFamily="49" charset="-122"/>
              </a:rPr>
              <a:t>3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600ps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6AF2AAE-0E09-D99C-8E05-64CDD90F57BE}"/>
                  </a:ext>
                </a:extLst>
              </p14:cNvPr>
              <p14:cNvContentPartPr/>
              <p14:nvPr/>
            </p14:nvContentPartPr>
            <p14:xfrm>
              <a:off x="8283240" y="5713200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6AF2AAE-0E09-D99C-8E05-64CDD90F57B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73880" y="5703840"/>
                <a:ext cx="19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FC5902-4E4B-4D14-84C3-FB4C7A704F4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CB6FDD2-8772-467B-BB8E-65F76E96C4B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932D0E70-3B0D-45C8-89DF-81511B37297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1F44B4F7-50DD-4753-9381-6849A569609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AF706623-861A-40EA-A4B8-11CCAF63DDB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762B4B7-007E-45C3-ABA9-D33481051285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26749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660B5-A782-41CF-9C62-1C354EF4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342A3A-B2E3-4D18-8FA5-0CE924A00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2504"/>
            <a:ext cx="8382000" cy="4593336"/>
          </a:xfrm>
        </p:spPr>
        <p:txBody>
          <a:bodyPr/>
          <a:lstStyle/>
          <a:p>
            <a:pPr hangingPunct="1"/>
            <a:r>
              <a:rPr lang="zh-CN" altLang="en-US" dirty="0"/>
              <a:t>假设某程序中各种指令出现的比例</a:t>
            </a:r>
            <a:endParaRPr lang="en-US" altLang="zh-CN" dirty="0"/>
          </a:p>
          <a:p>
            <a:pPr lvl="1" hangingPunct="1"/>
            <a:r>
              <a:rPr lang="en-US" altLang="zh-CN" sz="2000" dirty="0" err="1"/>
              <a:t>Lw</a:t>
            </a:r>
            <a:r>
              <a:rPr lang="zh-CN" altLang="en-US" sz="2000" dirty="0"/>
              <a:t>：</a:t>
            </a:r>
            <a:r>
              <a:rPr lang="en-US" altLang="zh-CN" sz="2000" dirty="0"/>
              <a:t>10%</a:t>
            </a:r>
          </a:p>
          <a:p>
            <a:pPr lvl="1" hangingPunct="1"/>
            <a:r>
              <a:rPr lang="en-US" altLang="zh-CN" sz="2000" dirty="0" err="1"/>
              <a:t>Sw</a:t>
            </a:r>
            <a:r>
              <a:rPr lang="zh-CN" altLang="en-US" sz="2000" dirty="0"/>
              <a:t>：</a:t>
            </a:r>
            <a:r>
              <a:rPr lang="en-US" altLang="zh-CN" sz="2000" dirty="0"/>
              <a:t>10%</a:t>
            </a:r>
          </a:p>
          <a:p>
            <a:pPr lvl="1" hangingPunct="1"/>
            <a:r>
              <a:rPr lang="en-US" altLang="zh-CN" sz="2000" dirty="0"/>
              <a:t>R</a:t>
            </a:r>
            <a:r>
              <a:rPr lang="zh-CN" altLang="en-US" sz="2000" dirty="0"/>
              <a:t>型：</a:t>
            </a:r>
            <a:r>
              <a:rPr lang="en-US" altLang="zh-CN" sz="2000" dirty="0"/>
              <a:t>50%</a:t>
            </a:r>
          </a:p>
          <a:p>
            <a:pPr lvl="1" hangingPunct="1"/>
            <a:r>
              <a:rPr lang="en-US" altLang="zh-CN" sz="2000" dirty="0" err="1"/>
              <a:t>Beq</a:t>
            </a:r>
            <a:r>
              <a:rPr lang="zh-CN" altLang="en-US" sz="2000" dirty="0"/>
              <a:t>：</a:t>
            </a:r>
            <a:r>
              <a:rPr lang="en-US" altLang="zh-CN" sz="2000" dirty="0"/>
              <a:t>15%</a:t>
            </a:r>
          </a:p>
          <a:p>
            <a:pPr lvl="1" hangingPunct="1"/>
            <a:r>
              <a:rPr lang="en-US" altLang="zh-CN" sz="2000" dirty="0"/>
              <a:t>J</a:t>
            </a:r>
            <a:r>
              <a:rPr lang="zh-CN" altLang="en-US" sz="2000" dirty="0"/>
              <a:t>：</a:t>
            </a:r>
            <a:r>
              <a:rPr lang="en-US" altLang="zh-CN" sz="2000" dirty="0"/>
              <a:t>15%</a:t>
            </a:r>
          </a:p>
          <a:p>
            <a:pPr marL="0" indent="0">
              <a:buNone/>
            </a:pPr>
            <a:r>
              <a:rPr lang="zh-CN" altLang="en-US" sz="2400" dirty="0"/>
              <a:t>问：该程序中一条指令的平均执行时间是多少？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A. 700ps; B. 810ps; </a:t>
            </a:r>
            <a:r>
              <a:rPr lang="en-US" altLang="zh-CN" sz="2400" dirty="0">
                <a:solidFill>
                  <a:srgbClr val="3333FF"/>
                </a:solidFill>
              </a:rPr>
              <a:t>C. 760ps; </a:t>
            </a:r>
            <a:r>
              <a:rPr lang="en-US" altLang="zh-CN" sz="2400" dirty="0"/>
              <a:t>D. 880ps</a:t>
            </a:r>
            <a:endParaRPr lang="zh-CN" alt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0A23B-778A-5744-A7D6-A5F11FFF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63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77FBB-3472-154A-A73F-33C3776BB694}"/>
              </a:ext>
            </a:extLst>
          </p:cNvPr>
          <p:cNvSpPr/>
          <p:nvPr/>
        </p:nvSpPr>
        <p:spPr>
          <a:xfrm>
            <a:off x="304800" y="4778490"/>
            <a:ext cx="838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3333FF"/>
                </a:solidFill>
                <a:latin typeface="+mn-lt"/>
                <a:ea typeface="+mn-ea"/>
              </a:rPr>
              <a:t>解答：</a:t>
            </a:r>
            <a:r>
              <a:rPr lang="en-US" altLang="zh-CN" sz="2400" b="1" dirty="0">
                <a:solidFill>
                  <a:srgbClr val="3333FF"/>
                </a:solidFill>
                <a:latin typeface="+mn-lt"/>
                <a:ea typeface="+mn-ea"/>
              </a:rPr>
              <a:t>C</a:t>
            </a:r>
          </a:p>
          <a:p>
            <a:pPr marL="0" indent="0">
              <a:buNone/>
            </a:pPr>
            <a:r>
              <a:rPr lang="en-US" altLang="zh-CN" sz="2400" b="1" dirty="0">
                <a:latin typeface="+mn-lt"/>
              </a:rPr>
              <a:t>1000</a:t>
            </a:r>
            <a:r>
              <a:rPr lang="zh-CN" altLang="en-US" sz="2400" b="1" dirty="0">
                <a:latin typeface="+mn-lt"/>
              </a:rPr>
              <a:t>*</a:t>
            </a:r>
            <a:r>
              <a:rPr lang="en-US" altLang="zh-CN" sz="2400" b="1" dirty="0">
                <a:latin typeface="+mn-lt"/>
              </a:rPr>
              <a:t>0.1+800*0.1+800*0.5+600*0.15+600*0.15=760ps</a:t>
            </a:r>
          </a:p>
          <a:p>
            <a:pPr lvl="1">
              <a:spcBef>
                <a:spcPct val="20000"/>
              </a:spcBef>
            </a:pPr>
            <a:r>
              <a:rPr lang="zh-CN" altLang="en-US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相比</a:t>
            </a:r>
            <a:r>
              <a:rPr lang="zh-CN" altLang="en-CN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单周期</a:t>
            </a:r>
            <a:r>
              <a:rPr lang="en-US" altLang="zh-CN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CPU</a:t>
            </a:r>
            <a:r>
              <a:rPr lang="zh-CN" altLang="en-US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时钟周期：</a:t>
            </a:r>
            <a:r>
              <a:rPr lang="en-US" altLang="zh-CN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200+150+150+200+150=850ps</a:t>
            </a:r>
            <a:r>
              <a:rPr lang="zh-CN" altLang="en-US" sz="2000" b="1" kern="0" dirty="0">
                <a:solidFill>
                  <a:srgbClr val="3333FF"/>
                </a:solidFill>
                <a:latin typeface="Arial"/>
                <a:ea typeface="黑体" panose="02010609060101010101" pitchFamily="49" charset="-122"/>
              </a:rPr>
              <a:t>，有改进！</a:t>
            </a:r>
            <a:endParaRPr lang="en-US" altLang="zh-CN" sz="2000" b="1" kern="0" dirty="0">
              <a:solidFill>
                <a:srgbClr val="3333FF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980442-3D9E-F046-8A9E-4AAE09D5E157}"/>
              </a:ext>
            </a:extLst>
          </p:cNvPr>
          <p:cNvSpPr/>
          <p:nvPr/>
        </p:nvSpPr>
        <p:spPr>
          <a:xfrm>
            <a:off x="4147468" y="1960508"/>
            <a:ext cx="3732727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hangingPunct="1"/>
            <a:r>
              <a:rPr lang="zh-CN" altLang="en-US" dirty="0">
                <a:ea typeface="黑体" panose="02010609060101010101" pitchFamily="49" charset="-122"/>
              </a:rPr>
              <a:t>各指令执行需要的周期数和时间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/>
            <a:r>
              <a:rPr lang="en-US" altLang="zh-CN" dirty="0" err="1">
                <a:ea typeface="黑体" panose="02010609060101010101" pitchFamily="49" charset="-122"/>
              </a:rPr>
              <a:t>lw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5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1000ps</a:t>
            </a:r>
          </a:p>
          <a:p>
            <a:pPr lvl="1"/>
            <a:r>
              <a:rPr lang="en-US" altLang="zh-CN" dirty="0" err="1">
                <a:ea typeface="黑体" panose="02010609060101010101" pitchFamily="49" charset="-122"/>
              </a:rPr>
              <a:t>sw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4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800ps</a:t>
            </a:r>
          </a:p>
          <a:p>
            <a:pPr lvl="1"/>
            <a:r>
              <a:rPr lang="en-US" altLang="zh-CN" dirty="0">
                <a:ea typeface="黑体" panose="02010609060101010101" pitchFamily="49" charset="-122"/>
              </a:rPr>
              <a:t>ALU</a:t>
            </a:r>
            <a:r>
              <a:rPr lang="zh-CN" altLang="en-US" dirty="0">
                <a:ea typeface="黑体" panose="02010609060101010101" pitchFamily="49" charset="-122"/>
              </a:rPr>
              <a:t>指令：</a:t>
            </a:r>
            <a:r>
              <a:rPr lang="en-US" altLang="zh-CN" dirty="0">
                <a:ea typeface="黑体" panose="02010609060101010101" pitchFamily="49" charset="-122"/>
              </a:rPr>
              <a:t>4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800ps</a:t>
            </a: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分支指令：</a:t>
            </a:r>
            <a:r>
              <a:rPr lang="en-US" altLang="zh-CN" dirty="0">
                <a:ea typeface="黑体" panose="02010609060101010101" pitchFamily="49" charset="-122"/>
              </a:rPr>
              <a:t>3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600ps</a:t>
            </a: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跳转指令：</a:t>
            </a:r>
            <a:r>
              <a:rPr lang="en-US" altLang="zh-CN" dirty="0">
                <a:ea typeface="黑体" panose="02010609060101010101" pitchFamily="49" charset="-122"/>
              </a:rPr>
              <a:t>3 cycles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600ps</a:t>
            </a:r>
          </a:p>
        </p:txBody>
      </p:sp>
    </p:spTree>
    <p:extLst>
      <p:ext uri="{BB962C8B-B14F-4D97-AF65-F5344CB8AC3E}">
        <p14:creationId xmlns:p14="http://schemas.microsoft.com/office/powerpoint/2010/main" val="4261673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07A7-281D-4E41-B1F8-45AC7799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多周期实现的性能（情景二）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0923-6209-4A45-ADAE-E776C684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4166"/>
            <a:ext cx="8430322" cy="4893973"/>
          </a:xfrm>
        </p:spPr>
        <p:txBody>
          <a:bodyPr/>
          <a:lstStyle/>
          <a:p>
            <a:r>
              <a:rPr lang="zh-CN" altLang="en-US" sz="2400" dirty="0"/>
              <a:t>若主存储器相对更慢，逻辑操作更快呢？假设所需时间为</a:t>
            </a:r>
            <a:endParaRPr lang="en-US" altLang="zh-CN" sz="2400" dirty="0"/>
          </a:p>
          <a:p>
            <a:pPr lvl="1" hangingPunct="1"/>
            <a:r>
              <a:rPr lang="zh-CN" altLang="en-US" sz="2000" dirty="0"/>
              <a:t>存储单元：</a:t>
            </a:r>
            <a:r>
              <a:rPr lang="en-US" altLang="zh-CN" sz="2000" dirty="0"/>
              <a:t>200ps</a:t>
            </a:r>
            <a:r>
              <a:rPr lang="zh-CN" altLang="en-US" sz="2000" dirty="0"/>
              <a:t>；</a:t>
            </a:r>
            <a:r>
              <a:rPr lang="en-US" altLang="zh-CN" sz="2000" dirty="0">
                <a:solidFill>
                  <a:srgbClr val="3333FF"/>
                </a:solidFill>
              </a:rPr>
              <a:t>ALU</a:t>
            </a:r>
            <a:r>
              <a:rPr lang="zh-CN" altLang="en-US" sz="2000" dirty="0">
                <a:solidFill>
                  <a:srgbClr val="3333FF"/>
                </a:solidFill>
              </a:rPr>
              <a:t>：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  <a:r>
              <a:rPr lang="zh-CN" altLang="en-US" sz="2000" dirty="0">
                <a:solidFill>
                  <a:srgbClr val="3333FF"/>
                </a:solidFill>
              </a:rPr>
              <a:t>；寄存器堆：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</a:p>
          <a:p>
            <a:pPr lvl="1" hangingPunct="1"/>
            <a:r>
              <a:rPr lang="zh-CN" altLang="en-US" sz="2000" dirty="0"/>
              <a:t>忽略其他延迟</a:t>
            </a:r>
            <a:endParaRPr lang="en-US" altLang="zh-CN" sz="2000" dirty="0"/>
          </a:p>
          <a:p>
            <a:pPr hangingPunct="1"/>
            <a:r>
              <a:rPr lang="zh-CN" altLang="en-US" sz="2400" dirty="0"/>
              <a:t>指令执行各个步骤需要的时间</a:t>
            </a:r>
            <a:endParaRPr lang="en-US" altLang="zh-CN" sz="24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1</a:t>
            </a:r>
            <a:r>
              <a:rPr lang="zh-CN" altLang="en-US" sz="2000" dirty="0"/>
              <a:t>：取指</a:t>
            </a:r>
            <a:r>
              <a:rPr lang="en-US" altLang="zh-CN" sz="2000" dirty="0"/>
              <a:t>200ps</a:t>
            </a:r>
            <a:endParaRPr lang="zh-CN" altLang="en-US" sz="20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2</a:t>
            </a:r>
            <a:r>
              <a:rPr lang="zh-CN" altLang="en-US" sz="2000" dirty="0"/>
              <a:t>：指令译码和读取寄存器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  <a:endParaRPr lang="zh-CN" altLang="en-US" sz="2000" dirty="0">
              <a:solidFill>
                <a:srgbClr val="3333FF"/>
              </a:solidFill>
            </a:endParaRPr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3</a:t>
            </a:r>
            <a:r>
              <a:rPr lang="zh-CN" altLang="en-US" sz="2000" dirty="0"/>
              <a:t>：指令执行，存储器地址计算或分支完成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  <a:endParaRPr lang="zh-CN" altLang="en-US" sz="2000" dirty="0">
              <a:solidFill>
                <a:srgbClr val="3333FF"/>
              </a:solidFill>
            </a:endParaRPr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4</a:t>
            </a:r>
            <a:r>
              <a:rPr lang="zh-CN" altLang="en-US" sz="2000" dirty="0"/>
              <a:t>：访存或</a:t>
            </a:r>
            <a:r>
              <a:rPr lang="en-US" altLang="zh-CN" sz="2000" dirty="0"/>
              <a:t>R</a:t>
            </a:r>
            <a:r>
              <a:rPr lang="zh-CN" altLang="en-US" sz="2000" dirty="0"/>
              <a:t>型指令写寄存器堆</a:t>
            </a:r>
            <a:r>
              <a:rPr lang="en-US" altLang="zh-CN" sz="2000" dirty="0"/>
              <a:t>200ps</a:t>
            </a:r>
            <a:endParaRPr lang="zh-CN" altLang="en-US" sz="2000" dirty="0"/>
          </a:p>
          <a:p>
            <a:pPr lvl="1" hangingPunct="1"/>
            <a:r>
              <a:rPr lang="zh-CN" altLang="en-US" sz="2000" dirty="0"/>
              <a:t>步骤</a:t>
            </a:r>
            <a:r>
              <a:rPr lang="en-US" altLang="zh-CN" sz="2000" dirty="0"/>
              <a:t>5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lw</a:t>
            </a:r>
            <a:r>
              <a:rPr lang="zh-CN" altLang="en-US" sz="2000" dirty="0"/>
              <a:t>指令写寄存器堆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</a:p>
          <a:p>
            <a:r>
              <a:rPr lang="zh-CN" altLang="en-US" sz="2400" dirty="0"/>
              <a:t>单周期</a:t>
            </a:r>
            <a:r>
              <a:rPr lang="en-US" altLang="zh-CN" sz="2400" dirty="0"/>
              <a:t>CPU</a:t>
            </a:r>
            <a:r>
              <a:rPr lang="zh-CN" altLang="en-US" sz="2400" dirty="0"/>
              <a:t>周期</a:t>
            </a:r>
            <a:r>
              <a:rPr lang="en-US" altLang="zh-CN" sz="2400" dirty="0"/>
              <a:t>550ps</a:t>
            </a:r>
            <a:r>
              <a:rPr lang="zh-CN" altLang="en-US" sz="2400" dirty="0"/>
              <a:t>，小于</a:t>
            </a:r>
            <a:r>
              <a:rPr lang="en-US" altLang="zh-CN" sz="2400" dirty="0"/>
              <a:t>760ps</a:t>
            </a:r>
            <a:r>
              <a:rPr lang="zh-CN" altLang="en-US" sz="2400" dirty="0"/>
              <a:t>！</a:t>
            </a:r>
            <a:endParaRPr lang="en-US" altLang="zh-CN" sz="2400" dirty="0"/>
          </a:p>
          <a:p>
            <a:r>
              <a:rPr lang="zh-CN" altLang="en-US" sz="2400" dirty="0"/>
              <a:t>为什么？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lvl="1"/>
            <a:endParaRPr lang="en-US" altLang="zh-C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6B83-4AB8-E346-80FF-EE0F225C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64</a:t>
            </a:fld>
            <a:endParaRPr lang="en-US" altLang="zh-CN"/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D93FA473-D917-FA08-1D95-F371B16893BD}"/>
              </a:ext>
            </a:extLst>
          </p:cNvPr>
          <p:cNvSpPr/>
          <p:nvPr/>
        </p:nvSpPr>
        <p:spPr>
          <a:xfrm>
            <a:off x="6114757" y="2363373"/>
            <a:ext cx="2133600" cy="1242646"/>
          </a:xfrm>
          <a:prstGeom prst="clou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此为各阶段延时差异大的情形</a:t>
            </a:r>
          </a:p>
        </p:txBody>
      </p:sp>
    </p:spTree>
    <p:extLst>
      <p:ext uri="{BB962C8B-B14F-4D97-AF65-F5344CB8AC3E}">
        <p14:creationId xmlns:p14="http://schemas.microsoft.com/office/powerpoint/2010/main" val="2663250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A07A7-281D-4E41-B1F8-45AC7799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多周期实现的性能（情景二）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0923-6209-4A45-ADAE-E776C6843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4166"/>
            <a:ext cx="8430322" cy="4893973"/>
          </a:xfrm>
        </p:spPr>
        <p:txBody>
          <a:bodyPr/>
          <a:lstStyle/>
          <a:p>
            <a:r>
              <a:rPr lang="zh-CN" altLang="en-US" sz="2400" dirty="0"/>
              <a:t>若主存储器相对更慢，逻辑操作更快呢？假设所需时间为</a:t>
            </a:r>
            <a:endParaRPr lang="en-US" altLang="zh-CN" sz="2400" dirty="0"/>
          </a:p>
          <a:p>
            <a:pPr lvl="1" hangingPunct="1"/>
            <a:r>
              <a:rPr lang="zh-CN" altLang="en-US" sz="2000" dirty="0"/>
              <a:t>存储单元：</a:t>
            </a:r>
            <a:r>
              <a:rPr lang="en-US" altLang="zh-CN" sz="2000" dirty="0"/>
              <a:t>200ps</a:t>
            </a:r>
            <a:r>
              <a:rPr lang="zh-CN" altLang="en-US" sz="2000" dirty="0"/>
              <a:t>；</a:t>
            </a:r>
            <a:r>
              <a:rPr lang="en-US" altLang="zh-CN" sz="2000" dirty="0">
                <a:solidFill>
                  <a:srgbClr val="3333FF"/>
                </a:solidFill>
              </a:rPr>
              <a:t>ALU</a:t>
            </a:r>
            <a:r>
              <a:rPr lang="zh-CN" altLang="en-US" sz="2000" dirty="0">
                <a:solidFill>
                  <a:srgbClr val="3333FF"/>
                </a:solidFill>
              </a:rPr>
              <a:t>：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  <a:r>
              <a:rPr lang="zh-CN" altLang="en-US" sz="2000" dirty="0">
                <a:solidFill>
                  <a:srgbClr val="3333FF"/>
                </a:solidFill>
              </a:rPr>
              <a:t>；寄存器堆：</a:t>
            </a:r>
            <a:r>
              <a:rPr lang="en-US" altLang="zh-CN" sz="2000" dirty="0">
                <a:solidFill>
                  <a:srgbClr val="3333FF"/>
                </a:solidFill>
              </a:rPr>
              <a:t>50ps</a:t>
            </a:r>
          </a:p>
          <a:p>
            <a:pPr lvl="1"/>
            <a:r>
              <a:rPr lang="zh-CN" altLang="en-US" sz="2000" dirty="0">
                <a:solidFill>
                  <a:srgbClr val="3333FF"/>
                </a:solidFill>
              </a:rPr>
              <a:t>存储器阶段太慢</a:t>
            </a:r>
            <a:r>
              <a:rPr lang="zh-CN" altLang="en-US" sz="2000" dirty="0"/>
              <a:t>，拖累了原本较快的</a:t>
            </a:r>
            <a:r>
              <a:rPr lang="en-US" altLang="zh-CN" sz="2000" dirty="0"/>
              <a:t>ALU</a:t>
            </a:r>
            <a:r>
              <a:rPr lang="zh-CN" altLang="en-US" sz="2000" dirty="0"/>
              <a:t>计算等环节</a:t>
            </a:r>
            <a:endParaRPr lang="en-US" altLang="zh-CN" sz="2000" dirty="0"/>
          </a:p>
          <a:p>
            <a:pPr lvl="1"/>
            <a:r>
              <a:rPr lang="zh-CN" altLang="en-US" sz="2000" dirty="0"/>
              <a:t>对于需要全部五个阶段的</a:t>
            </a:r>
            <a:r>
              <a:rPr lang="en-US" altLang="zh-CN" sz="2000" dirty="0" err="1"/>
              <a:t>lw</a:t>
            </a:r>
            <a:r>
              <a:rPr lang="zh-CN" altLang="en-US" sz="2000" dirty="0"/>
              <a:t>指令，比单周期低效</a:t>
            </a:r>
            <a:endParaRPr lang="en-US" altLang="zh-CN" sz="2000" dirty="0"/>
          </a:p>
          <a:p>
            <a:pPr lvl="1"/>
            <a:r>
              <a:rPr lang="zh-CN" altLang="en-US" sz="2000" dirty="0"/>
              <a:t>只有当其他指令占比足够多，才能减少平均执行时间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6B83-4AB8-E346-80FF-EE0F225C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65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0AF688-5EFB-3836-4D3A-C86B81173981}"/>
              </a:ext>
            </a:extLst>
          </p:cNvPr>
          <p:cNvSpPr/>
          <p:nvPr/>
        </p:nvSpPr>
        <p:spPr>
          <a:xfrm>
            <a:off x="1728789" y="3556107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Instruction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fetch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0B92C1-2EB9-E807-8123-E64EE4F35893}"/>
              </a:ext>
            </a:extLst>
          </p:cNvPr>
          <p:cNvSpPr/>
          <p:nvPr/>
        </p:nvSpPr>
        <p:spPr>
          <a:xfrm>
            <a:off x="3128964" y="3556106"/>
            <a:ext cx="857249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8B88C6-DBDC-B85D-B407-95E2DB0A4E15}"/>
              </a:ext>
            </a:extLst>
          </p:cNvPr>
          <p:cNvSpPr/>
          <p:nvPr/>
        </p:nvSpPr>
        <p:spPr>
          <a:xfrm>
            <a:off x="3986214" y="3556106"/>
            <a:ext cx="542926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ALU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B1AF9F-AE64-9C16-299E-D0D3FCF36085}"/>
              </a:ext>
            </a:extLst>
          </p:cNvPr>
          <p:cNvSpPr/>
          <p:nvPr/>
        </p:nvSpPr>
        <p:spPr>
          <a:xfrm>
            <a:off x="4529139" y="3556106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Data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access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8BF2F-864A-D64F-37B5-BC085A722557}"/>
              </a:ext>
            </a:extLst>
          </p:cNvPr>
          <p:cNvSpPr/>
          <p:nvPr/>
        </p:nvSpPr>
        <p:spPr>
          <a:xfrm>
            <a:off x="5929314" y="3556106"/>
            <a:ext cx="857249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F8EAC8-8612-473B-B63F-2A7D27446128}"/>
              </a:ext>
            </a:extLst>
          </p:cNvPr>
          <p:cNvSpPr/>
          <p:nvPr/>
        </p:nvSpPr>
        <p:spPr>
          <a:xfrm>
            <a:off x="1728790" y="4359380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Instruction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fetch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A311EF-F9FE-E605-28A6-D799B19CCCA3}"/>
              </a:ext>
            </a:extLst>
          </p:cNvPr>
          <p:cNvSpPr/>
          <p:nvPr/>
        </p:nvSpPr>
        <p:spPr>
          <a:xfrm>
            <a:off x="3128965" y="4359379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9300A3-67BE-2326-C12E-ACD8CACB459F}"/>
              </a:ext>
            </a:extLst>
          </p:cNvPr>
          <p:cNvSpPr/>
          <p:nvPr/>
        </p:nvSpPr>
        <p:spPr>
          <a:xfrm>
            <a:off x="4529139" y="4359379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ALU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E20D71-9D57-888F-7776-15F1F1FC3E57}"/>
              </a:ext>
            </a:extLst>
          </p:cNvPr>
          <p:cNvSpPr/>
          <p:nvPr/>
        </p:nvSpPr>
        <p:spPr>
          <a:xfrm>
            <a:off x="5929315" y="4359379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Data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access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8DC419-E14F-461C-5FB0-C1143D9839C2}"/>
              </a:ext>
            </a:extLst>
          </p:cNvPr>
          <p:cNvSpPr/>
          <p:nvPr/>
        </p:nvSpPr>
        <p:spPr>
          <a:xfrm>
            <a:off x="7329490" y="4359379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27AACD-2B51-ACE9-AF40-36F0F516F795}"/>
              </a:ext>
            </a:extLst>
          </p:cNvPr>
          <p:cNvSpPr/>
          <p:nvPr/>
        </p:nvSpPr>
        <p:spPr>
          <a:xfrm>
            <a:off x="1728790" y="4925627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Instruction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fetch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41DBA1-7862-8780-D1FD-F69C06E37F06}"/>
              </a:ext>
            </a:extLst>
          </p:cNvPr>
          <p:cNvSpPr/>
          <p:nvPr/>
        </p:nvSpPr>
        <p:spPr>
          <a:xfrm>
            <a:off x="3128965" y="4925626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AD6D149-3D19-CB06-6CF1-5DD927BC1D15}"/>
              </a:ext>
            </a:extLst>
          </p:cNvPr>
          <p:cNvSpPr/>
          <p:nvPr/>
        </p:nvSpPr>
        <p:spPr>
          <a:xfrm>
            <a:off x="4529139" y="4925626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ALU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60490B-BF3C-1336-DEAC-2BF2B6CC884E}"/>
              </a:ext>
            </a:extLst>
          </p:cNvPr>
          <p:cNvSpPr/>
          <p:nvPr/>
        </p:nvSpPr>
        <p:spPr>
          <a:xfrm>
            <a:off x="5929315" y="4925626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7A3DE4-944D-ED88-C1E1-E8DD77EBF755}"/>
              </a:ext>
            </a:extLst>
          </p:cNvPr>
          <p:cNvSpPr/>
          <p:nvPr/>
        </p:nvSpPr>
        <p:spPr>
          <a:xfrm>
            <a:off x="1728790" y="5498132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Instruction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fetch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37D980-2DEB-6414-49AD-4F9EAD51D4F2}"/>
              </a:ext>
            </a:extLst>
          </p:cNvPr>
          <p:cNvSpPr/>
          <p:nvPr/>
        </p:nvSpPr>
        <p:spPr>
          <a:xfrm>
            <a:off x="3128965" y="5498131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07EA26-6F1D-4382-46BA-5FAC32D83CCE}"/>
              </a:ext>
            </a:extLst>
          </p:cNvPr>
          <p:cNvSpPr/>
          <p:nvPr/>
        </p:nvSpPr>
        <p:spPr>
          <a:xfrm>
            <a:off x="4529139" y="5498131"/>
            <a:ext cx="1400175" cy="3857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jump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1110D7-A81E-5CD1-202D-021227DB7546}"/>
              </a:ext>
            </a:extLst>
          </p:cNvPr>
          <p:cNvSpPr txBox="1"/>
          <p:nvPr/>
        </p:nvSpPr>
        <p:spPr>
          <a:xfrm>
            <a:off x="400917" y="3579874"/>
            <a:ext cx="1121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b="1" dirty="0">
                <a:latin typeface="+mn-lt"/>
                <a:ea typeface="+mn-ea"/>
              </a:rPr>
              <a:t>单周期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D7A562-44BF-5AF6-09DE-498F0BDE3D50}"/>
              </a:ext>
            </a:extLst>
          </p:cNvPr>
          <p:cNvSpPr txBox="1"/>
          <p:nvPr/>
        </p:nvSpPr>
        <p:spPr>
          <a:xfrm>
            <a:off x="400917" y="4377765"/>
            <a:ext cx="1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 dirty="0">
                <a:latin typeface="+mn-lt"/>
                <a:ea typeface="+mn-ea"/>
              </a:rPr>
              <a:t>多</a:t>
            </a:r>
            <a:r>
              <a:rPr lang="zh-CN" altLang="en-US" sz="1800" b="1" dirty="0">
                <a:latin typeface="+mn-lt"/>
                <a:ea typeface="+mn-ea"/>
              </a:rPr>
              <a:t>周期</a:t>
            </a:r>
            <a:r>
              <a:rPr lang="en-US" altLang="zh-CN" sz="1800" b="1" dirty="0" err="1">
                <a:latin typeface="+mn-lt"/>
                <a:ea typeface="+mn-ea"/>
              </a:rPr>
              <a:t>lw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A9811D-2BDF-4D5F-90D0-B377179DA4A6}"/>
              </a:ext>
            </a:extLst>
          </p:cNvPr>
          <p:cNvSpPr txBox="1"/>
          <p:nvPr/>
        </p:nvSpPr>
        <p:spPr>
          <a:xfrm>
            <a:off x="400917" y="4933841"/>
            <a:ext cx="1300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 dirty="0">
                <a:latin typeface="+mn-lt"/>
                <a:ea typeface="+mn-ea"/>
              </a:rPr>
              <a:t>多</a:t>
            </a:r>
            <a:r>
              <a:rPr lang="zh-CN" altLang="en-US" sz="1800" b="1" dirty="0">
                <a:latin typeface="+mn-lt"/>
                <a:ea typeface="+mn-ea"/>
              </a:rPr>
              <a:t>周期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型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2251B8-8B8D-AA6E-951E-BCE827394BDB}"/>
              </a:ext>
            </a:extLst>
          </p:cNvPr>
          <p:cNvSpPr txBox="1"/>
          <p:nvPr/>
        </p:nvSpPr>
        <p:spPr>
          <a:xfrm>
            <a:off x="400917" y="5506346"/>
            <a:ext cx="1450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 dirty="0">
                <a:latin typeface="+mn-lt"/>
                <a:ea typeface="+mn-ea"/>
              </a:rPr>
              <a:t>多</a:t>
            </a:r>
            <a:r>
              <a:rPr lang="zh-CN" altLang="en-US" sz="1800" b="1" dirty="0">
                <a:latin typeface="+mn-lt"/>
                <a:ea typeface="+mn-ea"/>
              </a:rPr>
              <a:t>周期跳转</a:t>
            </a:r>
            <a:endParaRPr lang="en-US" altLang="zh-CN" sz="1800" b="1" dirty="0">
              <a:latin typeface="+mn-lt"/>
              <a:ea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222CCA-5785-451E-5860-405C4EEBF6CA}"/>
              </a:ext>
            </a:extLst>
          </p:cNvPr>
          <p:cNvSpPr txBox="1"/>
          <p:nvPr/>
        </p:nvSpPr>
        <p:spPr>
          <a:xfrm>
            <a:off x="5411051" y="5380688"/>
            <a:ext cx="31003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zh-CN" altLang="en-US" sz="1800" b="1" dirty="0">
                <a:solidFill>
                  <a:srgbClr val="0432FF"/>
                </a:solidFill>
                <a:latin typeface="+mn-ea"/>
                <a:ea typeface="+mn-ea"/>
              </a:rPr>
              <a:t>这种指令必须足够多</a:t>
            </a:r>
            <a:endParaRPr lang="en-US" altLang="zh-CN" sz="1800" b="1" dirty="0">
              <a:solidFill>
                <a:srgbClr val="0432FF"/>
              </a:solidFill>
              <a:latin typeface="+mn-ea"/>
              <a:ea typeface="+mn-ea"/>
            </a:endParaRPr>
          </a:p>
          <a:p>
            <a:pPr lvl="1" algn="ctr"/>
            <a:r>
              <a:rPr lang="zh-CN" altLang="en-US" sz="1800" b="1" dirty="0">
                <a:solidFill>
                  <a:srgbClr val="0432FF"/>
                </a:solidFill>
                <a:latin typeface="+mn-ea"/>
                <a:ea typeface="+mn-ea"/>
              </a:rPr>
              <a:t>整体才有优化</a:t>
            </a:r>
            <a:endParaRPr lang="en-US" altLang="zh-CN" sz="1800" b="1" dirty="0">
              <a:solidFill>
                <a:srgbClr val="0432FF"/>
              </a:solidFill>
              <a:latin typeface="+mn-ea"/>
              <a:ea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543839-23CD-630A-1A41-70FF9BF0AF73}"/>
              </a:ext>
            </a:extLst>
          </p:cNvPr>
          <p:cNvSpPr txBox="1"/>
          <p:nvPr/>
        </p:nvSpPr>
        <p:spPr>
          <a:xfrm>
            <a:off x="1337459" y="6137549"/>
            <a:ext cx="7578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2400" b="1" dirty="0">
                <a:solidFill>
                  <a:srgbClr val="0432FF"/>
                </a:solidFill>
                <a:latin typeface="+mn-ea"/>
                <a:ea typeface="+mn-ea"/>
              </a:rPr>
              <a:t>多周期不一定更有效！多周期的意义？</a:t>
            </a:r>
            <a:endParaRPr lang="en-US" altLang="zh-CN" sz="2400" b="1" dirty="0">
              <a:solidFill>
                <a:srgbClr val="0432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30643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7ED41-ED26-49AC-A2EC-5031DAA9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小结：多周期数据通路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5D5DA-F8C0-4523-966A-F21EECC51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911013"/>
          </a:xfrm>
        </p:spPr>
        <p:txBody>
          <a:bodyPr/>
          <a:lstStyle/>
          <a:p>
            <a:r>
              <a:rPr lang="zh-CN" altLang="en-US" dirty="0"/>
              <a:t>允许指令占用不同数目的时钟周期</a:t>
            </a:r>
            <a:endParaRPr lang="en-US" altLang="zh-CN" dirty="0"/>
          </a:p>
          <a:p>
            <a:pPr lvl="1"/>
            <a:r>
              <a:rPr lang="zh-CN" altLang="en-US" dirty="0"/>
              <a:t>避免</a:t>
            </a:r>
            <a:r>
              <a:rPr lang="zh-CN" altLang="en-CN" dirty="0"/>
              <a:t>慢指令</a:t>
            </a:r>
            <a:r>
              <a:rPr lang="zh-CN" altLang="en-US" dirty="0"/>
              <a:t>拖累的程序执行速度</a:t>
            </a:r>
            <a:endParaRPr lang="en-US" altLang="zh-CN" dirty="0"/>
          </a:p>
          <a:p>
            <a:r>
              <a:rPr lang="zh-CN" altLang="en-US" dirty="0"/>
              <a:t>可在一条指令内多个步骤使用同一部件</a:t>
            </a:r>
            <a:endParaRPr lang="en-US" altLang="zh-CN" dirty="0"/>
          </a:p>
          <a:p>
            <a:pPr lvl="1"/>
            <a:r>
              <a:rPr lang="zh-CN" altLang="en-US" dirty="0"/>
              <a:t>可减少硬件成本</a:t>
            </a:r>
            <a:endParaRPr lang="en-US" altLang="zh-CN" dirty="0"/>
          </a:p>
          <a:p>
            <a:r>
              <a:rPr lang="zh-CN" altLang="en-US" dirty="0"/>
              <a:t>性能改进取决于具体个步骤的延时</a:t>
            </a:r>
            <a:endParaRPr lang="en-US" altLang="zh-CN" dirty="0"/>
          </a:p>
          <a:p>
            <a:pPr lvl="1"/>
            <a:r>
              <a:rPr lang="zh-CN" altLang="en-US" dirty="0"/>
              <a:t>与具体应用场景相关</a:t>
            </a:r>
            <a:endParaRPr lang="en-US" altLang="zh-CN" dirty="0"/>
          </a:p>
          <a:p>
            <a:r>
              <a:rPr lang="zh-CN" altLang="en-US" dirty="0">
                <a:solidFill>
                  <a:srgbClr val="3333FF"/>
                </a:solidFill>
              </a:rPr>
              <a:t>可进一步改进，哪些改进？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dirty="0">
                <a:solidFill>
                  <a:srgbClr val="3333FF"/>
                </a:solidFill>
              </a:rPr>
              <a:t>关键步骤用更多周期数执行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dirty="0">
                <a:solidFill>
                  <a:srgbClr val="3333FF"/>
                </a:solidFill>
              </a:rPr>
              <a:t>片上缓存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36E6D-F9CD-B247-B611-F82A476E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59203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b="0" dirty="0"/>
              <a:t>复习与回顾</a:t>
            </a:r>
            <a:endParaRPr lang="en-US" altLang="zh-CN" b="0" dirty="0"/>
          </a:p>
          <a:p>
            <a:pPr marL="342900" lvl="1" indent="-342900">
              <a:buFontTx/>
              <a:buChar char="•"/>
            </a:pPr>
            <a:r>
              <a:rPr lang="zh-CN" altLang="en-US" sz="3200" b="0" dirty="0">
                <a:cs typeface="+mn-cs"/>
              </a:rPr>
              <a:t>单周期数据通路设计流程</a:t>
            </a:r>
            <a:endParaRPr lang="en-US" altLang="zh-CN" sz="3200" b="0" dirty="0">
              <a:cs typeface="+mn-cs"/>
            </a:endParaRPr>
          </a:p>
          <a:p>
            <a:pPr lvl="1"/>
            <a:r>
              <a:rPr lang="zh-CN" altLang="en-US" sz="2400" b="0" dirty="0"/>
              <a:t>指令集和设计需求分析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功能模块设计</a:t>
            </a:r>
            <a:endParaRPr lang="en-US" altLang="zh-CN" b="0" dirty="0"/>
          </a:p>
          <a:p>
            <a:pPr lvl="1"/>
            <a:r>
              <a:rPr lang="zh-CN" altLang="en-US" sz="2400" b="0" dirty="0"/>
              <a:t>数据通路模块组装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控制信号分析与逻辑设计</a:t>
            </a:r>
            <a:endParaRPr lang="en-US" altLang="zh-CN" sz="2400" b="0" dirty="0"/>
          </a:p>
          <a:p>
            <a:r>
              <a:rPr lang="zh-CN" altLang="en-US" b="0" dirty="0"/>
              <a:t>单周期数据通路延时分析</a:t>
            </a:r>
            <a:endParaRPr lang="en-US" altLang="zh-CN" b="0" dirty="0"/>
          </a:p>
          <a:p>
            <a:r>
              <a:rPr lang="zh-CN" altLang="en-US" b="0" dirty="0"/>
              <a:t>多周期数据通路</a:t>
            </a:r>
            <a:endParaRPr lang="en-US" altLang="zh-CN" b="0" dirty="0"/>
          </a:p>
          <a:p>
            <a:r>
              <a:rPr lang="zh-CN" altLang="en-US" b="0" dirty="0">
                <a:solidFill>
                  <a:srgbClr val="3333FF"/>
                </a:solidFill>
              </a:rPr>
              <a:t>异常与中断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032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14618" y="3724820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算术与逻辑计算单元</a:t>
            </a:r>
          </a:p>
        </p:txBody>
      </p:sp>
      <p:sp>
        <p:nvSpPr>
          <p:cNvPr id="7" name="矩形 6"/>
          <p:cNvSpPr/>
          <p:nvPr/>
        </p:nvSpPr>
        <p:spPr>
          <a:xfrm>
            <a:off x="2379783" y="3724820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寄存器堆</a:t>
            </a:r>
          </a:p>
        </p:txBody>
      </p:sp>
      <p:sp>
        <p:nvSpPr>
          <p:cNvPr id="8" name="矩形 7"/>
          <p:cNvSpPr/>
          <p:nvPr/>
        </p:nvSpPr>
        <p:spPr>
          <a:xfrm>
            <a:off x="4968428" y="1685659"/>
            <a:ext cx="165553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指令译码模块</a:t>
            </a:r>
          </a:p>
        </p:txBody>
      </p:sp>
      <p:sp>
        <p:nvSpPr>
          <p:cNvPr id="9" name="矩形 8"/>
          <p:cNvSpPr/>
          <p:nvPr/>
        </p:nvSpPr>
        <p:spPr>
          <a:xfrm>
            <a:off x="511295" y="4029620"/>
            <a:ext cx="1227476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寻址单元</a:t>
            </a:r>
          </a:p>
        </p:txBody>
      </p:sp>
      <p:sp>
        <p:nvSpPr>
          <p:cNvPr id="10" name="矩形 9"/>
          <p:cNvSpPr/>
          <p:nvPr/>
        </p:nvSpPr>
        <p:spPr>
          <a:xfrm>
            <a:off x="1709518" y="1685659"/>
            <a:ext cx="156210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指令存储器</a:t>
            </a:r>
          </a:p>
        </p:txBody>
      </p:sp>
      <p:sp>
        <p:nvSpPr>
          <p:cNvPr id="11" name="矩形 10"/>
          <p:cNvSpPr/>
          <p:nvPr/>
        </p:nvSpPr>
        <p:spPr>
          <a:xfrm>
            <a:off x="7688757" y="3724819"/>
            <a:ext cx="1086725" cy="1231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数据存储器</a:t>
            </a:r>
          </a:p>
        </p:txBody>
      </p:sp>
      <p:cxnSp>
        <p:nvCxnSpPr>
          <p:cNvPr id="13" name="直接箭头连接符 12"/>
          <p:cNvCxnSpPr>
            <a:stCxn id="7" idx="3"/>
            <a:endCxn id="3" idx="1"/>
          </p:cNvCxnSpPr>
          <p:nvPr/>
        </p:nvCxnSpPr>
        <p:spPr>
          <a:xfrm>
            <a:off x="3770433" y="4343945"/>
            <a:ext cx="1144185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" idx="3"/>
            <a:endCxn id="11" idx="1"/>
          </p:cNvCxnSpPr>
          <p:nvPr/>
        </p:nvCxnSpPr>
        <p:spPr>
          <a:xfrm flipV="1">
            <a:off x="6305268" y="4340769"/>
            <a:ext cx="1383489" cy="3176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9" idx="0"/>
            <a:endCxn id="10" idx="1"/>
          </p:cNvCxnSpPr>
          <p:nvPr/>
        </p:nvCxnSpPr>
        <p:spPr>
          <a:xfrm rot="5400000" flipH="1" flipV="1">
            <a:off x="402457" y="2722560"/>
            <a:ext cx="2029636" cy="58448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0" idx="3"/>
            <a:endCxn id="8" idx="1"/>
          </p:cNvCxnSpPr>
          <p:nvPr/>
        </p:nvCxnSpPr>
        <p:spPr>
          <a:xfrm>
            <a:off x="3271618" y="1999984"/>
            <a:ext cx="16968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7" idx="2"/>
            <a:endCxn id="11" idx="2"/>
          </p:cNvCxnSpPr>
          <p:nvPr/>
        </p:nvCxnSpPr>
        <p:spPr>
          <a:xfrm rot="5400000" flipH="1" flipV="1">
            <a:off x="5650438" y="2381388"/>
            <a:ext cx="6352" cy="5157012"/>
          </a:xfrm>
          <a:prstGeom prst="bentConnector3">
            <a:avLst>
              <a:gd name="adj1" fmla="val -19793766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11295" y="2323126"/>
            <a:ext cx="422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指令的选择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439320" y="1566892"/>
            <a:ext cx="149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指令的读取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4151807" y="5876747"/>
            <a:ext cx="353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数据在寄存器与存储器间的读写</a:t>
            </a:r>
          </a:p>
        </p:txBody>
      </p:sp>
      <p:cxnSp>
        <p:nvCxnSpPr>
          <p:cNvPr id="97" name="肘形连接符 96"/>
          <p:cNvCxnSpPr>
            <a:stCxn id="7" idx="2"/>
            <a:endCxn id="3" idx="2"/>
          </p:cNvCxnSpPr>
          <p:nvPr/>
        </p:nvCxnSpPr>
        <p:spPr>
          <a:xfrm rot="16200000" flipH="1">
            <a:off x="4342525" y="3695652"/>
            <a:ext cx="12700" cy="2534835"/>
          </a:xfrm>
          <a:prstGeom prst="bentConnector3">
            <a:avLst>
              <a:gd name="adj1" fmla="val 6121425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286920" y="5409580"/>
            <a:ext cx="242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计算结果写回寄存器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3933746" y="3890362"/>
            <a:ext cx="91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操作数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6444802" y="3960293"/>
            <a:ext cx="110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</a:t>
            </a:r>
          </a:p>
        </p:txBody>
      </p:sp>
      <p:sp>
        <p:nvSpPr>
          <p:cNvPr id="173" name="Rectangle 6"/>
          <p:cNvSpPr txBox="1">
            <a:spLocks noChangeArrowheads="1"/>
          </p:cNvSpPr>
          <p:nvPr/>
        </p:nvSpPr>
        <p:spPr bwMode="auto">
          <a:xfrm>
            <a:off x="7486662" y="3194767"/>
            <a:ext cx="1883001" cy="32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endParaRPr lang="en-US" altLang="en-US" sz="1800" kern="0" dirty="0">
              <a:latin typeface="+mn-lt"/>
              <a:ea typeface="+mn-ea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AC566F5-E63C-FD4B-8A33-5CD71685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典型的处理器架构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5EF08F-B0BD-8347-AD6B-C9EFFD5C8288}"/>
              </a:ext>
            </a:extLst>
          </p:cNvPr>
          <p:cNvGrpSpPr/>
          <p:nvPr/>
        </p:nvGrpSpPr>
        <p:grpSpPr>
          <a:xfrm>
            <a:off x="1125033" y="2314309"/>
            <a:ext cx="7107087" cy="1715311"/>
            <a:chOff x="1116068" y="2762544"/>
            <a:chExt cx="7107087" cy="1715311"/>
          </a:xfrm>
        </p:grpSpPr>
        <p:cxnSp>
          <p:nvCxnSpPr>
            <p:cNvPr id="32" name="直接箭头连接符 18">
              <a:extLst>
                <a:ext uri="{FF2B5EF4-FFF2-40B4-BE49-F238E27FC236}">
                  <a16:creationId xmlns:a16="http://schemas.microsoft.com/office/drawing/2014/main" id="{528F4AC6-573E-B142-A09C-8906E0B4DFEC}"/>
                </a:ext>
              </a:extLst>
            </p:cNvPr>
            <p:cNvCxnSpPr/>
            <p:nvPr/>
          </p:nvCxnSpPr>
          <p:spPr>
            <a:xfrm flipH="1">
              <a:off x="5600978" y="2762544"/>
              <a:ext cx="186250" cy="14105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21">
              <a:extLst>
                <a:ext uri="{FF2B5EF4-FFF2-40B4-BE49-F238E27FC236}">
                  <a16:creationId xmlns:a16="http://schemas.microsoft.com/office/drawing/2014/main" id="{6BFA32B6-8979-0146-BABD-A95C55DA8732}"/>
                </a:ext>
              </a:extLst>
            </p:cNvPr>
            <p:cNvCxnSpPr/>
            <p:nvPr/>
          </p:nvCxnSpPr>
          <p:spPr>
            <a:xfrm flipH="1">
              <a:off x="3066143" y="2762544"/>
              <a:ext cx="2721085" cy="14105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24">
              <a:extLst>
                <a:ext uri="{FF2B5EF4-FFF2-40B4-BE49-F238E27FC236}">
                  <a16:creationId xmlns:a16="http://schemas.microsoft.com/office/drawing/2014/main" id="{18FE0D10-362C-8C44-9932-45CB4804D549}"/>
                </a:ext>
              </a:extLst>
            </p:cNvPr>
            <p:cNvCxnSpPr/>
            <p:nvPr/>
          </p:nvCxnSpPr>
          <p:spPr>
            <a:xfrm>
              <a:off x="5787228" y="2762544"/>
              <a:ext cx="2435927" cy="141051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63">
              <a:extLst>
                <a:ext uri="{FF2B5EF4-FFF2-40B4-BE49-F238E27FC236}">
                  <a16:creationId xmlns:a16="http://schemas.microsoft.com/office/drawing/2014/main" id="{8EEA5A15-9C67-CE46-A02E-19BA20D91CF8}"/>
                </a:ext>
              </a:extLst>
            </p:cNvPr>
            <p:cNvCxnSpPr/>
            <p:nvPr/>
          </p:nvCxnSpPr>
          <p:spPr>
            <a:xfrm flipH="1">
              <a:off x="1116068" y="2762544"/>
              <a:ext cx="4671160" cy="17153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EF83CF2F-AA3B-8E4A-87E1-9588A3D7ED13}"/>
              </a:ext>
            </a:extLst>
          </p:cNvPr>
          <p:cNvCxnSpPr/>
          <p:nvPr/>
        </p:nvCxnSpPr>
        <p:spPr>
          <a:xfrm rot="5400000">
            <a:off x="3896701" y="1557958"/>
            <a:ext cx="328645" cy="5871979"/>
          </a:xfrm>
          <a:prstGeom prst="bentConnector3">
            <a:avLst>
              <a:gd name="adj1" fmla="val 296212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A8D4B08E-08EA-B348-9DB4-247615B63C5C}"/>
              </a:ext>
            </a:extLst>
          </p:cNvPr>
          <p:cNvSpPr txBox="1"/>
          <p:nvPr/>
        </p:nvSpPr>
        <p:spPr>
          <a:xfrm>
            <a:off x="3654724" y="2798791"/>
            <a:ext cx="1998890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控制信号的分发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01CA7E-5CEF-1444-861D-02DC7896E5C8}"/>
              </a:ext>
            </a:extLst>
          </p:cNvPr>
          <p:cNvSpPr txBox="1"/>
          <p:nvPr/>
        </p:nvSpPr>
        <p:spPr>
          <a:xfrm>
            <a:off x="5919593" y="4969420"/>
            <a:ext cx="1208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分支跳转控制信号</a:t>
            </a: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E02D613A-B095-3BAB-CE0D-AA3E3A7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68</a:t>
            </a:fld>
            <a:endParaRPr lang="en-US" altLang="zh-CN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775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14618" y="3724820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算术与逻辑计算单元</a:t>
            </a:r>
          </a:p>
        </p:txBody>
      </p:sp>
      <p:sp>
        <p:nvSpPr>
          <p:cNvPr id="7" name="矩形 6"/>
          <p:cNvSpPr/>
          <p:nvPr/>
        </p:nvSpPr>
        <p:spPr>
          <a:xfrm>
            <a:off x="2379783" y="3724820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寄存器堆</a:t>
            </a:r>
          </a:p>
        </p:txBody>
      </p:sp>
      <p:sp>
        <p:nvSpPr>
          <p:cNvPr id="8" name="矩形 7"/>
          <p:cNvSpPr/>
          <p:nvPr/>
        </p:nvSpPr>
        <p:spPr>
          <a:xfrm>
            <a:off x="4968428" y="1685659"/>
            <a:ext cx="165553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指令译码模块</a:t>
            </a:r>
          </a:p>
        </p:txBody>
      </p:sp>
      <p:sp>
        <p:nvSpPr>
          <p:cNvPr id="9" name="矩形 8"/>
          <p:cNvSpPr/>
          <p:nvPr/>
        </p:nvSpPr>
        <p:spPr>
          <a:xfrm>
            <a:off x="511295" y="4029620"/>
            <a:ext cx="1227476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寻址单元</a:t>
            </a:r>
          </a:p>
        </p:txBody>
      </p:sp>
      <p:sp>
        <p:nvSpPr>
          <p:cNvPr id="10" name="矩形 9"/>
          <p:cNvSpPr/>
          <p:nvPr/>
        </p:nvSpPr>
        <p:spPr>
          <a:xfrm>
            <a:off x="1709518" y="1685659"/>
            <a:ext cx="156210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指令存储器</a:t>
            </a:r>
          </a:p>
        </p:txBody>
      </p:sp>
      <p:sp>
        <p:nvSpPr>
          <p:cNvPr id="11" name="矩形 10"/>
          <p:cNvSpPr/>
          <p:nvPr/>
        </p:nvSpPr>
        <p:spPr>
          <a:xfrm>
            <a:off x="7688757" y="3724819"/>
            <a:ext cx="1086725" cy="1231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数据存储器</a:t>
            </a:r>
          </a:p>
        </p:txBody>
      </p:sp>
      <p:cxnSp>
        <p:nvCxnSpPr>
          <p:cNvPr id="13" name="直接箭头连接符 12"/>
          <p:cNvCxnSpPr>
            <a:stCxn id="7" idx="3"/>
            <a:endCxn id="3" idx="1"/>
          </p:cNvCxnSpPr>
          <p:nvPr/>
        </p:nvCxnSpPr>
        <p:spPr>
          <a:xfrm>
            <a:off x="3770433" y="4343945"/>
            <a:ext cx="1144185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" idx="3"/>
            <a:endCxn id="11" idx="1"/>
          </p:cNvCxnSpPr>
          <p:nvPr/>
        </p:nvCxnSpPr>
        <p:spPr>
          <a:xfrm flipV="1">
            <a:off x="6305268" y="4340769"/>
            <a:ext cx="1383489" cy="3176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9" idx="0"/>
            <a:endCxn id="10" idx="1"/>
          </p:cNvCxnSpPr>
          <p:nvPr/>
        </p:nvCxnSpPr>
        <p:spPr>
          <a:xfrm rot="5400000" flipH="1" flipV="1">
            <a:off x="402457" y="2722560"/>
            <a:ext cx="2029636" cy="584485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0" idx="3"/>
            <a:endCxn id="8" idx="1"/>
          </p:cNvCxnSpPr>
          <p:nvPr/>
        </p:nvCxnSpPr>
        <p:spPr>
          <a:xfrm>
            <a:off x="3271618" y="1999984"/>
            <a:ext cx="169681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7" idx="2"/>
            <a:endCxn id="11" idx="2"/>
          </p:cNvCxnSpPr>
          <p:nvPr/>
        </p:nvCxnSpPr>
        <p:spPr>
          <a:xfrm rot="5400000" flipH="1" flipV="1">
            <a:off x="5650438" y="2381388"/>
            <a:ext cx="6352" cy="5157012"/>
          </a:xfrm>
          <a:prstGeom prst="bentConnector3">
            <a:avLst>
              <a:gd name="adj1" fmla="val -19793766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11295" y="2323126"/>
            <a:ext cx="422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指令的选择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439320" y="1566892"/>
            <a:ext cx="149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指令的读取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4151807" y="5876747"/>
            <a:ext cx="353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数据在寄存器与存储器间的读写</a:t>
            </a:r>
          </a:p>
        </p:txBody>
      </p:sp>
      <p:cxnSp>
        <p:nvCxnSpPr>
          <p:cNvPr id="97" name="肘形连接符 96"/>
          <p:cNvCxnSpPr>
            <a:stCxn id="7" idx="2"/>
            <a:endCxn id="3" idx="2"/>
          </p:cNvCxnSpPr>
          <p:nvPr/>
        </p:nvCxnSpPr>
        <p:spPr>
          <a:xfrm rot="16200000" flipH="1">
            <a:off x="4342525" y="3695652"/>
            <a:ext cx="12700" cy="2534835"/>
          </a:xfrm>
          <a:prstGeom prst="bentConnector3">
            <a:avLst>
              <a:gd name="adj1" fmla="val 6121425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286920" y="5409580"/>
            <a:ext cx="242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计算结果写回寄存器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3933746" y="3890362"/>
            <a:ext cx="91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操作数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6444802" y="3960293"/>
            <a:ext cx="110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</a:t>
            </a:r>
          </a:p>
        </p:txBody>
      </p:sp>
      <p:sp>
        <p:nvSpPr>
          <p:cNvPr id="173" name="Rectangle 6"/>
          <p:cNvSpPr txBox="1">
            <a:spLocks noChangeArrowheads="1"/>
          </p:cNvSpPr>
          <p:nvPr/>
        </p:nvSpPr>
        <p:spPr bwMode="auto">
          <a:xfrm>
            <a:off x="7486662" y="3194767"/>
            <a:ext cx="1883001" cy="32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endParaRPr lang="en-US" altLang="en-US" sz="1800" kern="0" dirty="0">
              <a:latin typeface="+mn-lt"/>
              <a:ea typeface="+mn-ea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AC566F5-E63C-FD4B-8A33-5CD71685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</a:rPr>
              <a:t>MIPS</a:t>
            </a:r>
            <a:r>
              <a:rPr lang="zh-CN" altLang="en-US" dirty="0">
                <a:latin typeface="+mn-lt"/>
                <a:ea typeface="+mn-ea"/>
              </a:rPr>
              <a:t>处理器可能的异常类型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5EF08F-B0BD-8347-AD6B-C9EFFD5C8288}"/>
              </a:ext>
            </a:extLst>
          </p:cNvPr>
          <p:cNvGrpSpPr/>
          <p:nvPr/>
        </p:nvGrpSpPr>
        <p:grpSpPr>
          <a:xfrm>
            <a:off x="1125033" y="2314309"/>
            <a:ext cx="7107087" cy="1715311"/>
            <a:chOff x="1116068" y="2762544"/>
            <a:chExt cx="7107087" cy="1715311"/>
          </a:xfrm>
        </p:grpSpPr>
        <p:cxnSp>
          <p:nvCxnSpPr>
            <p:cNvPr id="32" name="直接箭头连接符 18">
              <a:extLst>
                <a:ext uri="{FF2B5EF4-FFF2-40B4-BE49-F238E27FC236}">
                  <a16:creationId xmlns:a16="http://schemas.microsoft.com/office/drawing/2014/main" id="{528F4AC6-573E-B142-A09C-8906E0B4DFEC}"/>
                </a:ext>
              </a:extLst>
            </p:cNvPr>
            <p:cNvCxnSpPr/>
            <p:nvPr/>
          </p:nvCxnSpPr>
          <p:spPr>
            <a:xfrm flipH="1">
              <a:off x="5600978" y="2762544"/>
              <a:ext cx="186250" cy="14105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21">
              <a:extLst>
                <a:ext uri="{FF2B5EF4-FFF2-40B4-BE49-F238E27FC236}">
                  <a16:creationId xmlns:a16="http://schemas.microsoft.com/office/drawing/2014/main" id="{6BFA32B6-8979-0146-BABD-A95C55DA8732}"/>
                </a:ext>
              </a:extLst>
            </p:cNvPr>
            <p:cNvCxnSpPr/>
            <p:nvPr/>
          </p:nvCxnSpPr>
          <p:spPr>
            <a:xfrm flipH="1">
              <a:off x="3066143" y="2762544"/>
              <a:ext cx="2721085" cy="14105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24">
              <a:extLst>
                <a:ext uri="{FF2B5EF4-FFF2-40B4-BE49-F238E27FC236}">
                  <a16:creationId xmlns:a16="http://schemas.microsoft.com/office/drawing/2014/main" id="{18FE0D10-362C-8C44-9932-45CB4804D549}"/>
                </a:ext>
              </a:extLst>
            </p:cNvPr>
            <p:cNvCxnSpPr/>
            <p:nvPr/>
          </p:nvCxnSpPr>
          <p:spPr>
            <a:xfrm>
              <a:off x="5787228" y="2762544"/>
              <a:ext cx="2435927" cy="141051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63">
              <a:extLst>
                <a:ext uri="{FF2B5EF4-FFF2-40B4-BE49-F238E27FC236}">
                  <a16:creationId xmlns:a16="http://schemas.microsoft.com/office/drawing/2014/main" id="{8EEA5A15-9C67-CE46-A02E-19BA20D91CF8}"/>
                </a:ext>
              </a:extLst>
            </p:cNvPr>
            <p:cNvCxnSpPr/>
            <p:nvPr/>
          </p:nvCxnSpPr>
          <p:spPr>
            <a:xfrm flipH="1">
              <a:off x="1116068" y="2762544"/>
              <a:ext cx="4671160" cy="171531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EF83CF2F-AA3B-8E4A-87E1-9588A3D7ED13}"/>
              </a:ext>
            </a:extLst>
          </p:cNvPr>
          <p:cNvCxnSpPr/>
          <p:nvPr/>
        </p:nvCxnSpPr>
        <p:spPr>
          <a:xfrm rot="5400000">
            <a:off x="3896701" y="1557958"/>
            <a:ext cx="328645" cy="5871979"/>
          </a:xfrm>
          <a:prstGeom prst="bentConnector3">
            <a:avLst>
              <a:gd name="adj1" fmla="val 296212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标注 1"/>
          <p:cNvSpPr/>
          <p:nvPr/>
        </p:nvSpPr>
        <p:spPr>
          <a:xfrm>
            <a:off x="6837879" y="1409560"/>
            <a:ext cx="1161022" cy="636058"/>
          </a:xfrm>
          <a:prstGeom prst="wedgeRectCallout">
            <a:avLst>
              <a:gd name="adj1" fmla="val -64073"/>
              <a:gd name="adj2" fmla="val 38540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未知指令</a:t>
            </a:r>
          </a:p>
        </p:txBody>
      </p:sp>
      <p:sp>
        <p:nvSpPr>
          <p:cNvPr id="40" name="矩形标注 39"/>
          <p:cNvSpPr/>
          <p:nvPr/>
        </p:nvSpPr>
        <p:spPr>
          <a:xfrm>
            <a:off x="2417476" y="2951800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2" name="矩形标注 41"/>
          <p:cNvSpPr/>
          <p:nvPr/>
        </p:nvSpPr>
        <p:spPr>
          <a:xfrm>
            <a:off x="7714551" y="2951800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3" name="矩形标注 42"/>
          <p:cNvSpPr/>
          <p:nvPr/>
        </p:nvSpPr>
        <p:spPr>
          <a:xfrm>
            <a:off x="5858788" y="2942959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算术溢出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F01CA7E-5CEF-1444-861D-02DC7896E5C8}"/>
              </a:ext>
            </a:extLst>
          </p:cNvPr>
          <p:cNvSpPr txBox="1"/>
          <p:nvPr/>
        </p:nvSpPr>
        <p:spPr>
          <a:xfrm>
            <a:off x="5919593" y="4969420"/>
            <a:ext cx="1208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分支跳转控制信号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755DAA-4CD5-E71E-D38C-B9180186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69</a:t>
            </a:fld>
            <a:endParaRPr lang="en-US" altLang="zh-CN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3398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的异常和中断处理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173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一般来说，异常和中断是可以改变正常指令执行流程的事件 </a:t>
            </a:r>
            <a:r>
              <a:rPr lang="en-US" altLang="zh-CN" sz="2800" dirty="0"/>
              <a:t>(</a:t>
            </a:r>
            <a:r>
              <a:rPr lang="zh-CN" altLang="en-US" sz="2800" dirty="0"/>
              <a:t>除分支和跳转外</a:t>
            </a:r>
            <a:r>
              <a:rPr lang="en-US" altLang="zh-CN" sz="2800" dirty="0"/>
              <a:t>)</a:t>
            </a:r>
          </a:p>
          <a:p>
            <a:pPr>
              <a:defRPr/>
            </a:pPr>
            <a:r>
              <a:rPr lang="zh-CN" altLang="en-US" sz="2800" dirty="0"/>
              <a:t>异常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>
                <a:solidFill>
                  <a:srgbClr val="3333FF"/>
                </a:solidFill>
              </a:rPr>
              <a:t>内部</a:t>
            </a:r>
            <a:r>
              <a:rPr lang="zh-CN" altLang="en-US" sz="2400" dirty="0"/>
              <a:t>不可预测事件、如溢出</a:t>
            </a:r>
            <a:endParaRPr lang="en-US" altLang="zh-CN" sz="2400" dirty="0"/>
          </a:p>
          <a:p>
            <a:pPr>
              <a:defRPr/>
            </a:pPr>
            <a:r>
              <a:rPr lang="zh-CN" altLang="en-US" sz="2800" dirty="0"/>
              <a:t>中断</a:t>
            </a:r>
            <a:endParaRPr lang="en-US" altLang="zh-CN" sz="2800" dirty="0"/>
          </a:p>
          <a:p>
            <a:pPr lvl="1">
              <a:defRPr/>
            </a:pPr>
            <a:r>
              <a:rPr lang="zh-CN" altLang="en-US" sz="2400" dirty="0">
                <a:solidFill>
                  <a:srgbClr val="3333FF"/>
                </a:solidFill>
              </a:rPr>
              <a:t>外部</a:t>
            </a:r>
            <a:r>
              <a:rPr lang="zh-CN" altLang="en-US" sz="2400" dirty="0"/>
              <a:t>不可预知事件、如</a:t>
            </a:r>
            <a:r>
              <a:rPr lang="en-US" altLang="zh-CN" sz="2400" dirty="0"/>
              <a:t>I/O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7FE18-6B38-8248-82EB-6ED45826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DEBB38-FACD-4A19-A24D-6CD7D9760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7900"/>
            <a:ext cx="9144000" cy="198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809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的异常和中断处理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异常和中断的区别</a:t>
            </a:r>
            <a:endParaRPr lang="en-US" altLang="zh-CN" sz="2800" dirty="0"/>
          </a:p>
          <a:p>
            <a:pPr lvl="1" eaLnBrk="1" hangingPunct="1"/>
            <a:r>
              <a:rPr kumimoji="1" lang="zh-CN" altLang="en-US" sz="2400" dirty="0"/>
              <a:t>中断</a:t>
            </a:r>
            <a:endParaRPr kumimoji="1" lang="en-US" altLang="zh-CN" sz="2400" dirty="0"/>
          </a:p>
          <a:p>
            <a:pPr lvl="2"/>
            <a:r>
              <a:rPr kumimoji="1" lang="zh-CN" altLang="en-US" sz="2000" dirty="0"/>
              <a:t>异步事件</a:t>
            </a:r>
            <a:endParaRPr kumimoji="1" lang="en-US" altLang="zh-CN" sz="2000" dirty="0"/>
          </a:p>
          <a:p>
            <a:pPr lvl="2"/>
            <a:r>
              <a:rPr kumimoji="1" lang="zh-CN" altLang="en-US" sz="2000" dirty="0"/>
              <a:t>与处理器正在执行的指令无关。</a:t>
            </a:r>
            <a:endParaRPr kumimoji="1" lang="en-US" altLang="zh-CN" sz="2000" dirty="0"/>
          </a:p>
          <a:p>
            <a:pPr lvl="2"/>
            <a:r>
              <a:rPr kumimoji="1" lang="zh-CN" altLang="en-US" sz="2000" b="0" dirty="0"/>
              <a:t>主要由</a:t>
            </a:r>
            <a:r>
              <a:rPr kumimoji="1" lang="en-US" altLang="zh-CN" sz="2000" b="0" dirty="0"/>
              <a:t>I/O</a:t>
            </a:r>
            <a:r>
              <a:rPr kumimoji="1" lang="zh-CN" altLang="en-US" sz="2000" b="0" dirty="0"/>
              <a:t>设备产生</a:t>
            </a:r>
            <a:endParaRPr kumimoji="1" lang="en-US" altLang="zh-CN" sz="2000" b="0" dirty="0"/>
          </a:p>
          <a:p>
            <a:pPr lvl="2"/>
            <a:r>
              <a:rPr kumimoji="1" lang="zh-CN" altLang="en-US" sz="2000" b="0" dirty="0">
                <a:solidFill>
                  <a:srgbClr val="3333FF"/>
                </a:solidFill>
              </a:rPr>
              <a:t>一种特殊的异常</a:t>
            </a:r>
          </a:p>
          <a:p>
            <a:pPr lvl="1" eaLnBrk="1" hangingPunct="1"/>
            <a:r>
              <a:rPr kumimoji="1" lang="zh-CN" altLang="en-US" sz="2400" dirty="0"/>
              <a:t>异常</a:t>
            </a:r>
            <a:endParaRPr kumimoji="1" lang="en-US" altLang="zh-CN" sz="2400" dirty="0"/>
          </a:p>
          <a:p>
            <a:pPr lvl="2"/>
            <a:r>
              <a:rPr kumimoji="1" lang="zh-CN" altLang="en-US" sz="2000" dirty="0"/>
              <a:t>一般为同步事件</a:t>
            </a:r>
            <a:endParaRPr kumimoji="1" lang="en-US" altLang="zh-CN" sz="2000" dirty="0"/>
          </a:p>
          <a:p>
            <a:pPr lvl="2"/>
            <a:r>
              <a:rPr kumimoji="1" lang="zh-CN" altLang="en-US" sz="2000" b="0" dirty="0"/>
              <a:t>某一特定指令执行的结果。</a:t>
            </a:r>
            <a:endParaRPr kumimoji="1" lang="en-US" altLang="zh-CN" sz="2000" b="0" dirty="0"/>
          </a:p>
          <a:p>
            <a:pPr lvl="2"/>
            <a:r>
              <a:rPr kumimoji="1" lang="zh-CN" altLang="en-US" sz="2000" b="0" dirty="0"/>
              <a:t>在相同条件下，异常可以重现。</a:t>
            </a:r>
            <a:endParaRPr kumimoji="1" lang="en-US" altLang="zh-CN" sz="2000" b="0" dirty="0"/>
          </a:p>
          <a:p>
            <a:pPr lvl="2"/>
            <a:r>
              <a:rPr kumimoji="1" lang="zh-CN" altLang="en-US" sz="2000" b="0" dirty="0"/>
              <a:t>例如，内存访问错误、被零除等是典型的异常</a:t>
            </a:r>
          </a:p>
          <a:p>
            <a:pPr lvl="2"/>
            <a:r>
              <a:rPr kumimoji="1" lang="zh-CN" altLang="en-US" sz="2000" dirty="0"/>
              <a:t>系统服务调用通常视作异常</a:t>
            </a:r>
          </a:p>
          <a:p>
            <a:pPr lvl="1"/>
            <a:endParaRPr lang="zh-CN" alt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B5B18-D6F0-F54D-B813-12360CD0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45894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">
            <a:extLst>
              <a:ext uri="{FF2B5EF4-FFF2-40B4-BE49-F238E27FC236}">
                <a16:creationId xmlns:a16="http://schemas.microsoft.com/office/drawing/2014/main" id="{7330CB92-57AF-43BE-A2D7-7D76F475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0" y="2433638"/>
            <a:ext cx="2170113" cy="35210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34" name="矩形 5">
            <a:extLst>
              <a:ext uri="{FF2B5EF4-FFF2-40B4-BE49-F238E27FC236}">
                <a16:creationId xmlns:a16="http://schemas.microsoft.com/office/drawing/2014/main" id="{FF509E05-B316-4483-ACE1-973620574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2436813"/>
            <a:ext cx="2170112" cy="35210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66F50-AE9B-814E-A7B1-07349BD0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72</a:t>
            </a:fld>
            <a:endParaRPr lang="en-US" altLang="zh-CN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4E4269A-6E37-4F3A-897F-C22A85787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1911350"/>
            <a:ext cx="16271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用户程序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E323C87-A5D7-4DA2-8AF1-97AB9B944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1911350"/>
            <a:ext cx="2347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异常处理程序</a:t>
            </a:r>
          </a:p>
        </p:txBody>
      </p:sp>
      <p:cxnSp>
        <p:nvCxnSpPr>
          <p:cNvPr id="9" name="直接连接符 10">
            <a:extLst>
              <a:ext uri="{FF2B5EF4-FFF2-40B4-BE49-F238E27FC236}">
                <a16:creationId xmlns:a16="http://schemas.microsoft.com/office/drawing/2014/main" id="{1DAD71C8-E148-4EED-AFAE-A21882CB4E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2962275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11">
            <a:extLst>
              <a:ext uri="{FF2B5EF4-FFF2-40B4-BE49-F238E27FC236}">
                <a16:creationId xmlns:a16="http://schemas.microsoft.com/office/drawing/2014/main" id="{87442756-D9B0-447A-9866-F3DC9AB431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3324225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2">
            <a:extLst>
              <a:ext uri="{FF2B5EF4-FFF2-40B4-BE49-F238E27FC236}">
                <a16:creationId xmlns:a16="http://schemas.microsoft.com/office/drawing/2014/main" id="{109AE342-CAB0-4480-9AE3-7462E0F9C6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3687763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3">
            <a:extLst>
              <a:ext uri="{FF2B5EF4-FFF2-40B4-BE49-F238E27FC236}">
                <a16:creationId xmlns:a16="http://schemas.microsoft.com/office/drawing/2014/main" id="{7147614F-E878-42FF-B5E9-0B43AD252A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4049713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4">
            <a:extLst>
              <a:ext uri="{FF2B5EF4-FFF2-40B4-BE49-F238E27FC236}">
                <a16:creationId xmlns:a16="http://schemas.microsoft.com/office/drawing/2014/main" id="{635239E6-2D12-48A1-B8C3-835DA3BEC7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4413250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5">
            <a:extLst>
              <a:ext uri="{FF2B5EF4-FFF2-40B4-BE49-F238E27FC236}">
                <a16:creationId xmlns:a16="http://schemas.microsoft.com/office/drawing/2014/main" id="{090D820D-2185-4E55-84A5-8B4B501138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4776788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6">
            <a:extLst>
              <a:ext uri="{FF2B5EF4-FFF2-40B4-BE49-F238E27FC236}">
                <a16:creationId xmlns:a16="http://schemas.microsoft.com/office/drawing/2014/main" id="{A11CA73F-249F-4052-8430-05DA50BA6F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5138738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连接符 17">
            <a:extLst>
              <a:ext uri="{FF2B5EF4-FFF2-40B4-BE49-F238E27FC236}">
                <a16:creationId xmlns:a16="http://schemas.microsoft.com/office/drawing/2014/main" id="{89793DAB-5D6D-44C9-8F64-97ED235364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0538" y="5502275"/>
            <a:ext cx="1504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9">
            <a:extLst>
              <a:ext uri="{FF2B5EF4-FFF2-40B4-BE49-F238E27FC236}">
                <a16:creationId xmlns:a16="http://schemas.microsoft.com/office/drawing/2014/main" id="{A865D436-F811-4540-9BFC-82DFCC6F20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97025" y="2921000"/>
            <a:ext cx="0" cy="25320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20">
            <a:extLst>
              <a:ext uri="{FF2B5EF4-FFF2-40B4-BE49-F238E27FC236}">
                <a16:creationId xmlns:a16="http://schemas.microsoft.com/office/drawing/2014/main" id="{78B15A48-B658-42F1-A165-EC812497A6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2962275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21">
            <a:extLst>
              <a:ext uri="{FF2B5EF4-FFF2-40B4-BE49-F238E27FC236}">
                <a16:creationId xmlns:a16="http://schemas.microsoft.com/office/drawing/2014/main" id="{86498F4B-49BE-4D3D-80DF-F9C397C050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3324225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22">
            <a:extLst>
              <a:ext uri="{FF2B5EF4-FFF2-40B4-BE49-F238E27FC236}">
                <a16:creationId xmlns:a16="http://schemas.microsoft.com/office/drawing/2014/main" id="{F0D6E6E5-C577-4D67-882E-5F4204805E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3687763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3">
            <a:extLst>
              <a:ext uri="{FF2B5EF4-FFF2-40B4-BE49-F238E27FC236}">
                <a16:creationId xmlns:a16="http://schemas.microsoft.com/office/drawing/2014/main" id="{5F684973-E38D-488A-AA10-B4FA542CCF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4049713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4">
            <a:extLst>
              <a:ext uri="{FF2B5EF4-FFF2-40B4-BE49-F238E27FC236}">
                <a16:creationId xmlns:a16="http://schemas.microsoft.com/office/drawing/2014/main" id="{C14DAA5F-91CC-4ED0-B9F2-6C37A3C945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4413250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连接符 25">
            <a:extLst>
              <a:ext uri="{FF2B5EF4-FFF2-40B4-BE49-F238E27FC236}">
                <a16:creationId xmlns:a16="http://schemas.microsoft.com/office/drawing/2014/main" id="{AD0B3098-8711-4CD5-9B74-F627010D8D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4776788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6">
            <a:extLst>
              <a:ext uri="{FF2B5EF4-FFF2-40B4-BE49-F238E27FC236}">
                <a16:creationId xmlns:a16="http://schemas.microsoft.com/office/drawing/2014/main" id="{1275AB9C-2134-4020-A269-F617043E36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5138738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连接符 27">
            <a:extLst>
              <a:ext uri="{FF2B5EF4-FFF2-40B4-BE49-F238E27FC236}">
                <a16:creationId xmlns:a16="http://schemas.microsoft.com/office/drawing/2014/main" id="{4B6A2847-ED5A-435E-A375-5F41019493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0438" y="5502275"/>
            <a:ext cx="1503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9">
            <a:extLst>
              <a:ext uri="{FF2B5EF4-FFF2-40B4-BE49-F238E27FC236}">
                <a16:creationId xmlns:a16="http://schemas.microsoft.com/office/drawing/2014/main" id="{98757E30-AAE2-48DD-8442-CECA5D7646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11538" y="2962275"/>
            <a:ext cx="2511425" cy="108743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31">
            <a:extLst>
              <a:ext uri="{FF2B5EF4-FFF2-40B4-BE49-F238E27FC236}">
                <a16:creationId xmlns:a16="http://schemas.microsoft.com/office/drawing/2014/main" id="{1A4F981F-039D-4B1E-8CA6-E92EFDF979E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11538" y="4049713"/>
            <a:ext cx="2511425" cy="14525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37">
            <a:extLst>
              <a:ext uri="{FF2B5EF4-FFF2-40B4-BE49-F238E27FC236}">
                <a16:creationId xmlns:a16="http://schemas.microsoft.com/office/drawing/2014/main" id="{066664E2-482E-416B-A2C7-81985F94C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3681413"/>
            <a:ext cx="6492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异常</a:t>
            </a:r>
          </a:p>
        </p:txBody>
      </p:sp>
    </p:spTree>
    <p:extLst>
      <p:ext uri="{BB962C8B-B14F-4D97-AF65-F5344CB8AC3E}">
        <p14:creationId xmlns:p14="http://schemas.microsoft.com/office/powerpoint/2010/main" val="31931945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正常控制流</a:t>
            </a:r>
            <a:endParaRPr lang="en-US" altLang="zh-CN" dirty="0"/>
          </a:p>
          <a:p>
            <a:pPr lvl="1"/>
            <a:r>
              <a:rPr lang="zh-CN" altLang="en-US" b="0" dirty="0"/>
              <a:t>顺序执行、分支、跳转、过程调用</a:t>
            </a:r>
            <a:r>
              <a:rPr lang="en-US" altLang="zh-CN" b="0" dirty="0"/>
              <a:t>/</a:t>
            </a:r>
            <a:r>
              <a:rPr lang="zh-CN" altLang="en-US" b="0" dirty="0"/>
              <a:t>返回</a:t>
            </a:r>
          </a:p>
          <a:p>
            <a:r>
              <a:rPr lang="zh-CN" altLang="en-US" dirty="0">
                <a:solidFill>
                  <a:srgbClr val="3333FF"/>
                </a:solidFill>
              </a:rPr>
              <a:t>发生异常时，要做什么？</a:t>
            </a:r>
            <a:endParaRPr lang="zh-CN" altLang="en-US" dirty="0"/>
          </a:p>
          <a:p>
            <a:pPr lvl="1"/>
            <a:r>
              <a:rPr lang="zh-CN" altLang="en-US" b="0" dirty="0"/>
              <a:t>系统要实施一定动作来</a:t>
            </a:r>
            <a:r>
              <a:rPr lang="zh-CN" altLang="en-US" dirty="0"/>
              <a:t>处理</a:t>
            </a:r>
            <a:r>
              <a:rPr lang="zh-CN" altLang="en-US" b="0" dirty="0"/>
              <a:t>异常</a:t>
            </a:r>
          </a:p>
          <a:p>
            <a:pPr lvl="1"/>
            <a:r>
              <a:rPr lang="zh-CN" altLang="en-US" b="0" dirty="0"/>
              <a:t>必须</a:t>
            </a:r>
            <a:r>
              <a:rPr lang="zh-CN" altLang="en-US" dirty="0"/>
              <a:t>记录</a:t>
            </a:r>
            <a:r>
              <a:rPr lang="zh-CN" altLang="en-US" b="0" dirty="0"/>
              <a:t>下来产生异常的指令的地址</a:t>
            </a:r>
          </a:p>
          <a:p>
            <a:pPr lvl="1"/>
            <a:r>
              <a:rPr lang="zh-CN" altLang="en-US" b="0" dirty="0"/>
              <a:t>必须</a:t>
            </a:r>
            <a:r>
              <a:rPr lang="zh-CN" altLang="en-US" dirty="0"/>
              <a:t>保存和恢复用户程序状态</a:t>
            </a:r>
            <a:endParaRPr lang="en-US" altLang="zh-CN" dirty="0"/>
          </a:p>
          <a:p>
            <a:pPr lvl="1"/>
            <a:r>
              <a:rPr lang="zh-CN" altLang="en-US" b="0" dirty="0"/>
              <a:t>异常处理结束，将控制交还给用户程序</a:t>
            </a:r>
          </a:p>
          <a:p>
            <a:pPr lvl="1"/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64579-2305-EA49-9AA5-5F153766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0007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异常处理程序的寻址（向量方式）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获得异常处理程序入口地址的方法</a:t>
            </a:r>
          </a:p>
          <a:p>
            <a:pPr lvl="1" eaLnBrk="1">
              <a:defRPr/>
            </a:pPr>
            <a:r>
              <a:rPr lang="zh-CN" altLang="en-US" dirty="0">
                <a:solidFill>
                  <a:srgbClr val="3333FF"/>
                </a:solidFill>
              </a:rPr>
              <a:t>向量方式</a:t>
            </a:r>
            <a:r>
              <a:rPr lang="zh-CN" altLang="en-US" dirty="0"/>
              <a:t>：每个异常都有自己的异常处理程序，其入口保存在一个固定的地址处</a:t>
            </a:r>
            <a:endParaRPr lang="en-US" altLang="zh-CN" dirty="0"/>
          </a:p>
          <a:p>
            <a:pPr lvl="1" eaLnBrk="1">
              <a:defRPr/>
            </a:pPr>
            <a:r>
              <a:rPr lang="en-US" altLang="zh-CN" dirty="0"/>
              <a:t>X86</a:t>
            </a:r>
            <a:r>
              <a:rPr lang="zh-CN" altLang="en-US" dirty="0"/>
              <a:t>采用向量方式，例如：</a:t>
            </a:r>
            <a:endParaRPr lang="en-US" altLang="zh-CN" dirty="0"/>
          </a:p>
          <a:p>
            <a:pPr lvl="1" eaLnBrk="1">
              <a:defRPr/>
            </a:pPr>
            <a:endParaRPr lang="en-US" altLang="zh-CN" dirty="0"/>
          </a:p>
          <a:p>
            <a:pPr lvl="1" eaLnBrk="1">
              <a:defRPr/>
            </a:pPr>
            <a:endParaRPr lang="en-US" altLang="zh-CN" dirty="0"/>
          </a:p>
          <a:p>
            <a:pPr lvl="1" eaLnBrk="1">
              <a:defRPr/>
            </a:pPr>
            <a:endParaRPr lang="en-US" altLang="zh-CN" dirty="0"/>
          </a:p>
          <a:p>
            <a:pPr lvl="1" eaLnBrk="1">
              <a:defRPr/>
            </a:pPr>
            <a:r>
              <a:rPr lang="zh-CN" altLang="en-US" dirty="0"/>
              <a:t>操作系统通过异常向量地址得知异常原因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C7C84-0C0D-7B4E-9694-E13E986E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E45322-3EC1-41D0-A851-3BD5FC859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696161"/>
            <a:ext cx="7747000" cy="114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393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异常处理程序的寻址（原因寄存器）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获得异常处理程序入口地址的方法</a:t>
            </a:r>
          </a:p>
          <a:p>
            <a:pPr lvl="1" eaLnBrk="1">
              <a:defRPr/>
            </a:pPr>
            <a:r>
              <a:rPr lang="zh-CN" altLang="en-US" dirty="0">
                <a:solidFill>
                  <a:srgbClr val="3333FF"/>
                </a:solidFill>
              </a:rPr>
              <a:t>原因寄存器 </a:t>
            </a:r>
            <a:r>
              <a:rPr lang="en-US" altLang="zh-CN" dirty="0">
                <a:solidFill>
                  <a:srgbClr val="3333FF"/>
                </a:solidFill>
              </a:rPr>
              <a:t>(Cause Register) </a:t>
            </a:r>
          </a:p>
          <a:p>
            <a:pPr lvl="2">
              <a:defRPr/>
            </a:pPr>
            <a:r>
              <a:rPr lang="zh-CN" altLang="en-US" dirty="0"/>
              <a:t>只使用一个通用的异常处理程序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每个异常事件必须将足够的信息加载到原因寄存器中，以便异常处理程序知道是何种异常发生，并采取相应的措施</a:t>
            </a:r>
            <a:endParaRPr lang="en-US" altLang="zh-CN" dirty="0"/>
          </a:p>
          <a:p>
            <a:pPr lvl="1" eaLnBrk="1">
              <a:defRPr/>
            </a:pPr>
            <a:r>
              <a:rPr lang="en-US" altLang="zh-CN" dirty="0"/>
              <a:t>MIPS</a:t>
            </a:r>
            <a:r>
              <a:rPr lang="zh-CN" altLang="en-US" dirty="0"/>
              <a:t>采用原因寄存器方式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所有异常处理程序入口相同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操作系统根据原因寄存器确定异常原因</a:t>
            </a:r>
            <a:endParaRPr lang="en-US" altLang="zh-CN" dirty="0"/>
          </a:p>
          <a:p>
            <a:pPr lvl="2">
              <a:defRPr/>
            </a:pPr>
            <a:r>
              <a:rPr lang="zh-CN" altLang="en-US" dirty="0"/>
              <a:t>中断是一种特殊的异常事件</a:t>
            </a:r>
            <a:endParaRPr lang="en-US" altLang="zh-CN" dirty="0"/>
          </a:p>
          <a:p>
            <a:pPr lvl="3">
              <a:defRPr/>
            </a:pPr>
            <a:r>
              <a:rPr lang="en-US" altLang="zh-CN" dirty="0" err="1"/>
              <a:t>ExcCode</a:t>
            </a:r>
            <a:r>
              <a:rPr lang="en-US" altLang="zh-CN" dirty="0"/>
              <a:t>=0 </a:t>
            </a:r>
            <a:r>
              <a:rPr lang="zh-CN" altLang="en-US" dirty="0"/>
              <a:t>原因寄存器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F67E3-3E62-674C-B8C2-A9E718DC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45249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的异常处理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EPC</a:t>
            </a:r>
            <a:r>
              <a:rPr lang="zh-CN" altLang="en-US" sz="2800" dirty="0"/>
              <a:t>寄存器</a:t>
            </a:r>
            <a:r>
              <a:rPr lang="en-US" altLang="zh-CN" sz="2800" dirty="0"/>
              <a:t>(exception program counter)</a:t>
            </a:r>
          </a:p>
          <a:p>
            <a:pPr lvl="1"/>
            <a:r>
              <a:rPr lang="zh-CN" altLang="en-US" dirty="0"/>
              <a:t>用于保存造成异常的指令地址</a:t>
            </a:r>
            <a:endParaRPr lang="en-US" altLang="zh-CN" dirty="0"/>
          </a:p>
          <a:p>
            <a:pPr lvl="1"/>
            <a:r>
              <a:rPr lang="zh-CN" altLang="en-US" dirty="0"/>
              <a:t>异常处理完后可以将</a:t>
            </a:r>
            <a:r>
              <a:rPr lang="en-US" altLang="zh-CN" dirty="0"/>
              <a:t>PC</a:t>
            </a:r>
            <a:r>
              <a:rPr lang="zh-CN" altLang="en-US" dirty="0"/>
              <a:t>返回该地址继续执行</a:t>
            </a:r>
            <a:endParaRPr lang="en-US" altLang="zh-CN" dirty="0"/>
          </a:p>
          <a:p>
            <a:pPr lvl="1"/>
            <a:r>
              <a:rPr lang="zh-CN" altLang="en-US" dirty="0"/>
              <a:t>向量中断同样需要</a:t>
            </a:r>
            <a:r>
              <a:rPr lang="en-US" altLang="zh-CN" dirty="0"/>
              <a:t>EPC</a:t>
            </a:r>
            <a:r>
              <a:rPr lang="zh-CN" altLang="en-US" dirty="0"/>
              <a:t>寄存器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C9F15-37BC-B34F-92BB-8B333220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76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23AB331-1FEA-3210-6E88-6287AB516F11}"/>
                  </a:ext>
                </a:extLst>
              </p14:cNvPr>
              <p14:cNvContentPartPr/>
              <p14:nvPr/>
            </p14:nvContentPartPr>
            <p14:xfrm>
              <a:off x="8283240" y="571320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23AB331-1FEA-3210-6E88-6287AB516F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3880" y="57038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8883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14618" y="3600125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算术与逻辑计算单元</a:t>
            </a:r>
          </a:p>
        </p:txBody>
      </p:sp>
      <p:sp>
        <p:nvSpPr>
          <p:cNvPr id="7" name="矩形 6"/>
          <p:cNvSpPr/>
          <p:nvPr/>
        </p:nvSpPr>
        <p:spPr>
          <a:xfrm>
            <a:off x="2379783" y="3600125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寄存器堆</a:t>
            </a:r>
          </a:p>
        </p:txBody>
      </p:sp>
      <p:sp>
        <p:nvSpPr>
          <p:cNvPr id="8" name="矩形 7"/>
          <p:cNvSpPr/>
          <p:nvPr/>
        </p:nvSpPr>
        <p:spPr>
          <a:xfrm>
            <a:off x="4968428" y="1560964"/>
            <a:ext cx="165553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指令译码模块</a:t>
            </a:r>
          </a:p>
        </p:txBody>
      </p:sp>
      <p:sp>
        <p:nvSpPr>
          <p:cNvPr id="9" name="矩形 8"/>
          <p:cNvSpPr/>
          <p:nvPr/>
        </p:nvSpPr>
        <p:spPr>
          <a:xfrm>
            <a:off x="511295" y="3904925"/>
            <a:ext cx="1227476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寻址单元</a:t>
            </a:r>
          </a:p>
        </p:txBody>
      </p:sp>
      <p:sp>
        <p:nvSpPr>
          <p:cNvPr id="10" name="矩形 9"/>
          <p:cNvSpPr/>
          <p:nvPr/>
        </p:nvSpPr>
        <p:spPr>
          <a:xfrm>
            <a:off x="1709518" y="1560964"/>
            <a:ext cx="156210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指令存储器</a:t>
            </a:r>
          </a:p>
        </p:txBody>
      </p:sp>
      <p:sp>
        <p:nvSpPr>
          <p:cNvPr id="11" name="矩形 10"/>
          <p:cNvSpPr/>
          <p:nvPr/>
        </p:nvSpPr>
        <p:spPr>
          <a:xfrm>
            <a:off x="7688757" y="3600124"/>
            <a:ext cx="1086725" cy="1231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数据存储器</a:t>
            </a:r>
          </a:p>
        </p:txBody>
      </p:sp>
      <p:cxnSp>
        <p:nvCxnSpPr>
          <p:cNvPr id="13" name="直接箭头连接符 12"/>
          <p:cNvCxnSpPr>
            <a:stCxn id="7" idx="3"/>
            <a:endCxn id="3" idx="1"/>
          </p:cNvCxnSpPr>
          <p:nvPr/>
        </p:nvCxnSpPr>
        <p:spPr>
          <a:xfrm>
            <a:off x="3770433" y="4219250"/>
            <a:ext cx="114418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" idx="3"/>
            <a:endCxn id="11" idx="1"/>
          </p:cNvCxnSpPr>
          <p:nvPr/>
        </p:nvCxnSpPr>
        <p:spPr>
          <a:xfrm flipV="1">
            <a:off x="6305268" y="4216074"/>
            <a:ext cx="1383489" cy="3176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9" idx="0"/>
            <a:endCxn id="10" idx="1"/>
          </p:cNvCxnSpPr>
          <p:nvPr/>
        </p:nvCxnSpPr>
        <p:spPr>
          <a:xfrm rot="5400000" flipH="1" flipV="1">
            <a:off x="402457" y="2597865"/>
            <a:ext cx="2029636" cy="58448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0" idx="3"/>
            <a:endCxn id="8" idx="1"/>
          </p:cNvCxnSpPr>
          <p:nvPr/>
        </p:nvCxnSpPr>
        <p:spPr>
          <a:xfrm>
            <a:off x="3271618" y="1875289"/>
            <a:ext cx="16968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7" idx="2"/>
            <a:endCxn id="11" idx="2"/>
          </p:cNvCxnSpPr>
          <p:nvPr/>
        </p:nvCxnSpPr>
        <p:spPr>
          <a:xfrm rot="5400000" flipH="1" flipV="1">
            <a:off x="5650438" y="2256693"/>
            <a:ext cx="6352" cy="5157012"/>
          </a:xfrm>
          <a:prstGeom prst="bentConnector3">
            <a:avLst>
              <a:gd name="adj1" fmla="val -19793766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11295" y="2198431"/>
            <a:ext cx="422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指令的选择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439320" y="1442197"/>
            <a:ext cx="149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指令的读取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4151807" y="5752052"/>
            <a:ext cx="353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数据在寄存器与存储器间的读写</a:t>
            </a:r>
          </a:p>
        </p:txBody>
      </p:sp>
      <p:cxnSp>
        <p:nvCxnSpPr>
          <p:cNvPr id="97" name="肘形连接符 96"/>
          <p:cNvCxnSpPr>
            <a:stCxn id="7" idx="2"/>
            <a:endCxn id="3" idx="2"/>
          </p:cNvCxnSpPr>
          <p:nvPr/>
        </p:nvCxnSpPr>
        <p:spPr>
          <a:xfrm rot="16200000" flipH="1">
            <a:off x="4342525" y="3570957"/>
            <a:ext cx="12700" cy="2534835"/>
          </a:xfrm>
          <a:prstGeom prst="bentConnector3">
            <a:avLst>
              <a:gd name="adj1" fmla="val 6121425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286920" y="5284885"/>
            <a:ext cx="242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计算结果写回寄存器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3933746" y="3765667"/>
            <a:ext cx="91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操作数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6444802" y="3835598"/>
            <a:ext cx="110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</a:t>
            </a:r>
          </a:p>
        </p:txBody>
      </p:sp>
      <p:sp>
        <p:nvSpPr>
          <p:cNvPr id="173" name="Rectangle 6"/>
          <p:cNvSpPr txBox="1">
            <a:spLocks noChangeArrowheads="1"/>
          </p:cNvSpPr>
          <p:nvPr/>
        </p:nvSpPr>
        <p:spPr bwMode="auto">
          <a:xfrm>
            <a:off x="7486662" y="3070072"/>
            <a:ext cx="1883001" cy="32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endParaRPr lang="en-US" altLang="en-US" sz="1800" kern="0" dirty="0">
              <a:latin typeface="+mn-lt"/>
              <a:ea typeface="+mn-ea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AC566F5-E63C-FD4B-8A33-5CD71685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+mn-lt"/>
                <a:ea typeface="+mn-ea"/>
              </a:rPr>
              <a:t>记录异常</a:t>
            </a:r>
            <a:r>
              <a:rPr lang="zh-CN" altLang="en-US" dirty="0">
                <a:latin typeface="+mn-lt"/>
                <a:ea typeface="+mn-ea"/>
              </a:rPr>
              <a:t>原因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5EF08F-B0BD-8347-AD6B-C9EFFD5C8288}"/>
              </a:ext>
            </a:extLst>
          </p:cNvPr>
          <p:cNvGrpSpPr/>
          <p:nvPr/>
        </p:nvGrpSpPr>
        <p:grpSpPr>
          <a:xfrm>
            <a:off x="1125033" y="2189614"/>
            <a:ext cx="7107087" cy="1715311"/>
            <a:chOff x="1116068" y="2762544"/>
            <a:chExt cx="7107087" cy="1715311"/>
          </a:xfrm>
        </p:grpSpPr>
        <p:cxnSp>
          <p:nvCxnSpPr>
            <p:cNvPr id="32" name="直接箭头连接符 18">
              <a:extLst>
                <a:ext uri="{FF2B5EF4-FFF2-40B4-BE49-F238E27FC236}">
                  <a16:creationId xmlns:a16="http://schemas.microsoft.com/office/drawing/2014/main" id="{528F4AC6-573E-B142-A09C-8906E0B4DFEC}"/>
                </a:ext>
              </a:extLst>
            </p:cNvPr>
            <p:cNvCxnSpPr/>
            <p:nvPr/>
          </p:nvCxnSpPr>
          <p:spPr>
            <a:xfrm flipH="1">
              <a:off x="5600978" y="2762544"/>
              <a:ext cx="186250" cy="14105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21">
              <a:extLst>
                <a:ext uri="{FF2B5EF4-FFF2-40B4-BE49-F238E27FC236}">
                  <a16:creationId xmlns:a16="http://schemas.microsoft.com/office/drawing/2014/main" id="{6BFA32B6-8979-0146-BABD-A95C55DA8732}"/>
                </a:ext>
              </a:extLst>
            </p:cNvPr>
            <p:cNvCxnSpPr/>
            <p:nvPr/>
          </p:nvCxnSpPr>
          <p:spPr>
            <a:xfrm flipH="1">
              <a:off x="3066143" y="2762544"/>
              <a:ext cx="2721085" cy="14105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24">
              <a:extLst>
                <a:ext uri="{FF2B5EF4-FFF2-40B4-BE49-F238E27FC236}">
                  <a16:creationId xmlns:a16="http://schemas.microsoft.com/office/drawing/2014/main" id="{18FE0D10-362C-8C44-9932-45CB4804D549}"/>
                </a:ext>
              </a:extLst>
            </p:cNvPr>
            <p:cNvCxnSpPr/>
            <p:nvPr/>
          </p:nvCxnSpPr>
          <p:spPr>
            <a:xfrm>
              <a:off x="5787228" y="2762544"/>
              <a:ext cx="2435927" cy="1410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63">
              <a:extLst>
                <a:ext uri="{FF2B5EF4-FFF2-40B4-BE49-F238E27FC236}">
                  <a16:creationId xmlns:a16="http://schemas.microsoft.com/office/drawing/2014/main" id="{8EEA5A15-9C67-CE46-A02E-19BA20D91CF8}"/>
                </a:ext>
              </a:extLst>
            </p:cNvPr>
            <p:cNvCxnSpPr/>
            <p:nvPr/>
          </p:nvCxnSpPr>
          <p:spPr>
            <a:xfrm flipH="1">
              <a:off x="1116068" y="2762544"/>
              <a:ext cx="4671160" cy="17153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F81811F-0113-744E-9CC3-1ED131F7D31A}"/>
              </a:ext>
            </a:extLst>
          </p:cNvPr>
          <p:cNvGrpSpPr/>
          <p:nvPr/>
        </p:nvGrpSpPr>
        <p:grpSpPr>
          <a:xfrm>
            <a:off x="1125034" y="4204930"/>
            <a:ext cx="6003017" cy="1286126"/>
            <a:chOff x="1116069" y="4777860"/>
            <a:chExt cx="6003017" cy="1286126"/>
          </a:xfrm>
        </p:grpSpPr>
        <p:cxnSp>
          <p:nvCxnSpPr>
            <p:cNvPr id="38" name="肘形连接符 37">
              <a:extLst>
                <a:ext uri="{FF2B5EF4-FFF2-40B4-BE49-F238E27FC236}">
                  <a16:creationId xmlns:a16="http://schemas.microsoft.com/office/drawing/2014/main" id="{EF83CF2F-AA3B-8E4A-87E1-9588A3D7ED13}"/>
                </a:ext>
              </a:extLst>
            </p:cNvPr>
            <p:cNvCxnSpPr/>
            <p:nvPr/>
          </p:nvCxnSpPr>
          <p:spPr>
            <a:xfrm rot="5400000">
              <a:off x="3887736" y="2006193"/>
              <a:ext cx="328645" cy="5871979"/>
            </a:xfrm>
            <a:prstGeom prst="bentConnector3">
              <a:avLst>
                <a:gd name="adj1" fmla="val 296212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F01CA7E-5CEF-1444-861D-02DC7896E5C8}"/>
                </a:ext>
              </a:extLst>
            </p:cNvPr>
            <p:cNvSpPr txBox="1"/>
            <p:nvPr/>
          </p:nvSpPr>
          <p:spPr>
            <a:xfrm>
              <a:off x="5910628" y="5417655"/>
              <a:ext cx="12084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n-lt"/>
                  <a:ea typeface="+mn-ea"/>
                </a:rPr>
                <a:t>分支跳转控制信号</a:t>
              </a:r>
            </a:p>
          </p:txBody>
        </p:sp>
      </p:grpSp>
      <p:sp>
        <p:nvSpPr>
          <p:cNvPr id="2" name="矩形标注 1"/>
          <p:cNvSpPr/>
          <p:nvPr/>
        </p:nvSpPr>
        <p:spPr>
          <a:xfrm>
            <a:off x="6837879" y="1284865"/>
            <a:ext cx="1161022" cy="636058"/>
          </a:xfrm>
          <a:prstGeom prst="wedgeRectCallout">
            <a:avLst>
              <a:gd name="adj1" fmla="val -64073"/>
              <a:gd name="adj2" fmla="val 38540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未知指令</a:t>
            </a:r>
          </a:p>
        </p:txBody>
      </p:sp>
      <p:sp>
        <p:nvSpPr>
          <p:cNvPr id="40" name="矩形标注 39"/>
          <p:cNvSpPr/>
          <p:nvPr/>
        </p:nvSpPr>
        <p:spPr>
          <a:xfrm>
            <a:off x="2417476" y="2827105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2" name="矩形标注 41"/>
          <p:cNvSpPr/>
          <p:nvPr/>
        </p:nvSpPr>
        <p:spPr>
          <a:xfrm>
            <a:off x="7714551" y="2827105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3" name="矩形标注 42"/>
          <p:cNvSpPr/>
          <p:nvPr/>
        </p:nvSpPr>
        <p:spPr>
          <a:xfrm>
            <a:off x="5858788" y="2818264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算术溢出</a:t>
            </a:r>
          </a:p>
        </p:txBody>
      </p:sp>
      <p:sp>
        <p:nvSpPr>
          <p:cNvPr id="46" name="矩形 45"/>
          <p:cNvSpPr/>
          <p:nvPr/>
        </p:nvSpPr>
        <p:spPr>
          <a:xfrm>
            <a:off x="7714551" y="2014941"/>
            <a:ext cx="1086725" cy="743576"/>
          </a:xfrm>
          <a:prstGeom prst="rect">
            <a:avLst/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原因</a:t>
            </a:r>
            <a:endParaRPr lang="en-US" altLang="zh-CN" b="1" dirty="0">
              <a:solidFill>
                <a:srgbClr val="0432FF"/>
              </a:solidFill>
            </a:endParaRPr>
          </a:p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寄存器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F01CA7E-5CEF-1444-861D-02DC7896E5C8}"/>
              </a:ext>
            </a:extLst>
          </p:cNvPr>
          <p:cNvSpPr txBox="1"/>
          <p:nvPr/>
        </p:nvSpPr>
        <p:spPr>
          <a:xfrm>
            <a:off x="1780518" y="5670320"/>
            <a:ext cx="1115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执行异常</a:t>
            </a:r>
            <a:endParaRPr lang="en-US" altLang="zh-CN" dirty="0">
              <a:solidFill>
                <a:srgbClr val="0432FF"/>
              </a:solidFill>
              <a:latin typeface="+mn-lt"/>
              <a:ea typeface="+mn-ea"/>
            </a:endParaRPr>
          </a:p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处理程序</a:t>
            </a:r>
          </a:p>
        </p:txBody>
      </p:sp>
      <p:cxnSp>
        <p:nvCxnSpPr>
          <p:cNvPr id="18" name="肘形连接符 17"/>
          <p:cNvCxnSpPr>
            <a:cxnSpLocks/>
            <a:stCxn id="2" idx="2"/>
          </p:cNvCxnSpPr>
          <p:nvPr/>
        </p:nvCxnSpPr>
        <p:spPr>
          <a:xfrm rot="16200000" flipH="1">
            <a:off x="7434066" y="1905246"/>
            <a:ext cx="277510" cy="308863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cxnSpLocks/>
            <a:stCxn id="43" idx="0"/>
          </p:cNvCxnSpPr>
          <p:nvPr/>
        </p:nvCxnSpPr>
        <p:spPr>
          <a:xfrm rot="5400000" flipH="1" flipV="1">
            <a:off x="6918503" y="2022214"/>
            <a:ext cx="316847" cy="1275254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40" idx="0"/>
            <a:endCxn id="46" idx="1"/>
          </p:cNvCxnSpPr>
          <p:nvPr/>
        </p:nvCxnSpPr>
        <p:spPr>
          <a:xfrm rot="5400000" flipH="1" flipV="1">
            <a:off x="5136081" y="248635"/>
            <a:ext cx="440376" cy="4716564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6" idx="3"/>
          </p:cNvCxnSpPr>
          <p:nvPr/>
        </p:nvCxnSpPr>
        <p:spPr>
          <a:xfrm>
            <a:off x="8801276" y="2386729"/>
            <a:ext cx="208253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9009529" y="2386729"/>
            <a:ext cx="0" cy="3952129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452282" y="6316651"/>
            <a:ext cx="7557247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V="1">
            <a:off x="1464077" y="4546239"/>
            <a:ext cx="0" cy="1783654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704F4F2-8C3B-374F-9889-DB177F16E4AE}"/>
              </a:ext>
            </a:extLst>
          </p:cNvPr>
          <p:cNvSpPr/>
          <p:nvPr/>
        </p:nvSpPr>
        <p:spPr>
          <a:xfrm>
            <a:off x="7424709" y="2623561"/>
            <a:ext cx="290199" cy="509635"/>
          </a:xfrm>
          <a:custGeom>
            <a:avLst/>
            <a:gdLst>
              <a:gd name="connsiteX0" fmla="*/ 290199 w 290199"/>
              <a:gd name="connsiteY0" fmla="*/ 574922 h 574922"/>
              <a:gd name="connsiteX1" fmla="*/ 0 w 290199"/>
              <a:gd name="connsiteY1" fmla="*/ 574922 h 574922"/>
              <a:gd name="connsiteX2" fmla="*/ 0 w 290199"/>
              <a:gd name="connsiteY2" fmla="*/ 0 h 574922"/>
              <a:gd name="connsiteX3" fmla="*/ 284723 w 290199"/>
              <a:gd name="connsiteY3" fmla="*/ 0 h 57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9" h="574922">
                <a:moveTo>
                  <a:pt x="290199" y="574922"/>
                </a:moveTo>
                <a:lnTo>
                  <a:pt x="0" y="574922"/>
                </a:lnTo>
                <a:lnTo>
                  <a:pt x="0" y="0"/>
                </a:lnTo>
                <a:lnTo>
                  <a:pt x="284723" y="0"/>
                </a:lnTo>
              </a:path>
            </a:pathLst>
          </a:cu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87327F7-D074-AC58-C2A4-8B0AC173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77</a:t>
            </a:fld>
            <a:endParaRPr lang="en-US" altLang="zh-CN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345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14618" y="3600125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算术与逻辑计算单元</a:t>
            </a:r>
          </a:p>
        </p:txBody>
      </p:sp>
      <p:sp>
        <p:nvSpPr>
          <p:cNvPr id="7" name="矩形 6"/>
          <p:cNvSpPr/>
          <p:nvPr/>
        </p:nvSpPr>
        <p:spPr>
          <a:xfrm>
            <a:off x="2379783" y="3600125"/>
            <a:ext cx="1390650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寄存器堆</a:t>
            </a:r>
          </a:p>
        </p:txBody>
      </p:sp>
      <p:sp>
        <p:nvSpPr>
          <p:cNvPr id="8" name="矩形 7"/>
          <p:cNvSpPr/>
          <p:nvPr/>
        </p:nvSpPr>
        <p:spPr>
          <a:xfrm>
            <a:off x="4968428" y="1560964"/>
            <a:ext cx="165553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指令译码模块</a:t>
            </a:r>
          </a:p>
        </p:txBody>
      </p:sp>
      <p:sp>
        <p:nvSpPr>
          <p:cNvPr id="9" name="矩形 8"/>
          <p:cNvSpPr/>
          <p:nvPr/>
        </p:nvSpPr>
        <p:spPr>
          <a:xfrm>
            <a:off x="511295" y="3904925"/>
            <a:ext cx="1227476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寻址单元</a:t>
            </a:r>
          </a:p>
        </p:txBody>
      </p:sp>
      <p:sp>
        <p:nvSpPr>
          <p:cNvPr id="10" name="矩形 9"/>
          <p:cNvSpPr/>
          <p:nvPr/>
        </p:nvSpPr>
        <p:spPr>
          <a:xfrm>
            <a:off x="1709518" y="1560964"/>
            <a:ext cx="1562100" cy="628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指令存储器</a:t>
            </a:r>
          </a:p>
        </p:txBody>
      </p:sp>
      <p:sp>
        <p:nvSpPr>
          <p:cNvPr id="11" name="矩形 10"/>
          <p:cNvSpPr/>
          <p:nvPr/>
        </p:nvSpPr>
        <p:spPr>
          <a:xfrm>
            <a:off x="7688757" y="3600124"/>
            <a:ext cx="1086725" cy="1231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数据存储器</a:t>
            </a:r>
          </a:p>
        </p:txBody>
      </p:sp>
      <p:cxnSp>
        <p:nvCxnSpPr>
          <p:cNvPr id="13" name="直接箭头连接符 12"/>
          <p:cNvCxnSpPr>
            <a:stCxn id="7" idx="3"/>
            <a:endCxn id="3" idx="1"/>
          </p:cNvCxnSpPr>
          <p:nvPr/>
        </p:nvCxnSpPr>
        <p:spPr>
          <a:xfrm>
            <a:off x="3770433" y="4219250"/>
            <a:ext cx="114418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" idx="3"/>
            <a:endCxn id="11" idx="1"/>
          </p:cNvCxnSpPr>
          <p:nvPr/>
        </p:nvCxnSpPr>
        <p:spPr>
          <a:xfrm flipV="1">
            <a:off x="6305268" y="4216074"/>
            <a:ext cx="1383489" cy="3176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9" idx="0"/>
            <a:endCxn id="10" idx="1"/>
          </p:cNvCxnSpPr>
          <p:nvPr/>
        </p:nvCxnSpPr>
        <p:spPr>
          <a:xfrm rot="5400000" flipH="1" flipV="1">
            <a:off x="402457" y="2597865"/>
            <a:ext cx="2029636" cy="58448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10" idx="3"/>
            <a:endCxn id="8" idx="1"/>
          </p:cNvCxnSpPr>
          <p:nvPr/>
        </p:nvCxnSpPr>
        <p:spPr>
          <a:xfrm>
            <a:off x="3271618" y="1875289"/>
            <a:ext cx="16968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stCxn id="7" idx="2"/>
            <a:endCxn id="11" idx="2"/>
          </p:cNvCxnSpPr>
          <p:nvPr/>
        </p:nvCxnSpPr>
        <p:spPr>
          <a:xfrm rot="5400000" flipH="1" flipV="1">
            <a:off x="5650438" y="2256693"/>
            <a:ext cx="6352" cy="5157012"/>
          </a:xfrm>
          <a:prstGeom prst="bentConnector3">
            <a:avLst>
              <a:gd name="adj1" fmla="val -19793766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11295" y="2198431"/>
            <a:ext cx="4222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指令的选择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439320" y="1442197"/>
            <a:ext cx="149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指令的读取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4151807" y="5752052"/>
            <a:ext cx="353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数据在寄存器与存储器间的读写</a:t>
            </a:r>
          </a:p>
        </p:txBody>
      </p:sp>
      <p:cxnSp>
        <p:nvCxnSpPr>
          <p:cNvPr id="97" name="肘形连接符 96"/>
          <p:cNvCxnSpPr>
            <a:stCxn id="7" idx="2"/>
            <a:endCxn id="3" idx="2"/>
          </p:cNvCxnSpPr>
          <p:nvPr/>
        </p:nvCxnSpPr>
        <p:spPr>
          <a:xfrm rot="16200000" flipH="1">
            <a:off x="4342525" y="3570957"/>
            <a:ext cx="12700" cy="2534835"/>
          </a:xfrm>
          <a:prstGeom prst="bentConnector3">
            <a:avLst>
              <a:gd name="adj1" fmla="val 6121425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3286920" y="5284885"/>
            <a:ext cx="242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计算结果写回寄存器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3933746" y="3765667"/>
            <a:ext cx="917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操作数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6444802" y="3835598"/>
            <a:ext cx="110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计算结果</a:t>
            </a:r>
          </a:p>
        </p:txBody>
      </p:sp>
      <p:sp>
        <p:nvSpPr>
          <p:cNvPr id="173" name="Rectangle 6"/>
          <p:cNvSpPr txBox="1">
            <a:spLocks noChangeArrowheads="1"/>
          </p:cNvSpPr>
          <p:nvPr/>
        </p:nvSpPr>
        <p:spPr bwMode="auto">
          <a:xfrm>
            <a:off x="7486662" y="3070072"/>
            <a:ext cx="1883001" cy="32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endParaRPr lang="en-US" altLang="en-US" sz="1800" kern="0" dirty="0">
              <a:latin typeface="+mn-lt"/>
              <a:ea typeface="+mn-ea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AC566F5-E63C-FD4B-8A33-5CD71685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保存</a:t>
            </a:r>
            <a:r>
              <a:rPr lang="en-US" altLang="zh-CN" dirty="0"/>
              <a:t>/</a:t>
            </a:r>
            <a:r>
              <a:rPr lang="zh-CN" altLang="en-US" dirty="0"/>
              <a:t>恢复异常指令地址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5EF08F-B0BD-8347-AD6B-C9EFFD5C8288}"/>
              </a:ext>
            </a:extLst>
          </p:cNvPr>
          <p:cNvGrpSpPr/>
          <p:nvPr/>
        </p:nvGrpSpPr>
        <p:grpSpPr>
          <a:xfrm>
            <a:off x="1125033" y="2189614"/>
            <a:ext cx="7107087" cy="1715311"/>
            <a:chOff x="1116068" y="2762544"/>
            <a:chExt cx="7107087" cy="1715311"/>
          </a:xfrm>
        </p:grpSpPr>
        <p:cxnSp>
          <p:nvCxnSpPr>
            <p:cNvPr id="32" name="直接箭头连接符 18">
              <a:extLst>
                <a:ext uri="{FF2B5EF4-FFF2-40B4-BE49-F238E27FC236}">
                  <a16:creationId xmlns:a16="http://schemas.microsoft.com/office/drawing/2014/main" id="{528F4AC6-573E-B142-A09C-8906E0B4DFEC}"/>
                </a:ext>
              </a:extLst>
            </p:cNvPr>
            <p:cNvCxnSpPr/>
            <p:nvPr/>
          </p:nvCxnSpPr>
          <p:spPr>
            <a:xfrm flipH="1">
              <a:off x="5600978" y="2762544"/>
              <a:ext cx="186250" cy="14105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21">
              <a:extLst>
                <a:ext uri="{FF2B5EF4-FFF2-40B4-BE49-F238E27FC236}">
                  <a16:creationId xmlns:a16="http://schemas.microsoft.com/office/drawing/2014/main" id="{6BFA32B6-8979-0146-BABD-A95C55DA8732}"/>
                </a:ext>
              </a:extLst>
            </p:cNvPr>
            <p:cNvCxnSpPr/>
            <p:nvPr/>
          </p:nvCxnSpPr>
          <p:spPr>
            <a:xfrm flipH="1">
              <a:off x="3066143" y="2762544"/>
              <a:ext cx="2721085" cy="14105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24">
              <a:extLst>
                <a:ext uri="{FF2B5EF4-FFF2-40B4-BE49-F238E27FC236}">
                  <a16:creationId xmlns:a16="http://schemas.microsoft.com/office/drawing/2014/main" id="{18FE0D10-362C-8C44-9932-45CB4804D549}"/>
                </a:ext>
              </a:extLst>
            </p:cNvPr>
            <p:cNvCxnSpPr/>
            <p:nvPr/>
          </p:nvCxnSpPr>
          <p:spPr>
            <a:xfrm>
              <a:off x="5787228" y="2762544"/>
              <a:ext cx="2435927" cy="1410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63">
              <a:extLst>
                <a:ext uri="{FF2B5EF4-FFF2-40B4-BE49-F238E27FC236}">
                  <a16:creationId xmlns:a16="http://schemas.microsoft.com/office/drawing/2014/main" id="{8EEA5A15-9C67-CE46-A02E-19BA20D91CF8}"/>
                </a:ext>
              </a:extLst>
            </p:cNvPr>
            <p:cNvCxnSpPr/>
            <p:nvPr/>
          </p:nvCxnSpPr>
          <p:spPr>
            <a:xfrm flipH="1">
              <a:off x="1116068" y="2762544"/>
              <a:ext cx="4671160" cy="171531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F81811F-0113-744E-9CC3-1ED131F7D31A}"/>
              </a:ext>
            </a:extLst>
          </p:cNvPr>
          <p:cNvGrpSpPr/>
          <p:nvPr/>
        </p:nvGrpSpPr>
        <p:grpSpPr>
          <a:xfrm>
            <a:off x="1125034" y="4204930"/>
            <a:ext cx="6003017" cy="1286126"/>
            <a:chOff x="1116069" y="4777860"/>
            <a:chExt cx="6003017" cy="1286126"/>
          </a:xfrm>
        </p:grpSpPr>
        <p:cxnSp>
          <p:nvCxnSpPr>
            <p:cNvPr id="38" name="肘形连接符 37">
              <a:extLst>
                <a:ext uri="{FF2B5EF4-FFF2-40B4-BE49-F238E27FC236}">
                  <a16:creationId xmlns:a16="http://schemas.microsoft.com/office/drawing/2014/main" id="{EF83CF2F-AA3B-8E4A-87E1-9588A3D7ED13}"/>
                </a:ext>
              </a:extLst>
            </p:cNvPr>
            <p:cNvCxnSpPr/>
            <p:nvPr/>
          </p:nvCxnSpPr>
          <p:spPr>
            <a:xfrm rot="5400000">
              <a:off x="3887736" y="2006193"/>
              <a:ext cx="328645" cy="5871979"/>
            </a:xfrm>
            <a:prstGeom prst="bentConnector3">
              <a:avLst>
                <a:gd name="adj1" fmla="val 296212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F01CA7E-5CEF-1444-861D-02DC7896E5C8}"/>
                </a:ext>
              </a:extLst>
            </p:cNvPr>
            <p:cNvSpPr txBox="1"/>
            <p:nvPr/>
          </p:nvSpPr>
          <p:spPr>
            <a:xfrm>
              <a:off x="5910628" y="5417655"/>
              <a:ext cx="12084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n-lt"/>
                  <a:ea typeface="+mn-ea"/>
                </a:rPr>
                <a:t>分支跳转控制信号</a:t>
              </a:r>
            </a:p>
          </p:txBody>
        </p:sp>
      </p:grpSp>
      <p:sp>
        <p:nvSpPr>
          <p:cNvPr id="2" name="矩形标注 1"/>
          <p:cNvSpPr/>
          <p:nvPr/>
        </p:nvSpPr>
        <p:spPr>
          <a:xfrm>
            <a:off x="6837879" y="1284865"/>
            <a:ext cx="1161022" cy="636058"/>
          </a:xfrm>
          <a:prstGeom prst="wedgeRectCallout">
            <a:avLst>
              <a:gd name="adj1" fmla="val -64073"/>
              <a:gd name="adj2" fmla="val 38540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未知指令</a:t>
            </a:r>
          </a:p>
        </p:txBody>
      </p:sp>
      <p:sp>
        <p:nvSpPr>
          <p:cNvPr id="40" name="矩形标注 39"/>
          <p:cNvSpPr/>
          <p:nvPr/>
        </p:nvSpPr>
        <p:spPr>
          <a:xfrm>
            <a:off x="2417476" y="2827105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2" name="矩形标注 41"/>
          <p:cNvSpPr/>
          <p:nvPr/>
        </p:nvSpPr>
        <p:spPr>
          <a:xfrm>
            <a:off x="7714551" y="2827105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访存错误</a:t>
            </a:r>
          </a:p>
        </p:txBody>
      </p:sp>
      <p:sp>
        <p:nvSpPr>
          <p:cNvPr id="43" name="矩形标注 42"/>
          <p:cNvSpPr/>
          <p:nvPr/>
        </p:nvSpPr>
        <p:spPr>
          <a:xfrm>
            <a:off x="5858788" y="2818264"/>
            <a:ext cx="1161022" cy="636058"/>
          </a:xfrm>
          <a:prstGeom prst="wedgeRectCallout">
            <a:avLst>
              <a:gd name="adj1" fmla="val -28555"/>
              <a:gd name="adj2" fmla="val 66728"/>
            </a:avLst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算术溢出</a:t>
            </a:r>
          </a:p>
        </p:txBody>
      </p:sp>
      <p:sp>
        <p:nvSpPr>
          <p:cNvPr id="46" name="矩形 45"/>
          <p:cNvSpPr/>
          <p:nvPr/>
        </p:nvSpPr>
        <p:spPr>
          <a:xfrm>
            <a:off x="7714551" y="2014941"/>
            <a:ext cx="1086725" cy="743576"/>
          </a:xfrm>
          <a:prstGeom prst="rect">
            <a:avLst/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原因</a:t>
            </a:r>
            <a:endParaRPr lang="en-US" altLang="zh-CN" b="1" dirty="0">
              <a:solidFill>
                <a:srgbClr val="0432FF"/>
              </a:solidFill>
            </a:endParaRPr>
          </a:p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寄存器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F01CA7E-5CEF-1444-861D-02DC7896E5C8}"/>
              </a:ext>
            </a:extLst>
          </p:cNvPr>
          <p:cNvSpPr txBox="1"/>
          <p:nvPr/>
        </p:nvSpPr>
        <p:spPr>
          <a:xfrm>
            <a:off x="1780518" y="5670320"/>
            <a:ext cx="1115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执行异常</a:t>
            </a:r>
            <a:endParaRPr lang="en-US" altLang="zh-CN" dirty="0">
              <a:solidFill>
                <a:srgbClr val="0432FF"/>
              </a:solidFill>
              <a:latin typeface="+mn-lt"/>
              <a:ea typeface="+mn-ea"/>
            </a:endParaRPr>
          </a:p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处理程序</a:t>
            </a:r>
          </a:p>
        </p:txBody>
      </p:sp>
      <p:cxnSp>
        <p:nvCxnSpPr>
          <p:cNvPr id="18" name="肘形连接符 17"/>
          <p:cNvCxnSpPr>
            <a:cxnSpLocks/>
            <a:stCxn id="2" idx="2"/>
          </p:cNvCxnSpPr>
          <p:nvPr/>
        </p:nvCxnSpPr>
        <p:spPr>
          <a:xfrm rot="16200000" flipH="1">
            <a:off x="7434066" y="1905246"/>
            <a:ext cx="277510" cy="308863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cxnSpLocks/>
            <a:stCxn id="43" idx="0"/>
          </p:cNvCxnSpPr>
          <p:nvPr/>
        </p:nvCxnSpPr>
        <p:spPr>
          <a:xfrm rot="5400000" flipH="1" flipV="1">
            <a:off x="6918503" y="2022214"/>
            <a:ext cx="316847" cy="1275254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40" idx="0"/>
            <a:endCxn id="46" idx="1"/>
          </p:cNvCxnSpPr>
          <p:nvPr/>
        </p:nvCxnSpPr>
        <p:spPr>
          <a:xfrm rot="5400000" flipH="1" flipV="1">
            <a:off x="5136081" y="248635"/>
            <a:ext cx="440376" cy="4716564"/>
          </a:xfrm>
          <a:prstGeom prst="bentConnector2">
            <a:avLst/>
          </a:pr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6" idx="3"/>
          </p:cNvCxnSpPr>
          <p:nvPr/>
        </p:nvCxnSpPr>
        <p:spPr>
          <a:xfrm>
            <a:off x="8801276" y="2386729"/>
            <a:ext cx="208253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9009529" y="2386729"/>
            <a:ext cx="0" cy="3952129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452282" y="6316651"/>
            <a:ext cx="7557247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V="1">
            <a:off x="1464077" y="4546239"/>
            <a:ext cx="0" cy="1783654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5704F4F2-8C3B-374F-9889-DB177F16E4AE}"/>
              </a:ext>
            </a:extLst>
          </p:cNvPr>
          <p:cNvSpPr/>
          <p:nvPr/>
        </p:nvSpPr>
        <p:spPr>
          <a:xfrm>
            <a:off x="7424709" y="2623561"/>
            <a:ext cx="290199" cy="509635"/>
          </a:xfrm>
          <a:custGeom>
            <a:avLst/>
            <a:gdLst>
              <a:gd name="connsiteX0" fmla="*/ 290199 w 290199"/>
              <a:gd name="connsiteY0" fmla="*/ 574922 h 574922"/>
              <a:gd name="connsiteX1" fmla="*/ 0 w 290199"/>
              <a:gd name="connsiteY1" fmla="*/ 574922 h 574922"/>
              <a:gd name="connsiteX2" fmla="*/ 0 w 290199"/>
              <a:gd name="connsiteY2" fmla="*/ 0 h 574922"/>
              <a:gd name="connsiteX3" fmla="*/ 284723 w 290199"/>
              <a:gd name="connsiteY3" fmla="*/ 0 h 57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9" h="574922">
                <a:moveTo>
                  <a:pt x="290199" y="574922"/>
                </a:moveTo>
                <a:lnTo>
                  <a:pt x="0" y="574922"/>
                </a:lnTo>
                <a:lnTo>
                  <a:pt x="0" y="0"/>
                </a:lnTo>
                <a:lnTo>
                  <a:pt x="284723" y="0"/>
                </a:lnTo>
              </a:path>
            </a:pathLst>
          </a:custGeom>
          <a:ln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44" name="直接箭头连接符 11">
            <a:extLst>
              <a:ext uri="{FF2B5EF4-FFF2-40B4-BE49-F238E27FC236}">
                <a16:creationId xmlns:a16="http://schemas.microsoft.com/office/drawing/2014/main" id="{84C69ACD-C8FA-B64D-989D-6A39043FB2C3}"/>
              </a:ext>
            </a:extLst>
          </p:cNvPr>
          <p:cNvCxnSpPr/>
          <p:nvPr/>
        </p:nvCxnSpPr>
        <p:spPr>
          <a:xfrm flipH="1">
            <a:off x="691380" y="4546239"/>
            <a:ext cx="0" cy="1321894"/>
          </a:xfrm>
          <a:prstGeom prst="straightConnector1">
            <a:avLst/>
          </a:prstGeom>
          <a:ln w="28575">
            <a:solidFill>
              <a:srgbClr val="0432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3">
            <a:extLst>
              <a:ext uri="{FF2B5EF4-FFF2-40B4-BE49-F238E27FC236}">
                <a16:creationId xmlns:a16="http://schemas.microsoft.com/office/drawing/2014/main" id="{52C4D61B-6966-0C4E-A1B5-1B436E6217F5}"/>
              </a:ext>
            </a:extLst>
          </p:cNvPr>
          <p:cNvSpPr/>
          <p:nvPr/>
        </p:nvSpPr>
        <p:spPr>
          <a:xfrm>
            <a:off x="148017" y="5877098"/>
            <a:ext cx="1086725" cy="743576"/>
          </a:xfrm>
          <a:prstGeom prst="rect">
            <a:avLst/>
          </a:prstGeom>
          <a:solidFill>
            <a:schemeClr val="bg1"/>
          </a:solidFill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rgbClr val="0432FF"/>
                </a:solidFill>
              </a:rPr>
              <a:t>EPC</a:t>
            </a:r>
          </a:p>
          <a:p>
            <a:pPr algn="ctr"/>
            <a:r>
              <a:rPr lang="zh-CN" altLang="en-US" b="1" dirty="0">
                <a:solidFill>
                  <a:srgbClr val="0432FF"/>
                </a:solidFill>
              </a:rPr>
              <a:t>寄存器</a:t>
            </a:r>
          </a:p>
        </p:txBody>
      </p:sp>
      <p:sp>
        <p:nvSpPr>
          <p:cNvPr id="48" name="文本框 49">
            <a:extLst>
              <a:ext uri="{FF2B5EF4-FFF2-40B4-BE49-F238E27FC236}">
                <a16:creationId xmlns:a16="http://schemas.microsoft.com/office/drawing/2014/main" id="{EC607B4C-E121-1743-ABC8-386A5EFDE8B8}"/>
              </a:ext>
            </a:extLst>
          </p:cNvPr>
          <p:cNvSpPr txBox="1"/>
          <p:nvPr/>
        </p:nvSpPr>
        <p:spPr>
          <a:xfrm>
            <a:off x="91364" y="5167890"/>
            <a:ext cx="126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保存 恢复</a:t>
            </a:r>
          </a:p>
        </p:txBody>
      </p:sp>
      <p:sp>
        <p:nvSpPr>
          <p:cNvPr id="50" name="文本框 51">
            <a:extLst>
              <a:ext uri="{FF2B5EF4-FFF2-40B4-BE49-F238E27FC236}">
                <a16:creationId xmlns:a16="http://schemas.microsoft.com/office/drawing/2014/main" id="{3CB7E488-0FE0-C949-B0C6-8D9D562CF764}"/>
              </a:ext>
            </a:extLst>
          </p:cNvPr>
          <p:cNvSpPr txBox="1"/>
          <p:nvPr/>
        </p:nvSpPr>
        <p:spPr>
          <a:xfrm>
            <a:off x="97813" y="5479591"/>
            <a:ext cx="126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432FF"/>
                </a:solidFill>
                <a:latin typeface="+mn-lt"/>
                <a:ea typeface="+mn-ea"/>
              </a:rPr>
              <a:t>异常 地址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20AA23F-FD45-1EFD-78BA-2867CC94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14659731-6BD7-46E7-8D3C-2F3AC07E20B1}" type="slidenum">
              <a:rPr lang="en-US" altLang="zh-CN" smtClean="0">
                <a:latin typeface="+mn-lt"/>
                <a:ea typeface="+mn-ea"/>
              </a:rPr>
              <a:pPr/>
              <a:t>78</a:t>
            </a:fld>
            <a:endParaRPr lang="en-US" altLang="zh-CN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254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实现简化</a:t>
            </a:r>
            <a:r>
              <a:rPr lang="en-US" altLang="zh-CN" dirty="0"/>
              <a:t>MIPS</a:t>
            </a:r>
            <a:r>
              <a:rPr lang="zh-CN" altLang="en-US" dirty="0"/>
              <a:t>的异常处理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178"/>
            <a:ext cx="8229600" cy="4525963"/>
          </a:xfrm>
        </p:spPr>
        <p:txBody>
          <a:bodyPr/>
          <a:lstStyle/>
          <a:p>
            <a:r>
              <a:rPr lang="zh-CN" altLang="en-US" sz="2800" b="0" dirty="0"/>
              <a:t>假设要处理两种异常</a:t>
            </a:r>
            <a:endParaRPr lang="en-US" altLang="zh-CN" sz="2800" b="0" dirty="0"/>
          </a:p>
          <a:p>
            <a:pPr lvl="1"/>
            <a:r>
              <a:rPr lang="zh-CN" altLang="en-US" sz="2400" b="0" dirty="0"/>
              <a:t>未定义指令的执行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算术溢出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异常处理程序的入口假设为</a:t>
            </a:r>
            <a:r>
              <a:rPr lang="en-US" altLang="zh-CN" sz="2400" b="0" dirty="0"/>
              <a:t>80000180</a:t>
            </a:r>
            <a:r>
              <a:rPr lang="en-US" altLang="zh-CN" sz="2400" b="0" baseline="-25000" dirty="0"/>
              <a:t>hex</a:t>
            </a:r>
          </a:p>
          <a:p>
            <a:r>
              <a:rPr lang="zh-CN" altLang="en-US" sz="2800" b="0" dirty="0"/>
              <a:t>数据通路的修改：</a:t>
            </a:r>
          </a:p>
          <a:p>
            <a:pPr lvl="1"/>
            <a:r>
              <a:rPr lang="zh-CN" altLang="en-US" sz="2400" b="0" dirty="0"/>
              <a:t>增加</a:t>
            </a:r>
            <a:r>
              <a:rPr lang="en-US" altLang="zh-CN" sz="2400" dirty="0"/>
              <a:t>EPC</a:t>
            </a:r>
            <a:r>
              <a:rPr lang="zh-CN" altLang="en-US" sz="2400" dirty="0"/>
              <a:t>寄存器</a:t>
            </a:r>
            <a:r>
              <a:rPr lang="en-US" altLang="zh-CN" sz="2400" b="0" dirty="0"/>
              <a:t>——32</a:t>
            </a:r>
            <a:r>
              <a:rPr lang="zh-CN" altLang="en-US" sz="2400" b="0" dirty="0"/>
              <a:t>位寄存器， 用于保存受影响的指令的地址</a:t>
            </a:r>
          </a:p>
          <a:p>
            <a:pPr lvl="1"/>
            <a:r>
              <a:rPr lang="zh-CN" altLang="en-US" sz="2400" b="0" dirty="0"/>
              <a:t>增加</a:t>
            </a:r>
            <a:r>
              <a:rPr lang="en-US" altLang="zh-CN" sz="2400" dirty="0"/>
              <a:t>Cause</a:t>
            </a:r>
            <a:r>
              <a:rPr lang="zh-CN" altLang="en-US" sz="2400" dirty="0"/>
              <a:t>寄存器</a:t>
            </a:r>
            <a:r>
              <a:rPr lang="en-US" altLang="zh-CN" sz="2400" b="0" dirty="0"/>
              <a:t>——</a:t>
            </a:r>
            <a:r>
              <a:rPr lang="zh-CN" altLang="en-US" sz="2400" b="0" dirty="0"/>
              <a:t>用于记录产生异常事件原因的寄存器</a:t>
            </a:r>
            <a:endParaRPr lang="en-US" altLang="zh-CN" sz="2400" b="0" dirty="0"/>
          </a:p>
          <a:p>
            <a:pPr lvl="2"/>
            <a:r>
              <a:rPr lang="en-US" altLang="zh-CN" sz="2000" b="0" dirty="0"/>
              <a:t>32</a:t>
            </a:r>
            <a:r>
              <a:rPr lang="zh-CN" altLang="en-US" sz="2000" b="0" dirty="0"/>
              <a:t>位</a:t>
            </a:r>
            <a:r>
              <a:rPr lang="en-US" altLang="zh-CN" sz="2000" b="0" dirty="0"/>
              <a:t>MIPS</a:t>
            </a:r>
            <a:r>
              <a:rPr lang="zh-CN" altLang="en-US" sz="2000" b="0" dirty="0"/>
              <a:t>中一些位目前还没有定义用途</a:t>
            </a:r>
            <a:endParaRPr lang="en-US" altLang="zh-CN" sz="2000" b="0" dirty="0"/>
          </a:p>
          <a:p>
            <a:pPr lvl="2"/>
            <a:r>
              <a:rPr lang="zh-CN" altLang="en-US" sz="2000" b="0" dirty="0"/>
              <a:t>假设其最低位对两种异常原因进行了编码：未定义指令</a:t>
            </a:r>
            <a:r>
              <a:rPr lang="en-US" altLang="zh-CN" sz="2000" b="0" dirty="0"/>
              <a:t>=0 </a:t>
            </a:r>
            <a:r>
              <a:rPr lang="zh-CN" altLang="en-US" sz="2000" b="0" dirty="0"/>
              <a:t>，算术溢出</a:t>
            </a:r>
            <a:r>
              <a:rPr lang="en-US" altLang="zh-CN" sz="2000" b="0" dirty="0"/>
              <a:t>=1</a:t>
            </a:r>
            <a:r>
              <a:rPr lang="zh-CN" altLang="en-US" sz="2000" b="0" dirty="0"/>
              <a:t>，后续探索数据通路实现方法</a:t>
            </a:r>
            <a:endParaRPr lang="en-US" altLang="zh-CN" sz="2000" b="0" dirty="0"/>
          </a:p>
          <a:p>
            <a:pPr>
              <a:defRPr/>
            </a:pPr>
            <a:endParaRPr lang="zh-CN" alt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1C5B1-ACE6-C04F-AAA2-B3DC1267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8695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实现简化</a:t>
            </a:r>
            <a:r>
              <a:rPr lang="en-US" altLang="zh-CN" dirty="0"/>
              <a:t>MIPS</a:t>
            </a:r>
            <a:r>
              <a:rPr lang="zh-CN" altLang="en-US" dirty="0"/>
              <a:t>的异常处理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4EA37-0445-4FF3-8606-2C78D312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5178"/>
            <a:ext cx="8229600" cy="4525963"/>
          </a:xfrm>
        </p:spPr>
        <p:txBody>
          <a:bodyPr/>
          <a:lstStyle/>
          <a:p>
            <a:r>
              <a:rPr lang="zh-CN" altLang="en-US" sz="2800" b="0" dirty="0"/>
              <a:t>数据通路的修改：</a:t>
            </a:r>
          </a:p>
          <a:p>
            <a:pPr lvl="1">
              <a:defRPr/>
            </a:pPr>
            <a:r>
              <a:rPr lang="zh-CN" altLang="en-US" sz="2400" b="0" dirty="0"/>
              <a:t>增加</a:t>
            </a:r>
            <a:r>
              <a:rPr lang="en-US" altLang="zh-CN" sz="2400" b="0" dirty="0"/>
              <a:t>PC</a:t>
            </a:r>
            <a:r>
              <a:rPr lang="zh-CN" altLang="en-US" sz="2400" b="0" dirty="0"/>
              <a:t>的源：异常处理程序的入口地址</a:t>
            </a:r>
            <a:r>
              <a:rPr lang="en-US" altLang="zh-CN" sz="2400" b="0" dirty="0"/>
              <a:t>80000180</a:t>
            </a:r>
            <a:r>
              <a:rPr lang="en-US" altLang="zh-CN" sz="2400" b="0" baseline="-25000" dirty="0"/>
              <a:t>hex</a:t>
            </a:r>
          </a:p>
          <a:p>
            <a:pPr lvl="2">
              <a:defRPr/>
            </a:pPr>
            <a:r>
              <a:rPr lang="zh-CN" altLang="en-US" sz="2000" b="0" dirty="0"/>
              <a:t>由于在每条指令执行的第一个周期</a:t>
            </a:r>
            <a:r>
              <a:rPr lang="en-US" altLang="zh-CN" sz="2000" b="0" dirty="0"/>
              <a:t>(</a:t>
            </a:r>
            <a:r>
              <a:rPr lang="zh-CN" altLang="en-US" sz="2000" b="0" dirty="0"/>
              <a:t>取指令</a:t>
            </a:r>
            <a:r>
              <a:rPr lang="en-US" altLang="zh-CN" sz="2000" b="0" dirty="0"/>
              <a:t>)</a:t>
            </a:r>
            <a:r>
              <a:rPr lang="zh-CN" altLang="en-US" sz="2000" b="0" dirty="0"/>
              <a:t>将</a:t>
            </a:r>
            <a:r>
              <a:rPr lang="en-US" altLang="zh-CN" sz="2000" b="0" dirty="0"/>
              <a:t>PC+4</a:t>
            </a:r>
            <a:r>
              <a:rPr lang="zh-CN" altLang="en-US" sz="2000" b="0" dirty="0"/>
              <a:t>写入了</a:t>
            </a:r>
            <a:r>
              <a:rPr lang="en-US" altLang="zh-CN" sz="2000" b="0" dirty="0"/>
              <a:t>PC</a:t>
            </a:r>
            <a:r>
              <a:rPr lang="zh-CN" altLang="en-US" sz="2000" b="0" dirty="0"/>
              <a:t>，所以写入</a:t>
            </a:r>
            <a:r>
              <a:rPr lang="en-US" altLang="zh-CN" sz="2000" b="0" dirty="0"/>
              <a:t>EPC</a:t>
            </a:r>
            <a:r>
              <a:rPr lang="zh-CN" altLang="en-US" sz="2000" b="0" dirty="0"/>
              <a:t>的地址应该是</a:t>
            </a:r>
            <a:r>
              <a:rPr lang="en-US" altLang="zh-CN" sz="2000" b="0" dirty="0"/>
              <a:t>PC-4</a:t>
            </a:r>
            <a:r>
              <a:rPr lang="zh-CN" altLang="en-US" sz="2000" b="0" dirty="0"/>
              <a:t>。</a:t>
            </a:r>
            <a:endParaRPr lang="en-US" altLang="zh-CN" sz="2000" b="0" dirty="0"/>
          </a:p>
          <a:p>
            <a:pPr lvl="1">
              <a:defRPr/>
            </a:pPr>
            <a:r>
              <a:rPr lang="zh-CN" altLang="en-US" sz="2400" b="0" dirty="0"/>
              <a:t>需要增加一个多路选择器</a:t>
            </a:r>
            <a:endParaRPr lang="en-US" altLang="zh-CN" sz="2400" b="0" dirty="0"/>
          </a:p>
          <a:p>
            <a:pPr lvl="2">
              <a:defRPr/>
            </a:pPr>
            <a:r>
              <a:rPr lang="en-US" altLang="zh-CN" sz="2000" b="0" dirty="0"/>
              <a:t>0: </a:t>
            </a:r>
            <a:r>
              <a:rPr lang="zh-CN" altLang="en-US" sz="2000" b="0" dirty="0"/>
              <a:t>未定义指令</a:t>
            </a:r>
            <a:endParaRPr lang="en-US" altLang="zh-CN" sz="2000" b="0" dirty="0"/>
          </a:p>
          <a:p>
            <a:pPr lvl="2">
              <a:defRPr/>
            </a:pPr>
            <a:r>
              <a:rPr lang="en-US" altLang="zh-CN" sz="2000" b="0" dirty="0"/>
              <a:t>1: </a:t>
            </a:r>
            <a:r>
              <a:rPr lang="zh-CN" altLang="en-US" sz="2000" b="0" dirty="0"/>
              <a:t>算术溢出</a:t>
            </a:r>
            <a:endParaRPr lang="en-US" altLang="zh-CN" sz="2000" b="0" dirty="0"/>
          </a:p>
          <a:p>
            <a:pPr lvl="1"/>
            <a:r>
              <a:rPr lang="zh-CN" altLang="en-US" sz="2400" b="0" dirty="0"/>
              <a:t>所需的控制信号：</a:t>
            </a:r>
            <a:endParaRPr lang="en-US" altLang="zh-CN" sz="2400" b="0" dirty="0"/>
          </a:p>
          <a:p>
            <a:pPr lvl="2"/>
            <a:r>
              <a:rPr lang="en-US" altLang="zh-CN" sz="2000" b="0" dirty="0" err="1"/>
              <a:t>EPCWrite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EPC</a:t>
            </a:r>
            <a:r>
              <a:rPr lang="zh-CN" altLang="en-US" sz="2000" b="0" dirty="0"/>
              <a:t>写入使能</a:t>
            </a:r>
            <a:endParaRPr lang="en-US" altLang="zh-CN" sz="2000" b="0" dirty="0"/>
          </a:p>
          <a:p>
            <a:pPr lvl="2"/>
            <a:r>
              <a:rPr lang="en-US" altLang="zh-CN" sz="2000" b="0" dirty="0" err="1"/>
              <a:t>CauseWrite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Cause</a:t>
            </a:r>
            <a:r>
              <a:rPr lang="zh-CN" altLang="en-US" sz="2000" b="0" dirty="0"/>
              <a:t>写入使能</a:t>
            </a:r>
            <a:endParaRPr lang="en-US" altLang="zh-CN" sz="2000" b="0" dirty="0"/>
          </a:p>
          <a:p>
            <a:pPr lvl="2"/>
            <a:r>
              <a:rPr lang="en-US" altLang="zh-CN" sz="2000" b="0" dirty="0" err="1"/>
              <a:t>PCSource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2</a:t>
            </a:r>
            <a:r>
              <a:rPr lang="zh-CN" altLang="en-US" sz="2000" b="0" dirty="0"/>
              <a:t>位，</a:t>
            </a:r>
            <a:r>
              <a:rPr lang="en-US" altLang="zh-CN" sz="2000" b="0" dirty="0"/>
              <a:t>PC</a:t>
            </a:r>
            <a:r>
              <a:rPr lang="zh-CN" altLang="en-US" sz="2000" b="0" dirty="0"/>
              <a:t>源选择信号</a:t>
            </a:r>
            <a:endParaRPr lang="en-US" altLang="zh-CN" sz="2000" b="0" dirty="0"/>
          </a:p>
          <a:p>
            <a:pPr lvl="2"/>
            <a:r>
              <a:rPr lang="en-US" altLang="zh-CN" sz="2000" b="0" dirty="0" err="1"/>
              <a:t>IntCause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1</a:t>
            </a:r>
            <a:r>
              <a:rPr lang="zh-CN" altLang="en-US" sz="2000" b="0" dirty="0"/>
              <a:t>位，异常原因选择信号</a:t>
            </a:r>
            <a:endParaRPr lang="en-US" altLang="zh-CN" sz="2000" b="0" dirty="0"/>
          </a:p>
          <a:p>
            <a:pPr lvl="1"/>
            <a:endParaRPr lang="zh-CN" altLang="en-US" b="0" dirty="0"/>
          </a:p>
          <a:p>
            <a:pPr>
              <a:defRPr/>
            </a:pPr>
            <a:endParaRPr lang="en-US" altLang="zh-CN" sz="2800" b="0" dirty="0"/>
          </a:p>
          <a:p>
            <a:pPr lvl="1">
              <a:defRPr/>
            </a:pP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72BCE-DB4E-B341-B61B-0B34CEE9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35420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B76F-45B4-4ADE-8657-1A3A4C25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实现简化</a:t>
            </a:r>
            <a:r>
              <a:rPr lang="en-US" altLang="zh-CN" dirty="0"/>
              <a:t>MIPS</a:t>
            </a:r>
            <a:r>
              <a:rPr lang="zh-CN" altLang="en-US" dirty="0"/>
              <a:t>的异常处理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495CD-E4C9-D240-B711-31C6A2C7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E6932A-3A5F-45C4-A168-CA66AD08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" y="1386235"/>
            <a:ext cx="9144000" cy="50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329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AC3F5-1F46-4A81-B456-F9874C31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控制单元如何检测异常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A6E510-D6DC-4FCC-9663-01C9942FA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dirty="0"/>
              <a:t>未定义指令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000" dirty="0"/>
              <a:t>对于特定的操作码数值，如果状态</a:t>
            </a:r>
            <a:r>
              <a:rPr lang="en-US" altLang="zh-CN" sz="2000" dirty="0"/>
              <a:t>1</a:t>
            </a:r>
            <a:r>
              <a:rPr lang="zh-CN" altLang="en-US" sz="2000" dirty="0"/>
              <a:t>没有后续状态，那么就检测到了未定义指令</a:t>
            </a:r>
            <a:endParaRPr lang="en-US" altLang="zh-CN" sz="2000" dirty="0"/>
          </a:p>
          <a:p>
            <a:pPr lvl="1">
              <a:defRPr/>
            </a:pPr>
            <a:r>
              <a:rPr lang="zh-CN" altLang="en-US" sz="2000" dirty="0"/>
              <a:t>为处理这一异常，定义一个新的后续状态</a:t>
            </a:r>
            <a:r>
              <a:rPr lang="en-US" altLang="zh-CN" sz="2000" dirty="0"/>
              <a:t>(10)</a:t>
            </a:r>
            <a:r>
              <a:rPr lang="zh-CN" altLang="en-US" sz="2000" dirty="0"/>
              <a:t>来接受所有未定义的操作码，用</a:t>
            </a:r>
            <a:r>
              <a:rPr lang="en-US" altLang="zh-CN" sz="2000" dirty="0">
                <a:solidFill>
                  <a:srgbClr val="3333FF"/>
                </a:solidFill>
              </a:rPr>
              <a:t>Other</a:t>
            </a:r>
            <a:r>
              <a:rPr lang="zh-CN" altLang="en-US" sz="2000" dirty="0"/>
              <a:t>来指明这些未定义的操作码</a:t>
            </a:r>
            <a:endParaRPr lang="en-US" altLang="zh-CN" sz="2000" dirty="0"/>
          </a:p>
          <a:p>
            <a:pPr>
              <a:defRPr/>
            </a:pP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算术溢出</a:t>
            </a:r>
            <a:endParaRPr lang="en-US" altLang="zh-CN" sz="2400" dirty="0"/>
          </a:p>
          <a:p>
            <a:pPr lvl="1">
              <a:defRPr/>
            </a:pPr>
            <a:r>
              <a:rPr lang="en-US" altLang="zh-CN" sz="2000" dirty="0"/>
              <a:t>ALU</a:t>
            </a:r>
            <a:r>
              <a:rPr lang="zh-CN" altLang="en-US" sz="2000" dirty="0"/>
              <a:t>对于算术溢出能够提供一个称为</a:t>
            </a:r>
            <a:r>
              <a:rPr lang="en-US" altLang="zh-CN" sz="2000" dirty="0"/>
              <a:t>Overflow</a:t>
            </a:r>
            <a:r>
              <a:rPr lang="zh-CN" altLang="en-US" sz="2000" dirty="0"/>
              <a:t>的信号</a:t>
            </a:r>
            <a:endParaRPr lang="en-US" altLang="zh-CN" sz="2000" dirty="0"/>
          </a:p>
          <a:p>
            <a:pPr lvl="1">
              <a:defRPr/>
            </a:pPr>
            <a:r>
              <a:rPr lang="zh-CN" altLang="en-US" sz="2000" dirty="0"/>
              <a:t>在修改后的</a:t>
            </a:r>
            <a:r>
              <a:rPr lang="en-US" altLang="zh-CN" sz="2000" dirty="0"/>
              <a:t>FSM</a:t>
            </a:r>
            <a:r>
              <a:rPr lang="zh-CN" altLang="en-US" sz="2000" dirty="0"/>
              <a:t>中将使用这一信号来指定另外一个可能的后续状态</a:t>
            </a:r>
            <a:r>
              <a:rPr lang="en-US" altLang="zh-CN" sz="2000" dirty="0"/>
              <a:t>(11)</a:t>
            </a:r>
            <a:endParaRPr lang="zh-CN" altLang="en-US" sz="2000" dirty="0"/>
          </a:p>
          <a:p>
            <a:endParaRPr lang="zh-CN" alt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91DF8-DCAD-2445-AF93-38B8C9C9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9203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D4CA1B4A-E773-1D41-BAE3-11941C6DF479}"/>
              </a:ext>
            </a:extLst>
          </p:cNvPr>
          <p:cNvSpPr txBox="1">
            <a:spLocks/>
          </p:cNvSpPr>
          <p:nvPr/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kern="0" dirty="0">
                <a:ea typeface="黑体" panose="02010609060101010101" pitchFamily="49" charset="-122"/>
              </a:rPr>
              <a:t>加入异常检测后的</a:t>
            </a:r>
            <a:r>
              <a:rPr lang="en-US" altLang="zh-CN" kern="0" dirty="0">
                <a:ea typeface="黑体" panose="02010609060101010101" pitchFamily="49" charset="-122"/>
              </a:rPr>
              <a:t>FSM</a:t>
            </a:r>
            <a:r>
              <a:rPr lang="zh-CN" altLang="en-US" kern="0" dirty="0">
                <a:ea typeface="黑体" panose="02010609060101010101" pitchFamily="49" charset="-122"/>
              </a:rPr>
              <a:t>状态图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ABF560-94C7-40F4-84DA-CE627CCE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383" y="1551432"/>
            <a:ext cx="5076617" cy="53065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42F0F-8F1B-124D-B780-19628A1A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83</a:t>
            </a:fld>
            <a:endParaRPr lang="en-US" altLang="zh-CN"/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6052DFDF-C399-8C4C-9424-DCDE86048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1332"/>
            <a:ext cx="3758084" cy="5126667"/>
          </a:xfrm>
          <a:prstGeom prst="rect">
            <a:avLst/>
          </a:prstGeom>
        </p:spPr>
      </p:pic>
      <p:sp>
        <p:nvSpPr>
          <p:cNvPr id="9" name="Right Arrow 3">
            <a:extLst>
              <a:ext uri="{FF2B5EF4-FFF2-40B4-BE49-F238E27FC236}">
                <a16:creationId xmlns:a16="http://schemas.microsoft.com/office/drawing/2014/main" id="{C6B70369-52FE-4142-8D31-5162E505732A}"/>
              </a:ext>
            </a:extLst>
          </p:cNvPr>
          <p:cNvSpPr/>
          <p:nvPr/>
        </p:nvSpPr>
        <p:spPr>
          <a:xfrm>
            <a:off x="3758084" y="4059534"/>
            <a:ext cx="309299" cy="381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1BF1C18F-B1B4-4CC0-AF9E-ABD0C3B48696}"/>
              </a:ext>
            </a:extLst>
          </p:cNvPr>
          <p:cNvSpPr/>
          <p:nvPr/>
        </p:nvSpPr>
        <p:spPr>
          <a:xfrm>
            <a:off x="6395990" y="4884430"/>
            <a:ext cx="2636090" cy="1093304"/>
          </a:xfrm>
          <a:prstGeom prst="roundRect">
            <a:avLst>
              <a:gd name="adj" fmla="val 61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">
            <a:extLst>
              <a:ext uri="{FF2B5EF4-FFF2-40B4-BE49-F238E27FC236}">
                <a16:creationId xmlns:a16="http://schemas.microsoft.com/office/drawing/2014/main" id="{1CF0FB2D-D277-4AF8-BAEF-EBC07DB4E569}"/>
              </a:ext>
            </a:extLst>
          </p:cNvPr>
          <p:cNvSpPr/>
          <p:nvPr/>
        </p:nvSpPr>
        <p:spPr>
          <a:xfrm>
            <a:off x="7714035" y="2966936"/>
            <a:ext cx="515566" cy="7879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19E5F-5790-594E-A0AB-8A6C65A3130D}"/>
              </a:ext>
            </a:extLst>
          </p:cNvPr>
          <p:cNvSpPr/>
          <p:nvPr/>
        </p:nvSpPr>
        <p:spPr>
          <a:xfrm>
            <a:off x="7983040" y="2371863"/>
            <a:ext cx="11117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出现未定义指令</a:t>
            </a:r>
            <a:endParaRPr lang="en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9608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2F06F2B-8879-45AC-AB23-D88852187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2104267"/>
              </p:ext>
            </p:extLst>
          </p:nvPr>
        </p:nvGraphicFramePr>
        <p:xfrm>
          <a:off x="145959" y="3710943"/>
          <a:ext cx="8852082" cy="3010532"/>
        </p:xfrm>
        <a:graphic>
          <a:graphicData uri="http://schemas.openxmlformats.org/drawingml/2006/table">
            <a:tbl>
              <a:tblPr firstRow="1" firstCol="1" bandRow="1"/>
              <a:tblGrid>
                <a:gridCol w="1431000">
                  <a:extLst>
                    <a:ext uri="{9D8B030D-6E8A-4147-A177-3AD203B41FA5}">
                      <a16:colId xmlns:a16="http://schemas.microsoft.com/office/drawing/2014/main" val="2979746772"/>
                    </a:ext>
                  </a:extLst>
                </a:gridCol>
                <a:gridCol w="1783764">
                  <a:extLst>
                    <a:ext uri="{9D8B030D-6E8A-4147-A177-3AD203B41FA5}">
                      <a16:colId xmlns:a16="http://schemas.microsoft.com/office/drawing/2014/main" val="1786649136"/>
                    </a:ext>
                  </a:extLst>
                </a:gridCol>
                <a:gridCol w="2931336">
                  <a:extLst>
                    <a:ext uri="{9D8B030D-6E8A-4147-A177-3AD203B41FA5}">
                      <a16:colId xmlns:a16="http://schemas.microsoft.com/office/drawing/2014/main" val="4186342600"/>
                    </a:ext>
                  </a:extLst>
                </a:gridCol>
                <a:gridCol w="1349524">
                  <a:extLst>
                    <a:ext uri="{9D8B030D-6E8A-4147-A177-3AD203B41FA5}">
                      <a16:colId xmlns:a16="http://schemas.microsoft.com/office/drawing/2014/main" val="673298974"/>
                    </a:ext>
                  </a:extLst>
                </a:gridCol>
                <a:gridCol w="1356458">
                  <a:extLst>
                    <a:ext uri="{9D8B030D-6E8A-4147-A177-3AD203B41FA5}">
                      <a16:colId xmlns:a16="http://schemas.microsoft.com/office/drawing/2014/main" val="3125564423"/>
                    </a:ext>
                  </a:extLst>
                </a:gridCol>
              </a:tblGrid>
              <a:tr h="228821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步骤</a:t>
                      </a:r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\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指令类型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型指令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内存访问指令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分支指令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跳转指令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643040"/>
                  </a:ext>
                </a:extLst>
              </a:tr>
              <a:tr h="573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取指令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IR &lt;= Memory[PC]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PC &lt;= PC+4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132781" marR="132781" marT="66391" marB="663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80958"/>
                  </a:ext>
                </a:extLst>
              </a:tr>
              <a:tr h="57385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译码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 &amp;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寄存器堆读取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 &lt;= Reg[IR[25:21]]; B &lt;= Reg[IR[20:16]]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 &lt;= PC + (sign-extended(IR[15:0]) &lt;&lt; 2)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132781" marR="132781" marT="66391" marB="6639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39816"/>
                  </a:ext>
                </a:extLst>
              </a:tr>
              <a:tr h="915284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执行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 &amp;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分支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跳转完成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ALUOut &lt;= A op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ALUOut &lt;= 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 + sign-extend(IR[15:0])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if (A==B) PC&lt;=ALUOut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PC &lt;= {PC[31:28], IR[25:0], 2’b00}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78095"/>
                  </a:ext>
                </a:extLst>
              </a:tr>
              <a:tr h="457642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内存访问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 &amp; 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型指令完成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Reg[IR[15:11]] &lt;= ALUOut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Load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: MDR&lt;=Memory[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]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sz="15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Store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: Memory[</a:t>
                      </a:r>
                      <a:r>
                        <a:rPr lang="en-US" sz="1500" kern="100" dirty="0" err="1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ALUOut</a:t>
                      </a:r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] &lt;= B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63689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ctr"/>
                      <a:r>
                        <a:rPr lang="zh-CN" sz="1500" kern="10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内存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Load</a:t>
                      </a:r>
                      <a:r>
                        <a:rPr lang="en-US" sz="1500" kern="10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: Reg[IR[20:16]]&lt;=MDR</a:t>
                      </a:r>
                      <a:endParaRPr lang="zh-CN" sz="1700" kern="10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 </a:t>
                      </a:r>
                      <a:endParaRPr lang="zh-CN" sz="17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93609" marR="9360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2959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C9810-DC88-4C65-A9CC-38870103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84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7EA689-E601-4790-B284-3D78AB4555B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30376" y="2258457"/>
            <a:ext cx="31718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除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异常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C4BC28-D28A-4B15-9F5F-40D696DE82F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709160" y="2258457"/>
            <a:ext cx="3200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无效数据内存地址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CB8EFD-3345-4FDC-BA32-0646ECB6A24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730376" y="3051412"/>
            <a:ext cx="297878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ALU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溢出异常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2F5752-BAFD-474F-A290-AA1309A6EB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709160" y="3051412"/>
            <a:ext cx="315286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非法分支跳转异常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24B4BE7-15B5-4297-9A73-445FDB55A47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016001" y="23227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295AE4E-DA24-451E-AD63-C66666C96D8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4041049" y="23227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02CE170-77E0-4344-8B43-D98416AD8B3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16001" y="311570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5FF8867-32E5-47B6-BBCE-7902AE5AEE5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057650" y="311570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3A800D-047F-4EDD-BAD9-2049428D61C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534275" y="3190958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A082065-2365-9044-8252-06D83DC44003}"/>
              </a:ext>
            </a:extLst>
          </p:cNvPr>
          <p:cNvSpPr txBox="1">
            <a:spLocks/>
          </p:cNvSpPr>
          <p:nvPr/>
        </p:nvSpPr>
        <p:spPr>
          <a:xfrm>
            <a:off x="457200" y="1339456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黑体" panose="02010609060101010101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kern="0" dirty="0"/>
              <a:t>一条指令在多周期处理器中执行，以下哪个异常会被最早检测到（假设</a:t>
            </a:r>
            <a:r>
              <a:rPr lang="en-US" altLang="zh-CN" sz="2800" kern="0" dirty="0"/>
              <a:t>ALU</a:t>
            </a:r>
            <a:r>
              <a:rPr lang="zh-CN" altLang="en-US" sz="2800" kern="0" dirty="0"/>
              <a:t>支持除法运算）：</a:t>
            </a:r>
            <a:endParaRPr lang="zh-CN" altLang="en-US" sz="2400" b="0" kern="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0D42AF1-748E-411D-82DA-A36FE614651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C3381B36-4EC6-4142-88EE-CB761F35D5D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C640CA67-2086-42C2-9802-A1C5F5F68B4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A7878AC-48AE-43D3-9A1B-8EB7831C9E1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54C28ADE-B5DE-49FA-AEA6-47FE6C65AD5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ABEF8ED-51F5-4B03-9760-5AC878AB58F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14798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D5B3E-C6D1-463E-A70C-1F6C27DD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12BD26-DB21-452C-93DA-0DF53E132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382000" cy="4525963"/>
          </a:xfrm>
        </p:spPr>
        <p:txBody>
          <a:bodyPr/>
          <a:lstStyle/>
          <a:p>
            <a:r>
              <a:rPr lang="zh-CN" altLang="en-US" sz="2400" dirty="0"/>
              <a:t>一条指令在多周期处理器中执行，以下哪个异常会被最早检测到（假设</a:t>
            </a:r>
            <a:r>
              <a:rPr lang="en-US" altLang="zh-CN" sz="2400" dirty="0"/>
              <a:t>ALU</a:t>
            </a:r>
            <a:r>
              <a:rPr lang="zh-CN" altLang="en-US" sz="2400" dirty="0"/>
              <a:t>支持除法运算）：</a:t>
            </a:r>
            <a:endParaRPr lang="en-US" altLang="zh-CN" sz="2400" dirty="0"/>
          </a:p>
          <a:p>
            <a:pPr marL="457200" indent="-457200">
              <a:buAutoNum type="alphaUcPeriod"/>
            </a:pPr>
            <a:r>
              <a:rPr lang="zh-CN" altLang="en-US" sz="2400" b="0" dirty="0"/>
              <a:t>除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异常：在</a:t>
            </a:r>
            <a:r>
              <a:rPr lang="en-US" altLang="zh-CN" sz="2400" b="0" dirty="0"/>
              <a:t>ALU</a:t>
            </a:r>
            <a:r>
              <a:rPr lang="zh-CN" altLang="en-US" sz="2400" b="0" dirty="0"/>
              <a:t>运算结束前（第三周期开始）</a:t>
            </a:r>
            <a:endParaRPr lang="en-US" altLang="zh-CN" sz="2400" b="0" dirty="0"/>
          </a:p>
          <a:p>
            <a:pPr marL="457200" indent="-457200">
              <a:buAutoNum type="alphaUcPeriod"/>
            </a:pPr>
            <a:r>
              <a:rPr lang="zh-CN" altLang="en-US" sz="2400" b="0" dirty="0"/>
              <a:t>无效数据内存地址：</a:t>
            </a:r>
            <a:r>
              <a:rPr lang="en-US" altLang="zh-CN" sz="2400" b="0" dirty="0"/>
              <a:t>ALU</a:t>
            </a:r>
            <a:r>
              <a:rPr lang="zh-CN" altLang="en-US" sz="2400" b="0" dirty="0"/>
              <a:t>完成地址运算后（第三周期结束）</a:t>
            </a:r>
            <a:endParaRPr lang="en-US" altLang="zh-CN" sz="2400" b="0" dirty="0"/>
          </a:p>
          <a:p>
            <a:pPr marL="457200" indent="-457200">
              <a:buAutoNum type="alphaUcPeriod"/>
            </a:pPr>
            <a:r>
              <a:rPr lang="en-US" altLang="zh-CN" sz="2400" dirty="0">
                <a:solidFill>
                  <a:srgbClr val="3333FF"/>
                </a:solidFill>
              </a:rPr>
              <a:t>ALU</a:t>
            </a:r>
            <a:r>
              <a:rPr lang="zh-CN" altLang="en-US" sz="2400" dirty="0">
                <a:solidFill>
                  <a:srgbClr val="3333FF"/>
                </a:solidFill>
              </a:rPr>
              <a:t>溢出异常（</a:t>
            </a:r>
            <a:r>
              <a:rPr lang="en-US" altLang="zh-CN" sz="2400" dirty="0">
                <a:solidFill>
                  <a:srgbClr val="3333FF"/>
                </a:solidFill>
              </a:rPr>
              <a:t>PC+4</a:t>
            </a:r>
            <a:r>
              <a:rPr lang="zh-CN" altLang="en-US" sz="2400" dirty="0">
                <a:solidFill>
                  <a:srgbClr val="3333FF"/>
                </a:solidFill>
              </a:rPr>
              <a:t>溢出，第一周期）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marL="457200" indent="-457200">
              <a:buAutoNum type="alphaUcPeriod"/>
            </a:pPr>
            <a:r>
              <a:rPr lang="zh-CN" altLang="en-US" sz="2400" b="0" dirty="0"/>
              <a:t>非法分支跳转异常：</a:t>
            </a:r>
            <a:r>
              <a:rPr lang="en-US" altLang="zh-CN" sz="2400" b="0" dirty="0"/>
              <a:t>ALU</a:t>
            </a:r>
            <a:r>
              <a:rPr lang="zh-CN" altLang="en-US" sz="2400" b="0" dirty="0"/>
              <a:t>完成跳转地址运算后（第二或第三周期结束）</a:t>
            </a:r>
            <a:endParaRPr lang="en-US" altLang="zh-CN" sz="2400" b="0" dirty="0"/>
          </a:p>
          <a:p>
            <a:pPr marL="457200" indent="-457200">
              <a:buAutoNum type="alphaUcPeriod"/>
            </a:pPr>
            <a:endParaRPr lang="en-US" altLang="zh-CN" sz="2400" b="0" dirty="0"/>
          </a:p>
          <a:p>
            <a:r>
              <a:rPr lang="zh-CN" altLang="en-US" sz="2400" dirty="0">
                <a:solidFill>
                  <a:srgbClr val="3333FF"/>
                </a:solidFill>
              </a:rPr>
              <a:t>解答：</a:t>
            </a:r>
            <a:r>
              <a:rPr lang="en-US" altLang="zh-CN" sz="2400" dirty="0">
                <a:solidFill>
                  <a:srgbClr val="3333FF"/>
                </a:solidFill>
              </a:rPr>
              <a:t>C</a:t>
            </a: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5235FD-AA2C-444D-B0EE-916B7CE6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9718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59143-A02A-4166-9B46-6435F5E7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7F2CCD-FAF3-4270-B3C2-C4DB30E6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FF"/>
                </a:solidFill>
              </a:rPr>
              <a:t>多周期处理器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sz="2400" dirty="0"/>
              <a:t>不同指令执行需要不同的步骤，有不同的关键路径</a:t>
            </a:r>
            <a:endParaRPr lang="en-US" altLang="zh-CN" sz="2400" dirty="0"/>
          </a:p>
          <a:p>
            <a:pPr lvl="1"/>
            <a:r>
              <a:rPr lang="zh-CN" altLang="en-US" sz="2400" dirty="0"/>
              <a:t>多周期思路：每条指令用多个周期完成，不同指令可以占用不同的时钟周期数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数据通路的修改</a:t>
            </a:r>
            <a:endParaRPr lang="en-US" altLang="zh-CN" sz="2400" dirty="0"/>
          </a:p>
          <a:p>
            <a:pPr lvl="1"/>
            <a:r>
              <a:rPr lang="zh-CN" altLang="en-US" sz="2400" dirty="0"/>
              <a:t>多周期的状态机描述</a:t>
            </a:r>
            <a:endParaRPr lang="en-US" altLang="zh-CN" sz="2400" dirty="0"/>
          </a:p>
          <a:p>
            <a:r>
              <a:rPr lang="zh-CN" altLang="en-US" dirty="0">
                <a:solidFill>
                  <a:srgbClr val="3333FF"/>
                </a:solidFill>
              </a:rPr>
              <a:t>异常和中断</a:t>
            </a:r>
            <a:endParaRPr lang="en-US" altLang="zh-CN" dirty="0">
              <a:solidFill>
                <a:srgbClr val="3333FF"/>
              </a:solidFill>
            </a:endParaRPr>
          </a:p>
          <a:p>
            <a:pPr lvl="1"/>
            <a:r>
              <a:rPr lang="zh-CN" altLang="en-US" sz="2400" dirty="0"/>
              <a:t>异常和中断的定义与区别</a:t>
            </a:r>
            <a:endParaRPr lang="en-US" altLang="zh-CN" sz="2400" dirty="0"/>
          </a:p>
          <a:p>
            <a:pPr lvl="1"/>
            <a:r>
              <a:rPr lang="en-US" altLang="zh-CN" sz="2400" dirty="0"/>
              <a:t>MIPS</a:t>
            </a:r>
            <a:r>
              <a:rPr lang="zh-CN" altLang="en-US" sz="2400" dirty="0"/>
              <a:t>异常处理的方式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75CA3-D753-C240-B995-BC67CCE6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86</a:t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33129A5-ACD5-A481-33CC-C536ECAD7CFE}"/>
                  </a:ext>
                </a:extLst>
              </p14:cNvPr>
              <p14:cNvContentPartPr/>
              <p14:nvPr/>
            </p14:nvContentPartPr>
            <p14:xfrm>
              <a:off x="2515680" y="133704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33129A5-ACD5-A481-33CC-C536ECAD7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6320" y="13276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38620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33672-E1FB-4E11-ADB6-B5CF00E4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附：多周期数据通路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2717E-2C9E-0546-84CF-2FE28339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87</a:t>
            </a:fld>
            <a:endParaRPr lang="en-US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989292-B19F-4FF0-85F0-E6FFED1DB8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51"/>
          <a:stretch/>
        </p:blipFill>
        <p:spPr>
          <a:xfrm>
            <a:off x="318052" y="1400458"/>
            <a:ext cx="8507896" cy="5110632"/>
          </a:xfrm>
          <a:prstGeom prst="rect">
            <a:avLst/>
          </a:prstGeom>
        </p:spPr>
      </p:pic>
      <p:sp>
        <p:nvSpPr>
          <p:cNvPr id="18" name="Freeform 19">
            <a:extLst>
              <a:ext uri="{FF2B5EF4-FFF2-40B4-BE49-F238E27FC236}">
                <a16:creationId xmlns:a16="http://schemas.microsoft.com/office/drawing/2014/main" id="{79CF3045-D7D0-4276-B633-66CF7216441D}"/>
              </a:ext>
            </a:extLst>
          </p:cNvPr>
          <p:cNvSpPr/>
          <p:nvPr/>
        </p:nvSpPr>
        <p:spPr>
          <a:xfrm>
            <a:off x="1280226" y="3955774"/>
            <a:ext cx="4891973" cy="1746019"/>
          </a:xfrm>
          <a:custGeom>
            <a:avLst/>
            <a:gdLst>
              <a:gd name="connsiteX0" fmla="*/ 5554493 w 5554493"/>
              <a:gd name="connsiteY0" fmla="*/ 700391 h 2013625"/>
              <a:gd name="connsiteX1" fmla="*/ 5554493 w 5554493"/>
              <a:gd name="connsiteY1" fmla="*/ 2013625 h 2013625"/>
              <a:gd name="connsiteX2" fmla="*/ 0 w 5554493"/>
              <a:gd name="connsiteY2" fmla="*/ 2013625 h 2013625"/>
              <a:gd name="connsiteX3" fmla="*/ 0 w 5554493"/>
              <a:gd name="connsiteY3" fmla="*/ 1663429 h 2013625"/>
              <a:gd name="connsiteX4" fmla="*/ 0 w 5554493"/>
              <a:gd name="connsiteY4" fmla="*/ 0 h 2013625"/>
              <a:gd name="connsiteX5" fmla="*/ 126459 w 5554493"/>
              <a:gd name="connsiteY5" fmla="*/ 0 h 2013625"/>
              <a:gd name="connsiteX6" fmla="*/ 398834 w 5554493"/>
              <a:gd name="connsiteY6" fmla="*/ 0 h 201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493" h="2013625">
                <a:moveTo>
                  <a:pt x="5554493" y="700391"/>
                </a:moveTo>
                <a:lnTo>
                  <a:pt x="5554493" y="2013625"/>
                </a:lnTo>
                <a:lnTo>
                  <a:pt x="0" y="2013625"/>
                </a:lnTo>
                <a:lnTo>
                  <a:pt x="0" y="1663429"/>
                </a:lnTo>
                <a:lnTo>
                  <a:pt x="0" y="0"/>
                </a:lnTo>
                <a:lnTo>
                  <a:pt x="126459" y="0"/>
                </a:lnTo>
                <a:lnTo>
                  <a:pt x="398834" y="0"/>
                </a:ln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97827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AE00-ED87-4D07-BB67-7C3EFBD1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附：寄存器堆访问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2425F-6A7F-4484-BFA8-ED7FEBFAE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7007"/>
            <a:ext cx="8601740" cy="1664894"/>
          </a:xfrm>
        </p:spPr>
        <p:txBody>
          <a:bodyPr/>
          <a:lstStyle/>
          <a:p>
            <a:r>
              <a:rPr lang="zh-CN" altLang="en-US" sz="2800" dirty="0"/>
              <a:t>时钟触发边沿写入，且支持</a:t>
            </a:r>
            <a:r>
              <a:rPr lang="en-US" altLang="zh-CN" sz="2800" dirty="0"/>
              <a:t>“</a:t>
            </a:r>
            <a:r>
              <a:rPr lang="zh-CN" altLang="en-US" sz="2800" dirty="0">
                <a:solidFill>
                  <a:srgbClr val="3333FF"/>
                </a:solidFill>
              </a:rPr>
              <a:t>先写后读</a:t>
            </a:r>
            <a:r>
              <a:rPr lang="en-US" altLang="zh-CN" sz="2800" dirty="0"/>
              <a:t>”</a:t>
            </a:r>
          </a:p>
          <a:p>
            <a:pPr lvl="1"/>
            <a:r>
              <a:rPr lang="zh-CN" altLang="en-US" sz="2000" dirty="0"/>
              <a:t>写入到</a:t>
            </a:r>
            <a:r>
              <a:rPr lang="en-US" altLang="zh-CN" sz="2000" dirty="0"/>
              <a:t>RF</a:t>
            </a:r>
            <a:r>
              <a:rPr lang="zh-CN" altLang="en-US" sz="2000" dirty="0"/>
              <a:t>的数据在同周期内可以直接被访问</a:t>
            </a:r>
            <a:endParaRPr lang="en-US" altLang="zh-CN" sz="2000" dirty="0"/>
          </a:p>
          <a:p>
            <a:pPr lvl="1"/>
            <a:r>
              <a:rPr lang="en-US" altLang="zh-CN" sz="2000" dirty="0">
                <a:ea typeface="SimHei" panose="02010609060101010101" pitchFamily="49" charset="-122"/>
              </a:rPr>
              <a:t>RF/Memory</a:t>
            </a:r>
            <a:r>
              <a:rPr lang="zh-CN" altLang="en-US" sz="2000" dirty="0">
                <a:ea typeface="SimHei" panose="02010609060101010101" pitchFamily="49" charset="-122"/>
              </a:rPr>
              <a:t>阵列大，写入的更新数据需建立时间，如</a:t>
            </a:r>
            <a:r>
              <a:rPr lang="en-US" altLang="zh-CN" sz="2000" dirty="0">
                <a:ea typeface="SimHei" panose="02010609060101010101" pitchFamily="49" charset="-122"/>
              </a:rPr>
              <a:t>50/200ps</a:t>
            </a:r>
          </a:p>
          <a:p>
            <a:r>
              <a:rPr lang="zh-CN" altLang="en-US" sz="2800" dirty="0">
                <a:solidFill>
                  <a:srgbClr val="3333FF"/>
                </a:solidFill>
              </a:rPr>
              <a:t>辅助旁路，</a:t>
            </a:r>
            <a:r>
              <a:rPr lang="zh-CN" altLang="en-US" sz="2800" dirty="0"/>
              <a:t>减少同寄存器“先更新</a:t>
            </a:r>
            <a:r>
              <a:rPr lang="zh-CN" altLang="en-CN" sz="2800" dirty="0"/>
              <a:t>再读出</a:t>
            </a:r>
            <a:r>
              <a:rPr lang="zh-CN" altLang="en-US" sz="2800" dirty="0"/>
              <a:t>”的延时</a:t>
            </a: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6522AC-4C04-4A27-AA11-1DBA77AB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26FCE3-5FF9-430D-BA0B-DE80AAE71673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EAF10E9A-57F6-4E7B-864E-219DCF0C1AA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103438" y="2600325"/>
            <a:ext cx="6583362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0489984-11E5-214C-A391-A270E42636E7}"/>
              </a:ext>
            </a:extLst>
          </p:cNvPr>
          <p:cNvGrpSpPr/>
          <p:nvPr/>
        </p:nvGrpSpPr>
        <p:grpSpPr>
          <a:xfrm>
            <a:off x="778148" y="4164245"/>
            <a:ext cx="2473988" cy="2598849"/>
            <a:chOff x="778148" y="3455585"/>
            <a:chExt cx="2473988" cy="2598849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3802E6FD-31B6-C141-910B-20C6FEF65206}"/>
                </a:ext>
              </a:extLst>
            </p:cNvPr>
            <p:cNvSpPr/>
            <p:nvPr/>
          </p:nvSpPr>
          <p:spPr>
            <a:xfrm>
              <a:off x="1540879" y="3927304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2705269D-CAF4-C748-B845-359330506BEE}"/>
                </a:ext>
              </a:extLst>
            </p:cNvPr>
            <p:cNvSpPr/>
            <p:nvPr/>
          </p:nvSpPr>
          <p:spPr>
            <a:xfrm>
              <a:off x="1505281" y="3894503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46D7681-32C1-294D-AAAF-48C0FC54F6BA}"/>
                </a:ext>
              </a:extLst>
            </p:cNvPr>
            <p:cNvSpPr/>
            <p:nvPr/>
          </p:nvSpPr>
          <p:spPr>
            <a:xfrm>
              <a:off x="1469683" y="3861702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A0876D6A-7003-B44A-BA2A-CF11717D1BD7}"/>
                </a:ext>
              </a:extLst>
            </p:cNvPr>
            <p:cNvSpPr/>
            <p:nvPr/>
          </p:nvSpPr>
          <p:spPr>
            <a:xfrm>
              <a:off x="1434085" y="3828901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3533B53-029A-3B46-9132-60C8D04CDA81}"/>
                </a:ext>
              </a:extLst>
            </p:cNvPr>
            <p:cNvSpPr/>
            <p:nvPr/>
          </p:nvSpPr>
          <p:spPr>
            <a:xfrm>
              <a:off x="1398487" y="3796100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E71BB12-ACCE-7546-BFE7-9991F1CB0942}"/>
                </a:ext>
              </a:extLst>
            </p:cNvPr>
            <p:cNvSpPr/>
            <p:nvPr/>
          </p:nvSpPr>
          <p:spPr>
            <a:xfrm>
              <a:off x="1364198" y="3756484"/>
              <a:ext cx="1122699" cy="10351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F450847-10D2-1944-9499-655B561827BE}"/>
                </a:ext>
              </a:extLst>
            </p:cNvPr>
            <p:cNvSpPr/>
            <p:nvPr/>
          </p:nvSpPr>
          <p:spPr>
            <a:xfrm>
              <a:off x="1959912" y="4113601"/>
              <a:ext cx="424272" cy="618126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4921FA04-73AC-FD42-A10F-3BE6F7982140}"/>
                </a:ext>
              </a:extLst>
            </p:cNvPr>
            <p:cNvSpPr/>
            <p:nvPr/>
          </p:nvSpPr>
          <p:spPr>
            <a:xfrm>
              <a:off x="1964918" y="4513002"/>
              <a:ext cx="94268" cy="179109"/>
            </a:xfrm>
            <a:custGeom>
              <a:avLst/>
              <a:gdLst>
                <a:gd name="connsiteX0" fmla="*/ 0 w 94268"/>
                <a:gd name="connsiteY0" fmla="*/ 0 h 179109"/>
                <a:gd name="connsiteX1" fmla="*/ 94268 w 94268"/>
                <a:gd name="connsiteY1" fmla="*/ 94268 h 179109"/>
                <a:gd name="connsiteX2" fmla="*/ 9427 w 94268"/>
                <a:gd name="connsiteY2" fmla="*/ 179109 h 1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268" h="179109">
                  <a:moveTo>
                    <a:pt x="0" y="0"/>
                  </a:moveTo>
                  <a:lnTo>
                    <a:pt x="94268" y="94268"/>
                  </a:lnTo>
                  <a:lnTo>
                    <a:pt x="9427" y="179109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77" name="文本框 8">
              <a:extLst>
                <a:ext uri="{FF2B5EF4-FFF2-40B4-BE49-F238E27FC236}">
                  <a16:creationId xmlns:a16="http://schemas.microsoft.com/office/drawing/2014/main" id="{E937E606-DB26-E84A-B331-6B81E3E7B80F}"/>
                </a:ext>
              </a:extLst>
            </p:cNvPr>
            <p:cNvSpPr txBox="1"/>
            <p:nvPr/>
          </p:nvSpPr>
          <p:spPr>
            <a:xfrm>
              <a:off x="1847253" y="4090771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D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78" name="文本框 8">
              <a:extLst>
                <a:ext uri="{FF2B5EF4-FFF2-40B4-BE49-F238E27FC236}">
                  <a16:creationId xmlns:a16="http://schemas.microsoft.com/office/drawing/2014/main" id="{36E6BC1C-1507-DF4F-8A2B-B745E58B2030}"/>
                </a:ext>
              </a:extLst>
            </p:cNvPr>
            <p:cNvSpPr txBox="1"/>
            <p:nvPr/>
          </p:nvSpPr>
          <p:spPr>
            <a:xfrm>
              <a:off x="2080341" y="4146700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Q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79" name="AutoShape 67">
              <a:extLst>
                <a:ext uri="{FF2B5EF4-FFF2-40B4-BE49-F238E27FC236}">
                  <a16:creationId xmlns:a16="http://schemas.microsoft.com/office/drawing/2014/main" id="{7BF2118C-3B41-1541-9B75-6072C313B8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64545" y="4144058"/>
              <a:ext cx="331146" cy="98268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703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endParaRPr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14BC6A4-42D9-834C-A092-8F669DE4839C}"/>
                </a:ext>
              </a:extLst>
            </p:cNvPr>
            <p:cNvSpPr/>
            <p:nvPr/>
          </p:nvSpPr>
          <p:spPr>
            <a:xfrm>
              <a:off x="1478532" y="3885833"/>
              <a:ext cx="978921" cy="394010"/>
            </a:xfrm>
            <a:custGeom>
              <a:avLst/>
              <a:gdLst>
                <a:gd name="connsiteX0" fmla="*/ 1018478 w 1018478"/>
                <a:gd name="connsiteY0" fmla="*/ 394010 h 394010"/>
                <a:gd name="connsiteX1" fmla="*/ 1018478 w 1018478"/>
                <a:gd name="connsiteY1" fmla="*/ 0 h 394010"/>
                <a:gd name="connsiteX2" fmla="*/ 0 w 1018478"/>
                <a:gd name="connsiteY2" fmla="*/ 0 h 394010"/>
                <a:gd name="connsiteX3" fmla="*/ 0 w 1018478"/>
                <a:gd name="connsiteY3" fmla="*/ 230459 h 394010"/>
                <a:gd name="connsiteX4" fmla="*/ 104078 w 1018478"/>
                <a:gd name="connsiteY4" fmla="*/ 230459 h 39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8478" h="394010">
                  <a:moveTo>
                    <a:pt x="1018478" y="394010"/>
                  </a:moveTo>
                  <a:lnTo>
                    <a:pt x="1018478" y="0"/>
                  </a:lnTo>
                  <a:lnTo>
                    <a:pt x="0" y="0"/>
                  </a:lnTo>
                  <a:lnTo>
                    <a:pt x="0" y="230459"/>
                  </a:lnTo>
                  <a:lnTo>
                    <a:pt x="104078" y="230459"/>
                  </a:ln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A2F4A85-C58D-5045-BD96-DDE884BAA2AC}"/>
                </a:ext>
              </a:extLst>
            </p:cNvPr>
            <p:cNvCxnSpPr>
              <a:cxnSpLocks/>
            </p:cNvCxnSpPr>
            <p:nvPr/>
          </p:nvCxnSpPr>
          <p:spPr>
            <a:xfrm>
              <a:off x="1679252" y="4189752"/>
              <a:ext cx="280111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A83E003-A13F-9643-90C6-DB80211DA74C}"/>
                </a:ext>
              </a:extLst>
            </p:cNvPr>
            <p:cNvSpPr/>
            <p:nvPr/>
          </p:nvSpPr>
          <p:spPr>
            <a:xfrm>
              <a:off x="1205114" y="4324747"/>
              <a:ext cx="428587" cy="202518"/>
            </a:xfrm>
            <a:custGeom>
              <a:avLst/>
              <a:gdLst>
                <a:gd name="connsiteX0" fmla="*/ 0 w 251613"/>
                <a:gd name="connsiteY0" fmla="*/ 202518 h 202518"/>
                <a:gd name="connsiteX1" fmla="*/ 251613 w 251613"/>
                <a:gd name="connsiteY1" fmla="*/ 202518 h 202518"/>
                <a:gd name="connsiteX2" fmla="*/ 251613 w 251613"/>
                <a:gd name="connsiteY2" fmla="*/ 0 h 20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613" h="202518">
                  <a:moveTo>
                    <a:pt x="0" y="202518"/>
                  </a:moveTo>
                  <a:lnTo>
                    <a:pt x="251613" y="202518"/>
                  </a:lnTo>
                  <a:lnTo>
                    <a:pt x="251613" y="0"/>
                  </a:ln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4B3F213A-1561-094D-8D76-7541251B8A1C}"/>
                </a:ext>
              </a:extLst>
            </p:cNvPr>
            <p:cNvSpPr/>
            <p:nvPr/>
          </p:nvSpPr>
          <p:spPr>
            <a:xfrm>
              <a:off x="1469370" y="4269515"/>
              <a:ext cx="105054" cy="969806"/>
            </a:xfrm>
            <a:custGeom>
              <a:avLst/>
              <a:gdLst>
                <a:gd name="connsiteX0" fmla="*/ 104327 w 104327"/>
                <a:gd name="connsiteY0" fmla="*/ 0 h 803935"/>
                <a:gd name="connsiteX1" fmla="*/ 0 w 104327"/>
                <a:gd name="connsiteY1" fmla="*/ 0 h 803935"/>
                <a:gd name="connsiteX2" fmla="*/ 0 w 104327"/>
                <a:gd name="connsiteY2" fmla="*/ 803935 h 80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327" h="803935">
                  <a:moveTo>
                    <a:pt x="104327" y="0"/>
                  </a:moveTo>
                  <a:lnTo>
                    <a:pt x="0" y="0"/>
                  </a:lnTo>
                  <a:lnTo>
                    <a:pt x="0" y="803935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2B3AEED-9846-D949-9F74-78BB1476BFF2}"/>
                </a:ext>
              </a:extLst>
            </p:cNvPr>
            <p:cNvSpPr/>
            <p:nvPr/>
          </p:nvSpPr>
          <p:spPr>
            <a:xfrm>
              <a:off x="1517150" y="4442596"/>
              <a:ext cx="234545" cy="1566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185" name="AutoShape 67">
              <a:extLst>
                <a:ext uri="{FF2B5EF4-FFF2-40B4-BE49-F238E27FC236}">
                  <a16:creationId xmlns:a16="http://schemas.microsoft.com/office/drawing/2014/main" id="{C85E10AB-311A-214C-B959-29B22677A6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63962" y="4222208"/>
              <a:ext cx="666390" cy="127762"/>
            </a:xfrm>
            <a:custGeom>
              <a:avLst/>
              <a:gdLst>
                <a:gd name="T0" fmla="*/ 9 w 21600"/>
                <a:gd name="T1" fmla="*/ 0 h 21600"/>
                <a:gd name="T2" fmla="*/ 5 w 21600"/>
                <a:gd name="T3" fmla="*/ 1 h 21600"/>
                <a:gd name="T4" fmla="*/ 1 w 21600"/>
                <a:gd name="T5" fmla="*/ 0 h 21600"/>
                <a:gd name="T6" fmla="*/ 5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F2803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宋体" charset="-122"/>
                <a:cs typeface="+mn-cs"/>
              </a:endParaRPr>
            </a:p>
          </p:txBody>
        </p:sp>
        <p:cxnSp>
          <p:nvCxnSpPr>
            <p:cNvPr id="186" name="直接箭头连接符 13">
              <a:extLst>
                <a:ext uri="{FF2B5EF4-FFF2-40B4-BE49-F238E27FC236}">
                  <a16:creationId xmlns:a16="http://schemas.microsoft.com/office/drawing/2014/main" id="{2ADF653E-9E27-A747-AC47-FD54DA283983}"/>
                </a:ext>
              </a:extLst>
            </p:cNvPr>
            <p:cNvCxnSpPr>
              <a:cxnSpLocks/>
            </p:cNvCxnSpPr>
            <p:nvPr/>
          </p:nvCxnSpPr>
          <p:spPr>
            <a:xfrm>
              <a:off x="2389791" y="4279843"/>
              <a:ext cx="406538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文本框 8">
              <a:extLst>
                <a:ext uri="{FF2B5EF4-FFF2-40B4-BE49-F238E27FC236}">
                  <a16:creationId xmlns:a16="http://schemas.microsoft.com/office/drawing/2014/main" id="{853A43BE-85AE-EA47-8FC2-47909925DF6E}"/>
                </a:ext>
              </a:extLst>
            </p:cNvPr>
            <p:cNvSpPr txBox="1"/>
            <p:nvPr/>
          </p:nvSpPr>
          <p:spPr>
            <a:xfrm>
              <a:off x="2580301" y="3455585"/>
              <a:ext cx="414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400" dirty="0">
                  <a:solidFill>
                    <a:srgbClr val="EC7B2F"/>
                  </a:solidFill>
                  <a:latin typeface="+mn-lt"/>
                  <a:cs typeface="Arial" panose="020B0604020202020204" pitchFamily="34" charset="0"/>
                </a:rPr>
                <a:t>Ra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89" name="文本框 15">
              <a:extLst>
                <a:ext uri="{FF2B5EF4-FFF2-40B4-BE49-F238E27FC236}">
                  <a16:creationId xmlns:a16="http://schemas.microsoft.com/office/drawing/2014/main" id="{73A071BD-FB8E-1742-AFB8-A1437B42E480}"/>
                </a:ext>
              </a:extLst>
            </p:cNvPr>
            <p:cNvSpPr txBox="1"/>
            <p:nvPr/>
          </p:nvSpPr>
          <p:spPr>
            <a:xfrm>
              <a:off x="1999220" y="4914344"/>
              <a:ext cx="893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32 Regs</a:t>
              </a:r>
            </a:p>
          </p:txBody>
        </p:sp>
        <p:sp>
          <p:nvSpPr>
            <p:cNvPr id="190" name="文本框 11">
              <a:extLst>
                <a:ext uri="{FF2B5EF4-FFF2-40B4-BE49-F238E27FC236}">
                  <a16:creationId xmlns:a16="http://schemas.microsoft.com/office/drawing/2014/main" id="{EC24EFC0-CC69-DB45-A0A0-65B3A0B82F71}"/>
                </a:ext>
              </a:extLst>
            </p:cNvPr>
            <p:cNvSpPr txBox="1"/>
            <p:nvPr/>
          </p:nvSpPr>
          <p:spPr>
            <a:xfrm>
              <a:off x="778148" y="4864005"/>
              <a:ext cx="654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Write Data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charset="-122"/>
                <a:cs typeface="Arial" panose="020B0604020202020204" pitchFamily="34" charset="0"/>
              </a:endParaRPr>
            </a:p>
          </p:txBody>
        </p:sp>
        <p:sp>
          <p:nvSpPr>
            <p:cNvPr id="191" name="文本框 12">
              <a:extLst>
                <a:ext uri="{FF2B5EF4-FFF2-40B4-BE49-F238E27FC236}">
                  <a16:creationId xmlns:a16="http://schemas.microsoft.com/office/drawing/2014/main" id="{17D77095-DBDD-F541-83F3-9DF754229DB7}"/>
                </a:ext>
              </a:extLst>
            </p:cNvPr>
            <p:cNvSpPr txBox="1"/>
            <p:nvPr/>
          </p:nvSpPr>
          <p:spPr>
            <a:xfrm>
              <a:off x="795297" y="4398548"/>
              <a:ext cx="5060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Rw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宋体" charset="-122"/>
                <a:cs typeface="Arial" panose="020B0604020202020204" pitchFamily="34" charset="0"/>
              </a:endParaRPr>
            </a:p>
          </p:txBody>
        </p: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5132789-07DE-5948-BB68-8AFA7180EB0B}"/>
                </a:ext>
              </a:extLst>
            </p:cNvPr>
            <p:cNvCxnSpPr>
              <a:cxnSpLocks/>
            </p:cNvCxnSpPr>
            <p:nvPr/>
          </p:nvCxnSpPr>
          <p:spPr>
            <a:xfrm>
              <a:off x="3061038" y="4298998"/>
              <a:ext cx="191098" cy="0"/>
            </a:xfrm>
            <a:prstGeom prst="line">
              <a:avLst/>
            </a:prstGeom>
            <a:ln w="19050">
              <a:solidFill>
                <a:srgbClr val="EC7B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15">
              <a:extLst>
                <a:ext uri="{FF2B5EF4-FFF2-40B4-BE49-F238E27FC236}">
                  <a16:creationId xmlns:a16="http://schemas.microsoft.com/office/drawing/2014/main" id="{1C23FE40-BEE0-0E4E-80DF-83F5CA178E3B}"/>
                </a:ext>
              </a:extLst>
            </p:cNvPr>
            <p:cNvSpPr txBox="1"/>
            <p:nvPr/>
          </p:nvSpPr>
          <p:spPr>
            <a:xfrm>
              <a:off x="1845743" y="4338773"/>
              <a:ext cx="5929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rPr>
                <a:t>N-bit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7030A0"/>
                  </a:solidFill>
                  <a:latin typeface="+mn-lt"/>
                  <a:cs typeface="Arial" panose="020B0604020202020204" pitchFamily="34" charset="0"/>
                </a:rPr>
                <a:t>Reg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  <p:cxnSp>
          <p:nvCxnSpPr>
            <p:cNvPr id="206" name="直接箭头连接符 13">
              <a:extLst>
                <a:ext uri="{FF2B5EF4-FFF2-40B4-BE49-F238E27FC236}">
                  <a16:creationId xmlns:a16="http://schemas.microsoft.com/office/drawing/2014/main" id="{0023E9AB-BA00-2B40-9559-8A90C6A1DFCA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101787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箭头连接符 13">
              <a:extLst>
                <a:ext uri="{FF2B5EF4-FFF2-40B4-BE49-F238E27FC236}">
                  <a16:creationId xmlns:a16="http://schemas.microsoft.com/office/drawing/2014/main" id="{07B9BAB1-8BD6-0E4C-9DB1-AEDC451F60ED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178364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13">
              <a:extLst>
                <a:ext uri="{FF2B5EF4-FFF2-40B4-BE49-F238E27FC236}">
                  <a16:creationId xmlns:a16="http://schemas.microsoft.com/office/drawing/2014/main" id="{1262FE8D-7DC7-6142-ACAF-9CD57F3CA4D5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254941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13">
              <a:extLst>
                <a:ext uri="{FF2B5EF4-FFF2-40B4-BE49-F238E27FC236}">
                  <a16:creationId xmlns:a16="http://schemas.microsoft.com/office/drawing/2014/main" id="{BBCA8F66-9088-6540-A974-BAB064376150}"/>
                </a:ext>
              </a:extLst>
            </p:cNvPr>
            <p:cNvCxnSpPr>
              <a:cxnSpLocks/>
            </p:cNvCxnSpPr>
            <p:nvPr/>
          </p:nvCxnSpPr>
          <p:spPr>
            <a:xfrm>
              <a:off x="2780842" y="4484672"/>
              <a:ext cx="152434" cy="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直接箭头连接符 13">
              <a:extLst>
                <a:ext uri="{FF2B5EF4-FFF2-40B4-BE49-F238E27FC236}">
                  <a16:creationId xmlns:a16="http://schemas.microsoft.com/office/drawing/2014/main" id="{6A743E4C-F558-6147-B8AF-BF6BCE41A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059" y="4313652"/>
              <a:ext cx="0" cy="108000"/>
            </a:xfrm>
            <a:prstGeom prst="straightConnector1">
              <a:avLst/>
            </a:prstGeom>
            <a:ln w="19050">
              <a:solidFill>
                <a:srgbClr val="7030A0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349C23E-7D78-694D-AC57-C30EE5E51107}"/>
                </a:ext>
              </a:extLst>
            </p:cNvPr>
            <p:cNvCxnSpPr>
              <a:cxnSpLocks/>
            </p:cNvCxnSpPr>
            <p:nvPr/>
          </p:nvCxnSpPr>
          <p:spPr>
            <a:xfrm>
              <a:off x="2769826" y="4090771"/>
              <a:ext cx="0" cy="415920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B53B9D9-DE11-624B-B476-0B36CF5F0DF8}"/>
                </a:ext>
              </a:extLst>
            </p:cNvPr>
            <p:cNvSpPr/>
            <p:nvPr/>
          </p:nvSpPr>
          <p:spPr>
            <a:xfrm>
              <a:off x="2683337" y="3725349"/>
              <a:ext cx="333213" cy="325464"/>
            </a:xfrm>
            <a:custGeom>
              <a:avLst/>
              <a:gdLst>
                <a:gd name="connsiteX0" fmla="*/ 0 w 333213"/>
                <a:gd name="connsiteY0" fmla="*/ 0 h 325464"/>
                <a:gd name="connsiteX1" fmla="*/ 333213 w 333213"/>
                <a:gd name="connsiteY1" fmla="*/ 0 h 325464"/>
                <a:gd name="connsiteX2" fmla="*/ 333213 w 333213"/>
                <a:gd name="connsiteY2" fmla="*/ 325464 h 32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213" h="325464">
                  <a:moveTo>
                    <a:pt x="0" y="0"/>
                  </a:moveTo>
                  <a:lnTo>
                    <a:pt x="333213" y="0"/>
                  </a:lnTo>
                  <a:lnTo>
                    <a:pt x="333213" y="325464"/>
                  </a:lnTo>
                </a:path>
              </a:pathLst>
            </a:custGeom>
            <a:noFill/>
            <a:ln w="19050">
              <a:solidFill>
                <a:srgbClr val="EC7B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C0D2EF78-EE7C-974A-90B3-6F63F530D99D}"/>
                </a:ext>
              </a:extLst>
            </p:cNvPr>
            <p:cNvSpPr/>
            <p:nvPr/>
          </p:nvSpPr>
          <p:spPr>
            <a:xfrm>
              <a:off x="1328203" y="5592769"/>
              <a:ext cx="14414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kern="0" dirty="0">
                  <a:solidFill>
                    <a:srgbClr val="0432FF"/>
                  </a:solidFill>
                  <a:latin typeface="+mn-lt"/>
                  <a:ea typeface="黑体" panose="02010609060101010101" pitchFamily="49" charset="-122"/>
                </a:rPr>
                <a:t>先写后读</a:t>
              </a:r>
              <a:endParaRPr lang="en-CN" dirty="0">
                <a:latin typeface="+mn-lt"/>
              </a:endParaRP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EE406B48-6D13-824B-B789-BFA8FE258EC1}"/>
                </a:ext>
              </a:extLst>
            </p:cNvPr>
            <p:cNvSpPr/>
            <p:nvPr/>
          </p:nvSpPr>
          <p:spPr>
            <a:xfrm>
              <a:off x="1850309" y="4621369"/>
              <a:ext cx="105054" cy="828153"/>
            </a:xfrm>
            <a:custGeom>
              <a:avLst/>
              <a:gdLst>
                <a:gd name="connsiteX0" fmla="*/ 104327 w 104327"/>
                <a:gd name="connsiteY0" fmla="*/ 0 h 803935"/>
                <a:gd name="connsiteX1" fmla="*/ 0 w 104327"/>
                <a:gd name="connsiteY1" fmla="*/ 0 h 803935"/>
                <a:gd name="connsiteX2" fmla="*/ 0 w 104327"/>
                <a:gd name="connsiteY2" fmla="*/ 803935 h 80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327" h="803935">
                  <a:moveTo>
                    <a:pt x="104327" y="0"/>
                  </a:moveTo>
                  <a:lnTo>
                    <a:pt x="0" y="0"/>
                  </a:lnTo>
                  <a:lnTo>
                    <a:pt x="0" y="803935"/>
                  </a:ln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  <a:cs typeface="+mn-cs"/>
              </a:endParaRPr>
            </a:p>
          </p:txBody>
        </p:sp>
        <p:sp>
          <p:nvSpPr>
            <p:cNvPr id="219" name="文本框 11">
              <a:extLst>
                <a:ext uri="{FF2B5EF4-FFF2-40B4-BE49-F238E27FC236}">
                  <a16:creationId xmlns:a16="http://schemas.microsoft.com/office/drawing/2014/main" id="{E9501C62-DF40-CA4C-9F08-AD3B42F21790}"/>
                </a:ext>
              </a:extLst>
            </p:cNvPr>
            <p:cNvSpPr txBox="1"/>
            <p:nvPr/>
          </p:nvSpPr>
          <p:spPr>
            <a:xfrm>
              <a:off x="1313945" y="5229731"/>
              <a:ext cx="654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rPr>
                <a:t>CLK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宋体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43980CC-393F-D583-66DA-FBD75777C7AF}"/>
              </a:ext>
            </a:extLst>
          </p:cNvPr>
          <p:cNvGrpSpPr/>
          <p:nvPr/>
        </p:nvGrpSpPr>
        <p:grpSpPr>
          <a:xfrm>
            <a:off x="4848573" y="3380591"/>
            <a:ext cx="3133984" cy="3338302"/>
            <a:chOff x="4848573" y="3380591"/>
            <a:chExt cx="3133984" cy="3338302"/>
          </a:xfrm>
        </p:grpSpPr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7144E0BB-7EEB-A44D-BA8B-8088957ED22C}"/>
                </a:ext>
              </a:extLst>
            </p:cNvPr>
            <p:cNvGrpSpPr/>
            <p:nvPr/>
          </p:nvGrpSpPr>
          <p:grpSpPr>
            <a:xfrm>
              <a:off x="4848573" y="3380591"/>
              <a:ext cx="3133984" cy="3338302"/>
              <a:chOff x="4848573" y="3380591"/>
              <a:chExt cx="3133984" cy="3338302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F1896B9-DDE1-2746-8D36-A0D9B0AEF4E6}"/>
                  </a:ext>
                </a:extLst>
              </p:cNvPr>
              <p:cNvSpPr/>
              <p:nvPr/>
            </p:nvSpPr>
            <p:spPr>
              <a:xfrm>
                <a:off x="5687934" y="4274889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BB216B2-ACFD-214C-9D06-6A2474835CB6}"/>
                  </a:ext>
                </a:extLst>
              </p:cNvPr>
              <p:cNvSpPr/>
              <p:nvPr/>
            </p:nvSpPr>
            <p:spPr>
              <a:xfrm>
                <a:off x="5652336" y="4242088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D3662A6-9271-7F49-944F-E89446DB5EE6}"/>
                  </a:ext>
                </a:extLst>
              </p:cNvPr>
              <p:cNvSpPr/>
              <p:nvPr/>
            </p:nvSpPr>
            <p:spPr>
              <a:xfrm>
                <a:off x="5616738" y="4209287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1467E0B-D294-9649-9618-86ADA7F1DE38}"/>
                  </a:ext>
                </a:extLst>
              </p:cNvPr>
              <p:cNvSpPr/>
              <p:nvPr/>
            </p:nvSpPr>
            <p:spPr>
              <a:xfrm>
                <a:off x="5581140" y="4176486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68E253E-F71A-1F44-A0C0-358E92E7DFEB}"/>
                  </a:ext>
                </a:extLst>
              </p:cNvPr>
              <p:cNvSpPr/>
              <p:nvPr/>
            </p:nvSpPr>
            <p:spPr>
              <a:xfrm>
                <a:off x="5545542" y="4143685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6817F4A-ABCC-C542-9AFE-E73E29693C83}"/>
                  </a:ext>
                </a:extLst>
              </p:cNvPr>
              <p:cNvSpPr/>
              <p:nvPr/>
            </p:nvSpPr>
            <p:spPr>
              <a:xfrm>
                <a:off x="5429323" y="3571187"/>
                <a:ext cx="1595775" cy="1303020"/>
              </a:xfrm>
              <a:custGeom>
                <a:avLst/>
                <a:gdLst>
                  <a:gd name="connsiteX0" fmla="*/ 674370 w 674370"/>
                  <a:gd name="connsiteY0" fmla="*/ 0 h 1303020"/>
                  <a:gd name="connsiteX1" fmla="*/ 0 w 674370"/>
                  <a:gd name="connsiteY1" fmla="*/ 0 h 1303020"/>
                  <a:gd name="connsiteX2" fmla="*/ 0 w 674370"/>
                  <a:gd name="connsiteY2" fmla="*/ 1303020 h 1303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74370" h="1303020">
                    <a:moveTo>
                      <a:pt x="674370" y="0"/>
                    </a:moveTo>
                    <a:lnTo>
                      <a:pt x="0" y="0"/>
                    </a:lnTo>
                    <a:lnTo>
                      <a:pt x="0" y="1303020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4EE4C62-2C9D-C04C-8A0A-1FC6FFF8BD69}"/>
                  </a:ext>
                </a:extLst>
              </p:cNvPr>
              <p:cNvSpPr/>
              <p:nvPr/>
            </p:nvSpPr>
            <p:spPr>
              <a:xfrm>
                <a:off x="5511253" y="4104069"/>
                <a:ext cx="1122699" cy="103510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85E2603E-E5FE-F840-878F-3251BB1C2B01}"/>
                  </a:ext>
                </a:extLst>
              </p:cNvPr>
              <p:cNvSpPr/>
              <p:nvPr/>
            </p:nvSpPr>
            <p:spPr>
              <a:xfrm>
                <a:off x="6106967" y="4461186"/>
                <a:ext cx="424272" cy="618126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2F4D52CA-7E51-7044-BB5B-B70E1CED590B}"/>
                  </a:ext>
                </a:extLst>
              </p:cNvPr>
              <p:cNvSpPr/>
              <p:nvPr/>
            </p:nvSpPr>
            <p:spPr>
              <a:xfrm>
                <a:off x="6111973" y="4860587"/>
                <a:ext cx="94268" cy="179109"/>
              </a:xfrm>
              <a:custGeom>
                <a:avLst/>
                <a:gdLst>
                  <a:gd name="connsiteX0" fmla="*/ 0 w 94268"/>
                  <a:gd name="connsiteY0" fmla="*/ 0 h 179109"/>
                  <a:gd name="connsiteX1" fmla="*/ 94268 w 94268"/>
                  <a:gd name="connsiteY1" fmla="*/ 94268 h 179109"/>
                  <a:gd name="connsiteX2" fmla="*/ 9427 w 94268"/>
                  <a:gd name="connsiteY2" fmla="*/ 179109 h 179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268" h="179109">
                    <a:moveTo>
                      <a:pt x="0" y="0"/>
                    </a:moveTo>
                    <a:lnTo>
                      <a:pt x="94268" y="94268"/>
                    </a:lnTo>
                    <a:lnTo>
                      <a:pt x="9427" y="179109"/>
                    </a:lnTo>
                  </a:path>
                </a:pathLst>
              </a:custGeom>
              <a:ln w="19050">
                <a:solidFill>
                  <a:srgbClr val="7030A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01" name="文本框 8">
                <a:extLst>
                  <a:ext uri="{FF2B5EF4-FFF2-40B4-BE49-F238E27FC236}">
                    <a16:creationId xmlns:a16="http://schemas.microsoft.com/office/drawing/2014/main" id="{8D3514D6-2C64-D943-AEC3-89626A29C4DA}"/>
                  </a:ext>
                </a:extLst>
              </p:cNvPr>
              <p:cNvSpPr txBox="1"/>
              <p:nvPr/>
            </p:nvSpPr>
            <p:spPr>
              <a:xfrm>
                <a:off x="5994308" y="4438356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D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2" name="文本框 8">
                <a:extLst>
                  <a:ext uri="{FF2B5EF4-FFF2-40B4-BE49-F238E27FC236}">
                    <a16:creationId xmlns:a16="http://schemas.microsoft.com/office/drawing/2014/main" id="{8E89C44A-7EDF-2B41-BC87-9653900EB05B}"/>
                  </a:ext>
                </a:extLst>
              </p:cNvPr>
              <p:cNvSpPr txBox="1"/>
              <p:nvPr/>
            </p:nvSpPr>
            <p:spPr>
              <a:xfrm>
                <a:off x="6227396" y="4494285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Q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3" name="AutoShape 67">
                <a:extLst>
                  <a:ext uri="{FF2B5EF4-FFF2-40B4-BE49-F238E27FC236}">
                    <a16:creationId xmlns:a16="http://schemas.microsoft.com/office/drawing/2014/main" id="{A16112E2-4639-0E4E-BD46-39DD52FCF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611600" y="4491643"/>
                <a:ext cx="331146" cy="98268"/>
              </a:xfrm>
              <a:custGeom>
                <a:avLst/>
                <a:gdLst>
                  <a:gd name="T0" fmla="*/ 9 w 21600"/>
                  <a:gd name="T1" fmla="*/ 0 h 21600"/>
                  <a:gd name="T2" fmla="*/ 5 w 21600"/>
                  <a:gd name="T3" fmla="*/ 1 h 21600"/>
                  <a:gd name="T4" fmla="*/ 1 w 21600"/>
                  <a:gd name="T5" fmla="*/ 0 h 21600"/>
                  <a:gd name="T6" fmla="*/ 5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703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charset="-122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B70F171A-9947-444E-A7F6-8548E1753248}"/>
                  </a:ext>
                </a:extLst>
              </p:cNvPr>
              <p:cNvSpPr/>
              <p:nvPr/>
            </p:nvSpPr>
            <p:spPr>
              <a:xfrm>
                <a:off x="5625587" y="4233418"/>
                <a:ext cx="978921" cy="394010"/>
              </a:xfrm>
              <a:custGeom>
                <a:avLst/>
                <a:gdLst>
                  <a:gd name="connsiteX0" fmla="*/ 1018478 w 1018478"/>
                  <a:gd name="connsiteY0" fmla="*/ 394010 h 394010"/>
                  <a:gd name="connsiteX1" fmla="*/ 1018478 w 1018478"/>
                  <a:gd name="connsiteY1" fmla="*/ 0 h 394010"/>
                  <a:gd name="connsiteX2" fmla="*/ 0 w 1018478"/>
                  <a:gd name="connsiteY2" fmla="*/ 0 h 394010"/>
                  <a:gd name="connsiteX3" fmla="*/ 0 w 1018478"/>
                  <a:gd name="connsiteY3" fmla="*/ 230459 h 394010"/>
                  <a:gd name="connsiteX4" fmla="*/ 104078 w 1018478"/>
                  <a:gd name="connsiteY4" fmla="*/ 230459 h 394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8478" h="394010">
                    <a:moveTo>
                      <a:pt x="1018478" y="394010"/>
                    </a:moveTo>
                    <a:lnTo>
                      <a:pt x="1018478" y="0"/>
                    </a:lnTo>
                    <a:lnTo>
                      <a:pt x="0" y="0"/>
                    </a:lnTo>
                    <a:lnTo>
                      <a:pt x="0" y="230459"/>
                    </a:lnTo>
                    <a:lnTo>
                      <a:pt x="104078" y="23045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2A42C4F-E999-724C-88C2-C7FDEB4BC6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6307" y="4537337"/>
                <a:ext cx="280111" cy="0"/>
              </a:xfrm>
              <a:prstGeom prst="line">
                <a:avLst/>
              </a:prstGeom>
              <a:ln w="190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7513022A-1554-E741-B252-4A25C96F1A6A}"/>
                  </a:ext>
                </a:extLst>
              </p:cNvPr>
              <p:cNvSpPr/>
              <p:nvPr/>
            </p:nvSpPr>
            <p:spPr>
              <a:xfrm>
                <a:off x="5352169" y="4672332"/>
                <a:ext cx="428587" cy="202518"/>
              </a:xfrm>
              <a:custGeom>
                <a:avLst/>
                <a:gdLst>
                  <a:gd name="connsiteX0" fmla="*/ 0 w 251613"/>
                  <a:gd name="connsiteY0" fmla="*/ 202518 h 202518"/>
                  <a:gd name="connsiteX1" fmla="*/ 251613 w 251613"/>
                  <a:gd name="connsiteY1" fmla="*/ 202518 h 202518"/>
                  <a:gd name="connsiteX2" fmla="*/ 251613 w 251613"/>
                  <a:gd name="connsiteY2" fmla="*/ 0 h 20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613" h="202518">
                    <a:moveTo>
                      <a:pt x="0" y="202518"/>
                    </a:moveTo>
                    <a:lnTo>
                      <a:pt x="251613" y="202518"/>
                    </a:lnTo>
                    <a:lnTo>
                      <a:pt x="251613" y="0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B64FF5D9-4670-824C-AA94-2B86A356B3EF}"/>
                  </a:ext>
                </a:extLst>
              </p:cNvPr>
              <p:cNvSpPr/>
              <p:nvPr/>
            </p:nvSpPr>
            <p:spPr>
              <a:xfrm>
                <a:off x="5616425" y="4617100"/>
                <a:ext cx="105054" cy="969806"/>
              </a:xfrm>
              <a:custGeom>
                <a:avLst/>
                <a:gdLst>
                  <a:gd name="connsiteX0" fmla="*/ 104327 w 104327"/>
                  <a:gd name="connsiteY0" fmla="*/ 0 h 803935"/>
                  <a:gd name="connsiteX1" fmla="*/ 0 w 104327"/>
                  <a:gd name="connsiteY1" fmla="*/ 0 h 803935"/>
                  <a:gd name="connsiteX2" fmla="*/ 0 w 104327"/>
                  <a:gd name="connsiteY2" fmla="*/ 803935 h 803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4327" h="803935">
                    <a:moveTo>
                      <a:pt x="104327" y="0"/>
                    </a:moveTo>
                    <a:lnTo>
                      <a:pt x="0" y="0"/>
                    </a:lnTo>
                    <a:lnTo>
                      <a:pt x="0" y="803935"/>
                    </a:ln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6506097-49C2-8945-AE46-BE073EC639C3}"/>
                  </a:ext>
                </a:extLst>
              </p:cNvPr>
              <p:cNvSpPr/>
              <p:nvPr/>
            </p:nvSpPr>
            <p:spPr>
              <a:xfrm>
                <a:off x="5673360" y="4790493"/>
                <a:ext cx="234545" cy="1566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09" name="AutoShape 67">
                <a:extLst>
                  <a:ext uri="{FF2B5EF4-FFF2-40B4-BE49-F238E27FC236}">
                    <a16:creationId xmlns:a16="http://schemas.microsoft.com/office/drawing/2014/main" id="{B9D08B0F-FCE1-D344-A29E-B12EE7710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6811017" y="4569793"/>
                <a:ext cx="666390" cy="127762"/>
              </a:xfrm>
              <a:custGeom>
                <a:avLst/>
                <a:gdLst>
                  <a:gd name="T0" fmla="*/ 9 w 21600"/>
                  <a:gd name="T1" fmla="*/ 0 h 21600"/>
                  <a:gd name="T2" fmla="*/ 5 w 21600"/>
                  <a:gd name="T3" fmla="*/ 1 h 21600"/>
                  <a:gd name="T4" fmla="*/ 1 w 21600"/>
                  <a:gd name="T5" fmla="*/ 0 h 21600"/>
                  <a:gd name="T6" fmla="*/ 5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F2803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charset="-122"/>
                  <a:cs typeface="+mn-cs"/>
                </a:endParaRPr>
              </a:p>
            </p:txBody>
          </p:sp>
          <p:cxnSp>
            <p:nvCxnSpPr>
              <p:cNvPr id="111" name="直接箭头连接符 13">
                <a:extLst>
                  <a:ext uri="{FF2B5EF4-FFF2-40B4-BE49-F238E27FC236}">
                    <a16:creationId xmlns:a16="http://schemas.microsoft.com/office/drawing/2014/main" id="{2F554894-EECC-064E-AB24-C5E41ACF75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6846" y="4627428"/>
                <a:ext cx="406538" cy="0"/>
              </a:xfrm>
              <a:prstGeom prst="straightConnector1">
                <a:avLst/>
              </a:prstGeom>
              <a:ln w="38100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2" name="文本框 8">
                <a:extLst>
                  <a:ext uri="{FF2B5EF4-FFF2-40B4-BE49-F238E27FC236}">
                    <a16:creationId xmlns:a16="http://schemas.microsoft.com/office/drawing/2014/main" id="{FB915461-C331-C842-A228-DC26B76D45BD}"/>
                  </a:ext>
                </a:extLst>
              </p:cNvPr>
              <p:cNvSpPr txBox="1"/>
              <p:nvPr/>
            </p:nvSpPr>
            <p:spPr>
              <a:xfrm>
                <a:off x="6727356" y="3803170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srgbClr val="EC7B2F"/>
                    </a:solidFill>
                    <a:latin typeface="+mn-lt"/>
                    <a:cs typeface="Arial" panose="020B0604020202020204" pitchFamily="34" charset="0"/>
                  </a:rPr>
                  <a:t>Ra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C7B2F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endParaRP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606802C-BC7D-5547-B95A-07416461E7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62375" y="3753873"/>
                <a:ext cx="0" cy="644469"/>
              </a:xfrm>
              <a:prstGeom prst="line">
                <a:avLst/>
              </a:prstGeom>
              <a:ln w="19050">
                <a:solidFill>
                  <a:srgbClr val="EC7B2F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本框 15">
                <a:extLst>
                  <a:ext uri="{FF2B5EF4-FFF2-40B4-BE49-F238E27FC236}">
                    <a16:creationId xmlns:a16="http://schemas.microsoft.com/office/drawing/2014/main" id="{FE839DF6-C71C-934F-A4A7-CBE165FDDB9C}"/>
                  </a:ext>
                </a:extLst>
              </p:cNvPr>
              <p:cNvSpPr txBox="1"/>
              <p:nvPr/>
            </p:nvSpPr>
            <p:spPr>
              <a:xfrm>
                <a:off x="6317724" y="5053230"/>
                <a:ext cx="5209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32x</a:t>
                </a:r>
              </a:p>
            </p:txBody>
          </p:sp>
          <p:sp>
            <p:nvSpPr>
              <p:cNvPr id="115" name="文本框 11">
                <a:extLst>
                  <a:ext uri="{FF2B5EF4-FFF2-40B4-BE49-F238E27FC236}">
                    <a16:creationId xmlns:a16="http://schemas.microsoft.com/office/drawing/2014/main" id="{1D18B005-B105-C94C-94BF-FCBEA4DB2A1D}"/>
                  </a:ext>
                </a:extLst>
              </p:cNvPr>
              <p:cNvSpPr txBox="1"/>
              <p:nvPr/>
            </p:nvSpPr>
            <p:spPr>
              <a:xfrm>
                <a:off x="4848573" y="5314329"/>
                <a:ext cx="6540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Write Data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6" name="文本框 12">
                <a:extLst>
                  <a:ext uri="{FF2B5EF4-FFF2-40B4-BE49-F238E27FC236}">
                    <a16:creationId xmlns:a16="http://schemas.microsoft.com/office/drawing/2014/main" id="{38A44DFC-0010-104C-A222-7C33223D8A60}"/>
                  </a:ext>
                </a:extLst>
              </p:cNvPr>
              <p:cNvSpPr txBox="1"/>
              <p:nvPr/>
            </p:nvSpPr>
            <p:spPr>
              <a:xfrm>
                <a:off x="4942352" y="4746133"/>
                <a:ext cx="5060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Rw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3C854AEB-67C2-2A41-A418-3C68F79B202C}"/>
                  </a:ext>
                </a:extLst>
              </p:cNvPr>
              <p:cNvSpPr/>
              <p:nvPr/>
            </p:nvSpPr>
            <p:spPr>
              <a:xfrm>
                <a:off x="6099060" y="3412997"/>
                <a:ext cx="424272" cy="6181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A1CD9F0D-F7B1-7E4C-B403-93B895D53299}"/>
                  </a:ext>
                </a:extLst>
              </p:cNvPr>
              <p:cNvSpPr/>
              <p:nvPr/>
            </p:nvSpPr>
            <p:spPr>
              <a:xfrm>
                <a:off x="6104066" y="3812398"/>
                <a:ext cx="94268" cy="179109"/>
              </a:xfrm>
              <a:custGeom>
                <a:avLst/>
                <a:gdLst>
                  <a:gd name="connsiteX0" fmla="*/ 0 w 94268"/>
                  <a:gd name="connsiteY0" fmla="*/ 0 h 179109"/>
                  <a:gd name="connsiteX1" fmla="*/ 94268 w 94268"/>
                  <a:gd name="connsiteY1" fmla="*/ 94268 h 179109"/>
                  <a:gd name="connsiteX2" fmla="*/ 9427 w 94268"/>
                  <a:gd name="connsiteY2" fmla="*/ 179109 h 179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268" h="179109">
                    <a:moveTo>
                      <a:pt x="0" y="0"/>
                    </a:moveTo>
                    <a:lnTo>
                      <a:pt x="94268" y="94268"/>
                    </a:lnTo>
                    <a:lnTo>
                      <a:pt x="9427" y="179109"/>
                    </a:lnTo>
                  </a:path>
                </a:pathLst>
              </a:custGeom>
              <a:ln w="19050">
                <a:solidFill>
                  <a:srgbClr val="7030A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20" name="文本框 8">
                <a:extLst>
                  <a:ext uri="{FF2B5EF4-FFF2-40B4-BE49-F238E27FC236}">
                    <a16:creationId xmlns:a16="http://schemas.microsoft.com/office/drawing/2014/main" id="{E325ABED-0265-664F-BD7E-796D6FE119D3}"/>
                  </a:ext>
                </a:extLst>
              </p:cNvPr>
              <p:cNvSpPr txBox="1"/>
              <p:nvPr/>
            </p:nvSpPr>
            <p:spPr>
              <a:xfrm>
                <a:off x="6219489" y="3446096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Q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1" name="文本框 8">
                <a:extLst>
                  <a:ext uri="{FF2B5EF4-FFF2-40B4-BE49-F238E27FC236}">
                    <a16:creationId xmlns:a16="http://schemas.microsoft.com/office/drawing/2014/main" id="{4D0E1335-3921-9144-A619-9F2DE8CF7A38}"/>
                  </a:ext>
                </a:extLst>
              </p:cNvPr>
              <p:cNvSpPr txBox="1"/>
              <p:nvPr/>
            </p:nvSpPr>
            <p:spPr>
              <a:xfrm>
                <a:off x="5988438" y="3447138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D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2" name="AutoShape 67">
                <a:extLst>
                  <a:ext uri="{FF2B5EF4-FFF2-40B4-BE49-F238E27FC236}">
                    <a16:creationId xmlns:a16="http://schemas.microsoft.com/office/drawing/2014/main" id="{5D10F086-CB1A-514D-A4E7-53B89BDF9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129877" y="4711535"/>
                <a:ext cx="666390" cy="127762"/>
              </a:xfrm>
              <a:custGeom>
                <a:avLst/>
                <a:gdLst>
                  <a:gd name="T0" fmla="*/ 9 w 21600"/>
                  <a:gd name="T1" fmla="*/ 0 h 21600"/>
                  <a:gd name="T2" fmla="*/ 5 w 21600"/>
                  <a:gd name="T3" fmla="*/ 1 h 21600"/>
                  <a:gd name="T4" fmla="*/ 1 w 21600"/>
                  <a:gd name="T5" fmla="*/ 0 h 21600"/>
                  <a:gd name="T6" fmla="*/ 5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F2803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宋体" charset="-122"/>
                  <a:cs typeface="+mn-cs"/>
                </a:endParaRP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DB4E6B61-F489-3748-8AE1-675467345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8093" y="4646583"/>
                <a:ext cx="191098" cy="0"/>
              </a:xfrm>
              <a:prstGeom prst="line">
                <a:avLst/>
              </a:prstGeom>
              <a:ln w="19050">
                <a:solidFill>
                  <a:srgbClr val="EC7B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6640AA0-8A09-A749-8EAC-79ABC2F48AF7}"/>
                  </a:ext>
                </a:extLst>
              </p:cNvPr>
              <p:cNvSpPr/>
              <p:nvPr/>
            </p:nvSpPr>
            <p:spPr>
              <a:xfrm>
                <a:off x="5316661" y="4947873"/>
                <a:ext cx="2080260" cy="644470"/>
              </a:xfrm>
              <a:custGeom>
                <a:avLst/>
                <a:gdLst>
                  <a:gd name="connsiteX0" fmla="*/ 2080260 w 2080260"/>
                  <a:gd name="connsiteY0" fmla="*/ 0 h 628650"/>
                  <a:gd name="connsiteX1" fmla="*/ 2000250 w 2080260"/>
                  <a:gd name="connsiteY1" fmla="*/ 0 h 628650"/>
                  <a:gd name="connsiteX2" fmla="*/ 2000250 w 2080260"/>
                  <a:gd name="connsiteY2" fmla="*/ 628650 h 628650"/>
                  <a:gd name="connsiteX3" fmla="*/ 0 w 2080260"/>
                  <a:gd name="connsiteY3" fmla="*/ 628650 h 62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80260" h="628650">
                    <a:moveTo>
                      <a:pt x="2080260" y="0"/>
                    </a:moveTo>
                    <a:lnTo>
                      <a:pt x="2000250" y="0"/>
                    </a:lnTo>
                    <a:lnTo>
                      <a:pt x="2000250" y="628650"/>
                    </a:lnTo>
                    <a:lnTo>
                      <a:pt x="0" y="628650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0A006CC-F242-684E-8443-143EDF8C8F65}"/>
                  </a:ext>
                </a:extLst>
              </p:cNvPr>
              <p:cNvSpPr/>
              <p:nvPr/>
            </p:nvSpPr>
            <p:spPr>
              <a:xfrm>
                <a:off x="7305878" y="3565333"/>
                <a:ext cx="167014" cy="966439"/>
              </a:xfrm>
              <a:custGeom>
                <a:avLst/>
                <a:gdLst>
                  <a:gd name="connsiteX0" fmla="*/ 0 w 223024"/>
                  <a:gd name="connsiteY0" fmla="*/ 0 h 966439"/>
                  <a:gd name="connsiteX1" fmla="*/ 223024 w 223024"/>
                  <a:gd name="connsiteY1" fmla="*/ 0 h 966439"/>
                  <a:gd name="connsiteX2" fmla="*/ 223024 w 223024"/>
                  <a:gd name="connsiteY2" fmla="*/ 966439 h 966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3024" h="966439">
                    <a:moveTo>
                      <a:pt x="0" y="0"/>
                    </a:moveTo>
                    <a:lnTo>
                      <a:pt x="223024" y="0"/>
                    </a:lnTo>
                    <a:lnTo>
                      <a:pt x="223024" y="966439"/>
                    </a:lnTo>
                  </a:path>
                </a:pathLst>
              </a:custGeom>
              <a:noFill/>
              <a:ln w="19050">
                <a:solidFill>
                  <a:srgbClr val="EC7B2F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03884D30-EF83-724F-BEB6-4069A7C11395}"/>
                  </a:ext>
                </a:extLst>
              </p:cNvPr>
              <p:cNvSpPr/>
              <p:nvPr/>
            </p:nvSpPr>
            <p:spPr>
              <a:xfrm>
                <a:off x="6116357" y="5416423"/>
                <a:ext cx="424272" cy="6181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E302D905-86B9-A042-AB9F-05318016849A}"/>
                  </a:ext>
                </a:extLst>
              </p:cNvPr>
              <p:cNvSpPr/>
              <p:nvPr/>
            </p:nvSpPr>
            <p:spPr>
              <a:xfrm>
                <a:off x="6121363" y="5815824"/>
                <a:ext cx="94268" cy="179109"/>
              </a:xfrm>
              <a:custGeom>
                <a:avLst/>
                <a:gdLst>
                  <a:gd name="connsiteX0" fmla="*/ 0 w 94268"/>
                  <a:gd name="connsiteY0" fmla="*/ 0 h 179109"/>
                  <a:gd name="connsiteX1" fmla="*/ 94268 w 94268"/>
                  <a:gd name="connsiteY1" fmla="*/ 94268 h 179109"/>
                  <a:gd name="connsiteX2" fmla="*/ 9427 w 94268"/>
                  <a:gd name="connsiteY2" fmla="*/ 179109 h 179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4268" h="179109">
                    <a:moveTo>
                      <a:pt x="0" y="0"/>
                    </a:moveTo>
                    <a:lnTo>
                      <a:pt x="94268" y="94268"/>
                    </a:lnTo>
                    <a:lnTo>
                      <a:pt x="9427" y="179109"/>
                    </a:lnTo>
                  </a:path>
                </a:pathLst>
              </a:custGeom>
              <a:ln w="19050">
                <a:solidFill>
                  <a:srgbClr val="7030A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/>
                  <a:cs typeface="+mn-cs"/>
                </a:endParaRPr>
              </a:p>
            </p:txBody>
          </p:sp>
          <p:sp>
            <p:nvSpPr>
              <p:cNvPr id="128" name="文本框 8">
                <a:extLst>
                  <a:ext uri="{FF2B5EF4-FFF2-40B4-BE49-F238E27FC236}">
                    <a16:creationId xmlns:a16="http://schemas.microsoft.com/office/drawing/2014/main" id="{61E1D996-B6A0-A24D-A5DF-83897155D6A4}"/>
                  </a:ext>
                </a:extLst>
              </p:cNvPr>
              <p:cNvSpPr txBox="1"/>
              <p:nvPr/>
            </p:nvSpPr>
            <p:spPr>
              <a:xfrm>
                <a:off x="6236786" y="5449522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Q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9" name="文本框 8">
                <a:extLst>
                  <a:ext uri="{FF2B5EF4-FFF2-40B4-BE49-F238E27FC236}">
                    <a16:creationId xmlns:a16="http://schemas.microsoft.com/office/drawing/2014/main" id="{BFC16700-8DB8-8242-AA24-4A769121040D}"/>
                  </a:ext>
                </a:extLst>
              </p:cNvPr>
              <p:cNvSpPr txBox="1"/>
              <p:nvPr/>
            </p:nvSpPr>
            <p:spPr>
              <a:xfrm>
                <a:off x="6005735" y="5450564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+mn-lt"/>
                    <a:ea typeface="宋体" charset="-122"/>
                    <a:cs typeface="Arial" panose="020B0604020202020204" pitchFamily="34" charset="0"/>
                  </a:rPr>
                  <a:t>D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7973BAD7-DFD5-064D-A4A4-1721ABCFC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5325" y="4076107"/>
                <a:ext cx="341979" cy="0"/>
              </a:xfrm>
              <a:prstGeom prst="line">
                <a:avLst/>
              </a:prstGeom>
              <a:ln w="19050">
                <a:solidFill>
                  <a:srgbClr val="EC7B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3">
                <a:extLst>
                  <a:ext uri="{FF2B5EF4-FFF2-40B4-BE49-F238E27FC236}">
                    <a16:creationId xmlns:a16="http://schemas.microsoft.com/office/drawing/2014/main" id="{7C82E4FF-A98F-D746-85B7-0AF1E32D20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897" y="4449372"/>
                <a:ext cx="152434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3">
                <a:extLst>
                  <a:ext uri="{FF2B5EF4-FFF2-40B4-BE49-F238E27FC236}">
                    <a16:creationId xmlns:a16="http://schemas.microsoft.com/office/drawing/2014/main" id="{D141D5FF-5614-8342-9D5F-01B52C702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897" y="4525949"/>
                <a:ext cx="152434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3">
                <a:extLst>
                  <a:ext uri="{FF2B5EF4-FFF2-40B4-BE49-F238E27FC236}">
                    <a16:creationId xmlns:a16="http://schemas.microsoft.com/office/drawing/2014/main" id="{1FF6103D-83F4-2346-AED7-877851831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897" y="4602526"/>
                <a:ext cx="152434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3">
                <a:extLst>
                  <a:ext uri="{FF2B5EF4-FFF2-40B4-BE49-F238E27FC236}">
                    <a16:creationId xmlns:a16="http://schemas.microsoft.com/office/drawing/2014/main" id="{8D4B285B-7440-464C-A854-2953DB33A1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7897" y="4832257"/>
                <a:ext cx="152434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3">
                <a:extLst>
                  <a:ext uri="{FF2B5EF4-FFF2-40B4-BE49-F238E27FC236}">
                    <a16:creationId xmlns:a16="http://schemas.microsoft.com/office/drawing/2014/main" id="{C48957D2-1989-664E-9A27-B9ADFC2341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4114" y="4661237"/>
                <a:ext cx="0" cy="10800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8C2D82CF-F82B-C44C-A7AA-D98321A4E9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6881" y="4438356"/>
                <a:ext cx="0" cy="415920"/>
              </a:xfrm>
              <a:prstGeom prst="line">
                <a:avLst/>
              </a:prstGeom>
              <a:ln w="63500">
                <a:solidFill>
                  <a:srgbClr val="7030A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58910847-DF16-F94B-8EC0-65D025B79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27417" y="4780554"/>
                <a:ext cx="400658" cy="0"/>
              </a:xfrm>
              <a:prstGeom prst="line">
                <a:avLst/>
              </a:prstGeom>
              <a:ln w="19050">
                <a:solidFill>
                  <a:srgbClr val="EC7B2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文本框 8">
                <a:extLst>
                  <a:ext uri="{FF2B5EF4-FFF2-40B4-BE49-F238E27FC236}">
                    <a16:creationId xmlns:a16="http://schemas.microsoft.com/office/drawing/2014/main" id="{ED6D9DA1-3FD6-BC4F-8129-610D33FA9296}"/>
                  </a:ext>
                </a:extLst>
              </p:cNvPr>
              <p:cNvSpPr txBox="1"/>
              <p:nvPr/>
            </p:nvSpPr>
            <p:spPr>
              <a:xfrm>
                <a:off x="7568092" y="4742581"/>
                <a:ext cx="414465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7B2F"/>
                    </a:solidFill>
                    <a:effectLst/>
                    <a:uLnTx/>
                    <a:uFillTx/>
                    <a:latin typeface="+mn-lt"/>
                    <a:cs typeface="Arial" panose="020B0604020202020204" pitchFamily="34" charset="0"/>
                  </a:rPr>
                  <a:t>R[</a:t>
                </a:r>
                <a:r>
                  <a:rPr lang="en-US" altLang="zh-CN" sz="1400" dirty="0">
                    <a:solidFill>
                      <a:srgbClr val="EC7B2F"/>
                    </a:solidFill>
                    <a:latin typeface="+mn-lt"/>
                    <a:cs typeface="Arial" panose="020B0604020202020204" pitchFamily="34" charset="0"/>
                  </a:rPr>
                  <a:t>Ra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7B2F"/>
                    </a:solidFill>
                    <a:effectLst/>
                    <a:uLnTx/>
                    <a:uFillTx/>
                    <a:latin typeface="+mn-lt"/>
                    <a:cs typeface="Arial" panose="020B0604020202020204" pitchFamily="34" charset="0"/>
                  </a:rPr>
                  <a:t>]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C7B2F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5104683-0038-4D48-A795-BED4C9B06B2E}"/>
                  </a:ext>
                </a:extLst>
              </p:cNvPr>
              <p:cNvSpPr/>
              <p:nvPr/>
            </p:nvSpPr>
            <p:spPr>
              <a:xfrm>
                <a:off x="6995122" y="3380591"/>
                <a:ext cx="377190" cy="37719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CN" dirty="0"/>
                  <a:t>=?</a:t>
                </a: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7B2A5494-23E4-3340-BE31-1FF5909FB6CD}"/>
                  </a:ext>
                </a:extLst>
              </p:cNvPr>
              <p:cNvSpPr/>
              <p:nvPr/>
            </p:nvSpPr>
            <p:spPr>
              <a:xfrm>
                <a:off x="5429323" y="6257228"/>
                <a:ext cx="17556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kern="0" dirty="0">
                    <a:solidFill>
                      <a:srgbClr val="0432FF"/>
                    </a:solidFill>
                    <a:latin typeface="+mn-lt"/>
                    <a:ea typeface="黑体" panose="02010609060101010101" pitchFamily="49" charset="-122"/>
                  </a:rPr>
                  <a:t>辅助旁路读</a:t>
                </a:r>
                <a:endParaRPr lang="en-CN" dirty="0">
                  <a:latin typeface="+mn-lt"/>
                </a:endParaRPr>
              </a:p>
            </p:txBody>
          </p:sp>
        </p:grpSp>
        <p:sp>
          <p:nvSpPr>
            <p:cNvPr id="6" name="文本框 15">
              <a:extLst>
                <a:ext uri="{FF2B5EF4-FFF2-40B4-BE49-F238E27FC236}">
                  <a16:creationId xmlns:a16="http://schemas.microsoft.com/office/drawing/2014/main" id="{CEE3426E-BECC-AAFE-D3D5-6D778BE473FB}"/>
                </a:ext>
              </a:extLst>
            </p:cNvPr>
            <p:cNvSpPr txBox="1"/>
            <p:nvPr/>
          </p:nvSpPr>
          <p:spPr>
            <a:xfrm>
              <a:off x="5994286" y="4675907"/>
              <a:ext cx="5929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rPr>
                <a:t>N-bit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7030A0"/>
                  </a:solidFill>
                  <a:latin typeface="+mn-lt"/>
                  <a:cs typeface="Arial" panose="020B0604020202020204" pitchFamily="34" charset="0"/>
                </a:rPr>
                <a:t>Reg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8" name="文本框 15">
              <a:extLst>
                <a:ext uri="{FF2B5EF4-FFF2-40B4-BE49-F238E27FC236}">
                  <a16:creationId xmlns:a16="http://schemas.microsoft.com/office/drawing/2014/main" id="{BC14578B-2BCC-E247-B5B2-EC1BE44C8150}"/>
                </a:ext>
              </a:extLst>
            </p:cNvPr>
            <p:cNvSpPr txBox="1"/>
            <p:nvPr/>
          </p:nvSpPr>
          <p:spPr>
            <a:xfrm>
              <a:off x="5986945" y="5632181"/>
              <a:ext cx="5929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rPr>
                <a:t>N-bit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7030A0"/>
                  </a:solidFill>
                  <a:latin typeface="+mn-lt"/>
                  <a:cs typeface="Arial" panose="020B0604020202020204" pitchFamily="34" charset="0"/>
                </a:rPr>
                <a:t>Reg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文本框 15">
              <a:extLst>
                <a:ext uri="{FF2B5EF4-FFF2-40B4-BE49-F238E27FC236}">
                  <a16:creationId xmlns:a16="http://schemas.microsoft.com/office/drawing/2014/main" id="{D1F3B69E-5D43-F0E7-E312-912F7DF6A9A4}"/>
                </a:ext>
              </a:extLst>
            </p:cNvPr>
            <p:cNvSpPr txBox="1"/>
            <p:nvPr/>
          </p:nvSpPr>
          <p:spPr>
            <a:xfrm>
              <a:off x="5991722" y="3628103"/>
              <a:ext cx="59291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</a:rPr>
                <a:t>5-bit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7030A0"/>
                  </a:solidFill>
                  <a:latin typeface="+mn-lt"/>
                  <a:cs typeface="Arial" panose="020B0604020202020204" pitchFamily="34" charset="0"/>
                </a:rPr>
                <a:t>Reg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0" name="文本框 8">
            <a:extLst>
              <a:ext uri="{FF2B5EF4-FFF2-40B4-BE49-F238E27FC236}">
                <a16:creationId xmlns:a16="http://schemas.microsoft.com/office/drawing/2014/main" id="{AEE21693-6606-0624-FB7E-45B252C37DAC}"/>
              </a:ext>
            </a:extLst>
          </p:cNvPr>
          <p:cNvSpPr txBox="1"/>
          <p:nvPr/>
        </p:nvSpPr>
        <p:spPr>
          <a:xfrm>
            <a:off x="3098734" y="4993083"/>
            <a:ext cx="41446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R[</a:t>
            </a:r>
            <a:r>
              <a:rPr lang="en-US" altLang="zh-CN" sz="1400" dirty="0">
                <a:solidFill>
                  <a:srgbClr val="EC7B2F"/>
                </a:solidFill>
                <a:latin typeface="+mn-lt"/>
                <a:cs typeface="Arial" panose="020B0604020202020204" pitchFamily="34" charset="0"/>
              </a:rPr>
              <a:t>Ra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C7B2F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]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EC7B2F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17E2FF-D45D-2D74-854B-9F60AFB1AE6D}"/>
              </a:ext>
            </a:extLst>
          </p:cNvPr>
          <p:cNvGrpSpPr/>
          <p:nvPr/>
        </p:nvGrpSpPr>
        <p:grpSpPr>
          <a:xfrm>
            <a:off x="1090595" y="3118187"/>
            <a:ext cx="1911093" cy="1349762"/>
            <a:chOff x="2933276" y="3152700"/>
            <a:chExt cx="1911093" cy="1349762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4257EED-512E-A8EA-500B-EDA2AE08CAD7}"/>
                </a:ext>
              </a:extLst>
            </p:cNvPr>
            <p:cNvCxnSpPr/>
            <p:nvPr/>
          </p:nvCxnSpPr>
          <p:spPr>
            <a:xfrm>
              <a:off x="2933276" y="3991507"/>
              <a:ext cx="66717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7957523-3C8A-2DCA-0085-1EC23E519D29}"/>
                </a:ext>
              </a:extLst>
            </p:cNvPr>
            <p:cNvCxnSpPr>
              <a:cxnSpLocks/>
            </p:cNvCxnSpPr>
            <p:nvPr/>
          </p:nvCxnSpPr>
          <p:spPr>
            <a:xfrm>
              <a:off x="3600450" y="3446096"/>
              <a:ext cx="56007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12B5EB4-537F-8F8F-3C76-8F6529462439}"/>
                </a:ext>
              </a:extLst>
            </p:cNvPr>
            <p:cNvCxnSpPr>
              <a:cxnSpLocks/>
            </p:cNvCxnSpPr>
            <p:nvPr/>
          </p:nvCxnSpPr>
          <p:spPr>
            <a:xfrm>
              <a:off x="4160520" y="3152700"/>
              <a:ext cx="0" cy="101154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7A354F0-3EF1-7FEF-F7EA-436D65A25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6104" y="3174024"/>
              <a:ext cx="0" cy="1005029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19A55A6-9116-7F68-2C7E-7230BD3269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0450" y="3446096"/>
              <a:ext cx="0" cy="5564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5039774-23D9-E77F-A57C-3E34EF5C3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7011" y="4155897"/>
              <a:ext cx="320040" cy="867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0B722A9-91C2-6E1E-580D-0D94FF6551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1920" y="4148868"/>
              <a:ext cx="35814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20FA0BA-C948-668F-AFE1-1CA72BCBF3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7051" y="3194097"/>
              <a:ext cx="0" cy="1005029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9D7FE911-540F-68F8-A803-478C2E684BC6}"/>
                </a:ext>
              </a:extLst>
            </p:cNvPr>
            <p:cNvSpPr txBox="1"/>
            <p:nvPr/>
          </p:nvSpPr>
          <p:spPr>
            <a:xfrm>
              <a:off x="3393345" y="413313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+mn-lt"/>
                  <a:ea typeface="SimHei" panose="02010609060101010101" pitchFamily="49" charset="-122"/>
                </a:rPr>
                <a:t>tcq</a:t>
              </a:r>
              <a:endParaRPr lang="en-CN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E7AC64FB-2F74-3934-9A63-F2F162AC8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0520" y="3829618"/>
              <a:ext cx="35814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5EFA871-BE28-0364-9834-CF0E3E5704B1}"/>
                </a:ext>
              </a:extLst>
            </p:cNvPr>
            <p:cNvCxnSpPr>
              <a:cxnSpLocks/>
            </p:cNvCxnSpPr>
            <p:nvPr/>
          </p:nvCxnSpPr>
          <p:spPr>
            <a:xfrm>
              <a:off x="3596521" y="3858521"/>
              <a:ext cx="282720" cy="79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19ECDE0D-0F69-2283-49D8-D21213086BD1}"/>
                </a:ext>
              </a:extLst>
            </p:cNvPr>
            <p:cNvSpPr txBox="1"/>
            <p:nvPr/>
          </p:nvSpPr>
          <p:spPr>
            <a:xfrm>
              <a:off x="4159566" y="346211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+mn-lt"/>
                  <a:ea typeface="SimHei" panose="02010609060101010101" pitchFamily="49" charset="-122"/>
                </a:rPr>
                <a:t>tmux</a:t>
              </a:r>
              <a:endParaRPr lang="en-CN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39" name="TextBox 4">
            <a:extLst>
              <a:ext uri="{FF2B5EF4-FFF2-40B4-BE49-F238E27FC236}">
                <a16:creationId xmlns:a16="http://schemas.microsoft.com/office/drawing/2014/main" id="{894011C3-E386-22E5-E7CE-7EDF9390F0CE}"/>
              </a:ext>
            </a:extLst>
          </p:cNvPr>
          <p:cNvSpPr txBox="1"/>
          <p:nvPr/>
        </p:nvSpPr>
        <p:spPr>
          <a:xfrm>
            <a:off x="2840022" y="522647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mux</a:t>
            </a:r>
            <a:endParaRPr lang="en-CN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2CEDA65F-F65D-94D7-EF54-EBC49E6E12AC}"/>
              </a:ext>
            </a:extLst>
          </p:cNvPr>
          <p:cNvSpPr txBox="1"/>
          <p:nvPr/>
        </p:nvSpPr>
        <p:spPr>
          <a:xfrm>
            <a:off x="3161466" y="463157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Regout</a:t>
            </a:r>
            <a:endParaRPr lang="en-CN" dirty="0">
              <a:solidFill>
                <a:srgbClr val="FF0000"/>
              </a:solidFill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471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附：单周期实现的性能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FA092-A9C4-4C5C-A010-9660AACB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514856"/>
            <a:ext cx="7453806" cy="1590979"/>
          </a:xfrm>
        </p:spPr>
        <p:txBody>
          <a:bodyPr/>
          <a:lstStyle/>
          <a:p>
            <a:pPr hangingPunct="1"/>
            <a:r>
              <a:rPr lang="zh-CN" altLang="en-US" dirty="0"/>
              <a:t>各类指令的执行时间细分</a:t>
            </a:r>
            <a:endParaRPr lang="en-US" altLang="zh-CN" dirty="0"/>
          </a:p>
          <a:p>
            <a:pPr lvl="1"/>
            <a:r>
              <a:rPr lang="zh-CN" altLang="en-US" dirty="0"/>
              <a:t>若不同指令可在</a:t>
            </a:r>
            <a:r>
              <a:rPr lang="zh-CN" altLang="en-US" dirty="0">
                <a:solidFill>
                  <a:srgbClr val="3333FF"/>
                </a:solidFill>
              </a:rPr>
              <a:t>不同长度的一个时钟周期内</a:t>
            </a:r>
            <a:r>
              <a:rPr lang="zh-CN" altLang="en-US" dirty="0"/>
              <a:t>执行完，求该程序的指令平均执行时间？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86F4-0491-7E4E-ABA3-12AA2AA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89</a:t>
            </a:fld>
            <a:endParaRPr lang="en-US" altLang="zh-CN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DBFFF8E-2C6C-439C-BDFC-128D27BF1504}"/>
              </a:ext>
            </a:extLst>
          </p:cNvPr>
          <p:cNvGraphicFramePr>
            <a:graphicFrameLocks noGrp="1"/>
          </p:cNvGraphicFramePr>
          <p:nvPr/>
        </p:nvGraphicFramePr>
        <p:xfrm>
          <a:off x="170817" y="3565236"/>
          <a:ext cx="8802365" cy="2710914"/>
        </p:xfrm>
        <a:graphic>
          <a:graphicData uri="http://schemas.openxmlformats.org/drawingml/2006/table">
            <a:tbl>
              <a:tblPr firstRow="1" firstCol="1" bandRow="1"/>
              <a:tblGrid>
                <a:gridCol w="1339484">
                  <a:extLst>
                    <a:ext uri="{9D8B030D-6E8A-4147-A177-3AD203B41FA5}">
                      <a16:colId xmlns:a16="http://schemas.microsoft.com/office/drawing/2014/main" val="4005744390"/>
                    </a:ext>
                  </a:extLst>
                </a:gridCol>
                <a:gridCol w="1263553">
                  <a:extLst>
                    <a:ext uri="{9D8B030D-6E8A-4147-A177-3AD203B41FA5}">
                      <a16:colId xmlns:a16="http://schemas.microsoft.com/office/drawing/2014/main" val="3916064879"/>
                    </a:ext>
                  </a:extLst>
                </a:gridCol>
                <a:gridCol w="1331763">
                  <a:extLst>
                    <a:ext uri="{9D8B030D-6E8A-4147-A177-3AD203B41FA5}">
                      <a16:colId xmlns:a16="http://schemas.microsoft.com/office/drawing/2014/main" val="3423279505"/>
                    </a:ext>
                  </a:extLst>
                </a:gridCol>
                <a:gridCol w="1174710">
                  <a:extLst>
                    <a:ext uri="{9D8B030D-6E8A-4147-A177-3AD203B41FA5}">
                      <a16:colId xmlns:a16="http://schemas.microsoft.com/office/drawing/2014/main" val="2166460312"/>
                    </a:ext>
                  </a:extLst>
                </a:gridCol>
                <a:gridCol w="1354047">
                  <a:extLst>
                    <a:ext uri="{9D8B030D-6E8A-4147-A177-3AD203B41FA5}">
                      <a16:colId xmlns:a16="http://schemas.microsoft.com/office/drawing/2014/main" val="4203826851"/>
                    </a:ext>
                  </a:extLst>
                </a:gridCol>
                <a:gridCol w="1352986">
                  <a:extLst>
                    <a:ext uri="{9D8B030D-6E8A-4147-A177-3AD203B41FA5}">
                      <a16:colId xmlns:a16="http://schemas.microsoft.com/office/drawing/2014/main" val="328071946"/>
                    </a:ext>
                  </a:extLst>
                </a:gridCol>
                <a:gridCol w="985822">
                  <a:extLst>
                    <a:ext uri="{9D8B030D-6E8A-4147-A177-3AD203B41FA5}">
                      <a16:colId xmlns:a16="http://schemas.microsoft.com/office/drawing/2014/main" val="4148841290"/>
                    </a:ext>
                  </a:extLst>
                </a:gridCol>
              </a:tblGrid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指令存储器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读寄存器堆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ALU</a:t>
                      </a:r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运算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数据存储器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写寄存器堆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总延时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5064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400ps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88551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Load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solidFill>
                            <a:srgbClr val="3333FF"/>
                          </a:solidFill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600ps</a:t>
                      </a:r>
                      <a:endParaRPr lang="zh-CN" sz="2400" b="1" kern="100" dirty="0">
                        <a:solidFill>
                          <a:srgbClr val="3333FF"/>
                        </a:solidFill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706152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Store</a:t>
                      </a:r>
                      <a:r>
                        <a:rPr lang="zh-CN" sz="1800" b="1" kern="100" dirty="0"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类型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550ps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363168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Branch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50ps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100ps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350ps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343133"/>
                  </a:ext>
                </a:extLst>
              </a:tr>
              <a:tr h="451819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Jump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440055" algn="l"/>
                        </a:tabLs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sz="2400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00" dirty="0">
                          <a:effectLst/>
                          <a:latin typeface="+mn-lt"/>
                          <a:ea typeface="+mn-ea"/>
                          <a:cs typeface="宋体" panose="02010600030101010101" pitchFamily="2" charset="-122"/>
                        </a:rPr>
                        <a:t>200ps</a:t>
                      </a:r>
                      <a:endParaRPr lang="zh-CN" sz="2400" b="1" kern="100" dirty="0">
                        <a:effectLst/>
                        <a:latin typeface="+mn-lt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614165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EFC1EC2-EC30-014D-87BD-A57D79A3DF59}"/>
              </a:ext>
            </a:extLst>
          </p:cNvPr>
          <p:cNvSpPr/>
          <p:nvPr/>
        </p:nvSpPr>
        <p:spPr>
          <a:xfrm>
            <a:off x="7679110" y="1506553"/>
            <a:ext cx="1353182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Lw：25%</a:t>
            </a:r>
          </a:p>
          <a:p>
            <a:pPr algn="ctr"/>
            <a:r>
              <a:rPr lang="en-US" dirty="0"/>
              <a:t>Sw：10%</a:t>
            </a:r>
          </a:p>
          <a:p>
            <a:pPr algn="ctr"/>
            <a:r>
              <a:rPr lang="en-US" dirty="0"/>
              <a:t>ALU：45%</a:t>
            </a:r>
          </a:p>
          <a:p>
            <a:pPr algn="ctr"/>
            <a:r>
              <a:rPr lang="en-US" dirty="0"/>
              <a:t>Beq：15%</a:t>
            </a:r>
          </a:p>
          <a:p>
            <a:pPr algn="ctr"/>
            <a:r>
              <a:rPr lang="en-US" dirty="0"/>
              <a:t>J：5%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6CB02D91-2C9C-B1DC-DDEE-B9983C1B735E}"/>
                  </a:ext>
                </a:extLst>
              </p:cNvPr>
              <p:cNvSpPr/>
              <p:nvPr/>
            </p:nvSpPr>
            <p:spPr>
              <a:xfrm>
                <a:off x="211874" y="3105835"/>
                <a:ext cx="877477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hangingPunct="1">
                  <a:buNone/>
                </a:pP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𝟔𝟎𝟎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%+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𝟓𝟓𝟎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%+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𝟒𝟓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%+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𝟑𝟓𝟎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%+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%=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𝟒𝟒𝟕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𝒑𝒔</m:t>
                    </m:r>
                    <m:r>
                      <a:rPr lang="en-US" altLang="zh-CN" sz="16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𝟔𝟎𝟎</m:t>
                    </m:r>
                    <m:r>
                      <a:rPr lang="en-US" altLang="zh-CN" sz="16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𝒑𝒔</m:t>
                    </m:r>
                    <m:r>
                      <a:rPr lang="en-US" altLang="zh-CN" sz="16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altLang="zh-CN" sz="1600" b="1" dirty="0"/>
              </a:p>
            </p:txBody>
          </p:sp>
        </mc:Choice>
        <mc:Fallback xmlns=""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6CB02D91-2C9C-B1DC-DDEE-B9983C1B7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4" y="3105835"/>
                <a:ext cx="8774770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798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主题1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855A03B-2F79-449A-B90F-94B44FA45948}" vid="{538C748A-327B-453F-972D-CABE279DD53F}"/>
    </a:ext>
  </a:extLst>
</a:theme>
</file>

<file path=ppt/theme/theme3.xml><?xml version="1.0" encoding="utf-8"?>
<a:theme xmlns:a="http://schemas.openxmlformats.org/drawingml/2006/main" name="2_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25797</TotalTime>
  <Words>7371</Words>
  <Application>Microsoft Macintosh PowerPoint</Application>
  <PresentationFormat>全屏显示(4:3)</PresentationFormat>
  <Paragraphs>1952</Paragraphs>
  <Slides>89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89</vt:i4>
      </vt:variant>
    </vt:vector>
  </HeadingPairs>
  <TitlesOfParts>
    <vt:vector size="102" baseType="lpstr">
      <vt:lpstr>SimHei</vt:lpstr>
      <vt:lpstr>SimHei</vt:lpstr>
      <vt:lpstr>宋体</vt:lpstr>
      <vt:lpstr>Microsoft Yahei</vt:lpstr>
      <vt:lpstr>Times</vt:lpstr>
      <vt:lpstr>Arial</vt:lpstr>
      <vt:lpstr>Cambria Math</vt:lpstr>
      <vt:lpstr>Tahoma</vt:lpstr>
      <vt:lpstr>Times New Roman</vt:lpstr>
      <vt:lpstr>Wingdings</vt:lpstr>
      <vt:lpstr>1_默认设计模板</vt:lpstr>
      <vt:lpstr>主题1</vt:lpstr>
      <vt:lpstr>2_默认设计模板</vt:lpstr>
      <vt:lpstr>PowerPoint 演示文稿</vt:lpstr>
      <vt:lpstr>期中考试情况</vt:lpstr>
      <vt:lpstr>作业</vt:lpstr>
      <vt:lpstr>微体系结构</vt:lpstr>
      <vt:lpstr>本节课学习目标</vt:lpstr>
      <vt:lpstr>本节课目录</vt:lpstr>
      <vt:lpstr>从零开始: 单周期数据通路</vt:lpstr>
      <vt:lpstr>成功实现: 单周期控制信号</vt:lpstr>
      <vt:lpstr>做得好不好？</vt:lpstr>
      <vt:lpstr>PowerPoint 演示文稿</vt:lpstr>
      <vt:lpstr>PowerPoint 演示文稿</vt:lpstr>
      <vt:lpstr>PowerPoint 演示文稿</vt:lpstr>
      <vt:lpstr>J: 单周期数据通路</vt:lpstr>
      <vt:lpstr>PowerPoint 演示文稿</vt:lpstr>
      <vt:lpstr>回顾：建立时间和保持时间</vt:lpstr>
      <vt:lpstr>回顾：建立时间约束</vt:lpstr>
      <vt:lpstr>ADD: 如何确定最短时钟周期？</vt:lpstr>
      <vt:lpstr>举例：ADD指令的critical path</vt:lpstr>
      <vt:lpstr>举例：Store指令的critical path</vt:lpstr>
      <vt:lpstr>举例：Load指令的critical path</vt:lpstr>
      <vt:lpstr>最长的critical path</vt:lpstr>
      <vt:lpstr>最长的critical path：LW</vt:lpstr>
      <vt:lpstr>PowerPoint 演示文稿</vt:lpstr>
      <vt:lpstr>答案解析</vt:lpstr>
      <vt:lpstr>寄存器堆访问</vt:lpstr>
      <vt:lpstr>单周期实现的性能</vt:lpstr>
      <vt:lpstr>回顾指令的单周期执行过程</vt:lpstr>
      <vt:lpstr>单周期实现的性能</vt:lpstr>
      <vt:lpstr>单周期实现的性能</vt:lpstr>
      <vt:lpstr>从单周期到多周期</vt:lpstr>
      <vt:lpstr>多周期：基本思路</vt:lpstr>
      <vt:lpstr>本节课目录</vt:lpstr>
      <vt:lpstr>多周期功能分解</vt:lpstr>
      <vt:lpstr>多周期处理器数据通路</vt:lpstr>
      <vt:lpstr>多周期数据通路</vt:lpstr>
      <vt:lpstr>多周期数据通路</vt:lpstr>
      <vt:lpstr>多周期功能描述</vt:lpstr>
      <vt:lpstr>多周期功能描述：取指令</vt:lpstr>
      <vt:lpstr>多周期的有限状态机视角</vt:lpstr>
      <vt:lpstr>多周期的有限状态机视角</vt:lpstr>
      <vt:lpstr>多周期功能描述：寄存器读取</vt:lpstr>
      <vt:lpstr>From State 1 to more states…</vt:lpstr>
      <vt:lpstr>Branch型指令的状态转移</vt:lpstr>
      <vt:lpstr>多周期功能描述：Branch</vt:lpstr>
      <vt:lpstr>J型指令的状态转移</vt:lpstr>
      <vt:lpstr>多周期功能描述：J型指令</vt:lpstr>
      <vt:lpstr>R型指令的状态转移</vt:lpstr>
      <vt:lpstr>多周期功能描述：R型指令-1</vt:lpstr>
      <vt:lpstr>多周期功能描述：R型指令-2</vt:lpstr>
      <vt:lpstr>SW/LW指令的状态转移</vt:lpstr>
      <vt:lpstr>SW/LW指令的状态转移</vt:lpstr>
      <vt:lpstr>多周期功能描述：访存地址计算</vt:lpstr>
      <vt:lpstr>多周期功能描述：Store访存</vt:lpstr>
      <vt:lpstr>多周期功能描述：Load访存</vt:lpstr>
      <vt:lpstr>多周期功能描述：Load写回</vt:lpstr>
      <vt:lpstr>PowerPoint 演示文稿</vt:lpstr>
      <vt:lpstr>答案解析</vt:lpstr>
      <vt:lpstr>PowerPoint 演示文稿</vt:lpstr>
      <vt:lpstr>多周期数据通路</vt:lpstr>
      <vt:lpstr>多周期实现的性能（情景一）</vt:lpstr>
      <vt:lpstr>多周期实现的性能（情景一）</vt:lpstr>
      <vt:lpstr>PowerPoint 演示文稿</vt:lpstr>
      <vt:lpstr>答案解析</vt:lpstr>
      <vt:lpstr>多周期实现的性能（情景二）</vt:lpstr>
      <vt:lpstr>多周期实现的性能（情景二）</vt:lpstr>
      <vt:lpstr>小结：多周期数据通路</vt:lpstr>
      <vt:lpstr>本节课目录</vt:lpstr>
      <vt:lpstr>典型的处理器架构</vt:lpstr>
      <vt:lpstr>MIPS处理器可能的异常类型</vt:lpstr>
      <vt:lpstr>MIPS的异常和中断处理</vt:lpstr>
      <vt:lpstr>MIPS的异常和中断处理</vt:lpstr>
      <vt:lpstr>异常处理</vt:lpstr>
      <vt:lpstr>异常处理</vt:lpstr>
      <vt:lpstr>异常处理程序的寻址（向量方式）</vt:lpstr>
      <vt:lpstr>异常处理程序的寻址（原因寄存器）</vt:lpstr>
      <vt:lpstr>MIPS的异常处理</vt:lpstr>
      <vt:lpstr>记录异常原因</vt:lpstr>
      <vt:lpstr>保存/恢复异常指令地址</vt:lpstr>
      <vt:lpstr>实现简化MIPS的异常处理</vt:lpstr>
      <vt:lpstr>实现简化MIPS的异常处理</vt:lpstr>
      <vt:lpstr>实现简化MIPS的异常处理</vt:lpstr>
      <vt:lpstr>控制单元如何检测异常</vt:lpstr>
      <vt:lpstr>PowerPoint 演示文稿</vt:lpstr>
      <vt:lpstr>PowerPoint 演示文稿</vt:lpstr>
      <vt:lpstr>答案解析</vt:lpstr>
      <vt:lpstr>本节课小结</vt:lpstr>
      <vt:lpstr>附：多周期数据通路</vt:lpstr>
      <vt:lpstr>附：寄存器堆访问</vt:lpstr>
      <vt:lpstr>附：单周期实现的性能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xing</dc:creator>
  <cp:keywords/>
  <dc:description/>
  <cp:lastModifiedBy>Zhonghao Chen</cp:lastModifiedBy>
  <cp:revision>1946</cp:revision>
  <cp:lastPrinted>2022-04-26T12:13:52Z</cp:lastPrinted>
  <dcterms:created xsi:type="dcterms:W3CDTF">2009-12-11T02:45:36Z</dcterms:created>
  <dcterms:modified xsi:type="dcterms:W3CDTF">2024-06-13T12:21:25Z</dcterms:modified>
  <cp:category/>
</cp:coreProperties>
</file>