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6" r:id="rId4"/>
    <p:sldId id="307" r:id="rId5"/>
    <p:sldId id="304" r:id="rId6"/>
    <p:sldId id="308" r:id="rId7"/>
    <p:sldId id="309" r:id="rId8"/>
    <p:sldId id="310" r:id="rId9"/>
    <p:sldId id="311" r:id="rId10"/>
    <p:sldId id="305" r:id="rId11"/>
    <p:sldId id="312" r:id="rId12"/>
    <p:sldId id="290" r:id="rId13"/>
    <p:sldId id="293" r:id="rId14"/>
    <p:sldId id="292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13" r:id="rId23"/>
    <p:sldId id="303" r:id="rId24"/>
    <p:sldId id="302" r:id="rId2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C2870E-B326-4612-8456-F0B7854E8F1A}" type="doc">
      <dgm:prSet loTypeId="urn:microsoft.com/office/officeart/2005/8/layout/chevron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8ED41F5-65C2-41AD-84C2-0475C4F95220}">
      <dgm:prSet phldrT="[文本]"/>
      <dgm:spPr/>
      <dgm:t>
        <a:bodyPr/>
        <a:lstStyle/>
        <a:p>
          <a:r>
            <a:rPr lang="zh-CN" altLang="en-US" dirty="0" smtClean="0"/>
            <a:t>初始化</a:t>
          </a:r>
          <a:endParaRPr lang="zh-CN" altLang="en-US" dirty="0"/>
        </a:p>
      </dgm:t>
    </dgm:pt>
    <dgm:pt modelId="{47C7600C-2B36-427D-91A9-BC382E6D78D8}" type="parTrans" cxnId="{D9C84446-3966-4CDB-AFDB-8293D67BC169}">
      <dgm:prSet/>
      <dgm:spPr/>
      <dgm:t>
        <a:bodyPr/>
        <a:lstStyle/>
        <a:p>
          <a:endParaRPr lang="zh-CN" altLang="en-US"/>
        </a:p>
      </dgm:t>
    </dgm:pt>
    <dgm:pt modelId="{5976C69D-255F-4498-9A3F-1B945C9BEE0A}" type="sibTrans" cxnId="{D9C84446-3966-4CDB-AFDB-8293D67BC169}">
      <dgm:prSet/>
      <dgm:spPr/>
      <dgm:t>
        <a:bodyPr/>
        <a:lstStyle/>
        <a:p>
          <a:endParaRPr lang="zh-CN" altLang="en-US"/>
        </a:p>
      </dgm:t>
    </dgm:pt>
    <dgm:pt modelId="{F9661ABF-7202-47F7-B897-6D208FC6BD7A}">
      <dgm:prSet phldrT="[文本]"/>
      <dgm:spPr/>
      <dgm:t>
        <a:bodyPr/>
        <a:lstStyle/>
        <a:p>
          <a:r>
            <a:rPr lang="zh-CN" altLang="en-US" dirty="0" smtClean="0"/>
            <a:t>相当于从晶圆厂获取晶圆</a:t>
          </a:r>
          <a:endParaRPr lang="zh-CN" altLang="en-US" dirty="0"/>
        </a:p>
      </dgm:t>
    </dgm:pt>
    <dgm:pt modelId="{B1FD7186-396D-4794-92A5-40888658E831}" type="parTrans" cxnId="{8C735B76-C027-40C1-85B2-9336E8D01231}">
      <dgm:prSet/>
      <dgm:spPr/>
      <dgm:t>
        <a:bodyPr/>
        <a:lstStyle/>
        <a:p>
          <a:endParaRPr lang="zh-CN" altLang="en-US"/>
        </a:p>
      </dgm:t>
    </dgm:pt>
    <dgm:pt modelId="{893AE62E-5C32-4696-AE5F-72B2DEA00652}" type="sibTrans" cxnId="{8C735B76-C027-40C1-85B2-9336E8D01231}">
      <dgm:prSet/>
      <dgm:spPr/>
      <dgm:t>
        <a:bodyPr/>
        <a:lstStyle/>
        <a:p>
          <a:endParaRPr lang="zh-CN" altLang="en-US"/>
        </a:p>
      </dgm:t>
    </dgm:pt>
    <dgm:pt modelId="{6A34FCD5-23D9-484C-9CDB-1F91FF168744}">
      <dgm:prSet phldrT="[文本]"/>
      <dgm:spPr/>
      <dgm:t>
        <a:bodyPr/>
        <a:lstStyle/>
        <a:p>
          <a:r>
            <a:rPr lang="zh-CN" altLang="en-US" dirty="0" smtClean="0"/>
            <a:t>工艺操作</a:t>
          </a:r>
          <a:endParaRPr lang="zh-CN" altLang="en-US" dirty="0"/>
        </a:p>
      </dgm:t>
    </dgm:pt>
    <dgm:pt modelId="{B4AED183-C86B-4765-9666-B7EF68143141}" type="parTrans" cxnId="{617FE5BB-75C8-4926-B647-EA85E53CF816}">
      <dgm:prSet/>
      <dgm:spPr/>
      <dgm:t>
        <a:bodyPr/>
        <a:lstStyle/>
        <a:p>
          <a:endParaRPr lang="zh-CN" altLang="en-US"/>
        </a:p>
      </dgm:t>
    </dgm:pt>
    <dgm:pt modelId="{049943A0-E113-4E66-9CC5-B70AFB23C2A3}" type="sibTrans" cxnId="{617FE5BB-75C8-4926-B647-EA85E53CF816}">
      <dgm:prSet/>
      <dgm:spPr/>
      <dgm:t>
        <a:bodyPr/>
        <a:lstStyle/>
        <a:p>
          <a:endParaRPr lang="zh-CN" altLang="en-US"/>
        </a:p>
      </dgm:t>
    </dgm:pt>
    <dgm:pt modelId="{E8D2F831-B11A-4E98-8D39-0E860ED85CA8}">
      <dgm:prSet phldrT="[文本]"/>
      <dgm:spPr/>
      <dgm:t>
        <a:bodyPr/>
        <a:lstStyle/>
        <a:p>
          <a:r>
            <a:rPr lang="zh-CN" altLang="en-US" dirty="0" smtClean="0"/>
            <a:t>淀积、氧化、扩散、离子注入、刻蚀等等</a:t>
          </a:r>
          <a:endParaRPr lang="zh-CN" altLang="en-US" dirty="0"/>
        </a:p>
      </dgm:t>
    </dgm:pt>
    <dgm:pt modelId="{6B93ED0B-0E27-4905-9E5F-4CB731A11BCD}" type="parTrans" cxnId="{2912EA68-0338-4DEE-96C0-1017382EFFF9}">
      <dgm:prSet/>
      <dgm:spPr/>
      <dgm:t>
        <a:bodyPr/>
        <a:lstStyle/>
        <a:p>
          <a:endParaRPr lang="zh-CN" altLang="en-US"/>
        </a:p>
      </dgm:t>
    </dgm:pt>
    <dgm:pt modelId="{F5CF33DD-0614-4FD2-9965-F85DD7ECEE28}" type="sibTrans" cxnId="{2912EA68-0338-4DEE-96C0-1017382EFFF9}">
      <dgm:prSet/>
      <dgm:spPr/>
      <dgm:t>
        <a:bodyPr/>
        <a:lstStyle/>
        <a:p>
          <a:endParaRPr lang="zh-CN" altLang="en-US"/>
        </a:p>
      </dgm:t>
    </dgm:pt>
    <dgm:pt modelId="{132EAAD8-AABB-442F-8D54-F4196BB88DC6}">
      <dgm:prSet phldrT="[文本]"/>
      <dgm:spPr/>
      <dgm:t>
        <a:bodyPr/>
        <a:lstStyle/>
        <a:p>
          <a:r>
            <a:rPr lang="zh-CN" altLang="en-US" dirty="0" smtClean="0"/>
            <a:t>结构分析</a:t>
          </a:r>
          <a:endParaRPr lang="zh-CN" altLang="en-US" dirty="0"/>
        </a:p>
      </dgm:t>
    </dgm:pt>
    <dgm:pt modelId="{FC6881DB-5F05-4987-8C07-E6BFE5A88F67}" type="parTrans" cxnId="{A5EA3AEE-D87A-47B0-9659-A2DC59C9DF1A}">
      <dgm:prSet/>
      <dgm:spPr/>
      <dgm:t>
        <a:bodyPr/>
        <a:lstStyle/>
        <a:p>
          <a:endParaRPr lang="zh-CN" altLang="en-US"/>
        </a:p>
      </dgm:t>
    </dgm:pt>
    <dgm:pt modelId="{9CBEEE6A-68F8-412E-BF6A-DFD946638E67}" type="sibTrans" cxnId="{A5EA3AEE-D87A-47B0-9659-A2DC59C9DF1A}">
      <dgm:prSet/>
      <dgm:spPr/>
      <dgm:t>
        <a:bodyPr/>
        <a:lstStyle/>
        <a:p>
          <a:endParaRPr lang="zh-CN" altLang="en-US"/>
        </a:p>
      </dgm:t>
    </dgm:pt>
    <dgm:pt modelId="{377BC553-A5EA-4FBC-830C-E4B404785F5E}">
      <dgm:prSet phldrT="[文本]"/>
      <dgm:spPr/>
      <dgm:t>
        <a:bodyPr/>
        <a:lstStyle/>
        <a:p>
          <a:r>
            <a:rPr lang="zh-CN" altLang="en-US" dirty="0" smtClean="0"/>
            <a:t>查看</a:t>
          </a:r>
          <a:r>
            <a:rPr lang="en-US" altLang="zh-CN" dirty="0" smtClean="0"/>
            <a:t>2D</a:t>
          </a:r>
          <a:r>
            <a:rPr lang="zh-CN" altLang="en-US" dirty="0" smtClean="0"/>
            <a:t>生成结构</a:t>
          </a:r>
          <a:endParaRPr lang="zh-CN" altLang="en-US" dirty="0"/>
        </a:p>
      </dgm:t>
    </dgm:pt>
    <dgm:pt modelId="{D16406ED-D61A-4560-A222-0F0A4E3DE776}" type="parTrans" cxnId="{C57FB4A6-647D-440B-93A6-8192D6DC0146}">
      <dgm:prSet/>
      <dgm:spPr/>
      <dgm:t>
        <a:bodyPr/>
        <a:lstStyle/>
        <a:p>
          <a:endParaRPr lang="zh-CN" altLang="en-US"/>
        </a:p>
      </dgm:t>
    </dgm:pt>
    <dgm:pt modelId="{6BF0DD00-AA50-4DEF-89BB-0213DD48C8E3}" type="sibTrans" cxnId="{C57FB4A6-647D-440B-93A6-8192D6DC0146}">
      <dgm:prSet/>
      <dgm:spPr/>
      <dgm:t>
        <a:bodyPr/>
        <a:lstStyle/>
        <a:p>
          <a:endParaRPr lang="zh-CN" altLang="en-US"/>
        </a:p>
      </dgm:t>
    </dgm:pt>
    <dgm:pt modelId="{62F4770E-29BE-4812-9232-E6D4611416DA}">
      <dgm:prSet phldrT="[文本]"/>
      <dgm:spPr/>
      <dgm:t>
        <a:bodyPr/>
        <a:lstStyle/>
        <a:p>
          <a:r>
            <a:rPr lang="zh-CN" altLang="en-US" dirty="0" smtClean="0"/>
            <a:t>查看杂质分布</a:t>
          </a:r>
          <a:endParaRPr lang="zh-CN" altLang="en-US" dirty="0"/>
        </a:p>
      </dgm:t>
    </dgm:pt>
    <dgm:pt modelId="{26829190-1B10-4634-9CBE-31D3574FFD1E}" type="parTrans" cxnId="{1FD8FCD7-D404-4023-9587-D298BBBB1A5A}">
      <dgm:prSet/>
      <dgm:spPr/>
      <dgm:t>
        <a:bodyPr/>
        <a:lstStyle/>
        <a:p>
          <a:endParaRPr lang="zh-CN" altLang="en-US"/>
        </a:p>
      </dgm:t>
    </dgm:pt>
    <dgm:pt modelId="{304F30A9-C244-47C5-B0F0-30A5F6DA268D}" type="sibTrans" cxnId="{1FD8FCD7-D404-4023-9587-D298BBBB1A5A}">
      <dgm:prSet/>
      <dgm:spPr/>
      <dgm:t>
        <a:bodyPr/>
        <a:lstStyle/>
        <a:p>
          <a:endParaRPr lang="zh-CN" altLang="en-US"/>
        </a:p>
      </dgm:t>
    </dgm:pt>
    <dgm:pt modelId="{993A4137-981D-466B-8FEE-A64C6A921E8C}">
      <dgm:prSet phldrT="[文本]"/>
      <dgm:spPr/>
      <dgm:t>
        <a:bodyPr/>
        <a:lstStyle/>
        <a:p>
          <a:r>
            <a:rPr lang="zh-CN" altLang="en-US" dirty="0" smtClean="0"/>
            <a:t>指定初始晶体的尺寸、特性、初始掺杂</a:t>
          </a:r>
          <a:endParaRPr lang="zh-CN" altLang="en-US" dirty="0"/>
        </a:p>
      </dgm:t>
    </dgm:pt>
    <dgm:pt modelId="{948B68F8-81DB-4A9E-84AB-F1C29BA5230F}" type="parTrans" cxnId="{46DF915E-A555-4AE1-8825-7C6FA9868EDF}">
      <dgm:prSet/>
      <dgm:spPr/>
      <dgm:t>
        <a:bodyPr/>
        <a:lstStyle/>
        <a:p>
          <a:endParaRPr lang="zh-CN" altLang="en-US"/>
        </a:p>
      </dgm:t>
    </dgm:pt>
    <dgm:pt modelId="{97DEDA0A-511D-4712-9F1C-4D46821C3E48}" type="sibTrans" cxnId="{46DF915E-A555-4AE1-8825-7C6FA9868EDF}">
      <dgm:prSet/>
      <dgm:spPr/>
      <dgm:t>
        <a:bodyPr/>
        <a:lstStyle/>
        <a:p>
          <a:endParaRPr lang="zh-CN" altLang="en-US"/>
        </a:p>
      </dgm:t>
    </dgm:pt>
    <dgm:pt modelId="{4E38F621-D535-42D4-A7DA-84F63856420E}">
      <dgm:prSet phldrT="[文本]"/>
      <dgm:spPr/>
      <dgm:t>
        <a:bodyPr/>
        <a:lstStyle/>
        <a:p>
          <a:endParaRPr lang="zh-CN" altLang="en-US" dirty="0"/>
        </a:p>
      </dgm:t>
    </dgm:pt>
    <dgm:pt modelId="{EDC93417-0B71-4E5F-BB11-87004EB00DB6}" type="parTrans" cxnId="{9532F41A-1AC9-42E9-BE19-6D0CA3E4BDC9}">
      <dgm:prSet/>
      <dgm:spPr/>
      <dgm:t>
        <a:bodyPr/>
        <a:lstStyle/>
        <a:p>
          <a:endParaRPr lang="zh-CN" altLang="en-US"/>
        </a:p>
      </dgm:t>
    </dgm:pt>
    <dgm:pt modelId="{C6F651F9-CA39-41B7-AF9C-0239D516C232}" type="sibTrans" cxnId="{9532F41A-1AC9-42E9-BE19-6D0CA3E4BDC9}">
      <dgm:prSet/>
      <dgm:spPr/>
      <dgm:t>
        <a:bodyPr/>
        <a:lstStyle/>
        <a:p>
          <a:endParaRPr lang="zh-CN" altLang="en-US"/>
        </a:p>
      </dgm:t>
    </dgm:pt>
    <dgm:pt modelId="{9C551E0D-4A1F-45C4-9691-4B687BF8DC89}">
      <dgm:prSet/>
      <dgm:spPr/>
      <dgm:t>
        <a:bodyPr/>
        <a:lstStyle/>
        <a:p>
          <a:r>
            <a:rPr lang="zh-CN" altLang="en-US" dirty="0" smtClean="0"/>
            <a:t>电学分析</a:t>
          </a:r>
          <a:endParaRPr lang="zh-CN" altLang="en-US" dirty="0"/>
        </a:p>
      </dgm:t>
    </dgm:pt>
    <dgm:pt modelId="{CE904174-8F56-4B54-929A-6A96E2CE1044}" type="parTrans" cxnId="{A2619803-42AB-4BAD-A7A9-E6EA8F538C72}">
      <dgm:prSet/>
      <dgm:spPr/>
      <dgm:t>
        <a:bodyPr/>
        <a:lstStyle/>
        <a:p>
          <a:endParaRPr lang="zh-CN" altLang="en-US"/>
        </a:p>
      </dgm:t>
    </dgm:pt>
    <dgm:pt modelId="{96F368BA-E98B-473D-A106-9C5C9BB09638}" type="sibTrans" cxnId="{A2619803-42AB-4BAD-A7A9-E6EA8F538C72}">
      <dgm:prSet/>
      <dgm:spPr/>
      <dgm:t>
        <a:bodyPr/>
        <a:lstStyle/>
        <a:p>
          <a:endParaRPr lang="zh-CN" altLang="en-US"/>
        </a:p>
      </dgm:t>
    </dgm:pt>
    <dgm:pt modelId="{E384C434-6E21-4438-B6B8-FA0EFD880143}">
      <dgm:prSet/>
      <dgm:spPr/>
      <dgm:t>
        <a:bodyPr/>
        <a:lstStyle/>
        <a:p>
          <a:r>
            <a:rPr lang="zh-CN" altLang="en-US" dirty="0" smtClean="0"/>
            <a:t>电学特性曲线（</a:t>
          </a:r>
          <a:r>
            <a:rPr lang="en-US" altLang="zh-CN" dirty="0" smtClean="0"/>
            <a:t>Ids/</a:t>
          </a:r>
          <a:r>
            <a:rPr lang="en-US" altLang="zh-CN" dirty="0" err="1" smtClean="0"/>
            <a:t>Vgs</a:t>
          </a:r>
          <a:r>
            <a:rPr lang="en-US" altLang="zh-CN" dirty="0" smtClean="0"/>
            <a:t>/</a:t>
          </a:r>
          <a:r>
            <a:rPr lang="en-US" altLang="zh-CN" dirty="0" err="1" smtClean="0"/>
            <a:t>Vds</a:t>
          </a:r>
          <a:r>
            <a:rPr lang="en-US" altLang="zh-CN" dirty="0" smtClean="0"/>
            <a:t>/</a:t>
          </a:r>
          <a:r>
            <a:rPr lang="en-US" altLang="zh-CN" dirty="0" err="1" smtClean="0"/>
            <a:t>Vbs</a:t>
          </a:r>
          <a:r>
            <a:rPr lang="zh-CN" altLang="en-US" dirty="0" smtClean="0"/>
            <a:t>）</a:t>
          </a:r>
          <a:endParaRPr lang="zh-CN" altLang="en-US" dirty="0"/>
        </a:p>
      </dgm:t>
    </dgm:pt>
    <dgm:pt modelId="{8D8A0824-362E-433F-8474-152C2CC2EC33}" type="parTrans" cxnId="{B308C992-3F8F-474B-B2D0-DC0A06E7DC7E}">
      <dgm:prSet/>
      <dgm:spPr/>
    </dgm:pt>
    <dgm:pt modelId="{C56B9745-DCCB-4F59-99FB-4F0DA7A67118}" type="sibTrans" cxnId="{B308C992-3F8F-474B-B2D0-DC0A06E7DC7E}">
      <dgm:prSet/>
      <dgm:spPr/>
    </dgm:pt>
    <dgm:pt modelId="{C4578AE0-5D36-4FB1-BC45-07B4157F13AE}">
      <dgm:prSet/>
      <dgm:spPr/>
      <dgm:t>
        <a:bodyPr/>
        <a:lstStyle/>
        <a:p>
          <a:r>
            <a:rPr lang="zh-CN" altLang="en-US" dirty="0" smtClean="0"/>
            <a:t>电子迁移率</a:t>
          </a:r>
          <a:endParaRPr lang="zh-CN" altLang="en-US" dirty="0"/>
        </a:p>
      </dgm:t>
    </dgm:pt>
    <dgm:pt modelId="{3D46C51E-2E6D-47D8-B17E-19D555B0CD00}" type="parTrans" cxnId="{19AF6EF2-A876-4DDE-AC9F-FB2487A7EEEF}">
      <dgm:prSet/>
      <dgm:spPr/>
    </dgm:pt>
    <dgm:pt modelId="{950B611D-BE71-45D5-8293-BC3EA2BAC5A4}" type="sibTrans" cxnId="{19AF6EF2-A876-4DDE-AC9F-FB2487A7EEEF}">
      <dgm:prSet/>
      <dgm:spPr/>
    </dgm:pt>
    <dgm:pt modelId="{B42CA788-2949-4283-8006-43F6BF1FB201}" type="pres">
      <dgm:prSet presAssocID="{42C2870E-B326-4612-8456-F0B7854E8F1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9678DC4-22E3-4ABF-BAE9-601EB193511E}" type="pres">
      <dgm:prSet presAssocID="{98ED41F5-65C2-41AD-84C2-0475C4F95220}" presName="composite" presStyleCnt="0"/>
      <dgm:spPr/>
    </dgm:pt>
    <dgm:pt modelId="{3FA81514-5518-41E9-9F09-C7F3D8CBA898}" type="pres">
      <dgm:prSet presAssocID="{98ED41F5-65C2-41AD-84C2-0475C4F95220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0692608-3DF2-4896-9061-FF527266C617}" type="pres">
      <dgm:prSet presAssocID="{98ED41F5-65C2-41AD-84C2-0475C4F95220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6DDC79-2605-49EC-AEBE-3026F47E706B}" type="pres">
      <dgm:prSet presAssocID="{5976C69D-255F-4498-9A3F-1B945C9BEE0A}" presName="sp" presStyleCnt="0"/>
      <dgm:spPr/>
    </dgm:pt>
    <dgm:pt modelId="{F90884FF-DF63-4975-8A66-28FF4A1EC16B}" type="pres">
      <dgm:prSet presAssocID="{6A34FCD5-23D9-484C-9CDB-1F91FF168744}" presName="composite" presStyleCnt="0"/>
      <dgm:spPr/>
    </dgm:pt>
    <dgm:pt modelId="{88B2EF24-29E0-4C28-8845-5AC0FC64120B}" type="pres">
      <dgm:prSet presAssocID="{6A34FCD5-23D9-484C-9CDB-1F91FF168744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1AB439-07FF-4A38-9204-478FB6E6A838}" type="pres">
      <dgm:prSet presAssocID="{6A34FCD5-23D9-484C-9CDB-1F91FF168744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927F6BE-1247-41E9-A983-6D25B22F6235}" type="pres">
      <dgm:prSet presAssocID="{049943A0-E113-4E66-9CC5-B70AFB23C2A3}" presName="sp" presStyleCnt="0"/>
      <dgm:spPr/>
    </dgm:pt>
    <dgm:pt modelId="{CC7F8865-4BC1-4A01-8627-03B445281248}" type="pres">
      <dgm:prSet presAssocID="{132EAAD8-AABB-442F-8D54-F4196BB88DC6}" presName="composite" presStyleCnt="0"/>
      <dgm:spPr/>
    </dgm:pt>
    <dgm:pt modelId="{56B621B0-94AA-4939-956B-6AEEEEBC336D}" type="pres">
      <dgm:prSet presAssocID="{132EAAD8-AABB-442F-8D54-F4196BB88DC6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6E267B-B585-403B-8200-C82787B83183}" type="pres">
      <dgm:prSet presAssocID="{132EAAD8-AABB-442F-8D54-F4196BB88DC6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70E1FC0-6A42-4522-916D-14648B0D2FD5}" type="pres">
      <dgm:prSet presAssocID="{9CBEEE6A-68F8-412E-BF6A-DFD946638E67}" presName="sp" presStyleCnt="0"/>
      <dgm:spPr/>
    </dgm:pt>
    <dgm:pt modelId="{E75C45EC-3EA8-412C-93AA-D82B223FD448}" type="pres">
      <dgm:prSet presAssocID="{9C551E0D-4A1F-45C4-9691-4B687BF8DC89}" presName="composite" presStyleCnt="0"/>
      <dgm:spPr/>
    </dgm:pt>
    <dgm:pt modelId="{E76956B1-237D-486E-9F92-9555E74F16F7}" type="pres">
      <dgm:prSet presAssocID="{9C551E0D-4A1F-45C4-9691-4B687BF8DC89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BB0ECA9-A5C2-4084-A0DF-43E30728F1F4}" type="pres">
      <dgm:prSet presAssocID="{9C551E0D-4A1F-45C4-9691-4B687BF8DC89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9AF6EF2-A876-4DDE-AC9F-FB2487A7EEEF}" srcId="{9C551E0D-4A1F-45C4-9691-4B687BF8DC89}" destId="{C4578AE0-5D36-4FB1-BC45-07B4157F13AE}" srcOrd="1" destOrd="0" parTransId="{3D46C51E-2E6D-47D8-B17E-19D555B0CD00}" sibTransId="{950B611D-BE71-45D5-8293-BC3EA2BAC5A4}"/>
    <dgm:cxn modelId="{904A6BAD-3C6A-49D9-A651-1251239FB517}" type="presOf" srcId="{C4578AE0-5D36-4FB1-BC45-07B4157F13AE}" destId="{FBB0ECA9-A5C2-4084-A0DF-43E30728F1F4}" srcOrd="0" destOrd="1" presId="urn:microsoft.com/office/officeart/2005/8/layout/chevron2"/>
    <dgm:cxn modelId="{8C735B76-C027-40C1-85B2-9336E8D01231}" srcId="{98ED41F5-65C2-41AD-84C2-0475C4F95220}" destId="{F9661ABF-7202-47F7-B897-6D208FC6BD7A}" srcOrd="1" destOrd="0" parTransId="{B1FD7186-396D-4794-92A5-40888658E831}" sibTransId="{893AE62E-5C32-4696-AE5F-72B2DEA00652}"/>
    <dgm:cxn modelId="{46DF915E-A555-4AE1-8825-7C6FA9868EDF}" srcId="{98ED41F5-65C2-41AD-84C2-0475C4F95220}" destId="{993A4137-981D-466B-8FEE-A64C6A921E8C}" srcOrd="0" destOrd="0" parTransId="{948B68F8-81DB-4A9E-84AB-F1C29BA5230F}" sibTransId="{97DEDA0A-511D-4712-9F1C-4D46821C3E48}"/>
    <dgm:cxn modelId="{9532F41A-1AC9-42E9-BE19-6D0CA3E4BDC9}" srcId="{6A34FCD5-23D9-484C-9CDB-1F91FF168744}" destId="{4E38F621-D535-42D4-A7DA-84F63856420E}" srcOrd="1" destOrd="0" parTransId="{EDC93417-0B71-4E5F-BB11-87004EB00DB6}" sibTransId="{C6F651F9-CA39-41B7-AF9C-0239D516C232}"/>
    <dgm:cxn modelId="{2585A53B-4E68-46A0-BBA5-F3B8BD115C2D}" type="presOf" srcId="{132EAAD8-AABB-442F-8D54-F4196BB88DC6}" destId="{56B621B0-94AA-4939-956B-6AEEEEBC336D}" srcOrd="0" destOrd="0" presId="urn:microsoft.com/office/officeart/2005/8/layout/chevron2"/>
    <dgm:cxn modelId="{617FE5BB-75C8-4926-B647-EA85E53CF816}" srcId="{42C2870E-B326-4612-8456-F0B7854E8F1A}" destId="{6A34FCD5-23D9-484C-9CDB-1F91FF168744}" srcOrd="1" destOrd="0" parTransId="{B4AED183-C86B-4765-9666-B7EF68143141}" sibTransId="{049943A0-E113-4E66-9CC5-B70AFB23C2A3}"/>
    <dgm:cxn modelId="{A93BF5FA-8761-4841-AB2B-84F7DB69E983}" type="presOf" srcId="{4E38F621-D535-42D4-A7DA-84F63856420E}" destId="{3E1AB439-07FF-4A38-9204-478FB6E6A838}" srcOrd="0" destOrd="1" presId="urn:microsoft.com/office/officeart/2005/8/layout/chevron2"/>
    <dgm:cxn modelId="{B308C992-3F8F-474B-B2D0-DC0A06E7DC7E}" srcId="{9C551E0D-4A1F-45C4-9691-4B687BF8DC89}" destId="{E384C434-6E21-4438-B6B8-FA0EFD880143}" srcOrd="0" destOrd="0" parTransId="{8D8A0824-362E-433F-8474-152C2CC2EC33}" sibTransId="{C56B9745-DCCB-4F59-99FB-4F0DA7A67118}"/>
    <dgm:cxn modelId="{2821172A-F7C6-49CA-8D51-54E0F096C32E}" type="presOf" srcId="{993A4137-981D-466B-8FEE-A64C6A921E8C}" destId="{F0692608-3DF2-4896-9061-FF527266C617}" srcOrd="0" destOrd="0" presId="urn:microsoft.com/office/officeart/2005/8/layout/chevron2"/>
    <dgm:cxn modelId="{801AA59C-3641-44A3-AC9E-1F41591954E3}" type="presOf" srcId="{6A34FCD5-23D9-484C-9CDB-1F91FF168744}" destId="{88B2EF24-29E0-4C28-8845-5AC0FC64120B}" srcOrd="0" destOrd="0" presId="urn:microsoft.com/office/officeart/2005/8/layout/chevron2"/>
    <dgm:cxn modelId="{2912EA68-0338-4DEE-96C0-1017382EFFF9}" srcId="{6A34FCD5-23D9-484C-9CDB-1F91FF168744}" destId="{E8D2F831-B11A-4E98-8D39-0E860ED85CA8}" srcOrd="0" destOrd="0" parTransId="{6B93ED0B-0E27-4905-9E5F-4CB731A11BCD}" sibTransId="{F5CF33DD-0614-4FD2-9965-F85DD7ECEE28}"/>
    <dgm:cxn modelId="{A8574DE6-9434-4B66-A592-73EC3A32770A}" type="presOf" srcId="{98ED41F5-65C2-41AD-84C2-0475C4F95220}" destId="{3FA81514-5518-41E9-9F09-C7F3D8CBA898}" srcOrd="0" destOrd="0" presId="urn:microsoft.com/office/officeart/2005/8/layout/chevron2"/>
    <dgm:cxn modelId="{1FD8FCD7-D404-4023-9587-D298BBBB1A5A}" srcId="{132EAAD8-AABB-442F-8D54-F4196BB88DC6}" destId="{62F4770E-29BE-4812-9232-E6D4611416DA}" srcOrd="1" destOrd="0" parTransId="{26829190-1B10-4634-9CBE-31D3574FFD1E}" sibTransId="{304F30A9-C244-47C5-B0F0-30A5F6DA268D}"/>
    <dgm:cxn modelId="{D1B455CB-9A5C-4E0C-85EB-1C9A3A7B0656}" type="presOf" srcId="{E8D2F831-B11A-4E98-8D39-0E860ED85CA8}" destId="{3E1AB439-07FF-4A38-9204-478FB6E6A838}" srcOrd="0" destOrd="0" presId="urn:microsoft.com/office/officeart/2005/8/layout/chevron2"/>
    <dgm:cxn modelId="{4F91E037-2F42-4C14-B229-8015CB1A74D8}" type="presOf" srcId="{62F4770E-29BE-4812-9232-E6D4611416DA}" destId="{376E267B-B585-403B-8200-C82787B83183}" srcOrd="0" destOrd="1" presId="urn:microsoft.com/office/officeart/2005/8/layout/chevron2"/>
    <dgm:cxn modelId="{C57FB4A6-647D-440B-93A6-8192D6DC0146}" srcId="{132EAAD8-AABB-442F-8D54-F4196BB88DC6}" destId="{377BC553-A5EA-4FBC-830C-E4B404785F5E}" srcOrd="0" destOrd="0" parTransId="{D16406ED-D61A-4560-A222-0F0A4E3DE776}" sibTransId="{6BF0DD00-AA50-4DEF-89BB-0213DD48C8E3}"/>
    <dgm:cxn modelId="{72EE3BC1-75E1-404C-8B30-BE5848015073}" type="presOf" srcId="{377BC553-A5EA-4FBC-830C-E4B404785F5E}" destId="{376E267B-B585-403B-8200-C82787B83183}" srcOrd="0" destOrd="0" presId="urn:microsoft.com/office/officeart/2005/8/layout/chevron2"/>
    <dgm:cxn modelId="{22F4A806-BF4D-444D-A2E0-C8CD06405AED}" type="presOf" srcId="{E384C434-6E21-4438-B6B8-FA0EFD880143}" destId="{FBB0ECA9-A5C2-4084-A0DF-43E30728F1F4}" srcOrd="0" destOrd="0" presId="urn:microsoft.com/office/officeart/2005/8/layout/chevron2"/>
    <dgm:cxn modelId="{D9C84446-3966-4CDB-AFDB-8293D67BC169}" srcId="{42C2870E-B326-4612-8456-F0B7854E8F1A}" destId="{98ED41F5-65C2-41AD-84C2-0475C4F95220}" srcOrd="0" destOrd="0" parTransId="{47C7600C-2B36-427D-91A9-BC382E6D78D8}" sibTransId="{5976C69D-255F-4498-9A3F-1B945C9BEE0A}"/>
    <dgm:cxn modelId="{0D2CC3DD-F3E0-4035-A855-56CEFE1E2019}" type="presOf" srcId="{F9661ABF-7202-47F7-B897-6D208FC6BD7A}" destId="{F0692608-3DF2-4896-9061-FF527266C617}" srcOrd="0" destOrd="1" presId="urn:microsoft.com/office/officeart/2005/8/layout/chevron2"/>
    <dgm:cxn modelId="{8740ED55-E80A-4361-A8E8-139F830C4F62}" type="presOf" srcId="{9C551E0D-4A1F-45C4-9691-4B687BF8DC89}" destId="{E76956B1-237D-486E-9F92-9555E74F16F7}" srcOrd="0" destOrd="0" presId="urn:microsoft.com/office/officeart/2005/8/layout/chevron2"/>
    <dgm:cxn modelId="{E263F0A4-3D94-42F7-9F4A-B210ED8B6745}" type="presOf" srcId="{42C2870E-B326-4612-8456-F0B7854E8F1A}" destId="{B42CA788-2949-4283-8006-43F6BF1FB201}" srcOrd="0" destOrd="0" presId="urn:microsoft.com/office/officeart/2005/8/layout/chevron2"/>
    <dgm:cxn modelId="{A2619803-42AB-4BAD-A7A9-E6EA8F538C72}" srcId="{42C2870E-B326-4612-8456-F0B7854E8F1A}" destId="{9C551E0D-4A1F-45C4-9691-4B687BF8DC89}" srcOrd="3" destOrd="0" parTransId="{CE904174-8F56-4B54-929A-6A96E2CE1044}" sibTransId="{96F368BA-E98B-473D-A106-9C5C9BB09638}"/>
    <dgm:cxn modelId="{A5EA3AEE-D87A-47B0-9659-A2DC59C9DF1A}" srcId="{42C2870E-B326-4612-8456-F0B7854E8F1A}" destId="{132EAAD8-AABB-442F-8D54-F4196BB88DC6}" srcOrd="2" destOrd="0" parTransId="{FC6881DB-5F05-4987-8C07-E6BFE5A88F67}" sibTransId="{9CBEEE6A-68F8-412E-BF6A-DFD946638E67}"/>
    <dgm:cxn modelId="{882900DA-7600-4B00-9CE6-D556CFF5629F}" type="presParOf" srcId="{B42CA788-2949-4283-8006-43F6BF1FB201}" destId="{79678DC4-22E3-4ABF-BAE9-601EB193511E}" srcOrd="0" destOrd="0" presId="urn:microsoft.com/office/officeart/2005/8/layout/chevron2"/>
    <dgm:cxn modelId="{AD0AACB4-5395-4A0B-B129-AE7E6CC0AEAE}" type="presParOf" srcId="{79678DC4-22E3-4ABF-BAE9-601EB193511E}" destId="{3FA81514-5518-41E9-9F09-C7F3D8CBA898}" srcOrd="0" destOrd="0" presId="urn:microsoft.com/office/officeart/2005/8/layout/chevron2"/>
    <dgm:cxn modelId="{8B24EAB0-0F52-42ED-9D2B-02B3C5F6C0DB}" type="presParOf" srcId="{79678DC4-22E3-4ABF-BAE9-601EB193511E}" destId="{F0692608-3DF2-4896-9061-FF527266C617}" srcOrd="1" destOrd="0" presId="urn:microsoft.com/office/officeart/2005/8/layout/chevron2"/>
    <dgm:cxn modelId="{4C825ACB-5324-455F-A570-4665440BFBAA}" type="presParOf" srcId="{B42CA788-2949-4283-8006-43F6BF1FB201}" destId="{B16DDC79-2605-49EC-AEBE-3026F47E706B}" srcOrd="1" destOrd="0" presId="urn:microsoft.com/office/officeart/2005/8/layout/chevron2"/>
    <dgm:cxn modelId="{878C9C9F-048A-4DBB-9178-F8F57784EA4F}" type="presParOf" srcId="{B42CA788-2949-4283-8006-43F6BF1FB201}" destId="{F90884FF-DF63-4975-8A66-28FF4A1EC16B}" srcOrd="2" destOrd="0" presId="urn:microsoft.com/office/officeart/2005/8/layout/chevron2"/>
    <dgm:cxn modelId="{98393529-35DA-4792-B1A3-87D4AF40CC53}" type="presParOf" srcId="{F90884FF-DF63-4975-8A66-28FF4A1EC16B}" destId="{88B2EF24-29E0-4C28-8845-5AC0FC64120B}" srcOrd="0" destOrd="0" presId="urn:microsoft.com/office/officeart/2005/8/layout/chevron2"/>
    <dgm:cxn modelId="{EA442068-A775-46D8-86FD-45FE0E5BBDE5}" type="presParOf" srcId="{F90884FF-DF63-4975-8A66-28FF4A1EC16B}" destId="{3E1AB439-07FF-4A38-9204-478FB6E6A838}" srcOrd="1" destOrd="0" presId="urn:microsoft.com/office/officeart/2005/8/layout/chevron2"/>
    <dgm:cxn modelId="{2998D164-B4A4-433C-B998-AAE5690F4DFB}" type="presParOf" srcId="{B42CA788-2949-4283-8006-43F6BF1FB201}" destId="{5927F6BE-1247-41E9-A983-6D25B22F6235}" srcOrd="3" destOrd="0" presId="urn:microsoft.com/office/officeart/2005/8/layout/chevron2"/>
    <dgm:cxn modelId="{7B821049-A999-4233-8FB7-8C8FEC3CE0B8}" type="presParOf" srcId="{B42CA788-2949-4283-8006-43F6BF1FB201}" destId="{CC7F8865-4BC1-4A01-8627-03B445281248}" srcOrd="4" destOrd="0" presId="urn:microsoft.com/office/officeart/2005/8/layout/chevron2"/>
    <dgm:cxn modelId="{DA00BCC6-B587-4816-B292-54416210BB3F}" type="presParOf" srcId="{CC7F8865-4BC1-4A01-8627-03B445281248}" destId="{56B621B0-94AA-4939-956B-6AEEEEBC336D}" srcOrd="0" destOrd="0" presId="urn:microsoft.com/office/officeart/2005/8/layout/chevron2"/>
    <dgm:cxn modelId="{E6682F5D-01E4-4F50-8645-735FCDA545E4}" type="presParOf" srcId="{CC7F8865-4BC1-4A01-8627-03B445281248}" destId="{376E267B-B585-403B-8200-C82787B83183}" srcOrd="1" destOrd="0" presId="urn:microsoft.com/office/officeart/2005/8/layout/chevron2"/>
    <dgm:cxn modelId="{DF80F7A1-0522-4C38-957A-19857CAACA9B}" type="presParOf" srcId="{B42CA788-2949-4283-8006-43F6BF1FB201}" destId="{470E1FC0-6A42-4522-916D-14648B0D2FD5}" srcOrd="5" destOrd="0" presId="urn:microsoft.com/office/officeart/2005/8/layout/chevron2"/>
    <dgm:cxn modelId="{8AD2B73F-ACEB-45C9-844C-501B0F227A4D}" type="presParOf" srcId="{B42CA788-2949-4283-8006-43F6BF1FB201}" destId="{E75C45EC-3EA8-412C-93AA-D82B223FD448}" srcOrd="6" destOrd="0" presId="urn:microsoft.com/office/officeart/2005/8/layout/chevron2"/>
    <dgm:cxn modelId="{7A30B821-80EF-42FB-9B67-018E02FE71D8}" type="presParOf" srcId="{E75C45EC-3EA8-412C-93AA-D82B223FD448}" destId="{E76956B1-237D-486E-9F92-9555E74F16F7}" srcOrd="0" destOrd="0" presId="urn:microsoft.com/office/officeart/2005/8/layout/chevron2"/>
    <dgm:cxn modelId="{CD3884DA-AACE-4418-BCD8-CE7033D6B767}" type="presParOf" srcId="{E75C45EC-3EA8-412C-93AA-D82B223FD448}" destId="{FBB0ECA9-A5C2-4084-A0DF-43E30728F1F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81514-5518-41E9-9F09-C7F3D8CBA898}">
      <dsp:nvSpPr>
        <dsp:cNvPr id="0" name=""/>
        <dsp:cNvSpPr/>
      </dsp:nvSpPr>
      <dsp:spPr>
        <a:xfrm rot="5400000">
          <a:off x="-190454" y="192504"/>
          <a:ext cx="1269698" cy="88878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初始化</a:t>
          </a:r>
          <a:endParaRPr lang="zh-CN" altLang="en-US" sz="1700" kern="1200" dirty="0"/>
        </a:p>
      </dsp:txBody>
      <dsp:txXfrm rot="-5400000">
        <a:off x="1" y="446445"/>
        <a:ext cx="888789" cy="380909"/>
      </dsp:txXfrm>
    </dsp:sp>
    <dsp:sp modelId="{F0692608-3DF2-4896-9061-FF527266C617}">
      <dsp:nvSpPr>
        <dsp:cNvPr id="0" name=""/>
        <dsp:cNvSpPr/>
      </dsp:nvSpPr>
      <dsp:spPr>
        <a:xfrm rot="5400000">
          <a:off x="3889394" y="-2998555"/>
          <a:ext cx="825304" cy="68265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指定初始晶体的尺寸、特性、初始掺杂</a:t>
          </a:r>
          <a:endParaRPr lang="zh-CN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相当于从晶圆厂获取晶圆</a:t>
          </a:r>
          <a:endParaRPr lang="zh-CN" altLang="en-US" sz="2200" kern="1200" dirty="0"/>
        </a:p>
      </dsp:txBody>
      <dsp:txXfrm rot="-5400000">
        <a:off x="888789" y="42338"/>
        <a:ext cx="6786226" cy="744728"/>
      </dsp:txXfrm>
    </dsp:sp>
    <dsp:sp modelId="{88B2EF24-29E0-4C28-8845-5AC0FC64120B}">
      <dsp:nvSpPr>
        <dsp:cNvPr id="0" name=""/>
        <dsp:cNvSpPr/>
      </dsp:nvSpPr>
      <dsp:spPr>
        <a:xfrm rot="5400000">
          <a:off x="-190454" y="1315728"/>
          <a:ext cx="1269698" cy="888789"/>
        </a:xfrm>
        <a:prstGeom prst="chevron">
          <a:avLst/>
        </a:prstGeom>
        <a:gradFill rotWithShape="0">
          <a:gsLst>
            <a:gs pos="0">
              <a:schemeClr val="accent5">
                <a:hueOff val="-3397397"/>
                <a:satOff val="16959"/>
                <a:lumOff val="-10784"/>
                <a:alphaOff val="0"/>
                <a:shade val="51000"/>
                <a:satMod val="130000"/>
              </a:schemeClr>
            </a:gs>
            <a:gs pos="80000">
              <a:schemeClr val="accent5">
                <a:hueOff val="-3397397"/>
                <a:satOff val="16959"/>
                <a:lumOff val="-10784"/>
                <a:alphaOff val="0"/>
                <a:shade val="93000"/>
                <a:satMod val="130000"/>
              </a:schemeClr>
            </a:gs>
            <a:gs pos="100000">
              <a:schemeClr val="accent5">
                <a:hueOff val="-3397397"/>
                <a:satOff val="16959"/>
                <a:lumOff val="-10784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97397"/>
              <a:satOff val="16959"/>
              <a:lumOff val="-1078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工艺操作</a:t>
          </a:r>
          <a:endParaRPr lang="zh-CN" altLang="en-US" sz="1700" kern="1200" dirty="0"/>
        </a:p>
      </dsp:txBody>
      <dsp:txXfrm rot="-5400000">
        <a:off x="1" y="1569669"/>
        <a:ext cx="888789" cy="380909"/>
      </dsp:txXfrm>
    </dsp:sp>
    <dsp:sp modelId="{3E1AB439-07FF-4A38-9204-478FB6E6A838}">
      <dsp:nvSpPr>
        <dsp:cNvPr id="0" name=""/>
        <dsp:cNvSpPr/>
      </dsp:nvSpPr>
      <dsp:spPr>
        <a:xfrm rot="5400000">
          <a:off x="3889394" y="-1875331"/>
          <a:ext cx="825304" cy="68265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97397"/>
              <a:satOff val="16959"/>
              <a:lumOff val="-107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淀积、氧化、扩散、离子注入、刻蚀等等</a:t>
          </a:r>
          <a:endParaRPr lang="zh-CN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200" kern="1200" dirty="0"/>
        </a:p>
      </dsp:txBody>
      <dsp:txXfrm rot="-5400000">
        <a:off x="888789" y="1165562"/>
        <a:ext cx="6786226" cy="744728"/>
      </dsp:txXfrm>
    </dsp:sp>
    <dsp:sp modelId="{56B621B0-94AA-4939-956B-6AEEEEBC336D}">
      <dsp:nvSpPr>
        <dsp:cNvPr id="0" name=""/>
        <dsp:cNvSpPr/>
      </dsp:nvSpPr>
      <dsp:spPr>
        <a:xfrm rot="5400000">
          <a:off x="-190454" y="2438952"/>
          <a:ext cx="1269698" cy="888789"/>
        </a:xfrm>
        <a:prstGeom prst="chevron">
          <a:avLst/>
        </a:prstGeom>
        <a:gradFill rotWithShape="0">
          <a:gsLst>
            <a:gs pos="0">
              <a:schemeClr val="accent5">
                <a:hueOff val="-6794794"/>
                <a:satOff val="33919"/>
                <a:lumOff val="-21569"/>
                <a:alphaOff val="0"/>
                <a:shade val="51000"/>
                <a:satMod val="130000"/>
              </a:schemeClr>
            </a:gs>
            <a:gs pos="80000">
              <a:schemeClr val="accent5">
                <a:hueOff val="-6794794"/>
                <a:satOff val="33919"/>
                <a:lumOff val="-21569"/>
                <a:alphaOff val="0"/>
                <a:shade val="93000"/>
                <a:satMod val="130000"/>
              </a:schemeClr>
            </a:gs>
            <a:gs pos="100000">
              <a:schemeClr val="accent5">
                <a:hueOff val="-6794794"/>
                <a:satOff val="33919"/>
                <a:lumOff val="-2156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794794"/>
              <a:satOff val="33919"/>
              <a:lumOff val="-2156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结构分析</a:t>
          </a:r>
          <a:endParaRPr lang="zh-CN" altLang="en-US" sz="1700" kern="1200" dirty="0"/>
        </a:p>
      </dsp:txBody>
      <dsp:txXfrm rot="-5400000">
        <a:off x="1" y="2692893"/>
        <a:ext cx="888789" cy="380909"/>
      </dsp:txXfrm>
    </dsp:sp>
    <dsp:sp modelId="{376E267B-B585-403B-8200-C82787B83183}">
      <dsp:nvSpPr>
        <dsp:cNvPr id="0" name=""/>
        <dsp:cNvSpPr/>
      </dsp:nvSpPr>
      <dsp:spPr>
        <a:xfrm rot="5400000">
          <a:off x="3889394" y="-752107"/>
          <a:ext cx="825304" cy="68265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794794"/>
              <a:satOff val="33919"/>
              <a:lumOff val="-215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查看</a:t>
          </a:r>
          <a:r>
            <a:rPr lang="en-US" altLang="zh-CN" sz="2200" kern="1200" dirty="0" smtClean="0"/>
            <a:t>2D</a:t>
          </a:r>
          <a:r>
            <a:rPr lang="zh-CN" altLang="en-US" sz="2200" kern="1200" dirty="0" smtClean="0"/>
            <a:t>生成结构</a:t>
          </a:r>
          <a:endParaRPr lang="zh-CN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查看杂质分布</a:t>
          </a:r>
          <a:endParaRPr lang="zh-CN" altLang="en-US" sz="2200" kern="1200" dirty="0"/>
        </a:p>
      </dsp:txBody>
      <dsp:txXfrm rot="-5400000">
        <a:off x="888789" y="2288786"/>
        <a:ext cx="6786226" cy="744728"/>
      </dsp:txXfrm>
    </dsp:sp>
    <dsp:sp modelId="{E76956B1-237D-486E-9F92-9555E74F16F7}">
      <dsp:nvSpPr>
        <dsp:cNvPr id="0" name=""/>
        <dsp:cNvSpPr/>
      </dsp:nvSpPr>
      <dsp:spPr>
        <a:xfrm rot="5400000">
          <a:off x="-190454" y="3562176"/>
          <a:ext cx="1269698" cy="888789"/>
        </a:xfrm>
        <a:prstGeom prst="chevron">
          <a:avLst/>
        </a:prstGeom>
        <a:gradFill rotWithShape="0">
          <a:gsLst>
            <a:gs pos="0">
              <a:schemeClr val="accent5">
                <a:hueOff val="-10192191"/>
                <a:satOff val="50878"/>
                <a:lumOff val="-32353"/>
                <a:alphaOff val="0"/>
                <a:shade val="51000"/>
                <a:satMod val="130000"/>
              </a:schemeClr>
            </a:gs>
            <a:gs pos="80000">
              <a:schemeClr val="accent5">
                <a:hueOff val="-10192191"/>
                <a:satOff val="50878"/>
                <a:lumOff val="-32353"/>
                <a:alphaOff val="0"/>
                <a:shade val="93000"/>
                <a:satMod val="130000"/>
              </a:schemeClr>
            </a:gs>
            <a:gs pos="100000">
              <a:schemeClr val="accent5">
                <a:hueOff val="-10192191"/>
                <a:satOff val="50878"/>
                <a:lumOff val="-3235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0192191"/>
              <a:satOff val="50878"/>
              <a:lumOff val="-3235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电学分析</a:t>
          </a:r>
          <a:endParaRPr lang="zh-CN" altLang="en-US" sz="1700" kern="1200" dirty="0"/>
        </a:p>
      </dsp:txBody>
      <dsp:txXfrm rot="-5400000">
        <a:off x="1" y="3816117"/>
        <a:ext cx="888789" cy="380909"/>
      </dsp:txXfrm>
    </dsp:sp>
    <dsp:sp modelId="{FBB0ECA9-A5C2-4084-A0DF-43E30728F1F4}">
      <dsp:nvSpPr>
        <dsp:cNvPr id="0" name=""/>
        <dsp:cNvSpPr/>
      </dsp:nvSpPr>
      <dsp:spPr>
        <a:xfrm rot="5400000">
          <a:off x="3889394" y="371116"/>
          <a:ext cx="825304" cy="68265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0192191"/>
              <a:satOff val="50878"/>
              <a:lumOff val="-32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电学特性曲线（</a:t>
          </a:r>
          <a:r>
            <a:rPr lang="en-US" altLang="zh-CN" sz="2200" kern="1200" dirty="0" smtClean="0"/>
            <a:t>Ids/</a:t>
          </a:r>
          <a:r>
            <a:rPr lang="en-US" altLang="zh-CN" sz="2200" kern="1200" dirty="0" err="1" smtClean="0"/>
            <a:t>Vgs</a:t>
          </a:r>
          <a:r>
            <a:rPr lang="en-US" altLang="zh-CN" sz="2200" kern="1200" dirty="0" smtClean="0"/>
            <a:t>/</a:t>
          </a:r>
          <a:r>
            <a:rPr lang="en-US" altLang="zh-CN" sz="2200" kern="1200" dirty="0" err="1" smtClean="0"/>
            <a:t>Vds</a:t>
          </a:r>
          <a:r>
            <a:rPr lang="en-US" altLang="zh-CN" sz="2200" kern="1200" dirty="0" smtClean="0"/>
            <a:t>/</a:t>
          </a:r>
          <a:r>
            <a:rPr lang="en-US" altLang="zh-CN" sz="2200" kern="1200" dirty="0" err="1" smtClean="0"/>
            <a:t>Vbs</a:t>
          </a:r>
          <a:r>
            <a:rPr lang="zh-CN" altLang="en-US" sz="2200" kern="1200" dirty="0" smtClean="0"/>
            <a:t>）</a:t>
          </a:r>
          <a:endParaRPr lang="zh-CN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 smtClean="0"/>
            <a:t>电子迁移率</a:t>
          </a:r>
          <a:endParaRPr lang="zh-CN" altLang="en-US" sz="2200" kern="1200" dirty="0"/>
        </a:p>
      </dsp:txBody>
      <dsp:txXfrm rot="-5400000">
        <a:off x="888789" y="3412009"/>
        <a:ext cx="6786226" cy="744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Rectangle 38"/>
          <p:cNvSpPr>
            <a:spLocks noChangeArrowheads="1"/>
          </p:cNvSpPr>
          <p:nvPr/>
        </p:nvSpPr>
        <p:spPr bwMode="white">
          <a:xfrm>
            <a:off x="38100" y="25400"/>
            <a:ext cx="9080500" cy="2924175"/>
          </a:xfrm>
          <a:prstGeom prst="rect">
            <a:avLst/>
          </a:prstGeom>
          <a:solidFill>
            <a:schemeClr val="hlink"/>
          </a:solidFill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228600" y="228600"/>
            <a:ext cx="19859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+mj-ea"/>
                <a:ea typeface="+mj-ea"/>
              </a:rPr>
              <a:t>微纳电子实验</a:t>
            </a:r>
            <a:r>
              <a:rPr lang="en-US" altLang="zh-CN" dirty="0" smtClean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endParaRPr lang="en-US" altLang="ko-KR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101" name="Group 29"/>
          <p:cNvGrpSpPr>
            <a:grpSpLocks/>
          </p:cNvGrpSpPr>
          <p:nvPr/>
        </p:nvGrpSpPr>
        <p:grpSpPr bwMode="auto">
          <a:xfrm>
            <a:off x="-4763" y="0"/>
            <a:ext cx="9148763" cy="6856413"/>
            <a:chOff x="-3" y="0"/>
            <a:chExt cx="5763" cy="4319"/>
          </a:xfrm>
        </p:grpSpPr>
        <p:sp>
          <p:nvSpPr>
            <p:cNvPr id="3095" name="AutoShape 23"/>
            <p:cNvSpPr>
              <a:spLocks noChangeArrowheads="1"/>
            </p:cNvSpPr>
            <p:nvPr userDrawn="1"/>
          </p:nvSpPr>
          <p:spPr bwMode="hidden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6" name="Freeform 24"/>
            <p:cNvSpPr>
              <a:spLocks/>
            </p:cNvSpPr>
            <p:nvPr userDrawn="1"/>
          </p:nvSpPr>
          <p:spPr bwMode="hidden">
            <a:xfrm>
              <a:off x="0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Freeform 25"/>
            <p:cNvSpPr>
              <a:spLocks/>
            </p:cNvSpPr>
            <p:nvPr userDrawn="1"/>
          </p:nvSpPr>
          <p:spPr bwMode="hidden">
            <a:xfrm rot="-5408600">
              <a:off x="-50" y="4030"/>
              <a:ext cx="336" cy="2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Freeform 26"/>
            <p:cNvSpPr>
              <a:spLocks/>
            </p:cNvSpPr>
            <p:nvPr userDrawn="1"/>
          </p:nvSpPr>
          <p:spPr bwMode="hidden">
            <a:xfrm rot="10769190">
              <a:off x="5519" y="4031"/>
              <a:ext cx="232" cy="28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Freeform 27"/>
            <p:cNvSpPr>
              <a:spLocks/>
            </p:cNvSpPr>
            <p:nvPr userDrawn="1"/>
          </p:nvSpPr>
          <p:spPr bwMode="hidden"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042988" y="1773238"/>
            <a:ext cx="7124700" cy="685800"/>
          </a:xfrm>
        </p:spPr>
        <p:txBody>
          <a:bodyPr/>
          <a:lstStyle>
            <a:lvl1pPr algn="ctr">
              <a:defRPr sz="3600" baseline="0">
                <a:latin typeface="Neo Sans Intel" pitchFamily="34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492375"/>
            <a:ext cx="6264275" cy="46196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zh-CN" altLang="en-US" dirty="0" smtClean="0"/>
              <a:t>单击此处编辑母版副标题样式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Neo Sans Intel" pitchFamily="34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Neo Sans Intel" pitchFamily="34" charset="0"/>
              </a:defRPr>
            </a:lvl1pPr>
            <a:lvl2pPr>
              <a:defRPr sz="2400" baseline="0">
                <a:latin typeface="Neo Sans Intel" pitchFamily="34" charset="0"/>
              </a:defRPr>
            </a:lvl2pPr>
            <a:lvl3pPr>
              <a:defRPr sz="2000" baseline="0">
                <a:latin typeface="Neo Sans Intel" pitchFamily="34" charset="0"/>
              </a:defRPr>
            </a:lvl3pPr>
            <a:lvl4pPr>
              <a:defRPr sz="2000" baseline="0">
                <a:latin typeface="Neo Sans Intel" pitchFamily="34" charset="0"/>
              </a:defRPr>
            </a:lvl4pPr>
            <a:lvl5pPr>
              <a:defRPr sz="2000" baseline="0">
                <a:latin typeface="Neo Sans Intel" pitchFamily="34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06B0AA-1577-41BC-B737-E14D32CE6C7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111496-5D39-45E1-AC23-52A1876D718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3838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676400"/>
            <a:ext cx="4033837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1C8F562-0CBF-4CA8-8F0A-735FC23FAFF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B13A50-6335-4278-B6E4-5556704CCAC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67E2D1-9E43-4576-9022-959D073A226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7682A-98E3-4D90-B3C5-52CBEAD624F9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406968-5C07-4D82-83F7-51249F6C43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0EF274-B256-4AFF-9ACC-D0D000E32DF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2DD921-70CE-4FD9-909D-8D8FC5B0798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3050" y="457200"/>
            <a:ext cx="2054225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345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E0C21F-6582-4513-916A-C7DAB1BFF39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24825" cy="6921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676400"/>
            <a:ext cx="8220075" cy="4724400"/>
          </a:xfrm>
        </p:spPr>
        <p:txBody>
          <a:bodyPr/>
          <a:lstStyle/>
          <a:p>
            <a:r>
              <a:rPr lang="zh-CN" altLang="en-US" smtClean="0"/>
              <a:t>单击图标添加图表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6781800" y="0"/>
            <a:ext cx="2057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4189413" y="6524625"/>
            <a:ext cx="765175" cy="333375"/>
          </a:xfrm>
        </p:spPr>
        <p:txBody>
          <a:bodyPr/>
          <a:lstStyle>
            <a:lvl1pPr>
              <a:defRPr/>
            </a:lvl1pPr>
          </a:lstStyle>
          <a:p>
            <a:fld id="{C0BD1B33-6CEB-4FD8-941B-C7E673035CC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Picture 17" descr="business_pag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307975"/>
            <a:ext cx="9144000" cy="1079500"/>
          </a:xfrm>
          <a:prstGeom prst="rect">
            <a:avLst/>
          </a:prstGeom>
          <a:noFill/>
        </p:spPr>
      </p:pic>
      <p:sp>
        <p:nvSpPr>
          <p:cNvPr id="1033" name="Rectangle 9"/>
          <p:cNvSpPr>
            <a:spLocks noChangeArrowheads="1"/>
          </p:cNvSpPr>
          <p:nvPr/>
        </p:nvSpPr>
        <p:spPr bwMode="black">
          <a:xfrm>
            <a:off x="0" y="0"/>
            <a:ext cx="9144000" cy="2413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457200"/>
            <a:ext cx="8124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00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6781800" y="0"/>
            <a:ext cx="2057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89413" y="6524625"/>
            <a:ext cx="7651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</a:defRPr>
            </a:lvl1pPr>
          </a:lstStyle>
          <a:p>
            <a:fld id="{55649441-5046-4B00-9FDD-A505171D3C8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7046913" y="6477000"/>
            <a:ext cx="18684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400" b="1" dirty="0" smtClean="0">
                <a:latin typeface="华文细黑" pitchFamily="2" charset="-122"/>
                <a:ea typeface="华文细黑" pitchFamily="2" charset="-122"/>
              </a:rPr>
              <a:t>微纳电子实验</a:t>
            </a:r>
            <a:r>
              <a:rPr lang="en-US" altLang="zh-CN" sz="1400" b="1" dirty="0" smtClean="0">
                <a:latin typeface="Arial" pitchFamily="34" charset="0"/>
                <a:ea typeface="华文细黑" pitchFamily="2" charset="-122"/>
                <a:cs typeface="Arial" pitchFamily="34" charset="0"/>
              </a:rPr>
              <a:t>A</a:t>
            </a:r>
            <a:endParaRPr lang="en-US" altLang="ko-KR" sz="1400" b="1" dirty="0">
              <a:latin typeface="Arial" pitchFamily="34" charset="0"/>
              <a:ea typeface="华文细黑" pitchFamily="2" charset="-122"/>
              <a:cs typeface="Arial" pitchFamily="34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gray">
          <a:xfrm>
            <a:off x="0" y="1447800"/>
            <a:ext cx="9144000" cy="1524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 baseline="0">
          <a:solidFill>
            <a:schemeClr val="bg1"/>
          </a:solidFill>
          <a:latin typeface="Calibri" pitchFamily="34" charset="0"/>
          <a:ea typeface="微软雅黑" pitchFamily="34" charset="-122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3200" baseline="0">
          <a:solidFill>
            <a:schemeClr val="hlink"/>
          </a:solidFill>
          <a:latin typeface="Calibri" pitchFamily="34" charset="0"/>
          <a:ea typeface="微软雅黑" pitchFamily="34" charset="-122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2"/>
          </a:solidFill>
          <a:latin typeface="Calibri" pitchFamily="34" charset="0"/>
          <a:ea typeface="微软雅黑" pitchFamily="34" charset="-122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 baseline="0">
          <a:solidFill>
            <a:schemeClr val="hlink"/>
          </a:solidFill>
          <a:latin typeface="Calibri" pitchFamily="34" charset="0"/>
          <a:ea typeface="微软雅黑" pitchFamily="34" charset="-122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2"/>
          </a:solidFill>
          <a:latin typeface="Calibri" pitchFamily="34" charset="0"/>
          <a:ea typeface="微软雅黑" pitchFamily="34" charset="-122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 baseline="0">
          <a:solidFill>
            <a:schemeClr val="hlink"/>
          </a:solidFill>
          <a:latin typeface="Calibri" pitchFamily="34" charset="0"/>
          <a:ea typeface="微软雅黑" pitchFamily="34" charset="-122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TS4</a:t>
            </a:r>
            <a:r>
              <a:rPr lang="zh-CN" altLang="en-US" dirty="0" smtClean="0"/>
              <a:t>与</a:t>
            </a:r>
            <a:r>
              <a:rPr lang="en-US" altLang="zh-CN" dirty="0" smtClean="0"/>
              <a:t>Medici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本地使用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注意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个人数据并不保存在客户计算机中，因此不一定每次都使用同一个客户计算机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牢记密码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软件使用</a:t>
            </a:r>
            <a:r>
              <a:rPr lang="en-US" altLang="zh-CN" dirty="0" smtClean="0"/>
              <a:t>——TSUPREM4 &amp; MEDICI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571472" y="1643050"/>
          <a:ext cx="7715304" cy="4643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/>
              <a:t>Tsuprem4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Tsuprem4</a:t>
            </a:r>
            <a:r>
              <a:rPr lang="zh-CN" altLang="en-US" sz="2000" dirty="0" smtClean="0"/>
              <a:t>的启动方式为在控制台键入：</a:t>
            </a:r>
            <a:endParaRPr lang="en-US" altLang="zh-CN" sz="2000" dirty="0" smtClean="0"/>
          </a:p>
          <a:p>
            <a:pPr marL="0" indent="0" algn="ctr">
              <a:buNone/>
            </a:pPr>
            <a:r>
              <a:rPr lang="en-US" altLang="zh-CN" sz="2000" dirty="0" smtClean="0"/>
              <a:t>tsuprem4 </a:t>
            </a:r>
            <a:r>
              <a:rPr lang="en-US" altLang="zh-CN" sz="2000" dirty="0"/>
              <a:t>&lt;</a:t>
            </a:r>
            <a:r>
              <a:rPr lang="zh-CN" altLang="en-US" sz="2000" dirty="0" smtClean="0"/>
              <a:t>文件名</a:t>
            </a:r>
            <a:r>
              <a:rPr lang="en-US" altLang="zh-CN" sz="2000" dirty="0"/>
              <a:t>&gt;</a:t>
            </a:r>
          </a:p>
          <a:p>
            <a:r>
              <a:rPr lang="zh-CN" altLang="en-US" sz="2000" dirty="0" smtClean="0"/>
              <a:t>例如 </a:t>
            </a:r>
            <a:r>
              <a:rPr lang="en-US" altLang="zh-CN" sz="2000" dirty="0" smtClean="0"/>
              <a:t>tsuprem4 1D_bipolar</a:t>
            </a:r>
            <a:br>
              <a:rPr lang="en-US" altLang="zh-CN" sz="2000" dirty="0" smtClean="0"/>
            </a:br>
            <a:r>
              <a:rPr lang="en-US" altLang="zh-CN" sz="2000" dirty="0" smtClean="0"/>
              <a:t>1D_bipolar</a:t>
            </a:r>
            <a:r>
              <a:rPr lang="zh-CN" altLang="en-US" sz="2000" dirty="0" smtClean="0"/>
              <a:t>为已经写好的源文件</a:t>
            </a:r>
            <a:r>
              <a:rPr lang="zh-CN" altLang="en-US" sz="2000" dirty="0"/>
              <a:t>文件名需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区分</a:t>
            </a:r>
            <a:r>
              <a:rPr lang="zh-CN" altLang="en-US" sz="2000" b="1" dirty="0">
                <a:solidFill>
                  <a:srgbClr val="FF0000"/>
                </a:solidFill>
              </a:rPr>
              <a:t>大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小写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/>
              <a:t>tsuprem4</a:t>
            </a:r>
            <a:r>
              <a:rPr lang="zh-CN" altLang="en-US" sz="2000" dirty="0" smtClean="0"/>
              <a:t>将按照源文件逐行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zh-CN" altLang="en-US" sz="2000" dirty="0" smtClean="0"/>
              <a:t>执行，结果将打印在屏幕以及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1D_bipolar.out</a:t>
            </a:r>
            <a:r>
              <a:rPr lang="zh-CN" altLang="en-US" sz="2000" dirty="0" smtClean="0"/>
              <a:t>文件中。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068960"/>
            <a:ext cx="473902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126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建立第一个源文件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1" cy="4772000"/>
          </a:xfrm>
        </p:spPr>
        <p:txBody>
          <a:bodyPr/>
          <a:lstStyle/>
          <a:p>
            <a:r>
              <a:rPr lang="en-US" altLang="zh-CN" sz="2000" dirty="0" smtClean="0"/>
              <a:t>Tsuprem4</a:t>
            </a:r>
            <a:r>
              <a:rPr lang="zh-CN" altLang="en-US" sz="2000" dirty="0" smtClean="0"/>
              <a:t>需要首先编辑描述工艺流程的源文件，本节展示如何创立以及编辑源文件</a:t>
            </a:r>
            <a:endParaRPr lang="en-US" altLang="zh-CN" sz="2000" dirty="0" smtClean="0"/>
          </a:p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、第一步：建立工作文件夹，在桌面单击右键建立新工作文件夹</a:t>
            </a:r>
            <a:endParaRPr lang="en-US" altLang="zh-CN" sz="2000" dirty="0" smtClean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996952"/>
            <a:ext cx="5024269" cy="3214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6606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建立第一个源文件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1" cy="4772000"/>
          </a:xfrm>
        </p:spPr>
        <p:txBody>
          <a:bodyPr/>
          <a:lstStyle/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、第二步：进入工作文件夹，单击右键建立空白文件并命名</a:t>
            </a:r>
            <a:endParaRPr lang="en-US" altLang="zh-CN" sz="2000" dirty="0" smtClean="0"/>
          </a:p>
          <a:p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079" y="2636912"/>
            <a:ext cx="61976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0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建立第一个源文件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1" cy="4772000"/>
          </a:xfrm>
        </p:spPr>
        <p:txBody>
          <a:bodyPr/>
          <a:lstStyle/>
          <a:p>
            <a:r>
              <a:rPr lang="en-US" altLang="zh-CN" sz="2000" dirty="0"/>
              <a:t>3</a:t>
            </a:r>
            <a:r>
              <a:rPr lang="zh-CN" altLang="en-US" sz="2000" dirty="0" smtClean="0"/>
              <a:t>、第三步：双击打开新建文件，输入 </a:t>
            </a:r>
            <a:r>
              <a:rPr lang="en-US" altLang="zh-CN" sz="2000" dirty="0" smtClean="0"/>
              <a:t>ECHO </a:t>
            </a:r>
            <a:r>
              <a:rPr lang="en-US" altLang="zh-CN" sz="2000" dirty="0"/>
              <a:t>Hello </a:t>
            </a:r>
            <a:r>
              <a:rPr lang="en-US" altLang="zh-CN" sz="2000" dirty="0" smtClean="0"/>
              <a:t>World</a:t>
            </a:r>
            <a:br>
              <a:rPr lang="en-US" altLang="zh-CN" sz="2000" dirty="0" smtClean="0"/>
            </a:br>
            <a:r>
              <a:rPr lang="zh-CN" altLang="en-US" sz="2000" dirty="0" smtClean="0"/>
              <a:t>保存并关闭。</a:t>
            </a:r>
            <a:endParaRPr lang="en-US" altLang="zh-CN" sz="2000" dirty="0" smtClean="0"/>
          </a:p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24944"/>
            <a:ext cx="695325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96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建立第一个源文件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1" cy="4772000"/>
          </a:xfrm>
        </p:spPr>
        <p:txBody>
          <a:bodyPr/>
          <a:lstStyle/>
          <a:p>
            <a:r>
              <a:rPr lang="en-US" altLang="zh-CN" sz="2000" dirty="0" smtClean="0"/>
              <a:t>4</a:t>
            </a:r>
            <a:r>
              <a:rPr lang="zh-CN" altLang="en-US" sz="2000" dirty="0" smtClean="0"/>
              <a:t>、第四步：在文件所在文件夹空白处单击右键，选择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Open In Terminal</a:t>
            </a:r>
            <a:r>
              <a:rPr lang="zh-CN" altLang="en-US" sz="2000" dirty="0" smtClean="0"/>
              <a:t>，打开控制台</a:t>
            </a:r>
            <a:endParaRPr lang="en-US" altLang="zh-CN" sz="2000" dirty="0" smtClean="0"/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780928"/>
            <a:ext cx="6168430" cy="3279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29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建立第一个源文件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1" cy="4772000"/>
          </a:xfrm>
        </p:spPr>
        <p:txBody>
          <a:bodyPr/>
          <a:lstStyle/>
          <a:p>
            <a:r>
              <a:rPr lang="en-US" altLang="zh-CN" sz="2000" dirty="0" smtClean="0"/>
              <a:t>5</a:t>
            </a:r>
            <a:r>
              <a:rPr lang="zh-CN" altLang="en-US" sz="2000" dirty="0" smtClean="0"/>
              <a:t>、第五步：在弹出的控制台中输入</a:t>
            </a:r>
            <a:r>
              <a:rPr lang="en-US" altLang="zh-CN" sz="2000" dirty="0"/>
              <a:t>tsuprem4 &lt;</a:t>
            </a:r>
            <a:r>
              <a:rPr lang="zh-CN" altLang="en-US" sz="2000" dirty="0"/>
              <a:t>文件名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，即可执行文件。文件输出结果同时也会记录在</a:t>
            </a:r>
            <a:r>
              <a:rPr lang="en-US" altLang="zh-CN" sz="2000" dirty="0" smtClean="0"/>
              <a:t>.out</a:t>
            </a:r>
            <a:r>
              <a:rPr lang="zh-CN" altLang="en-US" sz="2000" dirty="0" smtClean="0"/>
              <a:t>中</a:t>
            </a:r>
            <a:endParaRPr lang="en-US" altLang="zh-CN" sz="2000" dirty="0" smtClean="0"/>
          </a:p>
          <a:p>
            <a:endParaRPr lang="en-US" altLang="zh-CN" sz="2000" dirty="0"/>
          </a:p>
          <a:p>
            <a:endParaRPr lang="en-US" altLang="zh-CN" sz="2000" dirty="0" smtClean="0"/>
          </a:p>
          <a:p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057400"/>
            <a:ext cx="3062362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00" y="3789040"/>
            <a:ext cx="4641547" cy="216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8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引用文件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1962" y="1700808"/>
            <a:ext cx="8220075" cy="1323972"/>
          </a:xfrm>
        </p:spPr>
        <p:txBody>
          <a:bodyPr/>
          <a:lstStyle/>
          <a:p>
            <a:r>
              <a:rPr lang="zh-CN" altLang="en-US" sz="2000" dirty="0" smtClean="0"/>
              <a:t>同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语言一样，</a:t>
            </a:r>
            <a:r>
              <a:rPr lang="en-US" altLang="zh-CN" sz="2000" dirty="0" smtClean="0"/>
              <a:t>TS4</a:t>
            </a:r>
            <a:r>
              <a:rPr lang="zh-CN" altLang="en-US" sz="2000" dirty="0" smtClean="0"/>
              <a:t>中也可以引用其他文件，</a:t>
            </a:r>
            <a:endParaRPr lang="en-US" altLang="zh-CN" sz="2000" dirty="0" smtClean="0"/>
          </a:p>
          <a:p>
            <a:r>
              <a:rPr lang="zh-CN" altLang="en-US" sz="2000" dirty="0" smtClean="0"/>
              <a:t>引用可以在编写源文件时添加 </a:t>
            </a:r>
            <a:r>
              <a:rPr lang="en-US" altLang="zh-CN" sz="2000" dirty="0" smtClean="0"/>
              <a:t>SOURCE &lt;</a:t>
            </a:r>
            <a:r>
              <a:rPr lang="zh-CN" altLang="en-US" sz="2000" dirty="0" smtClean="0"/>
              <a:t>文件名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实现</a:t>
            </a:r>
            <a:endParaRPr lang="en-US" altLang="zh-CN" sz="2000" dirty="0" smtClean="0"/>
          </a:p>
          <a:p>
            <a:pPr lvl="1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48472" y="3024336"/>
            <a:ext cx="4572000" cy="31393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  <a:latin typeface="+mn-lt"/>
              </a:rPr>
              <a:t>Exiting source file  TS4.config.</a:t>
            </a: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+mn-lt"/>
              </a:rPr>
              <a:t>ECHO Hello World</a:t>
            </a:r>
          </a:p>
          <a:p>
            <a:r>
              <a:rPr lang="en-US" altLang="zh-CN" dirty="0" smtClean="0">
                <a:solidFill>
                  <a:srgbClr val="00B050"/>
                </a:solidFill>
                <a:latin typeface="+mn-lt"/>
              </a:rPr>
              <a:t>Hello World</a:t>
            </a: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+mn-lt"/>
              </a:rPr>
              <a:t> Exiting source file hello.inp.</a:t>
            </a: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endParaRPr lang="en-US" altLang="zh-CN" dirty="0" smtClean="0">
              <a:solidFill>
                <a:srgbClr val="00B050"/>
              </a:solidFill>
              <a:latin typeface="+mn-lt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+mn-lt"/>
              </a:rPr>
              <a:t> *** END TSUPREM-4 ***</a:t>
            </a:r>
            <a:endParaRPr lang="zh-CN" alt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298839" y="5057356"/>
            <a:ext cx="3500462" cy="13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000" kern="0" dirty="0" smtClean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</a:rPr>
              <a:t>SOURCE [</a:t>
            </a:r>
            <a:r>
              <a:rPr lang="zh-CN" altLang="en-US" sz="2000" kern="0" dirty="0" smtClean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</a:rPr>
              <a:t>文件</a:t>
            </a:r>
            <a:r>
              <a:rPr lang="en-US" altLang="zh-CN" sz="2000" kern="0" dirty="0" smtClean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</a:rPr>
              <a:t>]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Calibri" pitchFamily="34" charset="0"/>
              <a:ea typeface="微软雅黑" pitchFamily="34" charset="-122"/>
              <a:cs typeface="+mn-cs"/>
            </a:endParaRPr>
          </a:p>
          <a:p>
            <a:pPr marL="742950" marR="0" lvl="1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将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[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文件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]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中的内容复制过来，再执行，相当于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C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语言里的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rPr>
              <a:t>include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7837" y="2664296"/>
            <a:ext cx="3634218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SOURCE TS4.config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DEFINE</a:t>
            </a:r>
            <a:r>
              <a:rPr lang="en-US" altLang="zh-CN" dirty="0" smtClean="0">
                <a:latin typeface="Consolas" pitchFamily="49" charset="0"/>
              </a:rPr>
              <a:t> STRMYSTR Hello World</a:t>
            </a:r>
          </a:p>
          <a:p>
            <a:r>
              <a:rPr lang="en-US" altLang="zh-CN" dirty="0" smtClean="0">
                <a:latin typeface="Consolas" pitchFamily="49" charset="0"/>
              </a:rPr>
              <a:t>ECHO STRMYSTR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ASSIGN</a:t>
            </a:r>
            <a:r>
              <a:rPr lang="en-US" altLang="zh-CN" dirty="0" smtClean="0">
                <a:latin typeface="Consolas" pitchFamily="49" charset="0"/>
              </a:rPr>
              <a:t> NAME=MYVAR C.VAL="Hello World"</a:t>
            </a:r>
          </a:p>
          <a:p>
            <a:r>
              <a:rPr lang="en-US" altLang="zh-CN" dirty="0" smtClean="0">
                <a:latin typeface="Consolas" pitchFamily="49" charset="0"/>
              </a:rPr>
              <a:t>ECHO @MYVAR</a:t>
            </a:r>
            <a:endParaRPr lang="en-US" altLang="zh-CN" dirty="0">
              <a:latin typeface="Consolas" pitchFamily="49" charset="0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4355976" y="3429000"/>
            <a:ext cx="33123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459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itchFamily="49" charset="0"/>
              </a:rPr>
              <a:t>TS4.config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1962" y="1700808"/>
            <a:ext cx="8220075" cy="1323972"/>
          </a:xfrm>
        </p:spPr>
        <p:txBody>
          <a:bodyPr/>
          <a:lstStyle/>
          <a:p>
            <a:r>
              <a:rPr lang="zh-CN" altLang="en-US" sz="2000" dirty="0" smtClean="0"/>
              <a:t>本次试验需要统一引用</a:t>
            </a:r>
            <a:r>
              <a:rPr lang="en-US" altLang="zh-CN" sz="2000" dirty="0" smtClean="0">
                <a:latin typeface="Consolas" pitchFamily="49" charset="0"/>
              </a:rPr>
              <a:t>TS4.config</a:t>
            </a:r>
            <a:endParaRPr lang="en-US" altLang="zh-CN" sz="2000" dirty="0" smtClean="0"/>
          </a:p>
          <a:p>
            <a:r>
              <a:rPr lang="zh-CN" altLang="en-US" sz="2000" dirty="0" smtClean="0"/>
              <a:t>该文件已被</a:t>
            </a:r>
            <a:r>
              <a:rPr lang="zh-CN" altLang="en-US" sz="2000" smtClean="0"/>
              <a:t>放置</a:t>
            </a:r>
            <a:r>
              <a:rPr lang="zh-CN" altLang="en-US" sz="2000" smtClean="0"/>
              <a:t>在</a:t>
            </a:r>
            <a:r>
              <a:rPr lang="en-US" altLang="zh-CN" sz="2000" smtClean="0"/>
              <a:t>zl43’</a:t>
            </a:r>
            <a:r>
              <a:rPr lang="en-US" altLang="zh-CN" sz="2000" smtClean="0"/>
              <a:t>s </a:t>
            </a:r>
            <a:r>
              <a:rPr lang="en-US" altLang="zh-CN" sz="2000" dirty="0" smtClean="0"/>
              <a:t>Home</a:t>
            </a:r>
            <a:r>
              <a:rPr lang="zh-CN" altLang="en-US" sz="2000" smtClean="0"/>
              <a:t>文件夹中，</a:t>
            </a:r>
            <a:r>
              <a:rPr lang="zh-CN" altLang="en-US" sz="2000" dirty="0" smtClean="0"/>
              <a:t>引用时需要将其复制到源文件相同的文件夹中</a:t>
            </a:r>
            <a:endParaRPr lang="en-US" altLang="zh-CN" sz="2000" dirty="0" smtClean="0"/>
          </a:p>
          <a:p>
            <a:pPr lvl="1"/>
            <a:endParaRPr lang="zh-CN" altLang="en-US" dirty="0"/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4374232" y="3384376"/>
            <a:ext cx="304259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19" y="2852936"/>
            <a:ext cx="789622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6786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宏与变量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4282" y="1571612"/>
            <a:ext cx="5429288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SOURCE TS4.config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DEFINE</a:t>
            </a:r>
            <a:r>
              <a:rPr lang="en-US" altLang="zh-CN" dirty="0" smtClean="0">
                <a:latin typeface="Consolas" pitchFamily="49" charset="0"/>
              </a:rPr>
              <a:t> STRMYSTR Hello World</a:t>
            </a:r>
          </a:p>
          <a:p>
            <a:r>
              <a:rPr lang="en-US" altLang="zh-CN" dirty="0" smtClean="0">
                <a:latin typeface="Consolas" pitchFamily="49" charset="0"/>
              </a:rPr>
              <a:t>ECHO STRMYSTR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ASSIGN</a:t>
            </a:r>
            <a:r>
              <a:rPr lang="en-US" altLang="zh-CN" dirty="0" smtClean="0">
                <a:latin typeface="Consolas" pitchFamily="49" charset="0"/>
              </a:rPr>
              <a:t> NAME=MYVAR C.VAL="Hello World"</a:t>
            </a:r>
          </a:p>
          <a:p>
            <a:r>
              <a:rPr lang="en-US" altLang="zh-CN" dirty="0" smtClean="0">
                <a:latin typeface="Consolas" pitchFamily="49" charset="0"/>
              </a:rPr>
              <a:t>ECHO @MYVAR</a:t>
            </a:r>
            <a:endParaRPr lang="en-US" altLang="zh-CN" dirty="0">
              <a:latin typeface="Consolas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57620" y="3429000"/>
            <a:ext cx="4572000" cy="31393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DEFINE STRMYSTR Hello World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ECHO STRMYSTR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-----&gt;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ECHO Hello World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Hello World</a:t>
            </a:r>
          </a:p>
          <a:p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 smtClean="0">
                <a:solidFill>
                  <a:srgbClr val="00B050"/>
                </a:solidFill>
              </a:rPr>
              <a:t>ASSIGN NAME=MYVAR C.VAL="Hello World"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ECHO @MYVAR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-----&gt;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ECHO Hello World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Hello World</a:t>
            </a:r>
            <a:endParaRPr lang="zh-CN" altLang="en-US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5720" y="1643050"/>
            <a:ext cx="857256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SOURCE TS4.config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LOOP</a:t>
            </a:r>
            <a:r>
              <a:rPr lang="en-US" altLang="zh-CN" dirty="0" smtClean="0">
                <a:latin typeface="Consolas" pitchFamily="49" charset="0"/>
              </a:rPr>
              <a:t> STEPS=4 INDEX=LOOPINDEX</a:t>
            </a:r>
          </a:p>
          <a:p>
            <a:r>
              <a:rPr lang="en-US" altLang="zh-CN" dirty="0" smtClean="0">
                <a:latin typeface="Consolas" pitchFamily="49" charset="0"/>
              </a:rPr>
              <a:t>	ASSIGN NAME=MYLOOPVAR </a:t>
            </a:r>
            <a:r>
              <a:rPr lang="en-US" altLang="zh-CN" dirty="0" smtClean="0">
                <a:solidFill>
                  <a:srgbClr val="FF0000"/>
                </a:solidFill>
                <a:latin typeface="Consolas" pitchFamily="49" charset="0"/>
              </a:rPr>
              <a:t>N.VAL=1E17,5E16,1E16,5E15</a:t>
            </a:r>
          </a:p>
          <a:p>
            <a:r>
              <a:rPr lang="en-US" altLang="zh-CN" dirty="0" smtClean="0">
                <a:latin typeface="Consolas" pitchFamily="49" charset="0"/>
              </a:rPr>
              <a:t>	ECHO @LOOPINDEX,@MYLOOPVAR</a:t>
            </a:r>
          </a:p>
          <a:p>
            <a:r>
              <a:rPr lang="en-US" altLang="zh-CN" dirty="0" smtClean="0">
                <a:solidFill>
                  <a:srgbClr val="00B050"/>
                </a:solidFill>
                <a:latin typeface="Consolas" pitchFamily="49" charset="0"/>
              </a:rPr>
              <a:t>L.END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720" y="3643314"/>
            <a:ext cx="8143900" cy="258532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LOOP STEPS=4 INDEX=LOOPINDEX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loop #001: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……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1,1e+17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……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loop #004: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……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4,5e+15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L.END</a:t>
            </a:r>
            <a:endParaRPr lang="zh-CN" altLang="en-US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分支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7158" y="1643050"/>
            <a:ext cx="457200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SOURCE TS4.config</a:t>
            </a:r>
          </a:p>
          <a:p>
            <a:endParaRPr lang="en-US" altLang="zh-CN" dirty="0" smtClean="0">
              <a:latin typeface="Consolas" pitchFamily="49" charset="0"/>
            </a:endParaRPr>
          </a:p>
          <a:p>
            <a:r>
              <a:rPr lang="en-US" altLang="zh-CN" dirty="0" smtClean="0">
                <a:latin typeface="Consolas" pitchFamily="49" charset="0"/>
              </a:rPr>
              <a:t>LOOP STEPS=2 INDEX=LOOPINDEX</a:t>
            </a:r>
          </a:p>
          <a:p>
            <a:r>
              <a:rPr lang="en-US" altLang="zh-CN" dirty="0" smtClean="0">
                <a:latin typeface="Consolas" pitchFamily="49" charset="0"/>
              </a:rPr>
              <a:t>	IF (@LOOPINDEX==2)</a:t>
            </a:r>
          </a:p>
          <a:p>
            <a:r>
              <a:rPr lang="en-US" altLang="zh-CN" dirty="0" smtClean="0">
                <a:latin typeface="Consolas" pitchFamily="49" charset="0"/>
              </a:rPr>
              <a:t>		ECHO HERE</a:t>
            </a:r>
          </a:p>
          <a:p>
            <a:r>
              <a:rPr lang="en-US" altLang="zh-CN" dirty="0" smtClean="0">
                <a:latin typeface="Consolas" pitchFamily="49" charset="0"/>
              </a:rPr>
              <a:t>	ELSE</a:t>
            </a:r>
          </a:p>
          <a:p>
            <a:r>
              <a:rPr lang="en-US" altLang="zh-CN" dirty="0" smtClean="0">
                <a:latin typeface="Consolas" pitchFamily="49" charset="0"/>
              </a:rPr>
              <a:t>		ECHO NOT HERE</a:t>
            </a:r>
          </a:p>
          <a:p>
            <a:r>
              <a:rPr lang="en-US" altLang="zh-CN" dirty="0" smtClean="0">
                <a:latin typeface="Consolas" pitchFamily="49" charset="0"/>
              </a:rPr>
              <a:t>	IF.END</a:t>
            </a:r>
          </a:p>
          <a:p>
            <a:r>
              <a:rPr lang="en-US" altLang="zh-CN" dirty="0" smtClean="0">
                <a:latin typeface="Consolas" pitchFamily="49" charset="0"/>
              </a:rPr>
              <a:t>L.END</a:t>
            </a:r>
          </a:p>
          <a:p>
            <a:endParaRPr lang="en-US" altLang="zh-CN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工艺模拟控制语句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1181096"/>
          </a:xfrm>
        </p:spPr>
        <p:txBody>
          <a:bodyPr/>
          <a:lstStyle/>
          <a:p>
            <a:r>
              <a:rPr lang="en-US" altLang="zh-CN" dirty="0" smtClean="0"/>
              <a:t>LINE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X</a:t>
            </a:r>
            <a:r>
              <a:rPr lang="zh-CN" altLang="en-US" dirty="0" smtClean="0"/>
              <a:t>代表画垂直线，</a:t>
            </a:r>
            <a:r>
              <a:rPr lang="en-US" altLang="zh-CN" dirty="0" smtClean="0"/>
              <a:t>Y</a:t>
            </a:r>
            <a:r>
              <a:rPr lang="zh-CN" altLang="en-US" dirty="0" smtClean="0"/>
              <a:t>代表画水平线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1285852" y="3357562"/>
            <a:ext cx="5929354" cy="1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 bwMode="auto">
          <a:xfrm rot="5400000">
            <a:off x="142844" y="4643446"/>
            <a:ext cx="3571900" cy="1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358082" y="3000372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X</a:t>
            </a:r>
            <a:endParaRPr lang="zh-CN" altLang="en-US" dirty="0">
              <a:latin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28728" y="6072206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Y</a:t>
            </a:r>
            <a:endParaRPr lang="zh-CN" altLang="en-US" dirty="0">
              <a:latin typeface="+mj-lt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rot="5400000">
            <a:off x="1928794" y="4714884"/>
            <a:ext cx="357190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857620" y="2786058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LINE X=0.4</a:t>
            </a:r>
            <a:endParaRPr lang="zh-CN" altLang="en-US" dirty="0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00166" y="2857496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0</a:t>
            </a:r>
            <a:endParaRPr lang="zh-CN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工艺模拟控制语句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609592"/>
          </a:xfrm>
        </p:spPr>
        <p:txBody>
          <a:bodyPr/>
          <a:lstStyle/>
          <a:p>
            <a:r>
              <a:rPr lang="en-US" altLang="zh-CN" dirty="0" smtClean="0"/>
              <a:t>SPACING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46" y="2000240"/>
            <a:ext cx="5929354" cy="4456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71406" y="3429000"/>
            <a:ext cx="35004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Consolas" pitchFamily="49" charset="0"/>
              </a:rPr>
              <a:t>SOURCE TS4.config</a:t>
            </a:r>
          </a:p>
          <a:p>
            <a:r>
              <a:rPr lang="en-US" altLang="zh-CN" sz="1200" dirty="0" smtClean="0">
                <a:latin typeface="Consolas" pitchFamily="49" charset="0"/>
              </a:rPr>
              <a:t>LINE Y LOCATION=0 TAG=top SPACING=1</a:t>
            </a:r>
          </a:p>
          <a:p>
            <a:r>
              <a:rPr lang="en-US" altLang="zh-CN" sz="1200" dirty="0" smtClean="0">
                <a:latin typeface="Consolas" pitchFamily="49" charset="0"/>
              </a:rPr>
              <a:t>LINE Y LOCATION=10 TAG=</a:t>
            </a:r>
            <a:r>
              <a:rPr lang="en-US" altLang="zh-CN" sz="1200" dirty="0" err="1" smtClean="0">
                <a:latin typeface="Consolas" pitchFamily="49" charset="0"/>
              </a:rPr>
              <a:t>bot</a:t>
            </a:r>
            <a:r>
              <a:rPr lang="en-US" altLang="zh-CN" sz="1200" dirty="0" smtClean="0">
                <a:latin typeface="Consolas" pitchFamily="49" charset="0"/>
              </a:rPr>
              <a:t> SPACING=1</a:t>
            </a:r>
          </a:p>
          <a:p>
            <a:r>
              <a:rPr lang="en-US" altLang="zh-CN" sz="1200" dirty="0" smtClean="0">
                <a:latin typeface="Consolas" pitchFamily="49" charset="0"/>
              </a:rPr>
              <a:t>LINE X LOCATION=0 TAG=left SPACING=</a:t>
            </a:r>
            <a:r>
              <a:rPr lang="en-US" altLang="zh-CN" sz="1200" dirty="0" smtClean="0">
                <a:solidFill>
                  <a:srgbClr val="FF0000"/>
                </a:solidFill>
                <a:latin typeface="Consolas" pitchFamily="49" charset="0"/>
              </a:rPr>
              <a:t>0.1</a:t>
            </a:r>
          </a:p>
          <a:p>
            <a:r>
              <a:rPr lang="en-US" altLang="zh-CN" sz="1200" dirty="0" smtClean="0">
                <a:latin typeface="Consolas" pitchFamily="49" charset="0"/>
              </a:rPr>
              <a:t>LINE X LOCATION=5 TAG=right SPACING=</a:t>
            </a:r>
            <a:r>
              <a:rPr lang="en-US" altLang="zh-CN" sz="1200" dirty="0" smtClean="0">
                <a:solidFill>
                  <a:srgbClr val="FF0000"/>
                </a:solidFill>
                <a:latin typeface="Consolas" pitchFamily="49" charset="0"/>
              </a:rPr>
              <a:t>0.2</a:t>
            </a:r>
          </a:p>
          <a:p>
            <a:r>
              <a:rPr lang="en-US" altLang="zh-CN" sz="1200" dirty="0" smtClean="0">
                <a:latin typeface="Consolas" pitchFamily="49" charset="0"/>
              </a:rPr>
              <a:t>INITIALIZE</a:t>
            </a:r>
          </a:p>
          <a:p>
            <a:r>
              <a:rPr lang="en-US" altLang="zh-CN" sz="1200" dirty="0" smtClean="0">
                <a:latin typeface="Consolas" pitchFamily="49" charset="0"/>
              </a:rPr>
              <a:t>PLOT.2D GRID</a:t>
            </a:r>
            <a:endParaRPr lang="zh-CN" altLang="en-US" sz="1200" dirty="0">
              <a:latin typeface="Consolas" pitchFamily="49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3357554" y="2214554"/>
            <a:ext cx="785818" cy="642942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굴림" charset="-127"/>
              </a:rPr>
              <a:t>0.1</a:t>
            </a:r>
            <a:endParaRPr kumimoji="1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j-lt"/>
              <a:ea typeface="굴림" charset="-127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8358182" y="2214554"/>
            <a:ext cx="785818" cy="642942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굴림" charset="-127"/>
              </a:rPr>
              <a:t>0.2</a:t>
            </a:r>
            <a:endParaRPr kumimoji="1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j-lt"/>
              <a:ea typeface="굴림" charset="-127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5857884" y="2214554"/>
            <a:ext cx="928694" cy="642942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插值</a:t>
            </a:r>
            <a:endParaRPr kumimoji="1" lang="zh-CN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工艺模拟控制语句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材料：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REGION &lt;c&gt;</a:t>
            </a:r>
          </a:p>
          <a:p>
            <a:pPr lvl="1"/>
            <a:r>
              <a:rPr lang="en-US" altLang="zh-CN" dirty="0" smtClean="0"/>
              <a:t>INITIALIZE MATERIAL=&lt;c&gt;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请大家通过实验摸索这两个命令的异同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工艺模拟控制语句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2109790"/>
          </a:xfrm>
        </p:spPr>
        <p:txBody>
          <a:bodyPr/>
          <a:lstStyle/>
          <a:p>
            <a:r>
              <a:rPr lang="en-US" altLang="zh-CN" dirty="0" smtClean="0"/>
              <a:t>DEPOSITION —— </a:t>
            </a:r>
            <a:r>
              <a:rPr lang="zh-CN" altLang="en-US" dirty="0" smtClean="0"/>
              <a:t>淀积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SPACES 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LINE</a:t>
            </a:r>
            <a:r>
              <a:rPr lang="zh-CN" altLang="en-US" dirty="0" smtClean="0"/>
              <a:t>语句中的含义相同</a:t>
            </a:r>
            <a:endParaRPr lang="en-US" altLang="zh-CN" dirty="0" smtClean="0"/>
          </a:p>
          <a:p>
            <a:r>
              <a:rPr lang="en-US" altLang="zh-CN" dirty="0" smtClean="0"/>
              <a:t>ETCH —— </a:t>
            </a:r>
            <a:r>
              <a:rPr lang="zh-CN" altLang="en-US" dirty="0" smtClean="0"/>
              <a:t>移除指定的材料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注意工艺上实际的含义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857629"/>
            <a:ext cx="3136736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500430" y="4000504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ETCH OXIDE ALL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71604" y="414338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SiO2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571604" y="4643446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Si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571604" y="521495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SiO2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3786190"/>
            <a:ext cx="3143272" cy="236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7143768" y="514351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Consolas" pitchFamily="49" charset="0"/>
              </a:rPr>
              <a:t>?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工艺模拟控制语句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IMPLANT </a:t>
            </a:r>
          </a:p>
          <a:p>
            <a:r>
              <a:rPr lang="en-US" altLang="zh-CN" dirty="0" smtClean="0"/>
              <a:t>DIFFUSION </a:t>
            </a:r>
          </a:p>
          <a:p>
            <a:pPr lvl="1"/>
            <a:r>
              <a:rPr lang="zh-CN" altLang="en-US" dirty="0" smtClean="0"/>
              <a:t>对器件进行加热也用这个工艺步骤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TSUPREM4 </a:t>
            </a:r>
            <a:r>
              <a:rPr lang="zh-CN" altLang="en-US" dirty="0" smtClean="0"/>
              <a:t>绘图语句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PLOT.2D </a:t>
            </a:r>
            <a:r>
              <a:rPr lang="zh-CN" altLang="en-US" dirty="0" smtClean="0"/>
              <a:t>用来绘制当前器件的结构</a:t>
            </a:r>
            <a:endParaRPr lang="en-US" altLang="zh-CN" dirty="0" smtClean="0"/>
          </a:p>
          <a:p>
            <a:r>
              <a:rPr lang="en-US" altLang="zh-CN" dirty="0" smtClean="0"/>
              <a:t>PLOT.1D PRINT.1D </a:t>
            </a:r>
            <a:r>
              <a:rPr lang="zh-CN" altLang="en-US" dirty="0" smtClean="0"/>
              <a:t>用来显示物理量的分布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加</a:t>
            </a:r>
            <a:r>
              <a:rPr lang="en-US" altLang="zh-CN" dirty="0" smtClean="0"/>
              <a:t>OPTION QUIET</a:t>
            </a:r>
            <a:r>
              <a:rPr lang="zh-CN" altLang="en-US" dirty="0" smtClean="0"/>
              <a:t>能够让</a:t>
            </a:r>
            <a:r>
              <a:rPr lang="en-US" altLang="zh-CN" dirty="0" smtClean="0"/>
              <a:t>PRINT.1D</a:t>
            </a:r>
            <a:r>
              <a:rPr lang="zh-CN" altLang="en-US" dirty="0" smtClean="0"/>
              <a:t>的输出易于辨认</a:t>
            </a:r>
            <a:endParaRPr lang="en-US" altLang="zh-CN" dirty="0" smtClean="0"/>
          </a:p>
          <a:p>
            <a:r>
              <a:rPr lang="zh-CN" altLang="en-US" dirty="0" smtClean="0"/>
              <a:t>如果你用</a:t>
            </a:r>
            <a:r>
              <a:rPr lang="en-US" altLang="zh-CN" dirty="0" err="1" smtClean="0"/>
              <a:t>LaTeX</a:t>
            </a:r>
            <a:r>
              <a:rPr lang="zh-CN" altLang="en-US" dirty="0" smtClean="0"/>
              <a:t>写实验报告，则可以：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在脚本的开头加      </a:t>
            </a:r>
            <a:r>
              <a:rPr lang="en-US" altLang="zh-CN" dirty="0" smtClean="0"/>
              <a:t>OPTION DEVICE=PS-C</a:t>
            </a:r>
            <a:endParaRPr lang="en-US" altLang="zh-CN" dirty="0"/>
          </a:p>
          <a:p>
            <a:pPr lvl="1"/>
            <a:r>
              <a:rPr lang="zh-CN" altLang="en-US" dirty="0" smtClean="0"/>
              <a:t>图会输出到一个</a:t>
            </a:r>
            <a:r>
              <a:rPr lang="en-US" altLang="zh-CN" dirty="0" smtClean="0"/>
              <a:t>postscript</a:t>
            </a:r>
            <a:r>
              <a:rPr lang="zh-CN" altLang="en-US" dirty="0" smtClean="0"/>
              <a:t>文件中，所以就不同截图了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MEDICI </a:t>
            </a:r>
            <a:r>
              <a:rPr lang="zh-CN" altLang="en-US" dirty="0" smtClean="0"/>
              <a:t>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MEDIC</a:t>
            </a:r>
            <a:r>
              <a:rPr lang="zh-CN" altLang="en-US" dirty="0" smtClean="0"/>
              <a:t>基本使用方式同</a:t>
            </a:r>
            <a:r>
              <a:rPr lang="en-US" altLang="zh-CN" dirty="0" smtClean="0"/>
              <a:t>TSUPREM4</a:t>
            </a:r>
            <a:r>
              <a:rPr lang="zh-CN" altLang="en-US" dirty="0" smtClean="0"/>
              <a:t>类似</a:t>
            </a:r>
            <a:endParaRPr lang="en-US" altLang="zh-CN" dirty="0" smtClean="0"/>
          </a:p>
          <a:p>
            <a:r>
              <a:rPr lang="zh-CN" altLang="en-US" dirty="0" smtClean="0"/>
              <a:t>可以把</a:t>
            </a:r>
            <a:r>
              <a:rPr lang="en-US" altLang="zh-CN" dirty="0" smtClean="0"/>
              <a:t>MEDICI</a:t>
            </a:r>
            <a:r>
              <a:rPr lang="zh-CN" altLang="en-US" dirty="0" smtClean="0"/>
              <a:t>理解成某种“测试工具”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软件重点：学习固定某个参数，绘制电学量关系曲线的方法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技巧：选择合适的坐标区间</a:t>
            </a:r>
            <a:endParaRPr lang="en-US" altLang="zh-CN" dirty="0" smtClean="0"/>
          </a:p>
          <a:p>
            <a:r>
              <a:rPr lang="en-US" altLang="zh-CN" dirty="0" smtClean="0"/>
              <a:t>.</a:t>
            </a:r>
            <a:r>
              <a:rPr lang="en-US" altLang="zh-CN" dirty="0" err="1" smtClean="0"/>
              <a:t>ivl</a:t>
            </a:r>
            <a:r>
              <a:rPr lang="zh-CN" altLang="en-US" dirty="0" smtClean="0"/>
              <a:t>输出文件是原始数据，可使用</a:t>
            </a:r>
            <a:r>
              <a:rPr lang="en-US" altLang="zh-CN" dirty="0" smtClean="0"/>
              <a:t>Matlab</a:t>
            </a:r>
            <a:r>
              <a:rPr lang="zh-CN" altLang="en-US" dirty="0" smtClean="0"/>
              <a:t>处理</a:t>
            </a:r>
            <a:endParaRPr lang="en-US" altLang="zh-CN" dirty="0" smtClean="0"/>
          </a:p>
          <a:p>
            <a:r>
              <a:rPr lang="en-US" altLang="zh-CN" dirty="0" smtClean="0"/>
              <a:t>.out </a:t>
            </a:r>
            <a:r>
              <a:rPr lang="zh-CN" altLang="en-US" dirty="0" smtClean="0"/>
              <a:t>是命令行的输出（与</a:t>
            </a:r>
            <a:r>
              <a:rPr lang="en-US" altLang="zh-CN" dirty="0" smtClean="0"/>
              <a:t>tsuprem4</a:t>
            </a:r>
            <a:r>
              <a:rPr lang="zh-CN" altLang="en-US" dirty="0" smtClean="0"/>
              <a:t>相同）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TS4</a:t>
            </a:r>
            <a:r>
              <a:rPr lang="zh-CN" altLang="en-US" dirty="0" smtClean="0"/>
              <a:t>与</a:t>
            </a:r>
            <a:r>
              <a:rPr lang="en-US" altLang="zh-CN" dirty="0" smtClean="0"/>
              <a:t>MEDICI</a:t>
            </a:r>
            <a:r>
              <a:rPr lang="zh-CN" altLang="en-US" dirty="0"/>
              <a:t>更多指令</a:t>
            </a:r>
            <a:r>
              <a:rPr lang="zh-CN" altLang="en-US" dirty="0" smtClean="0"/>
              <a:t>参见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工艺</a:t>
            </a:r>
            <a:r>
              <a:rPr lang="zh-CN" altLang="en-US" dirty="0"/>
              <a:t>和器件模拟软件使用手册</a:t>
            </a:r>
            <a:r>
              <a:rPr lang="en-US" altLang="zh-CN" dirty="0"/>
              <a:t>.</a:t>
            </a:r>
            <a:r>
              <a:rPr lang="en-US" altLang="zh-CN" dirty="0" err="1"/>
              <a:t>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2764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容易犯的错误和解决方法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命令拼错了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把文本编辑器的字体设置大一些</a:t>
            </a:r>
            <a:r>
              <a:rPr lang="en-US" altLang="zh-CN" dirty="0" smtClean="0"/>
              <a:t>……</a:t>
            </a:r>
          </a:p>
          <a:p>
            <a:pPr lvl="1"/>
            <a:r>
              <a:rPr lang="zh-CN" altLang="en-US" dirty="0" smtClean="0"/>
              <a:t>仔细看软件给出的输出，</a:t>
            </a:r>
            <a:r>
              <a:rPr lang="en-US" altLang="zh-CN" dirty="0" smtClean="0"/>
              <a:t>TSUPREM4</a:t>
            </a:r>
            <a:r>
              <a:rPr lang="zh-CN" altLang="en-US" dirty="0" smtClean="0"/>
              <a:t>的错误信息很详细，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并且会告诉你错误的位置、类型以及如何改正</a:t>
            </a:r>
            <a:endParaRPr lang="en-US" altLang="zh-CN" dirty="0" smtClean="0"/>
          </a:p>
          <a:p>
            <a:r>
              <a:rPr lang="zh-CN" altLang="en-US" dirty="0" smtClean="0"/>
              <a:t>我的曲线什么的和别人不一样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研究一下实验指示书和软件手册，看看是不是漏了某个参数或者误设置了某个参数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仔细看脚本代码，是不是误注视掉了有用的命令</a:t>
            </a:r>
            <a:endParaRPr lang="en-US" altLang="zh-CN" dirty="0" smtClean="0"/>
          </a:p>
          <a:p>
            <a:r>
              <a:rPr lang="zh-CN" altLang="en-US" dirty="0" smtClean="0"/>
              <a:t>给出最小错误样本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多用</a:t>
            </a:r>
            <a:r>
              <a:rPr lang="en-US" altLang="zh-CN" dirty="0" smtClean="0"/>
              <a:t>ECHO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PAUSE</a:t>
            </a:r>
            <a:r>
              <a:rPr lang="zh-CN" altLang="en-US" dirty="0" smtClean="0"/>
              <a:t>等控制命令，准确定位错误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实验报告要求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4895872"/>
          </a:xfrm>
        </p:spPr>
        <p:txBody>
          <a:bodyPr/>
          <a:lstStyle/>
          <a:p>
            <a:r>
              <a:rPr lang="zh-CN" altLang="en-US" dirty="0" smtClean="0"/>
              <a:t>工艺实验：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叙述工艺模拟的步骤，例如，每一步使用了什么命令，这个命令设置了什么参数，但不要原封不动贴代码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贴上必要的输出结果，例如曲线、</a:t>
            </a:r>
            <a:r>
              <a:rPr lang="en-US" altLang="zh-CN" dirty="0" smtClean="0"/>
              <a:t>PRINT.1D</a:t>
            </a:r>
            <a:r>
              <a:rPr lang="zh-CN" altLang="en-US" dirty="0" smtClean="0"/>
              <a:t>的输出</a:t>
            </a:r>
            <a:endParaRPr lang="en-US" altLang="zh-CN" dirty="0" smtClean="0"/>
          </a:p>
          <a:p>
            <a:r>
              <a:rPr lang="zh-CN" altLang="en-US" dirty="0" smtClean="0"/>
              <a:t>器件模拟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对软件本身的使用，不对大家做过多要求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重点在于数据的处理和分析</a:t>
            </a:r>
            <a:endParaRPr lang="en-US" altLang="zh-CN" dirty="0" smtClean="0"/>
          </a:p>
          <a:p>
            <a:r>
              <a:rPr lang="zh-CN" altLang="en-US" dirty="0" smtClean="0"/>
              <a:t>认真回答思考题会得到加分</a:t>
            </a:r>
            <a:endParaRPr lang="en-US" altLang="zh-CN" dirty="0" smtClean="0"/>
          </a:p>
          <a:p>
            <a:r>
              <a:rPr lang="zh-CN" altLang="en-US" dirty="0" smtClean="0"/>
              <a:t>在网络学堂上共享技术心得将获得加分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比如软件使用的技巧等</a:t>
            </a:r>
            <a:endParaRPr lang="en-US" altLang="zh-CN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EL3_Intro">
  <a:themeElements>
    <a:clrScheme name="busine11_p 2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0099CC"/>
      </a:accent1>
      <a:accent2>
        <a:srgbClr val="FF9900"/>
      </a:accent2>
      <a:accent3>
        <a:srgbClr val="FFFFFF"/>
      </a:accent3>
      <a:accent4>
        <a:srgbClr val="174578"/>
      </a:accent4>
      <a:accent5>
        <a:srgbClr val="AACAE2"/>
      </a:accent5>
      <a:accent6>
        <a:srgbClr val="E78A00"/>
      </a:accent6>
      <a:hlink>
        <a:srgbClr val="006699"/>
      </a:hlink>
      <a:folHlink>
        <a:srgbClr val="969696"/>
      </a:folHlink>
    </a:clrScheme>
    <a:fontScheme name="Lacuna">
      <a:majorFont>
        <a:latin typeface="Neo Sans Intel Medium"/>
        <a:ea typeface="幼圆"/>
        <a:cs typeface=""/>
      </a:majorFont>
      <a:minorFont>
        <a:latin typeface="Neo Sans Inte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busine11_p 1">
        <a:dk1>
          <a:srgbClr val="3366CC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2A56AE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E78A00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83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RHEL3_Intro</Template>
  <TotalTime>598</TotalTime>
  <Words>808</Words>
  <Application>Microsoft Office PowerPoint</Application>
  <PresentationFormat>全屏显示(4:3)</PresentationFormat>
  <Paragraphs>177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굴림</vt:lpstr>
      <vt:lpstr>Neo Sans Intel</vt:lpstr>
      <vt:lpstr>Neo Sans Intel Medium</vt:lpstr>
      <vt:lpstr>华文细黑</vt:lpstr>
      <vt:lpstr>微软雅黑</vt:lpstr>
      <vt:lpstr>幼圆</vt:lpstr>
      <vt:lpstr>Arial</vt:lpstr>
      <vt:lpstr>Calibri</vt:lpstr>
      <vt:lpstr>Consolas</vt:lpstr>
      <vt:lpstr>Verdana</vt:lpstr>
      <vt:lpstr>Wingdings</vt:lpstr>
      <vt:lpstr>RHEL3_Intro</vt:lpstr>
      <vt:lpstr>使用TS4与Medici</vt:lpstr>
      <vt:lpstr>本地使用</vt:lpstr>
      <vt:lpstr>软件使用——TSUPREM4 &amp; MEDICI</vt:lpstr>
      <vt:lpstr>启动Tsuprem4</vt:lpstr>
      <vt:lpstr>建立第一个源文件</vt:lpstr>
      <vt:lpstr>建立第一个源文件</vt:lpstr>
      <vt:lpstr>建立第一个源文件</vt:lpstr>
      <vt:lpstr>建立第一个源文件</vt:lpstr>
      <vt:lpstr>建立第一个源文件</vt:lpstr>
      <vt:lpstr>引用文件</vt:lpstr>
      <vt:lpstr>TS4.config</vt:lpstr>
      <vt:lpstr>TSUPREM4 宏与变量</vt:lpstr>
      <vt:lpstr>TSUPREM4 循环</vt:lpstr>
      <vt:lpstr>TSUPREM4 分支</vt:lpstr>
      <vt:lpstr>TSUPREM4 工艺模拟控制语句</vt:lpstr>
      <vt:lpstr>TSUPREM4 工艺模拟控制语句</vt:lpstr>
      <vt:lpstr>TSUPREM4 工艺模拟控制语句</vt:lpstr>
      <vt:lpstr>TSUPREM4 工艺模拟控制语句</vt:lpstr>
      <vt:lpstr>TSUPREM4 工艺模拟控制语句</vt:lpstr>
      <vt:lpstr>TSUPREM4 绘图语句</vt:lpstr>
      <vt:lpstr>MEDICI 的使用</vt:lpstr>
      <vt:lpstr>PowerPoint 演示文稿</vt:lpstr>
      <vt:lpstr>容易犯的错误和解决方法</vt:lpstr>
      <vt:lpstr>实验报告要求</vt:lpstr>
    </vt:vector>
  </TitlesOfParts>
  <Company>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讲解</dc:title>
  <dc:creator>周韧研</dc:creator>
  <cp:lastModifiedBy>Administrator</cp:lastModifiedBy>
  <cp:revision>153</cp:revision>
  <dcterms:created xsi:type="dcterms:W3CDTF">2010-02-25T01:52:53Z</dcterms:created>
  <dcterms:modified xsi:type="dcterms:W3CDTF">2021-10-14T10:49:15Z</dcterms:modified>
</cp:coreProperties>
</file>