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1" r:id="rId4"/>
    <p:sldId id="262" r:id="rId5"/>
    <p:sldId id="263" r:id="rId6"/>
    <p:sldId id="264" r:id="rId7"/>
    <p:sldId id="266" r:id="rId8"/>
    <p:sldId id="267" r:id="rId9"/>
    <p:sldId id="268" r:id="rId10"/>
    <p:sldId id="279" r:id="rId11"/>
    <p:sldId id="304" r:id="rId12"/>
    <p:sldId id="285" r:id="rId13"/>
    <p:sldId id="281" r:id="rId14"/>
    <p:sldId id="305" r:id="rId15"/>
    <p:sldId id="306" r:id="rId16"/>
    <p:sldId id="282" r:id="rId17"/>
    <p:sldId id="307" r:id="rId18"/>
    <p:sldId id="308" r:id="rId19"/>
    <p:sldId id="309" r:id="rId20"/>
    <p:sldId id="310" r:id="rId21"/>
    <p:sldId id="313" r:id="rId22"/>
    <p:sldId id="284" r:id="rId23"/>
    <p:sldId id="289" r:id="rId24"/>
    <p:sldId id="311" r:id="rId25"/>
    <p:sldId id="312" r:id="rId26"/>
  </p:sldIdLst>
  <p:sldSz cx="9144000" cy="6858000" type="screen4x3"/>
  <p:notesSz cx="6858000" cy="9144000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 bwMode="ltGray"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0" name="Rectangle 38"/>
          <p:cNvSpPr>
            <a:spLocks noChangeArrowheads="1"/>
          </p:cNvSpPr>
          <p:nvPr/>
        </p:nvSpPr>
        <p:spPr bwMode="white">
          <a:xfrm>
            <a:off x="38100" y="25400"/>
            <a:ext cx="9080500" cy="2924175"/>
          </a:xfrm>
          <a:prstGeom prst="rect">
            <a:avLst/>
          </a:prstGeom>
          <a:solidFill>
            <a:schemeClr val="hlink"/>
          </a:solidFill>
          <a:ln w="57150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84" name="Text Box 12"/>
          <p:cNvSpPr txBox="1">
            <a:spLocks noChangeArrowheads="1"/>
          </p:cNvSpPr>
          <p:nvPr/>
        </p:nvSpPr>
        <p:spPr bwMode="auto">
          <a:xfrm>
            <a:off x="228600" y="228600"/>
            <a:ext cx="1985946" cy="36933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+mj-ea"/>
                <a:ea typeface="+mj-ea"/>
              </a:rPr>
              <a:t>微纳电子实验</a:t>
            </a:r>
            <a:r>
              <a:rPr lang="en-US" altLang="zh-CN" dirty="0">
                <a:solidFill>
                  <a:schemeClr val="bg1"/>
                </a:solidFill>
                <a:latin typeface="+mj-ea"/>
                <a:ea typeface="+mj-ea"/>
              </a:rPr>
              <a:t>A</a:t>
            </a:r>
            <a:endParaRPr lang="en-US" altLang="ko-KR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3101" name="Group 29"/>
          <p:cNvGrpSpPr>
            <a:grpSpLocks/>
          </p:cNvGrpSpPr>
          <p:nvPr/>
        </p:nvGrpSpPr>
        <p:grpSpPr bwMode="auto">
          <a:xfrm>
            <a:off x="-4763" y="0"/>
            <a:ext cx="9148763" cy="6856413"/>
            <a:chOff x="-3" y="0"/>
            <a:chExt cx="5763" cy="4319"/>
          </a:xfrm>
        </p:grpSpPr>
        <p:sp>
          <p:nvSpPr>
            <p:cNvPr id="3095" name="AutoShape 23"/>
            <p:cNvSpPr>
              <a:spLocks noChangeArrowheads="1"/>
            </p:cNvSpPr>
            <p:nvPr userDrawn="1"/>
          </p:nvSpPr>
          <p:spPr bwMode="hidden">
            <a:xfrm>
              <a:off x="24" y="24"/>
              <a:ext cx="5712" cy="4272"/>
            </a:xfrm>
            <a:prstGeom prst="roundRect">
              <a:avLst>
                <a:gd name="adj" fmla="val 6227"/>
              </a:avLst>
            </a:prstGeom>
            <a:noFill/>
            <a:ln w="76200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96" name="Freeform 24"/>
            <p:cNvSpPr>
              <a:spLocks/>
            </p:cNvSpPr>
            <p:nvPr userDrawn="1"/>
          </p:nvSpPr>
          <p:spPr bwMode="hidden">
            <a:xfrm>
              <a:off x="0" y="0"/>
              <a:ext cx="288" cy="288"/>
            </a:xfrm>
            <a:custGeom>
              <a:avLst/>
              <a:gdLst/>
              <a:ahLst/>
              <a:cxnLst>
                <a:cxn ang="0">
                  <a:pos x="0" y="48"/>
                </a:cxn>
                <a:cxn ang="0">
                  <a:pos x="0" y="384"/>
                </a:cxn>
                <a:cxn ang="0">
                  <a:pos x="96" y="192"/>
                </a:cxn>
                <a:cxn ang="0">
                  <a:pos x="192" y="48"/>
                </a:cxn>
                <a:cxn ang="0">
                  <a:pos x="336" y="0"/>
                </a:cxn>
                <a:cxn ang="0">
                  <a:pos x="0" y="0"/>
                </a:cxn>
              </a:cxnLst>
              <a:rect l="0" t="0" r="r" b="b"/>
              <a:pathLst>
                <a:path w="336" h="384">
                  <a:moveTo>
                    <a:pt x="0" y="48"/>
                  </a:moveTo>
                  <a:lnTo>
                    <a:pt x="0" y="384"/>
                  </a:lnTo>
                  <a:lnTo>
                    <a:pt x="96" y="192"/>
                  </a:lnTo>
                  <a:lnTo>
                    <a:pt x="192" y="48"/>
                  </a:lnTo>
                  <a:lnTo>
                    <a:pt x="336" y="0"/>
                  </a:lnTo>
                  <a:lnTo>
                    <a:pt x="0" y="0"/>
                  </a:ln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97" name="Freeform 25"/>
            <p:cNvSpPr>
              <a:spLocks/>
            </p:cNvSpPr>
            <p:nvPr userDrawn="1"/>
          </p:nvSpPr>
          <p:spPr bwMode="hidden">
            <a:xfrm rot="-5408600">
              <a:off x="-50" y="4030"/>
              <a:ext cx="336" cy="242"/>
            </a:xfrm>
            <a:custGeom>
              <a:avLst/>
              <a:gdLst/>
              <a:ahLst/>
              <a:cxnLst>
                <a:cxn ang="0">
                  <a:pos x="0" y="48"/>
                </a:cxn>
                <a:cxn ang="0">
                  <a:pos x="0" y="384"/>
                </a:cxn>
                <a:cxn ang="0">
                  <a:pos x="96" y="192"/>
                </a:cxn>
                <a:cxn ang="0">
                  <a:pos x="192" y="48"/>
                </a:cxn>
                <a:cxn ang="0">
                  <a:pos x="336" y="0"/>
                </a:cxn>
                <a:cxn ang="0">
                  <a:pos x="0" y="0"/>
                </a:cxn>
              </a:cxnLst>
              <a:rect l="0" t="0" r="r" b="b"/>
              <a:pathLst>
                <a:path w="336" h="384">
                  <a:moveTo>
                    <a:pt x="0" y="48"/>
                  </a:moveTo>
                  <a:lnTo>
                    <a:pt x="0" y="384"/>
                  </a:lnTo>
                  <a:lnTo>
                    <a:pt x="96" y="192"/>
                  </a:lnTo>
                  <a:lnTo>
                    <a:pt x="192" y="48"/>
                  </a:lnTo>
                  <a:lnTo>
                    <a:pt x="336" y="0"/>
                  </a:lnTo>
                  <a:lnTo>
                    <a:pt x="0" y="0"/>
                  </a:ln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98" name="Freeform 26"/>
            <p:cNvSpPr>
              <a:spLocks/>
            </p:cNvSpPr>
            <p:nvPr userDrawn="1"/>
          </p:nvSpPr>
          <p:spPr bwMode="hidden">
            <a:xfrm rot="10769190">
              <a:off x="5519" y="4031"/>
              <a:ext cx="232" cy="287"/>
            </a:xfrm>
            <a:custGeom>
              <a:avLst/>
              <a:gdLst/>
              <a:ahLst/>
              <a:cxnLst>
                <a:cxn ang="0">
                  <a:pos x="0" y="48"/>
                </a:cxn>
                <a:cxn ang="0">
                  <a:pos x="0" y="384"/>
                </a:cxn>
                <a:cxn ang="0">
                  <a:pos x="96" y="192"/>
                </a:cxn>
                <a:cxn ang="0">
                  <a:pos x="192" y="48"/>
                </a:cxn>
                <a:cxn ang="0">
                  <a:pos x="336" y="0"/>
                </a:cxn>
                <a:cxn ang="0">
                  <a:pos x="0" y="0"/>
                </a:cxn>
              </a:cxnLst>
              <a:rect l="0" t="0" r="r" b="b"/>
              <a:pathLst>
                <a:path w="336" h="384">
                  <a:moveTo>
                    <a:pt x="0" y="48"/>
                  </a:moveTo>
                  <a:lnTo>
                    <a:pt x="0" y="384"/>
                  </a:lnTo>
                  <a:lnTo>
                    <a:pt x="96" y="192"/>
                  </a:lnTo>
                  <a:lnTo>
                    <a:pt x="192" y="48"/>
                  </a:lnTo>
                  <a:lnTo>
                    <a:pt x="336" y="0"/>
                  </a:lnTo>
                  <a:lnTo>
                    <a:pt x="0" y="0"/>
                  </a:ln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99" name="Freeform 27"/>
            <p:cNvSpPr>
              <a:spLocks/>
            </p:cNvSpPr>
            <p:nvPr userDrawn="1"/>
          </p:nvSpPr>
          <p:spPr bwMode="hidden">
            <a:xfrm rot="5400000">
              <a:off x="5472" y="0"/>
              <a:ext cx="288" cy="288"/>
            </a:xfrm>
            <a:custGeom>
              <a:avLst/>
              <a:gdLst/>
              <a:ahLst/>
              <a:cxnLst>
                <a:cxn ang="0">
                  <a:pos x="0" y="48"/>
                </a:cxn>
                <a:cxn ang="0">
                  <a:pos x="0" y="384"/>
                </a:cxn>
                <a:cxn ang="0">
                  <a:pos x="96" y="192"/>
                </a:cxn>
                <a:cxn ang="0">
                  <a:pos x="192" y="48"/>
                </a:cxn>
                <a:cxn ang="0">
                  <a:pos x="336" y="0"/>
                </a:cxn>
                <a:cxn ang="0">
                  <a:pos x="0" y="0"/>
                </a:cxn>
              </a:cxnLst>
              <a:rect l="0" t="0" r="r" b="b"/>
              <a:pathLst>
                <a:path w="336" h="384">
                  <a:moveTo>
                    <a:pt x="0" y="48"/>
                  </a:moveTo>
                  <a:lnTo>
                    <a:pt x="0" y="384"/>
                  </a:lnTo>
                  <a:lnTo>
                    <a:pt x="96" y="192"/>
                  </a:lnTo>
                  <a:lnTo>
                    <a:pt x="192" y="48"/>
                  </a:lnTo>
                  <a:lnTo>
                    <a:pt x="336" y="0"/>
                  </a:lnTo>
                  <a:lnTo>
                    <a:pt x="0" y="0"/>
                  </a:ln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auto">
          <a:xfrm>
            <a:off x="1042988" y="1773238"/>
            <a:ext cx="7124700" cy="685800"/>
          </a:xfrm>
        </p:spPr>
        <p:txBody>
          <a:bodyPr/>
          <a:lstStyle>
            <a:lvl1pPr algn="ctr">
              <a:defRPr sz="3600" baseline="0">
                <a:latin typeface="Neo Sans Intel" pitchFamily="34" charset="0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altLang="ko-KR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58888" y="2492375"/>
            <a:ext cx="6264275" cy="461963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000">
                <a:solidFill>
                  <a:schemeClr val="bg2"/>
                </a:solidFill>
              </a:defRPr>
            </a:lvl1pPr>
          </a:lstStyle>
          <a:p>
            <a:r>
              <a:rPr lang="zh-CN" altLang="en-US" dirty="0"/>
              <a:t>单击此处编辑母版副标题样式</a:t>
            </a:r>
            <a:endParaRPr lang="en-US" altLang="ko-KR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Neo Sans Intel" pitchFamily="34" charset="0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Neo Sans Intel" pitchFamily="34" charset="0"/>
              </a:defRPr>
            </a:lvl1pPr>
            <a:lvl2pPr>
              <a:defRPr sz="2400" baseline="0">
                <a:latin typeface="Neo Sans Intel" pitchFamily="34" charset="0"/>
              </a:defRPr>
            </a:lvl2pPr>
            <a:lvl3pPr>
              <a:defRPr sz="2000" baseline="0">
                <a:latin typeface="Neo Sans Intel" pitchFamily="34" charset="0"/>
              </a:defRPr>
            </a:lvl3pPr>
            <a:lvl4pPr>
              <a:defRPr sz="2000" baseline="0">
                <a:latin typeface="Neo Sans Intel" pitchFamily="34" charset="0"/>
              </a:defRPr>
            </a:lvl4pPr>
            <a:lvl5pPr>
              <a:defRPr sz="2000" baseline="0">
                <a:latin typeface="Neo Sans Intel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E06B0AA-1577-41BC-B737-E14D32CE6C7E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www.themegalllery.com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7111496-5D39-45E1-AC23-52A1876D7188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76400"/>
            <a:ext cx="4033838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676400"/>
            <a:ext cx="4033837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www.themegalllery.com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1C8F562-0CBF-4CA8-8F0A-735FC23FAFF1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www.themegalllery.com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DB13A50-6335-4278-B6E4-5556704CCACC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www.themegalllery.com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167E2D1-9E43-4576-9022-959D073A226E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www.themegalllery.com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6D7682A-98E3-4D90-B3C5-52CBEAD624F9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www.themegalllery.com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A406968-5C07-4D82-83F7-51249F6C43AE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www.themegalllery.com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00EF274-B256-4AFF-9ACC-D0D000E32DF4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www.themegalllery.com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82DD921-70CE-4FD9-909D-8D8FC5B0798E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3050" y="457200"/>
            <a:ext cx="2054225" cy="59436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3450" cy="59436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www.themegalllery.com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EE0C21F-6582-4513-916A-C7DAB1BFF390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标题和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124825" cy="69215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表占位符 2"/>
          <p:cNvSpPr>
            <a:spLocks noGrp="1"/>
          </p:cNvSpPr>
          <p:nvPr>
            <p:ph type="chart" idx="1"/>
          </p:nvPr>
        </p:nvSpPr>
        <p:spPr>
          <a:xfrm>
            <a:off x="457200" y="1676400"/>
            <a:ext cx="8220075" cy="4724400"/>
          </a:xfrm>
        </p:spPr>
        <p:txBody>
          <a:bodyPr/>
          <a:lstStyle/>
          <a:p>
            <a:r>
              <a:rPr lang="zh-CN" altLang="en-US"/>
              <a:t>单击图标添加图表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>
          <a:xfrm>
            <a:off x="6781800" y="0"/>
            <a:ext cx="2057400" cy="2286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ko-KR"/>
              <a:t>www.themegalllery.com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>
          <a:xfrm>
            <a:off x="4189413" y="6524625"/>
            <a:ext cx="765175" cy="333375"/>
          </a:xfrm>
        </p:spPr>
        <p:txBody>
          <a:bodyPr/>
          <a:lstStyle>
            <a:lvl1pPr>
              <a:defRPr/>
            </a:lvl1pPr>
          </a:lstStyle>
          <a:p>
            <a:fld id="{C0BD1B33-6CEB-4FD8-941B-C7E673035CC4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1" name="Picture 17" descr="business_page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0" y="307975"/>
            <a:ext cx="9144000" cy="1079500"/>
          </a:xfrm>
          <a:prstGeom prst="rect">
            <a:avLst/>
          </a:prstGeom>
          <a:noFill/>
        </p:spPr>
      </p:pic>
      <p:sp>
        <p:nvSpPr>
          <p:cNvPr id="1033" name="Rectangle 9"/>
          <p:cNvSpPr>
            <a:spLocks noChangeArrowheads="1"/>
          </p:cNvSpPr>
          <p:nvPr/>
        </p:nvSpPr>
        <p:spPr bwMode="black">
          <a:xfrm>
            <a:off x="0" y="0"/>
            <a:ext cx="9144000" cy="241300"/>
          </a:xfrm>
          <a:prstGeom prst="rect">
            <a:avLst/>
          </a:prstGeom>
          <a:solidFill>
            <a:schemeClr val="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457200" y="457200"/>
            <a:ext cx="81248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Click to edit Master title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76400"/>
            <a:ext cx="8220075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Click to edit Master text</a:t>
            </a:r>
          </a:p>
          <a:p>
            <a:pPr lvl="1"/>
            <a:r>
              <a:rPr lang="en-US" altLang="ko-KR" dirty="0"/>
              <a:t>Second level</a:t>
            </a:r>
          </a:p>
          <a:p>
            <a:pPr lvl="2"/>
            <a:r>
              <a:rPr lang="en-US" altLang="ko-KR" dirty="0"/>
              <a:t>Third level</a:t>
            </a:r>
          </a:p>
          <a:p>
            <a:pPr lvl="3"/>
            <a:r>
              <a:rPr lang="en-US" altLang="ko-KR" dirty="0"/>
              <a:t>Fourth level</a:t>
            </a:r>
          </a:p>
          <a:p>
            <a:pPr lvl="4"/>
            <a:r>
              <a:rPr lang="en-US" altLang="ko-KR" dirty="0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white">
          <a:xfrm>
            <a:off x="6781800" y="0"/>
            <a:ext cx="20574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altLang="ko-KR"/>
              <a:t>www.themegalllery.com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189413" y="6524625"/>
            <a:ext cx="765175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1">
                <a:latin typeface="+mn-lt"/>
              </a:defRPr>
            </a:lvl1pPr>
          </a:lstStyle>
          <a:p>
            <a:fld id="{55649441-5046-4B00-9FDD-A505171D3C81}" type="slidenum">
              <a:rPr lang="en-US" altLang="ko-KR"/>
              <a:pPr/>
              <a:t>‹#›</a:t>
            </a:fld>
            <a:endParaRPr lang="en-US" altLang="ko-KR"/>
          </a:p>
        </p:txBody>
      </p:sp>
      <p:sp>
        <p:nvSpPr>
          <p:cNvPr id="1032" name="Text Box 8"/>
          <p:cNvSpPr txBox="1">
            <a:spLocks noChangeArrowheads="1"/>
          </p:cNvSpPr>
          <p:nvPr/>
        </p:nvSpPr>
        <p:spPr bwMode="auto">
          <a:xfrm>
            <a:off x="7046913" y="6477000"/>
            <a:ext cx="186848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1400" b="1" dirty="0">
                <a:latin typeface="华文细黑" pitchFamily="2" charset="-122"/>
                <a:ea typeface="华文细黑" pitchFamily="2" charset="-122"/>
              </a:rPr>
              <a:t>微纳电子实验</a:t>
            </a:r>
            <a:r>
              <a:rPr lang="en-US" altLang="zh-CN" sz="1400" b="1" dirty="0">
                <a:latin typeface="Arial" pitchFamily="34" charset="0"/>
                <a:ea typeface="华文细黑" pitchFamily="2" charset="-122"/>
                <a:cs typeface="Arial" pitchFamily="34" charset="0"/>
              </a:rPr>
              <a:t>A</a:t>
            </a:r>
            <a:endParaRPr lang="en-US" altLang="ko-KR" sz="1400" b="1" dirty="0">
              <a:latin typeface="Arial" pitchFamily="34" charset="0"/>
              <a:ea typeface="华文细黑" pitchFamily="2" charset="-122"/>
              <a:cs typeface="Arial" pitchFamily="34" charset="0"/>
            </a:endParaRPr>
          </a:p>
        </p:txBody>
      </p:sp>
      <p:sp>
        <p:nvSpPr>
          <p:cNvPr id="1035" name="Rectangle 11"/>
          <p:cNvSpPr>
            <a:spLocks noChangeArrowheads="1"/>
          </p:cNvSpPr>
          <p:nvPr/>
        </p:nvSpPr>
        <p:spPr bwMode="gray">
          <a:xfrm>
            <a:off x="0" y="1447800"/>
            <a:ext cx="9144000" cy="152400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folHlink">
                  <a:gamma/>
                  <a:tint val="0"/>
                  <a:invGamma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kumimoji="1" sz="3200" baseline="0">
          <a:solidFill>
            <a:schemeClr val="bg1"/>
          </a:solidFill>
          <a:latin typeface="Calibri" pitchFamily="34" charset="0"/>
          <a:ea typeface="微软雅黑" pitchFamily="34" charset="-122"/>
          <a:cs typeface="+mj-cs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chemeClr val="bg1"/>
          </a:solidFill>
          <a:latin typeface="Verdana" pitchFamily="34" charset="0"/>
          <a:ea typeface="굴림" charset="-127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chemeClr val="bg1"/>
          </a:solidFill>
          <a:latin typeface="Verdana" pitchFamily="34" charset="0"/>
          <a:ea typeface="굴림" charset="-127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chemeClr val="bg1"/>
          </a:solidFill>
          <a:latin typeface="Verdana" pitchFamily="34" charset="0"/>
          <a:ea typeface="굴림" charset="-127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chemeClr val="bg1"/>
          </a:solidFill>
          <a:latin typeface="Verdana" pitchFamily="34" charset="0"/>
          <a:ea typeface="굴림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chemeClr val="bg1"/>
          </a:solidFill>
          <a:latin typeface="Verdana" pitchFamily="34" charset="0"/>
          <a:ea typeface="굴림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chemeClr val="bg1"/>
          </a:solidFill>
          <a:latin typeface="Verdana" pitchFamily="34" charset="0"/>
          <a:ea typeface="굴림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chemeClr val="bg1"/>
          </a:solidFill>
          <a:latin typeface="Verdana" pitchFamily="34" charset="0"/>
          <a:ea typeface="굴림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chemeClr val="bg1"/>
          </a:solidFill>
          <a:latin typeface="Verdana" pitchFamily="34" charset="0"/>
          <a:ea typeface="굴림" charset="-127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Font typeface="Wingdings" pitchFamily="2" charset="2"/>
        <a:buChar char="§"/>
        <a:defRPr kumimoji="1" sz="3200" baseline="0">
          <a:solidFill>
            <a:schemeClr val="hlink"/>
          </a:solidFill>
          <a:latin typeface="Calibri" pitchFamily="34" charset="0"/>
          <a:ea typeface="微软雅黑" pitchFamily="34" charset="-122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800" baseline="0">
          <a:solidFill>
            <a:schemeClr val="tx2"/>
          </a:solidFill>
          <a:latin typeface="Calibri" pitchFamily="34" charset="0"/>
          <a:ea typeface="微软雅黑" pitchFamily="34" charset="-122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Font typeface="Wingdings" pitchFamily="2" charset="2"/>
        <a:buChar char="§"/>
        <a:defRPr kumimoji="1" sz="2800" baseline="0">
          <a:solidFill>
            <a:schemeClr val="hlink"/>
          </a:solidFill>
          <a:latin typeface="Calibri" pitchFamily="34" charset="0"/>
          <a:ea typeface="微软雅黑" pitchFamily="34" charset="-122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800" baseline="0">
          <a:solidFill>
            <a:schemeClr val="tx2"/>
          </a:solidFill>
          <a:latin typeface="Calibri" pitchFamily="34" charset="0"/>
          <a:ea typeface="微软雅黑" pitchFamily="34" charset="-122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Font typeface="Wingdings" pitchFamily="2" charset="2"/>
        <a:buChar char="§"/>
        <a:defRPr kumimoji="1" sz="2800" baseline="0">
          <a:solidFill>
            <a:schemeClr val="hlink"/>
          </a:solidFill>
          <a:latin typeface="Calibri" pitchFamily="34" charset="0"/>
          <a:ea typeface="微软雅黑" pitchFamily="34" charset="-122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Font typeface="Wingdings" pitchFamily="2" charset="2"/>
        <a:buChar char="§"/>
        <a:defRPr kumimoji="1" sz="2800">
          <a:solidFill>
            <a:schemeClr val="hlink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Font typeface="Wingdings" pitchFamily="2" charset="2"/>
        <a:buChar char="§"/>
        <a:defRPr kumimoji="1" sz="2800">
          <a:solidFill>
            <a:schemeClr val="hlink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Font typeface="Wingdings" pitchFamily="2" charset="2"/>
        <a:buChar char="§"/>
        <a:defRPr kumimoji="1" sz="2800">
          <a:solidFill>
            <a:schemeClr val="hlink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Font typeface="Wingdings" pitchFamily="2" charset="2"/>
        <a:buChar char="§"/>
        <a:defRPr kumimoji="1" sz="2800">
          <a:solidFill>
            <a:schemeClr val="hlink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使用</a:t>
            </a:r>
            <a:r>
              <a:rPr lang="en-US" altLang="zh-CN" dirty="0"/>
              <a:t>Linux </a:t>
            </a:r>
            <a:r>
              <a:rPr lang="zh-CN" altLang="en-US" dirty="0"/>
              <a:t>操作系统</a:t>
            </a:r>
            <a:endParaRPr lang="en-US" altLang="ko-K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本地使用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注意</a:t>
            </a:r>
            <a:endParaRPr lang="en-US" altLang="zh-CN" dirty="0"/>
          </a:p>
          <a:p>
            <a:pPr lvl="1"/>
            <a:r>
              <a:rPr lang="zh-CN" altLang="en-US" dirty="0"/>
              <a:t>个人数据并不保存在客户计算机中，因此不一定每次都使用同一个客户计算机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牢记密码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本地使用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half" idx="2"/>
          </p:nvPr>
        </p:nvSpPr>
        <p:spPr>
          <a:xfrm>
            <a:off x="6715140" y="1676400"/>
            <a:ext cx="1962135" cy="4724400"/>
          </a:xfrm>
        </p:spPr>
        <p:txBody>
          <a:bodyPr/>
          <a:lstStyle/>
          <a:p>
            <a:r>
              <a:rPr lang="zh-CN" altLang="en-US" sz="1600" dirty="0"/>
              <a:t>打开电源，直到左侧所示的界面出现，输入分配给你的用户名</a:t>
            </a:r>
          </a:p>
        </p:txBody>
      </p:sp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6000" y="1800000"/>
            <a:ext cx="6095238" cy="45714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本地使用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half" idx="2"/>
          </p:nvPr>
        </p:nvSpPr>
        <p:spPr>
          <a:xfrm>
            <a:off x="6715140" y="1676400"/>
            <a:ext cx="1962135" cy="4724400"/>
          </a:xfrm>
        </p:spPr>
        <p:txBody>
          <a:bodyPr/>
          <a:lstStyle/>
          <a:p>
            <a:r>
              <a:rPr lang="zh-CN" altLang="en-US" sz="1600" dirty="0"/>
              <a:t>输入密码，密码默认为</a:t>
            </a:r>
            <a:r>
              <a:rPr lang="en-US" altLang="zh-CN" sz="1600" dirty="0" err="1"/>
              <a:t>gll</a:t>
            </a:r>
            <a:r>
              <a:rPr lang="zh-CN" altLang="en-US" sz="1600" dirty="0"/>
              <a:t>，为了保护个人资料，需要修改密码，稍候介绍</a:t>
            </a:r>
          </a:p>
        </p:txBody>
      </p:sp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6000" y="1800000"/>
            <a:ext cx="6095238" cy="45714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本地使用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half" idx="2"/>
          </p:nvPr>
        </p:nvSpPr>
        <p:spPr>
          <a:xfrm>
            <a:off x="6715140" y="1676400"/>
            <a:ext cx="1962135" cy="4724400"/>
          </a:xfrm>
        </p:spPr>
        <p:txBody>
          <a:bodyPr/>
          <a:lstStyle/>
          <a:p>
            <a:r>
              <a:rPr lang="zh-CN" altLang="en-US" sz="1600" dirty="0"/>
              <a:t>稍等进入桌面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000" y="1800000"/>
            <a:ext cx="6241524" cy="46811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本地使用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half" idx="2"/>
          </p:nvPr>
        </p:nvSpPr>
        <p:spPr>
          <a:xfrm>
            <a:off x="6715140" y="1676400"/>
            <a:ext cx="1962135" cy="1752600"/>
          </a:xfrm>
        </p:spPr>
        <p:txBody>
          <a:bodyPr/>
          <a:lstStyle/>
          <a:p>
            <a:r>
              <a:rPr lang="zh-CN" altLang="en-US" sz="1600" dirty="0"/>
              <a:t>关机的方法是，单击工具栏</a:t>
            </a:r>
            <a:br>
              <a:rPr lang="en-US" altLang="zh-CN" sz="1600" dirty="0"/>
            </a:br>
            <a:r>
              <a:rPr lang="en-US" altLang="zh-CN" sz="1600" dirty="0"/>
              <a:t>System</a:t>
            </a:r>
            <a:br>
              <a:rPr lang="en-US" altLang="zh-CN" sz="1600" dirty="0"/>
            </a:br>
            <a:r>
              <a:rPr lang="zh-CN" altLang="en-US" sz="1600" dirty="0"/>
              <a:t>选择</a:t>
            </a:r>
            <a:r>
              <a:rPr lang="en-US" altLang="zh-CN" sz="1600" dirty="0"/>
              <a:t>Log out</a:t>
            </a:r>
          </a:p>
          <a:p>
            <a:r>
              <a:rPr lang="zh-CN" altLang="en-US" sz="1600" dirty="0"/>
              <a:t>然后选择</a:t>
            </a:r>
            <a:br>
              <a:rPr lang="en-US" altLang="zh-CN" sz="1600" dirty="0"/>
            </a:br>
            <a:r>
              <a:rPr lang="en-US" altLang="zh-CN" sz="1600" dirty="0"/>
              <a:t>Shutdown</a:t>
            </a:r>
            <a:br>
              <a:rPr lang="en-US" altLang="zh-CN" sz="1600" dirty="0"/>
            </a:br>
            <a:br>
              <a:rPr lang="en-US" altLang="zh-CN" sz="1600" dirty="0"/>
            </a:br>
            <a:br>
              <a:rPr lang="en-US" altLang="zh-CN" sz="1600" dirty="0"/>
            </a:br>
            <a:br>
              <a:rPr lang="en-US" altLang="zh-CN" sz="1600" dirty="0"/>
            </a:br>
            <a:endParaRPr lang="en-US" altLang="zh-CN" sz="16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000" y="1800000"/>
            <a:ext cx="6241524" cy="46811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本地使用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half" idx="2"/>
          </p:nvPr>
        </p:nvSpPr>
        <p:spPr>
          <a:xfrm>
            <a:off x="6715140" y="1676400"/>
            <a:ext cx="1962135" cy="4724400"/>
          </a:xfrm>
        </p:spPr>
        <p:txBody>
          <a:bodyPr/>
          <a:lstStyle/>
          <a:p>
            <a:r>
              <a:rPr lang="zh-CN" altLang="en-US" sz="1600" dirty="0"/>
              <a:t>实验中要频繁使用终端窗口（事实上，在</a:t>
            </a:r>
            <a:r>
              <a:rPr lang="en-US" altLang="zh-CN" sz="1600" dirty="0"/>
              <a:t>Linux</a:t>
            </a:r>
            <a:r>
              <a:rPr lang="zh-CN" altLang="en-US" sz="1600" dirty="0"/>
              <a:t>下基本很少用到图形界面的操作）</a:t>
            </a:r>
            <a:endParaRPr lang="en-US" altLang="zh-CN" sz="1600" dirty="0"/>
          </a:p>
          <a:p>
            <a:r>
              <a:rPr lang="zh-CN" altLang="en-US" sz="1600" dirty="0"/>
              <a:t>启用终端有两种方法，一种是从</a:t>
            </a:r>
            <a:r>
              <a:rPr lang="en-US" altLang="zh-CN" sz="1600" dirty="0"/>
              <a:t>Application</a:t>
            </a:r>
            <a:r>
              <a:rPr lang="zh-CN" altLang="en-US" sz="1600" dirty="0"/>
              <a:t>菜单中选择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000" y="1800000"/>
            <a:ext cx="6241524" cy="46811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本地使用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half" idx="2"/>
          </p:nvPr>
        </p:nvSpPr>
        <p:spPr>
          <a:xfrm>
            <a:off x="6715140" y="1676400"/>
            <a:ext cx="1962135" cy="4724400"/>
          </a:xfrm>
        </p:spPr>
        <p:txBody>
          <a:bodyPr/>
          <a:lstStyle/>
          <a:p>
            <a:r>
              <a:rPr lang="zh-CN" altLang="en-US" sz="1600" dirty="0"/>
              <a:t>另一种是在桌面上单击鼠标右键，选择</a:t>
            </a:r>
            <a:br>
              <a:rPr lang="en-US" altLang="zh-CN" sz="1600" dirty="0"/>
            </a:br>
            <a:r>
              <a:rPr lang="en-US" altLang="zh-CN" sz="1600" dirty="0"/>
              <a:t>Open Terminal</a:t>
            </a:r>
            <a:endParaRPr lang="zh-CN" altLang="en-US" sz="16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000" y="1800000"/>
            <a:ext cx="6241524" cy="46811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本地使用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half" idx="2"/>
          </p:nvPr>
        </p:nvSpPr>
        <p:spPr>
          <a:xfrm>
            <a:off x="6715140" y="1676400"/>
            <a:ext cx="1962135" cy="4724400"/>
          </a:xfrm>
        </p:spPr>
        <p:txBody>
          <a:bodyPr/>
          <a:lstStyle/>
          <a:p>
            <a:r>
              <a:rPr lang="en-US" altLang="zh-CN" sz="1600" dirty="0"/>
              <a:t>Terminal</a:t>
            </a:r>
            <a:endParaRPr lang="zh-CN" altLang="en-US" sz="16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000" y="1800000"/>
            <a:ext cx="6241524" cy="46811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Linux </a:t>
            </a:r>
            <a:r>
              <a:rPr lang="zh-CN" altLang="en-US" dirty="0"/>
              <a:t>命令初步</a:t>
            </a:r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使用</a:t>
            </a:r>
            <a:r>
              <a:rPr lang="en-US" altLang="zh-CN" dirty="0"/>
              <a:t>Terminal</a:t>
            </a:r>
          </a:p>
          <a:p>
            <a:r>
              <a:rPr lang="zh-CN" altLang="en-US" dirty="0"/>
              <a:t>修改密码</a:t>
            </a:r>
            <a:endParaRPr lang="en-US" altLang="zh-CN" dirty="0"/>
          </a:p>
          <a:p>
            <a:r>
              <a:rPr lang="zh-CN" altLang="en-US" dirty="0"/>
              <a:t>如何进行目录操作</a:t>
            </a:r>
            <a:endParaRPr lang="en-US" altLang="zh-CN" dirty="0"/>
          </a:p>
          <a:p>
            <a:r>
              <a:rPr lang="zh-CN" altLang="en-US" dirty="0"/>
              <a:t>如何编辑文本文件</a:t>
            </a:r>
            <a:endParaRPr lang="en-US" altLang="zh-CN" dirty="0"/>
          </a:p>
          <a:p>
            <a:r>
              <a:rPr lang="zh-CN" altLang="en-US" dirty="0"/>
              <a:t>如何截图</a:t>
            </a:r>
            <a:endParaRPr lang="en-US" altLang="zh-CN" dirty="0"/>
          </a:p>
          <a:p>
            <a:r>
              <a:rPr lang="zh-CN" altLang="en-US" dirty="0"/>
              <a:t>复制、移动和快捷方式</a:t>
            </a:r>
            <a:endParaRPr lang="en-US" altLang="zh-CN" dirty="0"/>
          </a:p>
          <a:p>
            <a:r>
              <a:rPr lang="zh-CN" altLang="en-US" dirty="0"/>
              <a:t>文件交流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4294967295"/>
          </p:nvPr>
        </p:nvSpPr>
        <p:spPr>
          <a:xfrm>
            <a:off x="7086600" y="0"/>
            <a:ext cx="2057400" cy="228600"/>
          </a:xfrm>
        </p:spPr>
        <p:txBody>
          <a:bodyPr/>
          <a:lstStyle/>
          <a:p>
            <a:r>
              <a:rPr lang="en-US" altLang="ko-KR"/>
              <a:t>www.themegalllery.com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Linux </a:t>
            </a:r>
            <a:r>
              <a:rPr lang="zh-CN" altLang="en-US" dirty="0"/>
              <a:t>命令初步 （使用</a:t>
            </a:r>
            <a:r>
              <a:rPr lang="en-US" altLang="zh-CN" dirty="0"/>
              <a:t>Terminal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76400"/>
            <a:ext cx="8220075" cy="3120752"/>
          </a:xfrm>
        </p:spPr>
        <p:txBody>
          <a:bodyPr/>
          <a:lstStyle/>
          <a:p>
            <a:r>
              <a:rPr lang="zh-CN" altLang="en-US" dirty="0"/>
              <a:t>上下方向键可以浏览执行过的命令</a:t>
            </a:r>
            <a:endParaRPr lang="en-US" altLang="zh-CN" dirty="0"/>
          </a:p>
          <a:p>
            <a:r>
              <a:rPr lang="en-US" altLang="zh-CN" dirty="0"/>
              <a:t>Tab</a:t>
            </a:r>
            <a:r>
              <a:rPr lang="zh-CN" altLang="en-US" dirty="0"/>
              <a:t>键用于命令和目录的补齐</a:t>
            </a:r>
            <a:endParaRPr lang="en-US" altLang="zh-CN" dirty="0"/>
          </a:p>
          <a:p>
            <a:pPr lvl="1"/>
            <a:r>
              <a:rPr lang="zh-CN" altLang="en-US" dirty="0"/>
              <a:t>只需要敲前几个字母然后按</a:t>
            </a:r>
            <a:r>
              <a:rPr lang="en-US" altLang="zh-CN" dirty="0"/>
              <a:t>Tab</a:t>
            </a:r>
          </a:p>
          <a:p>
            <a:r>
              <a:rPr lang="zh-CN" altLang="en-US" dirty="0"/>
              <a:t>本幻灯片的约定：</a:t>
            </a:r>
            <a:endParaRPr lang="en-US" altLang="zh-CN" dirty="0"/>
          </a:p>
          <a:p>
            <a:pPr lvl="1"/>
            <a:r>
              <a:rPr lang="zh-CN" altLang="en-US" dirty="0"/>
              <a:t>红色：提示符；蓝色：命令（双下划线：空格）</a:t>
            </a:r>
            <a:endParaRPr lang="en-US" altLang="zh-CN" dirty="0"/>
          </a:p>
          <a:p>
            <a:pPr lvl="1"/>
            <a:r>
              <a:rPr lang="zh-CN" altLang="en-US" dirty="0"/>
              <a:t>绿色：命令的结果</a:t>
            </a:r>
            <a:endParaRPr lang="en-US" altLang="zh-CN" dirty="0"/>
          </a:p>
        </p:txBody>
      </p:sp>
      <p:sp>
        <p:nvSpPr>
          <p:cNvPr id="4" name="矩形 3"/>
          <p:cNvSpPr/>
          <p:nvPr/>
        </p:nvSpPr>
        <p:spPr>
          <a:xfrm>
            <a:off x="611560" y="4941168"/>
            <a:ext cx="8280920" cy="9233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tx2"/>
                </a:solidFill>
                <a:latin typeface="Consolas" pitchFamily="49" charset="0"/>
              </a:rPr>
              <a:t>$</a:t>
            </a:r>
            <a:r>
              <a:rPr lang="en-US" altLang="zh-CN" dirty="0">
                <a:solidFill>
                  <a:srgbClr val="FF0000"/>
                </a:solidFill>
                <a:latin typeface="Consolas" pitchFamily="49" charset="0"/>
              </a:rPr>
              <a:t> </a:t>
            </a:r>
            <a:r>
              <a:rPr lang="en-US" altLang="zh-CN" dirty="0" err="1">
                <a:solidFill>
                  <a:srgbClr val="0070C0"/>
                </a:solidFill>
                <a:latin typeface="Consolas" pitchFamily="49" charset="0"/>
              </a:rPr>
              <a:t>ls</a:t>
            </a:r>
            <a:r>
              <a:rPr lang="en-US" altLang="zh-CN" dirty="0">
                <a:solidFill>
                  <a:srgbClr val="0070C0"/>
                </a:solidFill>
                <a:latin typeface="Consolas" pitchFamily="49" charset="0"/>
              </a:rPr>
              <a:t>‗-l</a:t>
            </a:r>
          </a:p>
          <a:p>
            <a:r>
              <a:rPr lang="en-US" altLang="zh-CN" dirty="0">
                <a:solidFill>
                  <a:srgbClr val="00B050"/>
                </a:solidFill>
                <a:latin typeface="Consolas" pitchFamily="49" charset="0"/>
              </a:rPr>
              <a:t>total 4</a:t>
            </a:r>
          </a:p>
          <a:p>
            <a:r>
              <a:rPr lang="en-US" altLang="zh-CN" dirty="0" err="1">
                <a:solidFill>
                  <a:srgbClr val="00B050"/>
                </a:solidFill>
                <a:latin typeface="Consolas" pitchFamily="49" charset="0"/>
              </a:rPr>
              <a:t>drwxr</a:t>
            </a:r>
            <a:r>
              <a:rPr lang="en-US" altLang="zh-CN" dirty="0">
                <a:solidFill>
                  <a:srgbClr val="00B050"/>
                </a:solidFill>
                <a:latin typeface="Consolas" pitchFamily="49" charset="0"/>
              </a:rPr>
              <a:t>-</a:t>
            </a:r>
            <a:r>
              <a:rPr lang="en-US" altLang="zh-CN" dirty="0" err="1">
                <a:solidFill>
                  <a:srgbClr val="00B050"/>
                </a:solidFill>
                <a:latin typeface="Consolas" pitchFamily="49" charset="0"/>
              </a:rPr>
              <a:t>xr</a:t>
            </a:r>
            <a:r>
              <a:rPr lang="en-US" altLang="zh-CN" dirty="0">
                <a:solidFill>
                  <a:srgbClr val="00B050"/>
                </a:solidFill>
                <a:latin typeface="Consolas" pitchFamily="49" charset="0"/>
              </a:rPr>
              <a:t>-x 2 gll1 </a:t>
            </a:r>
            <a:r>
              <a:rPr lang="en-US" altLang="zh-CN" dirty="0" err="1">
                <a:solidFill>
                  <a:srgbClr val="00B050"/>
                </a:solidFill>
                <a:latin typeface="Consolas" pitchFamily="49" charset="0"/>
              </a:rPr>
              <a:t>gllgrp</a:t>
            </a:r>
            <a:r>
              <a:rPr lang="en-US" altLang="zh-CN" dirty="0">
                <a:solidFill>
                  <a:srgbClr val="00B050"/>
                </a:solidFill>
                <a:latin typeface="Consolas" pitchFamily="49" charset="0"/>
              </a:rPr>
              <a:t> 4096 Mar 18 15:02 Desktop</a:t>
            </a:r>
          </a:p>
        </p:txBody>
      </p:sp>
    </p:spTree>
    <p:extLst>
      <p:ext uri="{BB962C8B-B14F-4D97-AF65-F5344CB8AC3E}">
        <p14:creationId xmlns:p14="http://schemas.microsoft.com/office/powerpoint/2010/main" val="36488906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Linux </a:t>
            </a:r>
            <a:r>
              <a:rPr lang="zh-CN" altLang="en-US" dirty="0"/>
              <a:t>命令初步 （如何进行目录操作）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76400"/>
            <a:ext cx="8220075" cy="600472"/>
          </a:xfrm>
        </p:spPr>
        <p:txBody>
          <a:bodyPr/>
          <a:lstStyle/>
          <a:p>
            <a:r>
              <a:rPr lang="zh-CN" altLang="en-US" dirty="0"/>
              <a:t>修改密码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5" name="矩形 4"/>
          <p:cNvSpPr/>
          <p:nvPr/>
        </p:nvSpPr>
        <p:spPr>
          <a:xfrm>
            <a:off x="502834" y="2348880"/>
            <a:ext cx="8280920" cy="406265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tx2"/>
                </a:solidFill>
                <a:latin typeface="Consolas" pitchFamily="49" charset="0"/>
              </a:rPr>
              <a:t>$</a:t>
            </a:r>
            <a:r>
              <a:rPr lang="en-US" altLang="zh-CN" dirty="0">
                <a:solidFill>
                  <a:srgbClr val="0070C0"/>
                </a:solidFill>
                <a:latin typeface="Consolas" pitchFamily="49" charset="0"/>
              </a:rPr>
              <a:t> ssh‗</a:t>
            </a:r>
            <a:r>
              <a:rPr lang="en-US" altLang="zh-CN" b="1" i="1" dirty="0">
                <a:solidFill>
                  <a:srgbClr val="0070C0"/>
                </a:solidFill>
                <a:latin typeface="Consolas" pitchFamily="49" charset="0"/>
              </a:rPr>
              <a:t>gll1</a:t>
            </a:r>
            <a:r>
              <a:rPr lang="en-US" altLang="zh-CN" dirty="0">
                <a:solidFill>
                  <a:srgbClr val="0070C0"/>
                </a:solidFill>
                <a:latin typeface="Consolas" pitchFamily="49" charset="0"/>
              </a:rPr>
              <a:t>@192.9.201.200</a:t>
            </a:r>
          </a:p>
          <a:p>
            <a:r>
              <a:rPr lang="en-US" altLang="zh-CN" sz="1400" dirty="0">
                <a:solidFill>
                  <a:srgbClr val="00B050"/>
                </a:solidFill>
                <a:latin typeface="Consolas" pitchFamily="49" charset="0"/>
              </a:rPr>
              <a:t>The authenticity of host '192.9.201.200 (192.9.201.200)' can't be established.</a:t>
            </a:r>
          </a:p>
          <a:p>
            <a:r>
              <a:rPr lang="en-US" altLang="zh-CN" sz="1400" dirty="0">
                <a:solidFill>
                  <a:srgbClr val="00B050"/>
                </a:solidFill>
                <a:latin typeface="Consolas" pitchFamily="49" charset="0"/>
              </a:rPr>
              <a:t>RSA key fingerprint is c4:4e:6e:99:bc:03:60:e8:3b:c9:fc:ff:82:4a:34:36.</a:t>
            </a:r>
          </a:p>
          <a:p>
            <a:r>
              <a:rPr lang="en-US" altLang="zh-CN" sz="1400" dirty="0">
                <a:solidFill>
                  <a:srgbClr val="00B050"/>
                </a:solidFill>
                <a:latin typeface="Consolas" pitchFamily="49" charset="0"/>
              </a:rPr>
              <a:t>Are you sure you want to continue connecting (yes/no)? </a:t>
            </a:r>
            <a:r>
              <a:rPr lang="en-US" altLang="zh-CN" dirty="0">
                <a:solidFill>
                  <a:srgbClr val="0070C0"/>
                </a:solidFill>
                <a:latin typeface="Consolas" pitchFamily="49" charset="0"/>
              </a:rPr>
              <a:t>yes</a:t>
            </a:r>
            <a:br>
              <a:rPr lang="en-US" altLang="zh-CN" dirty="0">
                <a:solidFill>
                  <a:srgbClr val="0070C0"/>
                </a:solidFill>
                <a:latin typeface="Consolas" pitchFamily="49" charset="0"/>
              </a:rPr>
            </a:br>
            <a:r>
              <a:rPr lang="en-US" altLang="zh-CN" sz="1400" dirty="0">
                <a:solidFill>
                  <a:srgbClr val="00B050"/>
                </a:solidFill>
                <a:latin typeface="Consolas" pitchFamily="49" charset="0"/>
              </a:rPr>
              <a:t>Warning: Permanently added '192.9.201.200' (RSA) to the list of known hosts.</a:t>
            </a:r>
          </a:p>
          <a:p>
            <a:r>
              <a:rPr lang="en-US" altLang="zh-CN" sz="1400" dirty="0">
                <a:solidFill>
                  <a:srgbClr val="00B050"/>
                </a:solidFill>
                <a:latin typeface="Consolas" pitchFamily="49" charset="0"/>
              </a:rPr>
              <a:t>gll1@192.9.201.200‘s password: </a:t>
            </a:r>
            <a:r>
              <a:rPr lang="en-US" altLang="zh-CN" sz="1400" dirty="0">
                <a:solidFill>
                  <a:srgbClr val="0070C0"/>
                </a:solidFill>
                <a:latin typeface="Consolas" pitchFamily="49" charset="0"/>
              </a:rPr>
              <a:t>[</a:t>
            </a:r>
            <a:r>
              <a:rPr lang="zh-CN" altLang="en-US" sz="1400" dirty="0">
                <a:solidFill>
                  <a:srgbClr val="0070C0"/>
                </a:solidFill>
                <a:latin typeface="Consolas" pitchFamily="49" charset="0"/>
              </a:rPr>
              <a:t>此处输入你的旧密码，不回显</a:t>
            </a:r>
            <a:r>
              <a:rPr lang="en-US" altLang="zh-CN" sz="1400" dirty="0">
                <a:solidFill>
                  <a:srgbClr val="0070C0"/>
                </a:solidFill>
                <a:latin typeface="Consolas" pitchFamily="49" charset="0"/>
              </a:rPr>
              <a:t>]</a:t>
            </a:r>
          </a:p>
          <a:p>
            <a:r>
              <a:rPr lang="en-US" altLang="zh-CN" sz="1400" dirty="0">
                <a:solidFill>
                  <a:srgbClr val="00B050"/>
                </a:solidFill>
                <a:latin typeface="Consolas" pitchFamily="49" charset="0"/>
              </a:rPr>
              <a:t>Last login: ***** from *****</a:t>
            </a:r>
          </a:p>
          <a:p>
            <a:r>
              <a:rPr lang="en-US" altLang="zh-CN" dirty="0">
                <a:solidFill>
                  <a:schemeClr val="tx2"/>
                </a:solidFill>
                <a:latin typeface="Consolas" pitchFamily="49" charset="0"/>
              </a:rPr>
              <a:t>$</a:t>
            </a:r>
            <a:r>
              <a:rPr lang="en-US" altLang="zh-CN" dirty="0">
                <a:solidFill>
                  <a:srgbClr val="0070C0"/>
                </a:solidFill>
                <a:latin typeface="Consolas" pitchFamily="49" charset="0"/>
              </a:rPr>
              <a:t> </a:t>
            </a:r>
            <a:r>
              <a:rPr lang="en-US" altLang="zh-CN" dirty="0" err="1">
                <a:solidFill>
                  <a:srgbClr val="0070C0"/>
                </a:solidFill>
                <a:latin typeface="Consolas" pitchFamily="49" charset="0"/>
              </a:rPr>
              <a:t>passwd</a:t>
            </a:r>
            <a:endParaRPr lang="en-US" altLang="zh-CN" dirty="0">
              <a:solidFill>
                <a:srgbClr val="0070C0"/>
              </a:solidFill>
              <a:latin typeface="Consolas" pitchFamily="49" charset="0"/>
            </a:endParaRPr>
          </a:p>
          <a:p>
            <a:r>
              <a:rPr lang="en-US" altLang="zh-CN" sz="1400" dirty="0">
                <a:solidFill>
                  <a:srgbClr val="00B050"/>
                </a:solidFill>
                <a:latin typeface="Consolas" pitchFamily="49" charset="0"/>
              </a:rPr>
              <a:t>Changing password for user gll1.</a:t>
            </a:r>
          </a:p>
          <a:p>
            <a:r>
              <a:rPr lang="en-US" altLang="zh-CN" sz="1400" dirty="0">
                <a:solidFill>
                  <a:srgbClr val="00B050"/>
                </a:solidFill>
                <a:latin typeface="Consolas" pitchFamily="49" charset="0"/>
              </a:rPr>
              <a:t>Changing password for gll1</a:t>
            </a:r>
          </a:p>
          <a:p>
            <a:r>
              <a:rPr lang="en-US" altLang="zh-CN" sz="1400" dirty="0">
                <a:solidFill>
                  <a:srgbClr val="00B050"/>
                </a:solidFill>
                <a:latin typeface="Consolas" pitchFamily="49" charset="0"/>
              </a:rPr>
              <a:t>(current) UNIX password: </a:t>
            </a:r>
            <a:r>
              <a:rPr lang="en-US" altLang="zh-CN" sz="1400" dirty="0">
                <a:solidFill>
                  <a:srgbClr val="0070C0"/>
                </a:solidFill>
                <a:latin typeface="Consolas" pitchFamily="49" charset="0"/>
              </a:rPr>
              <a:t>[</a:t>
            </a:r>
            <a:r>
              <a:rPr lang="zh-CN" altLang="en-US" sz="1400" dirty="0">
                <a:solidFill>
                  <a:srgbClr val="0070C0"/>
                </a:solidFill>
                <a:latin typeface="Consolas" pitchFamily="49" charset="0"/>
              </a:rPr>
              <a:t>此处输入你的旧密码，不回显</a:t>
            </a:r>
            <a:r>
              <a:rPr lang="en-US" altLang="zh-CN" sz="1400" dirty="0">
                <a:solidFill>
                  <a:srgbClr val="0070C0"/>
                </a:solidFill>
                <a:latin typeface="Consolas" pitchFamily="49" charset="0"/>
              </a:rPr>
              <a:t>]</a:t>
            </a:r>
            <a:endParaRPr lang="en-US" altLang="zh-CN" sz="1400" dirty="0">
              <a:solidFill>
                <a:srgbClr val="00B050"/>
              </a:solidFill>
              <a:latin typeface="Consolas" pitchFamily="49" charset="0"/>
            </a:endParaRPr>
          </a:p>
          <a:p>
            <a:r>
              <a:rPr lang="en-US" altLang="zh-CN" sz="1400" dirty="0">
                <a:solidFill>
                  <a:srgbClr val="00B050"/>
                </a:solidFill>
                <a:latin typeface="Consolas" pitchFamily="49" charset="0"/>
              </a:rPr>
              <a:t>New UNIX password: </a:t>
            </a:r>
            <a:r>
              <a:rPr lang="en-US" altLang="zh-CN" sz="1400" dirty="0">
                <a:solidFill>
                  <a:srgbClr val="0070C0"/>
                </a:solidFill>
                <a:latin typeface="Consolas" pitchFamily="49" charset="0"/>
              </a:rPr>
              <a:t>[</a:t>
            </a:r>
            <a:r>
              <a:rPr lang="zh-CN" altLang="en-US" sz="1400" dirty="0">
                <a:solidFill>
                  <a:srgbClr val="0070C0"/>
                </a:solidFill>
                <a:latin typeface="Consolas" pitchFamily="49" charset="0"/>
              </a:rPr>
              <a:t>此处输入你的新密码，不回显</a:t>
            </a:r>
            <a:r>
              <a:rPr lang="en-US" altLang="zh-CN" sz="1400" dirty="0">
                <a:solidFill>
                  <a:srgbClr val="0070C0"/>
                </a:solidFill>
                <a:latin typeface="Consolas" pitchFamily="49" charset="0"/>
              </a:rPr>
              <a:t>]</a:t>
            </a:r>
            <a:endParaRPr lang="en-US" altLang="zh-CN" sz="1400" dirty="0">
              <a:solidFill>
                <a:srgbClr val="00B050"/>
              </a:solidFill>
              <a:latin typeface="Consolas" pitchFamily="49" charset="0"/>
            </a:endParaRPr>
          </a:p>
          <a:p>
            <a:r>
              <a:rPr lang="en-US" altLang="zh-CN" sz="1400" dirty="0">
                <a:solidFill>
                  <a:srgbClr val="00B050"/>
                </a:solidFill>
                <a:latin typeface="Consolas" pitchFamily="49" charset="0"/>
              </a:rPr>
              <a:t>Retype new UNIX password: </a:t>
            </a:r>
            <a:r>
              <a:rPr lang="en-US" altLang="zh-CN" sz="1400" dirty="0">
                <a:solidFill>
                  <a:srgbClr val="0070C0"/>
                </a:solidFill>
                <a:latin typeface="Consolas" pitchFamily="49" charset="0"/>
              </a:rPr>
              <a:t>[</a:t>
            </a:r>
            <a:r>
              <a:rPr lang="zh-CN" altLang="en-US" sz="1400" dirty="0">
                <a:solidFill>
                  <a:srgbClr val="0070C0"/>
                </a:solidFill>
                <a:latin typeface="Consolas" pitchFamily="49" charset="0"/>
              </a:rPr>
              <a:t>此处输入你的新密码，不回显</a:t>
            </a:r>
            <a:r>
              <a:rPr lang="en-US" altLang="zh-CN" sz="1400" dirty="0">
                <a:solidFill>
                  <a:srgbClr val="0070C0"/>
                </a:solidFill>
                <a:latin typeface="Consolas" pitchFamily="49" charset="0"/>
              </a:rPr>
              <a:t>]</a:t>
            </a:r>
            <a:endParaRPr lang="en-US" altLang="zh-CN" sz="1400" dirty="0">
              <a:solidFill>
                <a:srgbClr val="00B050"/>
              </a:solidFill>
              <a:latin typeface="Consolas" pitchFamily="49" charset="0"/>
            </a:endParaRPr>
          </a:p>
          <a:p>
            <a:r>
              <a:rPr lang="en-US" altLang="zh-CN" sz="1400" dirty="0" err="1">
                <a:solidFill>
                  <a:srgbClr val="00B050"/>
                </a:solidFill>
                <a:latin typeface="Consolas" pitchFamily="49" charset="0"/>
              </a:rPr>
              <a:t>passwd</a:t>
            </a:r>
            <a:r>
              <a:rPr lang="en-US" altLang="zh-CN" sz="1400" dirty="0">
                <a:solidFill>
                  <a:srgbClr val="00B050"/>
                </a:solidFill>
                <a:latin typeface="Consolas" pitchFamily="49" charset="0"/>
              </a:rPr>
              <a:t>: all authentication tokens updated successfully.</a:t>
            </a:r>
          </a:p>
          <a:p>
            <a:r>
              <a:rPr lang="en-US" altLang="zh-CN" dirty="0">
                <a:solidFill>
                  <a:schemeClr val="tx2"/>
                </a:solidFill>
                <a:latin typeface="Consolas" pitchFamily="49" charset="0"/>
              </a:rPr>
              <a:t>$</a:t>
            </a:r>
            <a:r>
              <a:rPr lang="en-US" altLang="zh-CN" dirty="0">
                <a:solidFill>
                  <a:srgbClr val="0070C0"/>
                </a:solidFill>
                <a:latin typeface="Consolas" pitchFamily="49" charset="0"/>
              </a:rPr>
              <a:t> exit</a:t>
            </a:r>
          </a:p>
          <a:p>
            <a:r>
              <a:rPr lang="en-US" altLang="zh-CN" sz="1400" dirty="0">
                <a:solidFill>
                  <a:srgbClr val="00B050"/>
                </a:solidFill>
                <a:latin typeface="Consolas" pitchFamily="49" charset="0"/>
              </a:rPr>
              <a:t>Connection to 192.9.201.200 closed.</a:t>
            </a:r>
          </a:p>
          <a:p>
            <a:r>
              <a:rPr lang="en-US" altLang="zh-CN" dirty="0">
                <a:solidFill>
                  <a:schemeClr val="tx2"/>
                </a:solidFill>
                <a:latin typeface="Consolas" pitchFamily="49" charset="0"/>
              </a:rPr>
              <a:t>$</a:t>
            </a:r>
            <a:r>
              <a:rPr lang="en-US" altLang="zh-CN" dirty="0">
                <a:solidFill>
                  <a:srgbClr val="0070C0"/>
                </a:solidFill>
                <a:latin typeface="Consolas" pitchFamily="49" charset="0"/>
              </a:rPr>
              <a:t> </a:t>
            </a:r>
            <a:endParaRPr lang="en-US" altLang="zh-CN" sz="1400" dirty="0">
              <a:solidFill>
                <a:srgbClr val="00B050"/>
              </a:solidFill>
              <a:latin typeface="Consolas" pitchFamily="49" charset="0"/>
            </a:endParaRPr>
          </a:p>
        </p:txBody>
      </p:sp>
      <p:sp>
        <p:nvSpPr>
          <p:cNvPr id="6" name="圆角矩形标注 5"/>
          <p:cNvSpPr/>
          <p:nvPr/>
        </p:nvSpPr>
        <p:spPr bwMode="auto">
          <a:xfrm>
            <a:off x="3275856" y="1628800"/>
            <a:ext cx="4680520" cy="576064"/>
          </a:xfrm>
          <a:prstGeom prst="wedgeRoundRectCallout">
            <a:avLst>
              <a:gd name="adj1" fmla="val -85672"/>
              <a:gd name="adj2" fmla="val 84688"/>
              <a:gd name="adj3" fmla="val 16667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把斜体部分换成你自己的用户名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Linux </a:t>
            </a:r>
            <a:r>
              <a:rPr lang="zh-CN" altLang="en-US" dirty="0"/>
              <a:t>命令初步 （如何进行目录操作）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533548"/>
            <a:ext cx="8220075" cy="4055692"/>
          </a:xfrm>
        </p:spPr>
        <p:txBody>
          <a:bodyPr/>
          <a:lstStyle/>
          <a:p>
            <a:r>
              <a:rPr lang="zh-CN" altLang="en-US" dirty="0"/>
              <a:t>目录级别分隔符是“</a:t>
            </a:r>
            <a:r>
              <a:rPr lang="en-US" altLang="zh-CN" dirty="0"/>
              <a:t>/</a:t>
            </a:r>
            <a:r>
              <a:rPr lang="zh-CN" altLang="en-US" dirty="0"/>
              <a:t>”</a:t>
            </a:r>
            <a:endParaRPr lang="en-US" altLang="zh-CN" dirty="0"/>
          </a:p>
          <a:p>
            <a:r>
              <a:rPr lang="zh-CN" altLang="en-US" dirty="0"/>
              <a:t>查看当前目录</a:t>
            </a:r>
            <a:endParaRPr lang="en-US" altLang="zh-CN" dirty="0"/>
          </a:p>
          <a:p>
            <a:pPr lvl="1"/>
            <a:r>
              <a:rPr lang="en-US" altLang="zh-CN" dirty="0" err="1"/>
              <a:t>pwd</a:t>
            </a:r>
            <a:endParaRPr lang="en-US" altLang="zh-CN" dirty="0"/>
          </a:p>
          <a:p>
            <a:r>
              <a:rPr lang="zh-CN" altLang="en-US" dirty="0"/>
              <a:t>列出目录内容</a:t>
            </a:r>
            <a:endParaRPr lang="en-US" altLang="zh-CN" dirty="0"/>
          </a:p>
          <a:p>
            <a:pPr lvl="1"/>
            <a:r>
              <a:rPr lang="en-US" altLang="zh-CN" dirty="0" err="1"/>
              <a:t>ls</a:t>
            </a:r>
            <a:endParaRPr lang="en-US" altLang="zh-CN" dirty="0"/>
          </a:p>
          <a:p>
            <a:pPr lvl="1"/>
            <a:r>
              <a:rPr lang="zh-CN" altLang="en-US" dirty="0"/>
              <a:t>文件和目录的颜色不同</a:t>
            </a:r>
            <a:endParaRPr lang="en-US" altLang="zh-CN" dirty="0"/>
          </a:p>
          <a:p>
            <a:pPr lvl="1"/>
            <a:r>
              <a:rPr lang="zh-CN" altLang="en-US" dirty="0"/>
              <a:t>无参数：当前目录，</a:t>
            </a:r>
            <a:br>
              <a:rPr lang="en-US" altLang="zh-CN" dirty="0"/>
            </a:br>
            <a:r>
              <a:rPr lang="zh-CN" altLang="en-US" dirty="0"/>
              <a:t>有参数：列出指定目录</a:t>
            </a:r>
            <a:endParaRPr lang="en-US" altLang="zh-CN" dirty="0"/>
          </a:p>
        </p:txBody>
      </p:sp>
      <p:sp>
        <p:nvSpPr>
          <p:cNvPr id="4" name="矩形 3"/>
          <p:cNvSpPr/>
          <p:nvPr/>
        </p:nvSpPr>
        <p:spPr>
          <a:xfrm>
            <a:off x="5076056" y="2385402"/>
            <a:ext cx="3024336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tx2"/>
                </a:solidFill>
                <a:latin typeface="Consolas" pitchFamily="49" charset="0"/>
              </a:rPr>
              <a:t>$ </a:t>
            </a:r>
            <a:r>
              <a:rPr lang="en-US" altLang="zh-CN" dirty="0" err="1">
                <a:solidFill>
                  <a:srgbClr val="0070C0"/>
                </a:solidFill>
                <a:latin typeface="Consolas" pitchFamily="49" charset="0"/>
              </a:rPr>
              <a:t>pwd</a:t>
            </a:r>
            <a:endParaRPr lang="en-US" altLang="zh-CN" dirty="0">
              <a:solidFill>
                <a:srgbClr val="0070C0"/>
              </a:solidFill>
              <a:latin typeface="Consolas" pitchFamily="49" charset="0"/>
            </a:endParaRPr>
          </a:p>
          <a:p>
            <a:r>
              <a:rPr lang="en-US" altLang="zh-CN" dirty="0">
                <a:solidFill>
                  <a:srgbClr val="00B050"/>
                </a:solidFill>
                <a:latin typeface="Consolas" pitchFamily="49" charset="0"/>
              </a:rPr>
              <a:t>/data2/class/</a:t>
            </a:r>
            <a:r>
              <a:rPr lang="en-US" altLang="zh-CN" dirty="0" err="1">
                <a:solidFill>
                  <a:srgbClr val="00B050"/>
                </a:solidFill>
                <a:latin typeface="Consolas" pitchFamily="49" charset="0"/>
              </a:rPr>
              <a:t>gll</a:t>
            </a:r>
            <a:r>
              <a:rPr lang="en-US" altLang="zh-CN" dirty="0">
                <a:solidFill>
                  <a:srgbClr val="00B050"/>
                </a:solidFill>
                <a:latin typeface="Consolas" pitchFamily="49" charset="0"/>
              </a:rPr>
              <a:t>/gll1</a:t>
            </a:r>
          </a:p>
        </p:txBody>
      </p:sp>
      <p:sp>
        <p:nvSpPr>
          <p:cNvPr id="5" name="矩形 4"/>
          <p:cNvSpPr/>
          <p:nvPr/>
        </p:nvSpPr>
        <p:spPr>
          <a:xfrm>
            <a:off x="5076056" y="3501008"/>
            <a:ext cx="3024336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tx2"/>
                </a:solidFill>
                <a:latin typeface="Consolas" pitchFamily="49" charset="0"/>
              </a:rPr>
              <a:t>$ </a:t>
            </a:r>
            <a:r>
              <a:rPr lang="en-US" altLang="zh-CN" dirty="0" err="1">
                <a:solidFill>
                  <a:srgbClr val="0070C0"/>
                </a:solidFill>
                <a:latin typeface="Consolas" pitchFamily="49" charset="0"/>
              </a:rPr>
              <a:t>ls</a:t>
            </a:r>
            <a:endParaRPr lang="en-US" altLang="zh-CN" dirty="0">
              <a:solidFill>
                <a:srgbClr val="0070C0"/>
              </a:solidFill>
              <a:latin typeface="Consolas" pitchFamily="49" charset="0"/>
            </a:endParaRPr>
          </a:p>
          <a:p>
            <a:r>
              <a:rPr lang="en-US" altLang="zh-CN" dirty="0">
                <a:solidFill>
                  <a:srgbClr val="00B050"/>
                </a:solidFill>
                <a:latin typeface="Consolas" pitchFamily="49" charset="0"/>
              </a:rPr>
              <a:t>Desktop</a:t>
            </a:r>
          </a:p>
        </p:txBody>
      </p:sp>
      <p:sp>
        <p:nvSpPr>
          <p:cNvPr id="6" name="矩形 5"/>
          <p:cNvSpPr/>
          <p:nvPr/>
        </p:nvSpPr>
        <p:spPr>
          <a:xfrm>
            <a:off x="5074056" y="4581128"/>
            <a:ext cx="3024336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tx2"/>
                </a:solidFill>
                <a:latin typeface="Consolas" pitchFamily="49" charset="0"/>
              </a:rPr>
              <a:t>$ </a:t>
            </a:r>
            <a:r>
              <a:rPr lang="en-US" altLang="zh-CN" dirty="0" err="1">
                <a:solidFill>
                  <a:srgbClr val="0070C0"/>
                </a:solidFill>
                <a:latin typeface="Consolas" pitchFamily="49" charset="0"/>
              </a:rPr>
              <a:t>ls‗Desktop</a:t>
            </a:r>
            <a:r>
              <a:rPr lang="en-US" altLang="zh-CN" dirty="0">
                <a:solidFill>
                  <a:srgbClr val="0070C0"/>
                </a:solidFill>
                <a:latin typeface="Consolas" pitchFamily="49" charset="0"/>
              </a:rPr>
              <a:t>/</a:t>
            </a:r>
          </a:p>
          <a:p>
            <a:r>
              <a:rPr lang="en-US" altLang="zh-CN" dirty="0">
                <a:solidFill>
                  <a:srgbClr val="00B050"/>
                </a:solidFill>
                <a:latin typeface="Consolas" pitchFamily="49" charset="0"/>
              </a:rPr>
              <a:t>file1  folder1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Linux </a:t>
            </a:r>
            <a:r>
              <a:rPr lang="zh-CN" altLang="en-US" dirty="0"/>
              <a:t>命令初步 （如何进行目录操作）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533548"/>
            <a:ext cx="8220075" cy="1103364"/>
          </a:xfrm>
        </p:spPr>
        <p:txBody>
          <a:bodyPr/>
          <a:lstStyle/>
          <a:p>
            <a:r>
              <a:rPr lang="zh-CN" altLang="en-US" dirty="0"/>
              <a:t>改变当前目录</a:t>
            </a:r>
            <a:endParaRPr lang="en-US" altLang="zh-CN" dirty="0"/>
          </a:p>
          <a:p>
            <a:pPr lvl="1"/>
            <a:r>
              <a:rPr lang="en-US" altLang="zh-CN" dirty="0"/>
              <a:t>cd </a:t>
            </a:r>
            <a:r>
              <a:rPr lang="en-US" altLang="zh-CN" i="1" dirty="0"/>
              <a:t>[path]  </a:t>
            </a:r>
            <a:r>
              <a:rPr lang="zh-CN" altLang="en-US" dirty="0"/>
              <a:t>将指定的目录作为当前目录</a:t>
            </a:r>
            <a:endParaRPr lang="en-US" altLang="zh-CN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957569"/>
              </p:ext>
            </p:extLst>
          </p:nvPr>
        </p:nvGraphicFramePr>
        <p:xfrm>
          <a:off x="1259632" y="2636912"/>
          <a:ext cx="6096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22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237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特殊的目录名称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. </a:t>
                      </a:r>
                      <a:r>
                        <a:rPr lang="zh-CN" altLang="en-US" baseline="0" dirty="0"/>
                        <a:t>（一个圆点）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当前目录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..</a:t>
                      </a:r>
                      <a:r>
                        <a:rPr lang="en-US" altLang="zh-CN" baseline="0" dirty="0"/>
                        <a:t> </a:t>
                      </a:r>
                      <a:r>
                        <a:rPr lang="zh-CN" altLang="en-US" baseline="0" dirty="0"/>
                        <a:t>（两个圆点）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上级目录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~</a:t>
                      </a:r>
                      <a:r>
                        <a:rPr lang="zh-CN" altLang="en-US" dirty="0"/>
                        <a:t>（波浪线）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家目录，即</a:t>
                      </a:r>
                      <a:r>
                        <a:rPr lang="en-US" altLang="zh-CN" dirty="0"/>
                        <a:t>Terminal</a:t>
                      </a:r>
                      <a:r>
                        <a:rPr lang="zh-CN" altLang="en-US" dirty="0"/>
                        <a:t>启动时所在目录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- </a:t>
                      </a:r>
                      <a:r>
                        <a:rPr lang="zh-CN" altLang="en-US" dirty="0"/>
                        <a:t>（减号）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改变目录前的那个目录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52408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Linux </a:t>
            </a:r>
            <a:r>
              <a:rPr lang="zh-CN" altLang="en-US" dirty="0"/>
              <a:t>命令初步 （如何进行目录操作）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533548"/>
            <a:ext cx="8220075" cy="743324"/>
          </a:xfrm>
        </p:spPr>
        <p:txBody>
          <a:bodyPr/>
          <a:lstStyle/>
          <a:p>
            <a:r>
              <a:rPr lang="zh-CN" altLang="en-US" dirty="0"/>
              <a:t>改变当前目录</a:t>
            </a:r>
            <a:endParaRPr lang="en-US" altLang="zh-CN" dirty="0"/>
          </a:p>
        </p:txBody>
      </p:sp>
      <p:sp>
        <p:nvSpPr>
          <p:cNvPr id="6" name="矩形 5"/>
          <p:cNvSpPr/>
          <p:nvPr/>
        </p:nvSpPr>
        <p:spPr>
          <a:xfrm>
            <a:off x="827584" y="2276872"/>
            <a:ext cx="7704856" cy="313932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tx2"/>
                </a:solidFill>
                <a:latin typeface="Consolas" pitchFamily="49" charset="0"/>
              </a:rPr>
              <a:t>[gll1@edahost ~]$ </a:t>
            </a:r>
            <a:r>
              <a:rPr lang="en-US" altLang="zh-CN" dirty="0" err="1">
                <a:solidFill>
                  <a:srgbClr val="0070C0"/>
                </a:solidFill>
                <a:latin typeface="Consolas" pitchFamily="49" charset="0"/>
              </a:rPr>
              <a:t>pwd</a:t>
            </a:r>
            <a:endParaRPr lang="en-US" altLang="zh-CN" dirty="0">
              <a:solidFill>
                <a:srgbClr val="0070C0"/>
              </a:solidFill>
              <a:latin typeface="Consolas" pitchFamily="49" charset="0"/>
            </a:endParaRPr>
          </a:p>
          <a:p>
            <a:r>
              <a:rPr lang="en-US" altLang="zh-CN" dirty="0">
                <a:solidFill>
                  <a:srgbClr val="00B050"/>
                </a:solidFill>
                <a:latin typeface="Consolas" pitchFamily="49" charset="0"/>
              </a:rPr>
              <a:t>/data2/class/</a:t>
            </a:r>
            <a:r>
              <a:rPr lang="en-US" altLang="zh-CN" dirty="0" err="1">
                <a:solidFill>
                  <a:srgbClr val="00B050"/>
                </a:solidFill>
                <a:latin typeface="Consolas" pitchFamily="49" charset="0"/>
              </a:rPr>
              <a:t>gll</a:t>
            </a:r>
            <a:r>
              <a:rPr lang="en-US" altLang="zh-CN" dirty="0">
                <a:solidFill>
                  <a:srgbClr val="00B050"/>
                </a:solidFill>
                <a:latin typeface="Consolas" pitchFamily="49" charset="0"/>
              </a:rPr>
              <a:t>/gll1</a:t>
            </a:r>
          </a:p>
          <a:p>
            <a:r>
              <a:rPr lang="en-US" altLang="zh-CN" dirty="0">
                <a:solidFill>
                  <a:schemeClr val="tx2"/>
                </a:solidFill>
                <a:latin typeface="Consolas" pitchFamily="49" charset="0"/>
              </a:rPr>
              <a:t>[gll1@edahost ~]$ </a:t>
            </a:r>
            <a:r>
              <a:rPr lang="en-US" altLang="zh-CN" dirty="0" err="1">
                <a:solidFill>
                  <a:srgbClr val="0070C0"/>
                </a:solidFill>
                <a:latin typeface="Consolas" pitchFamily="49" charset="0"/>
              </a:rPr>
              <a:t>ls</a:t>
            </a:r>
            <a:endParaRPr lang="en-US" altLang="zh-CN" dirty="0">
              <a:solidFill>
                <a:srgbClr val="0070C0"/>
              </a:solidFill>
              <a:latin typeface="Consolas" pitchFamily="49" charset="0"/>
            </a:endParaRPr>
          </a:p>
          <a:p>
            <a:r>
              <a:rPr lang="en-US" altLang="zh-CN" dirty="0">
                <a:solidFill>
                  <a:srgbClr val="00B050"/>
                </a:solidFill>
                <a:latin typeface="Consolas" pitchFamily="49" charset="0"/>
              </a:rPr>
              <a:t>Desktop</a:t>
            </a:r>
          </a:p>
          <a:p>
            <a:r>
              <a:rPr lang="en-US" altLang="zh-CN" dirty="0">
                <a:solidFill>
                  <a:schemeClr val="tx2"/>
                </a:solidFill>
                <a:latin typeface="Consolas" pitchFamily="49" charset="0"/>
              </a:rPr>
              <a:t>[gll1@edahost ~]$ </a:t>
            </a:r>
            <a:r>
              <a:rPr lang="en-US" altLang="zh-CN" dirty="0" err="1">
                <a:solidFill>
                  <a:srgbClr val="0070C0"/>
                </a:solidFill>
                <a:latin typeface="Consolas" pitchFamily="49" charset="0"/>
              </a:rPr>
              <a:t>cd‗Desktop</a:t>
            </a:r>
            <a:r>
              <a:rPr lang="en-US" altLang="zh-CN" dirty="0">
                <a:solidFill>
                  <a:srgbClr val="0070C0"/>
                </a:solidFill>
                <a:latin typeface="Consolas" pitchFamily="49" charset="0"/>
              </a:rPr>
              <a:t>/</a:t>
            </a:r>
          </a:p>
          <a:p>
            <a:r>
              <a:rPr lang="en-US" altLang="zh-CN" dirty="0">
                <a:solidFill>
                  <a:schemeClr val="tx2"/>
                </a:solidFill>
                <a:latin typeface="Consolas" pitchFamily="49" charset="0"/>
              </a:rPr>
              <a:t>[gll1@edahost Desktop]$ </a:t>
            </a:r>
            <a:r>
              <a:rPr lang="en-US" altLang="zh-CN" dirty="0" err="1">
                <a:solidFill>
                  <a:srgbClr val="0070C0"/>
                </a:solidFill>
                <a:latin typeface="Consolas" pitchFamily="49" charset="0"/>
              </a:rPr>
              <a:t>ls</a:t>
            </a:r>
            <a:endParaRPr lang="en-US" altLang="zh-CN" dirty="0">
              <a:solidFill>
                <a:srgbClr val="0070C0"/>
              </a:solidFill>
              <a:latin typeface="Consolas" pitchFamily="49" charset="0"/>
            </a:endParaRPr>
          </a:p>
          <a:p>
            <a:r>
              <a:rPr lang="en-US" altLang="zh-CN" dirty="0">
                <a:solidFill>
                  <a:srgbClr val="00B050"/>
                </a:solidFill>
                <a:latin typeface="Consolas" pitchFamily="49" charset="0"/>
              </a:rPr>
              <a:t>file1  folder1</a:t>
            </a:r>
          </a:p>
          <a:p>
            <a:r>
              <a:rPr lang="en-US" altLang="zh-CN" dirty="0">
                <a:solidFill>
                  <a:schemeClr val="tx2"/>
                </a:solidFill>
                <a:latin typeface="Consolas" pitchFamily="49" charset="0"/>
              </a:rPr>
              <a:t>[gll1@edahost Desktop]$ </a:t>
            </a:r>
            <a:r>
              <a:rPr lang="en-US" altLang="zh-CN" dirty="0">
                <a:solidFill>
                  <a:srgbClr val="0070C0"/>
                </a:solidFill>
                <a:latin typeface="Consolas" pitchFamily="49" charset="0"/>
              </a:rPr>
              <a:t>cd‗..</a:t>
            </a:r>
          </a:p>
          <a:p>
            <a:r>
              <a:rPr lang="en-US" altLang="zh-CN" dirty="0">
                <a:solidFill>
                  <a:schemeClr val="tx2"/>
                </a:solidFill>
                <a:latin typeface="Consolas" pitchFamily="49" charset="0"/>
              </a:rPr>
              <a:t>[gll1@edahost ~]$ </a:t>
            </a:r>
            <a:r>
              <a:rPr lang="en-US" altLang="zh-CN" dirty="0" err="1">
                <a:solidFill>
                  <a:srgbClr val="0070C0"/>
                </a:solidFill>
                <a:latin typeface="Consolas" pitchFamily="49" charset="0"/>
              </a:rPr>
              <a:t>ls</a:t>
            </a:r>
            <a:endParaRPr lang="en-US" altLang="zh-CN" dirty="0">
              <a:solidFill>
                <a:srgbClr val="0070C0"/>
              </a:solidFill>
              <a:latin typeface="Consolas" pitchFamily="49" charset="0"/>
            </a:endParaRPr>
          </a:p>
          <a:p>
            <a:r>
              <a:rPr lang="en-US" altLang="zh-CN" dirty="0">
                <a:solidFill>
                  <a:srgbClr val="00B050"/>
                </a:solidFill>
                <a:latin typeface="Consolas" pitchFamily="49" charset="0"/>
              </a:rPr>
              <a:t>Desktop</a:t>
            </a:r>
          </a:p>
          <a:p>
            <a:r>
              <a:rPr lang="en-US" altLang="zh-CN" dirty="0">
                <a:solidFill>
                  <a:schemeClr val="tx2"/>
                </a:solidFill>
                <a:latin typeface="Consolas" pitchFamily="49" charset="0"/>
              </a:rPr>
              <a:t>[gll1@edahost ~]$ </a:t>
            </a:r>
            <a:endParaRPr lang="en-US" altLang="zh-CN" dirty="0">
              <a:solidFill>
                <a:srgbClr val="00B050"/>
              </a:solidFill>
              <a:latin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09613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Linux </a:t>
            </a:r>
            <a:r>
              <a:rPr lang="zh-CN" altLang="en-US" dirty="0"/>
              <a:t>命令初步 （如何进行目录操作）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533548"/>
            <a:ext cx="8220075" cy="1319388"/>
          </a:xfrm>
        </p:spPr>
        <p:txBody>
          <a:bodyPr/>
          <a:lstStyle/>
          <a:p>
            <a:r>
              <a:rPr lang="zh-CN" altLang="en-US" dirty="0"/>
              <a:t>创建目录</a:t>
            </a:r>
            <a:endParaRPr lang="en-US" altLang="zh-CN" dirty="0"/>
          </a:p>
          <a:p>
            <a:pPr lvl="1"/>
            <a:r>
              <a:rPr lang="en-US" altLang="zh-CN" dirty="0" err="1"/>
              <a:t>mkdir</a:t>
            </a:r>
            <a:r>
              <a:rPr lang="en-US" altLang="zh-CN" dirty="0"/>
              <a:t> </a:t>
            </a:r>
            <a:r>
              <a:rPr lang="en-US" altLang="zh-CN" i="1" dirty="0"/>
              <a:t>[path]</a:t>
            </a:r>
          </a:p>
        </p:txBody>
      </p:sp>
      <p:sp>
        <p:nvSpPr>
          <p:cNvPr id="4" name="矩形 3"/>
          <p:cNvSpPr/>
          <p:nvPr/>
        </p:nvSpPr>
        <p:spPr>
          <a:xfrm>
            <a:off x="827584" y="2780928"/>
            <a:ext cx="7704856" cy="175432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tx2"/>
                </a:solidFill>
                <a:latin typeface="Consolas" pitchFamily="49" charset="0"/>
              </a:rPr>
              <a:t>$ </a:t>
            </a:r>
            <a:r>
              <a:rPr lang="en-US" altLang="zh-CN" dirty="0" err="1">
                <a:solidFill>
                  <a:srgbClr val="0070C0"/>
                </a:solidFill>
                <a:latin typeface="Consolas" pitchFamily="49" charset="0"/>
              </a:rPr>
              <a:t>ls</a:t>
            </a:r>
            <a:endParaRPr lang="en-US" altLang="zh-CN" dirty="0">
              <a:solidFill>
                <a:srgbClr val="0070C0"/>
              </a:solidFill>
              <a:latin typeface="Consolas" pitchFamily="49" charset="0"/>
            </a:endParaRPr>
          </a:p>
          <a:p>
            <a:r>
              <a:rPr lang="en-US" altLang="zh-CN" dirty="0">
                <a:solidFill>
                  <a:srgbClr val="00B050"/>
                </a:solidFill>
                <a:latin typeface="Consolas" pitchFamily="49" charset="0"/>
              </a:rPr>
              <a:t>Desktop</a:t>
            </a:r>
          </a:p>
          <a:p>
            <a:r>
              <a:rPr lang="en-US" altLang="zh-CN" dirty="0">
                <a:solidFill>
                  <a:schemeClr val="tx2"/>
                </a:solidFill>
                <a:latin typeface="Consolas" pitchFamily="49" charset="0"/>
              </a:rPr>
              <a:t>$ </a:t>
            </a:r>
            <a:r>
              <a:rPr lang="en-US" altLang="zh-CN" dirty="0" err="1">
                <a:solidFill>
                  <a:srgbClr val="0070C0"/>
                </a:solidFill>
                <a:latin typeface="Consolas" pitchFamily="49" charset="0"/>
              </a:rPr>
              <a:t>mkdir‗test</a:t>
            </a:r>
            <a:endParaRPr lang="en-US" altLang="zh-CN" dirty="0">
              <a:solidFill>
                <a:srgbClr val="0070C0"/>
              </a:solidFill>
              <a:latin typeface="Consolas" pitchFamily="49" charset="0"/>
            </a:endParaRPr>
          </a:p>
          <a:p>
            <a:r>
              <a:rPr lang="en-US" altLang="zh-CN" dirty="0">
                <a:solidFill>
                  <a:schemeClr val="tx2"/>
                </a:solidFill>
                <a:latin typeface="Consolas" pitchFamily="49" charset="0"/>
              </a:rPr>
              <a:t>$ </a:t>
            </a:r>
            <a:r>
              <a:rPr lang="en-US" altLang="zh-CN" dirty="0" err="1">
                <a:solidFill>
                  <a:srgbClr val="0070C0"/>
                </a:solidFill>
                <a:latin typeface="Consolas" pitchFamily="49" charset="0"/>
              </a:rPr>
              <a:t>ls</a:t>
            </a:r>
            <a:endParaRPr lang="en-US" altLang="zh-CN" dirty="0">
              <a:solidFill>
                <a:srgbClr val="0070C0"/>
              </a:solidFill>
              <a:latin typeface="Consolas" pitchFamily="49" charset="0"/>
            </a:endParaRPr>
          </a:p>
          <a:p>
            <a:r>
              <a:rPr lang="en-US" altLang="zh-CN" dirty="0">
                <a:solidFill>
                  <a:srgbClr val="00B050"/>
                </a:solidFill>
                <a:latin typeface="Consolas" pitchFamily="49" charset="0"/>
              </a:rPr>
              <a:t>Desktop  test</a:t>
            </a:r>
          </a:p>
          <a:p>
            <a:r>
              <a:rPr lang="en-US" altLang="zh-CN" dirty="0">
                <a:solidFill>
                  <a:schemeClr val="tx2"/>
                </a:solidFill>
                <a:latin typeface="Consolas" pitchFamily="49" charset="0"/>
              </a:rPr>
              <a:t>$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Linux </a:t>
            </a:r>
            <a:r>
              <a:rPr lang="zh-CN" altLang="en-US" dirty="0"/>
              <a:t>命令初步 （如何进行目录操作）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533548"/>
            <a:ext cx="8220075" cy="1895452"/>
          </a:xfrm>
        </p:spPr>
        <p:txBody>
          <a:bodyPr/>
          <a:lstStyle/>
          <a:p>
            <a:r>
              <a:rPr lang="zh-CN" altLang="en-US" dirty="0"/>
              <a:t>删除目录或者文件</a:t>
            </a:r>
            <a:endParaRPr lang="en-US" altLang="zh-CN" dirty="0"/>
          </a:p>
          <a:p>
            <a:pPr lvl="1"/>
            <a:r>
              <a:rPr lang="en-US" altLang="zh-CN" dirty="0" err="1"/>
              <a:t>rm</a:t>
            </a:r>
            <a:r>
              <a:rPr lang="en-US" altLang="zh-CN" dirty="0"/>
              <a:t> </a:t>
            </a:r>
            <a:r>
              <a:rPr lang="en-US" altLang="zh-CN" i="1" dirty="0"/>
              <a:t>[</a:t>
            </a:r>
            <a:r>
              <a:rPr lang="en-US" altLang="zh-CN" i="1" dirty="0" err="1"/>
              <a:t>path_or_file</a:t>
            </a:r>
            <a:r>
              <a:rPr lang="en-US" altLang="zh-CN" i="1" dirty="0"/>
              <a:t>] </a:t>
            </a:r>
            <a:r>
              <a:rPr lang="zh-CN" altLang="en-US" dirty="0"/>
              <a:t>只能删除文件</a:t>
            </a:r>
            <a:endParaRPr lang="en-US" altLang="zh-CN" dirty="0"/>
          </a:p>
          <a:p>
            <a:pPr lvl="1"/>
            <a:r>
              <a:rPr lang="zh-CN" altLang="en-US" dirty="0"/>
              <a:t>删除目录： </a:t>
            </a:r>
            <a:r>
              <a:rPr lang="en-US" altLang="zh-CN" dirty="0" err="1"/>
              <a:t>rm</a:t>
            </a:r>
            <a:r>
              <a:rPr lang="en-US" altLang="zh-CN" dirty="0"/>
              <a:t> -</a:t>
            </a:r>
            <a:r>
              <a:rPr lang="en-US" altLang="zh-CN" dirty="0" err="1"/>
              <a:t>rf</a:t>
            </a:r>
            <a:r>
              <a:rPr lang="en-US" altLang="zh-CN" dirty="0"/>
              <a:t> </a:t>
            </a:r>
            <a:r>
              <a:rPr lang="en-US" altLang="zh-CN" i="1" dirty="0"/>
              <a:t>[</a:t>
            </a:r>
            <a:r>
              <a:rPr lang="en-US" altLang="zh-CN" i="1" dirty="0" err="1"/>
              <a:t>path_or_file</a:t>
            </a:r>
            <a:r>
              <a:rPr lang="en-US" altLang="zh-CN" i="1" dirty="0"/>
              <a:t>] </a:t>
            </a:r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删除了是不能恢复的，没有后悔药！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793437" y="3573016"/>
            <a:ext cx="7704856" cy="286232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tx2"/>
                </a:solidFill>
                <a:latin typeface="Consolas" pitchFamily="49" charset="0"/>
              </a:rPr>
              <a:t>$ </a:t>
            </a:r>
            <a:r>
              <a:rPr lang="en-US" altLang="zh-CN" dirty="0" err="1">
                <a:solidFill>
                  <a:srgbClr val="0070C0"/>
                </a:solidFill>
                <a:latin typeface="Consolas" pitchFamily="49" charset="0"/>
              </a:rPr>
              <a:t>ls</a:t>
            </a:r>
            <a:endParaRPr lang="en-US" altLang="zh-CN" dirty="0">
              <a:solidFill>
                <a:srgbClr val="0070C0"/>
              </a:solidFill>
              <a:latin typeface="Consolas" pitchFamily="49" charset="0"/>
            </a:endParaRPr>
          </a:p>
          <a:p>
            <a:r>
              <a:rPr lang="en-US" altLang="zh-CN" dirty="0">
                <a:solidFill>
                  <a:srgbClr val="00B050"/>
                </a:solidFill>
                <a:latin typeface="Consolas" pitchFamily="49" charset="0"/>
              </a:rPr>
              <a:t>Desktop  test</a:t>
            </a:r>
          </a:p>
          <a:p>
            <a:r>
              <a:rPr lang="en-US" altLang="zh-CN" dirty="0">
                <a:solidFill>
                  <a:schemeClr val="tx2"/>
                </a:solidFill>
                <a:latin typeface="Consolas" pitchFamily="49" charset="0"/>
              </a:rPr>
              <a:t>$ </a:t>
            </a:r>
            <a:r>
              <a:rPr lang="en-US" altLang="zh-CN" dirty="0" err="1">
                <a:solidFill>
                  <a:srgbClr val="0070C0"/>
                </a:solidFill>
                <a:latin typeface="Consolas" pitchFamily="49" charset="0"/>
              </a:rPr>
              <a:t>ls‗test</a:t>
            </a:r>
            <a:r>
              <a:rPr lang="en-US" altLang="zh-CN" dirty="0">
                <a:solidFill>
                  <a:srgbClr val="0070C0"/>
                </a:solidFill>
                <a:latin typeface="Consolas" pitchFamily="49" charset="0"/>
              </a:rPr>
              <a:t>/</a:t>
            </a:r>
          </a:p>
          <a:p>
            <a:r>
              <a:rPr lang="en-US" altLang="zh-CN" dirty="0" err="1">
                <a:solidFill>
                  <a:srgbClr val="00B050"/>
                </a:solidFill>
                <a:latin typeface="Consolas" pitchFamily="49" charset="0"/>
              </a:rPr>
              <a:t>myfile</a:t>
            </a:r>
            <a:endParaRPr lang="en-US" altLang="zh-CN" dirty="0">
              <a:solidFill>
                <a:srgbClr val="00B050"/>
              </a:solidFill>
              <a:latin typeface="Consolas" pitchFamily="49" charset="0"/>
            </a:endParaRPr>
          </a:p>
          <a:p>
            <a:r>
              <a:rPr lang="en-US" altLang="zh-CN" dirty="0">
                <a:solidFill>
                  <a:schemeClr val="tx2"/>
                </a:solidFill>
                <a:latin typeface="Consolas" pitchFamily="49" charset="0"/>
              </a:rPr>
              <a:t>$ </a:t>
            </a:r>
            <a:r>
              <a:rPr lang="en-US" altLang="zh-CN" dirty="0" err="1">
                <a:solidFill>
                  <a:srgbClr val="0070C0"/>
                </a:solidFill>
                <a:latin typeface="Consolas" pitchFamily="49" charset="0"/>
              </a:rPr>
              <a:t>rm‗test</a:t>
            </a:r>
            <a:r>
              <a:rPr lang="en-US" altLang="zh-CN" dirty="0">
                <a:solidFill>
                  <a:srgbClr val="0070C0"/>
                </a:solidFill>
                <a:latin typeface="Consolas" pitchFamily="49" charset="0"/>
              </a:rPr>
              <a:t>/</a:t>
            </a:r>
          </a:p>
          <a:p>
            <a:r>
              <a:rPr lang="en-US" altLang="zh-CN" dirty="0" err="1">
                <a:solidFill>
                  <a:srgbClr val="00B050"/>
                </a:solidFill>
                <a:latin typeface="Consolas" pitchFamily="49" charset="0"/>
              </a:rPr>
              <a:t>rm</a:t>
            </a:r>
            <a:r>
              <a:rPr lang="en-US" altLang="zh-CN" dirty="0">
                <a:solidFill>
                  <a:srgbClr val="00B050"/>
                </a:solidFill>
                <a:latin typeface="Consolas" pitchFamily="49" charset="0"/>
              </a:rPr>
              <a:t>: cannot remove `test/': Is a directory</a:t>
            </a:r>
          </a:p>
          <a:p>
            <a:r>
              <a:rPr lang="en-US" altLang="zh-CN" dirty="0">
                <a:solidFill>
                  <a:schemeClr val="tx2"/>
                </a:solidFill>
                <a:latin typeface="Consolas" pitchFamily="49" charset="0"/>
              </a:rPr>
              <a:t>$ </a:t>
            </a:r>
            <a:r>
              <a:rPr lang="en-US" altLang="zh-CN" dirty="0" err="1">
                <a:solidFill>
                  <a:srgbClr val="0070C0"/>
                </a:solidFill>
                <a:latin typeface="Consolas" pitchFamily="49" charset="0"/>
              </a:rPr>
              <a:t>rm</a:t>
            </a:r>
            <a:r>
              <a:rPr lang="en-US" altLang="zh-CN" dirty="0">
                <a:solidFill>
                  <a:srgbClr val="0070C0"/>
                </a:solidFill>
                <a:latin typeface="Consolas" pitchFamily="49" charset="0"/>
              </a:rPr>
              <a:t>‗-</a:t>
            </a:r>
            <a:r>
              <a:rPr lang="en-US" altLang="zh-CN" dirty="0" err="1">
                <a:solidFill>
                  <a:srgbClr val="0070C0"/>
                </a:solidFill>
                <a:latin typeface="Consolas" pitchFamily="49" charset="0"/>
              </a:rPr>
              <a:t>rf‗test</a:t>
            </a:r>
            <a:r>
              <a:rPr lang="en-US" altLang="zh-CN" dirty="0">
                <a:solidFill>
                  <a:srgbClr val="0070C0"/>
                </a:solidFill>
                <a:latin typeface="Consolas" pitchFamily="49" charset="0"/>
              </a:rPr>
              <a:t>/</a:t>
            </a:r>
          </a:p>
          <a:p>
            <a:r>
              <a:rPr lang="en-US" altLang="zh-CN" dirty="0">
                <a:solidFill>
                  <a:schemeClr val="tx2"/>
                </a:solidFill>
                <a:latin typeface="Consolas" pitchFamily="49" charset="0"/>
              </a:rPr>
              <a:t>$ </a:t>
            </a:r>
            <a:r>
              <a:rPr lang="en-US" altLang="zh-CN" dirty="0" err="1">
                <a:solidFill>
                  <a:srgbClr val="0070C0"/>
                </a:solidFill>
                <a:latin typeface="Consolas" pitchFamily="49" charset="0"/>
              </a:rPr>
              <a:t>ls</a:t>
            </a:r>
            <a:endParaRPr lang="en-US" altLang="zh-CN" dirty="0">
              <a:solidFill>
                <a:srgbClr val="0070C0"/>
              </a:solidFill>
              <a:latin typeface="Consolas" pitchFamily="49" charset="0"/>
            </a:endParaRPr>
          </a:p>
          <a:p>
            <a:r>
              <a:rPr lang="en-US" altLang="zh-CN" dirty="0">
                <a:solidFill>
                  <a:srgbClr val="00B050"/>
                </a:solidFill>
                <a:latin typeface="Consolas" pitchFamily="49" charset="0"/>
              </a:rPr>
              <a:t>Desktop</a:t>
            </a:r>
          </a:p>
          <a:p>
            <a:r>
              <a:rPr lang="en-US" altLang="zh-CN" dirty="0">
                <a:solidFill>
                  <a:schemeClr val="tx2"/>
                </a:solidFill>
                <a:latin typeface="Consolas" pitchFamily="49" charset="0"/>
              </a:rPr>
              <a:t>$ </a:t>
            </a:r>
          </a:p>
        </p:txBody>
      </p:sp>
    </p:spTree>
    <p:extLst>
      <p:ext uri="{BB962C8B-B14F-4D97-AF65-F5344CB8AC3E}">
        <p14:creationId xmlns:p14="http://schemas.microsoft.com/office/powerpoint/2010/main" val="18873122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Linux </a:t>
            </a:r>
            <a:r>
              <a:rPr lang="zh-CN" altLang="en-US" dirty="0"/>
              <a:t>命令初步（如何编辑文本文件）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学习使用一款文本编辑软件</a:t>
            </a:r>
            <a:endParaRPr lang="en-US" altLang="zh-CN" dirty="0"/>
          </a:p>
          <a:p>
            <a:r>
              <a:rPr lang="zh-CN" altLang="en-US" dirty="0"/>
              <a:t>类似于“记事本”，带有图形界面的软件</a:t>
            </a:r>
            <a:endParaRPr lang="en-US" altLang="zh-CN" dirty="0"/>
          </a:p>
          <a:p>
            <a:pPr lvl="1"/>
            <a:r>
              <a:rPr lang="en-US" altLang="zh-CN" dirty="0" err="1"/>
              <a:t>gedit</a:t>
            </a:r>
            <a:endParaRPr lang="en-US" altLang="zh-CN" dirty="0"/>
          </a:p>
          <a:p>
            <a:pPr lvl="1"/>
            <a:r>
              <a:rPr lang="en-US" altLang="zh-CN" dirty="0" err="1"/>
              <a:t>nedit</a:t>
            </a:r>
            <a:endParaRPr lang="en-US" altLang="zh-CN" dirty="0"/>
          </a:p>
          <a:p>
            <a:r>
              <a:rPr lang="zh-CN" altLang="en-US" dirty="0"/>
              <a:t>功能强大，但没有图形界面的软件</a:t>
            </a:r>
            <a:endParaRPr lang="en-US" altLang="zh-CN" dirty="0"/>
          </a:p>
          <a:p>
            <a:pPr lvl="1"/>
            <a:r>
              <a:rPr lang="en-US" altLang="zh-CN" dirty="0"/>
              <a:t>vim</a:t>
            </a:r>
          </a:p>
          <a:p>
            <a:pPr lvl="1"/>
            <a:r>
              <a:rPr lang="en-US" altLang="zh-CN" dirty="0" err="1"/>
              <a:t>Emacs</a:t>
            </a:r>
            <a:endParaRPr lang="en-US" altLang="zh-CN" dirty="0"/>
          </a:p>
          <a:p>
            <a:r>
              <a:rPr lang="zh-CN" altLang="en-US" dirty="0"/>
              <a:t>在</a:t>
            </a:r>
            <a:r>
              <a:rPr lang="en-US" altLang="zh-CN" dirty="0"/>
              <a:t>Terminal</a:t>
            </a:r>
            <a:r>
              <a:rPr lang="zh-CN" altLang="en-US" dirty="0"/>
              <a:t>中查看文本文件内容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8279443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Linux </a:t>
            </a:r>
            <a:r>
              <a:rPr lang="zh-CN" altLang="en-US" dirty="0"/>
              <a:t>命令初步（如何编辑文本文件）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76400"/>
            <a:ext cx="8220075" cy="672480"/>
          </a:xfrm>
        </p:spPr>
        <p:txBody>
          <a:bodyPr/>
          <a:lstStyle/>
          <a:p>
            <a:r>
              <a:rPr lang="en-US" altLang="zh-CN" dirty="0" err="1"/>
              <a:t>gedit</a:t>
            </a:r>
            <a:r>
              <a:rPr lang="zh-CN" altLang="en-US" dirty="0"/>
              <a:t>和</a:t>
            </a:r>
            <a:r>
              <a:rPr lang="en-US" altLang="zh-CN" dirty="0" err="1"/>
              <a:t>nedit</a:t>
            </a:r>
            <a:endParaRPr lang="en-US" altLang="zh-CN" dirty="0"/>
          </a:p>
        </p:txBody>
      </p:sp>
      <p:sp>
        <p:nvSpPr>
          <p:cNvPr id="4" name="矩形 3"/>
          <p:cNvSpPr/>
          <p:nvPr/>
        </p:nvSpPr>
        <p:spPr>
          <a:xfrm>
            <a:off x="774915" y="2276872"/>
            <a:ext cx="7704856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tx2"/>
                </a:solidFill>
                <a:latin typeface="Consolas" pitchFamily="49" charset="0"/>
              </a:rPr>
              <a:t>$ </a:t>
            </a:r>
            <a:r>
              <a:rPr lang="en-US" altLang="zh-CN" dirty="0" err="1">
                <a:solidFill>
                  <a:srgbClr val="0070C0"/>
                </a:solidFill>
                <a:latin typeface="Consolas" pitchFamily="49" charset="0"/>
              </a:rPr>
              <a:t>gedit‗myfile</a:t>
            </a:r>
            <a:r>
              <a:rPr lang="en-US" altLang="zh-CN" dirty="0">
                <a:solidFill>
                  <a:srgbClr val="0070C0"/>
                </a:solidFill>
                <a:latin typeface="Consolas" pitchFamily="49" charset="0"/>
              </a:rPr>
              <a:t>‗&amp;</a:t>
            </a: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915" y="2924944"/>
            <a:ext cx="4182976" cy="33585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831356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Linux </a:t>
            </a:r>
            <a:r>
              <a:rPr lang="zh-CN" altLang="en-US" dirty="0"/>
              <a:t>命令初步（如何编辑文本文件）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76400"/>
            <a:ext cx="8220075" cy="672480"/>
          </a:xfrm>
        </p:spPr>
        <p:txBody>
          <a:bodyPr/>
          <a:lstStyle/>
          <a:p>
            <a:r>
              <a:rPr lang="en-US" altLang="zh-CN" dirty="0"/>
              <a:t>vim</a:t>
            </a:r>
            <a:r>
              <a:rPr lang="zh-CN" altLang="en-US" dirty="0"/>
              <a:t>和</a:t>
            </a:r>
            <a:r>
              <a:rPr lang="en-US" altLang="zh-CN" dirty="0" err="1"/>
              <a:t>emacs</a:t>
            </a:r>
            <a:endParaRPr lang="en-US" altLang="zh-CN" dirty="0"/>
          </a:p>
        </p:txBody>
      </p:sp>
      <p:sp>
        <p:nvSpPr>
          <p:cNvPr id="4" name="矩形 3"/>
          <p:cNvSpPr/>
          <p:nvPr/>
        </p:nvSpPr>
        <p:spPr>
          <a:xfrm>
            <a:off x="774915" y="2276872"/>
            <a:ext cx="7704856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tx2"/>
                </a:solidFill>
                <a:latin typeface="Consolas" pitchFamily="49" charset="0"/>
              </a:rPr>
              <a:t>$ </a:t>
            </a:r>
            <a:r>
              <a:rPr lang="en-US" altLang="zh-CN" dirty="0" err="1">
                <a:solidFill>
                  <a:srgbClr val="0070C0"/>
                </a:solidFill>
                <a:latin typeface="Consolas" pitchFamily="49" charset="0"/>
              </a:rPr>
              <a:t>vim‗myfile</a:t>
            </a:r>
            <a:endParaRPr lang="en-US" altLang="zh-CN" dirty="0">
              <a:solidFill>
                <a:srgbClr val="0070C0"/>
              </a:solidFill>
              <a:latin typeface="Consolas" pitchFamily="49" charset="0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915" y="3068960"/>
            <a:ext cx="4104456" cy="30530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136076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Linux </a:t>
            </a:r>
            <a:r>
              <a:rPr lang="zh-CN" altLang="en-US" dirty="0"/>
              <a:t>命令初步（如何编辑文本文件）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76400"/>
            <a:ext cx="8220075" cy="672480"/>
          </a:xfrm>
        </p:spPr>
        <p:txBody>
          <a:bodyPr/>
          <a:lstStyle/>
          <a:p>
            <a:r>
              <a:rPr lang="en-US" altLang="zh-CN" dirty="0"/>
              <a:t>cat</a:t>
            </a:r>
          </a:p>
        </p:txBody>
      </p:sp>
      <p:sp>
        <p:nvSpPr>
          <p:cNvPr id="4" name="矩形 3"/>
          <p:cNvSpPr/>
          <p:nvPr/>
        </p:nvSpPr>
        <p:spPr>
          <a:xfrm>
            <a:off x="774915" y="2276872"/>
            <a:ext cx="7704856" cy="258532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tx2"/>
                </a:solidFill>
                <a:latin typeface="Consolas" pitchFamily="49" charset="0"/>
              </a:rPr>
              <a:t>$ </a:t>
            </a:r>
            <a:r>
              <a:rPr lang="en-US" altLang="zh-CN" dirty="0" err="1">
                <a:solidFill>
                  <a:srgbClr val="0070C0"/>
                </a:solidFill>
                <a:latin typeface="Consolas" pitchFamily="49" charset="0"/>
              </a:rPr>
              <a:t>ls</a:t>
            </a:r>
            <a:endParaRPr lang="en-US" altLang="zh-CN" dirty="0">
              <a:solidFill>
                <a:srgbClr val="0070C0"/>
              </a:solidFill>
              <a:latin typeface="Consolas" pitchFamily="49" charset="0"/>
            </a:endParaRPr>
          </a:p>
          <a:p>
            <a:r>
              <a:rPr lang="en-US" altLang="zh-CN" dirty="0">
                <a:solidFill>
                  <a:srgbClr val="00B050"/>
                </a:solidFill>
                <a:latin typeface="Consolas" pitchFamily="49" charset="0"/>
              </a:rPr>
              <a:t>Desktop</a:t>
            </a:r>
          </a:p>
          <a:p>
            <a:r>
              <a:rPr lang="en-US" altLang="zh-CN" dirty="0">
                <a:solidFill>
                  <a:schemeClr val="tx2"/>
                </a:solidFill>
                <a:latin typeface="Consolas" pitchFamily="49" charset="0"/>
              </a:rPr>
              <a:t>$ </a:t>
            </a:r>
            <a:r>
              <a:rPr lang="en-US" altLang="zh-CN" dirty="0" err="1">
                <a:solidFill>
                  <a:srgbClr val="0070C0"/>
                </a:solidFill>
                <a:latin typeface="Consolas" pitchFamily="49" charset="0"/>
              </a:rPr>
              <a:t>ls</a:t>
            </a:r>
            <a:r>
              <a:rPr lang="en-US" altLang="zh-CN" dirty="0">
                <a:solidFill>
                  <a:srgbClr val="0070C0"/>
                </a:solidFill>
                <a:latin typeface="Consolas" pitchFamily="49" charset="0"/>
              </a:rPr>
              <a:t>‗&gt;‗result.txt</a:t>
            </a:r>
          </a:p>
          <a:p>
            <a:r>
              <a:rPr lang="en-US" altLang="zh-CN" dirty="0">
                <a:solidFill>
                  <a:schemeClr val="tx2"/>
                </a:solidFill>
                <a:latin typeface="Consolas" pitchFamily="49" charset="0"/>
              </a:rPr>
              <a:t>$ </a:t>
            </a:r>
            <a:r>
              <a:rPr lang="en-US" altLang="zh-CN" dirty="0" err="1">
                <a:solidFill>
                  <a:srgbClr val="0070C0"/>
                </a:solidFill>
                <a:latin typeface="Consolas" pitchFamily="49" charset="0"/>
              </a:rPr>
              <a:t>ls</a:t>
            </a:r>
            <a:endParaRPr lang="en-US" altLang="zh-CN" dirty="0">
              <a:solidFill>
                <a:srgbClr val="0070C0"/>
              </a:solidFill>
              <a:latin typeface="Consolas" pitchFamily="49" charset="0"/>
            </a:endParaRPr>
          </a:p>
          <a:p>
            <a:r>
              <a:rPr lang="en-US" altLang="zh-CN" dirty="0">
                <a:solidFill>
                  <a:srgbClr val="00B050"/>
                </a:solidFill>
                <a:latin typeface="Consolas" pitchFamily="49" charset="0"/>
              </a:rPr>
              <a:t>Desktop  result.txt</a:t>
            </a:r>
          </a:p>
          <a:p>
            <a:r>
              <a:rPr lang="en-US" altLang="zh-CN" dirty="0">
                <a:solidFill>
                  <a:schemeClr val="tx2"/>
                </a:solidFill>
                <a:latin typeface="Consolas" pitchFamily="49" charset="0"/>
              </a:rPr>
              <a:t>$ </a:t>
            </a:r>
            <a:r>
              <a:rPr lang="en-US" altLang="zh-CN" dirty="0">
                <a:solidFill>
                  <a:srgbClr val="0070C0"/>
                </a:solidFill>
                <a:latin typeface="Consolas" pitchFamily="49" charset="0"/>
              </a:rPr>
              <a:t>cat‗result.txt </a:t>
            </a:r>
          </a:p>
          <a:p>
            <a:r>
              <a:rPr lang="en-US" altLang="zh-CN" dirty="0">
                <a:solidFill>
                  <a:srgbClr val="00B050"/>
                </a:solidFill>
                <a:latin typeface="Consolas" pitchFamily="49" charset="0"/>
              </a:rPr>
              <a:t>Desktop</a:t>
            </a:r>
          </a:p>
          <a:p>
            <a:r>
              <a:rPr lang="en-US" altLang="zh-CN" dirty="0">
                <a:solidFill>
                  <a:srgbClr val="00B050"/>
                </a:solidFill>
                <a:latin typeface="Consolas" pitchFamily="49" charset="0"/>
              </a:rPr>
              <a:t>result.txt</a:t>
            </a:r>
          </a:p>
          <a:p>
            <a:r>
              <a:rPr lang="en-US" altLang="zh-CN" dirty="0">
                <a:solidFill>
                  <a:schemeClr val="tx2"/>
                </a:solidFill>
                <a:latin typeface="Consolas" pitchFamily="49" charset="0"/>
              </a:rPr>
              <a:t>$ </a:t>
            </a:r>
          </a:p>
        </p:txBody>
      </p:sp>
      <p:sp>
        <p:nvSpPr>
          <p:cNvPr id="6" name="内容占位符 6"/>
          <p:cNvSpPr txBox="1">
            <a:spLocks/>
          </p:cNvSpPr>
          <p:nvPr/>
        </p:nvSpPr>
        <p:spPr>
          <a:xfrm>
            <a:off x="774916" y="5229200"/>
            <a:ext cx="8045556" cy="1171600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kumimoji="1" sz="3200" baseline="0">
                <a:solidFill>
                  <a:schemeClr val="hlink"/>
                </a:solidFill>
                <a:latin typeface="Calibri" pitchFamily="34" charset="0"/>
                <a:ea typeface="微软雅黑" pitchFamily="34" charset="-122"/>
                <a:cs typeface="+mn-cs"/>
              </a:defRPr>
            </a:lvl1pPr>
            <a:lvl2pPr marL="742950" indent="-28575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–"/>
              <a:defRPr kumimoji="1" sz="2800" baseline="0">
                <a:solidFill>
                  <a:schemeClr val="tx2"/>
                </a:solidFill>
                <a:latin typeface="Calibri" pitchFamily="34" charset="0"/>
                <a:ea typeface="微软雅黑" pitchFamily="34" charset="-122"/>
              </a:defRPr>
            </a:lvl2pPr>
            <a:lvl3pPr marL="1143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kumimoji="1" sz="2800" baseline="0">
                <a:solidFill>
                  <a:schemeClr val="hlink"/>
                </a:solidFill>
                <a:latin typeface="Calibri" pitchFamily="34" charset="0"/>
                <a:ea typeface="微软雅黑" pitchFamily="34" charset="-122"/>
              </a:defRPr>
            </a:lvl3pPr>
            <a:lvl4pPr marL="1600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–"/>
              <a:defRPr kumimoji="1" sz="2800" baseline="0">
                <a:solidFill>
                  <a:schemeClr val="tx2"/>
                </a:solidFill>
                <a:latin typeface="Calibri" pitchFamily="34" charset="0"/>
                <a:ea typeface="微软雅黑" pitchFamily="34" charset="-122"/>
              </a:defRPr>
            </a:lvl4pPr>
            <a:lvl5pPr marL="20574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kumimoji="1" sz="2800" baseline="0">
                <a:solidFill>
                  <a:schemeClr val="hlink"/>
                </a:solidFill>
                <a:latin typeface="Calibri" pitchFamily="34" charset="0"/>
                <a:ea typeface="微软雅黑" pitchFamily="34" charset="-122"/>
              </a:defRPr>
            </a:lvl5pPr>
            <a:lvl6pPr marL="25146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kumimoji="1" sz="2800">
                <a:solidFill>
                  <a:schemeClr val="hlink"/>
                </a:solidFill>
                <a:latin typeface="+mn-lt"/>
                <a:ea typeface="+mn-ea"/>
              </a:defRPr>
            </a:lvl6pPr>
            <a:lvl7pPr marL="29718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kumimoji="1" sz="2800">
                <a:solidFill>
                  <a:schemeClr val="hlink"/>
                </a:solidFill>
                <a:latin typeface="+mn-lt"/>
                <a:ea typeface="+mn-ea"/>
              </a:defRPr>
            </a:lvl7pPr>
            <a:lvl8pPr marL="3429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kumimoji="1" sz="2800">
                <a:solidFill>
                  <a:schemeClr val="hlink"/>
                </a:solidFill>
                <a:latin typeface="+mn-lt"/>
                <a:ea typeface="+mn-ea"/>
              </a:defRPr>
            </a:lvl8pPr>
            <a:lvl9pPr marL="3886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kumimoji="1" sz="2800">
                <a:solidFill>
                  <a:schemeClr val="hlink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1600" dirty="0"/>
              <a:t>[</a:t>
            </a:r>
            <a:r>
              <a:rPr lang="zh-CN" altLang="en-US" sz="1600" dirty="0"/>
              <a:t>命令</a:t>
            </a:r>
            <a:r>
              <a:rPr lang="en-US" altLang="zh-CN" sz="1600" dirty="0"/>
              <a:t>]</a:t>
            </a:r>
            <a:r>
              <a:rPr lang="en-US" altLang="zh-CN" sz="1600" dirty="0">
                <a:solidFill>
                  <a:srgbClr val="0070C0"/>
                </a:solidFill>
                <a:latin typeface="Consolas" pitchFamily="49" charset="0"/>
              </a:rPr>
              <a:t>‗&gt;‗[file] </a:t>
            </a:r>
            <a:r>
              <a:rPr lang="zh-CN" altLang="en-US" sz="1600" dirty="0">
                <a:solidFill>
                  <a:srgbClr val="0070C0"/>
                </a:solidFill>
                <a:latin typeface="Consolas" pitchFamily="49" charset="0"/>
              </a:rPr>
              <a:t>的含义是，首先创建一个空的文件，文件名为</a:t>
            </a:r>
            <a:r>
              <a:rPr lang="en-US" altLang="zh-CN" sz="1600" dirty="0">
                <a:solidFill>
                  <a:srgbClr val="0070C0"/>
                </a:solidFill>
                <a:latin typeface="Consolas" pitchFamily="49" charset="0"/>
              </a:rPr>
              <a:t>file</a:t>
            </a:r>
            <a:r>
              <a:rPr lang="zh-CN" altLang="en-US" sz="1600" dirty="0">
                <a:solidFill>
                  <a:srgbClr val="0070C0"/>
                </a:solidFill>
                <a:latin typeface="Consolas" pitchFamily="49" charset="0"/>
              </a:rPr>
              <a:t>。如果这个文件已经存在，则删除之（即 </a:t>
            </a:r>
            <a:r>
              <a:rPr lang="en-US" altLang="zh-CN" sz="1600" dirty="0" err="1">
                <a:solidFill>
                  <a:srgbClr val="0070C0"/>
                </a:solidFill>
                <a:latin typeface="Consolas" pitchFamily="49" charset="0"/>
              </a:rPr>
              <a:t>fopen</a:t>
            </a:r>
            <a:r>
              <a:rPr lang="en-US" altLang="zh-CN" sz="1600" dirty="0">
                <a:solidFill>
                  <a:srgbClr val="0070C0"/>
                </a:solidFill>
                <a:latin typeface="Consolas" pitchFamily="49" charset="0"/>
              </a:rPr>
              <a:t>(“file”, “w”)</a:t>
            </a:r>
            <a:r>
              <a:rPr lang="zh-CN" altLang="en-US" sz="1600" dirty="0">
                <a:solidFill>
                  <a:srgbClr val="0070C0"/>
                </a:solidFill>
                <a:latin typeface="Consolas" pitchFamily="49" charset="0"/>
              </a:rPr>
              <a:t>）。然后执行命令，并把命令在</a:t>
            </a:r>
            <a:r>
              <a:rPr lang="en-US" altLang="zh-CN" sz="1600" dirty="0">
                <a:solidFill>
                  <a:srgbClr val="0070C0"/>
                </a:solidFill>
                <a:latin typeface="Consolas" pitchFamily="49" charset="0"/>
              </a:rPr>
              <a:t>Terminal</a:t>
            </a:r>
            <a:r>
              <a:rPr lang="zh-CN" altLang="en-US" sz="1600" dirty="0">
                <a:solidFill>
                  <a:srgbClr val="0070C0"/>
                </a:solidFill>
                <a:latin typeface="Consolas" pitchFamily="49" charset="0"/>
              </a:rPr>
              <a:t>的输出全部写在</a:t>
            </a:r>
            <a:r>
              <a:rPr lang="en-US" altLang="zh-CN" sz="1600" dirty="0">
                <a:solidFill>
                  <a:srgbClr val="0070C0"/>
                </a:solidFill>
                <a:latin typeface="Consolas" pitchFamily="49" charset="0"/>
              </a:rPr>
              <a:t>file</a:t>
            </a:r>
            <a:r>
              <a:rPr lang="zh-CN" altLang="en-US" sz="1600" dirty="0">
                <a:solidFill>
                  <a:srgbClr val="0070C0"/>
                </a:solidFill>
                <a:latin typeface="Consolas" pitchFamily="49" charset="0"/>
              </a:rPr>
              <a:t>这个文件里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6086916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Linux </a:t>
            </a:r>
            <a:r>
              <a:rPr lang="zh-CN" altLang="en-US" dirty="0"/>
              <a:t>命令初步（如何截图）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457200" y="1676400"/>
            <a:ext cx="8220075" cy="1323972"/>
          </a:xfrm>
        </p:spPr>
        <p:txBody>
          <a:bodyPr/>
          <a:lstStyle/>
          <a:p>
            <a:r>
              <a:rPr lang="zh-CN" altLang="en-US" dirty="0"/>
              <a:t>使用</a:t>
            </a:r>
            <a:r>
              <a:rPr lang="en-US" altLang="zh-CN" dirty="0" err="1"/>
              <a:t>PrintScreen</a:t>
            </a:r>
            <a:r>
              <a:rPr lang="en-US" altLang="zh-CN" dirty="0"/>
              <a:t> / </a:t>
            </a:r>
            <a:r>
              <a:rPr lang="en-US" altLang="zh-CN" dirty="0" err="1"/>
              <a:t>Alt+PrintScreen</a:t>
            </a:r>
            <a:endParaRPr lang="en-US" altLang="zh-CN" dirty="0"/>
          </a:p>
          <a:p>
            <a:r>
              <a:rPr lang="zh-CN" altLang="en-US" dirty="0"/>
              <a:t>使用截图工具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2780928"/>
            <a:ext cx="5244359" cy="39330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Linux </a:t>
            </a:r>
            <a:r>
              <a:rPr lang="zh-CN" altLang="en-US" dirty="0"/>
              <a:t>命令初步（复制、移动和快捷方式）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76400"/>
            <a:ext cx="8220075" cy="1032520"/>
          </a:xfrm>
        </p:spPr>
        <p:txBody>
          <a:bodyPr/>
          <a:lstStyle/>
          <a:p>
            <a:r>
              <a:rPr lang="zh-CN" altLang="en-US" dirty="0"/>
              <a:t>复制</a:t>
            </a:r>
            <a:endParaRPr lang="en-US" altLang="zh-CN" dirty="0"/>
          </a:p>
          <a:p>
            <a:pPr lvl="1"/>
            <a:r>
              <a:rPr lang="en-US" altLang="zh-CN" dirty="0"/>
              <a:t>cp -</a:t>
            </a:r>
            <a:r>
              <a:rPr lang="en-US" altLang="zh-CN" dirty="0" err="1"/>
              <a:t>arf</a:t>
            </a:r>
            <a:r>
              <a:rPr lang="en-US" altLang="zh-CN" dirty="0"/>
              <a:t> [</a:t>
            </a:r>
            <a:r>
              <a:rPr lang="zh-CN" altLang="en-US" dirty="0"/>
              <a:t>源文件或目录</a:t>
            </a:r>
            <a:r>
              <a:rPr lang="en-US" altLang="zh-CN" dirty="0"/>
              <a:t>] [</a:t>
            </a:r>
            <a:r>
              <a:rPr lang="zh-CN" altLang="en-US" dirty="0"/>
              <a:t>目标目录</a:t>
            </a:r>
            <a:r>
              <a:rPr lang="en-US" altLang="zh-CN" dirty="0"/>
              <a:t>]</a:t>
            </a:r>
          </a:p>
        </p:txBody>
      </p:sp>
      <p:sp>
        <p:nvSpPr>
          <p:cNvPr id="4" name="矩形 3"/>
          <p:cNvSpPr/>
          <p:nvPr/>
        </p:nvSpPr>
        <p:spPr>
          <a:xfrm>
            <a:off x="774915" y="2924944"/>
            <a:ext cx="7704856" cy="175432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tx2"/>
                </a:solidFill>
                <a:latin typeface="Consolas" pitchFamily="49" charset="0"/>
              </a:rPr>
              <a:t>$ </a:t>
            </a:r>
            <a:r>
              <a:rPr lang="en-US" altLang="zh-CN" dirty="0" err="1">
                <a:solidFill>
                  <a:srgbClr val="0070C0"/>
                </a:solidFill>
                <a:latin typeface="Consolas" pitchFamily="49" charset="0"/>
              </a:rPr>
              <a:t>ls</a:t>
            </a:r>
            <a:endParaRPr lang="en-US" altLang="zh-CN" dirty="0">
              <a:solidFill>
                <a:srgbClr val="0070C0"/>
              </a:solidFill>
              <a:latin typeface="Consolas" pitchFamily="49" charset="0"/>
            </a:endParaRPr>
          </a:p>
          <a:p>
            <a:r>
              <a:rPr lang="en-US" altLang="zh-CN" dirty="0">
                <a:solidFill>
                  <a:srgbClr val="00B050"/>
                </a:solidFill>
                <a:latin typeface="Consolas" pitchFamily="49" charset="0"/>
              </a:rPr>
              <a:t>Desktop  </a:t>
            </a:r>
            <a:r>
              <a:rPr lang="en-US" altLang="zh-CN" dirty="0" err="1">
                <a:solidFill>
                  <a:srgbClr val="00B050"/>
                </a:solidFill>
                <a:latin typeface="Consolas" pitchFamily="49" charset="0"/>
              </a:rPr>
              <a:t>myfile</a:t>
            </a:r>
            <a:r>
              <a:rPr lang="en-US" altLang="zh-CN" dirty="0">
                <a:solidFill>
                  <a:srgbClr val="00B050"/>
                </a:solidFill>
                <a:latin typeface="Consolas" pitchFamily="49" charset="0"/>
              </a:rPr>
              <a:t>  </a:t>
            </a:r>
            <a:r>
              <a:rPr lang="en-US" altLang="zh-CN" dirty="0" err="1">
                <a:solidFill>
                  <a:srgbClr val="00B050"/>
                </a:solidFill>
                <a:latin typeface="Consolas" pitchFamily="49" charset="0"/>
              </a:rPr>
              <a:t>myfolder</a:t>
            </a:r>
            <a:endParaRPr lang="en-US" altLang="zh-CN" dirty="0">
              <a:solidFill>
                <a:srgbClr val="00B050"/>
              </a:solidFill>
              <a:latin typeface="Consolas" pitchFamily="49" charset="0"/>
            </a:endParaRPr>
          </a:p>
          <a:p>
            <a:r>
              <a:rPr lang="en-US" altLang="zh-CN" dirty="0">
                <a:solidFill>
                  <a:schemeClr val="tx2"/>
                </a:solidFill>
                <a:latin typeface="Consolas" pitchFamily="49" charset="0"/>
              </a:rPr>
              <a:t>$ </a:t>
            </a:r>
            <a:r>
              <a:rPr lang="en-US" altLang="zh-CN" dirty="0" err="1">
                <a:solidFill>
                  <a:srgbClr val="0070C0"/>
                </a:solidFill>
                <a:latin typeface="Consolas" pitchFamily="49" charset="0"/>
              </a:rPr>
              <a:t>cp</a:t>
            </a:r>
            <a:r>
              <a:rPr lang="en-US" altLang="zh-CN" dirty="0">
                <a:solidFill>
                  <a:srgbClr val="0070C0"/>
                </a:solidFill>
                <a:latin typeface="Consolas" pitchFamily="49" charset="0"/>
              </a:rPr>
              <a:t>‗-</a:t>
            </a:r>
            <a:r>
              <a:rPr lang="en-US" altLang="zh-CN" dirty="0" err="1">
                <a:solidFill>
                  <a:srgbClr val="0070C0"/>
                </a:solidFill>
                <a:latin typeface="Consolas" pitchFamily="49" charset="0"/>
              </a:rPr>
              <a:t>arf‗myfile‗myfolder</a:t>
            </a:r>
            <a:r>
              <a:rPr lang="en-US" altLang="zh-CN" dirty="0">
                <a:solidFill>
                  <a:srgbClr val="0070C0"/>
                </a:solidFill>
                <a:latin typeface="Consolas" pitchFamily="49" charset="0"/>
              </a:rPr>
              <a:t>/</a:t>
            </a:r>
          </a:p>
          <a:p>
            <a:r>
              <a:rPr lang="en-US" altLang="zh-CN" dirty="0">
                <a:solidFill>
                  <a:schemeClr val="tx2"/>
                </a:solidFill>
                <a:latin typeface="Consolas" pitchFamily="49" charset="0"/>
              </a:rPr>
              <a:t>$ </a:t>
            </a:r>
            <a:r>
              <a:rPr lang="en-US" altLang="zh-CN" dirty="0" err="1">
                <a:solidFill>
                  <a:srgbClr val="0070C0"/>
                </a:solidFill>
                <a:latin typeface="Consolas" pitchFamily="49" charset="0"/>
              </a:rPr>
              <a:t>ls‗myfolder</a:t>
            </a:r>
            <a:r>
              <a:rPr lang="en-US" altLang="zh-CN" dirty="0">
                <a:solidFill>
                  <a:srgbClr val="0070C0"/>
                </a:solidFill>
                <a:latin typeface="Consolas" pitchFamily="49" charset="0"/>
              </a:rPr>
              <a:t>/</a:t>
            </a:r>
          </a:p>
          <a:p>
            <a:r>
              <a:rPr lang="en-US" altLang="zh-CN" dirty="0" err="1">
                <a:solidFill>
                  <a:srgbClr val="00B050"/>
                </a:solidFill>
                <a:latin typeface="Consolas" pitchFamily="49" charset="0"/>
              </a:rPr>
              <a:t>myfile</a:t>
            </a:r>
            <a:endParaRPr lang="en-US" altLang="zh-CN" dirty="0">
              <a:solidFill>
                <a:srgbClr val="00B050"/>
              </a:solidFill>
              <a:latin typeface="Consolas" pitchFamily="49" charset="0"/>
            </a:endParaRPr>
          </a:p>
          <a:p>
            <a:r>
              <a:rPr lang="en-US" altLang="zh-CN" dirty="0">
                <a:solidFill>
                  <a:schemeClr val="tx2"/>
                </a:solidFill>
                <a:latin typeface="Consolas" pitchFamily="49" charset="0"/>
              </a:rPr>
              <a:t>$ </a:t>
            </a:r>
            <a:endParaRPr lang="en-US" altLang="zh-CN" dirty="0">
              <a:solidFill>
                <a:srgbClr val="0070C0"/>
              </a:solidFill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Linux </a:t>
            </a:r>
            <a:r>
              <a:rPr lang="zh-CN" altLang="en-US" dirty="0"/>
              <a:t>命令初步（复制、移动和快捷方式）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76400"/>
            <a:ext cx="8220075" cy="1032520"/>
          </a:xfrm>
        </p:spPr>
        <p:txBody>
          <a:bodyPr/>
          <a:lstStyle/>
          <a:p>
            <a:r>
              <a:rPr lang="zh-CN" altLang="en-US" dirty="0"/>
              <a:t>移动（或者改名）</a:t>
            </a:r>
            <a:endParaRPr lang="en-US" altLang="zh-CN" dirty="0"/>
          </a:p>
          <a:p>
            <a:pPr lvl="1"/>
            <a:r>
              <a:rPr lang="en-US" altLang="zh-CN" dirty="0" err="1"/>
              <a:t>mv</a:t>
            </a:r>
            <a:r>
              <a:rPr lang="en-US" altLang="zh-CN" dirty="0"/>
              <a:t> &lt;</a:t>
            </a:r>
            <a:r>
              <a:rPr lang="zh-CN" altLang="en-US" dirty="0"/>
              <a:t>源文件或目录</a:t>
            </a:r>
            <a:r>
              <a:rPr lang="en-US" altLang="zh-CN" dirty="0"/>
              <a:t>&gt; &lt;</a:t>
            </a:r>
            <a:r>
              <a:rPr lang="zh-CN" altLang="en-US" dirty="0"/>
              <a:t>目标目录</a:t>
            </a:r>
            <a:r>
              <a:rPr lang="en-US" altLang="zh-CN" dirty="0"/>
              <a:t>&gt; </a:t>
            </a:r>
          </a:p>
        </p:txBody>
      </p:sp>
      <p:sp>
        <p:nvSpPr>
          <p:cNvPr id="4" name="矩形 3"/>
          <p:cNvSpPr/>
          <p:nvPr/>
        </p:nvSpPr>
        <p:spPr>
          <a:xfrm>
            <a:off x="774915" y="2924944"/>
            <a:ext cx="7704856" cy="286232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tx2"/>
                </a:solidFill>
                <a:latin typeface="Consolas" pitchFamily="49" charset="0"/>
              </a:rPr>
              <a:t>$ </a:t>
            </a:r>
            <a:r>
              <a:rPr lang="en-US" altLang="zh-CN" dirty="0" err="1">
                <a:solidFill>
                  <a:srgbClr val="0070C0"/>
                </a:solidFill>
                <a:latin typeface="Consolas" pitchFamily="49" charset="0"/>
              </a:rPr>
              <a:t>ls</a:t>
            </a:r>
            <a:endParaRPr lang="en-US" altLang="zh-CN" dirty="0">
              <a:solidFill>
                <a:srgbClr val="0070C0"/>
              </a:solidFill>
              <a:latin typeface="Consolas" pitchFamily="49" charset="0"/>
            </a:endParaRPr>
          </a:p>
          <a:p>
            <a:r>
              <a:rPr lang="en-US" altLang="zh-CN" dirty="0">
                <a:solidFill>
                  <a:srgbClr val="00B050"/>
                </a:solidFill>
                <a:latin typeface="Consolas" pitchFamily="49" charset="0"/>
              </a:rPr>
              <a:t>Desktop  </a:t>
            </a:r>
            <a:r>
              <a:rPr lang="en-US" altLang="zh-CN" dirty="0" err="1">
                <a:solidFill>
                  <a:srgbClr val="00B050"/>
                </a:solidFill>
                <a:latin typeface="Consolas" pitchFamily="49" charset="0"/>
              </a:rPr>
              <a:t>myfolder</a:t>
            </a:r>
            <a:endParaRPr lang="en-US" altLang="zh-CN" dirty="0">
              <a:solidFill>
                <a:srgbClr val="00B050"/>
              </a:solidFill>
              <a:latin typeface="Consolas" pitchFamily="49" charset="0"/>
            </a:endParaRPr>
          </a:p>
          <a:p>
            <a:r>
              <a:rPr lang="en-US" altLang="zh-CN" dirty="0">
                <a:solidFill>
                  <a:schemeClr val="tx2"/>
                </a:solidFill>
                <a:latin typeface="Consolas" pitchFamily="49" charset="0"/>
              </a:rPr>
              <a:t>$ </a:t>
            </a:r>
            <a:r>
              <a:rPr lang="en-US" altLang="zh-CN" dirty="0" err="1">
                <a:solidFill>
                  <a:srgbClr val="0070C0"/>
                </a:solidFill>
                <a:latin typeface="Consolas" pitchFamily="49" charset="0"/>
              </a:rPr>
              <a:t>ls‗myfolder</a:t>
            </a:r>
            <a:r>
              <a:rPr lang="en-US" altLang="zh-CN" dirty="0">
                <a:solidFill>
                  <a:srgbClr val="0070C0"/>
                </a:solidFill>
                <a:latin typeface="Consolas" pitchFamily="49" charset="0"/>
              </a:rPr>
              <a:t>/</a:t>
            </a:r>
          </a:p>
          <a:p>
            <a:r>
              <a:rPr lang="en-US" altLang="zh-CN" dirty="0">
                <a:solidFill>
                  <a:srgbClr val="00B050"/>
                </a:solidFill>
                <a:latin typeface="Consolas" pitchFamily="49" charset="0"/>
              </a:rPr>
              <a:t>myfile1  myfile2</a:t>
            </a:r>
          </a:p>
          <a:p>
            <a:r>
              <a:rPr lang="en-US" altLang="zh-CN" dirty="0">
                <a:solidFill>
                  <a:schemeClr val="tx2"/>
                </a:solidFill>
                <a:latin typeface="Consolas" pitchFamily="49" charset="0"/>
              </a:rPr>
              <a:t>$ </a:t>
            </a:r>
            <a:r>
              <a:rPr lang="en-US" altLang="zh-CN" dirty="0" err="1">
                <a:solidFill>
                  <a:srgbClr val="0070C0"/>
                </a:solidFill>
                <a:latin typeface="Consolas" pitchFamily="49" charset="0"/>
              </a:rPr>
              <a:t>mv‗myfolder</a:t>
            </a:r>
            <a:r>
              <a:rPr lang="en-US" altLang="zh-CN" dirty="0">
                <a:solidFill>
                  <a:srgbClr val="0070C0"/>
                </a:solidFill>
                <a:latin typeface="Consolas" pitchFamily="49" charset="0"/>
              </a:rPr>
              <a:t>/myfile1‗./</a:t>
            </a:r>
          </a:p>
          <a:p>
            <a:r>
              <a:rPr lang="en-US" altLang="zh-CN" dirty="0">
                <a:solidFill>
                  <a:schemeClr val="tx2"/>
                </a:solidFill>
                <a:latin typeface="Consolas" pitchFamily="49" charset="0"/>
              </a:rPr>
              <a:t>$ </a:t>
            </a:r>
            <a:r>
              <a:rPr lang="en-US" altLang="zh-CN" dirty="0" err="1">
                <a:solidFill>
                  <a:srgbClr val="0070C0"/>
                </a:solidFill>
                <a:latin typeface="Consolas" pitchFamily="49" charset="0"/>
              </a:rPr>
              <a:t>ls</a:t>
            </a:r>
            <a:endParaRPr lang="en-US" altLang="zh-CN" dirty="0">
              <a:solidFill>
                <a:srgbClr val="0070C0"/>
              </a:solidFill>
              <a:latin typeface="Consolas" pitchFamily="49" charset="0"/>
            </a:endParaRPr>
          </a:p>
          <a:p>
            <a:r>
              <a:rPr lang="en-US" altLang="zh-CN" dirty="0">
                <a:solidFill>
                  <a:srgbClr val="00B050"/>
                </a:solidFill>
                <a:latin typeface="Consolas" pitchFamily="49" charset="0"/>
              </a:rPr>
              <a:t>Desktop  myfile1  </a:t>
            </a:r>
            <a:r>
              <a:rPr lang="en-US" altLang="zh-CN" dirty="0" err="1">
                <a:solidFill>
                  <a:srgbClr val="00B050"/>
                </a:solidFill>
                <a:latin typeface="Consolas" pitchFamily="49" charset="0"/>
              </a:rPr>
              <a:t>myfolder</a:t>
            </a:r>
            <a:endParaRPr lang="en-US" altLang="zh-CN" dirty="0">
              <a:solidFill>
                <a:srgbClr val="00B050"/>
              </a:solidFill>
              <a:latin typeface="Consolas" pitchFamily="49" charset="0"/>
            </a:endParaRPr>
          </a:p>
          <a:p>
            <a:r>
              <a:rPr lang="en-US" altLang="zh-CN" dirty="0">
                <a:solidFill>
                  <a:schemeClr val="tx2"/>
                </a:solidFill>
                <a:latin typeface="Consolas" pitchFamily="49" charset="0"/>
              </a:rPr>
              <a:t>$ </a:t>
            </a:r>
            <a:r>
              <a:rPr lang="en-US" altLang="zh-CN" dirty="0" err="1">
                <a:solidFill>
                  <a:srgbClr val="0070C0"/>
                </a:solidFill>
                <a:latin typeface="Consolas" pitchFamily="49" charset="0"/>
              </a:rPr>
              <a:t>ls‗myfolder</a:t>
            </a:r>
            <a:r>
              <a:rPr lang="en-US" altLang="zh-CN" dirty="0">
                <a:solidFill>
                  <a:srgbClr val="0070C0"/>
                </a:solidFill>
                <a:latin typeface="Consolas" pitchFamily="49" charset="0"/>
              </a:rPr>
              <a:t>/</a:t>
            </a:r>
          </a:p>
          <a:p>
            <a:r>
              <a:rPr lang="en-US" altLang="zh-CN" dirty="0">
                <a:solidFill>
                  <a:srgbClr val="00B050"/>
                </a:solidFill>
                <a:latin typeface="Consolas" pitchFamily="49" charset="0"/>
              </a:rPr>
              <a:t>myfile2</a:t>
            </a:r>
          </a:p>
          <a:p>
            <a:r>
              <a:rPr lang="en-US" altLang="zh-CN" dirty="0">
                <a:solidFill>
                  <a:schemeClr val="tx2"/>
                </a:solidFill>
                <a:latin typeface="Consolas" pitchFamily="49" charset="0"/>
              </a:rPr>
              <a:t>$ </a:t>
            </a:r>
            <a:endParaRPr lang="en-US" altLang="zh-CN" dirty="0">
              <a:solidFill>
                <a:srgbClr val="0070C0"/>
              </a:solidFill>
              <a:latin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59536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Linux </a:t>
            </a:r>
            <a:r>
              <a:rPr lang="zh-CN" altLang="en-US" dirty="0"/>
              <a:t>命令初步（复制、移动和快捷方式）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创建快捷方式（符号链接）</a:t>
            </a:r>
            <a:endParaRPr lang="en-US" altLang="zh-CN" dirty="0"/>
          </a:p>
          <a:p>
            <a:pPr lvl="1"/>
            <a:r>
              <a:rPr lang="en-US" altLang="zh-CN" dirty="0" err="1"/>
              <a:t>ln</a:t>
            </a:r>
            <a:r>
              <a:rPr lang="en-US" altLang="zh-CN" dirty="0"/>
              <a:t> –s &lt;</a:t>
            </a:r>
            <a:r>
              <a:rPr lang="zh-CN" altLang="en-US" dirty="0"/>
              <a:t>源文件或目录</a:t>
            </a:r>
            <a:r>
              <a:rPr lang="en-US" altLang="zh-CN" dirty="0"/>
              <a:t>&gt; &lt;</a:t>
            </a:r>
            <a:r>
              <a:rPr lang="zh-CN" altLang="en-US" dirty="0"/>
              <a:t>快捷方式</a:t>
            </a:r>
            <a:r>
              <a:rPr lang="en-US" altLang="zh-CN" dirty="0"/>
              <a:t>&gt;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43460852"/>
      </p:ext>
    </p:extLst>
  </p:cSld>
  <p:clrMapOvr>
    <a:masterClrMapping/>
  </p:clrMapOvr>
</p:sld>
</file>

<file path=ppt/theme/theme1.xml><?xml version="1.0" encoding="utf-8"?>
<a:theme xmlns:a="http://schemas.openxmlformats.org/drawingml/2006/main" name="RHEL3_Intro">
  <a:themeElements>
    <a:clrScheme name="busine11_p 2">
      <a:dk1>
        <a:srgbClr val="1D528D"/>
      </a:dk1>
      <a:lt1>
        <a:srgbClr val="FFFFFF"/>
      </a:lt1>
      <a:dk2>
        <a:srgbClr val="000000"/>
      </a:dk2>
      <a:lt2>
        <a:srgbClr val="DDDDDD"/>
      </a:lt2>
      <a:accent1>
        <a:srgbClr val="0099CC"/>
      </a:accent1>
      <a:accent2>
        <a:srgbClr val="FF9900"/>
      </a:accent2>
      <a:accent3>
        <a:srgbClr val="FFFFFF"/>
      </a:accent3>
      <a:accent4>
        <a:srgbClr val="174578"/>
      </a:accent4>
      <a:accent5>
        <a:srgbClr val="AACAE2"/>
      </a:accent5>
      <a:accent6>
        <a:srgbClr val="E78A00"/>
      </a:accent6>
      <a:hlink>
        <a:srgbClr val="006699"/>
      </a:hlink>
      <a:folHlink>
        <a:srgbClr val="969696"/>
      </a:folHlink>
    </a:clrScheme>
    <a:fontScheme name="Lacuna">
      <a:majorFont>
        <a:latin typeface="Neo Sans Intel Medium"/>
        <a:ea typeface="幼圆"/>
        <a:cs typeface=""/>
      </a:majorFont>
      <a:minorFont>
        <a:latin typeface="Neo Sans Intel"/>
        <a:ea typeface="幼圆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charset="-127"/>
            <a:ea typeface="굴림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charset="-127"/>
            <a:ea typeface="굴림" charset="-127"/>
          </a:defRPr>
        </a:defPPr>
      </a:lstStyle>
    </a:lnDef>
  </a:objectDefaults>
  <a:extraClrSchemeLst>
    <a:extraClrScheme>
      <a:clrScheme name="busine11_p 1">
        <a:dk1>
          <a:srgbClr val="3366CC"/>
        </a:dk1>
        <a:lt1>
          <a:srgbClr val="FFFFFF"/>
        </a:lt1>
        <a:dk2>
          <a:srgbClr val="000000"/>
        </a:dk2>
        <a:lt2>
          <a:srgbClr val="F7F4D5"/>
        </a:lt2>
        <a:accent1>
          <a:srgbClr val="72B88E"/>
        </a:accent1>
        <a:accent2>
          <a:srgbClr val="C78DD7"/>
        </a:accent2>
        <a:accent3>
          <a:srgbClr val="FFFFFF"/>
        </a:accent3>
        <a:accent4>
          <a:srgbClr val="2A56AE"/>
        </a:accent4>
        <a:accent5>
          <a:srgbClr val="BCD8C6"/>
        </a:accent5>
        <a:accent6>
          <a:srgbClr val="B47FC3"/>
        </a:accent6>
        <a:hlink>
          <a:srgbClr val="3197BB"/>
        </a:hlink>
        <a:folHlink>
          <a:srgbClr val="878FA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11_p 2">
        <a:dk1>
          <a:srgbClr val="1D528D"/>
        </a:dk1>
        <a:lt1>
          <a:srgbClr val="FFFFFF"/>
        </a:lt1>
        <a:dk2>
          <a:srgbClr val="000000"/>
        </a:dk2>
        <a:lt2>
          <a:srgbClr val="DDDDDD"/>
        </a:lt2>
        <a:accent1>
          <a:srgbClr val="0099CC"/>
        </a:accent1>
        <a:accent2>
          <a:srgbClr val="FF9900"/>
        </a:accent2>
        <a:accent3>
          <a:srgbClr val="FFFFFF"/>
        </a:accent3>
        <a:accent4>
          <a:srgbClr val="174578"/>
        </a:accent4>
        <a:accent5>
          <a:srgbClr val="AACAE2"/>
        </a:accent5>
        <a:accent6>
          <a:srgbClr val="E78A00"/>
        </a:accent6>
        <a:hlink>
          <a:srgbClr val="006699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11_p 3">
        <a:dk1>
          <a:srgbClr val="29698D"/>
        </a:dk1>
        <a:lt1>
          <a:srgbClr val="FFFFFF"/>
        </a:lt1>
        <a:dk2>
          <a:srgbClr val="000000"/>
        </a:dk2>
        <a:lt2>
          <a:srgbClr val="D6E1E2"/>
        </a:lt2>
        <a:accent1>
          <a:srgbClr val="FF5050"/>
        </a:accent1>
        <a:accent2>
          <a:srgbClr val="FF9933"/>
        </a:accent2>
        <a:accent3>
          <a:srgbClr val="FFFFFF"/>
        </a:accent3>
        <a:accent4>
          <a:srgbClr val="215978"/>
        </a:accent4>
        <a:accent5>
          <a:srgbClr val="FFB3B3"/>
        </a:accent5>
        <a:accent6>
          <a:srgbClr val="E78A2D"/>
        </a:accent6>
        <a:hlink>
          <a:srgbClr val="00838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RHEL3_Intro</Template>
  <TotalTime>542</TotalTime>
  <Words>927</Words>
  <Application>Microsoft Office PowerPoint</Application>
  <PresentationFormat>全屏显示(4:3)</PresentationFormat>
  <Paragraphs>177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5" baseType="lpstr">
      <vt:lpstr>굴림</vt:lpstr>
      <vt:lpstr>Neo Sans Intel</vt:lpstr>
      <vt:lpstr>华文细黑</vt:lpstr>
      <vt:lpstr>幼圆</vt:lpstr>
      <vt:lpstr>Arial</vt:lpstr>
      <vt:lpstr>Calibri</vt:lpstr>
      <vt:lpstr>Consolas</vt:lpstr>
      <vt:lpstr>Verdana</vt:lpstr>
      <vt:lpstr>Wingdings</vt:lpstr>
      <vt:lpstr>RHEL3_Intro</vt:lpstr>
      <vt:lpstr>使用Linux 操作系统</vt:lpstr>
      <vt:lpstr>本地使用</vt:lpstr>
      <vt:lpstr>本地使用</vt:lpstr>
      <vt:lpstr>本地使用</vt:lpstr>
      <vt:lpstr>本地使用</vt:lpstr>
      <vt:lpstr>本地使用</vt:lpstr>
      <vt:lpstr>本地使用</vt:lpstr>
      <vt:lpstr>本地使用</vt:lpstr>
      <vt:lpstr>本地使用</vt:lpstr>
      <vt:lpstr>Linux 命令初步</vt:lpstr>
      <vt:lpstr>Linux 命令初步 （使用Terminal）</vt:lpstr>
      <vt:lpstr>Linux 命令初步 （如何进行目录操作）</vt:lpstr>
      <vt:lpstr>Linux 命令初步 （如何进行目录操作）</vt:lpstr>
      <vt:lpstr>Linux 命令初步 （如何进行目录操作）</vt:lpstr>
      <vt:lpstr>Linux 命令初步 （如何进行目录操作）</vt:lpstr>
      <vt:lpstr>Linux 命令初步 （如何进行目录操作）</vt:lpstr>
      <vt:lpstr>Linux 命令初步 （如何进行目录操作）</vt:lpstr>
      <vt:lpstr>Linux 命令初步（如何编辑文本文件）</vt:lpstr>
      <vt:lpstr>Linux 命令初步（如何编辑文本文件）</vt:lpstr>
      <vt:lpstr>Linux 命令初步（如何编辑文本文件）</vt:lpstr>
      <vt:lpstr>Linux 命令初步（如何编辑文本文件）</vt:lpstr>
      <vt:lpstr>Linux 命令初步（如何截图）</vt:lpstr>
      <vt:lpstr>Linux 命令初步（复制、移动和快捷方式）</vt:lpstr>
      <vt:lpstr>Linux 命令初步（复制、移动和快捷方式）</vt:lpstr>
      <vt:lpstr>Linux 命令初步（复制、移动和快捷方式）</vt:lpstr>
    </vt:vector>
  </TitlesOfParts>
  <Company>IME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讲解</dc:title>
  <dc:creator>周韧研</dc:creator>
  <cp:lastModifiedBy> </cp:lastModifiedBy>
  <cp:revision>146</cp:revision>
  <dcterms:created xsi:type="dcterms:W3CDTF">2010-02-25T01:52:53Z</dcterms:created>
  <dcterms:modified xsi:type="dcterms:W3CDTF">2019-04-16T08:10:27Z</dcterms:modified>
</cp:coreProperties>
</file>